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1" r:id="rId5"/>
    <p:sldId id="262" r:id="rId6"/>
    <p:sldId id="266" r:id="rId7"/>
    <p:sldId id="260" r:id="rId8"/>
    <p:sldId id="263" r:id="rId9"/>
    <p:sldId id="267" r:id="rId10"/>
    <p:sldId id="268" r:id="rId11"/>
    <p:sldId id="269" r:id="rId12"/>
    <p:sldId id="264" r:id="rId13"/>
    <p:sldId id="265" r:id="rId14"/>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AR"/>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EB77764-1569-43CD-9A06-F986B43FBF71}" type="datetimeFigureOut">
              <a:rPr lang="es-AR" smtClean="0"/>
              <a:t>2/9/2026</a:t>
            </a:fld>
            <a:endParaRPr lang="es-AR"/>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AR"/>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AR"/>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64EF9E4-B336-435D-941D-3AFE603AA5C2}" type="slidenum">
              <a:rPr lang="es-AR" smtClean="0"/>
              <a:t>‹Nº›</a:t>
            </a:fld>
            <a:endParaRPr lang="es-AR"/>
          </a:p>
        </p:txBody>
      </p:sp>
    </p:spTree>
    <p:extLst>
      <p:ext uri="{BB962C8B-B14F-4D97-AF65-F5344CB8AC3E}">
        <p14:creationId xmlns:p14="http://schemas.microsoft.com/office/powerpoint/2010/main" val="72976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F64EF9E4-B336-435D-941D-3AFE603AA5C2}" type="slidenum">
              <a:rPr lang="es-AR" smtClean="0"/>
              <a:t>4</a:t>
            </a:fld>
            <a:endParaRPr lang="es-AR"/>
          </a:p>
        </p:txBody>
      </p:sp>
    </p:spTree>
    <p:extLst>
      <p:ext uri="{BB962C8B-B14F-4D97-AF65-F5344CB8AC3E}">
        <p14:creationId xmlns:p14="http://schemas.microsoft.com/office/powerpoint/2010/main" val="22250887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F64EF9E4-B336-435D-941D-3AFE603AA5C2}" type="slidenum">
              <a:rPr lang="es-AR" smtClean="0"/>
              <a:t>12</a:t>
            </a:fld>
            <a:endParaRPr lang="es-AR"/>
          </a:p>
        </p:txBody>
      </p:sp>
    </p:spTree>
    <p:extLst>
      <p:ext uri="{BB962C8B-B14F-4D97-AF65-F5344CB8AC3E}">
        <p14:creationId xmlns:p14="http://schemas.microsoft.com/office/powerpoint/2010/main" val="3961715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4" name="3 Marcador de fecha"/>
          <p:cNvSpPr>
            <a:spLocks noGrp="1"/>
          </p:cNvSpPr>
          <p:nvPr>
            <p:ph type="dt" sz="half" idx="10"/>
          </p:nvPr>
        </p:nvSpPr>
        <p:spPr/>
        <p:txBody>
          <a:bodyPr/>
          <a:lstStyle/>
          <a:p>
            <a:fld id="{7A847CFC-816F-41D0-AAC0-9BF4FEBC753E}" type="datetimeFigureOut">
              <a:rPr lang="es-ES" smtClean="0"/>
              <a:t>02/09/2026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7A847CFC-816F-41D0-AAC0-9BF4FEBC753E}" type="datetimeFigureOut">
              <a:rPr lang="es-ES" smtClean="0"/>
              <a:t>02/09/2026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7A847CFC-816F-41D0-AAC0-9BF4FEBC753E}" type="datetimeFigureOut">
              <a:rPr lang="es-ES" smtClean="0"/>
              <a:t>02/09/2026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fecha"/>
          <p:cNvSpPr>
            <a:spLocks noGrp="1"/>
          </p:cNvSpPr>
          <p:nvPr>
            <p:ph type="dt" sz="half" idx="10"/>
          </p:nvPr>
        </p:nvSpPr>
        <p:spPr/>
        <p:txBody>
          <a:bodyPr/>
          <a:lstStyle/>
          <a:p>
            <a:fld id="{7A847CFC-816F-41D0-AAC0-9BF4FEBC753E}" type="datetimeFigureOut">
              <a:rPr lang="es-ES" smtClean="0"/>
              <a:t>02/09/2026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6 Marcador de fecha"/>
          <p:cNvSpPr>
            <a:spLocks noGrp="1"/>
          </p:cNvSpPr>
          <p:nvPr>
            <p:ph type="dt" sz="half" idx="10"/>
          </p:nvPr>
        </p:nvSpPr>
        <p:spPr/>
        <p:txBody>
          <a:bodyPr/>
          <a:lstStyle/>
          <a:p>
            <a:fld id="{7A847CFC-816F-41D0-AAC0-9BF4FEBC753E}" type="datetimeFigureOut">
              <a:rPr lang="es-ES" smtClean="0"/>
              <a:t>02/09/2026</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fecha"/>
          <p:cNvSpPr>
            <a:spLocks noGrp="1"/>
          </p:cNvSpPr>
          <p:nvPr>
            <p:ph type="dt" sz="half" idx="10"/>
          </p:nvPr>
        </p:nvSpPr>
        <p:spPr/>
        <p:txBody>
          <a:bodyPr/>
          <a:lstStyle/>
          <a:p>
            <a:fld id="{7A847CFC-816F-41D0-AAC0-9BF4FEBC753E}" type="datetimeFigureOut">
              <a:rPr lang="es-ES" smtClean="0"/>
              <a:t>02/09/2026</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A847CFC-816F-41D0-AAC0-9BF4FEBC753E}" type="datetimeFigureOut">
              <a:rPr lang="es-ES" smtClean="0"/>
              <a:t>02/09/2026</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t>02/09/2026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t>02/09/2026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7A847CFC-816F-41D0-AAC0-9BF4FEBC753E}" type="datetimeFigureOut">
              <a:rPr lang="es-ES" smtClean="0"/>
              <a:t>02/09/2026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7A847CFC-816F-41D0-AAC0-9BF4FEBC753E}" type="datetimeFigureOut">
              <a:rPr lang="es-ES" smtClean="0"/>
              <a:t>02/09/2026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847CFC-816F-41D0-AAC0-9BF4FEBC753E}" type="datetimeFigureOut">
              <a:rPr lang="es-ES" smtClean="0"/>
              <a:t>02/09/2026</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2FADFE-3B8F-471C-ABF0-DBC7717ECBBC}" type="slidenum">
              <a:rPr lang="es-ES" smtClean="0"/>
              <a:t>‹Nº›</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0"/>
            <a:ext cx="9144000" cy="6858000"/>
          </a:xfrm>
        </p:spPr>
        <p:txBody>
          <a:bodyPr>
            <a:normAutofit fontScale="62500" lnSpcReduction="20000"/>
          </a:bodyPr>
          <a:lstStyle/>
          <a:p>
            <a:pPr marL="0" indent="0">
              <a:buNone/>
            </a:pPr>
            <a:endParaRPr lang="es-AR" sz="8000" dirty="0"/>
          </a:p>
          <a:p>
            <a:pPr marL="0" indent="0">
              <a:buNone/>
            </a:pPr>
            <a:r>
              <a:rPr lang="es-AR" sz="8000" b="1" dirty="0"/>
              <a:t>Definición:</a:t>
            </a:r>
            <a:endParaRPr lang="es-AR" sz="8000" dirty="0"/>
          </a:p>
          <a:p>
            <a:pPr marL="0" indent="0">
              <a:buNone/>
            </a:pPr>
            <a:endParaRPr lang="es-AR" sz="8000" dirty="0"/>
          </a:p>
          <a:p>
            <a:pPr marL="0" indent="0">
              <a:buNone/>
            </a:pPr>
            <a:endParaRPr lang="es-AR" sz="8000" b="1" dirty="0"/>
          </a:p>
          <a:p>
            <a:pPr marL="0" indent="0">
              <a:buNone/>
            </a:pPr>
            <a:r>
              <a:rPr lang="es-AR" sz="9600" b="1" dirty="0"/>
              <a:t>Se la define como la falta del paso espontáneo de los hombros a través de la pelvis, una vez extraída la cabeza fetal.</a:t>
            </a:r>
          </a:p>
        </p:txBody>
      </p:sp>
      <p:sp>
        <p:nvSpPr>
          <p:cNvPr id="2" name="Freeform 10">
            <a:extLst>
              <a:ext uri="{FF2B5EF4-FFF2-40B4-BE49-F238E27FC236}">
                <a16:creationId xmlns:a16="http://schemas.microsoft.com/office/drawing/2014/main" id="{12E8BE51-F031-4D69-FCF0-26AA1EC2CC41}"/>
              </a:ext>
            </a:extLst>
          </p:cNvPr>
          <p:cNvSpPr/>
          <p:nvPr/>
        </p:nvSpPr>
        <p:spPr>
          <a:xfrm>
            <a:off x="6272847" y="1295"/>
            <a:ext cx="2831824" cy="2831824"/>
          </a:xfrm>
          <a:custGeom>
            <a:avLst/>
            <a:gdLst/>
            <a:ahLst/>
            <a:cxnLst/>
            <a:rect l="l" t="t" r="r" b="b"/>
            <a:pathLst>
              <a:path w="2831824" h="2831824">
                <a:moveTo>
                  <a:pt x="0" y="0"/>
                </a:moveTo>
                <a:lnTo>
                  <a:pt x="2831824" y="0"/>
                </a:lnTo>
                <a:lnTo>
                  <a:pt x="2831824" y="2831825"/>
                </a:lnTo>
                <a:lnTo>
                  <a:pt x="0" y="2831825"/>
                </a:lnTo>
                <a:lnTo>
                  <a:pt x="0" y="0"/>
                </a:lnTo>
                <a:close/>
              </a:path>
            </a:pathLst>
          </a:custGeom>
          <a:blipFill>
            <a:blip r:embed="rId2"/>
            <a:stretch>
              <a:fillRect/>
            </a:stretch>
          </a:blipFill>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s-AR"/>
          </a:p>
        </p:txBody>
      </p:sp>
    </p:spTree>
    <p:extLst>
      <p:ext uri="{BB962C8B-B14F-4D97-AF65-F5344CB8AC3E}">
        <p14:creationId xmlns:p14="http://schemas.microsoft.com/office/powerpoint/2010/main" val="42286069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0"/>
            <a:ext cx="9144000" cy="6858000"/>
          </a:xfrm>
        </p:spPr>
        <p:txBody>
          <a:bodyPr>
            <a:normAutofit fontScale="25000" lnSpcReduction="20000"/>
          </a:bodyPr>
          <a:lstStyle/>
          <a:p>
            <a:pPr marL="0" indent="0">
              <a:buNone/>
            </a:pPr>
            <a:r>
              <a:rPr lang="es-AR" sz="8000" b="1" i="1" dirty="0"/>
              <a:t>La incidencia </a:t>
            </a:r>
          </a:p>
          <a:p>
            <a:pPr marL="0" indent="0">
              <a:buNone/>
            </a:pPr>
            <a:r>
              <a:rPr lang="es-AR" sz="8000" dirty="0"/>
              <a:t> oscila entre el 0.13% al 4% de todos los partos vaginales.</a:t>
            </a:r>
          </a:p>
          <a:p>
            <a:pPr marL="0" indent="0">
              <a:buNone/>
            </a:pPr>
            <a:endParaRPr lang="es-AR" sz="8000" dirty="0"/>
          </a:p>
          <a:p>
            <a:pPr marL="0" indent="0">
              <a:buNone/>
            </a:pPr>
            <a:r>
              <a:rPr lang="es-AR" sz="8000" dirty="0"/>
              <a:t>En la Obstetricia de Williams , se cita que la distocia de hombros se presenta</a:t>
            </a:r>
          </a:p>
          <a:p>
            <a:pPr marL="0" indent="0">
              <a:buNone/>
            </a:pPr>
            <a:r>
              <a:rPr lang="es-AR" sz="8000" dirty="0"/>
              <a:t>con una incidencia del 0,6 y 1,4% .</a:t>
            </a:r>
          </a:p>
          <a:p>
            <a:pPr marL="0" indent="0">
              <a:buNone/>
            </a:pPr>
            <a:endParaRPr lang="es-AR" sz="8000" dirty="0"/>
          </a:p>
          <a:p>
            <a:pPr marL="0" indent="0">
              <a:buNone/>
            </a:pPr>
            <a:r>
              <a:rPr lang="es-AR" sz="8000" b="1" dirty="0"/>
              <a:t>“</a:t>
            </a:r>
            <a:r>
              <a:rPr lang="es-AR" sz="8000" b="1" dirty="0" err="1"/>
              <a:t>Jennet</a:t>
            </a:r>
            <a:r>
              <a:rPr lang="es-AR" sz="8000" b="1" dirty="0"/>
              <a:t> y </a:t>
            </a:r>
            <a:r>
              <a:rPr lang="es-AR" sz="8000" b="1" dirty="0" err="1"/>
              <a:t>cols</a:t>
            </a:r>
            <a:r>
              <a:rPr lang="es-AR" sz="8000" b="1" dirty="0"/>
              <a:t> (1992) proporcionaron evidencias de que la alteración del</a:t>
            </a:r>
          </a:p>
          <a:p>
            <a:pPr marL="0" indent="0">
              <a:buNone/>
            </a:pPr>
            <a:r>
              <a:rPr lang="es-AR" sz="8000" b="1" dirty="0"/>
              <a:t>plexo braquial puede ocurrir antes del trabajo de parto</a:t>
            </a:r>
            <a:r>
              <a:rPr lang="es-AR" sz="8000" dirty="0"/>
              <a:t>”</a:t>
            </a:r>
          </a:p>
          <a:p>
            <a:pPr marL="0" indent="0">
              <a:buNone/>
            </a:pPr>
            <a:endParaRPr lang="es-AR" sz="8000" dirty="0"/>
          </a:p>
          <a:p>
            <a:pPr marL="0" indent="0">
              <a:buNone/>
            </a:pPr>
            <a:r>
              <a:rPr lang="es-AR" sz="8000" dirty="0"/>
              <a:t>También resulta obvio que la predicción y por lo tanto la prevención de la distocia de hombro no es simple.</a:t>
            </a:r>
          </a:p>
          <a:p>
            <a:pPr marL="0" indent="0">
              <a:buNone/>
            </a:pPr>
            <a:r>
              <a:rPr lang="es-AR" sz="8000" dirty="0"/>
              <a:t>Si bien hay diversos factores de riesgo estadísticamente asociado de manera evidente con la distocia de hombros; se ha demostrado que la identificación real de casos individuales antes del hecho </a:t>
            </a:r>
            <a:r>
              <a:rPr lang="es-AR" sz="8000" b="1" dirty="0"/>
              <a:t>es imposible</a:t>
            </a:r>
            <a:r>
              <a:rPr lang="es-AR" sz="8000" dirty="0"/>
              <a:t>.</a:t>
            </a:r>
          </a:p>
          <a:p>
            <a:pPr marL="0" indent="0">
              <a:buNone/>
            </a:pPr>
            <a:r>
              <a:rPr lang="es-AR" sz="8000" dirty="0"/>
              <a:t>Es evidente que la distocia de hombros aumenta con el mayor peso fetal al nacer, sin embargo casi la mitad de los neonatos con distocia de hombros pesaron menos de 4000g.</a:t>
            </a:r>
          </a:p>
          <a:p>
            <a:pPr marL="0" indent="0">
              <a:buNone/>
            </a:pPr>
            <a:r>
              <a:rPr lang="es-AR" sz="8000" dirty="0"/>
              <a:t>De hecho </a:t>
            </a:r>
            <a:r>
              <a:rPr lang="es-AR" sz="8000" dirty="0" err="1"/>
              <a:t>Nocon</a:t>
            </a:r>
            <a:r>
              <a:rPr lang="es-AR" sz="8000" dirty="0"/>
              <a:t> y </a:t>
            </a:r>
            <a:r>
              <a:rPr lang="es-AR" sz="8000" dirty="0" err="1"/>
              <a:t>Cols</a:t>
            </a:r>
            <a:r>
              <a:rPr lang="es-AR" sz="8000" dirty="0"/>
              <a:t> (1993) describieron distocia de hombros en neonatos que pesaron 2260g al nacer.</a:t>
            </a:r>
          </a:p>
          <a:p>
            <a:pPr marL="0" indent="0">
              <a:buNone/>
            </a:pPr>
            <a:r>
              <a:rPr lang="es-AR" sz="8000" dirty="0"/>
              <a:t>.</a:t>
            </a:r>
            <a:r>
              <a:rPr lang="es-AR" sz="8000" dirty="0" err="1"/>
              <a:t>Weeks</a:t>
            </a:r>
            <a:r>
              <a:rPr lang="es-AR" sz="8000" dirty="0"/>
              <a:t> y </a:t>
            </a:r>
            <a:r>
              <a:rPr lang="es-AR" sz="8000" dirty="0" err="1"/>
              <a:t>cols</a:t>
            </a:r>
            <a:r>
              <a:rPr lang="es-AR" sz="8000" dirty="0"/>
              <a:t> (1995) llegaron a la conclusión de que la predicción de </a:t>
            </a:r>
            <a:r>
              <a:rPr lang="es-AR" sz="8000" dirty="0" err="1"/>
              <a:t>macrosomia</a:t>
            </a:r>
            <a:r>
              <a:rPr lang="es-AR" sz="8000" dirty="0"/>
              <a:t> fetal se asocia con un marcado aumento de los partos por cesárea sin una reducción significativa de la incidencia de distocia de hombros o lesión fetal.</a:t>
            </a:r>
          </a:p>
        </p:txBody>
      </p:sp>
    </p:spTree>
    <p:extLst>
      <p:ext uri="{BB962C8B-B14F-4D97-AF65-F5344CB8AC3E}">
        <p14:creationId xmlns:p14="http://schemas.microsoft.com/office/powerpoint/2010/main" val="26353343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0"/>
            <a:ext cx="9144000" cy="6858000"/>
          </a:xfrm>
        </p:spPr>
        <p:txBody>
          <a:bodyPr>
            <a:normAutofit fontScale="25000" lnSpcReduction="20000"/>
          </a:bodyPr>
          <a:lstStyle/>
          <a:p>
            <a:pPr marL="0" indent="0">
              <a:buNone/>
            </a:pPr>
            <a:r>
              <a:rPr lang="es-AR" sz="9600" b="1" dirty="0"/>
              <a:t>Fisiopatología:</a:t>
            </a:r>
          </a:p>
          <a:p>
            <a:pPr marL="0" indent="0">
              <a:buNone/>
            </a:pPr>
            <a:r>
              <a:rPr lang="es-AR" sz="8000" b="1" dirty="0"/>
              <a:t>Características de los hombros:</a:t>
            </a:r>
          </a:p>
          <a:p>
            <a:pPr marL="0" indent="0">
              <a:buNone/>
            </a:pPr>
            <a:r>
              <a:rPr lang="es-AR" sz="8000" dirty="0"/>
              <a:t>Los hombros son estructuras móviles, tanto en dirección antero-posterior como en sentido súpero inferior.</a:t>
            </a:r>
          </a:p>
          <a:p>
            <a:pPr marL="0" indent="0">
              <a:buNone/>
            </a:pPr>
            <a:r>
              <a:rPr lang="es-AR" sz="8000" dirty="0"/>
              <a:t>El tamaño y movilidad del hombro en presentación sólo están limitados por la fijación acromial ósea al manubrio de la clavícula y a las múltiples fijaciones de la clavícula, húmero y omóplato a la cabeza, columna vertebral y tórax. Estas últimas fijaciones están constituidas por músculos que pueden estirarse y por raíces nerviosas que pueden sufrir sección por tracción superior e inferior.</a:t>
            </a:r>
          </a:p>
          <a:p>
            <a:pPr marL="0" indent="0">
              <a:buNone/>
            </a:pPr>
            <a:r>
              <a:rPr lang="es-AR" sz="8000" dirty="0"/>
              <a:t>Si consideramos los hombros individualmente son mucho menores que la cabeza,  son fácilmente compresibles y podremos apreciar que los hombros pueden sufrir múltiples adaptaciones en su paso por la pelvis.</a:t>
            </a:r>
          </a:p>
          <a:p>
            <a:pPr marL="0" indent="0">
              <a:buNone/>
            </a:pPr>
            <a:endParaRPr lang="es-AR" sz="8000" dirty="0"/>
          </a:p>
          <a:p>
            <a:pPr marL="0" indent="0">
              <a:buNone/>
            </a:pPr>
            <a:r>
              <a:rPr lang="es-AR" sz="8000" b="1" dirty="0"/>
              <a:t>Mecanismo del parto de hombros:</a:t>
            </a:r>
          </a:p>
          <a:p>
            <a:pPr marL="0" indent="0">
              <a:buNone/>
            </a:pPr>
            <a:endParaRPr lang="es-AR" sz="8000" b="1" dirty="0"/>
          </a:p>
          <a:p>
            <a:pPr marL="0" indent="0">
              <a:buNone/>
            </a:pPr>
            <a:r>
              <a:rPr lang="es-AR" sz="8000" dirty="0"/>
              <a:t>Durante el mecanismo del parto de H habitualmente el tiempo de acomodación de los  al ES no ofrece inconvenientes, por las características que hemos mencionado previamente. Pero cuando las dimensiones de los mismos se incrementan deben cumplir inexorablemente el siguiente recorrido, el hombro posterior se desliza oblicuamente en la entrada pélvica y pasa a descansar ya sea en el hueso sacro o en la escotadura </a:t>
            </a:r>
            <a:r>
              <a:rPr lang="es-AR" sz="8000" dirty="0" err="1"/>
              <a:t>sacrociática</a:t>
            </a:r>
            <a:r>
              <a:rPr lang="es-AR" sz="8000" dirty="0"/>
              <a:t> durante la extensión final de la cabeza. El hombro anterior permanece fuera de la pelvis verdadera o se desliza oblicuamente hacia el agujero obturador después que el hombro posterior haya penetrado en la pelvis.</a:t>
            </a:r>
          </a:p>
        </p:txBody>
      </p:sp>
    </p:spTree>
    <p:extLst>
      <p:ext uri="{BB962C8B-B14F-4D97-AF65-F5344CB8AC3E}">
        <p14:creationId xmlns:p14="http://schemas.microsoft.com/office/powerpoint/2010/main" val="3713589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0"/>
            <a:ext cx="9144000" cy="6858000"/>
          </a:xfrm>
        </p:spPr>
        <p:txBody>
          <a:bodyPr>
            <a:noAutofit/>
          </a:bodyPr>
          <a:lstStyle/>
          <a:p>
            <a:pPr marL="0" indent="0">
              <a:buNone/>
            </a:pPr>
            <a:r>
              <a:rPr lang="es-AR" sz="2000" b="1" dirty="0"/>
              <a:t>La  1°maniobra (</a:t>
            </a:r>
            <a:r>
              <a:rPr lang="es-AR" sz="2000" dirty="0" err="1"/>
              <a:t>Rotacion</a:t>
            </a:r>
            <a:r>
              <a:rPr lang="es-AR" sz="2000" b="1" dirty="0"/>
              <a:t> </a:t>
            </a:r>
            <a:r>
              <a:rPr lang="es-AR" sz="2000" dirty="0"/>
              <a:t>de la cabeza) es esencial, el ingreso del h posterior al interior de la P,   y no la obstetra el en un parto normal.</a:t>
            </a:r>
          </a:p>
          <a:p>
            <a:pPr marL="0" indent="0">
              <a:buNone/>
            </a:pPr>
            <a:r>
              <a:rPr lang="es-AR" sz="2000" b="1" dirty="0"/>
              <a:t>La 2° maniobra </a:t>
            </a:r>
            <a:r>
              <a:rPr lang="es-AR" sz="2000" dirty="0"/>
              <a:t>que se aplica es la es la tracción </a:t>
            </a:r>
            <a:r>
              <a:rPr lang="es-AR" sz="2000" dirty="0" err="1"/>
              <a:t>postero</a:t>
            </a:r>
            <a:r>
              <a:rPr lang="es-AR" sz="2000" dirty="0"/>
              <a:t>-inferior de la cabeza, con fetos de tamaño normales y con la presencia de P regulares esto no implica inconvenientes, ya que habitualmente hay suficiente espacio para el descenso del h posterior sobre el sacro y el ligamento </a:t>
            </a:r>
            <a:r>
              <a:rPr lang="es-AR" sz="2000" dirty="0" err="1"/>
              <a:t>sacrociático</a:t>
            </a:r>
            <a:r>
              <a:rPr lang="es-AR" sz="2000" dirty="0"/>
              <a:t> menor, mientras que el h anterior emerge por debajo de la sínfisis del pubis. Sin embargo la tracción del hombro anterior no es útil en el parto normal y constituye un hábito perjudicial cuando se presenta distocia de hombros.</a:t>
            </a:r>
          </a:p>
          <a:p>
            <a:pPr marL="0" indent="0">
              <a:buNone/>
            </a:pPr>
            <a:r>
              <a:rPr lang="es-AR" sz="2000" dirty="0"/>
              <a:t>El elemento más importante en este proceso es el parto escalonado, secuencial, en vez de simultáneo, a través de un “diámetro imposible” de la “entrada pélvica”.</a:t>
            </a:r>
          </a:p>
          <a:p>
            <a:pPr marL="0" indent="0">
              <a:buNone/>
            </a:pPr>
            <a:r>
              <a:rPr lang="es-AR" sz="2000" dirty="0"/>
              <a:t>El hombro posterior es el primero que debe penetrar en la pelvis, pues es el más distante de la salida y es el que está sometido al máximo de tracción en relación</a:t>
            </a:r>
          </a:p>
          <a:p>
            <a:pPr marL="0" indent="0">
              <a:buNone/>
            </a:pPr>
            <a:r>
              <a:rPr lang="es-AR" sz="2000" dirty="0"/>
              <a:t>con la cabeza y cuello. No nos olvidemos que la altura de la pelvis anterior es de 4 cm. mientras que la posterior es singularmente mayor: 12 cm... </a:t>
            </a:r>
          </a:p>
          <a:p>
            <a:pPr marL="0" indent="0">
              <a:buNone/>
            </a:pPr>
            <a:r>
              <a:rPr lang="es-AR" sz="2000" b="1" dirty="0"/>
              <a:t>El signo cardinal que este proceso no ha ocurrido es que la cabeza fetal que se había desprendido, retroceda y permanezca retraída comprimiendo el periné (Signo de la tortuga). </a:t>
            </a:r>
            <a:r>
              <a:rPr lang="es-AR" sz="2000" dirty="0"/>
              <a:t>Esto es causado por la tracción, en sentido inverso, del hombro posterior y superior que no ha logrado atravesar la entrada pélvica y el cuello queda literalmente estirado desde la entrada hasta la salida de la pelvis </a:t>
            </a:r>
            <a:r>
              <a:rPr lang="es-AR" sz="2000" b="1" dirty="0"/>
              <a:t>(Signo del cuello de cisne).</a:t>
            </a:r>
          </a:p>
        </p:txBody>
      </p:sp>
    </p:spTree>
    <p:extLst>
      <p:ext uri="{BB962C8B-B14F-4D97-AF65-F5344CB8AC3E}">
        <p14:creationId xmlns:p14="http://schemas.microsoft.com/office/powerpoint/2010/main" val="1331045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0"/>
            <a:ext cx="9144000" cy="6858000"/>
          </a:xfrm>
        </p:spPr>
        <p:txBody>
          <a:bodyPr>
            <a:normAutofit fontScale="70000" lnSpcReduction="20000"/>
          </a:bodyPr>
          <a:lstStyle/>
          <a:p>
            <a:pPr marL="0" indent="0">
              <a:buNone/>
            </a:pPr>
            <a:r>
              <a:rPr lang="es-AR" dirty="0"/>
              <a:t>Es esencial reconocer que la penetración del hombro posterior en la pelvis no se ha producido, ya que la aplicación de tracción, especialmente la aplicación errónea de la segunda maniobra, en este momento tiene consecuencias adversas, potencialmente graves, en una situación ya de por sí difícil. </a:t>
            </a:r>
          </a:p>
          <a:p>
            <a:pPr marL="0" indent="0">
              <a:buNone/>
            </a:pPr>
            <a:r>
              <a:rPr lang="es-AR" dirty="0"/>
              <a:t>El hombro anterior está colocado en cuña contra el pubis, impactando adicionalmente el hombro posterior. </a:t>
            </a:r>
          </a:p>
          <a:p>
            <a:pPr marL="0" indent="0">
              <a:buNone/>
            </a:pPr>
            <a:r>
              <a:rPr lang="es-AR" dirty="0"/>
              <a:t>Con la tracción se aplican fuerzas que tienden a impedir, más que a promover, el paso del hombro posterior al interior de la pelvis.</a:t>
            </a:r>
          </a:p>
          <a:p>
            <a:pPr marL="0" indent="0">
              <a:buNone/>
            </a:pPr>
            <a:r>
              <a:rPr lang="es-AR" dirty="0"/>
              <a:t> Cualquier tracción adicional, estira las raíces cervicales del plexo braquial de la extremidad superior y posterior ( hombro posterior) y se produce como resultado la parálisis de </a:t>
            </a:r>
            <a:r>
              <a:rPr lang="es-AR" dirty="0" err="1"/>
              <a:t>Erb</a:t>
            </a:r>
            <a:r>
              <a:rPr lang="es-AR" dirty="0"/>
              <a:t>.</a:t>
            </a:r>
          </a:p>
          <a:p>
            <a:pPr marL="0" indent="0">
              <a:buNone/>
            </a:pPr>
            <a:endParaRPr lang="es-AR" dirty="0"/>
          </a:p>
          <a:p>
            <a:pPr marL="0" indent="0">
              <a:buNone/>
            </a:pPr>
            <a:r>
              <a:rPr lang="es-AR" b="1" dirty="0"/>
              <a:t>Por otra parte la tendencia del asistente ansioso para tirar a este neonato hacia abajo y hacia fuera, constituye una conducta errónea y debe evitarse.</a:t>
            </a:r>
          </a:p>
          <a:p>
            <a:pPr marL="0" indent="0">
              <a:buNone/>
            </a:pPr>
            <a:r>
              <a:rPr lang="es-AR" dirty="0"/>
              <a:t>La tendencia de los demás colaboradores, incluyendo la parturienta, para forzar la situación mediante la aplicación de presión en el fondo uterino o con el esfuerzo de pujos, también deben de evitarse por la misma razón.</a:t>
            </a:r>
          </a:p>
          <a:p>
            <a:pPr marL="0" indent="0">
              <a:buNone/>
            </a:pPr>
            <a:r>
              <a:rPr lang="es-AR" dirty="0"/>
              <a:t>Esta situación del neonato, que se encuentra parcialmente expulsado, pero imposible de nacer, constituye, como dije al principio uno de los hechos más catastróficos que nos puede ocurrir como obstetras.</a:t>
            </a:r>
          </a:p>
          <a:p>
            <a:endParaRPr lang="es-AR" dirty="0"/>
          </a:p>
          <a:p>
            <a:endParaRPr lang="es-AR" dirty="0"/>
          </a:p>
          <a:p>
            <a:endParaRPr lang="es-AR" dirty="0"/>
          </a:p>
        </p:txBody>
      </p:sp>
    </p:spTree>
    <p:extLst>
      <p:ext uri="{BB962C8B-B14F-4D97-AF65-F5344CB8AC3E}">
        <p14:creationId xmlns:p14="http://schemas.microsoft.com/office/powerpoint/2010/main" val="3333699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a:t>Tiempos del parto de occipucio</a:t>
            </a:r>
          </a:p>
        </p:txBody>
      </p:sp>
      <p:sp>
        <p:nvSpPr>
          <p:cNvPr id="9" name="8 Marcador de contenido"/>
          <p:cNvSpPr>
            <a:spLocks noGrp="1"/>
          </p:cNvSpPr>
          <p:nvPr>
            <p:ph idx="1"/>
          </p:nvPr>
        </p:nvSpPr>
        <p:spPr>
          <a:xfrm>
            <a:off x="323528" y="1196752"/>
            <a:ext cx="8301608" cy="5661248"/>
          </a:xfrm>
        </p:spPr>
        <p:txBody>
          <a:bodyPr>
            <a:normAutofit/>
          </a:bodyPr>
          <a:lstStyle/>
          <a:p>
            <a:pPr>
              <a:buNone/>
            </a:pPr>
            <a:r>
              <a:rPr lang="es-AR" b="1" dirty="0"/>
              <a:t>Acomodación al estrecho superior</a:t>
            </a:r>
          </a:p>
          <a:p>
            <a:pPr>
              <a:buNone/>
            </a:pPr>
            <a:r>
              <a:rPr lang="es-AR" dirty="0"/>
              <a:t>                        Flexión y   orientación </a:t>
            </a:r>
          </a:p>
          <a:p>
            <a:pPr>
              <a:buNone/>
            </a:pPr>
            <a:r>
              <a:rPr lang="es-AR" b="1" dirty="0"/>
              <a:t>Encaje y descenso</a:t>
            </a:r>
          </a:p>
          <a:p>
            <a:pPr>
              <a:buNone/>
            </a:pPr>
            <a:r>
              <a:rPr lang="es-AR" dirty="0"/>
              <a:t>     acentúa la flexión y  sinclitismo o asinclitismo</a:t>
            </a:r>
          </a:p>
          <a:p>
            <a:pPr>
              <a:buNone/>
            </a:pPr>
            <a:r>
              <a:rPr lang="es-AR" b="1" dirty="0"/>
              <a:t>Acomodación al </a:t>
            </a:r>
            <a:r>
              <a:rPr lang="es-AR" b="1" dirty="0" err="1"/>
              <a:t>EInf</a:t>
            </a:r>
            <a:r>
              <a:rPr lang="es-AR" b="1" dirty="0"/>
              <a:t> y rotación interna</a:t>
            </a:r>
          </a:p>
          <a:p>
            <a:pPr>
              <a:buNone/>
            </a:pPr>
            <a:r>
              <a:rPr lang="es-AR" b="1" dirty="0"/>
              <a:t>Desprendimiento del polo cefálico</a:t>
            </a:r>
          </a:p>
          <a:p>
            <a:pPr>
              <a:buNone/>
            </a:pPr>
            <a:r>
              <a:rPr lang="es-AR" b="1" dirty="0"/>
              <a:t>Rotación externa </a:t>
            </a:r>
            <a:r>
              <a:rPr lang="es-AR" dirty="0"/>
              <a:t>( </a:t>
            </a:r>
            <a:r>
              <a:rPr lang="es-AR" dirty="0" err="1"/>
              <a:t>acomod</a:t>
            </a:r>
            <a:r>
              <a:rPr lang="es-AR" dirty="0"/>
              <a:t> de los hombros al EI)</a:t>
            </a:r>
          </a:p>
          <a:p>
            <a:pPr>
              <a:buNone/>
            </a:pPr>
            <a:r>
              <a:rPr lang="es-AR" b="1" dirty="0"/>
              <a:t>Desprendimiento total del feto</a:t>
            </a:r>
          </a:p>
          <a:p>
            <a:pPr>
              <a:buNone/>
            </a:pPr>
            <a:endParaRPr lang="es-AR" dirty="0"/>
          </a:p>
          <a:p>
            <a:pPr>
              <a:buNone/>
            </a:pPr>
            <a:endParaRPr lang="es-AR" dirty="0"/>
          </a:p>
        </p:txBody>
      </p:sp>
    </p:spTree>
    <p:extLst>
      <p:ext uri="{BB962C8B-B14F-4D97-AF65-F5344CB8AC3E}">
        <p14:creationId xmlns:p14="http://schemas.microsoft.com/office/powerpoint/2010/main" val="3683180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99392"/>
            <a:ext cx="9144000" cy="6957392"/>
          </a:xfrm>
        </p:spPr>
        <p:txBody>
          <a:bodyPr>
            <a:normAutofit fontScale="25000" lnSpcReduction="20000"/>
          </a:bodyPr>
          <a:lstStyle/>
          <a:p>
            <a:r>
              <a:rPr lang="es-AR" dirty="0"/>
              <a:t>.</a:t>
            </a:r>
          </a:p>
          <a:p>
            <a:pPr marL="0" indent="0">
              <a:buNone/>
            </a:pPr>
            <a:r>
              <a:rPr lang="es-AR" sz="8000" dirty="0"/>
              <a:t>El tratamiento es, primero, </a:t>
            </a:r>
            <a:r>
              <a:rPr lang="es-AR" sz="8000" b="1" dirty="0"/>
              <a:t>prevenirlo </a:t>
            </a:r>
            <a:r>
              <a:rPr lang="es-AR" sz="8000" dirty="0"/>
              <a:t>cuando puede </a:t>
            </a:r>
            <a:r>
              <a:rPr lang="es-AR" sz="8000" b="1" dirty="0"/>
              <a:t>suceder</a:t>
            </a:r>
            <a:r>
              <a:rPr lang="es-AR" sz="8000" dirty="0"/>
              <a:t>, </a:t>
            </a:r>
            <a:r>
              <a:rPr lang="es-AR" sz="8000" b="1" dirty="0"/>
              <a:t>evitarlo </a:t>
            </a:r>
            <a:r>
              <a:rPr lang="es-AR" sz="8000" dirty="0"/>
              <a:t>si se </a:t>
            </a:r>
            <a:r>
              <a:rPr lang="es-AR" sz="8000" b="1" dirty="0"/>
              <a:t>prevé </a:t>
            </a:r>
            <a:r>
              <a:rPr lang="es-AR" sz="8000" dirty="0"/>
              <a:t>y </a:t>
            </a:r>
            <a:r>
              <a:rPr lang="es-AR" sz="8000" b="1" dirty="0"/>
              <a:t>aplicar sistemáticamente una serie de técnicas, aprendidas previamente, destinadas a facilitar o a estimular las etapas naturales del desprendimiento de hombro cuando se presente la distocia.</a:t>
            </a:r>
          </a:p>
          <a:p>
            <a:pPr marL="0" indent="0">
              <a:buNone/>
            </a:pPr>
            <a:r>
              <a:rPr lang="es-AR" sz="8000" dirty="0"/>
              <a:t>La probabilidad de distocia de hombro aumenta con la edad gestacional, especialmente después del término.</a:t>
            </a:r>
          </a:p>
          <a:p>
            <a:pPr marL="0" indent="0">
              <a:buNone/>
            </a:pPr>
            <a:r>
              <a:rPr lang="es-AR" sz="8000" b="1" dirty="0"/>
              <a:t>La entrada a la pelvis </a:t>
            </a:r>
            <a:r>
              <a:rPr lang="es-AR" sz="8000" dirty="0"/>
              <a:t>tiene sus diámetros mayores oblicuos; </a:t>
            </a:r>
            <a:r>
              <a:rPr lang="es-AR" sz="8000" b="1" dirty="0"/>
              <a:t>en la parte media </a:t>
            </a:r>
            <a:r>
              <a:rPr lang="es-AR" sz="8000" dirty="0"/>
              <a:t>en sentido transverso y </a:t>
            </a:r>
            <a:r>
              <a:rPr lang="es-AR" sz="8000" b="1" dirty="0"/>
              <a:t>en la parte baja en anteroposterior, </a:t>
            </a:r>
            <a:r>
              <a:rPr lang="es-AR" sz="8000" dirty="0"/>
              <a:t>salida de la pelvis ,es decir que tanto la cabeza como los hombros hacen una rotación en su descenso a través de la pelvis que puede variar de según haya sido su posición de entrada a la pelvis; un movimiento de tornillo de ¼ a ¾ de vuelta además una curva de 90° entre el plano de entrada y salida de la pelvis.</a:t>
            </a:r>
          </a:p>
          <a:p>
            <a:pPr marL="0" indent="0">
              <a:buNone/>
            </a:pPr>
            <a:r>
              <a:rPr lang="es-AR" sz="8000" dirty="0"/>
              <a:t>Cuando esto se produce y en final del período expulsivo, la cabeza ya ha salido al exterior y los hombros no se acomodan en el diámetro antero-posterior del diámetro de la pelvis y se produce en ese momento la distocia de hombros.</a:t>
            </a:r>
          </a:p>
          <a:p>
            <a:pPr marL="0" indent="0">
              <a:buNone/>
            </a:pPr>
            <a:r>
              <a:rPr lang="es-AR" sz="8000" dirty="0"/>
              <a:t>La cabeza se encuentra en el exterior, fuera de la vulva, pero el feto no puede respirar por la gran compresión que el canal e parto ejerce sobre su tórax .</a:t>
            </a:r>
          </a:p>
          <a:p>
            <a:pPr marL="0" indent="0">
              <a:buNone/>
            </a:pPr>
            <a:r>
              <a:rPr lang="es-AR" sz="8000" b="1" dirty="0"/>
              <a:t>Esta situación  imprevisible e impredecible obliga actuar al médico con celeridad.</a:t>
            </a:r>
          </a:p>
          <a:p>
            <a:pPr marL="0" indent="0">
              <a:buNone/>
            </a:pPr>
            <a:r>
              <a:rPr lang="es-AR" sz="8000" dirty="0"/>
              <a:t>Por consiguiente el profesional que asiste el parto tiene un par de minutos para decidir y realizar las maniobras para extraer al feto.</a:t>
            </a:r>
          </a:p>
          <a:p>
            <a:pPr marL="0" indent="0">
              <a:buNone/>
            </a:pPr>
            <a:r>
              <a:rPr lang="es-AR" sz="8000" b="1" dirty="0"/>
              <a:t>No hay una maniobra que tenga mayor eficacia o menor riesgo que otra</a:t>
            </a:r>
            <a:r>
              <a:rPr lang="es-AR" sz="8000" dirty="0"/>
              <a:t>.</a:t>
            </a:r>
          </a:p>
          <a:p>
            <a:pPr marL="0" indent="0">
              <a:buNone/>
            </a:pPr>
            <a:r>
              <a:rPr lang="es-AR" sz="8000" dirty="0"/>
              <a:t>Para las/los obstetras, la distocia de hombro es una complicación en la asistencia de un parto, porque se produce cuando el parto, estando la cabeza afuera parece que ya ha terminado y en ese momento aparece la gran dificultad y sabe que aun realizando todo bien y en tiempo, el resultado puede no ser optimo.</a:t>
            </a:r>
          </a:p>
          <a:p>
            <a:pPr marL="0" indent="0">
              <a:buNone/>
            </a:pPr>
            <a:endParaRPr lang="es-AR" dirty="0"/>
          </a:p>
        </p:txBody>
      </p:sp>
    </p:spTree>
    <p:extLst>
      <p:ext uri="{BB962C8B-B14F-4D97-AF65-F5344CB8AC3E}">
        <p14:creationId xmlns:p14="http://schemas.microsoft.com/office/powerpoint/2010/main" val="2635334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0"/>
            <a:ext cx="9144000" cy="6858000"/>
          </a:xfrm>
        </p:spPr>
        <p:txBody>
          <a:bodyPr>
            <a:normAutofit fontScale="25000" lnSpcReduction="20000"/>
          </a:bodyPr>
          <a:lstStyle/>
          <a:p>
            <a:pPr marL="0" indent="0">
              <a:buNone/>
            </a:pPr>
            <a:r>
              <a:rPr lang="es-AR" sz="8000" b="1" dirty="0"/>
              <a:t>La lesión es permanente en menos del 5% de los RN con un p inferior a 4500grs</a:t>
            </a:r>
            <a:r>
              <a:rPr lang="es-AR" sz="8000" dirty="0"/>
              <a:t>. </a:t>
            </a:r>
          </a:p>
          <a:p>
            <a:pPr marL="0" indent="0">
              <a:buNone/>
            </a:pPr>
            <a:endParaRPr lang="es-AR" sz="8000" dirty="0"/>
          </a:p>
          <a:p>
            <a:pPr marL="0" indent="0">
              <a:buNone/>
            </a:pPr>
            <a:r>
              <a:rPr lang="es-AR" sz="8000" dirty="0"/>
              <a:t>El Dr. </a:t>
            </a:r>
            <a:r>
              <a:rPr lang="es-AR" sz="8000" dirty="0" err="1"/>
              <a:t>Saade</a:t>
            </a:r>
            <a:r>
              <a:rPr lang="es-AR" sz="8000" dirty="0"/>
              <a:t> hace notar que cuanto mas largo el tiempo entre la salida de la cabeza y la salida de los hombros mayor es el riesgo de asfixia fetal; Un estudio de </a:t>
            </a:r>
            <a:r>
              <a:rPr lang="es-AR" sz="8000" dirty="0" err="1"/>
              <a:t>Ouzonhian</a:t>
            </a:r>
            <a:r>
              <a:rPr lang="es-AR" sz="8000" dirty="0"/>
              <a:t> y col. encontró que un intervalo de más de 7 minutos resulta muy peligroso para el daño cerebral que pudiere producir. En el “</a:t>
            </a:r>
            <a:r>
              <a:rPr lang="es-AR" sz="8000" dirty="0" err="1"/>
              <a:t>Obstetrical</a:t>
            </a:r>
            <a:r>
              <a:rPr lang="es-AR" sz="8000" dirty="0"/>
              <a:t> and </a:t>
            </a:r>
            <a:r>
              <a:rPr lang="es-AR" sz="8000" dirty="0" err="1"/>
              <a:t>Gynecological</a:t>
            </a:r>
            <a:r>
              <a:rPr lang="es-AR" sz="8000" dirty="0"/>
              <a:t> </a:t>
            </a:r>
            <a:r>
              <a:rPr lang="es-AR" sz="8000" dirty="0" err="1"/>
              <a:t>Survey</a:t>
            </a:r>
            <a:r>
              <a:rPr lang="es-AR" sz="8000" dirty="0"/>
              <a:t>” (2002) publica su editorial con el titulo nuevas vistas en profundidad en la distocia de hombros y parálisis braquial ; una reciente revisión , con datos tomados de 14 artículos publicados referidos a la parálisis braquial , encontró que </a:t>
            </a:r>
            <a:r>
              <a:rPr lang="es-AR" sz="8000" b="1" dirty="0"/>
              <a:t>algo mas de la mitad de todos los casos de parálisis braquial correspondían a partos vaginales sin complicaciones y también se encontraron parálisis braquial en fetos en presentación cefálica nacidos de cesáreas </a:t>
            </a:r>
            <a:r>
              <a:rPr lang="es-AR" sz="8000" b="1" dirty="0" err="1"/>
              <a:t>atraumáticas</a:t>
            </a:r>
            <a:r>
              <a:rPr lang="es-AR" sz="8000" b="1" dirty="0"/>
              <a:t> .</a:t>
            </a:r>
          </a:p>
          <a:p>
            <a:pPr marL="0" indent="0">
              <a:buNone/>
            </a:pPr>
            <a:endParaRPr lang="es-AR" sz="8000" b="1" dirty="0"/>
          </a:p>
          <a:p>
            <a:pPr marL="0" indent="0">
              <a:buNone/>
            </a:pPr>
            <a:endParaRPr lang="es-AR" sz="8000" b="1" dirty="0"/>
          </a:p>
          <a:p>
            <a:pPr marL="0" indent="0">
              <a:buNone/>
            </a:pPr>
            <a:r>
              <a:rPr lang="es-AR" sz="12800" b="1" dirty="0"/>
              <a:t>El mito de que la parálisis braquial es el resultado de un exceso de tracción aplicado por el obstetra va desapareciendo y en su lugar parece que la etiología de la parálisis braquial es multifactorial y resulta de los hechos anteriores al nacimiento; la </a:t>
            </a:r>
            <a:r>
              <a:rPr lang="es-AR" sz="12800" b="1" dirty="0" err="1"/>
              <a:t>impactacion</a:t>
            </a:r>
            <a:r>
              <a:rPr lang="es-AR" sz="12800" b="1" dirty="0"/>
              <a:t> del hombro las fuerzas inherentes en el proceso normal del parto, por el encaje del brazo posterior fetal contra el promontorio sacro.</a:t>
            </a:r>
          </a:p>
        </p:txBody>
      </p:sp>
    </p:spTree>
    <p:extLst>
      <p:ext uri="{BB962C8B-B14F-4D97-AF65-F5344CB8AC3E}">
        <p14:creationId xmlns:p14="http://schemas.microsoft.com/office/powerpoint/2010/main" val="3123905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0"/>
            <a:ext cx="9144000" cy="6858000"/>
          </a:xfrm>
        </p:spPr>
        <p:txBody>
          <a:bodyPr>
            <a:normAutofit lnSpcReduction="10000"/>
          </a:bodyPr>
          <a:lstStyle/>
          <a:p>
            <a:pPr marL="0" indent="0">
              <a:buNone/>
            </a:pPr>
            <a:r>
              <a:rPr lang="es-AR" b="1" dirty="0"/>
              <a:t>Factores de Riesgo:</a:t>
            </a:r>
          </a:p>
          <a:p>
            <a:pPr marL="0" indent="0">
              <a:buNone/>
            </a:pPr>
            <a:r>
              <a:rPr lang="es-AR" b="1" dirty="0"/>
              <a:t>EMBARAZO PROLONGADO   DIABETES  OBESIDAD   AUMENTO EXCESIVO DE PESO</a:t>
            </a:r>
          </a:p>
          <a:p>
            <a:pPr marL="0" indent="0">
              <a:buNone/>
            </a:pPr>
            <a:r>
              <a:rPr lang="es-AR" b="1" dirty="0"/>
              <a:t>PERIÓDO EXPULSIVO PROLONGADO, MAS AUN TERMINADO CON UNA MANIOBRA INSTRUMENTAL</a:t>
            </a:r>
          </a:p>
          <a:p>
            <a:pPr marL="0" indent="0">
              <a:buNone/>
            </a:pPr>
            <a:r>
              <a:rPr lang="es-AR" b="1" dirty="0"/>
              <a:t>Prevención de la distocia: DURANTE EL EMBARAZO</a:t>
            </a:r>
          </a:p>
          <a:p>
            <a:pPr marL="0" indent="0">
              <a:buNone/>
            </a:pPr>
            <a:r>
              <a:rPr lang="es-AR" b="1" dirty="0"/>
              <a:t>Diabéticas Embarazo prolongado Obesidad – Aumento excesivo de peso materno</a:t>
            </a:r>
          </a:p>
          <a:p>
            <a:pPr marL="0" indent="0">
              <a:buNone/>
            </a:pPr>
            <a:r>
              <a:rPr lang="es-AR" b="1" dirty="0"/>
              <a:t>                                                DURANTE EL PARTO</a:t>
            </a:r>
          </a:p>
          <a:p>
            <a:pPr marL="0" indent="0">
              <a:buNone/>
            </a:pPr>
            <a:r>
              <a:rPr lang="es-AR" dirty="0"/>
              <a:t>P pélvicos, ventosa obstétrica o con fórceps, el riesgo es 28 veces mayor.</a:t>
            </a:r>
          </a:p>
          <a:p>
            <a:pPr marL="0" indent="0">
              <a:buNone/>
            </a:pPr>
            <a:r>
              <a:rPr lang="es-AR" dirty="0"/>
              <a:t> También se acrecienta el riesgo cuando la segunda fase del parto se prolonga.</a:t>
            </a:r>
          </a:p>
          <a:p>
            <a:endParaRPr lang="es-AR" dirty="0"/>
          </a:p>
        </p:txBody>
      </p:sp>
    </p:spTree>
    <p:extLst>
      <p:ext uri="{BB962C8B-B14F-4D97-AF65-F5344CB8AC3E}">
        <p14:creationId xmlns:p14="http://schemas.microsoft.com/office/powerpoint/2010/main" val="3774277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0"/>
            <a:ext cx="9144000" cy="6858000"/>
          </a:xfrm>
          <a:ln>
            <a:solidFill>
              <a:schemeClr val="accent1"/>
            </a:solidFill>
            <a:tailEnd type="arrow"/>
          </a:ln>
        </p:spPr>
        <p:style>
          <a:lnRef idx="1">
            <a:schemeClr val="accent1"/>
          </a:lnRef>
          <a:fillRef idx="0">
            <a:schemeClr val="accent1"/>
          </a:fillRef>
          <a:effectRef idx="0">
            <a:schemeClr val="accent1"/>
          </a:effectRef>
          <a:fontRef idx="minor">
            <a:schemeClr val="tx1"/>
          </a:fontRef>
        </p:style>
        <p:txBody>
          <a:bodyPr>
            <a:normAutofit/>
          </a:bodyPr>
          <a:lstStyle/>
          <a:p>
            <a:pPr marL="0" indent="0">
              <a:buNone/>
            </a:pPr>
            <a:r>
              <a:rPr lang="es-AR" b="1" dirty="0"/>
              <a:t>Manejo de la distocia de hombros:</a:t>
            </a:r>
          </a:p>
          <a:p>
            <a:pPr marL="0" indent="0">
              <a:buNone/>
            </a:pPr>
            <a:r>
              <a:rPr lang="es-AR" b="1" dirty="0"/>
              <a:t>1. RECONOCER INMEDIATAMENTE CUANDO SE ORIGINÓ LA DISTOCIA</a:t>
            </a:r>
          </a:p>
          <a:p>
            <a:pPr marL="0" indent="0">
              <a:buNone/>
            </a:pPr>
            <a:r>
              <a:rPr lang="es-AR" b="1" dirty="0"/>
              <a:t>2. TOMAR NOTA DE LA HORA EN QUE SE PRESENTÓ </a:t>
            </a:r>
          </a:p>
          <a:p>
            <a:pPr marL="0" indent="0">
              <a:buNone/>
            </a:pPr>
            <a:r>
              <a:rPr lang="es-AR" b="1" dirty="0"/>
              <a:t>3. NO TRACCIONAR DE LA CABEZA</a:t>
            </a:r>
          </a:p>
          <a:p>
            <a:pPr marL="0" indent="0">
              <a:buNone/>
            </a:pPr>
            <a:r>
              <a:rPr lang="es-AR" b="1" dirty="0"/>
              <a:t>4. NO PRESIONAR DEL FONDO UTERINO</a:t>
            </a:r>
          </a:p>
          <a:p>
            <a:pPr marL="0" indent="0">
              <a:buNone/>
            </a:pPr>
            <a:r>
              <a:rPr lang="es-AR" b="1" dirty="0"/>
              <a:t>CONDUCTA A SEGUIR:            PEDIR AYUDA</a:t>
            </a:r>
          </a:p>
          <a:p>
            <a:pPr marL="0" indent="0">
              <a:buNone/>
            </a:pPr>
            <a:r>
              <a:rPr lang="es-AR" b="1" dirty="0"/>
              <a:t>1° Ampliar la episiotomía.</a:t>
            </a:r>
          </a:p>
          <a:p>
            <a:pPr marL="0" indent="0">
              <a:buNone/>
            </a:pPr>
            <a:r>
              <a:rPr lang="es-AR" b="1" dirty="0"/>
              <a:t>2° Explorar manualmente detrás de la cabeza para averiguar si el hombro posterior ESTA o NO en la cavidad sacra.</a:t>
            </a:r>
          </a:p>
          <a:p>
            <a:endParaRPr lang="es-AR" dirty="0"/>
          </a:p>
        </p:txBody>
      </p:sp>
      <p:cxnSp>
        <p:nvCxnSpPr>
          <p:cNvPr id="5" name="4 Conector recto de flecha"/>
          <p:cNvCxnSpPr/>
          <p:nvPr/>
        </p:nvCxnSpPr>
        <p:spPr>
          <a:xfrm>
            <a:off x="3923928" y="3789040"/>
            <a:ext cx="864096" cy="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5781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0"/>
            <a:ext cx="9144000" cy="6858000"/>
          </a:xfrm>
        </p:spPr>
        <p:txBody>
          <a:bodyPr>
            <a:normAutofit fontScale="77500" lnSpcReduction="20000"/>
          </a:bodyPr>
          <a:lstStyle/>
          <a:p>
            <a:pPr marL="0" indent="0">
              <a:buNone/>
            </a:pPr>
            <a:r>
              <a:rPr lang="es-AR" b="1" dirty="0"/>
              <a:t>A- ) SI NO ESTA, DISTOCIA BILATERAL (AMBOS HOMBROS ESTÁN POR ENCIMA DE LA EXCAVACIÓN PÉLV).</a:t>
            </a:r>
          </a:p>
          <a:p>
            <a:pPr marL="0" indent="0">
              <a:buNone/>
            </a:pPr>
            <a:r>
              <a:rPr lang="es-AR" b="1" dirty="0"/>
              <a:t>Utilizar la MANIOBRA DE ZAVANELLI, que consiste en la RESTITUCIÓN DE LA CABEZA AL INTERIOR DE LA PELVIS mediante la ROTACIÓN a la posición </a:t>
            </a:r>
            <a:r>
              <a:rPr lang="es-AR" b="1" dirty="0" err="1"/>
              <a:t>occipito</a:t>
            </a:r>
            <a:r>
              <a:rPr lang="es-AR" b="1" dirty="0"/>
              <a:t> púbica , FLEXION Y PRESIÓN firme y constante de la misma para introducirla en la pelvis. Se procede luego a realizar la operación cesárea.</a:t>
            </a:r>
          </a:p>
          <a:p>
            <a:pPr marL="0" indent="0">
              <a:buNone/>
            </a:pPr>
            <a:r>
              <a:rPr lang="es-AR" b="1" dirty="0"/>
              <a:t>B- ) SI ESTA, DISTOCIA UNILATERAL (EL HOMBRO POSTERIOR ESTÁ EN LA EXCAVACIÓN).</a:t>
            </a:r>
          </a:p>
          <a:p>
            <a:pPr marL="0" indent="0">
              <a:buNone/>
            </a:pPr>
            <a:r>
              <a:rPr lang="es-AR" b="1" dirty="0"/>
              <a:t>UTILIZAR LA MANIOBRA DE ROBERTS</a:t>
            </a:r>
          </a:p>
          <a:p>
            <a:pPr marL="0" indent="0">
              <a:buNone/>
            </a:pPr>
            <a:r>
              <a:rPr lang="es-AR" b="1" dirty="0"/>
              <a:t>1. LIBERAR LAS PIERNAS  2. SEPARARLAS Y FLEXIONARLAS CONTRA EL ABDOMEN. Esto permite el ascenso del pubis y rechaza hacia atrás el promontorio,, AUMENTANDO EL DIÁMETRO ANTEROPOSTERIOR DE LA PELVIS, facilitando de ésta manera EL INGRESO DEL H ANTERIOR AL INTERIOR DE LA CAVIDAD PÉLVICA.  3. Un ASISTENTE efectúa PRESIÓN SUPRAPÚBICA EN SENTIDO LATERAL Y POSTERIOR (PARA DESPLAZAR EL H ANTERIOR RETENIDO EN EL BORDE SUPERIOR DEL PUBIS)</a:t>
            </a:r>
          </a:p>
          <a:p>
            <a:pPr marL="0" indent="0">
              <a:buNone/>
            </a:pPr>
            <a:r>
              <a:rPr lang="es-AR" b="1" dirty="0"/>
              <a:t>4. TRACCIÓN MODERADA Y CONSTANTE DE LA CABEZA EN </a:t>
            </a:r>
            <a:r>
              <a:rPr lang="pt-BR" b="1" dirty="0"/>
              <a:t>SENTIDO POSTERIOR E INFERIOR DURANTE 30 SEGUNDOS.</a:t>
            </a:r>
          </a:p>
          <a:p>
            <a:endParaRPr lang="es-AR" dirty="0"/>
          </a:p>
        </p:txBody>
      </p:sp>
    </p:spTree>
    <p:extLst>
      <p:ext uri="{BB962C8B-B14F-4D97-AF65-F5344CB8AC3E}">
        <p14:creationId xmlns:p14="http://schemas.microsoft.com/office/powerpoint/2010/main" val="1577006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0"/>
            <a:ext cx="9144000" cy="6858000"/>
          </a:xfrm>
        </p:spPr>
        <p:txBody>
          <a:bodyPr>
            <a:normAutofit fontScale="55000" lnSpcReduction="20000"/>
          </a:bodyPr>
          <a:lstStyle/>
          <a:p>
            <a:pPr marL="0" indent="0">
              <a:buNone/>
            </a:pPr>
            <a:endParaRPr lang="es-AR" sz="6200" b="1" dirty="0"/>
          </a:p>
          <a:p>
            <a:pPr marL="0" indent="0">
              <a:buNone/>
            </a:pPr>
            <a:r>
              <a:rPr lang="es-AR" sz="6200" b="1" dirty="0"/>
              <a:t>MANIOBRA DE WOOD INVERTIDA: La PRESION debe hacerse en la cara posterior del hombro anterior para facilitar la rotación del hombro posterior en el sentido de las agujas del reloj</a:t>
            </a:r>
          </a:p>
          <a:p>
            <a:pPr marL="0" indent="0">
              <a:buNone/>
            </a:pPr>
            <a:endParaRPr lang="es-AR" sz="6200" b="1" dirty="0"/>
          </a:p>
          <a:p>
            <a:pPr marL="0" indent="0">
              <a:buNone/>
            </a:pPr>
            <a:r>
              <a:rPr lang="es-AR" sz="6200" b="1" dirty="0"/>
              <a:t>MANIOBRA DE DESPRENDIMIENTO DEL HOMBRO POSTERIOR:</a:t>
            </a:r>
          </a:p>
          <a:p>
            <a:pPr marL="0" indent="0">
              <a:buNone/>
            </a:pPr>
            <a:r>
              <a:rPr lang="es-AR" sz="6200" b="1" dirty="0"/>
              <a:t>Se debe alcanzar la muñeca fetal ejerciendo presión con el dedo índice sobre la articulación del codo desplazando el antebrazo hacia la cara anterior del </a:t>
            </a:r>
            <a:r>
              <a:rPr lang="es-AR" sz="6200" b="1" dirty="0" err="1"/>
              <a:t>toráx</a:t>
            </a:r>
            <a:r>
              <a:rPr lang="es-AR" sz="6200" b="1" dirty="0"/>
              <a:t>.</a:t>
            </a:r>
          </a:p>
          <a:p>
            <a:pPr marL="0" indent="0">
              <a:buNone/>
            </a:pPr>
            <a:r>
              <a:rPr lang="es-AR" sz="6200" b="1" dirty="0"/>
              <a:t>De ésta manera se logra liberar el hombro posterior permitiendo </a:t>
            </a:r>
            <a:r>
              <a:rPr lang="es-AR" sz="5800" b="1" dirty="0"/>
              <a:t>a continuación el desprendimiento del hombro anterior</a:t>
            </a:r>
            <a:endParaRPr lang="es-AR" sz="5800" dirty="0"/>
          </a:p>
        </p:txBody>
      </p:sp>
    </p:spTree>
    <p:extLst>
      <p:ext uri="{BB962C8B-B14F-4D97-AF65-F5344CB8AC3E}">
        <p14:creationId xmlns:p14="http://schemas.microsoft.com/office/powerpoint/2010/main" val="34824715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0"/>
            <a:ext cx="9144000" cy="6858000"/>
          </a:xfrm>
        </p:spPr>
        <p:txBody>
          <a:bodyPr>
            <a:normAutofit fontScale="32500" lnSpcReduction="20000"/>
          </a:bodyPr>
          <a:lstStyle/>
          <a:p>
            <a:pPr marL="0" indent="0">
              <a:buNone/>
            </a:pPr>
            <a:r>
              <a:rPr lang="es-AR" sz="6200" b="1" dirty="0"/>
              <a:t>CONSECUENCIAS DE LA DISTOCIA DE HOMBROS</a:t>
            </a:r>
          </a:p>
          <a:p>
            <a:pPr marL="0" indent="0">
              <a:buNone/>
            </a:pPr>
            <a:endParaRPr lang="es-AR" sz="6200" b="1" dirty="0"/>
          </a:p>
          <a:p>
            <a:pPr marL="0" indent="0">
              <a:buNone/>
            </a:pPr>
            <a:r>
              <a:rPr lang="es-AR" sz="8000" b="1" dirty="0"/>
              <a:t>Si la distocia dura más de 10 minutos , puede ocurrir asfixia fetal con lesiones corticales y cognoscitivas incluyendo la muerte fetal.</a:t>
            </a:r>
          </a:p>
          <a:p>
            <a:pPr marL="0" indent="0">
              <a:buNone/>
            </a:pPr>
            <a:r>
              <a:rPr lang="es-AR" sz="8000" b="1" dirty="0"/>
              <a:t>Las lesiones por tracción producen una mayor morbimortalidad perinatal y puede ocurrir parálisis braquial del miembro posterior, ocurrir una fractura de clavícula o de húmero y una parálisis de </a:t>
            </a:r>
            <a:r>
              <a:rPr lang="es-AR" sz="8000" b="1" dirty="0" err="1"/>
              <a:t>Erb</a:t>
            </a:r>
            <a:r>
              <a:rPr lang="es-AR" sz="8000" b="1" dirty="0"/>
              <a:t> transitoria, sin alteración de la función cognoscitiva a largo plazo.</a:t>
            </a:r>
          </a:p>
          <a:p>
            <a:pPr marL="0" indent="0">
              <a:buNone/>
            </a:pPr>
            <a:r>
              <a:rPr lang="es-AR" sz="8000" dirty="0"/>
              <a:t>.</a:t>
            </a:r>
          </a:p>
          <a:p>
            <a:pPr marL="0" indent="0">
              <a:buNone/>
            </a:pPr>
            <a:endParaRPr lang="es-AR" sz="8000" dirty="0"/>
          </a:p>
          <a:p>
            <a:pPr marL="0" indent="0">
              <a:buNone/>
            </a:pPr>
            <a:r>
              <a:rPr lang="es-AR" sz="8000" dirty="0"/>
              <a:t>En conclusión:</a:t>
            </a:r>
          </a:p>
          <a:p>
            <a:pPr marL="0" indent="0">
              <a:buNone/>
            </a:pPr>
            <a:r>
              <a:rPr lang="es-AR" sz="8000" b="1" dirty="0"/>
              <a:t>1 . Los factores de riesgo de distocia de hombros no tienen ningún valor predictivo</a:t>
            </a:r>
          </a:p>
          <a:p>
            <a:pPr marL="0" indent="0">
              <a:buNone/>
            </a:pPr>
            <a:r>
              <a:rPr lang="es-AR" sz="8000" b="1" dirty="0"/>
              <a:t>2. La distocia de hombros es un suceso inesperado.</a:t>
            </a:r>
          </a:p>
          <a:p>
            <a:pPr marL="0" indent="0">
              <a:buNone/>
            </a:pPr>
            <a:r>
              <a:rPr lang="es-AR" sz="8000" b="1" dirty="0"/>
              <a:t>3. Es imposible predecir que niño está en situación de riesgo de desarrollar una  distocia de hombros..</a:t>
            </a:r>
          </a:p>
          <a:p>
            <a:pPr marL="0" indent="0">
              <a:buNone/>
            </a:pPr>
            <a:endParaRPr lang="es-AR" sz="8000" dirty="0"/>
          </a:p>
          <a:p>
            <a:endParaRPr lang="es-AR" sz="8000" dirty="0"/>
          </a:p>
        </p:txBody>
      </p:sp>
    </p:spTree>
    <p:extLst>
      <p:ext uri="{BB962C8B-B14F-4D97-AF65-F5344CB8AC3E}">
        <p14:creationId xmlns:p14="http://schemas.microsoft.com/office/powerpoint/2010/main" val="3228286595"/>
      </p:ext>
    </p:extLst>
  </p:cSld>
  <p:clrMapOvr>
    <a:masterClrMapping/>
  </p:clrMapOvr>
</p:sld>
</file>

<file path=ppt/theme/theme1.xml><?xml version="1.0" encoding="utf-8"?>
<a:theme xmlns:a="http://schemas.openxmlformats.org/drawingml/2006/main" name="Tema de Office">
  <a:themeElements>
    <a:clrScheme name="Oficin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cin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cin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297</TotalTime>
  <Words>2178</Words>
  <Application>Microsoft Office PowerPoint</Application>
  <PresentationFormat>Presentación en pantalla (4:3)</PresentationFormat>
  <Paragraphs>108</Paragraphs>
  <Slides>13</Slides>
  <Notes>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13</vt:i4>
      </vt:variant>
    </vt:vector>
  </HeadingPairs>
  <TitlesOfParts>
    <vt:vector size="16" baseType="lpstr">
      <vt:lpstr>Arial</vt:lpstr>
      <vt:lpstr>Calibri</vt:lpstr>
      <vt:lpstr>Tema de Office</vt:lpstr>
      <vt:lpstr>Presentación de PowerPoint</vt:lpstr>
      <vt:lpstr>Presentación de PowerPoint</vt:lpstr>
      <vt:lpstr>Presentación de PowerPoint</vt:lpstr>
      <vt:lpstr>Presentación de PowerPoint</vt:lpstr>
      <vt:lpstr>Presentación de PowerPoint</vt:lpstr>
      <vt:lpstr>Tiempos del parto de occipucio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ADMIN</dc:creator>
  <cp:lastModifiedBy>Usuario</cp:lastModifiedBy>
  <cp:revision>21</cp:revision>
  <dcterms:created xsi:type="dcterms:W3CDTF">2012-09-13T20:04:07Z</dcterms:created>
  <dcterms:modified xsi:type="dcterms:W3CDTF">2026-09-02T12:36:26Z</dcterms:modified>
</cp:coreProperties>
</file>