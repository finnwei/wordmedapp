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60" y="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14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2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5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0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3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52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4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2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4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5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0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12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477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66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7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79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9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21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73723"/>
            <a:ext cx="9664505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Hígado</a:t>
            </a:r>
            <a:r>
              <a:rPr dirty="0"/>
              <a:t> </a:t>
            </a:r>
            <a:r>
              <a:rPr dirty="0" err="1"/>
              <a:t>Graso</a:t>
            </a:r>
            <a:r>
              <a:rPr dirty="0"/>
              <a:t> </a:t>
            </a:r>
            <a:r>
              <a:rPr dirty="0" err="1"/>
              <a:t>Agudo</a:t>
            </a:r>
            <a:r>
              <a:rPr dirty="0"/>
              <a:t> del Embarazo (HGAE)</a:t>
            </a:r>
          </a:p>
          <a:p>
            <a:pPr>
              <a:spcBef>
                <a:spcPts val="2000"/>
              </a:spcBef>
              <a:defRPr sz="2400">
                <a:solidFill>
                  <a:srgbClr val="009688"/>
                </a:solidFill>
                <a:latin typeface="Arial"/>
              </a:defRPr>
            </a:pP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Emergencia</a:t>
            </a:r>
            <a:r>
              <a:rPr dirty="0"/>
              <a:t> Obstétrica </a:t>
            </a:r>
            <a:r>
              <a:rPr dirty="0" err="1"/>
              <a:t>Crítica</a:t>
            </a:r>
            <a:r>
              <a:rPr dirty="0"/>
              <a:t> en el </a:t>
            </a:r>
            <a:r>
              <a:rPr dirty="0" err="1"/>
              <a:t>Tercer</a:t>
            </a:r>
            <a:r>
              <a:rPr dirty="0"/>
              <a:t> </a:t>
            </a:r>
            <a:r>
              <a:rPr dirty="0" err="1"/>
              <a:t>Trimestre</a:t>
            </a:r>
            <a:endParaRPr dirty="0"/>
          </a:p>
          <a:p>
            <a:pPr>
              <a:spcBef>
                <a:spcPts val="4000"/>
              </a:spcBef>
              <a:defRPr sz="1600">
                <a:solidFill>
                  <a:srgbClr val="B4BED2"/>
                </a:solidFill>
                <a:latin typeface="Arial"/>
              </a:defRPr>
            </a:pPr>
            <a:endParaRPr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905" y="164123"/>
            <a:ext cx="1261981" cy="1255885"/>
          </a:xfrm>
          <a:prstGeom prst="rect">
            <a:avLst/>
          </a:prstGeom>
        </p:spPr>
      </p:pic>
      <p:sp>
        <p:nvSpPr>
          <p:cNvPr id="4" name="Marcador de texto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r>
              <a:rPr lang="es-ES" dirty="0" err="1" smtClean="0"/>
              <a:t>Dra</a:t>
            </a:r>
            <a:r>
              <a:rPr lang="es-ES" dirty="0" smtClean="0"/>
              <a:t> Gonzalez Alejandra</a:t>
            </a:r>
          </a:p>
          <a:p>
            <a:pPr algn="r"/>
            <a:r>
              <a:rPr lang="es-ES" dirty="0" smtClean="0"/>
              <a:t>Esp. Tocoginecologa</a:t>
            </a:r>
          </a:p>
          <a:p>
            <a:pPr algn="r"/>
            <a:r>
              <a:rPr lang="es-ES" dirty="0" smtClean="0"/>
              <a:t>Servicio de Maternidad, Unidad de Materno Fetal, </a:t>
            </a:r>
            <a:r>
              <a:rPr lang="es-ES" dirty="0" err="1" smtClean="0"/>
              <a:t>Hosp</a:t>
            </a:r>
            <a:r>
              <a:rPr lang="es-ES" dirty="0" smtClean="0"/>
              <a:t>. Schestakow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Definición y Epidemiología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Definición</a:t>
            </a:r>
            <a:r>
              <a:rPr dirty="0"/>
              <a:t> Clínica: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Insuficiencia</a:t>
            </a:r>
            <a:r>
              <a:rPr dirty="0"/>
              <a:t> </a:t>
            </a:r>
            <a:r>
              <a:rPr dirty="0" err="1"/>
              <a:t>hepática</a:t>
            </a:r>
            <a:r>
              <a:rPr dirty="0"/>
              <a:t> </a:t>
            </a:r>
            <a:r>
              <a:rPr dirty="0" err="1"/>
              <a:t>aguda</a:t>
            </a:r>
            <a:r>
              <a:rPr dirty="0"/>
              <a:t> grave </a:t>
            </a:r>
            <a:r>
              <a:rPr dirty="0" err="1"/>
              <a:t>inducida</a:t>
            </a:r>
            <a:r>
              <a:rPr dirty="0"/>
              <a:t> por el embarazo, </a:t>
            </a:r>
            <a:r>
              <a:rPr dirty="0" err="1"/>
              <a:t>caracterizada</a:t>
            </a:r>
            <a:r>
              <a:rPr dirty="0"/>
              <a:t> por la </a:t>
            </a:r>
            <a:r>
              <a:rPr dirty="0" err="1"/>
              <a:t>infiltración</a:t>
            </a:r>
            <a:r>
              <a:rPr dirty="0"/>
              <a:t> </a:t>
            </a:r>
            <a:r>
              <a:rPr dirty="0" err="1"/>
              <a:t>grasa</a:t>
            </a:r>
            <a:r>
              <a:rPr dirty="0"/>
              <a:t> </a:t>
            </a:r>
            <a:r>
              <a:rPr dirty="0" err="1"/>
              <a:t>microvesicular</a:t>
            </a:r>
            <a:r>
              <a:rPr dirty="0"/>
              <a:t> </a:t>
            </a:r>
            <a:r>
              <a:rPr dirty="0" err="1"/>
              <a:t>difusa</a:t>
            </a:r>
            <a:r>
              <a:rPr dirty="0"/>
              <a:t> de los </a:t>
            </a:r>
            <a:r>
              <a:rPr dirty="0" err="1"/>
              <a:t>hepatocitos</a:t>
            </a:r>
            <a:r>
              <a:rPr dirty="0"/>
              <a:t> (</a:t>
            </a:r>
            <a:r>
              <a:rPr dirty="0" err="1"/>
              <a:t>respetando</a:t>
            </a:r>
            <a:r>
              <a:rPr dirty="0"/>
              <a:t> la zona </a:t>
            </a:r>
            <a:r>
              <a:rPr dirty="0" err="1"/>
              <a:t>periportal</a:t>
            </a:r>
            <a:r>
              <a:rPr dirty="0"/>
              <a:t>).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Ocurre</a:t>
            </a:r>
            <a:r>
              <a:rPr dirty="0"/>
              <a:t> </a:t>
            </a:r>
            <a:r>
              <a:rPr dirty="0" err="1"/>
              <a:t>característicamente</a:t>
            </a:r>
            <a:r>
              <a:rPr dirty="0"/>
              <a:t> en el </a:t>
            </a:r>
            <a:r>
              <a:rPr dirty="0" err="1"/>
              <a:t>tercer</a:t>
            </a:r>
            <a:r>
              <a:rPr dirty="0"/>
              <a:t> </a:t>
            </a:r>
            <a:r>
              <a:rPr dirty="0" err="1"/>
              <a:t>trimestre</a:t>
            </a:r>
            <a:r>
              <a:rPr dirty="0"/>
              <a:t> (semanas 32-38) o en el </a:t>
            </a:r>
            <a:r>
              <a:rPr dirty="0" err="1"/>
              <a:t>posparto</a:t>
            </a:r>
            <a:r>
              <a:rPr dirty="0"/>
              <a:t> </a:t>
            </a:r>
            <a:r>
              <a:rPr dirty="0" err="1"/>
              <a:t>inmediato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 smtClean="0"/>
              <a:t>Epidemiológicos</a:t>
            </a:r>
            <a:r>
              <a:rPr dirty="0" smtClean="0"/>
              <a:t>:</a:t>
            </a:r>
            <a:endParaRPr dirty="0"/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Incidencia</a:t>
            </a:r>
            <a:r>
              <a:rPr dirty="0"/>
              <a:t> </a:t>
            </a:r>
            <a:r>
              <a:rPr dirty="0" err="1"/>
              <a:t>baja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 smtClean="0"/>
              <a:t>crítica</a:t>
            </a:r>
            <a:r>
              <a:rPr lang="es-ES" dirty="0" smtClean="0"/>
              <a:t>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 smtClean="0"/>
              <a:t>Afecta</a:t>
            </a:r>
            <a:r>
              <a:rPr dirty="0" smtClean="0"/>
              <a:t> </a:t>
            </a:r>
            <a:r>
              <a:rPr dirty="0"/>
              <a:t>a 1 de cada 7.000 a 20.000 </a:t>
            </a:r>
            <a:r>
              <a:rPr dirty="0" err="1"/>
              <a:t>embarazos</a:t>
            </a:r>
            <a:r>
              <a:rPr dirty="0" smtClean="0"/>
              <a:t>.</a:t>
            </a:r>
            <a:endParaRPr dirty="0"/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b="1" dirty="0" err="1">
                <a:solidFill>
                  <a:schemeClr val="accent6"/>
                </a:solidFill>
              </a:rPr>
              <a:t>Factores</a:t>
            </a:r>
            <a:r>
              <a:rPr b="1" dirty="0">
                <a:solidFill>
                  <a:schemeClr val="accent6"/>
                </a:solidFill>
              </a:rPr>
              <a:t> de </a:t>
            </a:r>
            <a:r>
              <a:rPr b="1" dirty="0" err="1">
                <a:solidFill>
                  <a:schemeClr val="accent6"/>
                </a:solidFill>
              </a:rPr>
              <a:t>Riesgo</a:t>
            </a:r>
            <a:r>
              <a:rPr b="1" dirty="0">
                <a:solidFill>
                  <a:schemeClr val="accent6"/>
                </a:solidFill>
              </a:rPr>
              <a:t> </a:t>
            </a:r>
            <a:r>
              <a:rPr b="1" dirty="0" err="1">
                <a:solidFill>
                  <a:schemeClr val="accent6"/>
                </a:solidFill>
              </a:rPr>
              <a:t>Asociados</a:t>
            </a:r>
            <a:r>
              <a:rPr dirty="0"/>
              <a:t>: </a:t>
            </a:r>
            <a:endParaRPr lang="es-ES" dirty="0" smtClean="0"/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 smtClean="0"/>
              <a:t>Nuliparidad</a:t>
            </a:r>
            <a:endParaRPr lang="es-ES" dirty="0" smtClean="0"/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lang="es-ES" dirty="0" err="1"/>
              <a:t>E</a:t>
            </a:r>
            <a:r>
              <a:rPr dirty="0" err="1" smtClean="0"/>
              <a:t>mbarazos</a:t>
            </a:r>
            <a:r>
              <a:rPr dirty="0" smtClean="0"/>
              <a:t> </a:t>
            </a:r>
            <a:r>
              <a:rPr dirty="0" err="1"/>
              <a:t>múltiples</a:t>
            </a:r>
            <a:r>
              <a:rPr dirty="0"/>
              <a:t> (</a:t>
            </a:r>
            <a:r>
              <a:rPr dirty="0" err="1" smtClean="0"/>
              <a:t>gemelares</a:t>
            </a:r>
            <a:r>
              <a:rPr dirty="0" smtClean="0"/>
              <a:t>)</a:t>
            </a:r>
            <a:endParaRPr lang="es-ES" dirty="0" smtClean="0"/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lang="es-ES" dirty="0" err="1"/>
              <a:t>F</a:t>
            </a:r>
            <a:r>
              <a:rPr dirty="0" err="1" smtClean="0"/>
              <a:t>etos</a:t>
            </a:r>
            <a:r>
              <a:rPr dirty="0" smtClean="0"/>
              <a:t> </a:t>
            </a:r>
            <a:r>
              <a:rPr dirty="0"/>
              <a:t>de </a:t>
            </a:r>
            <a:r>
              <a:rPr dirty="0" err="1"/>
              <a:t>sexo</a:t>
            </a:r>
            <a:r>
              <a:rPr dirty="0"/>
              <a:t> </a:t>
            </a:r>
            <a:r>
              <a:rPr dirty="0" err="1"/>
              <a:t>masculino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Fisiopatología: La Conexión Feto-Materna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 smtClean="0"/>
              <a:t>• </a:t>
            </a:r>
            <a:r>
              <a:rPr dirty="0" err="1" smtClean="0"/>
              <a:t>Defecto</a:t>
            </a:r>
            <a:r>
              <a:rPr dirty="0" smtClean="0"/>
              <a:t> </a:t>
            </a:r>
            <a:r>
              <a:rPr dirty="0" err="1" smtClean="0"/>
              <a:t>enzimático</a:t>
            </a:r>
            <a:r>
              <a:rPr dirty="0" smtClean="0"/>
              <a:t> </a:t>
            </a:r>
            <a:r>
              <a:rPr dirty="0" err="1" smtClean="0"/>
              <a:t>mitocondrial</a:t>
            </a:r>
            <a:r>
              <a:rPr dirty="0" smtClean="0"/>
              <a:t> central: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 smtClean="0"/>
              <a:t>Deficiencia</a:t>
            </a:r>
            <a:r>
              <a:rPr dirty="0" smtClean="0"/>
              <a:t> fetal de la </a:t>
            </a:r>
            <a:r>
              <a:rPr dirty="0" err="1" smtClean="0"/>
              <a:t>enzima</a:t>
            </a:r>
            <a:r>
              <a:rPr dirty="0" smtClean="0"/>
              <a:t> LCHAD (</a:t>
            </a:r>
            <a:r>
              <a:rPr dirty="0" err="1" smtClean="0"/>
              <a:t>Deshidrogenasa</a:t>
            </a:r>
            <a:r>
              <a:rPr dirty="0" smtClean="0"/>
              <a:t> de 3-hidroxiacil-CoA de </a:t>
            </a:r>
            <a:r>
              <a:rPr dirty="0" err="1" smtClean="0"/>
              <a:t>cadena</a:t>
            </a:r>
            <a:r>
              <a:rPr dirty="0" smtClean="0"/>
              <a:t> </a:t>
            </a:r>
            <a:r>
              <a:rPr dirty="0" err="1" smtClean="0"/>
              <a:t>larga</a:t>
            </a:r>
            <a:r>
              <a:rPr dirty="0" smtClean="0"/>
              <a:t>).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 smtClean="0"/>
              <a:t>Mutación</a:t>
            </a:r>
            <a:r>
              <a:rPr dirty="0" smtClean="0"/>
              <a:t> </a:t>
            </a:r>
            <a:r>
              <a:rPr dirty="0" err="1" smtClean="0"/>
              <a:t>autosómica</a:t>
            </a:r>
            <a:r>
              <a:rPr dirty="0" smtClean="0"/>
              <a:t> </a:t>
            </a:r>
            <a:r>
              <a:rPr dirty="0" err="1" smtClean="0"/>
              <a:t>recesiva</a:t>
            </a:r>
            <a:r>
              <a:rPr dirty="0" smtClean="0"/>
              <a:t> </a:t>
            </a:r>
            <a:r>
              <a:rPr dirty="0" err="1" smtClean="0"/>
              <a:t>más</a:t>
            </a:r>
            <a:r>
              <a:rPr dirty="0" smtClean="0"/>
              <a:t> </a:t>
            </a:r>
            <a:r>
              <a:rPr dirty="0" err="1" smtClean="0"/>
              <a:t>común</a:t>
            </a:r>
            <a:r>
              <a:rPr dirty="0" smtClean="0"/>
              <a:t>: G1528C.</a:t>
            </a:r>
          </a:p>
          <a:p>
            <a:pPr>
              <a:spcBef>
                <a:spcPts val="1500"/>
              </a:spcBef>
              <a:defRPr sz="2200" b="1">
                <a:solidFill>
                  <a:srgbClr val="0A2240"/>
                </a:solidFill>
                <a:latin typeface="Arial"/>
              </a:defRPr>
            </a:pPr>
            <a:r>
              <a:rPr dirty="0" smtClean="0"/>
              <a:t>• </a:t>
            </a:r>
            <a:r>
              <a:rPr dirty="0" err="1" smtClean="0"/>
              <a:t>Mecanismo</a:t>
            </a:r>
            <a:r>
              <a:rPr dirty="0" smtClean="0"/>
              <a:t> de </a:t>
            </a:r>
            <a:r>
              <a:rPr dirty="0" err="1" smtClean="0"/>
              <a:t>toxicidad</a:t>
            </a:r>
            <a:r>
              <a:rPr dirty="0" smtClean="0"/>
              <a:t>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smtClean="0"/>
              <a:t>1. El </a:t>
            </a:r>
            <a:r>
              <a:rPr dirty="0" err="1" smtClean="0"/>
              <a:t>feto</a:t>
            </a:r>
            <a:r>
              <a:rPr dirty="0" smtClean="0"/>
              <a:t> (</a:t>
            </a:r>
            <a:r>
              <a:rPr dirty="0" err="1" smtClean="0"/>
              <a:t>homocigoto</a:t>
            </a:r>
            <a:r>
              <a:rPr dirty="0" smtClean="0"/>
              <a:t>) no </a:t>
            </a:r>
            <a:r>
              <a:rPr dirty="0" err="1" smtClean="0"/>
              <a:t>puede</a:t>
            </a:r>
            <a:r>
              <a:rPr dirty="0" smtClean="0"/>
              <a:t> </a:t>
            </a:r>
            <a:r>
              <a:rPr dirty="0" err="1" smtClean="0"/>
              <a:t>oxidar</a:t>
            </a:r>
            <a:r>
              <a:rPr dirty="0" smtClean="0"/>
              <a:t> los </a:t>
            </a:r>
            <a:r>
              <a:rPr dirty="0" err="1" smtClean="0"/>
              <a:t>ácidos</a:t>
            </a:r>
            <a:r>
              <a:rPr dirty="0" smtClean="0"/>
              <a:t> </a:t>
            </a:r>
            <a:r>
              <a:rPr dirty="0" err="1" smtClean="0"/>
              <a:t>grasos</a:t>
            </a:r>
            <a:r>
              <a:rPr dirty="0" smtClean="0"/>
              <a:t> de </a:t>
            </a:r>
            <a:r>
              <a:rPr dirty="0" err="1" smtClean="0"/>
              <a:t>cadena</a:t>
            </a:r>
            <a:r>
              <a:rPr dirty="0" smtClean="0"/>
              <a:t> </a:t>
            </a:r>
            <a:r>
              <a:rPr dirty="0" err="1" smtClean="0"/>
              <a:t>larga</a:t>
            </a:r>
            <a:r>
              <a:rPr dirty="0" smtClean="0"/>
              <a:t>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smtClean="0"/>
              <a:t>2. Se </a:t>
            </a:r>
            <a:r>
              <a:rPr dirty="0" err="1" smtClean="0"/>
              <a:t>acumulan</a:t>
            </a:r>
            <a:r>
              <a:rPr dirty="0" smtClean="0"/>
              <a:t> </a:t>
            </a:r>
            <a:r>
              <a:rPr dirty="0" err="1" smtClean="0"/>
              <a:t>intermediarios</a:t>
            </a:r>
            <a:r>
              <a:rPr dirty="0" smtClean="0"/>
              <a:t> </a:t>
            </a:r>
            <a:r>
              <a:rPr dirty="0" err="1" smtClean="0"/>
              <a:t>lipídicos</a:t>
            </a:r>
            <a:r>
              <a:rPr dirty="0" smtClean="0"/>
              <a:t> </a:t>
            </a:r>
            <a:r>
              <a:rPr dirty="0" err="1" smtClean="0"/>
              <a:t>hepatotóxicos</a:t>
            </a:r>
            <a:r>
              <a:rPr dirty="0" smtClean="0"/>
              <a:t> que </a:t>
            </a:r>
            <a:r>
              <a:rPr dirty="0" err="1" smtClean="0"/>
              <a:t>ingresan</a:t>
            </a:r>
            <a:r>
              <a:rPr dirty="0" smtClean="0"/>
              <a:t> a la </a:t>
            </a:r>
            <a:r>
              <a:rPr dirty="0" err="1" smtClean="0"/>
              <a:t>circulación</a:t>
            </a:r>
            <a:r>
              <a:rPr dirty="0" smtClean="0"/>
              <a:t> </a:t>
            </a:r>
            <a:r>
              <a:rPr dirty="0" err="1" smtClean="0"/>
              <a:t>materna</a:t>
            </a:r>
            <a:r>
              <a:rPr dirty="0" smtClean="0"/>
              <a:t>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smtClean="0"/>
              <a:t>3. La </a:t>
            </a:r>
            <a:r>
              <a:rPr dirty="0" err="1" smtClean="0"/>
              <a:t>madre</a:t>
            </a:r>
            <a:r>
              <a:rPr dirty="0" smtClean="0"/>
              <a:t> (</a:t>
            </a:r>
            <a:r>
              <a:rPr dirty="0" err="1" smtClean="0"/>
              <a:t>heterocigota</a:t>
            </a:r>
            <a:r>
              <a:rPr dirty="0" smtClean="0"/>
              <a:t> </a:t>
            </a:r>
            <a:r>
              <a:rPr dirty="0" err="1" smtClean="0"/>
              <a:t>portadora</a:t>
            </a:r>
            <a:r>
              <a:rPr dirty="0" smtClean="0"/>
              <a:t>) </a:t>
            </a:r>
            <a:r>
              <a:rPr dirty="0" err="1" smtClean="0"/>
              <a:t>sufre</a:t>
            </a:r>
            <a:r>
              <a:rPr dirty="0" smtClean="0"/>
              <a:t> </a:t>
            </a:r>
            <a:r>
              <a:rPr dirty="0" err="1" smtClean="0"/>
              <a:t>una</a:t>
            </a:r>
            <a:r>
              <a:rPr dirty="0" smtClean="0"/>
              <a:t> </a:t>
            </a:r>
            <a:r>
              <a:rPr dirty="0" err="1" smtClean="0"/>
              <a:t>sobrecarga</a:t>
            </a:r>
            <a:r>
              <a:rPr dirty="0" smtClean="0"/>
              <a:t> </a:t>
            </a:r>
            <a:r>
              <a:rPr dirty="0" err="1" smtClean="0"/>
              <a:t>mitocondrial</a:t>
            </a:r>
            <a:r>
              <a:rPr dirty="0" smtClean="0"/>
              <a:t> extrema.</a:t>
            </a:r>
          </a:p>
          <a:p>
            <a:pPr lvl="1">
              <a:spcBef>
                <a:spcPts val="1400"/>
              </a:spcBef>
              <a:defRPr sz="2000" b="1">
                <a:solidFill>
                  <a:srgbClr val="D32F2F"/>
                </a:solidFill>
                <a:latin typeface="Arial"/>
              </a:defRPr>
            </a:pPr>
            <a:r>
              <a:rPr dirty="0" err="1" smtClean="0"/>
              <a:t>Resultado</a:t>
            </a:r>
            <a:r>
              <a:rPr dirty="0" smtClean="0"/>
              <a:t>: </a:t>
            </a:r>
            <a:r>
              <a:rPr dirty="0" err="1" smtClean="0"/>
              <a:t>Estrés</a:t>
            </a:r>
            <a:r>
              <a:rPr dirty="0" smtClean="0"/>
              <a:t> </a:t>
            </a:r>
            <a:r>
              <a:rPr dirty="0" err="1" smtClean="0"/>
              <a:t>oxidativo</a:t>
            </a:r>
            <a:r>
              <a:rPr dirty="0" smtClean="0"/>
              <a:t>, </a:t>
            </a:r>
            <a:r>
              <a:rPr dirty="0" err="1" smtClean="0"/>
              <a:t>esteatosis</a:t>
            </a:r>
            <a:r>
              <a:rPr dirty="0" smtClean="0"/>
              <a:t> microvesicular </a:t>
            </a:r>
            <a:r>
              <a:rPr dirty="0" err="1" smtClean="0"/>
              <a:t>masiva</a:t>
            </a:r>
            <a:r>
              <a:rPr dirty="0" smtClean="0"/>
              <a:t> e </a:t>
            </a:r>
            <a:r>
              <a:rPr dirty="0" err="1" smtClean="0"/>
              <a:t>insuficiencia</a:t>
            </a:r>
            <a:r>
              <a:rPr dirty="0" smtClean="0"/>
              <a:t> </a:t>
            </a:r>
            <a:r>
              <a:rPr dirty="0" err="1" smtClean="0"/>
              <a:t>hepática</a:t>
            </a:r>
            <a:r>
              <a:rPr dirty="0" smtClean="0"/>
              <a:t> </a:t>
            </a:r>
            <a:r>
              <a:rPr dirty="0" err="1" smtClean="0"/>
              <a:t>aguda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Manifestaciones Clínicas y Progresión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t>• Pródromo Viral-Like (1-2 semanas previas):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Náuseas y vómitos intratables (un síntoma clave ausente en la emesis gravídica normal del 3°T).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Malestar general, astenia extrema y anorexia profunda.</a:t>
            </a:r>
          </a:p>
          <a:p>
            <a:pPr>
              <a:spcBef>
                <a:spcPts val="1500"/>
              </a:spcBef>
              <a:defRPr sz="2200" b="1">
                <a:solidFill>
                  <a:srgbClr val="0A2240"/>
                </a:solidFill>
                <a:latin typeface="Arial"/>
              </a:defRPr>
            </a:pPr>
            <a:r>
              <a:t>• Fase de Estado (Instalación de la Falla Hepática):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Dolor persistente en hipocondrio derecho o epigastrio.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Ictericia de progresión rápida.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Poliuria y polidipsia secundaria a diabetes insípida nefrogénica transitoria.</a:t>
            </a:r>
          </a:p>
          <a:p>
            <a:pPr>
              <a:spcBef>
                <a:spcPts val="1500"/>
              </a:spcBef>
              <a:defRPr sz="2100" b="1">
                <a:solidFill>
                  <a:srgbClr val="D32F2F"/>
                </a:solidFill>
                <a:latin typeface="Arial"/>
              </a:defRPr>
            </a:pPr>
            <a:r>
              <a:t>• Signos de Alerta Máxima: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Encefalopatía hepática (asterixis, confusión), coagulopatía de consumo y hemorragias activas.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Diagnóstico Clínico: Criterios de Swansea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000" b="1">
                <a:solidFill>
                  <a:srgbClr val="0A2240"/>
                </a:solidFill>
                <a:latin typeface="Arial"/>
              </a:defRPr>
            </a:pPr>
            <a:r>
              <a:t>Se requiere la presencia de 6 o más criterios en ausencia de otra causa explicable:</a:t>
            </a:r>
          </a:p>
          <a:p>
            <a:pPr lvl="1">
              <a:spcBef>
                <a:spcPts val="1000"/>
              </a:spcBef>
              <a:defRPr sz="1800" b="0">
                <a:solidFill>
                  <a:srgbClr val="282C34"/>
                </a:solidFill>
                <a:latin typeface="Arial"/>
              </a:defRPr>
            </a:pPr>
            <a:r>
              <a:t>• Clínicos: Vómitos | Dolor abdominal | Polidipsia/Poliuria | Encefalopatía</a:t>
            </a:r>
          </a:p>
          <a:p>
            <a:pPr lvl="1">
              <a:spcBef>
                <a:spcPts val="500"/>
              </a:spcBef>
              <a:defRPr sz="1800" b="0">
                <a:solidFill>
                  <a:srgbClr val="282C34"/>
                </a:solidFill>
                <a:latin typeface="Arial"/>
              </a:defRPr>
            </a:pPr>
            <a:r>
              <a:t>• Enzimas y Bilirrubinas: Bilirrubina total &gt; 0.8 mg/dL | AST o ALT &gt; 42 U/L</a:t>
            </a:r>
          </a:p>
          <a:p>
            <a:pPr lvl="1">
              <a:spcBef>
                <a:spcPts val="500"/>
              </a:spcBef>
              <a:defRPr sz="1800" b="1">
                <a:solidFill>
                  <a:srgbClr val="D32F2F"/>
                </a:solidFill>
                <a:latin typeface="Arial"/>
              </a:defRPr>
            </a:pPr>
            <a:r>
              <a:t>• Alteración Metabólica: Hipoglucemia severa (&lt; 72 mg/dL o &lt; 4 mmol/L) ⚠️</a:t>
            </a:r>
          </a:p>
          <a:p>
            <a:pPr lvl="1">
              <a:spcBef>
                <a:spcPts val="500"/>
              </a:spcBef>
              <a:defRPr sz="1800" b="0">
                <a:solidFill>
                  <a:srgbClr val="282C34"/>
                </a:solidFill>
                <a:latin typeface="Arial"/>
              </a:defRPr>
            </a:pPr>
            <a:r>
              <a:t>• Función Renal / Metabólica: Ácido úrico &gt; 5.7 mg/dL | Creatinina &gt; 1.7 mg/dL</a:t>
            </a:r>
          </a:p>
          <a:p>
            <a:pPr lvl="1">
              <a:spcBef>
                <a:spcPts val="500"/>
              </a:spcBef>
              <a:defRPr sz="1800" b="0">
                <a:solidFill>
                  <a:srgbClr val="282C34"/>
                </a:solidFill>
                <a:latin typeface="Arial"/>
              </a:defRPr>
            </a:pPr>
            <a:r>
              <a:t>• Hematológicos: Leucocitosis (&gt; 11.000/µL) | Coagulopatía (Tiempo de Protrombina &gt; 14s)</a:t>
            </a:r>
          </a:p>
          <a:p>
            <a:pPr lvl="1">
              <a:spcBef>
                <a:spcPts val="500"/>
              </a:spcBef>
              <a:defRPr sz="1800" b="0">
                <a:solidFill>
                  <a:srgbClr val="282C34"/>
                </a:solidFill>
                <a:latin typeface="Arial"/>
              </a:defRPr>
            </a:pPr>
            <a:r>
              <a:t>• Imágenes / Histología: Ascitis o 'hígado brillante' en ecografía | Esteatosis microvesicular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Diagnóstico Diferencial: El Gran Reto Clínico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1127729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Característica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HGAE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Síndrome HELLP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Colestasis Intrahepática</a:t>
                      </a:r>
                    </a:p>
                  </a:txBody>
                  <a:tcPr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C34"/>
                          </a:solidFill>
                        </a:defRPr>
                      </a:pPr>
                      <a:r>
                        <a:t>Síntoma Principal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Vómitos, alteración sensorio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Dolor epigástrico, hipertensión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Prurito palmo-plantar nocturno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C34"/>
                          </a:solidFill>
                        </a:defRPr>
                      </a:pPr>
                      <a:r>
                        <a:t>Hipoglucemia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Frecuente y muy severa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Extremadamente rara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Ausente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C34"/>
                          </a:solidFill>
                        </a:defRPr>
                      </a:pPr>
                      <a:r>
                        <a:rPr dirty="0"/>
                        <a:t>Coagulopatía (TP)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Prolongado (Temprano)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Normal (salvo CID terminal)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C34"/>
                          </a:solidFill>
                        </a:defRPr>
                      </a:pPr>
                      <a:r>
                        <a:t>Plaquetas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Levemente bajas / Normales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Trombocitopenia severa (&lt;100k)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Normales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82C34"/>
                          </a:solidFill>
                        </a:defRPr>
                      </a:pPr>
                      <a:r>
                        <a:t>Ácidos Biliares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Moderadamente elevados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t>Normales / Leves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C34"/>
                          </a:solidFill>
                        </a:defRPr>
                      </a:pPr>
                      <a:r>
                        <a:rPr dirty="0" err="1"/>
                        <a:t>Marcadamente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elevados</a:t>
                      </a:r>
                      <a:r>
                        <a:rPr dirty="0"/>
                        <a:t> (&gt;10-40)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Manejo Terapéutico y Conducta Obstétrica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rPr dirty="0"/>
              <a:t>1. </a:t>
            </a:r>
            <a:r>
              <a:rPr dirty="0" err="1"/>
              <a:t>Estabilización</a:t>
            </a:r>
            <a:r>
              <a:rPr dirty="0"/>
              <a:t> </a:t>
            </a:r>
            <a:r>
              <a:rPr dirty="0" err="1"/>
              <a:t>Materna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e </a:t>
            </a:r>
            <a:r>
              <a:rPr dirty="0" err="1"/>
              <a:t>Inmediata</a:t>
            </a:r>
            <a:r>
              <a:rPr dirty="0"/>
              <a:t>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Corrección</a:t>
            </a:r>
            <a:r>
              <a:rPr dirty="0"/>
              <a:t> de la </a:t>
            </a:r>
            <a:r>
              <a:rPr dirty="0" err="1"/>
              <a:t>hipoglucemia</a:t>
            </a:r>
            <a:r>
              <a:rPr dirty="0"/>
              <a:t> con </a:t>
            </a:r>
            <a:r>
              <a:rPr dirty="0" err="1"/>
              <a:t>infusión</a:t>
            </a:r>
            <a:r>
              <a:rPr dirty="0"/>
              <a:t> continua de </a:t>
            </a:r>
            <a:r>
              <a:rPr dirty="0" err="1"/>
              <a:t>glucosa</a:t>
            </a:r>
            <a:r>
              <a:rPr dirty="0"/>
              <a:t> </a:t>
            </a:r>
            <a:r>
              <a:rPr dirty="0" err="1"/>
              <a:t>hipertónica</a:t>
            </a:r>
            <a:r>
              <a:rPr dirty="0"/>
              <a:t>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Reversión</a:t>
            </a:r>
            <a:r>
              <a:rPr dirty="0"/>
              <a:t> de la coagulopatía con Plasma Fresco </a:t>
            </a:r>
            <a:r>
              <a:rPr dirty="0" err="1"/>
              <a:t>Congelado</a:t>
            </a:r>
            <a:r>
              <a:rPr dirty="0"/>
              <a:t> (PFC), </a:t>
            </a:r>
            <a:r>
              <a:rPr dirty="0" err="1"/>
              <a:t>crioprecipitados</a:t>
            </a:r>
            <a:r>
              <a:rPr dirty="0"/>
              <a:t> y </a:t>
            </a:r>
            <a:r>
              <a:rPr dirty="0" err="1"/>
              <a:t>plaquetas</a:t>
            </a:r>
            <a:r>
              <a:rPr dirty="0"/>
              <a:t> antes del </a:t>
            </a:r>
            <a:r>
              <a:rPr dirty="0" err="1"/>
              <a:t>parto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2200" b="1">
                <a:solidFill>
                  <a:srgbClr val="D32F2F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Finalización</a:t>
            </a:r>
            <a:r>
              <a:rPr dirty="0"/>
              <a:t> </a:t>
            </a:r>
            <a:r>
              <a:rPr dirty="0" err="1"/>
              <a:t>Inmediata</a:t>
            </a:r>
            <a:r>
              <a:rPr dirty="0"/>
              <a:t> del Embarazo:</a:t>
            </a:r>
          </a:p>
          <a:p>
            <a:pPr lvl="1">
              <a:spcBef>
                <a:spcPts val="1400"/>
              </a:spcBef>
              <a:defRPr sz="2000" b="1">
                <a:solidFill>
                  <a:srgbClr val="282C34"/>
                </a:solidFill>
                <a:latin typeface="Arial"/>
              </a:defRPr>
            </a:pPr>
            <a:r>
              <a:rPr dirty="0"/>
              <a:t>El </a:t>
            </a:r>
            <a:r>
              <a:rPr dirty="0" err="1"/>
              <a:t>parto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la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cura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. No </a:t>
            </a:r>
            <a:r>
              <a:rPr dirty="0" err="1"/>
              <a:t>existe</a:t>
            </a:r>
            <a:r>
              <a:rPr dirty="0"/>
              <a:t> el </a:t>
            </a:r>
            <a:r>
              <a:rPr dirty="0" err="1"/>
              <a:t>manejo</a:t>
            </a:r>
            <a:r>
              <a:rPr dirty="0"/>
              <a:t> </a:t>
            </a:r>
            <a:r>
              <a:rPr dirty="0" err="1"/>
              <a:t>expectante</a:t>
            </a:r>
            <a:r>
              <a:rPr dirty="0"/>
              <a:t> en HGAE.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Vía</a:t>
            </a:r>
            <a:r>
              <a:rPr dirty="0"/>
              <a:t> de </a:t>
            </a:r>
            <a:r>
              <a:rPr dirty="0" err="1"/>
              <a:t>finalización</a:t>
            </a:r>
            <a:r>
              <a:rPr dirty="0"/>
              <a:t> (</a:t>
            </a:r>
            <a:r>
              <a:rPr dirty="0" err="1"/>
              <a:t>parto</a:t>
            </a:r>
            <a:r>
              <a:rPr dirty="0"/>
              <a:t> vs. </a:t>
            </a:r>
            <a:r>
              <a:rPr dirty="0" err="1"/>
              <a:t>cesárea</a:t>
            </a:r>
            <a:r>
              <a:rPr dirty="0"/>
              <a:t>) </a:t>
            </a:r>
            <a:r>
              <a:rPr dirty="0" err="1"/>
              <a:t>basada</a:t>
            </a:r>
            <a:r>
              <a:rPr dirty="0"/>
              <a:t> en </a:t>
            </a:r>
            <a:r>
              <a:rPr dirty="0" err="1"/>
              <a:t>condiciones</a:t>
            </a:r>
            <a:r>
              <a:rPr dirty="0"/>
              <a:t> </a:t>
            </a:r>
            <a:r>
              <a:rPr dirty="0" err="1"/>
              <a:t>obstétricas</a:t>
            </a:r>
            <a:r>
              <a:rPr dirty="0"/>
              <a:t> y </a:t>
            </a:r>
            <a:r>
              <a:rPr dirty="0" err="1"/>
              <a:t>estado</a:t>
            </a:r>
            <a:r>
              <a:rPr dirty="0"/>
              <a:t> de </a:t>
            </a:r>
            <a:r>
              <a:rPr dirty="0" err="1"/>
              <a:t>estabilidad</a:t>
            </a:r>
            <a:r>
              <a:rPr dirty="0"/>
              <a:t> </a:t>
            </a:r>
            <a:r>
              <a:rPr dirty="0" err="1"/>
              <a:t>materna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2200" b="1">
                <a:solidFill>
                  <a:srgbClr val="0A2240"/>
                </a:solidFill>
                <a:latin typeface="Arial"/>
              </a:defRPr>
            </a:pPr>
            <a:r>
              <a:rPr dirty="0"/>
              <a:t>3. </a:t>
            </a:r>
            <a:r>
              <a:rPr dirty="0" err="1"/>
              <a:t>Soporte</a:t>
            </a:r>
            <a:r>
              <a:rPr dirty="0"/>
              <a:t> </a:t>
            </a:r>
            <a:r>
              <a:rPr dirty="0" err="1"/>
              <a:t>Multidisciplinario</a:t>
            </a:r>
            <a:r>
              <a:rPr dirty="0"/>
              <a:t> en UTI: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rPr dirty="0" err="1"/>
              <a:t>Monitoreo</a:t>
            </a:r>
            <a:r>
              <a:rPr dirty="0"/>
              <a:t> continuo </a:t>
            </a:r>
            <a:r>
              <a:rPr dirty="0" err="1"/>
              <a:t>estricto</a:t>
            </a:r>
            <a:r>
              <a:rPr dirty="0"/>
              <a:t>. </a:t>
            </a:r>
            <a:r>
              <a:rPr dirty="0" err="1"/>
              <a:t>Casos</a:t>
            </a:r>
            <a:r>
              <a:rPr dirty="0"/>
              <a:t> </a:t>
            </a:r>
            <a:r>
              <a:rPr dirty="0" err="1"/>
              <a:t>refractarios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requerir</a:t>
            </a:r>
            <a:r>
              <a:rPr dirty="0"/>
              <a:t> </a:t>
            </a:r>
            <a:r>
              <a:rPr dirty="0" err="1"/>
              <a:t>plasmaféresis</a:t>
            </a:r>
            <a:r>
              <a:rPr dirty="0"/>
              <a:t> o </a:t>
            </a:r>
            <a:r>
              <a:rPr dirty="0" err="1"/>
              <a:t>trasplante</a:t>
            </a:r>
            <a:r>
              <a:rPr dirty="0"/>
              <a:t> </a:t>
            </a:r>
            <a:r>
              <a:rPr dirty="0" err="1"/>
              <a:t>hepático</a:t>
            </a:r>
            <a:r>
              <a:rPr dirty="0"/>
              <a:t> de </a:t>
            </a:r>
            <a:r>
              <a:rPr dirty="0" err="1"/>
              <a:t>urgencia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240"/>
                </a:solidFill>
                <a:latin typeface="Arial"/>
              </a:defRPr>
            </a:pPr>
            <a:r>
              <a:t>Pronóstico y Seguimiento Neonatal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t>• Evolución Materna Posparto: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Los laboratorios clínicos suelen empeorar en las primeras 48-72 horas posparto antes de mostrar franca mejoría.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La mortalidad materna disminuyó al ~10% gracias al diagnóstico precoz y soporte intensivo.</a:t>
            </a:r>
          </a:p>
          <a:p>
            <a:pPr>
              <a:spcBef>
                <a:spcPts val="2000"/>
              </a:spcBef>
              <a:defRPr sz="2200" b="1">
                <a:solidFill>
                  <a:srgbClr val="0A2240"/>
                </a:solidFill>
                <a:latin typeface="Arial"/>
              </a:defRPr>
            </a:pPr>
            <a:r>
              <a:t>• Tamizaje Obligatorio del Recién Nacido: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Todo neonato hijo de madre con HGAE debe recibir test genético molecular para LCHAD.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Riesgo de hipoglucemia hipocetósica grave, miopatía y muerte súbita si no se interviene nutricionalmente.</a:t>
            </a:r>
          </a:p>
          <a:p>
            <a:pPr>
              <a:spcBef>
                <a:spcPts val="2000"/>
              </a:spcBef>
              <a:defRPr sz="2200" b="1">
                <a:solidFill>
                  <a:srgbClr val="009688"/>
                </a:solidFill>
                <a:latin typeface="Arial"/>
              </a:defRPr>
            </a:pPr>
            <a:r>
              <a:t>• Consejo Genético Futuro:</a:t>
            </a:r>
          </a:p>
          <a:p>
            <a:pPr lvl="1">
              <a:spcBef>
                <a:spcPts val="1400"/>
              </a:spcBef>
              <a:defRPr sz="2000" b="0">
                <a:solidFill>
                  <a:srgbClr val="282C34"/>
                </a:solidFill>
                <a:latin typeface="Arial"/>
              </a:defRPr>
            </a:pPr>
            <a:r>
              <a:t>Riesgo de recurrencia materna estimado entre el 10% y 20% en posteriores gestaciones.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</TotalTime>
  <Words>698</Words>
  <Application>Microsoft Office PowerPoint</Application>
  <PresentationFormat>Panorámica</PresentationFormat>
  <Paragraphs>86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Alejandra Gonzalez</cp:lastModifiedBy>
  <cp:revision>6</cp:revision>
  <dcterms:created xsi:type="dcterms:W3CDTF">2013-01-27T09:14:16Z</dcterms:created>
  <dcterms:modified xsi:type="dcterms:W3CDTF">2026-09-16T10:35:54Z</dcterms:modified>
  <cp:category/>
</cp:coreProperties>
</file>