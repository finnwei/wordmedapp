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32"/>
  </p:notesMasterIdLst>
  <p:sldIdLst>
    <p:sldId id="256" r:id="rId2"/>
    <p:sldId id="308" r:id="rId3"/>
    <p:sldId id="257" r:id="rId4"/>
    <p:sldId id="302" r:id="rId5"/>
    <p:sldId id="258" r:id="rId6"/>
    <p:sldId id="259" r:id="rId7"/>
    <p:sldId id="303" r:id="rId8"/>
    <p:sldId id="260" r:id="rId9"/>
    <p:sldId id="304" r:id="rId10"/>
    <p:sldId id="261" r:id="rId11"/>
    <p:sldId id="305" r:id="rId12"/>
    <p:sldId id="262" r:id="rId13"/>
    <p:sldId id="306" r:id="rId14"/>
    <p:sldId id="309" r:id="rId15"/>
    <p:sldId id="263" r:id="rId16"/>
    <p:sldId id="266" r:id="rId17"/>
    <p:sldId id="310" r:id="rId18"/>
    <p:sldId id="264" r:id="rId19"/>
    <p:sldId id="312" r:id="rId20"/>
    <p:sldId id="313" r:id="rId21"/>
    <p:sldId id="311" r:id="rId22"/>
    <p:sldId id="314" r:id="rId23"/>
    <p:sldId id="315" r:id="rId24"/>
    <p:sldId id="265" r:id="rId25"/>
    <p:sldId id="317" r:id="rId26"/>
    <p:sldId id="318" r:id="rId27"/>
    <p:sldId id="319" r:id="rId28"/>
    <p:sldId id="320" r:id="rId29"/>
    <p:sldId id="321" r:id="rId30"/>
    <p:sldId id="307"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showAnimation="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249" autoAdjust="0"/>
  </p:normalViewPr>
  <p:slideViewPr>
    <p:cSldViewPr>
      <p:cViewPr varScale="1">
        <p:scale>
          <a:sx n="69" d="100"/>
          <a:sy n="69" d="100"/>
        </p:scale>
        <p:origin x="-1404" y="-108"/>
      </p:cViewPr>
      <p:guideLst>
        <p:guide orient="horz" pos="2160"/>
        <p:guide pos="2880"/>
      </p:guideLst>
    </p:cSldViewPr>
  </p:slideViewPr>
  <p:outlineViewPr>
    <p:cViewPr>
      <p:scale>
        <a:sx n="33" d="100"/>
        <a:sy n="33" d="100"/>
      </p:scale>
      <p:origin x="0" y="-290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8919E6-DBB5-4A07-B897-E3F191C7D665}" type="datetimeFigureOut">
              <a:rPr lang="es-AR" smtClean="0"/>
              <a:t>03/08/2025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D6C681-DC28-4F09-B1F7-6407DECD1E3D}" type="slidenum">
              <a:rPr lang="es-AR" smtClean="0"/>
              <a:t>‹Nº›</a:t>
            </a:fld>
            <a:endParaRPr lang="es-AR"/>
          </a:p>
        </p:txBody>
      </p:sp>
    </p:spTree>
    <p:extLst>
      <p:ext uri="{BB962C8B-B14F-4D97-AF65-F5344CB8AC3E}">
        <p14:creationId xmlns:p14="http://schemas.microsoft.com/office/powerpoint/2010/main" val="1797027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13D6C681-DC28-4F09-B1F7-6407DECD1E3D}" type="slidenum">
              <a:rPr lang="es-AR" smtClean="0"/>
              <a:t>1</a:t>
            </a:fld>
            <a:endParaRPr lang="es-AR"/>
          </a:p>
        </p:txBody>
      </p:sp>
    </p:spTree>
    <p:extLst>
      <p:ext uri="{BB962C8B-B14F-4D97-AF65-F5344CB8AC3E}">
        <p14:creationId xmlns:p14="http://schemas.microsoft.com/office/powerpoint/2010/main" val="333590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13D6C681-DC28-4F09-B1F7-6407DECD1E3D}" type="slidenum">
              <a:rPr lang="es-AR" smtClean="0"/>
              <a:t>6</a:t>
            </a:fld>
            <a:endParaRPr lang="es-AR"/>
          </a:p>
        </p:txBody>
      </p:sp>
    </p:spTree>
    <p:extLst>
      <p:ext uri="{BB962C8B-B14F-4D97-AF65-F5344CB8AC3E}">
        <p14:creationId xmlns:p14="http://schemas.microsoft.com/office/powerpoint/2010/main" val="371620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13D6C681-DC28-4F09-B1F7-6407DECD1E3D}" type="slidenum">
              <a:rPr lang="es-AR" smtClean="0"/>
              <a:t>8</a:t>
            </a:fld>
            <a:endParaRPr lang="es-AR"/>
          </a:p>
        </p:txBody>
      </p:sp>
    </p:spTree>
    <p:extLst>
      <p:ext uri="{BB962C8B-B14F-4D97-AF65-F5344CB8AC3E}">
        <p14:creationId xmlns:p14="http://schemas.microsoft.com/office/powerpoint/2010/main" val="2095226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2593195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1465709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2949551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58907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FB292ED-1765-4825-9C25-F4C1CE0A9083}" type="datetimeFigureOut">
              <a:rPr lang="es-AR" smtClean="0"/>
              <a:t>03/08/2025</a:t>
            </a:fld>
            <a:endParaRPr lang="es-AR"/>
          </a:p>
        </p:txBody>
      </p:sp>
      <p:sp>
        <p:nvSpPr>
          <p:cNvPr id="8" name="Footer Placeholder 7"/>
          <p:cNvSpPr>
            <a:spLocks noGrp="1"/>
          </p:cNvSpPr>
          <p:nvPr>
            <p:ph type="ftr" sz="quarter" idx="11"/>
          </p:nvPr>
        </p:nvSpPr>
        <p:spPr/>
        <p:txBody>
          <a:bodyPr/>
          <a:lstStyle/>
          <a:p>
            <a:endParaRPr lang="es-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372905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FB292ED-1765-4825-9C25-F4C1CE0A9083}" type="datetimeFigureOut">
              <a:rPr lang="es-AR" smtClean="0"/>
              <a:t>03/08/2025</a:t>
            </a:fld>
            <a:endParaRPr lang="es-AR"/>
          </a:p>
        </p:txBody>
      </p:sp>
      <p:sp>
        <p:nvSpPr>
          <p:cNvPr id="4" name="Footer Placeholder 3"/>
          <p:cNvSpPr>
            <a:spLocks noGrp="1"/>
          </p:cNvSpPr>
          <p:nvPr>
            <p:ph type="ftr" sz="quarter" idx="11"/>
          </p:nvPr>
        </p:nvSpPr>
        <p:spPr/>
        <p:txBody>
          <a:bodyPr/>
          <a:lstStyle/>
          <a:p>
            <a:endParaRPr lang="es-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411540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B292ED-1765-4825-9C25-F4C1CE0A9083}" type="datetimeFigureOut">
              <a:rPr lang="es-AR" smtClean="0"/>
              <a:t>03/08/2025</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2167723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3251034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149228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185112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7518C86-7B63-41F6-BB5B-E5B6F746962F}" type="slidenum">
              <a:rPr lang="es-AR" smtClean="0"/>
              <a:t>‹Nº›</a:t>
            </a:fld>
            <a:endParaRPr lang="es-A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8077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281455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7518C86-7B63-41F6-BB5B-E5B6F746962F}" type="slidenum">
              <a:rPr lang="es-AR" smtClean="0"/>
              <a:t>‹Nº›</a:t>
            </a:fld>
            <a:endParaRPr lang="es-A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68820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9FB292ED-1765-4825-9C25-F4C1CE0A9083}" type="datetimeFigureOut">
              <a:rPr lang="es-AR" smtClean="0"/>
              <a:t>03/08/2025</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1805150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682369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FB292ED-1765-4825-9C25-F4C1CE0A9083}" type="datetimeFigureOut">
              <a:rPr lang="es-AR" smtClean="0"/>
              <a:t>03/08/2025</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7518C86-7B63-41F6-BB5B-E5B6F746962F}" type="slidenum">
              <a:rPr lang="es-AR" smtClean="0"/>
              <a:t>‹Nº›</a:t>
            </a:fld>
            <a:endParaRPr lang="es-AR"/>
          </a:p>
        </p:txBody>
      </p:sp>
    </p:spTree>
    <p:extLst>
      <p:ext uri="{BB962C8B-B14F-4D97-AF65-F5344CB8AC3E}">
        <p14:creationId xmlns:p14="http://schemas.microsoft.com/office/powerpoint/2010/main" val="490608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9FB292ED-1765-4825-9C25-F4C1CE0A9083}" type="datetimeFigureOut">
              <a:rPr lang="es-AR" smtClean="0"/>
              <a:t>03/08/2025</a:t>
            </a:fld>
            <a:endParaRPr lang="es-A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27518C86-7B63-41F6-BB5B-E5B6F746962F}" type="slidenum">
              <a:rPr lang="es-AR" smtClean="0"/>
              <a:t>‹Nº›</a:t>
            </a:fld>
            <a:endParaRPr lang="es-AR"/>
          </a:p>
        </p:txBody>
      </p:sp>
    </p:spTree>
    <p:extLst>
      <p:ext uri="{BB962C8B-B14F-4D97-AF65-F5344CB8AC3E}">
        <p14:creationId xmlns:p14="http://schemas.microsoft.com/office/powerpoint/2010/main" val="1724153251"/>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38867D0E-8083-4919-928A-BF2E1B0E4576}"/>
              </a:ext>
            </a:extLst>
          </p:cNvPr>
          <p:cNvSpPr>
            <a:spLocks noGrp="1"/>
          </p:cNvSpPr>
          <p:nvPr>
            <p:ph type="body" sz="quarter" idx="13"/>
          </p:nvPr>
        </p:nvSpPr>
        <p:spPr>
          <a:xfrm>
            <a:off x="2677977" y="5750053"/>
            <a:ext cx="6688292" cy="838200"/>
          </a:xfrm>
        </p:spPr>
        <p:txBody>
          <a:bodyPr/>
          <a:lstStyle/>
          <a:p>
            <a:r>
              <a:rPr lang="es-AR" dirty="0">
                <a:effectLst>
                  <a:outerShdw blurRad="38100" dist="38100" dir="2700000" algn="tl">
                    <a:srgbClr val="000000">
                      <a:alpha val="43137"/>
                    </a:srgbClr>
                  </a:outerShdw>
                </a:effectLst>
              </a:rPr>
              <a:t>       Cátedra de Obstetricia</a:t>
            </a:r>
          </a:p>
        </p:txBody>
      </p:sp>
      <p:sp>
        <p:nvSpPr>
          <p:cNvPr id="3" name="2 Subtítulo"/>
          <p:cNvSpPr>
            <a:spLocks noGrp="1"/>
          </p:cNvSpPr>
          <p:nvPr>
            <p:ph type="body" sz="half" idx="2"/>
          </p:nvPr>
        </p:nvSpPr>
        <p:spPr/>
        <p:txBody>
          <a:bodyPr>
            <a:normAutofit fontScale="62500" lnSpcReduction="20000"/>
          </a:bodyPr>
          <a:lstStyle/>
          <a:p>
            <a:endParaRPr lang="es-AR" sz="1600" dirty="0">
              <a:latin typeface="+mj-lt"/>
              <a:cs typeface="Arial" pitchFamily="34" charset="0"/>
            </a:endParaRPr>
          </a:p>
          <a:p>
            <a:endParaRPr lang="es-AR" sz="1600" dirty="0">
              <a:latin typeface="+mj-lt"/>
              <a:cs typeface="Arial" pitchFamily="34" charset="0"/>
            </a:endParaRPr>
          </a:p>
          <a:p>
            <a:r>
              <a:rPr lang="es-AR" sz="1600" dirty="0">
                <a:latin typeface="+mj-lt"/>
                <a:cs typeface="Arial" pitchFamily="34" charset="0"/>
              </a:rPr>
              <a:t> </a:t>
            </a:r>
          </a:p>
          <a:p>
            <a:endParaRPr lang="es-AR" dirty="0"/>
          </a:p>
        </p:txBody>
      </p:sp>
      <p:sp>
        <p:nvSpPr>
          <p:cNvPr id="4" name="3 Rectángulo"/>
          <p:cNvSpPr/>
          <p:nvPr/>
        </p:nvSpPr>
        <p:spPr>
          <a:xfrm>
            <a:off x="576065" y="1268760"/>
            <a:ext cx="8388424" cy="1938992"/>
          </a:xfrm>
          <a:prstGeom prst="rect">
            <a:avLst/>
          </a:prstGeom>
          <a:noFill/>
        </p:spPr>
        <p:txBody>
          <a:bodyPr wrap="square" lIns="91440" tIns="45720" rIns="91440" bIns="45720">
            <a:spAutoFit/>
          </a:bodyPr>
          <a:lstStyle/>
          <a:p>
            <a:pPr algn="ctr"/>
            <a:r>
              <a:rPr lang="es-AR" sz="4000" b="1" dirty="0">
                <a:ln w="1905"/>
                <a:solidFill>
                  <a:srgbClr val="7030A0"/>
                </a:solidFill>
                <a:effectLst>
                  <a:innerShdw blurRad="69850" dist="43180" dir="5400000">
                    <a:srgbClr val="000000">
                      <a:alpha val="65000"/>
                    </a:srgbClr>
                  </a:innerShdw>
                </a:effectLst>
              </a:rPr>
              <a:t>Modificaciones </a:t>
            </a:r>
          </a:p>
          <a:p>
            <a:pPr algn="ctr"/>
            <a:r>
              <a:rPr lang="es-AR" sz="4000" b="1" dirty="0">
                <a:ln w="1905"/>
                <a:solidFill>
                  <a:srgbClr val="7030A0"/>
                </a:solidFill>
                <a:effectLst>
                  <a:innerShdw blurRad="69850" dist="43180" dir="5400000">
                    <a:srgbClr val="000000">
                      <a:alpha val="65000"/>
                    </a:srgbClr>
                  </a:innerShdw>
                </a:effectLst>
              </a:rPr>
              <a:t>anatómicas y fisiológicas del embarazo</a:t>
            </a:r>
          </a:p>
        </p:txBody>
      </p:sp>
      <p:pic>
        <p:nvPicPr>
          <p:cNvPr id="3074" name="Picture 2" descr="Universidad de Mendoza - Universidad de Mendoza">
            <a:extLst>
              <a:ext uri="{FF2B5EF4-FFF2-40B4-BE49-F238E27FC236}">
                <a16:creationId xmlns:a16="http://schemas.microsoft.com/office/drawing/2014/main" xmlns="" id="{6DC12CC9-7DD3-4D22-8317-D61E7D5C4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280" y="4774522"/>
            <a:ext cx="1872209" cy="186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07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0BFBA670-CCE3-460C-8E32-95D925852D97}"/>
              </a:ext>
            </a:extLst>
          </p:cNvPr>
          <p:cNvSpPr>
            <a:spLocks noGrp="1"/>
          </p:cNvSpPr>
          <p:nvPr>
            <p:ph idx="1"/>
          </p:nvPr>
        </p:nvSpPr>
        <p:spPr/>
        <p:txBody>
          <a:bodyPr>
            <a:normAutofit/>
          </a:bodyPr>
          <a:lstStyle/>
          <a:p>
            <a:r>
              <a:rPr lang="es-AR" sz="2000" dirty="0"/>
              <a:t>Conocer los cambios </a:t>
            </a:r>
            <a:r>
              <a:rPr lang="es-AR" sz="2000" dirty="0" err="1"/>
              <a:t>anatomofisiológicos</a:t>
            </a:r>
            <a:r>
              <a:rPr lang="es-AR" sz="2000" dirty="0"/>
              <a:t> que sufre el organismo de una mujer gestante, es fundamental para evitar confundir lo normal con lo patológico, e incurrir en la derivación indiscriminada de la nuestra paciente  </a:t>
            </a:r>
          </a:p>
        </p:txBody>
      </p:sp>
    </p:spTree>
    <p:extLst>
      <p:ext uri="{BB962C8B-B14F-4D97-AF65-F5344CB8AC3E}">
        <p14:creationId xmlns:p14="http://schemas.microsoft.com/office/powerpoint/2010/main" val="3991279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2960" y="365760"/>
            <a:ext cx="7520940" cy="614968"/>
          </a:xfrm>
        </p:spPr>
        <p:txBody>
          <a:bodyPr>
            <a:normAutofit fontScale="90000"/>
          </a:bodyPr>
          <a:lstStyle/>
          <a:p>
            <a:pPr algn="ctr"/>
            <a:r>
              <a:rPr lang="es-AR" sz="3600" dirty="0">
                <a:solidFill>
                  <a:srgbClr val="0070C0"/>
                </a:solidFill>
              </a:rPr>
              <a:t>MODIFICACIONES GENERALES</a:t>
            </a:r>
          </a:p>
        </p:txBody>
      </p:sp>
      <p:sp>
        <p:nvSpPr>
          <p:cNvPr id="3" name="2 Marcador de contenido"/>
          <p:cNvSpPr>
            <a:spLocks noGrp="1"/>
          </p:cNvSpPr>
          <p:nvPr>
            <p:ph idx="1"/>
          </p:nvPr>
        </p:nvSpPr>
        <p:spPr>
          <a:xfrm>
            <a:off x="467544" y="1100628"/>
            <a:ext cx="8280920" cy="5280700"/>
          </a:xfrm>
        </p:spPr>
        <p:txBody>
          <a:bodyPr>
            <a:noAutofit/>
          </a:bodyPr>
          <a:lstStyle/>
          <a:p>
            <a:pPr marL="285750" indent="-285750">
              <a:buFont typeface="Arial" pitchFamily="34" charset="0"/>
              <a:buChar char="•"/>
            </a:pPr>
            <a:endParaRPr lang="es-AR" sz="1800" b="0" u="sng" dirty="0">
              <a:effectLst>
                <a:outerShdw blurRad="38100" dist="38100" dir="2700000" algn="tl">
                  <a:srgbClr val="000000">
                    <a:alpha val="43137"/>
                  </a:srgbClr>
                </a:outerShdw>
              </a:effectLst>
            </a:endParaRPr>
          </a:p>
          <a:p>
            <a:pPr marL="285750" indent="-285750">
              <a:buFont typeface="Arial" pitchFamily="34" charset="0"/>
              <a:buChar char="•"/>
            </a:pPr>
            <a:endParaRPr lang="es-AR" u="sng" dirty="0">
              <a:effectLst>
                <a:outerShdw blurRad="38100" dist="38100" dir="2700000" algn="tl">
                  <a:srgbClr val="000000">
                    <a:alpha val="43137"/>
                  </a:srgbClr>
                </a:outerShdw>
              </a:effectLst>
            </a:endParaRPr>
          </a:p>
          <a:p>
            <a:pPr marL="285750" indent="-285750">
              <a:buFont typeface="Arial" pitchFamily="34" charset="0"/>
              <a:buChar char="•"/>
            </a:pPr>
            <a:r>
              <a:rPr lang="es-AR" sz="1800" b="0" u="sng" dirty="0">
                <a:effectLst>
                  <a:outerShdw blurRad="38100" dist="38100" dir="2700000" algn="tl">
                    <a:srgbClr val="000000">
                      <a:alpha val="43137"/>
                    </a:srgbClr>
                  </a:outerShdw>
                </a:effectLst>
              </a:rPr>
              <a:t>Actitud y marcha: </a:t>
            </a:r>
            <a:r>
              <a:rPr lang="es-AR" sz="1800" b="0" dirty="0"/>
              <a:t>Al modificar su centro de gravedad, se proyecta la cabeza y el tronco hacia atrás estableciendo una LORDOSIS LUMBOSACRA DE COMPENSACIÓN o llamada el ¨Orgullo de la embarazada¨.</a:t>
            </a:r>
          </a:p>
          <a:p>
            <a:pPr>
              <a:buFont typeface="Arial" pitchFamily="34" charset="0"/>
              <a:buChar char="•"/>
            </a:pPr>
            <a:endParaRPr lang="es-AR" sz="1800" b="0" u="sng" dirty="0">
              <a:effectLst>
                <a:outerShdw blurRad="38100" dist="38100" dir="2700000" algn="tl">
                  <a:srgbClr val="000000">
                    <a:alpha val="43137"/>
                  </a:srgbClr>
                </a:outerShdw>
              </a:effectLst>
            </a:endParaRPr>
          </a:p>
          <a:p>
            <a:pPr>
              <a:buFont typeface="Arial" pitchFamily="34" charset="0"/>
              <a:buChar char="•"/>
            </a:pPr>
            <a:r>
              <a:rPr lang="es-AR" sz="1800" b="0" u="sng" dirty="0">
                <a:effectLst>
                  <a:outerShdw blurRad="38100" dist="38100" dir="2700000" algn="tl">
                    <a:srgbClr val="000000">
                      <a:alpha val="43137"/>
                    </a:srgbClr>
                  </a:outerShdw>
                </a:effectLst>
              </a:rPr>
              <a:t>Peso corporal: </a:t>
            </a:r>
            <a:r>
              <a:rPr lang="es-AR" sz="1800" b="0" dirty="0"/>
              <a:t>El aumento normal  es de 11 Kg (20% más del peso habitual) Causas:      </a:t>
            </a:r>
          </a:p>
          <a:p>
            <a:pPr marL="742950" lvl="1" indent="-342900" algn="just">
              <a:buClr>
                <a:schemeClr val="tx1"/>
              </a:buClr>
              <a:buFont typeface="+mj-lt"/>
              <a:buAutoNum type="arabicPeriod"/>
            </a:pPr>
            <a:r>
              <a:rPr lang="es-AR" sz="1800" dirty="0"/>
              <a:t>Crecimiento del feto , placenta y LA.</a:t>
            </a:r>
          </a:p>
          <a:p>
            <a:pPr marL="742950" lvl="1" indent="-342900" algn="just">
              <a:buClr>
                <a:schemeClr val="tx1"/>
              </a:buClr>
              <a:buFont typeface="+mj-lt"/>
              <a:buAutoNum type="arabicPeriod"/>
            </a:pPr>
            <a:r>
              <a:rPr lang="es-AR" sz="1800" dirty="0"/>
              <a:t>Crecimiento de útero y mamas.</a:t>
            </a:r>
          </a:p>
          <a:p>
            <a:pPr marL="742950" lvl="1" indent="-342900" algn="just">
              <a:buClr>
                <a:schemeClr val="tx1"/>
              </a:buClr>
              <a:buFont typeface="+mj-lt"/>
              <a:buAutoNum type="arabicPeriod"/>
            </a:pPr>
            <a:r>
              <a:rPr lang="es-AR" sz="1800" dirty="0"/>
              <a:t>Aumento del LEC: la retención de agua en promedio es de 6000ml.</a:t>
            </a:r>
          </a:p>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endParaRPr lang="es-AR" u="sng" dirty="0">
              <a:effectLst>
                <a:outerShdw blurRad="38100" dist="38100" dir="2700000" algn="tl">
                  <a:srgbClr val="000000">
                    <a:alpha val="43137"/>
                  </a:srgbClr>
                </a:outerShdw>
              </a:effectLst>
            </a:endParaRPr>
          </a:p>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endParaRPr lang="es-AR" u="sng" dirty="0">
              <a:effectLst>
                <a:outerShdw blurRad="38100" dist="38100" dir="2700000" algn="tl">
                  <a:srgbClr val="000000">
                    <a:alpha val="43137"/>
                  </a:srgbClr>
                </a:outerShdw>
              </a:effectLst>
            </a:endParaRPr>
          </a:p>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endParaRPr lang="es-AR" u="sng" dirty="0">
              <a:effectLst>
                <a:outerShdw blurRad="38100" dist="38100" dir="2700000" algn="tl">
                  <a:srgbClr val="000000">
                    <a:alpha val="43137"/>
                  </a:srgbClr>
                </a:outerShdw>
              </a:effectLst>
            </a:endParaRPr>
          </a:p>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endParaRPr lang="es-AR" u="sng" dirty="0">
              <a:effectLst>
                <a:outerShdw blurRad="38100" dist="38100" dir="2700000" algn="tl">
                  <a:srgbClr val="000000">
                    <a:alpha val="43137"/>
                  </a:srgbClr>
                </a:outerShdw>
              </a:effectLst>
            </a:endParaRPr>
          </a:p>
          <a:p>
            <a:pPr algn="just">
              <a:buFont typeface="Arial" pitchFamily="34" charset="0"/>
              <a:buChar char="•"/>
            </a:pPr>
            <a:r>
              <a:rPr lang="es-AR" sz="1800" b="0" u="sng" dirty="0">
                <a:effectLst>
                  <a:outerShdw blurRad="38100" dist="38100" dir="2700000" algn="tl">
                    <a:srgbClr val="000000">
                      <a:alpha val="43137"/>
                    </a:srgbClr>
                  </a:outerShdw>
                </a:effectLst>
              </a:rPr>
              <a:t>Temperatura: </a:t>
            </a:r>
            <a:r>
              <a:rPr lang="es-AR" sz="1800" b="0" dirty="0"/>
              <a:t>En el primer trimestre aumenta entre 0.3° a 0.6°C ,para luego en los siguientes trimestres permanecer en valores preovulatorios.</a:t>
            </a:r>
          </a:p>
          <a:p>
            <a:pPr algn="just">
              <a:buFont typeface="Arial" pitchFamily="34" charset="0"/>
              <a:buChar char="•"/>
            </a:pPr>
            <a:r>
              <a:rPr lang="es-AR" sz="1800" b="0" u="sng" dirty="0">
                <a:effectLst>
                  <a:outerShdw blurRad="38100" dist="38100" dir="2700000" algn="tl">
                    <a:srgbClr val="000000">
                      <a:alpha val="43137"/>
                    </a:srgbClr>
                  </a:outerShdw>
                </a:effectLst>
              </a:rPr>
              <a:t>Piel: </a:t>
            </a:r>
          </a:p>
          <a:p>
            <a:pPr marL="0" indent="0" algn="just"/>
            <a:r>
              <a:rPr lang="es-AR" sz="1800" b="0" dirty="0">
                <a:effectLst>
                  <a:outerShdw blurRad="38100" dist="38100" dir="2700000" algn="tl">
                    <a:srgbClr val="000000">
                      <a:alpha val="43137"/>
                    </a:srgbClr>
                  </a:outerShdw>
                </a:effectLst>
              </a:rPr>
              <a:t>       1. </a:t>
            </a:r>
            <a:r>
              <a:rPr lang="es-AR" sz="1800" b="0" dirty="0"/>
              <a:t>Pigmentación acentuada de los tegumentos: cara (cloasma), pechos, en cicatrices, línea media abdominal, órganos genitales externos.</a:t>
            </a:r>
          </a:p>
          <a:p>
            <a:pPr marL="400050" lvl="1" indent="0" algn="just">
              <a:buNone/>
            </a:pPr>
            <a:r>
              <a:rPr lang="es-AR" sz="1800" dirty="0"/>
              <a:t>2. Aparición de estrías</a:t>
            </a:r>
          </a:p>
          <a:p>
            <a:pPr marL="400050" lvl="1" indent="0" algn="just">
              <a:buNone/>
            </a:pPr>
            <a:r>
              <a:rPr lang="es-AR" sz="1800" dirty="0"/>
              <a:t>3. Acumulación de tejido graso en TCS.</a:t>
            </a:r>
          </a:p>
        </p:txBody>
      </p:sp>
    </p:spTree>
    <p:extLst>
      <p:ext uri="{BB962C8B-B14F-4D97-AF65-F5344CB8AC3E}">
        <p14:creationId xmlns:p14="http://schemas.microsoft.com/office/powerpoint/2010/main" val="389624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6" end="16"/>
                                            </p:txEl>
                                          </p:spTgt>
                                        </p:tgtEl>
                                        <p:attrNameLst>
                                          <p:attrName>style.visibility</p:attrName>
                                        </p:attrNameLst>
                                      </p:cBhvr>
                                      <p:to>
                                        <p:strVal val="visible"/>
                                      </p:to>
                                    </p:set>
                                    <p:animEffect transition="in" filter="fade">
                                      <p:cBhvr>
                                        <p:cTn id="32" dur="500"/>
                                        <p:tgtEl>
                                          <p:spTgt spid="3">
                                            <p:txEl>
                                              <p:pRg st="16" end="1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7" end="17"/>
                                            </p:txEl>
                                          </p:spTgt>
                                        </p:tgtEl>
                                        <p:attrNameLst>
                                          <p:attrName>style.visibility</p:attrName>
                                        </p:attrNameLst>
                                      </p:cBhvr>
                                      <p:to>
                                        <p:strVal val="visible"/>
                                      </p:to>
                                    </p:set>
                                    <p:animEffect transition="in" filter="fade">
                                      <p:cBhvr>
                                        <p:cTn id="37" dur="500"/>
                                        <p:tgtEl>
                                          <p:spTgt spid="3">
                                            <p:txEl>
                                              <p:pRg st="17" end="1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8" end="18"/>
                                            </p:txEl>
                                          </p:spTgt>
                                        </p:tgtEl>
                                        <p:attrNameLst>
                                          <p:attrName>style.visibility</p:attrName>
                                        </p:attrNameLst>
                                      </p:cBhvr>
                                      <p:to>
                                        <p:strVal val="visible"/>
                                      </p:to>
                                    </p:set>
                                    <p:animEffect transition="in" filter="fade">
                                      <p:cBhvr>
                                        <p:cTn id="42" dur="500"/>
                                        <p:tgtEl>
                                          <p:spTgt spid="3">
                                            <p:txEl>
                                              <p:pRg st="18" end="1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animEffect transition="in" filter="fade">
                                      <p:cBhvr>
                                        <p:cTn id="47" dur="500"/>
                                        <p:tgtEl>
                                          <p:spTgt spid="3">
                                            <p:txEl>
                                              <p:pRg st="19" end="1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20" end="20"/>
                                            </p:txEl>
                                          </p:spTgt>
                                        </p:tgtEl>
                                        <p:attrNameLst>
                                          <p:attrName>style.visibility</p:attrName>
                                        </p:attrNameLst>
                                      </p:cBhvr>
                                      <p:to>
                                        <p:strVal val="visible"/>
                                      </p:to>
                                    </p:set>
                                    <p:animEffect transition="in" filter="fade">
                                      <p:cBhvr>
                                        <p:cTn id="52" dur="500"/>
                                        <p:tgtEl>
                                          <p:spTgt spid="3">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355A927-7F16-4599-86CC-D33400A18386}"/>
              </a:ext>
            </a:extLst>
          </p:cNvPr>
          <p:cNvSpPr>
            <a:spLocks noGrp="1"/>
          </p:cNvSpPr>
          <p:nvPr>
            <p:ph type="title"/>
          </p:nvPr>
        </p:nvSpPr>
        <p:spPr>
          <a:xfrm flipV="1">
            <a:off x="1945201" y="188640"/>
            <a:ext cx="6589199" cy="435470"/>
          </a:xfrm>
        </p:spPr>
        <p:txBody>
          <a:bodyPr>
            <a:normAutofit fontScale="90000"/>
          </a:bodyPr>
          <a:lstStyle/>
          <a:p>
            <a:endParaRPr lang="es-AR" dirty="0"/>
          </a:p>
        </p:txBody>
      </p:sp>
      <p:sp>
        <p:nvSpPr>
          <p:cNvPr id="3" name="Marcador de contenido 2">
            <a:extLst>
              <a:ext uri="{FF2B5EF4-FFF2-40B4-BE49-F238E27FC236}">
                <a16:creationId xmlns:a16="http://schemas.microsoft.com/office/drawing/2014/main" xmlns="" id="{58A1DFA5-DFB6-46F6-9AFB-7D214045D382}"/>
              </a:ext>
            </a:extLst>
          </p:cNvPr>
          <p:cNvSpPr>
            <a:spLocks noGrp="1"/>
          </p:cNvSpPr>
          <p:nvPr>
            <p:ph idx="1"/>
          </p:nvPr>
        </p:nvSpPr>
        <p:spPr>
          <a:xfrm>
            <a:off x="755576" y="836712"/>
            <a:ext cx="8064895" cy="5472608"/>
          </a:xfrm>
        </p:spPr>
        <p:txBody>
          <a:bodyPr/>
          <a:lstStyle/>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endParaRPr lang="es-AR" u="sng" dirty="0">
              <a:effectLst>
                <a:outerShdw blurRad="38100" dist="38100" dir="2700000" algn="tl">
                  <a:srgbClr val="000000">
                    <a:alpha val="43137"/>
                  </a:srgbClr>
                </a:outerShdw>
              </a:effectLst>
            </a:endParaRPr>
          </a:p>
          <a:p>
            <a:pPr algn="just">
              <a:buFont typeface="Arial" pitchFamily="34" charset="0"/>
              <a:buChar char="•"/>
            </a:pPr>
            <a:r>
              <a:rPr lang="es-AR" sz="1800" b="0" u="sng" dirty="0">
                <a:effectLst>
                  <a:outerShdw blurRad="38100" dist="38100" dir="2700000" algn="tl">
                    <a:srgbClr val="000000">
                      <a:alpha val="43137"/>
                    </a:srgbClr>
                  </a:outerShdw>
                </a:effectLst>
              </a:rPr>
              <a:t> Temperatura: </a:t>
            </a:r>
            <a:r>
              <a:rPr lang="es-AR" sz="1800" b="0" dirty="0"/>
              <a:t>En el primer trimestre aumenta entre 0.3° a 0.6°C ,para luego en los siguientes trimestres permanecer en valores preovulatorios.</a:t>
            </a:r>
          </a:p>
          <a:p>
            <a:pPr algn="just">
              <a:buFont typeface="Arial" pitchFamily="34" charset="0"/>
              <a:buChar char="•"/>
            </a:pPr>
            <a:endParaRPr lang="es-AR" sz="1800" b="0" u="sng" dirty="0">
              <a:effectLst>
                <a:outerShdw blurRad="38100" dist="38100" dir="2700000" algn="tl">
                  <a:srgbClr val="000000">
                    <a:alpha val="43137"/>
                  </a:srgbClr>
                </a:outerShdw>
              </a:effectLst>
            </a:endParaRPr>
          </a:p>
          <a:p>
            <a:pPr algn="just">
              <a:buFont typeface="Arial" pitchFamily="34" charset="0"/>
              <a:buChar char="•"/>
            </a:pPr>
            <a:r>
              <a:rPr lang="es-AR" sz="1800" b="0" u="sng" dirty="0">
                <a:effectLst>
                  <a:outerShdw blurRad="38100" dist="38100" dir="2700000" algn="tl">
                    <a:srgbClr val="000000">
                      <a:alpha val="43137"/>
                    </a:srgbClr>
                  </a:outerShdw>
                </a:effectLst>
              </a:rPr>
              <a:t>Piel: </a:t>
            </a:r>
          </a:p>
          <a:p>
            <a:pPr marL="0" indent="0" algn="just">
              <a:buNone/>
            </a:pPr>
            <a:r>
              <a:rPr lang="es-AR" sz="1800" b="0" dirty="0">
                <a:effectLst>
                  <a:outerShdw blurRad="38100" dist="38100" dir="2700000" algn="tl">
                    <a:srgbClr val="000000">
                      <a:alpha val="43137"/>
                    </a:srgbClr>
                  </a:outerShdw>
                </a:effectLst>
              </a:rPr>
              <a:t>     1. </a:t>
            </a:r>
            <a:r>
              <a:rPr lang="es-AR" sz="1800" b="0" dirty="0"/>
              <a:t>Pigmentación acentuada de los tegumentos: cara (cloasma), pechos, en cicatrices, línea media abdominal, órganos genitales externos.</a:t>
            </a:r>
          </a:p>
          <a:p>
            <a:pPr marL="400050" lvl="1" indent="0" algn="just">
              <a:buNone/>
            </a:pPr>
            <a:r>
              <a:rPr lang="es-AR" sz="1800" dirty="0"/>
              <a:t>2. Aparición de estrías</a:t>
            </a:r>
          </a:p>
          <a:p>
            <a:pPr marL="400050" lvl="1" indent="0" algn="just">
              <a:buNone/>
            </a:pPr>
            <a:r>
              <a:rPr lang="es-AR" sz="1800" dirty="0"/>
              <a:t>3. Acumulación de tejido graso en TCS.</a:t>
            </a:r>
            <a:r>
              <a:rPr lang="es-AR" dirty="0"/>
              <a:t> </a:t>
            </a:r>
          </a:p>
          <a:p>
            <a:pPr marL="685800" lvl="1" algn="just">
              <a:buFont typeface="Arial" panose="020B0604020202020204" pitchFamily="34" charset="0"/>
              <a:buChar char="•"/>
            </a:pPr>
            <a:endParaRPr lang="es-AR" sz="1800" u="sng" dirty="0">
              <a:effectLst>
                <a:outerShdw blurRad="38100" dist="38100" dir="2700000" algn="tl">
                  <a:srgbClr val="000000">
                    <a:alpha val="43137"/>
                  </a:srgbClr>
                </a:outerShdw>
              </a:effectLst>
            </a:endParaRPr>
          </a:p>
          <a:p>
            <a:pPr marL="285750" algn="just">
              <a:buFont typeface="Arial" panose="020B0604020202020204" pitchFamily="34" charset="0"/>
              <a:buChar char="•"/>
            </a:pPr>
            <a:r>
              <a:rPr lang="es-AR" sz="2000" u="sng" dirty="0">
                <a:effectLst>
                  <a:outerShdw blurRad="38100" dist="38100" dir="2700000" algn="tl">
                    <a:srgbClr val="000000">
                      <a:alpha val="43137"/>
                    </a:srgbClr>
                  </a:outerShdw>
                </a:effectLst>
              </a:rPr>
              <a:t>Músculos</a:t>
            </a:r>
            <a:r>
              <a:rPr lang="es-AR" b="1" dirty="0"/>
              <a:t> </a:t>
            </a:r>
            <a:r>
              <a:rPr lang="es-AR" sz="2000" dirty="0"/>
              <a:t>:  hipertrofia e hiperplasia en dorso y abdomen</a:t>
            </a:r>
          </a:p>
        </p:txBody>
      </p:sp>
    </p:spTree>
    <p:extLst>
      <p:ext uri="{BB962C8B-B14F-4D97-AF65-F5344CB8AC3E}">
        <p14:creationId xmlns:p14="http://schemas.microsoft.com/office/powerpoint/2010/main" val="766538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93641" y="452521"/>
            <a:ext cx="6840760" cy="1452479"/>
          </a:xfrm>
        </p:spPr>
        <p:txBody>
          <a:bodyPr>
            <a:normAutofit/>
          </a:bodyPr>
          <a:lstStyle/>
          <a:p>
            <a:pPr marL="457200" indent="-457200">
              <a:buFont typeface="Arial" pitchFamily="34" charset="0"/>
              <a:buChar char="•"/>
            </a:pPr>
            <a:r>
              <a:rPr lang="es-AR" sz="2000" u="sng" dirty="0">
                <a:effectLst>
                  <a:outerShdw blurRad="38100" dist="38100" dir="2700000" algn="tl">
                    <a:srgbClr val="000000">
                      <a:alpha val="43137"/>
                    </a:srgbClr>
                  </a:outerShdw>
                </a:effectLst>
              </a:rPr>
              <a:t>Modificaciones Hematológicos/cardiovasculares</a:t>
            </a:r>
          </a:p>
        </p:txBody>
      </p:sp>
      <p:sp>
        <p:nvSpPr>
          <p:cNvPr id="3" name="2 Marcador de contenido"/>
          <p:cNvSpPr>
            <a:spLocks noGrp="1"/>
          </p:cNvSpPr>
          <p:nvPr>
            <p:ph idx="1"/>
          </p:nvPr>
        </p:nvSpPr>
        <p:spPr>
          <a:xfrm>
            <a:off x="609600" y="836681"/>
            <a:ext cx="7520940" cy="6525438"/>
          </a:xfrm>
        </p:spPr>
        <p:txBody>
          <a:bodyPr>
            <a:noAutofit/>
          </a:bodyPr>
          <a:lstStyle/>
          <a:p>
            <a:r>
              <a:rPr lang="es-AR" sz="1800" b="0" u="sng"/>
              <a:t>      Hematológico</a:t>
            </a:r>
            <a:r>
              <a:rPr lang="es-AR" sz="1800" b="0" u="sng" dirty="0"/>
              <a:t>:</a:t>
            </a:r>
          </a:p>
          <a:p>
            <a:pPr>
              <a:buFont typeface="+mj-lt"/>
              <a:buAutoNum type="arabicPeriod"/>
            </a:pPr>
            <a:r>
              <a:rPr lang="es-AR" sz="1800" b="0" dirty="0"/>
              <a:t>    </a:t>
            </a:r>
            <a:r>
              <a:rPr lang="es-AR" sz="1800" b="0" dirty="0" err="1"/>
              <a:t>Vol.plasmático</a:t>
            </a:r>
            <a:r>
              <a:rPr lang="es-AR" sz="1800" b="0" dirty="0"/>
              <a:t> (40-60%).</a:t>
            </a:r>
          </a:p>
          <a:p>
            <a:pPr marL="0" indent="0">
              <a:buNone/>
            </a:pPr>
            <a:r>
              <a:rPr lang="es-AR" sz="1800" b="0" dirty="0"/>
              <a:t>           Vol. Globular (20-50%).</a:t>
            </a:r>
          </a:p>
          <a:p>
            <a:pPr marL="0" indent="0">
              <a:buNone/>
            </a:pPr>
            <a:endParaRPr lang="es-AR" sz="1800" b="0" dirty="0"/>
          </a:p>
          <a:p>
            <a:pPr>
              <a:buFont typeface="+mj-lt"/>
              <a:buAutoNum type="arabicPeriod" startAt="2"/>
            </a:pPr>
            <a:r>
              <a:rPr lang="es-AR" sz="1800" dirty="0"/>
              <a:t>Leucocitosis:  </a:t>
            </a:r>
            <a:r>
              <a:rPr lang="es-AR" sz="1800" b="0" dirty="0"/>
              <a:t>entre 9.000 - 16.000 mm3,donde predominan los PMN. (causa desconocida).</a:t>
            </a:r>
          </a:p>
          <a:p>
            <a:pPr>
              <a:buFont typeface="+mj-lt"/>
              <a:buAutoNum type="arabicPeriod" startAt="2"/>
            </a:pPr>
            <a:r>
              <a:rPr lang="es-AR" sz="1800" dirty="0"/>
              <a:t>Trombocitopenia: </a:t>
            </a:r>
            <a:r>
              <a:rPr lang="es-AR" sz="1800" b="0" dirty="0"/>
              <a:t>≥ 100.000 plaquetas.</a:t>
            </a:r>
          </a:p>
          <a:p>
            <a:pPr>
              <a:buFont typeface="+mj-lt"/>
              <a:buAutoNum type="arabicPeriod" startAt="2"/>
            </a:pPr>
            <a:r>
              <a:rPr lang="es-AR" sz="1800" dirty="0"/>
              <a:t>Coagulación:  </a:t>
            </a:r>
            <a:r>
              <a:rPr lang="es-AR" sz="1800" b="0" dirty="0">
                <a:effectLst>
                  <a:outerShdw blurRad="38100" dist="38100" dir="2700000" algn="tl">
                    <a:srgbClr val="000000">
                      <a:alpha val="43137"/>
                    </a:srgbClr>
                  </a:outerShdw>
                </a:effectLst>
              </a:rPr>
              <a:t>HIPERCOAGULABILIDAD SANGUÍNEA</a:t>
            </a:r>
          </a:p>
          <a:p>
            <a:pPr marL="0" indent="0">
              <a:buNone/>
            </a:pPr>
            <a:endParaRPr lang="es-AR" sz="1800" b="0" dirty="0"/>
          </a:p>
          <a:p>
            <a:pPr>
              <a:buFont typeface="+mj-lt"/>
              <a:buAutoNum type="arabicPeriod" startAt="2"/>
            </a:pPr>
            <a:endParaRPr lang="es-AR" sz="1800" b="0" dirty="0"/>
          </a:p>
          <a:p>
            <a:pPr marL="0" indent="0"/>
            <a:endParaRPr lang="es-AR" sz="1800" b="0" dirty="0"/>
          </a:p>
          <a:p>
            <a:pPr marL="0" indent="0"/>
            <a:r>
              <a:rPr lang="es-AR" sz="1800" b="0" dirty="0"/>
              <a:t>5.  </a:t>
            </a:r>
            <a:r>
              <a:rPr lang="es-AR" sz="1800" dirty="0"/>
              <a:t>VSG: </a:t>
            </a:r>
            <a:r>
              <a:rPr lang="es-AR" sz="1800" b="0" dirty="0"/>
              <a:t>puede estar en 80mm. </a:t>
            </a:r>
          </a:p>
          <a:p>
            <a:pPr marL="0" indent="0"/>
            <a:r>
              <a:rPr lang="es-AR" sz="1800" b="0" dirty="0"/>
              <a:t>6.  </a:t>
            </a:r>
            <a:r>
              <a:rPr lang="es-AR" sz="1800" dirty="0"/>
              <a:t>Lípidos:       </a:t>
            </a:r>
            <a:r>
              <a:rPr lang="es-AR" sz="1800" b="0" dirty="0"/>
              <a:t>progresivamente.</a:t>
            </a:r>
          </a:p>
          <a:p>
            <a:pPr marL="0" indent="0"/>
            <a:r>
              <a:rPr lang="es-AR" sz="1800" b="0" dirty="0"/>
              <a:t>7.  </a:t>
            </a:r>
            <a:r>
              <a:rPr lang="es-AR" sz="1800" dirty="0"/>
              <a:t>Glucemia:       </a:t>
            </a:r>
            <a:r>
              <a:rPr lang="es-AR" sz="1800" b="0" dirty="0"/>
              <a:t>GA a medida que  el embarazo  evoluciona ya que los niveles de insulina aumentan.</a:t>
            </a:r>
            <a:endParaRPr lang="es-AR" sz="1800" dirty="0"/>
          </a:p>
          <a:p>
            <a:endParaRPr lang="es-AR" sz="1800" dirty="0"/>
          </a:p>
        </p:txBody>
      </p:sp>
      <p:sp>
        <p:nvSpPr>
          <p:cNvPr id="5" name="4 Flecha arriba"/>
          <p:cNvSpPr/>
          <p:nvPr/>
        </p:nvSpPr>
        <p:spPr>
          <a:xfrm>
            <a:off x="1115616" y="1268760"/>
            <a:ext cx="72008" cy="36004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6" name="5 Flecha arriba"/>
          <p:cNvSpPr/>
          <p:nvPr/>
        </p:nvSpPr>
        <p:spPr>
          <a:xfrm>
            <a:off x="1115616" y="1734243"/>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7" name="6 Cerrar llave"/>
          <p:cNvSpPr/>
          <p:nvPr/>
        </p:nvSpPr>
        <p:spPr>
          <a:xfrm>
            <a:off x="4281322" y="1234400"/>
            <a:ext cx="216024" cy="8804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CuadroTexto"/>
          <p:cNvSpPr txBox="1"/>
          <p:nvPr/>
        </p:nvSpPr>
        <p:spPr>
          <a:xfrm>
            <a:off x="5249537" y="1068753"/>
            <a:ext cx="3096344" cy="1015663"/>
          </a:xfrm>
          <a:prstGeom prst="rect">
            <a:avLst/>
          </a:prstGeom>
          <a:noFill/>
        </p:spPr>
        <p:txBody>
          <a:bodyPr wrap="square" rtlCol="0">
            <a:spAutoFit/>
          </a:bodyPr>
          <a:lstStyle/>
          <a:p>
            <a:r>
              <a:rPr lang="es-AR" sz="2000" b="1" dirty="0"/>
              <a:t>Volemia</a:t>
            </a:r>
          </a:p>
          <a:p>
            <a:r>
              <a:rPr lang="es-AR" sz="2000" b="1" dirty="0"/>
              <a:t>HTO</a:t>
            </a:r>
          </a:p>
          <a:p>
            <a:r>
              <a:rPr lang="es-AR" sz="2000" b="1" dirty="0"/>
              <a:t>Concentración de </a:t>
            </a:r>
            <a:r>
              <a:rPr lang="es-AR" sz="2000" b="1" dirty="0" err="1"/>
              <a:t>Hb</a:t>
            </a:r>
            <a:endParaRPr lang="es-AR" sz="2000" b="1" dirty="0"/>
          </a:p>
        </p:txBody>
      </p:sp>
      <p:sp>
        <p:nvSpPr>
          <p:cNvPr id="12" name="11 Flecha abajo"/>
          <p:cNvSpPr/>
          <p:nvPr/>
        </p:nvSpPr>
        <p:spPr>
          <a:xfrm>
            <a:off x="5187955" y="1793321"/>
            <a:ext cx="45719" cy="233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12 CuadroTexto"/>
          <p:cNvSpPr txBox="1"/>
          <p:nvPr/>
        </p:nvSpPr>
        <p:spPr>
          <a:xfrm>
            <a:off x="2483768" y="3957101"/>
            <a:ext cx="2952328" cy="646331"/>
          </a:xfrm>
          <a:prstGeom prst="rect">
            <a:avLst/>
          </a:prstGeom>
          <a:noFill/>
        </p:spPr>
        <p:txBody>
          <a:bodyPr wrap="square" rtlCol="0">
            <a:spAutoFit/>
          </a:bodyPr>
          <a:lstStyle/>
          <a:p>
            <a:r>
              <a:rPr lang="es-AR" dirty="0"/>
              <a:t>Factores  </a:t>
            </a:r>
            <a:r>
              <a:rPr lang="es-AR" dirty="0" err="1"/>
              <a:t>procoagulantes</a:t>
            </a:r>
            <a:r>
              <a:rPr lang="es-AR" dirty="0"/>
              <a:t> </a:t>
            </a:r>
          </a:p>
          <a:p>
            <a:r>
              <a:rPr lang="es-AR" dirty="0"/>
              <a:t>Inhibidores de coagulación</a:t>
            </a:r>
          </a:p>
        </p:txBody>
      </p:sp>
      <p:sp>
        <p:nvSpPr>
          <p:cNvPr id="14" name="13 Cerrar llave"/>
          <p:cNvSpPr/>
          <p:nvPr/>
        </p:nvSpPr>
        <p:spPr>
          <a:xfrm>
            <a:off x="5451884" y="3909194"/>
            <a:ext cx="216024" cy="6902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6" name="15 Flecha arriba"/>
          <p:cNvSpPr/>
          <p:nvPr/>
        </p:nvSpPr>
        <p:spPr>
          <a:xfrm>
            <a:off x="2226563" y="4089044"/>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17" name="16 Flecha abajo"/>
          <p:cNvSpPr/>
          <p:nvPr/>
        </p:nvSpPr>
        <p:spPr>
          <a:xfrm>
            <a:off x="2213902" y="4597451"/>
            <a:ext cx="97740" cy="2717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19 Flecha arriba"/>
          <p:cNvSpPr/>
          <p:nvPr/>
        </p:nvSpPr>
        <p:spPr>
          <a:xfrm>
            <a:off x="5187956" y="1144390"/>
            <a:ext cx="45719" cy="1800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21" name="20 Flecha abajo"/>
          <p:cNvSpPr/>
          <p:nvPr/>
        </p:nvSpPr>
        <p:spPr>
          <a:xfrm>
            <a:off x="5187955" y="1460064"/>
            <a:ext cx="45719" cy="233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22 Flecha arriba"/>
          <p:cNvSpPr/>
          <p:nvPr/>
        </p:nvSpPr>
        <p:spPr>
          <a:xfrm>
            <a:off x="2197380" y="5484118"/>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24" name="23 Flecha abajo"/>
          <p:cNvSpPr/>
          <p:nvPr/>
        </p:nvSpPr>
        <p:spPr>
          <a:xfrm>
            <a:off x="2483768" y="5885448"/>
            <a:ext cx="97740" cy="2717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5" name="24 CuadroTexto"/>
          <p:cNvSpPr txBox="1"/>
          <p:nvPr/>
        </p:nvSpPr>
        <p:spPr>
          <a:xfrm>
            <a:off x="6012160" y="3864767"/>
            <a:ext cx="2915816" cy="830997"/>
          </a:xfrm>
          <a:prstGeom prst="rect">
            <a:avLst/>
          </a:prstGeom>
          <a:noFill/>
          <a:ln>
            <a:noFill/>
          </a:ln>
        </p:spPr>
        <p:txBody>
          <a:bodyPr wrap="square" rtlCol="0">
            <a:spAutoFit/>
          </a:bodyPr>
          <a:lstStyle/>
          <a:p>
            <a:r>
              <a:rPr lang="es-AR" sz="2400" dirty="0">
                <a:solidFill>
                  <a:srgbClr val="FF0000"/>
                </a:solidFill>
                <a:effectLst>
                  <a:outerShdw blurRad="38100" dist="38100" dir="2700000" algn="tl">
                    <a:srgbClr val="000000">
                      <a:alpha val="43137"/>
                    </a:srgbClr>
                  </a:outerShdw>
                </a:effectLst>
              </a:rPr>
              <a:t>Perduran 6 semanas postparto</a:t>
            </a:r>
          </a:p>
        </p:txBody>
      </p:sp>
    </p:spTree>
    <p:extLst>
      <p:ext uri="{BB962C8B-B14F-4D97-AF65-F5344CB8AC3E}">
        <p14:creationId xmlns:p14="http://schemas.microsoft.com/office/powerpoint/2010/main" val="17964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 calcmode="lin" valueType="num">
                                      <p:cBhvr additive="base">
                                        <p:cTn id="4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66684"/>
            <a:ext cx="8568952" cy="6674684"/>
          </a:xfrm>
        </p:spPr>
        <p:txBody>
          <a:bodyPr>
            <a:noAutofit/>
          </a:bodyPr>
          <a:lstStyle/>
          <a:p>
            <a:pPr marL="514350" indent="-514350">
              <a:buFont typeface="+mj-lt"/>
              <a:buAutoNum type="arabicPeriod" startAt="8"/>
            </a:pPr>
            <a:r>
              <a:rPr lang="es-AR" sz="1800" dirty="0"/>
              <a:t>FAL:     </a:t>
            </a:r>
            <a:r>
              <a:rPr lang="es-AR" sz="1800" b="0" dirty="0"/>
              <a:t>progresivamente hasta duplicar valores normales de las mujeres NO embarazadas.</a:t>
            </a:r>
          </a:p>
          <a:p>
            <a:pPr marL="514350" indent="-514350">
              <a:buFont typeface="+mj-lt"/>
              <a:buAutoNum type="arabicPeriod" startAt="8"/>
            </a:pPr>
            <a:r>
              <a:rPr lang="es-AR" sz="1800" dirty="0"/>
              <a:t>Ac úrico:     </a:t>
            </a:r>
            <a:r>
              <a:rPr lang="es-AR" sz="1800" b="0" dirty="0"/>
              <a:t>alcanzando un valor 2.6-3.0mg/dl.</a:t>
            </a:r>
          </a:p>
          <a:p>
            <a:pPr marL="514350" indent="-514350">
              <a:buFont typeface="+mj-lt"/>
              <a:buAutoNum type="arabicPeriod" startAt="8"/>
            </a:pPr>
            <a:r>
              <a:rPr lang="es-AR" sz="1800" dirty="0"/>
              <a:t>Urea:     </a:t>
            </a:r>
            <a:r>
              <a:rPr lang="es-AR" sz="1800" b="0" dirty="0"/>
              <a:t>a valor de 7-8mg/dl. Se produce por aumento del  metabolismo,  hidratación y función renal.</a:t>
            </a:r>
          </a:p>
          <a:p>
            <a:pPr marL="514350" indent="-514350">
              <a:buFont typeface="+mj-lt"/>
              <a:buAutoNum type="arabicPeriod" startAt="8"/>
            </a:pPr>
            <a:r>
              <a:rPr lang="es-AR" sz="1800" dirty="0"/>
              <a:t>Creatinina: </a:t>
            </a:r>
          </a:p>
          <a:p>
            <a:pPr marL="514350" indent="-514350">
              <a:buFont typeface="+mj-lt"/>
              <a:buAutoNum type="arabicPeriod" startAt="8"/>
            </a:pPr>
            <a:r>
              <a:rPr lang="es-AR" sz="1800" dirty="0" err="1"/>
              <a:t>Clearance</a:t>
            </a:r>
            <a:r>
              <a:rPr lang="es-AR" sz="1800" dirty="0"/>
              <a:t> de creatinina:     </a:t>
            </a:r>
            <a:r>
              <a:rPr lang="es-AR" sz="1800" b="0" dirty="0"/>
              <a:t>debido al aumento de la filtración glomerular. Llegando al 3° Trimestre es 50% mayor a la de la mujer no embarazada.</a:t>
            </a:r>
          </a:p>
          <a:p>
            <a:pPr marL="0" indent="0">
              <a:buNone/>
            </a:pPr>
            <a:endParaRPr lang="es-AR" sz="1800" b="0" dirty="0"/>
          </a:p>
          <a:p>
            <a:r>
              <a:rPr lang="es-AR" sz="1800" b="0" u="sng" dirty="0"/>
              <a:t>Cardiovasculares:</a:t>
            </a:r>
          </a:p>
          <a:p>
            <a:pPr marL="457200" indent="-457200">
              <a:buFont typeface="+mj-lt"/>
              <a:buAutoNum type="arabicPeriod"/>
            </a:pPr>
            <a:endParaRPr lang="es-AR" sz="1800" b="0" dirty="0"/>
          </a:p>
          <a:p>
            <a:pPr marL="457200" indent="-457200">
              <a:buFont typeface="+mj-lt"/>
              <a:buAutoNum type="arabicPeriod"/>
            </a:pPr>
            <a:r>
              <a:rPr lang="es-AR" sz="1800" dirty="0"/>
              <a:t> Gasto cardiaco</a:t>
            </a:r>
          </a:p>
          <a:p>
            <a:pPr marL="0" indent="0">
              <a:buNone/>
            </a:pPr>
            <a:r>
              <a:rPr lang="es-AR" dirty="0"/>
              <a:t>      </a:t>
            </a:r>
            <a:r>
              <a:rPr lang="es-AR" sz="1800" b="0" dirty="0"/>
              <a:t> </a:t>
            </a:r>
            <a:r>
              <a:rPr lang="es-AR" sz="1800" dirty="0"/>
              <a:t>Volumen minuto (FC x </a:t>
            </a:r>
            <a:r>
              <a:rPr lang="es-AR" sz="1800" dirty="0" err="1"/>
              <a:t>vol</a:t>
            </a:r>
            <a:r>
              <a:rPr lang="es-AR" sz="1800" dirty="0"/>
              <a:t> sistólico) </a:t>
            </a:r>
            <a:r>
              <a:rPr lang="es-AR" dirty="0"/>
              <a:t>hasta 6 </a:t>
            </a:r>
            <a:r>
              <a:rPr lang="es-AR" sz="1800" b="0" dirty="0"/>
              <a:t> l/min.</a:t>
            </a:r>
          </a:p>
          <a:p>
            <a:pPr marL="457200" indent="-457200">
              <a:buFont typeface="+mj-lt"/>
              <a:buAutoNum type="arabicPeriod" startAt="2"/>
            </a:pPr>
            <a:r>
              <a:rPr lang="es-AR" sz="1800" dirty="0"/>
              <a:t>TA:      </a:t>
            </a:r>
            <a:r>
              <a:rPr lang="es-AR" sz="1800" b="0" dirty="0"/>
              <a:t>1° mitad: disminuye 5-10mmHg.</a:t>
            </a:r>
          </a:p>
          <a:p>
            <a:pPr marL="0" indent="0">
              <a:buNone/>
            </a:pPr>
            <a:r>
              <a:rPr lang="es-AR" sz="1800" b="0" dirty="0"/>
              <a:t>                   Término: vuelve aun valor pre grávido</a:t>
            </a:r>
            <a:r>
              <a:rPr lang="es-AR" sz="1800" dirty="0"/>
              <a:t>. T de P </a:t>
            </a:r>
          </a:p>
          <a:p>
            <a:pPr marL="457200" indent="-457200">
              <a:buFont typeface="+mj-lt"/>
              <a:buAutoNum type="arabicPeriod" startAt="4"/>
            </a:pPr>
            <a:r>
              <a:rPr lang="es-AR" sz="1800" b="0" dirty="0"/>
              <a:t> Presión venosa aumenta por debajo del útero produciendo  várices y/o hemorroides.</a:t>
            </a:r>
          </a:p>
          <a:p>
            <a:pPr marL="0" indent="0">
              <a:buNone/>
            </a:pPr>
            <a:endParaRPr lang="es-AR" sz="1800" b="0" dirty="0"/>
          </a:p>
        </p:txBody>
      </p:sp>
      <p:sp>
        <p:nvSpPr>
          <p:cNvPr id="4" name="3 Flecha arriba"/>
          <p:cNvSpPr/>
          <p:nvPr/>
        </p:nvSpPr>
        <p:spPr>
          <a:xfrm>
            <a:off x="1506234" y="116632"/>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7" name="6 CuadroTexto"/>
          <p:cNvSpPr txBox="1"/>
          <p:nvPr/>
        </p:nvSpPr>
        <p:spPr>
          <a:xfrm>
            <a:off x="3348220" y="3579714"/>
            <a:ext cx="3168352" cy="646331"/>
          </a:xfrm>
          <a:prstGeom prst="rect">
            <a:avLst/>
          </a:prstGeom>
          <a:noFill/>
        </p:spPr>
        <p:txBody>
          <a:bodyPr wrap="square" rtlCol="0">
            <a:spAutoFit/>
          </a:bodyPr>
          <a:lstStyle/>
          <a:p>
            <a:r>
              <a:rPr lang="es-AR" dirty="0"/>
              <a:t>FC:15-20 </a:t>
            </a:r>
            <a:r>
              <a:rPr lang="es-AR" dirty="0" err="1"/>
              <a:t>lpm</a:t>
            </a:r>
            <a:endParaRPr lang="es-AR" dirty="0"/>
          </a:p>
          <a:p>
            <a:r>
              <a:rPr lang="es-AR" dirty="0" err="1"/>
              <a:t>Vol</a:t>
            </a:r>
            <a:r>
              <a:rPr lang="es-AR" dirty="0"/>
              <a:t> sistólico</a:t>
            </a:r>
          </a:p>
        </p:txBody>
      </p:sp>
      <p:sp>
        <p:nvSpPr>
          <p:cNvPr id="10" name="9 Flecha abajo"/>
          <p:cNvSpPr/>
          <p:nvPr/>
        </p:nvSpPr>
        <p:spPr>
          <a:xfrm>
            <a:off x="1979712" y="692696"/>
            <a:ext cx="105776" cy="3436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11 Flecha abajo"/>
          <p:cNvSpPr/>
          <p:nvPr/>
        </p:nvSpPr>
        <p:spPr>
          <a:xfrm>
            <a:off x="1547717" y="1202491"/>
            <a:ext cx="97740" cy="2717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12 Flecha abajo"/>
          <p:cNvSpPr/>
          <p:nvPr/>
        </p:nvSpPr>
        <p:spPr>
          <a:xfrm>
            <a:off x="2195736" y="1848785"/>
            <a:ext cx="97740" cy="2717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13 Flecha arriba"/>
          <p:cNvSpPr/>
          <p:nvPr/>
        </p:nvSpPr>
        <p:spPr>
          <a:xfrm>
            <a:off x="783394" y="4430802"/>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15" name="14 Flecha arriba"/>
          <p:cNvSpPr/>
          <p:nvPr/>
        </p:nvSpPr>
        <p:spPr>
          <a:xfrm>
            <a:off x="3851920" y="2190510"/>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16" name="15 Flecha arriba"/>
          <p:cNvSpPr/>
          <p:nvPr/>
        </p:nvSpPr>
        <p:spPr>
          <a:xfrm>
            <a:off x="3259916" y="3544695"/>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17" name="16 Flecha arriba"/>
          <p:cNvSpPr/>
          <p:nvPr/>
        </p:nvSpPr>
        <p:spPr>
          <a:xfrm>
            <a:off x="3257867" y="3938013"/>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
        <p:nvSpPr>
          <p:cNvPr id="2" name="1 Cerrar llave"/>
          <p:cNvSpPr/>
          <p:nvPr/>
        </p:nvSpPr>
        <p:spPr>
          <a:xfrm>
            <a:off x="2771800" y="3501008"/>
            <a:ext cx="216024" cy="8272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8" name="17 Flecha abajo"/>
          <p:cNvSpPr/>
          <p:nvPr/>
        </p:nvSpPr>
        <p:spPr>
          <a:xfrm rot="10800000">
            <a:off x="774583" y="4799752"/>
            <a:ext cx="97740" cy="2717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13 Flecha arriba">
            <a:extLst>
              <a:ext uri="{FF2B5EF4-FFF2-40B4-BE49-F238E27FC236}">
                <a16:creationId xmlns:a16="http://schemas.microsoft.com/office/drawing/2014/main" xmlns="" id="{92A9E574-3C9D-463D-AB1D-60B7E3379220}"/>
              </a:ext>
            </a:extLst>
          </p:cNvPr>
          <p:cNvSpPr/>
          <p:nvPr/>
        </p:nvSpPr>
        <p:spPr>
          <a:xfrm>
            <a:off x="6732240" y="5589240"/>
            <a:ext cx="90353" cy="28803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  </a:t>
            </a:r>
          </a:p>
        </p:txBody>
      </p:sp>
    </p:spTree>
    <p:extLst>
      <p:ext uri="{BB962C8B-B14F-4D97-AF65-F5344CB8AC3E}">
        <p14:creationId xmlns:p14="http://schemas.microsoft.com/office/powerpoint/2010/main" val="27641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additive="base">
                                        <p:cTn id="6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B5F0A6CC-4AD1-49AF-BDB1-FFDB38A9206E}"/>
              </a:ext>
            </a:extLst>
          </p:cNvPr>
          <p:cNvSpPr>
            <a:spLocks noGrp="1"/>
          </p:cNvSpPr>
          <p:nvPr>
            <p:ph idx="1"/>
          </p:nvPr>
        </p:nvSpPr>
        <p:spPr>
          <a:xfrm>
            <a:off x="971601" y="980728"/>
            <a:ext cx="7562800" cy="4930494"/>
          </a:xfrm>
        </p:spPr>
        <p:txBody>
          <a:bodyPr>
            <a:normAutofit fontScale="85000" lnSpcReduction="10000"/>
          </a:bodyPr>
          <a:lstStyle/>
          <a:p>
            <a:r>
              <a:rPr lang="es-AR" sz="1800" b="0" dirty="0"/>
              <a:t>Corazón:</a:t>
            </a:r>
          </a:p>
          <a:p>
            <a:r>
              <a:rPr lang="es-AR" sz="1900" dirty="0"/>
              <a:t>Aumenta la sombra cardiaca y no se hipertrofian las fibras cardiacas</a:t>
            </a:r>
            <a:endParaRPr lang="es-AR" sz="1900" b="0" dirty="0"/>
          </a:p>
          <a:p>
            <a:endParaRPr lang="es-AR" sz="1900" dirty="0"/>
          </a:p>
          <a:p>
            <a:r>
              <a:rPr lang="es-AR" sz="1900" b="0" dirty="0"/>
              <a:t>Se desplaza hacia arriba y adelante por elevación del diafragma. NO produce alteraciones orgánicas ni mucho menos insuficiencia funcional.</a:t>
            </a:r>
            <a:endParaRPr lang="es-AR" sz="1900" dirty="0"/>
          </a:p>
          <a:p>
            <a:r>
              <a:rPr lang="es-AR" sz="1900" b="0" dirty="0"/>
              <a:t>La auscultación: soplos funcionales: </a:t>
            </a:r>
          </a:p>
          <a:p>
            <a:pPr marL="0" indent="0">
              <a:buNone/>
            </a:pPr>
            <a:r>
              <a:rPr lang="es-AR" sz="1900" b="0" dirty="0"/>
              <a:t>Acodadura de los grandes vasos de la base, al desplazarse</a:t>
            </a:r>
          </a:p>
          <a:p>
            <a:pPr marL="0" indent="0">
              <a:buNone/>
            </a:pPr>
            <a:r>
              <a:rPr lang="es-AR" sz="1900" dirty="0"/>
              <a:t>Aumento de la turbulencia de la sangre, por disminución de la viscosidad</a:t>
            </a:r>
          </a:p>
          <a:p>
            <a:pPr marL="0" indent="0">
              <a:buNone/>
            </a:pPr>
            <a:endParaRPr lang="es-AR" sz="1900" b="0" dirty="0"/>
          </a:p>
          <a:p>
            <a:pPr marL="0" indent="0">
              <a:buNone/>
            </a:pPr>
            <a:endParaRPr lang="es-AR" sz="1900" b="0" dirty="0"/>
          </a:p>
          <a:p>
            <a:pPr marL="0" indent="0">
              <a:buNone/>
            </a:pPr>
            <a:r>
              <a:rPr lang="es-AR" sz="1800" b="0" dirty="0"/>
              <a:t>Durante el trabajo de parto el GC aumenta en un 50%debido a las contracciones, que produce una auténtica </a:t>
            </a:r>
            <a:r>
              <a:rPr lang="es-AR" sz="1800" b="0" dirty="0" err="1"/>
              <a:t>autotrasfunción</a:t>
            </a:r>
            <a:r>
              <a:rPr lang="es-AR" sz="1800" b="0" dirty="0"/>
              <a:t> a la circulación materna( entre 300-500ml)</a:t>
            </a:r>
          </a:p>
          <a:p>
            <a:pPr marL="0" indent="0">
              <a:buNone/>
            </a:pPr>
            <a:r>
              <a:rPr lang="es-AR" sz="1800" b="0" dirty="0"/>
              <a:t>Post parto inmediato el GC alcanzas un valor máximo debido al cierre de la circulación uteroplacentaria. </a:t>
            </a:r>
            <a:endParaRPr lang="es-AR" dirty="0"/>
          </a:p>
        </p:txBody>
      </p:sp>
    </p:spTree>
    <p:extLst>
      <p:ext uri="{BB962C8B-B14F-4D97-AF65-F5344CB8AC3E}">
        <p14:creationId xmlns:p14="http://schemas.microsoft.com/office/powerpoint/2010/main" val="3886418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marL="457200" indent="-457200">
              <a:buFont typeface="Arial" pitchFamily="34" charset="0"/>
              <a:buChar char="•"/>
            </a:pPr>
            <a:r>
              <a:rPr lang="es-AR" sz="2000" u="sng" dirty="0">
                <a:effectLst>
                  <a:outerShdw blurRad="38100" dist="38100" dir="2700000" algn="tl">
                    <a:srgbClr val="000000">
                      <a:alpha val="43137"/>
                    </a:srgbClr>
                  </a:outerShdw>
                </a:effectLst>
              </a:rPr>
              <a:t>Modificaciones Respiratorias</a:t>
            </a:r>
          </a:p>
        </p:txBody>
      </p:sp>
      <p:sp>
        <p:nvSpPr>
          <p:cNvPr id="3" name="2 Marcador de contenido"/>
          <p:cNvSpPr>
            <a:spLocks noGrp="1"/>
          </p:cNvSpPr>
          <p:nvPr>
            <p:ph idx="1"/>
          </p:nvPr>
        </p:nvSpPr>
        <p:spPr>
          <a:xfrm>
            <a:off x="467544" y="1124744"/>
            <a:ext cx="8424936" cy="4752528"/>
          </a:xfrm>
        </p:spPr>
        <p:txBody>
          <a:bodyPr>
            <a:noAutofit/>
          </a:bodyPr>
          <a:lstStyle/>
          <a:p>
            <a:pPr marL="0" indent="0">
              <a:buNone/>
            </a:pPr>
            <a:r>
              <a:rPr lang="es-AR" sz="1800" dirty="0"/>
              <a:t>Durante el embarazo el mayor requerimiento de oxigeno por parte del feto genera cambios respiratorios </a:t>
            </a:r>
          </a:p>
          <a:p>
            <a:pPr>
              <a:buFont typeface="+mj-lt"/>
              <a:buAutoNum type="arabicPeriod"/>
            </a:pPr>
            <a:endParaRPr lang="es-AR" dirty="0"/>
          </a:p>
          <a:p>
            <a:pPr>
              <a:buFont typeface="+mj-lt"/>
              <a:buAutoNum type="arabicPeriod"/>
            </a:pPr>
            <a:r>
              <a:rPr lang="es-AR" sz="1800" dirty="0"/>
              <a:t>Fosas nasales: </a:t>
            </a:r>
            <a:r>
              <a:rPr lang="es-AR" sz="1800" b="0" dirty="0"/>
              <a:t>se encuentran edematosas y congestivas (por estímulos  estrogénicos).Este cambio produce en un 30% de las embarazadas una rinitis y congestión nasal.</a:t>
            </a:r>
          </a:p>
          <a:p>
            <a:pPr>
              <a:buFont typeface="+mj-lt"/>
              <a:buAutoNum type="arabicPeriod"/>
            </a:pPr>
            <a:endParaRPr lang="es-AR" sz="1800" dirty="0"/>
          </a:p>
          <a:p>
            <a:pPr>
              <a:buFont typeface="+mj-lt"/>
              <a:buAutoNum type="arabicPeriod"/>
            </a:pPr>
            <a:r>
              <a:rPr lang="es-AR" sz="1800" dirty="0"/>
              <a:t>Epistaxis: </a:t>
            </a:r>
            <a:r>
              <a:rPr lang="es-AR" sz="1800" b="0" dirty="0"/>
              <a:t>Se puede producir por congestión vascular o por la presencia de un </a:t>
            </a:r>
            <a:r>
              <a:rPr lang="es-AR" sz="1800" b="0" dirty="0" err="1"/>
              <a:t>angiofibroma</a:t>
            </a:r>
            <a:r>
              <a:rPr lang="es-AR" sz="1800" b="0" dirty="0"/>
              <a:t> (tipo de pólipo) que desaparece luego del parto.</a:t>
            </a:r>
          </a:p>
          <a:p>
            <a:pPr>
              <a:buAutoNum type="arabicPeriod" startAt="3"/>
            </a:pPr>
            <a:endParaRPr lang="es-AR" sz="1800" b="0" dirty="0"/>
          </a:p>
          <a:p>
            <a:pPr>
              <a:buAutoNum type="arabicPeriod" startAt="3"/>
            </a:pPr>
            <a:r>
              <a:rPr lang="es-AR" sz="1800" b="0" dirty="0"/>
              <a:t>Caja torácica: aumenta su circunferencia unos 5 cm,  lo que ocasiona una elevación del ángulo costo diafragmático, elevando al mismo tiempo el diafragma unos 4 cm aproximadamente.</a:t>
            </a:r>
          </a:p>
        </p:txBody>
      </p:sp>
    </p:spTree>
    <p:extLst>
      <p:ext uri="{BB962C8B-B14F-4D97-AF65-F5344CB8AC3E}">
        <p14:creationId xmlns:p14="http://schemas.microsoft.com/office/powerpoint/2010/main" val="311443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79568278-9C23-4C42-B79C-F27AC6F73432}"/>
              </a:ext>
            </a:extLst>
          </p:cNvPr>
          <p:cNvSpPr>
            <a:spLocks noGrp="1"/>
          </p:cNvSpPr>
          <p:nvPr>
            <p:ph idx="1"/>
          </p:nvPr>
        </p:nvSpPr>
        <p:spPr>
          <a:xfrm>
            <a:off x="1043608" y="548680"/>
            <a:ext cx="7704855" cy="5904656"/>
          </a:xfrm>
        </p:spPr>
        <p:txBody>
          <a:bodyPr/>
          <a:lstStyle/>
          <a:p>
            <a:pPr marL="0" indent="0">
              <a:buNone/>
            </a:pPr>
            <a:endParaRPr lang="es-AR" sz="1800" u="sng" dirty="0"/>
          </a:p>
          <a:p>
            <a:pPr marL="0" indent="0">
              <a:buNone/>
            </a:pPr>
            <a:endParaRPr lang="es-AR" u="sng" dirty="0"/>
          </a:p>
          <a:p>
            <a:pPr marL="0" indent="0">
              <a:buNone/>
            </a:pPr>
            <a:r>
              <a:rPr lang="es-AR" sz="1800" u="sng" dirty="0"/>
              <a:t>Función respiratoria:</a:t>
            </a:r>
          </a:p>
          <a:p>
            <a:pPr marL="285750" indent="-285750">
              <a:buFont typeface="Arial" pitchFamily="34" charset="0"/>
              <a:buChar char="•"/>
            </a:pPr>
            <a:r>
              <a:rPr lang="es-AR" sz="1800" b="0" dirty="0"/>
              <a:t>La capacidad funcional y el volumen residual disminuyen por la elevación del diafragma.</a:t>
            </a:r>
          </a:p>
          <a:p>
            <a:pPr marL="285750" indent="-285750">
              <a:buFont typeface="Arial" pitchFamily="34" charset="0"/>
              <a:buChar char="•"/>
            </a:pPr>
            <a:r>
              <a:rPr lang="es-AR" sz="1800" b="0" dirty="0"/>
              <a:t>La FR se mantiene en valores normales, hasta casi al final de la gestación, donde se encuentra levemente aumentada. </a:t>
            </a:r>
          </a:p>
          <a:p>
            <a:pPr marL="285750" indent="-285750">
              <a:buFont typeface="Arial" pitchFamily="34" charset="0"/>
              <a:buChar char="•"/>
            </a:pPr>
            <a:r>
              <a:rPr lang="es-AR" sz="1800" b="0" dirty="0"/>
              <a:t>Esto produce disminución PCO2 ----alcalosis respiratoria----que es compensada por el </a:t>
            </a:r>
            <a:r>
              <a:rPr lang="es-AR" sz="1800" b="0" dirty="0" err="1"/>
              <a:t>riñon</a:t>
            </a:r>
            <a:r>
              <a:rPr lang="es-AR" sz="1800" b="0" dirty="0"/>
              <a:t> materno, aumentando la excreción de bicarbonato por la orina.</a:t>
            </a:r>
          </a:p>
          <a:p>
            <a:pPr marL="0" indent="0" algn="ctr">
              <a:buNone/>
            </a:pPr>
            <a:endParaRPr lang="es-AR" sz="1800" u="sng" dirty="0">
              <a:effectLst>
                <a:outerShdw blurRad="38100" dist="38100" dir="2700000" algn="tl">
                  <a:srgbClr val="000000">
                    <a:alpha val="43137"/>
                  </a:srgbClr>
                </a:outerShdw>
              </a:effectLst>
            </a:endParaRPr>
          </a:p>
          <a:p>
            <a:pPr marL="0" indent="0" algn="ctr">
              <a:buNone/>
            </a:pPr>
            <a:endParaRPr lang="es-AR" u="sng" dirty="0">
              <a:effectLst>
                <a:outerShdw blurRad="38100" dist="38100" dir="2700000" algn="tl">
                  <a:srgbClr val="000000">
                    <a:alpha val="43137"/>
                  </a:srgbClr>
                </a:outerShdw>
              </a:effectLst>
            </a:endParaRPr>
          </a:p>
          <a:p>
            <a:pPr marL="0" indent="0" algn="ctr">
              <a:buNone/>
            </a:pPr>
            <a:r>
              <a:rPr lang="es-AR" sz="1800" u="sng" dirty="0">
                <a:effectLst>
                  <a:outerShdw blurRad="38100" dist="38100" dir="2700000" algn="tl">
                    <a:srgbClr val="000000">
                      <a:alpha val="43137"/>
                    </a:srgbClr>
                  </a:outerShdw>
                </a:effectLst>
              </a:rPr>
              <a:t>Esta disminución de PCO2 se la considera como responsable de la PSEUDODISNEA O DISNEA FISIOLÓGICA (sensación consciente de respirar).</a:t>
            </a:r>
          </a:p>
          <a:p>
            <a:endParaRPr lang="es-AR" dirty="0"/>
          </a:p>
        </p:txBody>
      </p:sp>
    </p:spTree>
    <p:extLst>
      <p:ext uri="{BB962C8B-B14F-4D97-AF65-F5344CB8AC3E}">
        <p14:creationId xmlns:p14="http://schemas.microsoft.com/office/powerpoint/2010/main" val="4028792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marL="457200" indent="-457200">
              <a:buFont typeface="Arial" pitchFamily="34" charset="0"/>
              <a:buChar char="•"/>
            </a:pPr>
            <a:r>
              <a:rPr lang="es-AR" sz="2000" u="sng" dirty="0">
                <a:effectLst>
                  <a:outerShdw blurRad="38100" dist="38100" dir="2700000" algn="tl">
                    <a:srgbClr val="000000">
                      <a:alpha val="43137"/>
                    </a:srgbClr>
                  </a:outerShdw>
                </a:effectLst>
              </a:rPr>
              <a:t>Modificaciones urinarias</a:t>
            </a:r>
          </a:p>
        </p:txBody>
      </p:sp>
      <p:sp>
        <p:nvSpPr>
          <p:cNvPr id="3" name="2 Marcador de contenido"/>
          <p:cNvSpPr>
            <a:spLocks noGrp="1"/>
          </p:cNvSpPr>
          <p:nvPr>
            <p:ph idx="1"/>
          </p:nvPr>
        </p:nvSpPr>
        <p:spPr>
          <a:xfrm>
            <a:off x="539552" y="908720"/>
            <a:ext cx="8208912" cy="4752528"/>
          </a:xfrm>
        </p:spPr>
        <p:txBody>
          <a:bodyPr>
            <a:normAutofit fontScale="25000" lnSpcReduction="20000"/>
          </a:bodyPr>
          <a:lstStyle/>
          <a:p>
            <a:pPr marL="0" indent="0"/>
            <a:endParaRPr lang="es-AR" sz="7200" dirty="0"/>
          </a:p>
          <a:p>
            <a:pPr marL="0" indent="0"/>
            <a:endParaRPr lang="es-AR" sz="7200" dirty="0"/>
          </a:p>
          <a:p>
            <a:pPr marL="0" indent="0"/>
            <a:r>
              <a:rPr lang="es-AR" sz="7200" dirty="0"/>
              <a:t>1. </a:t>
            </a:r>
            <a:r>
              <a:rPr lang="es-AR" sz="7200" dirty="0" err="1"/>
              <a:t>Riñon</a:t>
            </a:r>
            <a:r>
              <a:rPr lang="es-AR" sz="7200" dirty="0"/>
              <a:t>  :   </a:t>
            </a:r>
            <a:r>
              <a:rPr lang="es-AR" sz="7200" b="0" dirty="0"/>
              <a:t>Aumenta el flujo sanguíneo y el flujo plasmático renal por el aumento del volumen plasmático total.</a:t>
            </a:r>
          </a:p>
          <a:p>
            <a:pPr marL="0" indent="0"/>
            <a:r>
              <a:rPr lang="es-AR" sz="7200" b="0" dirty="0"/>
              <a:t>	Aumenta la velocidad de FG hasta  140ml/min.</a:t>
            </a:r>
          </a:p>
          <a:p>
            <a:pPr marL="0" indent="0"/>
            <a:r>
              <a:rPr lang="es-AR" sz="7200" b="0" dirty="0"/>
              <a:t>	Aumenta la fracción de filtración progresivamente.</a:t>
            </a:r>
          </a:p>
          <a:p>
            <a:pPr marL="0" indent="0">
              <a:buNone/>
            </a:pPr>
            <a:r>
              <a:rPr lang="es-AR" sz="7200" b="0" dirty="0"/>
              <a:t>	La función renal varia de acuerdo con la posición que adopte la 	embarazada.</a:t>
            </a:r>
          </a:p>
          <a:p>
            <a:r>
              <a:rPr lang="es-AR" sz="7200" dirty="0"/>
              <a:t>2. Uréteres: </a:t>
            </a:r>
          </a:p>
          <a:p>
            <a:pPr marL="0" indent="0">
              <a:buNone/>
            </a:pPr>
            <a:r>
              <a:rPr lang="es-AR" sz="7200" dirty="0"/>
              <a:t>       </a:t>
            </a:r>
            <a:r>
              <a:rPr lang="es-AR" sz="7200" b="0" dirty="0"/>
              <a:t>Se produce dilatación (por efecto de la progesterona), acodadura y 	desplazamiento lateral por encima del estrecho superior.</a:t>
            </a:r>
          </a:p>
          <a:p>
            <a:pPr marL="0" indent="0">
              <a:buNone/>
            </a:pPr>
            <a:r>
              <a:rPr lang="es-AR" sz="7200" b="0" dirty="0"/>
              <a:t>   	En la semana 19 la dilatación es más acentuada en el uréter derecho ya 	que el izquierdo  esta protegido por el sigmoides.</a:t>
            </a:r>
          </a:p>
          <a:p>
            <a:pPr marL="0" indent="0">
              <a:buNone/>
            </a:pPr>
            <a:endParaRPr lang="es-AR" sz="2000" dirty="0"/>
          </a:p>
        </p:txBody>
      </p:sp>
    </p:spTree>
    <p:extLst>
      <p:ext uri="{BB962C8B-B14F-4D97-AF65-F5344CB8AC3E}">
        <p14:creationId xmlns:p14="http://schemas.microsoft.com/office/powerpoint/2010/main" val="234538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A26719FE-B9ED-471E-B4B2-BBA2FD3570A0}"/>
              </a:ext>
            </a:extLst>
          </p:cNvPr>
          <p:cNvSpPr>
            <a:spLocks noGrp="1"/>
          </p:cNvSpPr>
          <p:nvPr>
            <p:ph idx="1"/>
          </p:nvPr>
        </p:nvSpPr>
        <p:spPr>
          <a:xfrm>
            <a:off x="971601" y="980728"/>
            <a:ext cx="7562800" cy="4930494"/>
          </a:xfrm>
        </p:spPr>
        <p:txBody>
          <a:bodyPr>
            <a:normAutofit lnSpcReduction="10000"/>
          </a:bodyPr>
          <a:lstStyle/>
          <a:p>
            <a:endParaRPr lang="es-AR" sz="1800" dirty="0"/>
          </a:p>
          <a:p>
            <a:endParaRPr lang="es-AR" dirty="0"/>
          </a:p>
          <a:p>
            <a:pPr marL="0" indent="0">
              <a:buNone/>
            </a:pPr>
            <a:r>
              <a:rPr lang="es-AR" sz="1800" dirty="0"/>
              <a:t>3. Vejiga: </a:t>
            </a:r>
          </a:p>
          <a:p>
            <a:r>
              <a:rPr lang="es-AR" sz="1800" b="0" dirty="0"/>
              <a:t>	Elongación y ensanchamiento de la base del trígono.</a:t>
            </a:r>
          </a:p>
          <a:p>
            <a:pPr marL="0" indent="0">
              <a:buNone/>
            </a:pPr>
            <a:r>
              <a:rPr lang="es-AR" sz="1800" b="0" dirty="0"/>
              <a:t>	Meato uretrales muy separado, edematoso y congestivo</a:t>
            </a:r>
          </a:p>
          <a:p>
            <a:pPr marL="0" indent="0">
              <a:buNone/>
            </a:pPr>
            <a:r>
              <a:rPr lang="es-AR" sz="1800" b="0" dirty="0"/>
              <a:t>	El piso de la vejiga posee una acentuada </a:t>
            </a:r>
            <a:r>
              <a:rPr lang="es-AR" sz="1800" b="0" dirty="0" err="1"/>
              <a:t>saculación</a:t>
            </a:r>
            <a:r>
              <a:rPr lang="es-AR" sz="1800" b="0" dirty="0"/>
              <a:t> que da lugar a una 	orina residual.</a:t>
            </a:r>
          </a:p>
          <a:p>
            <a:r>
              <a:rPr lang="es-AR" dirty="0"/>
              <a:t>Polaquiuria e </a:t>
            </a:r>
            <a:r>
              <a:rPr lang="es-AR" dirty="0" err="1"/>
              <a:t>incontinecia</a:t>
            </a:r>
            <a:r>
              <a:rPr lang="es-AR" dirty="0"/>
              <a:t> de orina</a:t>
            </a:r>
          </a:p>
          <a:p>
            <a:r>
              <a:rPr lang="es-AR" sz="1800" b="0" dirty="0"/>
              <a:t>Reflujo </a:t>
            </a:r>
            <a:r>
              <a:rPr lang="es-AR" sz="1800" b="0" dirty="0" err="1"/>
              <a:t>vesicoureteral</a:t>
            </a:r>
            <a:r>
              <a:rPr lang="es-AR" sz="1800" b="0" dirty="0"/>
              <a:t> </a:t>
            </a:r>
          </a:p>
          <a:p>
            <a:r>
              <a:rPr lang="es-AR" sz="1800" b="0" dirty="0" err="1"/>
              <a:t>Disminucion</a:t>
            </a:r>
            <a:r>
              <a:rPr lang="es-AR" sz="1800" b="0" dirty="0"/>
              <a:t> del </a:t>
            </a:r>
            <a:r>
              <a:rPr lang="es-AR" sz="1800" b="0" dirty="0" err="1"/>
              <a:t>peritaltismo</a:t>
            </a:r>
            <a:r>
              <a:rPr lang="es-AR" sz="1800" b="0" dirty="0"/>
              <a:t> ureteral ( favorece ascenso de gérmenes )</a:t>
            </a:r>
          </a:p>
          <a:p>
            <a:r>
              <a:rPr lang="es-AR" dirty="0"/>
              <a:t>Diuresis : disminuye en todo el embarazo, aumenta por la noche </a:t>
            </a:r>
          </a:p>
          <a:p>
            <a:r>
              <a:rPr lang="es-AR" dirty="0"/>
              <a:t>Es frecuente la bacteriuria asintomática </a:t>
            </a:r>
          </a:p>
          <a:p>
            <a:endParaRPr lang="es-AR" sz="1800" b="0" dirty="0"/>
          </a:p>
          <a:p>
            <a:endParaRPr lang="es-AR" sz="1800" b="0" dirty="0"/>
          </a:p>
          <a:p>
            <a:pPr marL="0" indent="0">
              <a:buNone/>
            </a:pPr>
            <a:endParaRPr lang="es-AR" sz="1800" b="0" dirty="0"/>
          </a:p>
          <a:p>
            <a:pPr marL="0" indent="0">
              <a:buNone/>
            </a:pPr>
            <a:endParaRPr lang="es-AR" sz="800" dirty="0"/>
          </a:p>
          <a:p>
            <a:endParaRPr lang="es-AR" dirty="0"/>
          </a:p>
        </p:txBody>
      </p:sp>
    </p:spTree>
    <p:extLst>
      <p:ext uri="{BB962C8B-B14F-4D97-AF65-F5344CB8AC3E}">
        <p14:creationId xmlns:p14="http://schemas.microsoft.com/office/powerpoint/2010/main" val="2705809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07704" y="332656"/>
            <a:ext cx="6589199" cy="1728192"/>
          </a:xfrm>
        </p:spPr>
        <p:txBody>
          <a:bodyPr/>
          <a:lstStyle/>
          <a:p>
            <a:pPr marL="285750" indent="-285750">
              <a:buFont typeface="Arial" pitchFamily="34" charset="0"/>
              <a:buChar char="•"/>
            </a:pPr>
            <a:r>
              <a:rPr lang="es-AR" sz="2000" u="sng" dirty="0">
                <a:effectLst>
                  <a:outerShdw blurRad="38100" dist="38100" dir="2700000" algn="tl">
                    <a:srgbClr val="000000">
                      <a:alpha val="43137"/>
                    </a:srgbClr>
                  </a:outerShdw>
                </a:effectLst>
              </a:rPr>
              <a:t>Modificaciones Ap. digestivo</a:t>
            </a:r>
          </a:p>
        </p:txBody>
      </p:sp>
      <p:sp>
        <p:nvSpPr>
          <p:cNvPr id="3" name="2 Marcador de contenido"/>
          <p:cNvSpPr>
            <a:spLocks noGrp="1"/>
          </p:cNvSpPr>
          <p:nvPr>
            <p:ph idx="1"/>
          </p:nvPr>
        </p:nvSpPr>
        <p:spPr>
          <a:xfrm>
            <a:off x="467544" y="1124744"/>
            <a:ext cx="8388424" cy="4920660"/>
          </a:xfrm>
        </p:spPr>
        <p:txBody>
          <a:bodyPr>
            <a:normAutofit fontScale="25000" lnSpcReduction="20000"/>
          </a:bodyPr>
          <a:lstStyle/>
          <a:p>
            <a:pPr marL="0" indent="0">
              <a:lnSpc>
                <a:spcPct val="120000"/>
              </a:lnSpc>
            </a:pPr>
            <a:r>
              <a:rPr lang="es-AR" sz="7200" b="0" dirty="0"/>
              <a:t> </a:t>
            </a:r>
          </a:p>
          <a:p>
            <a:pPr marL="0" indent="0">
              <a:lnSpc>
                <a:spcPct val="120000"/>
              </a:lnSpc>
            </a:pPr>
            <a:r>
              <a:rPr lang="es-AR" sz="7200" dirty="0"/>
              <a:t> </a:t>
            </a:r>
            <a:r>
              <a:rPr lang="es-AR" sz="7200" dirty="0" err="1"/>
              <a:t>Encias</a:t>
            </a:r>
            <a:r>
              <a:rPr lang="es-AR" sz="7200" dirty="0"/>
              <a:t> : hiperémicas, inflamadas</a:t>
            </a:r>
            <a:r>
              <a:rPr lang="es-AR" sz="7200" b="0" dirty="0"/>
              <a:t> (por hipovitaminosis C).</a:t>
            </a:r>
          </a:p>
          <a:p>
            <a:pPr>
              <a:lnSpc>
                <a:spcPct val="120000"/>
              </a:lnSpc>
            </a:pPr>
            <a:r>
              <a:rPr lang="es-AR" sz="7200" b="0" dirty="0"/>
              <a:t>Odontalgias y caries (metabolismo alterado del calcio).</a:t>
            </a:r>
          </a:p>
          <a:p>
            <a:pPr>
              <a:lnSpc>
                <a:spcPct val="120000"/>
              </a:lnSpc>
            </a:pPr>
            <a:r>
              <a:rPr lang="es-AR" sz="7200" dirty="0"/>
              <a:t>Esófago: acortado. Insuficiencia del píloro y cardias ( RGE)</a:t>
            </a:r>
            <a:endParaRPr lang="es-AR" sz="7200" b="0" dirty="0"/>
          </a:p>
          <a:p>
            <a:pPr>
              <a:lnSpc>
                <a:spcPct val="120000"/>
              </a:lnSpc>
            </a:pPr>
            <a:r>
              <a:rPr lang="es-AR" sz="7200" dirty="0"/>
              <a:t>Estómago: </a:t>
            </a:r>
            <a:r>
              <a:rPr lang="es-AR" sz="7200" b="0" dirty="0"/>
              <a:t>dilatación de cardias y píloro con atonía.</a:t>
            </a:r>
          </a:p>
          <a:p>
            <a:pPr>
              <a:lnSpc>
                <a:spcPct val="120000"/>
              </a:lnSpc>
            </a:pPr>
            <a:r>
              <a:rPr lang="es-AR" sz="7200" dirty="0"/>
              <a:t>Intestino: es rechazado a la izquierda y hacia arriba </a:t>
            </a:r>
            <a:endParaRPr lang="es-AR" sz="7200" b="0" dirty="0"/>
          </a:p>
          <a:p>
            <a:pPr>
              <a:lnSpc>
                <a:spcPct val="120000"/>
              </a:lnSpc>
            </a:pPr>
            <a:r>
              <a:rPr lang="es-AR" sz="7200" b="0" dirty="0"/>
              <a:t>Constipación.</a:t>
            </a:r>
          </a:p>
          <a:p>
            <a:pPr>
              <a:lnSpc>
                <a:spcPct val="120000"/>
              </a:lnSpc>
            </a:pPr>
            <a:r>
              <a:rPr lang="es-AR" sz="7200" b="0" dirty="0"/>
              <a:t>Apéndice </a:t>
            </a:r>
          </a:p>
          <a:p>
            <a:pPr>
              <a:lnSpc>
                <a:spcPct val="120000"/>
              </a:lnSpc>
            </a:pPr>
            <a:r>
              <a:rPr lang="es-AR" sz="7200" b="0" dirty="0"/>
              <a:t>Apetito: puede estar aumentado o disminuido.</a:t>
            </a:r>
          </a:p>
          <a:p>
            <a:pPr>
              <a:lnSpc>
                <a:spcPct val="120000"/>
              </a:lnSpc>
            </a:pPr>
            <a:r>
              <a:rPr lang="es-AR" sz="7200" b="0" dirty="0"/>
              <a:t>Náuseas y vómitos sobre todo matutinos (pituitas).</a:t>
            </a:r>
          </a:p>
          <a:p>
            <a:pPr>
              <a:lnSpc>
                <a:spcPct val="120000"/>
              </a:lnSpc>
            </a:pPr>
            <a:r>
              <a:rPr lang="es-AR" sz="7200" b="0" dirty="0"/>
              <a:t>Sialorrea (puede ser de gran intensidad).</a:t>
            </a:r>
          </a:p>
          <a:p>
            <a:pPr marL="0" indent="0">
              <a:buNone/>
            </a:pPr>
            <a:endParaRPr lang="es-AR" sz="2000" dirty="0"/>
          </a:p>
        </p:txBody>
      </p:sp>
    </p:spTree>
    <p:extLst>
      <p:ext uri="{BB962C8B-B14F-4D97-AF65-F5344CB8AC3E}">
        <p14:creationId xmlns:p14="http://schemas.microsoft.com/office/powerpoint/2010/main" val="373998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94D048C2-14A3-494A-93B5-A3B02FCCFCAB}"/>
              </a:ext>
            </a:extLst>
          </p:cNvPr>
          <p:cNvSpPr>
            <a:spLocks noGrp="1"/>
          </p:cNvSpPr>
          <p:nvPr>
            <p:ph idx="1"/>
          </p:nvPr>
        </p:nvSpPr>
        <p:spPr>
          <a:xfrm>
            <a:off x="971601" y="908720"/>
            <a:ext cx="7562800" cy="5002502"/>
          </a:xfrm>
        </p:spPr>
        <p:txBody>
          <a:bodyPr/>
          <a:lstStyle/>
          <a:p>
            <a:pPr>
              <a:lnSpc>
                <a:spcPct val="120000"/>
              </a:lnSpc>
            </a:pPr>
            <a:r>
              <a:rPr lang="es-AR" sz="1800" dirty="0"/>
              <a:t>Hígado:</a:t>
            </a:r>
            <a:r>
              <a:rPr lang="es-AR" sz="1800" b="0" dirty="0"/>
              <a:t> </a:t>
            </a:r>
          </a:p>
          <a:p>
            <a:pPr>
              <a:lnSpc>
                <a:spcPct val="120000"/>
              </a:lnSpc>
            </a:pPr>
            <a:r>
              <a:rPr lang="es-AR" sz="1800" b="0" dirty="0"/>
              <a:t>		En la segunda mitad este está rechazado hacia el diafragma y con una rotación hacia la derecha.</a:t>
            </a:r>
          </a:p>
          <a:p>
            <a:pPr marL="0" indent="0">
              <a:lnSpc>
                <a:spcPct val="120000"/>
              </a:lnSpc>
              <a:buNone/>
            </a:pPr>
            <a:r>
              <a:rPr lang="es-AR" dirty="0"/>
              <a:t>     Presenta sobreactividad funcional </a:t>
            </a:r>
            <a:endParaRPr lang="es-AR" sz="1800" b="0" dirty="0"/>
          </a:p>
          <a:p>
            <a:pPr marL="0" indent="0">
              <a:lnSpc>
                <a:spcPct val="120000"/>
              </a:lnSpc>
              <a:buNone/>
            </a:pPr>
            <a:r>
              <a:rPr lang="es-AR" sz="1800" b="0" dirty="0"/>
              <a:t>	El metabolismo  de la bilirrubina en la madre está alterado tanto en la 	conjugación como la excreción.</a:t>
            </a:r>
          </a:p>
          <a:p>
            <a:pPr>
              <a:lnSpc>
                <a:spcPct val="120000"/>
              </a:lnSpc>
            </a:pPr>
            <a:r>
              <a:rPr lang="es-AR" sz="1800" dirty="0"/>
              <a:t>9. Vesícula biliar: </a:t>
            </a:r>
            <a:r>
              <a:rPr lang="es-AR" sz="1800" b="0" dirty="0"/>
              <a:t>Atonía y distención, espasmo del esfínter de Oddi, lo que dificulta la salida de bilis y favorece la LITIASIS VESICULAR.</a:t>
            </a:r>
          </a:p>
          <a:p>
            <a:pPr>
              <a:lnSpc>
                <a:spcPct val="120000"/>
              </a:lnSpc>
            </a:pPr>
            <a:r>
              <a:rPr lang="es-AR" sz="1800" dirty="0"/>
              <a:t>10. Páncreas</a:t>
            </a:r>
            <a:r>
              <a:rPr lang="es-AR" sz="1800" b="0" dirty="0"/>
              <a:t>: aumenta el desarrollo de los islotes de Langerhans con hipersecreción de insulina.</a:t>
            </a:r>
          </a:p>
          <a:p>
            <a:pPr>
              <a:lnSpc>
                <a:spcPct val="120000"/>
              </a:lnSpc>
            </a:pPr>
            <a:r>
              <a:rPr lang="es-AR" dirty="0"/>
              <a:t>Apéndice </a:t>
            </a:r>
            <a:endParaRPr lang="es-AR" sz="1800" b="0" dirty="0"/>
          </a:p>
          <a:p>
            <a:pPr marL="0" indent="0">
              <a:buNone/>
            </a:pPr>
            <a:endParaRPr lang="es-AR" dirty="0"/>
          </a:p>
        </p:txBody>
      </p:sp>
    </p:spTree>
    <p:extLst>
      <p:ext uri="{BB962C8B-B14F-4D97-AF65-F5344CB8AC3E}">
        <p14:creationId xmlns:p14="http://schemas.microsoft.com/office/powerpoint/2010/main" val="244628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823CAE8-7534-4EA2-91B0-903BF20C5493}"/>
              </a:ext>
            </a:extLst>
          </p:cNvPr>
          <p:cNvSpPr>
            <a:spLocks noGrp="1"/>
          </p:cNvSpPr>
          <p:nvPr>
            <p:ph type="title"/>
          </p:nvPr>
        </p:nvSpPr>
        <p:spPr>
          <a:xfrm>
            <a:off x="1942415" y="548680"/>
            <a:ext cx="6589199" cy="1280890"/>
          </a:xfrm>
        </p:spPr>
        <p:txBody>
          <a:bodyPr>
            <a:normAutofit/>
          </a:bodyPr>
          <a:lstStyle/>
          <a:p>
            <a:r>
              <a:rPr lang="es-AR" sz="2000" u="sng" dirty="0" err="1">
                <a:effectLst>
                  <a:outerShdw blurRad="38100" dist="38100" dir="2700000" algn="tl">
                    <a:srgbClr val="000000">
                      <a:alpha val="43137"/>
                    </a:srgbClr>
                  </a:outerShdw>
                </a:effectLst>
              </a:rPr>
              <a:t>Organo</a:t>
            </a:r>
            <a:r>
              <a:rPr lang="es-AR" sz="2000" u="sng" dirty="0">
                <a:effectLst>
                  <a:outerShdw blurRad="38100" dist="38100" dir="2700000" algn="tl">
                    <a:srgbClr val="000000">
                      <a:alpha val="43137"/>
                    </a:srgbClr>
                  </a:outerShdw>
                </a:effectLst>
              </a:rPr>
              <a:t> de los sentidos </a:t>
            </a:r>
          </a:p>
        </p:txBody>
      </p:sp>
      <p:sp>
        <p:nvSpPr>
          <p:cNvPr id="3" name="Marcador de contenido 2">
            <a:extLst>
              <a:ext uri="{FF2B5EF4-FFF2-40B4-BE49-F238E27FC236}">
                <a16:creationId xmlns:a16="http://schemas.microsoft.com/office/drawing/2014/main" xmlns="" id="{329778CF-C904-41E1-AB9C-402C2ABC34FC}"/>
              </a:ext>
            </a:extLst>
          </p:cNvPr>
          <p:cNvSpPr>
            <a:spLocks noGrp="1"/>
          </p:cNvSpPr>
          <p:nvPr>
            <p:ph idx="1"/>
          </p:nvPr>
        </p:nvSpPr>
        <p:spPr>
          <a:xfrm>
            <a:off x="612387" y="1484784"/>
            <a:ext cx="7922014" cy="4426438"/>
          </a:xfrm>
        </p:spPr>
        <p:txBody>
          <a:bodyPr/>
          <a:lstStyle/>
          <a:p>
            <a:r>
              <a:rPr lang="es-AR" dirty="0"/>
              <a:t>Vista: es infrecuente que sufra alteraciones. ( </a:t>
            </a:r>
            <a:r>
              <a:rPr lang="es-AR" dirty="0" err="1"/>
              <a:t>hiperseecrecion</a:t>
            </a:r>
            <a:r>
              <a:rPr lang="es-AR" dirty="0"/>
              <a:t> lagrimal, diminución de la presión ocular )</a:t>
            </a:r>
          </a:p>
          <a:p>
            <a:r>
              <a:rPr lang="es-AR" dirty="0" err="1"/>
              <a:t>Audicion</a:t>
            </a:r>
            <a:r>
              <a:rPr lang="es-AR" dirty="0"/>
              <a:t> : disminución de la agudeza auditiva ( esclerosis del </a:t>
            </a:r>
            <a:r>
              <a:rPr lang="es-AR" dirty="0" err="1"/>
              <a:t>timpano</a:t>
            </a:r>
            <a:r>
              <a:rPr lang="es-AR" dirty="0"/>
              <a:t> y deposito de calcio)</a:t>
            </a:r>
          </a:p>
          <a:p>
            <a:r>
              <a:rPr lang="es-AR" dirty="0"/>
              <a:t>Gusto: se altera la sensibilidad gustativa ( antojos de la embarazada )</a:t>
            </a:r>
          </a:p>
          <a:p>
            <a:r>
              <a:rPr lang="es-AR" dirty="0"/>
              <a:t>Olfato: hipersensibilidad de rechazo a determinados olores, hiposmia por congestión y edema de la mucosa </a:t>
            </a:r>
          </a:p>
        </p:txBody>
      </p:sp>
    </p:spTree>
    <p:extLst>
      <p:ext uri="{BB962C8B-B14F-4D97-AF65-F5344CB8AC3E}">
        <p14:creationId xmlns:p14="http://schemas.microsoft.com/office/powerpoint/2010/main" val="4046674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marL="457200" indent="-457200">
              <a:buFont typeface="Arial" pitchFamily="34" charset="0"/>
              <a:buChar char="•"/>
            </a:pPr>
            <a:r>
              <a:rPr lang="es-AR" sz="2000" u="sng" dirty="0">
                <a:effectLst>
                  <a:outerShdw blurRad="38100" dist="38100" dir="2700000" algn="tl">
                    <a:srgbClr val="000000">
                      <a:alpha val="43137"/>
                    </a:srgbClr>
                  </a:outerShdw>
                </a:effectLst>
              </a:rPr>
              <a:t>Sistema Endócrino</a:t>
            </a:r>
          </a:p>
        </p:txBody>
      </p:sp>
      <p:sp>
        <p:nvSpPr>
          <p:cNvPr id="3" name="2 Marcador de contenido"/>
          <p:cNvSpPr>
            <a:spLocks noGrp="1"/>
          </p:cNvSpPr>
          <p:nvPr>
            <p:ph idx="1"/>
          </p:nvPr>
        </p:nvSpPr>
        <p:spPr>
          <a:xfrm>
            <a:off x="395536" y="1196752"/>
            <a:ext cx="8388932" cy="5328592"/>
          </a:xfrm>
        </p:spPr>
        <p:txBody>
          <a:bodyPr>
            <a:normAutofit/>
          </a:bodyPr>
          <a:lstStyle/>
          <a:p>
            <a:pPr marL="0" indent="0">
              <a:lnSpc>
                <a:spcPct val="120000"/>
              </a:lnSpc>
            </a:pPr>
            <a:r>
              <a:rPr lang="es-AR" sz="1800" b="0" dirty="0"/>
              <a:t>La placenta, participa activamente en la producción y secreción de hormonas.</a:t>
            </a:r>
          </a:p>
          <a:p>
            <a:pPr marL="0" indent="0">
              <a:lnSpc>
                <a:spcPct val="120000"/>
              </a:lnSpc>
            </a:pPr>
            <a:r>
              <a:rPr lang="es-AR" sz="1800" dirty="0"/>
              <a:t>   Lactato placentario (</a:t>
            </a:r>
            <a:r>
              <a:rPr lang="es-AR" sz="1800" dirty="0" err="1"/>
              <a:t>hPL</a:t>
            </a:r>
            <a:r>
              <a:rPr lang="es-AR" sz="1800" dirty="0"/>
              <a:t>): </a:t>
            </a:r>
            <a:r>
              <a:rPr lang="es-AR" sz="1800" b="0" dirty="0"/>
              <a:t>en los primeros meses junto con B-HCG produce:</a:t>
            </a:r>
          </a:p>
          <a:p>
            <a:pPr marL="285750" lvl="3" indent="-285750">
              <a:lnSpc>
                <a:spcPct val="120000"/>
              </a:lnSpc>
            </a:pPr>
            <a:r>
              <a:rPr lang="es-AR" sz="1800" b="0" dirty="0"/>
              <a:t>Acción </a:t>
            </a:r>
            <a:r>
              <a:rPr lang="es-AR" sz="1800" b="0" dirty="0" err="1"/>
              <a:t>luteotrófica</a:t>
            </a:r>
            <a:r>
              <a:rPr lang="es-AR" sz="1800" b="0" dirty="0"/>
              <a:t>.</a:t>
            </a:r>
          </a:p>
          <a:p>
            <a:pPr marL="285750" lvl="3" indent="-285750">
              <a:lnSpc>
                <a:spcPct val="120000"/>
              </a:lnSpc>
            </a:pPr>
            <a:r>
              <a:rPr lang="es-AR" sz="1800" b="0" dirty="0"/>
              <a:t>Efecto inmunosupresor.</a:t>
            </a:r>
          </a:p>
          <a:p>
            <a:pPr marL="285750" lvl="3" indent="-285750">
              <a:lnSpc>
                <a:spcPct val="120000"/>
              </a:lnSpc>
            </a:pPr>
            <a:r>
              <a:rPr lang="es-AR" sz="1800" b="0" dirty="0"/>
              <a:t>Disminuye la utilización materna de glucosa, para asegurar la nutrición del feto en períodos de ayuno.</a:t>
            </a:r>
          </a:p>
          <a:p>
            <a:pPr marL="285750" lvl="3" indent="-285750">
              <a:lnSpc>
                <a:spcPct val="120000"/>
              </a:lnSpc>
            </a:pPr>
            <a:r>
              <a:rPr lang="es-AR" sz="1800" b="0" dirty="0"/>
              <a:t>Tiene acción </a:t>
            </a:r>
            <a:r>
              <a:rPr lang="es-AR" sz="1800" b="0" dirty="0" err="1"/>
              <a:t>antiinsulínica</a:t>
            </a:r>
            <a:r>
              <a:rPr lang="es-AR" sz="1800" b="0" dirty="0"/>
              <a:t>.</a:t>
            </a:r>
          </a:p>
          <a:p>
            <a:pPr marL="285750" lvl="3" indent="-285750">
              <a:lnSpc>
                <a:spcPct val="120000"/>
              </a:lnSpc>
            </a:pPr>
            <a:r>
              <a:rPr lang="es-AR" sz="1800" b="0" dirty="0"/>
              <a:t>Aumenta la movilización de lípidos.</a:t>
            </a:r>
          </a:p>
          <a:p>
            <a:pPr marL="285750" lvl="3" indent="-285750">
              <a:lnSpc>
                <a:spcPct val="120000"/>
              </a:lnSpc>
            </a:pPr>
            <a:r>
              <a:rPr lang="es-AR" sz="1800" b="0" dirty="0"/>
              <a:t>Su concentración es proporcionalmente directa a la masa placentaria.</a:t>
            </a:r>
          </a:p>
          <a:p>
            <a:pPr marL="36000" lvl="3" indent="0">
              <a:lnSpc>
                <a:spcPct val="120000"/>
              </a:lnSpc>
              <a:buNone/>
            </a:pPr>
            <a:endParaRPr lang="es-AR" sz="7200" b="1" dirty="0"/>
          </a:p>
          <a:p>
            <a:pPr marL="0" indent="0">
              <a:buNone/>
            </a:pPr>
            <a:endParaRPr lang="es-AR" sz="2000" dirty="0"/>
          </a:p>
        </p:txBody>
      </p:sp>
    </p:spTree>
    <p:extLst>
      <p:ext uri="{BB962C8B-B14F-4D97-AF65-F5344CB8AC3E}">
        <p14:creationId xmlns:p14="http://schemas.microsoft.com/office/powerpoint/2010/main" val="152849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692696"/>
            <a:ext cx="8229600" cy="4525963"/>
          </a:xfrm>
        </p:spPr>
        <p:txBody>
          <a:bodyPr>
            <a:normAutofit fontScale="25000" lnSpcReduction="20000"/>
          </a:bodyPr>
          <a:lstStyle/>
          <a:p>
            <a:endParaRPr lang="es-AR" sz="1800" b="0" dirty="0"/>
          </a:p>
          <a:p>
            <a:r>
              <a:rPr lang="es-AR" sz="7000" b="0" dirty="0"/>
              <a:t> </a:t>
            </a:r>
            <a:r>
              <a:rPr lang="es-AR" sz="7000" dirty="0"/>
              <a:t>Gonadotrofina </a:t>
            </a:r>
            <a:r>
              <a:rPr lang="es-AR" sz="7000" dirty="0" err="1"/>
              <a:t>coriónica</a:t>
            </a:r>
            <a:r>
              <a:rPr lang="es-AR" sz="7000" dirty="0"/>
              <a:t> humana (HCG):</a:t>
            </a:r>
          </a:p>
          <a:p>
            <a:pPr marL="36000" lvl="3" indent="0">
              <a:lnSpc>
                <a:spcPct val="120000"/>
              </a:lnSpc>
              <a:buClr>
                <a:srgbClr val="F96A1B"/>
              </a:buClr>
              <a:buNone/>
            </a:pPr>
            <a:r>
              <a:rPr lang="es-AR" sz="7200" b="1" dirty="0">
                <a:solidFill>
                  <a:srgbClr val="000000"/>
                </a:solidFill>
              </a:rPr>
              <a:t> </a:t>
            </a:r>
            <a:endParaRPr lang="es-AR" sz="7200" dirty="0">
              <a:solidFill>
                <a:srgbClr val="000000"/>
              </a:solidFill>
            </a:endParaRPr>
          </a:p>
          <a:p>
            <a:pPr marL="36000" lvl="3">
              <a:lnSpc>
                <a:spcPct val="120000"/>
              </a:lnSpc>
              <a:buClr>
                <a:srgbClr val="F96A1B"/>
              </a:buClr>
            </a:pPr>
            <a:r>
              <a:rPr lang="es-AR" sz="7200" dirty="0">
                <a:solidFill>
                  <a:srgbClr val="000000"/>
                </a:solidFill>
              </a:rPr>
              <a:t>Estimula la </a:t>
            </a:r>
            <a:r>
              <a:rPr lang="es-AR" sz="7200" dirty="0" err="1">
                <a:solidFill>
                  <a:srgbClr val="000000"/>
                </a:solidFill>
              </a:rPr>
              <a:t>esteroideogénesis</a:t>
            </a:r>
            <a:r>
              <a:rPr lang="es-AR" sz="7200" dirty="0">
                <a:solidFill>
                  <a:srgbClr val="000000"/>
                </a:solidFill>
              </a:rPr>
              <a:t> por el cuerpo lúteo que como resultado, produce prostaglandinas. Esta hormona a partir de la 8 </a:t>
            </a:r>
            <a:r>
              <a:rPr lang="es-AR" sz="7200" dirty="0" err="1">
                <a:solidFill>
                  <a:srgbClr val="000000"/>
                </a:solidFill>
              </a:rPr>
              <a:t>°semana</a:t>
            </a:r>
            <a:r>
              <a:rPr lang="es-AR" sz="7200" dirty="0">
                <a:solidFill>
                  <a:srgbClr val="000000"/>
                </a:solidFill>
              </a:rPr>
              <a:t> la produce la placenta.</a:t>
            </a:r>
          </a:p>
          <a:p>
            <a:pPr marL="36000" lvl="3">
              <a:lnSpc>
                <a:spcPct val="120000"/>
              </a:lnSpc>
              <a:buClr>
                <a:srgbClr val="F96A1B"/>
              </a:buClr>
            </a:pPr>
            <a:r>
              <a:rPr lang="es-AR" sz="7200" dirty="0">
                <a:solidFill>
                  <a:srgbClr val="000000"/>
                </a:solidFill>
              </a:rPr>
              <a:t>Es una glicoproteína producida, primero, por el </a:t>
            </a:r>
            <a:r>
              <a:rPr lang="es-AR" sz="7200" dirty="0" err="1">
                <a:solidFill>
                  <a:srgbClr val="000000"/>
                </a:solidFill>
              </a:rPr>
              <a:t>trofoblasto</a:t>
            </a:r>
            <a:r>
              <a:rPr lang="es-AR" sz="7200" dirty="0">
                <a:solidFill>
                  <a:srgbClr val="000000"/>
                </a:solidFill>
              </a:rPr>
              <a:t> y luego por el </a:t>
            </a:r>
            <a:r>
              <a:rPr lang="es-AR" sz="7200" dirty="0" err="1">
                <a:solidFill>
                  <a:srgbClr val="000000"/>
                </a:solidFill>
              </a:rPr>
              <a:t>sinciciotroflobasto</a:t>
            </a:r>
            <a:r>
              <a:rPr lang="es-AR" sz="7200" dirty="0">
                <a:solidFill>
                  <a:srgbClr val="000000"/>
                </a:solidFill>
              </a:rPr>
              <a:t>.</a:t>
            </a:r>
          </a:p>
          <a:p>
            <a:pPr marL="36000" lvl="3">
              <a:lnSpc>
                <a:spcPct val="120000"/>
              </a:lnSpc>
              <a:buClr>
                <a:srgbClr val="F96A1B"/>
              </a:buClr>
            </a:pPr>
            <a:r>
              <a:rPr lang="es-AR" sz="7000" b="0" u="sng" dirty="0"/>
              <a:t>2 subunidades:</a:t>
            </a:r>
          </a:p>
          <a:p>
            <a:pPr marL="0" indent="0">
              <a:buNone/>
            </a:pPr>
            <a:r>
              <a:rPr lang="es-AR" sz="7000" b="0" dirty="0"/>
              <a:t>	</a:t>
            </a:r>
            <a:r>
              <a:rPr lang="es-AR" sz="7000" dirty="0"/>
              <a:t>Alfa</a:t>
            </a:r>
          </a:p>
          <a:p>
            <a:pPr marL="0" indent="0">
              <a:buNone/>
            </a:pPr>
            <a:r>
              <a:rPr lang="es-AR" sz="7000" dirty="0"/>
              <a:t>	</a:t>
            </a:r>
            <a:r>
              <a:rPr lang="es-AR" sz="7000" dirty="0">
                <a:solidFill>
                  <a:srgbClr val="FF3300"/>
                </a:solidFill>
              </a:rPr>
              <a:t>Beta: </a:t>
            </a:r>
            <a:r>
              <a:rPr lang="es-AR" sz="7000" b="0" dirty="0">
                <a:solidFill>
                  <a:srgbClr val="FF3300"/>
                </a:solidFill>
              </a:rPr>
              <a:t>Principal marcador  de embarazo o alteración de este (alcanza su 	concentración máxima a los 2 meses).</a:t>
            </a:r>
          </a:p>
          <a:p>
            <a:pPr marL="0" indent="0">
              <a:buNone/>
            </a:pPr>
            <a:endParaRPr lang="es-AR" sz="7000" b="0" dirty="0">
              <a:solidFill>
                <a:srgbClr val="FF3300"/>
              </a:solidFill>
            </a:endParaRPr>
          </a:p>
          <a:p>
            <a:pPr marL="0" indent="0">
              <a:buNone/>
            </a:pPr>
            <a:r>
              <a:rPr lang="es-AR" sz="7000" dirty="0" err="1"/>
              <a:t>Tirotrofinacorionica</a:t>
            </a:r>
            <a:r>
              <a:rPr lang="es-AR" sz="7000" dirty="0"/>
              <a:t>:</a:t>
            </a:r>
          </a:p>
          <a:p>
            <a:pPr marL="857250" indent="-857250">
              <a:buFont typeface="Wingdings" pitchFamily="2" charset="2"/>
              <a:buChar char="§"/>
            </a:pPr>
            <a:r>
              <a:rPr lang="es-AR" sz="7000" b="0" dirty="0"/>
              <a:t>Producida por la placenta y tiene propiedades similares a la </a:t>
            </a:r>
            <a:r>
              <a:rPr lang="es-AR" sz="7000" b="0" dirty="0" err="1"/>
              <a:t>tirotrofina</a:t>
            </a:r>
            <a:r>
              <a:rPr lang="es-AR" sz="7000" b="0" dirty="0"/>
              <a:t> hipofisaria. </a:t>
            </a:r>
          </a:p>
          <a:p>
            <a:pPr marL="857250" indent="-857250">
              <a:buFont typeface="Wingdings" pitchFamily="2" charset="2"/>
              <a:buChar char="§"/>
            </a:pPr>
            <a:r>
              <a:rPr lang="es-AR" sz="7000" b="0" dirty="0"/>
              <a:t>Estimula la tiroides, aumentando su volumen y concentración de hormonas tiroideas durante el embarazo.</a:t>
            </a:r>
          </a:p>
        </p:txBody>
      </p:sp>
    </p:spTree>
    <p:extLst>
      <p:ext uri="{BB962C8B-B14F-4D97-AF65-F5344CB8AC3E}">
        <p14:creationId xmlns:p14="http://schemas.microsoft.com/office/powerpoint/2010/main" val="1655928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E53E79E-0146-40BC-8A94-19DF661985C1}"/>
              </a:ext>
            </a:extLst>
          </p:cNvPr>
          <p:cNvSpPr>
            <a:spLocks noGrp="1"/>
          </p:cNvSpPr>
          <p:nvPr>
            <p:ph type="title"/>
          </p:nvPr>
        </p:nvSpPr>
        <p:spPr/>
        <p:txBody>
          <a:bodyPr/>
          <a:lstStyle/>
          <a:p>
            <a:r>
              <a:rPr lang="es-AR" sz="3600" dirty="0">
                <a:solidFill>
                  <a:srgbClr val="0070C0"/>
                </a:solidFill>
              </a:rPr>
              <a:t>MODIFICACIONES LOCALES</a:t>
            </a:r>
            <a:endParaRPr lang="es-AR" dirty="0"/>
          </a:p>
        </p:txBody>
      </p:sp>
      <p:sp>
        <p:nvSpPr>
          <p:cNvPr id="3" name="Marcador de contenido 2">
            <a:extLst>
              <a:ext uri="{FF2B5EF4-FFF2-40B4-BE49-F238E27FC236}">
                <a16:creationId xmlns:a16="http://schemas.microsoft.com/office/drawing/2014/main" xmlns="" id="{90843743-F27E-442C-9347-CDB861E8289A}"/>
              </a:ext>
            </a:extLst>
          </p:cNvPr>
          <p:cNvSpPr>
            <a:spLocks noGrp="1"/>
          </p:cNvSpPr>
          <p:nvPr>
            <p:ph idx="1"/>
          </p:nvPr>
        </p:nvSpPr>
        <p:spPr>
          <a:xfrm>
            <a:off x="1115617" y="2133600"/>
            <a:ext cx="7418784" cy="3777622"/>
          </a:xfrm>
        </p:spPr>
        <p:txBody>
          <a:bodyPr/>
          <a:lstStyle/>
          <a:p>
            <a:r>
              <a:rPr lang="es-AR" dirty="0"/>
              <a:t>Son aquellas modificaciones anatómicas y funcionales, que competen al aparato genital femenino</a:t>
            </a:r>
          </a:p>
          <a:p>
            <a:r>
              <a:rPr lang="es-AR" dirty="0"/>
              <a:t>Los procesos que predominan son :</a:t>
            </a:r>
          </a:p>
          <a:p>
            <a:pPr marL="0" indent="0">
              <a:buNone/>
            </a:pPr>
            <a:r>
              <a:rPr lang="es-AR" dirty="0"/>
              <a:t>Hipertrofia</a:t>
            </a:r>
          </a:p>
          <a:p>
            <a:pPr marL="0" indent="0">
              <a:buNone/>
            </a:pPr>
            <a:r>
              <a:rPr lang="es-AR" dirty="0"/>
              <a:t>Hiperplasia</a:t>
            </a:r>
          </a:p>
          <a:p>
            <a:pPr marL="0" indent="0">
              <a:buNone/>
            </a:pPr>
            <a:r>
              <a:rPr lang="es-AR" dirty="0"/>
              <a:t>Congestión y edema </a:t>
            </a:r>
          </a:p>
          <a:p>
            <a:pPr marL="0" indent="0">
              <a:buNone/>
            </a:pPr>
            <a:endParaRPr lang="es-AR" dirty="0"/>
          </a:p>
        </p:txBody>
      </p:sp>
    </p:spTree>
    <p:extLst>
      <p:ext uri="{BB962C8B-B14F-4D97-AF65-F5344CB8AC3E}">
        <p14:creationId xmlns:p14="http://schemas.microsoft.com/office/powerpoint/2010/main" val="3081127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88640"/>
            <a:ext cx="8229600" cy="1143000"/>
          </a:xfrm>
        </p:spPr>
        <p:txBody>
          <a:bodyPr/>
          <a:lstStyle/>
          <a:p>
            <a:pPr algn="ctr"/>
            <a:endParaRPr lang="es-AR" sz="3600" dirty="0">
              <a:solidFill>
                <a:srgbClr val="0070C0"/>
              </a:solidFill>
            </a:endParaRPr>
          </a:p>
        </p:txBody>
      </p:sp>
      <p:sp>
        <p:nvSpPr>
          <p:cNvPr id="3" name="2 Marcador de contenido"/>
          <p:cNvSpPr>
            <a:spLocks noGrp="1"/>
          </p:cNvSpPr>
          <p:nvPr>
            <p:ph idx="1"/>
          </p:nvPr>
        </p:nvSpPr>
        <p:spPr>
          <a:xfrm>
            <a:off x="457200" y="980728"/>
            <a:ext cx="8229600" cy="5145435"/>
          </a:xfrm>
        </p:spPr>
        <p:txBody>
          <a:bodyPr>
            <a:noAutofit/>
          </a:bodyPr>
          <a:lstStyle/>
          <a:p>
            <a:pPr>
              <a:buFont typeface="Arial" pitchFamily="34" charset="0"/>
              <a:buChar char="•"/>
            </a:pPr>
            <a:r>
              <a:rPr lang="es-AR" sz="1800" b="0" u="sng" dirty="0">
                <a:effectLst>
                  <a:outerShdw blurRad="38100" dist="38100" dir="2700000" algn="tl">
                    <a:srgbClr val="000000">
                      <a:alpha val="43137"/>
                    </a:srgbClr>
                  </a:outerShdw>
                </a:effectLst>
              </a:rPr>
              <a:t>MAMAS: </a:t>
            </a:r>
          </a:p>
          <a:p>
            <a:pPr marL="0" indent="0"/>
            <a:r>
              <a:rPr lang="es-AR" sz="1800" b="0" dirty="0">
                <a:effectLst>
                  <a:outerShdw blurRad="38100" dist="38100" dir="2700000" algn="tl">
                    <a:srgbClr val="000000">
                      <a:alpha val="43137"/>
                    </a:srgbClr>
                  </a:outerShdw>
                </a:effectLst>
              </a:rPr>
              <a:t>	</a:t>
            </a:r>
            <a:r>
              <a:rPr lang="es-AR" sz="1800" b="0" dirty="0"/>
              <a:t>Hipertrofia	</a:t>
            </a:r>
          </a:p>
          <a:p>
            <a:pPr marL="0" indent="0"/>
            <a:r>
              <a:rPr lang="es-AR" sz="1800" b="0" dirty="0"/>
              <a:t>	Disminuye su consistencia</a:t>
            </a:r>
          </a:p>
          <a:p>
            <a:pPr marL="0" indent="0">
              <a:buNone/>
            </a:pPr>
            <a:r>
              <a:rPr lang="es-AR" sz="1800" b="0" dirty="0"/>
              <a:t>	Aparece una sutil red venosa </a:t>
            </a:r>
          </a:p>
          <a:p>
            <a:pPr marL="0" indent="0">
              <a:buNone/>
            </a:pPr>
            <a:r>
              <a:rPr lang="es-AR" sz="1800" b="0" dirty="0"/>
              <a:t>	Tubérculos de </a:t>
            </a:r>
            <a:r>
              <a:rPr lang="es-AR" sz="1800" b="0" dirty="0" err="1"/>
              <a:t>Motgomery</a:t>
            </a:r>
            <a:r>
              <a:rPr lang="es-AR" sz="1800" b="0" dirty="0"/>
              <a:t> o de </a:t>
            </a:r>
            <a:r>
              <a:rPr lang="es-AR" sz="1800" b="0" dirty="0" err="1"/>
              <a:t>Morgagni</a:t>
            </a:r>
            <a:r>
              <a:rPr lang="es-AR" sz="1800" b="0" dirty="0"/>
              <a:t> (interpretados como glándulas 	mamarias accesorias)</a:t>
            </a:r>
          </a:p>
          <a:p>
            <a:pPr marL="0" indent="0">
              <a:buNone/>
            </a:pPr>
            <a:r>
              <a:rPr lang="es-AR" sz="1800" b="0" dirty="0"/>
              <a:t>	Funcionalmente: secreción de calostro </a:t>
            </a:r>
            <a:r>
              <a:rPr lang="es-AR" dirty="0"/>
              <a:t>hasta</a:t>
            </a:r>
            <a:r>
              <a:rPr lang="es-AR" sz="1800" b="0" dirty="0"/>
              <a:t> el 3 y 4 día de puerperio</a:t>
            </a:r>
          </a:p>
        </p:txBody>
      </p:sp>
    </p:spTree>
    <p:extLst>
      <p:ext uri="{BB962C8B-B14F-4D97-AF65-F5344CB8AC3E}">
        <p14:creationId xmlns:p14="http://schemas.microsoft.com/office/powerpoint/2010/main" val="326618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yudanteta - 🤱🏻RED VENOSA DE HALLER Durante el embarazo... | Facebook">
            <a:extLst>
              <a:ext uri="{FF2B5EF4-FFF2-40B4-BE49-F238E27FC236}">
                <a16:creationId xmlns:a16="http://schemas.microsoft.com/office/drawing/2014/main" xmlns="" id="{3D626C67-2A46-45E3-8C2E-9CFFD79CA2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414313"/>
            <a:ext cx="3860340" cy="28915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undecán (Fundación de amigos contra el Cáncer) - ¿Qué son los tubérculos  de Montgomery? Son glándulas sebáceas localizadas alrededor del pezón,  específicamente en la areola del pecho, que producen secreciones que la">
            <a:extLst>
              <a:ext uri="{FF2B5EF4-FFF2-40B4-BE49-F238E27FC236}">
                <a16:creationId xmlns:a16="http://schemas.microsoft.com/office/drawing/2014/main" xmlns="" id="{E825BB8F-85ED-4DF6-B8E9-681FF4691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446474"/>
            <a:ext cx="4248472" cy="3211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281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34727DC-E516-4902-8055-4797B34FC23C}"/>
              </a:ext>
            </a:extLst>
          </p:cNvPr>
          <p:cNvSpPr>
            <a:spLocks noGrp="1"/>
          </p:cNvSpPr>
          <p:nvPr>
            <p:ph type="title"/>
          </p:nvPr>
        </p:nvSpPr>
        <p:spPr/>
        <p:txBody>
          <a:bodyPr/>
          <a:lstStyle/>
          <a:p>
            <a:r>
              <a:rPr lang="es-AR" dirty="0"/>
              <a:t>Pared abdominal</a:t>
            </a:r>
          </a:p>
        </p:txBody>
      </p:sp>
      <p:sp>
        <p:nvSpPr>
          <p:cNvPr id="3" name="Marcador de contenido 2">
            <a:extLst>
              <a:ext uri="{FF2B5EF4-FFF2-40B4-BE49-F238E27FC236}">
                <a16:creationId xmlns:a16="http://schemas.microsoft.com/office/drawing/2014/main" xmlns="" id="{5C6C8CBB-B41E-471A-AB88-9443799E1C83}"/>
              </a:ext>
            </a:extLst>
          </p:cNvPr>
          <p:cNvSpPr>
            <a:spLocks noGrp="1"/>
          </p:cNvSpPr>
          <p:nvPr>
            <p:ph idx="1"/>
          </p:nvPr>
        </p:nvSpPr>
        <p:spPr>
          <a:xfrm>
            <a:off x="806444" y="1625588"/>
            <a:ext cx="7915500" cy="4099267"/>
          </a:xfrm>
        </p:spPr>
        <p:txBody>
          <a:bodyPr/>
          <a:lstStyle/>
          <a:p>
            <a:r>
              <a:rPr lang="es-AR" dirty="0"/>
              <a:t>Aumento de espesor, por sobrecarga adiposa e hipertrofia</a:t>
            </a:r>
          </a:p>
          <a:p>
            <a:r>
              <a:rPr lang="es-AR" dirty="0"/>
              <a:t>Distensión de los tegumentos </a:t>
            </a:r>
          </a:p>
          <a:p>
            <a:r>
              <a:rPr lang="es-AR" dirty="0"/>
              <a:t>Flacidez en las multíparas </a:t>
            </a:r>
          </a:p>
          <a:p>
            <a:r>
              <a:rPr lang="es-AR" dirty="0"/>
              <a:t>Hundimiento del ombligo al principio </a:t>
            </a:r>
          </a:p>
          <a:p>
            <a:endParaRPr lang="es-AR" dirty="0"/>
          </a:p>
          <a:p>
            <a:pPr marL="0" indent="0">
              <a:buNone/>
            </a:pPr>
            <a:endParaRPr lang="es-AR" dirty="0"/>
          </a:p>
        </p:txBody>
      </p:sp>
      <p:pic>
        <p:nvPicPr>
          <p:cNvPr id="2050" name="Picture 2" descr="Estrías 😭 - Club Noviembre 2019: Embarazo y bebés - BabyCenter">
            <a:extLst>
              <a:ext uri="{FF2B5EF4-FFF2-40B4-BE49-F238E27FC236}">
                <a16:creationId xmlns:a16="http://schemas.microsoft.com/office/drawing/2014/main" xmlns="" id="{4F69D4E9-FA4C-4A70-B960-668F6F195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201" y="3329608"/>
            <a:ext cx="5253598"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309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E0845D7F-600B-474D-83DC-90E801D67F41}"/>
              </a:ext>
            </a:extLst>
          </p:cNvPr>
          <p:cNvSpPr>
            <a:spLocks noGrp="1"/>
          </p:cNvSpPr>
          <p:nvPr>
            <p:ph idx="1"/>
          </p:nvPr>
        </p:nvSpPr>
        <p:spPr>
          <a:xfrm>
            <a:off x="971601" y="1124744"/>
            <a:ext cx="7562800" cy="4786478"/>
          </a:xfrm>
        </p:spPr>
        <p:txBody>
          <a:bodyPr/>
          <a:lstStyle/>
          <a:p>
            <a:pPr>
              <a:buFont typeface="Arial" pitchFamily="34" charset="0"/>
              <a:buChar char="•"/>
            </a:pPr>
            <a:r>
              <a:rPr lang="es-AR" sz="1800" b="0" u="sng" dirty="0">
                <a:effectLst>
                  <a:outerShdw blurRad="38100" dist="38100" dir="2700000" algn="tl">
                    <a:srgbClr val="000000">
                      <a:alpha val="43137"/>
                    </a:srgbClr>
                  </a:outerShdw>
                </a:effectLst>
              </a:rPr>
              <a:t>Ovarios, trompas: </a:t>
            </a:r>
          </a:p>
          <a:p>
            <a:pPr marL="0" lvl="1" indent="0">
              <a:buNone/>
            </a:pPr>
            <a:r>
              <a:rPr lang="es-AR" sz="1800" dirty="0">
                <a:effectLst>
                  <a:outerShdw blurRad="38100" dist="38100" dir="2700000" algn="tl">
                    <a:srgbClr val="000000">
                      <a:alpha val="43137"/>
                    </a:srgbClr>
                  </a:outerShdw>
                </a:effectLst>
              </a:rPr>
              <a:t>	</a:t>
            </a:r>
            <a:r>
              <a:rPr lang="es-AR" sz="1800" dirty="0"/>
              <a:t>H</a:t>
            </a:r>
            <a:r>
              <a:rPr lang="es-AR" sz="1800" b="0" dirty="0"/>
              <a:t>ay hipertrofia por mayor irrigación</a:t>
            </a:r>
          </a:p>
          <a:p>
            <a:pPr marL="0" lvl="1" indent="0">
              <a:buNone/>
            </a:pPr>
            <a:r>
              <a:rPr lang="es-AR" sz="1800" dirty="0"/>
              <a:t>En uno de los ovarios se hace aparente el crecimiento del cuerpo </a:t>
            </a:r>
            <a:r>
              <a:rPr lang="es-AR" sz="1800" dirty="0" err="1"/>
              <a:t>luteo</a:t>
            </a:r>
            <a:r>
              <a:rPr lang="es-AR" sz="1800" dirty="0"/>
              <a:t> ( hasta la semana 17)</a:t>
            </a:r>
          </a:p>
          <a:p>
            <a:pPr marL="0" lvl="1" indent="0">
              <a:buNone/>
            </a:pPr>
            <a:endParaRPr lang="es-AR" sz="1800" b="0" dirty="0"/>
          </a:p>
          <a:p>
            <a:r>
              <a:rPr lang="es-AR" sz="1800" b="0" dirty="0"/>
              <a:t>	Ligamentos </a:t>
            </a:r>
            <a:r>
              <a:rPr lang="es-AR" sz="1800" b="0" dirty="0" err="1"/>
              <a:t>úterosacro</a:t>
            </a:r>
            <a:r>
              <a:rPr lang="es-AR" sz="1800" b="0" dirty="0"/>
              <a:t> y redondo se hipertrofian y alargan.</a:t>
            </a:r>
          </a:p>
          <a:p>
            <a:pPr>
              <a:buFont typeface="Arial" pitchFamily="34" charset="0"/>
              <a:buChar char="•"/>
            </a:pPr>
            <a:endParaRPr lang="es-AR" sz="1800" b="0" u="sng" dirty="0">
              <a:effectLst>
                <a:outerShdw blurRad="38100" dist="38100" dir="2700000" algn="tl">
                  <a:srgbClr val="000000">
                    <a:alpha val="43137"/>
                  </a:srgbClr>
                </a:outerShdw>
              </a:effectLst>
            </a:endParaRPr>
          </a:p>
          <a:p>
            <a:pPr>
              <a:buFont typeface="Arial" pitchFamily="34" charset="0"/>
              <a:buChar char="•"/>
            </a:pPr>
            <a:r>
              <a:rPr lang="es-AR" sz="1800" b="0" u="sng" dirty="0">
                <a:effectLst>
                  <a:outerShdw blurRad="38100" dist="38100" dir="2700000" algn="tl">
                    <a:srgbClr val="000000">
                      <a:alpha val="43137"/>
                    </a:srgbClr>
                  </a:outerShdw>
                </a:effectLst>
              </a:rPr>
              <a:t>Vulva: </a:t>
            </a:r>
            <a:r>
              <a:rPr lang="es-AR" sz="1800" b="0" dirty="0"/>
              <a:t>hipertrofia de labios mayores y menores. Presencia de varices </a:t>
            </a:r>
          </a:p>
          <a:p>
            <a:endParaRPr lang="es-AR" dirty="0"/>
          </a:p>
        </p:txBody>
      </p:sp>
    </p:spTree>
    <p:extLst>
      <p:ext uri="{BB962C8B-B14F-4D97-AF65-F5344CB8AC3E}">
        <p14:creationId xmlns:p14="http://schemas.microsoft.com/office/powerpoint/2010/main" val="2301773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BEB46CC7-0310-4798-BDE8-90C76A03BC67}"/>
              </a:ext>
            </a:extLst>
          </p:cNvPr>
          <p:cNvSpPr>
            <a:spLocks noGrp="1"/>
          </p:cNvSpPr>
          <p:nvPr>
            <p:ph idx="1"/>
          </p:nvPr>
        </p:nvSpPr>
        <p:spPr>
          <a:xfrm>
            <a:off x="1115617" y="1052736"/>
            <a:ext cx="7418784" cy="4858486"/>
          </a:xfrm>
        </p:spPr>
        <p:txBody>
          <a:bodyPr/>
          <a:lstStyle/>
          <a:p>
            <a:r>
              <a:rPr lang="es-AR" sz="1800" b="0" u="sng" dirty="0">
                <a:effectLst>
                  <a:outerShdw blurRad="38100" dist="38100" dir="2700000" algn="tl">
                    <a:srgbClr val="000000">
                      <a:alpha val="43137"/>
                    </a:srgbClr>
                  </a:outerShdw>
                </a:effectLst>
              </a:rPr>
              <a:t>Vagina: </a:t>
            </a:r>
            <a:r>
              <a:rPr lang="es-AR" sz="1800" b="0" dirty="0"/>
              <a:t>aumenta su elasticidad y producción de ácido láctico.</a:t>
            </a:r>
          </a:p>
          <a:p>
            <a:pPr marL="0" indent="0">
              <a:buNone/>
            </a:pPr>
            <a:r>
              <a:rPr lang="es-AR" u="sng" dirty="0">
                <a:solidFill>
                  <a:srgbClr val="FF0000"/>
                </a:solidFill>
              </a:rPr>
              <a:t>Modificaciones químicas:</a:t>
            </a:r>
          </a:p>
          <a:p>
            <a:pPr>
              <a:buFontTx/>
              <a:buChar char="-"/>
            </a:pPr>
            <a:r>
              <a:rPr lang="es-AR" sz="1800" b="0" dirty="0"/>
              <a:t>Aumenta la secreción vaginal ( flujo </a:t>
            </a:r>
            <a:r>
              <a:rPr lang="es-AR" sz="1800" b="0" dirty="0" err="1"/>
              <a:t>blanqucino</a:t>
            </a:r>
            <a:r>
              <a:rPr lang="es-AR" sz="1800" b="0" dirty="0"/>
              <a:t> )</a:t>
            </a:r>
          </a:p>
          <a:p>
            <a:pPr>
              <a:buFontTx/>
              <a:buChar char="-"/>
            </a:pPr>
            <a:r>
              <a:rPr lang="es-AR" dirty="0"/>
              <a:t>Desciende el pH entre 4 y 3,8</a:t>
            </a:r>
          </a:p>
          <a:p>
            <a:pPr>
              <a:buFontTx/>
              <a:buChar char="-"/>
            </a:pPr>
            <a:endParaRPr lang="es-AR" dirty="0"/>
          </a:p>
          <a:p>
            <a:pPr marL="0" indent="0">
              <a:buNone/>
            </a:pPr>
            <a:r>
              <a:rPr lang="es-AR" u="sng" dirty="0">
                <a:solidFill>
                  <a:srgbClr val="FF0000"/>
                </a:solidFill>
              </a:rPr>
              <a:t>Modificaciones bacteriológicas:</a:t>
            </a:r>
          </a:p>
          <a:p>
            <a:pPr marL="0" indent="0">
              <a:buNone/>
            </a:pPr>
            <a:r>
              <a:rPr lang="es-AR" dirty="0"/>
              <a:t>Presencia de </a:t>
            </a:r>
            <a:r>
              <a:rPr lang="es-AR" dirty="0" err="1"/>
              <a:t>gemenes</a:t>
            </a:r>
            <a:r>
              <a:rPr lang="es-AR" dirty="0"/>
              <a:t> que abarcan toda su extensión</a:t>
            </a:r>
          </a:p>
          <a:p>
            <a:pPr marL="0" indent="0">
              <a:buNone/>
            </a:pPr>
            <a:r>
              <a:rPr lang="es-AR" dirty="0"/>
              <a:t>La región de separación entre la zona de gérmenes y la </a:t>
            </a:r>
            <a:r>
              <a:rPr lang="es-AR" dirty="0" err="1"/>
              <a:t>esteril</a:t>
            </a:r>
            <a:r>
              <a:rPr lang="es-AR" dirty="0"/>
              <a:t> se denomina </a:t>
            </a:r>
            <a:r>
              <a:rPr lang="es-AR" dirty="0" err="1"/>
              <a:t>tapon</a:t>
            </a:r>
            <a:r>
              <a:rPr lang="es-AR" dirty="0"/>
              <a:t> mucoso</a:t>
            </a:r>
          </a:p>
          <a:p>
            <a:pPr>
              <a:buFont typeface="Arial" pitchFamily="34" charset="0"/>
              <a:buChar char="•"/>
            </a:pPr>
            <a:r>
              <a:rPr lang="es-AR" u="sng" dirty="0" err="1">
                <a:effectLst>
                  <a:outerShdw blurRad="38100" dist="38100" dir="2700000" algn="tl">
                    <a:srgbClr val="000000">
                      <a:alpha val="43137"/>
                    </a:srgbClr>
                  </a:outerShdw>
                </a:effectLst>
              </a:rPr>
              <a:t>Perine</a:t>
            </a:r>
            <a:r>
              <a:rPr lang="es-AR" u="sng" dirty="0">
                <a:effectLst>
                  <a:outerShdw blurRad="38100" dist="38100" dir="2700000" algn="tl">
                    <a:srgbClr val="000000">
                      <a:alpha val="43137"/>
                    </a:srgbClr>
                  </a:outerShdw>
                </a:effectLst>
              </a:rPr>
              <a:t>:  </a:t>
            </a:r>
            <a:r>
              <a:rPr lang="es-AR" dirty="0"/>
              <a:t>pigmentación de la piel </a:t>
            </a:r>
          </a:p>
          <a:p>
            <a:pPr marL="0" indent="0">
              <a:buNone/>
            </a:pPr>
            <a:r>
              <a:rPr lang="es-AR" sz="1800" b="0" u="sng" dirty="0">
                <a:effectLst>
                  <a:outerShdw blurRad="38100" dist="38100" dir="2700000" algn="tl">
                    <a:srgbClr val="000000">
                      <a:alpha val="43137"/>
                    </a:srgbClr>
                  </a:outerShdw>
                </a:effectLst>
              </a:rPr>
              <a:t> </a:t>
            </a:r>
            <a:r>
              <a:rPr lang="es-AR" dirty="0"/>
              <a:t>hiperplasia del tejido elástico y relajación de los </a:t>
            </a:r>
            <a:r>
              <a:rPr lang="es-AR" dirty="0" err="1"/>
              <a:t>musculos</a:t>
            </a:r>
            <a:r>
              <a:rPr lang="es-AR" dirty="0"/>
              <a:t> de la pelvis</a:t>
            </a:r>
            <a:endParaRPr lang="es-AR" sz="1800" b="0" u="sng" dirty="0">
              <a:effectLst>
                <a:outerShdw blurRad="38100" dist="38100" dir="2700000" algn="tl">
                  <a:srgbClr val="000000">
                    <a:alpha val="43137"/>
                  </a:srgbClr>
                </a:outerShdw>
              </a:effectLst>
            </a:endParaRPr>
          </a:p>
          <a:p>
            <a:pPr marL="0" indent="0">
              <a:buNone/>
            </a:pPr>
            <a:endParaRPr lang="es-AR" sz="1800" b="0" dirty="0"/>
          </a:p>
          <a:p>
            <a:endParaRPr lang="es-AR" dirty="0"/>
          </a:p>
        </p:txBody>
      </p:sp>
    </p:spTree>
    <p:extLst>
      <p:ext uri="{BB962C8B-B14F-4D97-AF65-F5344CB8AC3E}">
        <p14:creationId xmlns:p14="http://schemas.microsoft.com/office/powerpoint/2010/main" val="647776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06CDEC7-78D5-465C-8835-871E8E7C25B8}"/>
              </a:ext>
            </a:extLst>
          </p:cNvPr>
          <p:cNvSpPr>
            <a:spLocks noGrp="1"/>
          </p:cNvSpPr>
          <p:nvPr>
            <p:ph type="title"/>
          </p:nvPr>
        </p:nvSpPr>
        <p:spPr/>
        <p:txBody>
          <a:bodyPr/>
          <a:lstStyle/>
          <a:p>
            <a:r>
              <a:rPr lang="es-AR" dirty="0"/>
              <a:t>Útero </a:t>
            </a:r>
          </a:p>
        </p:txBody>
      </p:sp>
      <p:sp>
        <p:nvSpPr>
          <p:cNvPr id="3" name="Marcador de contenido 2">
            <a:extLst>
              <a:ext uri="{FF2B5EF4-FFF2-40B4-BE49-F238E27FC236}">
                <a16:creationId xmlns:a16="http://schemas.microsoft.com/office/drawing/2014/main" xmlns="" id="{6D9CAAE1-CD00-487A-B2B7-0C70A1E32501}"/>
              </a:ext>
            </a:extLst>
          </p:cNvPr>
          <p:cNvSpPr>
            <a:spLocks noGrp="1"/>
          </p:cNvSpPr>
          <p:nvPr>
            <p:ph idx="1"/>
          </p:nvPr>
        </p:nvSpPr>
        <p:spPr>
          <a:xfrm>
            <a:off x="490565" y="1277269"/>
            <a:ext cx="7778824" cy="4426438"/>
          </a:xfrm>
        </p:spPr>
        <p:txBody>
          <a:bodyPr>
            <a:normAutofit lnSpcReduction="10000"/>
          </a:bodyPr>
          <a:lstStyle/>
          <a:p>
            <a:r>
              <a:rPr lang="es-AR" dirty="0"/>
              <a:t>Aumenta en extensión ( cuerpo, </a:t>
            </a:r>
            <a:r>
              <a:rPr lang="es-AR" dirty="0" err="1"/>
              <a:t>itsmo</a:t>
            </a:r>
            <a:r>
              <a:rPr lang="es-AR" dirty="0"/>
              <a:t>, segmento inferior, cuello)</a:t>
            </a:r>
          </a:p>
          <a:p>
            <a:r>
              <a:rPr lang="es-AR" dirty="0"/>
              <a:t>Aumenta en espesor. ( </a:t>
            </a:r>
            <a:r>
              <a:rPr lang="es-AR" dirty="0" err="1"/>
              <a:t>peritoneio</a:t>
            </a:r>
            <a:r>
              <a:rPr lang="es-AR" dirty="0"/>
              <a:t>, miometrio y endometrio )</a:t>
            </a:r>
          </a:p>
          <a:p>
            <a:pPr marL="0" indent="0">
              <a:buNone/>
            </a:pPr>
            <a:r>
              <a:rPr lang="es-AR" sz="2000" b="1" u="sng" dirty="0"/>
              <a:t>CUERPO: </a:t>
            </a:r>
          </a:p>
          <a:p>
            <a:pPr>
              <a:buFont typeface="Arial" panose="020B0604020202020204" pitchFamily="34" charset="0"/>
              <a:buChar char="•"/>
            </a:pPr>
            <a:r>
              <a:rPr lang="es-AR" dirty="0"/>
              <a:t>Predomina la hipertrofia e hiperplasia</a:t>
            </a:r>
          </a:p>
          <a:p>
            <a:pPr>
              <a:buFont typeface="Arial" panose="020B0604020202020204" pitchFamily="34" charset="0"/>
              <a:buChar char="•"/>
            </a:pPr>
            <a:r>
              <a:rPr lang="es-AR" dirty="0"/>
              <a:t>Volumen aumenta unas 24 veces ( desenrollamiento de  las fibras espiraladas) </a:t>
            </a:r>
          </a:p>
          <a:p>
            <a:pPr>
              <a:buFont typeface="Arial" panose="020B0604020202020204" pitchFamily="34" charset="0"/>
              <a:buChar char="•"/>
            </a:pPr>
            <a:r>
              <a:rPr lang="es-AR" dirty="0"/>
              <a:t>La capacidad aumenta 500 veces ( </a:t>
            </a:r>
            <a:r>
              <a:rPr lang="es-AR" dirty="0" err="1"/>
              <a:t>vol</a:t>
            </a:r>
            <a:r>
              <a:rPr lang="es-AR" dirty="0"/>
              <a:t> 4 a 5 litros )</a:t>
            </a:r>
          </a:p>
          <a:p>
            <a:pPr>
              <a:buFont typeface="Arial" panose="020B0604020202020204" pitchFamily="34" charset="0"/>
              <a:buChar char="•"/>
            </a:pPr>
            <a:r>
              <a:rPr lang="es-AR" dirty="0"/>
              <a:t>El peso se eleva de 60g a 1 kilo </a:t>
            </a:r>
          </a:p>
          <a:p>
            <a:pPr>
              <a:buFont typeface="Arial" panose="020B0604020202020204" pitchFamily="34" charset="0"/>
              <a:buChar char="•"/>
            </a:pPr>
            <a:r>
              <a:rPr lang="es-AR" dirty="0"/>
              <a:t>DL 32-35cm. DAP 23-24cm DT 24-26cm</a:t>
            </a:r>
          </a:p>
          <a:p>
            <a:pPr>
              <a:buFont typeface="Arial" panose="020B0604020202020204" pitchFamily="34" charset="0"/>
              <a:buChar char="•"/>
            </a:pPr>
            <a:r>
              <a:rPr lang="es-AR" dirty="0"/>
              <a:t>Se eleva a 1 litro el </a:t>
            </a:r>
            <a:r>
              <a:rPr lang="es-AR" dirty="0" err="1"/>
              <a:t>vol</a:t>
            </a:r>
            <a:r>
              <a:rPr lang="es-AR" dirty="0"/>
              <a:t> arteriovenoso del plexo de la pared</a:t>
            </a:r>
          </a:p>
          <a:p>
            <a:pPr marL="0" indent="0">
              <a:buNone/>
            </a:pPr>
            <a:r>
              <a:rPr lang="es-AR" dirty="0"/>
              <a:t>Pasa de ser piriforme fuera del embarazo a ser </a:t>
            </a:r>
          </a:p>
          <a:p>
            <a:pPr marL="0" indent="0">
              <a:buNone/>
            </a:pPr>
            <a:r>
              <a:rPr lang="es-AR" dirty="0" err="1"/>
              <a:t>asimetrico</a:t>
            </a:r>
            <a:r>
              <a:rPr lang="es-AR" dirty="0"/>
              <a:t> ( prominencia de </a:t>
            </a:r>
            <a:r>
              <a:rPr lang="es-AR" dirty="0" err="1"/>
              <a:t>Piskacek</a:t>
            </a:r>
            <a:r>
              <a:rPr lang="es-AR" dirty="0"/>
              <a:t>)</a:t>
            </a:r>
          </a:p>
        </p:txBody>
      </p:sp>
      <p:pic>
        <p:nvPicPr>
          <p:cNvPr id="5" name="Imagen 4">
            <a:extLst>
              <a:ext uri="{FF2B5EF4-FFF2-40B4-BE49-F238E27FC236}">
                <a16:creationId xmlns:a16="http://schemas.microsoft.com/office/drawing/2014/main" xmlns="" id="{D35277B1-FC8C-4C60-8B77-BF1239DD1FA9}"/>
              </a:ext>
            </a:extLst>
          </p:cNvPr>
          <p:cNvPicPr>
            <a:picLocks noChangeAspect="1"/>
          </p:cNvPicPr>
          <p:nvPr/>
        </p:nvPicPr>
        <p:blipFill>
          <a:blip r:embed="rId2"/>
          <a:stretch>
            <a:fillRect/>
          </a:stretch>
        </p:blipFill>
        <p:spPr>
          <a:xfrm>
            <a:off x="7308304" y="4848225"/>
            <a:ext cx="1571625" cy="2009775"/>
          </a:xfrm>
          <a:prstGeom prst="rect">
            <a:avLst/>
          </a:prstGeom>
        </p:spPr>
      </p:pic>
    </p:spTree>
    <p:extLst>
      <p:ext uri="{BB962C8B-B14F-4D97-AF65-F5344CB8AC3E}">
        <p14:creationId xmlns:p14="http://schemas.microsoft.com/office/powerpoint/2010/main" val="4098667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79512" y="117692"/>
            <a:ext cx="8784976" cy="5632311"/>
          </a:xfrm>
          <a:prstGeom prst="rect">
            <a:avLst/>
          </a:prstGeom>
          <a:noFill/>
        </p:spPr>
        <p:txBody>
          <a:bodyPr wrap="square" rtlCol="0">
            <a:spAutoFit/>
          </a:bodyPr>
          <a:lstStyle/>
          <a:p>
            <a:endParaRPr lang="es-AR" u="sng" dirty="0"/>
          </a:p>
          <a:p>
            <a:endParaRPr lang="es-AR" u="sng" dirty="0"/>
          </a:p>
          <a:p>
            <a:endParaRPr lang="es-AR" u="sng" dirty="0"/>
          </a:p>
          <a:p>
            <a:endParaRPr lang="es-AR" u="sng" dirty="0"/>
          </a:p>
          <a:p>
            <a:r>
              <a:rPr lang="es-AR" u="sng" dirty="0"/>
              <a:t>Funcionalmente:  </a:t>
            </a:r>
          </a:p>
          <a:p>
            <a:r>
              <a:rPr lang="es-AR" dirty="0"/>
              <a:t>	Aumenta la elasticidad</a:t>
            </a:r>
          </a:p>
          <a:p>
            <a:r>
              <a:rPr lang="es-AR" dirty="0"/>
              <a:t>	Sensibilidad es casi nula</a:t>
            </a:r>
          </a:p>
          <a:p>
            <a:r>
              <a:rPr lang="es-AR" dirty="0"/>
              <a:t>	Aumenta la irritabilidad tanto a agentes físicos como químicos</a:t>
            </a:r>
          </a:p>
          <a:p>
            <a:pPr lvl="1"/>
            <a:endParaRPr lang="es-AR" b="1" dirty="0"/>
          </a:p>
          <a:p>
            <a:pPr lvl="1"/>
            <a:r>
              <a:rPr lang="es-AR" b="1" dirty="0"/>
              <a:t>SEGMENTO INFERIOR: </a:t>
            </a:r>
          </a:p>
          <a:p>
            <a:pPr lvl="1"/>
            <a:r>
              <a:rPr lang="es-AR" dirty="0"/>
              <a:t>Es la zona intermedia entre el cuerpo y el cuello, que anteriormente a su constitución </a:t>
            </a:r>
            <a:r>
              <a:rPr lang="es-AR" dirty="0" err="1"/>
              <a:t>correspondia</a:t>
            </a:r>
            <a:r>
              <a:rPr lang="es-AR" dirty="0"/>
              <a:t> al </a:t>
            </a:r>
            <a:r>
              <a:rPr lang="es-AR" dirty="0" err="1"/>
              <a:t>itsmo</a:t>
            </a:r>
            <a:endParaRPr lang="es-AR" dirty="0"/>
          </a:p>
          <a:p>
            <a:pPr lvl="1"/>
            <a:r>
              <a:rPr lang="es-AR" dirty="0"/>
              <a:t>Empieza a formarse entre las 14 y 16 semanas  Formación:  en su musculatura desaparece  la capa media espiralada (produce adelgazamiento)</a:t>
            </a:r>
          </a:p>
          <a:p>
            <a:endParaRPr lang="es-AR" dirty="0">
              <a:solidFill>
                <a:srgbClr val="FF3300"/>
              </a:solidFill>
            </a:endParaRPr>
          </a:p>
          <a:p>
            <a:endParaRPr lang="es-AR" dirty="0">
              <a:solidFill>
                <a:srgbClr val="FF3300"/>
              </a:solidFill>
            </a:endParaRPr>
          </a:p>
          <a:p>
            <a:r>
              <a:rPr lang="es-AR" dirty="0">
                <a:solidFill>
                  <a:srgbClr val="FF3300"/>
                </a:solidFill>
              </a:rPr>
              <a:t>FUNCION: PARTICIPA EN LA DILATACION DEL CUELLO MEDIANTE LASCONTRACCIONES</a:t>
            </a:r>
          </a:p>
          <a:p>
            <a:r>
              <a:rPr lang="es-AR" dirty="0"/>
              <a:t>	</a:t>
            </a:r>
          </a:p>
        </p:txBody>
      </p:sp>
    </p:spTree>
    <p:extLst>
      <p:ext uri="{BB962C8B-B14F-4D97-AF65-F5344CB8AC3E}">
        <p14:creationId xmlns:p14="http://schemas.microsoft.com/office/powerpoint/2010/main" val="2687544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 calcmode="lin" valueType="num">
                                      <p:cBhvr additive="base">
                                        <p:cTn id="2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anim calcmode="lin" valueType="num">
                                      <p:cBhvr additive="base">
                                        <p:cTn id="2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anim calcmode="lin" valueType="num">
                                      <p:cBhvr additive="base">
                                        <p:cTn id="3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anim calcmode="lin" valueType="num">
                                      <p:cBhvr additive="base">
                                        <p:cTn id="3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14" end="14"/>
                                            </p:txEl>
                                          </p:spTgt>
                                        </p:tgtEl>
                                        <p:attrNameLst>
                                          <p:attrName>style.visibility</p:attrName>
                                        </p:attrNameLst>
                                      </p:cBhvr>
                                      <p:to>
                                        <p:strVal val="visible"/>
                                      </p:to>
                                    </p:set>
                                    <p:anim calcmode="lin" valueType="num">
                                      <p:cBhvr additive="base">
                                        <p:cTn id="43"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15" end="15"/>
                                            </p:txEl>
                                          </p:spTgt>
                                        </p:tgtEl>
                                        <p:attrNameLst>
                                          <p:attrName>style.visibility</p:attrName>
                                        </p:attrNameLst>
                                      </p:cBhvr>
                                      <p:to>
                                        <p:strVal val="visible"/>
                                      </p:to>
                                    </p:set>
                                    <p:anim calcmode="lin" valueType="num">
                                      <p:cBhvr additive="base">
                                        <p:cTn id="49"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C7EF7D99-FED5-4B25-BDB9-33BEB67E702F}"/>
              </a:ext>
            </a:extLst>
          </p:cNvPr>
          <p:cNvSpPr>
            <a:spLocks noGrp="1"/>
          </p:cNvSpPr>
          <p:nvPr>
            <p:ph idx="1"/>
          </p:nvPr>
        </p:nvSpPr>
        <p:spPr>
          <a:xfrm>
            <a:off x="1331640" y="1340768"/>
            <a:ext cx="7202761" cy="4570454"/>
          </a:xfrm>
        </p:spPr>
        <p:txBody>
          <a:bodyPr/>
          <a:lstStyle/>
          <a:p>
            <a:r>
              <a:rPr lang="es-AR" b="1" dirty="0"/>
              <a:t>CUELLO UTERINO: </a:t>
            </a:r>
          </a:p>
          <a:p>
            <a:r>
              <a:rPr lang="es-AR" b="1" dirty="0"/>
              <a:t>	</a:t>
            </a:r>
            <a:r>
              <a:rPr lang="es-AR" dirty="0"/>
              <a:t>Aspecto: rosado o cianótico</a:t>
            </a:r>
          </a:p>
          <a:p>
            <a:r>
              <a:rPr lang="es-AR" dirty="0"/>
              <a:t>	Situación varia</a:t>
            </a:r>
          </a:p>
          <a:p>
            <a:r>
              <a:rPr lang="es-AR" dirty="0"/>
              <a:t>	Longitud: llega a 3-5cm</a:t>
            </a:r>
          </a:p>
          <a:p>
            <a:r>
              <a:rPr lang="es-AR" dirty="0"/>
              <a:t>	OCI cerrado</a:t>
            </a:r>
          </a:p>
          <a:p>
            <a:r>
              <a:rPr lang="es-AR" dirty="0"/>
              <a:t>	OCE Cerrado en primípara y entreabierto en multípara</a:t>
            </a:r>
          </a:p>
          <a:p>
            <a:endParaRPr lang="es-AR" dirty="0"/>
          </a:p>
        </p:txBody>
      </p:sp>
    </p:spTree>
    <p:extLst>
      <p:ext uri="{BB962C8B-B14F-4D97-AF65-F5344CB8AC3E}">
        <p14:creationId xmlns:p14="http://schemas.microsoft.com/office/powerpoint/2010/main" val="2867519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Diagnóstico de embarazo </a:t>
            </a:r>
            <a:endParaRPr lang="es-AR" dirty="0"/>
          </a:p>
        </p:txBody>
      </p:sp>
      <p:sp>
        <p:nvSpPr>
          <p:cNvPr id="3" name="2 Marcador de contenido"/>
          <p:cNvSpPr>
            <a:spLocks noGrp="1"/>
          </p:cNvSpPr>
          <p:nvPr>
            <p:ph idx="1"/>
          </p:nvPr>
        </p:nvSpPr>
        <p:spPr/>
        <p:txBody>
          <a:bodyPr>
            <a:normAutofit/>
          </a:bodyPr>
          <a:lstStyle/>
          <a:p>
            <a:r>
              <a:rPr lang="es-AR" sz="2400" dirty="0"/>
              <a:t>Se debe pensar en embarazo, en toda mujer con ciclos regulares que presenta un atraso en la aparición de su menstruación o ante la presencia de cualquier cambio de las características habituales del sangrado menstrual, tanto en cantidad, tiempo de aparición y duración. El diagnóstico de embarazo se basará en los clásicos signos de presunción, probabilidad y certeza.</a:t>
            </a:r>
          </a:p>
        </p:txBody>
      </p:sp>
    </p:spTree>
    <p:extLst>
      <p:ext uri="{BB962C8B-B14F-4D97-AF65-F5344CB8AC3E}">
        <p14:creationId xmlns:p14="http://schemas.microsoft.com/office/powerpoint/2010/main" val="4114876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Signos de presunción </a:t>
            </a:r>
          </a:p>
        </p:txBody>
      </p:sp>
      <p:sp>
        <p:nvSpPr>
          <p:cNvPr id="3" name="2 Marcador de contenido"/>
          <p:cNvSpPr>
            <a:spLocks noGrp="1"/>
          </p:cNvSpPr>
          <p:nvPr>
            <p:ph idx="1"/>
          </p:nvPr>
        </p:nvSpPr>
        <p:spPr/>
        <p:txBody>
          <a:bodyPr>
            <a:normAutofit/>
          </a:bodyPr>
          <a:lstStyle/>
          <a:p>
            <a:r>
              <a:rPr lang="es-AR" sz="2400" dirty="0" smtClean="0"/>
              <a:t>Se </a:t>
            </a:r>
            <a:r>
              <a:rPr lang="es-AR" sz="2400" dirty="0"/>
              <a:t>trata de manifestaciones subjetivas y objetivas: sialorrea, vómitos, modificaciones del apetito y del gusto, aversión a ciertos olores, irritabilidad, preocupación, tristeza, ciclos alternados de alegría y melancolía, mareos, lipotimias, somnolencia, desgano, </a:t>
            </a:r>
            <a:r>
              <a:rPr lang="es-AR" sz="2400" dirty="0" err="1"/>
              <a:t>polaquiuria</a:t>
            </a:r>
            <a:r>
              <a:rPr lang="es-AR" sz="2400" dirty="0"/>
              <a:t>, modificaciones en las mamas (turgencia), </a:t>
            </a:r>
            <a:r>
              <a:rPr lang="es-AR" sz="2400" dirty="0" err="1"/>
              <a:t>etc</a:t>
            </a:r>
            <a:endParaRPr lang="es-AR" sz="2400" dirty="0"/>
          </a:p>
        </p:txBody>
      </p:sp>
    </p:spTree>
    <p:extLst>
      <p:ext uri="{BB962C8B-B14F-4D97-AF65-F5344CB8AC3E}">
        <p14:creationId xmlns:p14="http://schemas.microsoft.com/office/powerpoint/2010/main" val="2235892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Signos de probabilidad</a:t>
            </a:r>
          </a:p>
        </p:txBody>
      </p:sp>
      <p:sp>
        <p:nvSpPr>
          <p:cNvPr id="3" name="2 Marcador de contenido"/>
          <p:cNvSpPr>
            <a:spLocks noGrp="1"/>
          </p:cNvSpPr>
          <p:nvPr>
            <p:ph idx="1"/>
          </p:nvPr>
        </p:nvSpPr>
        <p:spPr/>
        <p:txBody>
          <a:bodyPr/>
          <a:lstStyle/>
          <a:p>
            <a:r>
              <a:rPr lang="es-AR" b="1" dirty="0" smtClean="0"/>
              <a:t>Amenorrea</a:t>
            </a:r>
            <a:r>
              <a:rPr lang="es-AR" dirty="0"/>
              <a:t>: ante cualquier mujer en edad fértil, sana y con períodos regulares que presente un atraso en la aparición de la menstruación, debe pensarse que está embarazada. Es un hecho importante que orienta en la mayoría de los casos hacia el </a:t>
            </a:r>
            <a:r>
              <a:rPr lang="es-AR" dirty="0" smtClean="0"/>
              <a:t>diagnóstico.</a:t>
            </a:r>
          </a:p>
          <a:p>
            <a:r>
              <a:rPr lang="es-AR" b="1" dirty="0"/>
              <a:t>Modificaciones uterinas: </a:t>
            </a:r>
            <a:r>
              <a:rPr lang="es-AR" dirty="0"/>
              <a:t>el tacto por vía vaginal combinado con la palpación externa permite reconocer los signos mas seguros. La forma del útero se hace mas globulosa, los fondos de sacos vaginales se hacen convexos (signo de Noble- </a:t>
            </a:r>
            <a:r>
              <a:rPr lang="es-AR" dirty="0" err="1"/>
              <a:t>Budin</a:t>
            </a:r>
            <a:r>
              <a:rPr lang="es-AR" dirty="0"/>
              <a:t>) y su consistencia disminuye (reblandecimiento).</a:t>
            </a:r>
          </a:p>
        </p:txBody>
      </p:sp>
    </p:spTree>
    <p:extLst>
      <p:ext uri="{BB962C8B-B14F-4D97-AF65-F5344CB8AC3E}">
        <p14:creationId xmlns:p14="http://schemas.microsoft.com/office/powerpoint/2010/main" val="1922076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Signos de certeza</a:t>
            </a:r>
          </a:p>
        </p:txBody>
      </p:sp>
      <p:sp>
        <p:nvSpPr>
          <p:cNvPr id="3" name="2 Marcador de contenido"/>
          <p:cNvSpPr>
            <a:spLocks noGrp="1"/>
          </p:cNvSpPr>
          <p:nvPr>
            <p:ph idx="1"/>
          </p:nvPr>
        </p:nvSpPr>
        <p:spPr/>
        <p:txBody>
          <a:bodyPr/>
          <a:lstStyle/>
          <a:p>
            <a:r>
              <a:rPr lang="es-AR" b="1" dirty="0"/>
              <a:t>Métodos bioquímicos </a:t>
            </a:r>
            <a:r>
              <a:rPr lang="es-AR" dirty="0"/>
              <a:t>:Determinación del </a:t>
            </a:r>
            <a:r>
              <a:rPr lang="es-AR" dirty="0" err="1"/>
              <a:t>dosaje</a:t>
            </a:r>
            <a:r>
              <a:rPr lang="es-AR" dirty="0"/>
              <a:t> de subunidad Beta: de gonadotrofina </a:t>
            </a:r>
            <a:r>
              <a:rPr lang="es-AR" dirty="0" err="1"/>
              <a:t>coriónica</a:t>
            </a:r>
            <a:r>
              <a:rPr lang="es-AR" dirty="0"/>
              <a:t> (HCG) por métodos </a:t>
            </a:r>
            <a:r>
              <a:rPr lang="es-AR" dirty="0" smtClean="0"/>
              <a:t>inmunológicos</a:t>
            </a:r>
          </a:p>
          <a:p>
            <a:r>
              <a:rPr lang="es-AR" b="1" dirty="0"/>
              <a:t>Diagnóstico por </a:t>
            </a:r>
            <a:r>
              <a:rPr lang="es-AR" b="1" dirty="0" smtClean="0"/>
              <a:t>imágenes:</a:t>
            </a:r>
          </a:p>
          <a:p>
            <a:pPr marL="0" indent="0">
              <a:buNone/>
            </a:pPr>
            <a:r>
              <a:rPr lang="es-AR" b="1" dirty="0" smtClean="0"/>
              <a:t>Ecografía</a:t>
            </a:r>
            <a:r>
              <a:rPr lang="es-AR" dirty="0"/>
              <a:t>: por vía </a:t>
            </a:r>
            <a:r>
              <a:rPr lang="es-AR" dirty="0" err="1"/>
              <a:t>transabdominal</a:t>
            </a:r>
            <a:r>
              <a:rPr lang="es-AR" dirty="0"/>
              <a:t> se debe realizar preferentemente no antes de la 7° semana de amenorrea; por vía </a:t>
            </a:r>
            <a:r>
              <a:rPr lang="es-AR" dirty="0" err="1"/>
              <a:t>transvaginal</a:t>
            </a:r>
            <a:r>
              <a:rPr lang="es-AR" dirty="0"/>
              <a:t> desde la 5° - 6° semana, preferentemente en caso de ser necesario diagnosticar el sitio de implantación del embarazo (descartar embarazo ectópico</a:t>
            </a:r>
            <a:r>
              <a:rPr lang="es-AR" dirty="0" smtClean="0"/>
              <a:t>).</a:t>
            </a:r>
          </a:p>
          <a:p>
            <a:r>
              <a:rPr lang="es-AR" b="1" dirty="0"/>
              <a:t>Examen ginecológico y palpación </a:t>
            </a:r>
            <a:r>
              <a:rPr lang="es-AR" b="1" dirty="0" smtClean="0"/>
              <a:t>abdominal: </a:t>
            </a:r>
            <a:r>
              <a:rPr lang="es-AR" dirty="0"/>
              <a:t>Auscultación de latidos fetales</a:t>
            </a:r>
            <a:endParaRPr lang="es-AR" b="1" dirty="0"/>
          </a:p>
        </p:txBody>
      </p:sp>
    </p:spTree>
    <p:extLst>
      <p:ext uri="{BB962C8B-B14F-4D97-AF65-F5344CB8AC3E}">
        <p14:creationId xmlns:p14="http://schemas.microsoft.com/office/powerpoint/2010/main" val="4173098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75CFDF1-F080-45CA-9811-82C1A6236D64}"/>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xmlns="" id="{1A528C28-EB1D-4BEC-ADDB-1A36A25100EA}"/>
              </a:ext>
            </a:extLst>
          </p:cNvPr>
          <p:cNvSpPr>
            <a:spLocks noGrp="1"/>
          </p:cNvSpPr>
          <p:nvPr>
            <p:ph idx="1"/>
          </p:nvPr>
        </p:nvSpPr>
        <p:spPr/>
        <p:txBody>
          <a:bodyPr>
            <a:normAutofit lnSpcReduction="10000"/>
          </a:bodyPr>
          <a:lstStyle/>
          <a:p>
            <a:pPr marL="0" indent="0">
              <a:buNone/>
            </a:pPr>
            <a:endParaRPr lang="es-AR" sz="4400" dirty="0"/>
          </a:p>
          <a:p>
            <a:pPr marL="0" indent="0">
              <a:buNone/>
            </a:pPr>
            <a:endParaRPr lang="es-AR" sz="4400" dirty="0"/>
          </a:p>
          <a:p>
            <a:pPr marL="0" indent="0">
              <a:buNone/>
            </a:pPr>
            <a:endParaRPr lang="es-AR" sz="4400" dirty="0"/>
          </a:p>
          <a:p>
            <a:pPr marL="0" indent="0">
              <a:buNone/>
            </a:pPr>
            <a:endParaRPr lang="es-AR" sz="4400" dirty="0"/>
          </a:p>
          <a:p>
            <a:pPr marL="0" indent="0">
              <a:buNone/>
            </a:pPr>
            <a:r>
              <a:rPr lang="es-AR" sz="4400" dirty="0"/>
              <a:t>            Muchas gracias </a:t>
            </a:r>
          </a:p>
        </p:txBody>
      </p:sp>
    </p:spTree>
    <p:extLst>
      <p:ext uri="{BB962C8B-B14F-4D97-AF65-F5344CB8AC3E}">
        <p14:creationId xmlns:p14="http://schemas.microsoft.com/office/powerpoint/2010/main" val="3891612185"/>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4593</TotalTime>
  <Words>1660</Words>
  <Application>Microsoft Office PowerPoint</Application>
  <PresentationFormat>Presentación en pantalla (4:3)</PresentationFormat>
  <Paragraphs>270</Paragraphs>
  <Slides>30</Slides>
  <Notes>3</Notes>
  <HiddenSlides>0</HiddenSlides>
  <MMClips>0</MMClips>
  <ScaleCrop>false</ScaleCrop>
  <HeadingPairs>
    <vt:vector size="4" baseType="variant">
      <vt:variant>
        <vt:lpstr>Tema</vt:lpstr>
      </vt:variant>
      <vt:variant>
        <vt:i4>1</vt:i4>
      </vt:variant>
      <vt:variant>
        <vt:lpstr>Títulos de diapositiva</vt:lpstr>
      </vt:variant>
      <vt:variant>
        <vt:i4>30</vt:i4>
      </vt:variant>
    </vt:vector>
  </HeadingPairs>
  <TitlesOfParts>
    <vt:vector size="31" baseType="lpstr">
      <vt:lpstr>Espiral</vt:lpstr>
      <vt:lpstr>Presentación de PowerPoint</vt:lpstr>
      <vt:lpstr>Presentación de PowerPoint</vt:lpstr>
      <vt:lpstr>MODIFICACIONES GENERALES</vt:lpstr>
      <vt:lpstr>Presentación de PowerPoint</vt:lpstr>
      <vt:lpstr>Modificaciones Hematológicos/cardiovasculares</vt:lpstr>
      <vt:lpstr>Presentación de PowerPoint</vt:lpstr>
      <vt:lpstr>Presentación de PowerPoint</vt:lpstr>
      <vt:lpstr>Modificaciones Respiratorias</vt:lpstr>
      <vt:lpstr>Presentación de PowerPoint</vt:lpstr>
      <vt:lpstr>Modificaciones urinarias</vt:lpstr>
      <vt:lpstr>Presentación de PowerPoint</vt:lpstr>
      <vt:lpstr>Modificaciones Ap. digestivo</vt:lpstr>
      <vt:lpstr>Presentación de PowerPoint</vt:lpstr>
      <vt:lpstr>Organo de los sentidos </vt:lpstr>
      <vt:lpstr>Sistema Endócrino</vt:lpstr>
      <vt:lpstr>Presentación de PowerPoint</vt:lpstr>
      <vt:lpstr>MODIFICACIONES LOCALES</vt:lpstr>
      <vt:lpstr>Presentación de PowerPoint</vt:lpstr>
      <vt:lpstr>Presentación de PowerPoint</vt:lpstr>
      <vt:lpstr>Pared abdominal</vt:lpstr>
      <vt:lpstr>Presentación de PowerPoint</vt:lpstr>
      <vt:lpstr>Presentación de PowerPoint</vt:lpstr>
      <vt:lpstr>Útero </vt:lpstr>
      <vt:lpstr>Presentación de PowerPoint</vt:lpstr>
      <vt:lpstr>Presentación de PowerPoint</vt:lpstr>
      <vt:lpstr>Diagnóstico de embarazo </vt:lpstr>
      <vt:lpstr>Signos de presunción </vt:lpstr>
      <vt:lpstr>Signos de probabilidad</vt:lpstr>
      <vt:lpstr>Signos de certeza</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Gustavos</cp:lastModifiedBy>
  <cp:revision>140</cp:revision>
  <dcterms:created xsi:type="dcterms:W3CDTF">2021-05-11T20:54:31Z</dcterms:created>
  <dcterms:modified xsi:type="dcterms:W3CDTF">2025-08-03T18:51:01Z</dcterms:modified>
</cp:coreProperties>
</file>