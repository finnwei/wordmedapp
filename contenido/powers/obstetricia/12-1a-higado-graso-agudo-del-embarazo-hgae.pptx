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71" r:id="rId5"/>
    <p:sldId id="263" r:id="rId6"/>
    <p:sldId id="260" r:id="rId7"/>
    <p:sldId id="261" r:id="rId8"/>
    <p:sldId id="262" r:id="rId9"/>
    <p:sldId id="264" r:id="rId10"/>
    <p:sldId id="265" r:id="rId11"/>
    <p:sldId id="269" r:id="rId12"/>
    <p:sldId id="270" r:id="rId13"/>
    <p:sldId id="274" r:id="rId14"/>
    <p:sldId id="266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1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2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1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7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3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0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84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79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9023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15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5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26E7C-4A7A-485D-AC06-29DF225A3E0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DAC9A95-3D00-4CB5-A8C4-21932D31D8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4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1606826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Hígado Graso </a:t>
            </a:r>
            <a:r>
              <a:rPr lang="es-ES" dirty="0"/>
              <a:t>A</a:t>
            </a:r>
            <a:r>
              <a:rPr lang="es-ES" dirty="0" smtClean="0"/>
              <a:t>gudo del Embarazo (HGAE)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3" y="5247860"/>
            <a:ext cx="8915399" cy="1113181"/>
          </a:xfrm>
        </p:spPr>
        <p:txBody>
          <a:bodyPr>
            <a:normAutofit/>
          </a:bodyPr>
          <a:lstStyle/>
          <a:p>
            <a:pPr algn="r"/>
            <a:r>
              <a:rPr lang="es-ES" sz="1600" dirty="0" err="1" smtClean="0"/>
              <a:t>Dra</a:t>
            </a:r>
            <a:r>
              <a:rPr lang="es-ES" sz="1600" dirty="0" smtClean="0"/>
              <a:t> Gonzalez Alejandra</a:t>
            </a:r>
          </a:p>
          <a:p>
            <a:pPr algn="r"/>
            <a:r>
              <a:rPr lang="es-ES" sz="1600" dirty="0" smtClean="0"/>
              <a:t>Esp. Tocoginecologa</a:t>
            </a:r>
          </a:p>
          <a:p>
            <a:pPr algn="r"/>
            <a:r>
              <a:rPr lang="es-ES" sz="1600" dirty="0" smtClean="0"/>
              <a:t>Catedra de obstetricia. UM. 2026</a:t>
            </a:r>
            <a:endParaRPr lang="en-US" sz="1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631" y="995703"/>
            <a:ext cx="1261981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7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Definición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 smtClean="0"/>
              <a:t>Insuficiencia hepática severa y aguda inducida por el embarazo, caracterizada por la infiltración grasa microvesicular difusa de los hepatocitos </a:t>
            </a:r>
            <a:r>
              <a:rPr lang="es-ES" sz="2800" u="sng" dirty="0" smtClean="0"/>
              <a:t>respetando la zona </a:t>
            </a:r>
            <a:r>
              <a:rPr lang="es-ES" sz="2800" u="sng" dirty="0" err="1" smtClean="0"/>
              <a:t>periportal</a:t>
            </a:r>
            <a:r>
              <a:rPr lang="es-ES" sz="2800" dirty="0"/>
              <a:t>.</a:t>
            </a:r>
            <a:endParaRPr lang="es-ES" sz="2800" dirty="0" smtClean="0"/>
          </a:p>
          <a:p>
            <a:r>
              <a:rPr lang="es-ES" sz="2800" dirty="0" smtClean="0"/>
              <a:t>Es una emergencia medica y obstétrica grave que ocurre principalmente durante el tercer trimestre o el puerperio inmediato.</a:t>
            </a:r>
          </a:p>
          <a:p>
            <a:r>
              <a:rPr lang="es-ES" sz="2800" dirty="0" smtClean="0"/>
              <a:t>Muy poco frecuente.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8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Generalidades y epidemiologia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 smtClean="0"/>
              <a:t>Exclusivo de la gestación humana.</a:t>
            </a:r>
          </a:p>
          <a:p>
            <a:r>
              <a:rPr lang="es-ES" sz="2800" dirty="0" smtClean="0"/>
              <a:t>Primer caso descripto en 1940 (Sheehan)</a:t>
            </a:r>
          </a:p>
          <a:p>
            <a:r>
              <a:rPr lang="es-ES" sz="2800" dirty="0" smtClean="0"/>
              <a:t>Mortalidad maternofetal muy alta</a:t>
            </a:r>
          </a:p>
          <a:p>
            <a:r>
              <a:rPr lang="es-ES" sz="2800" dirty="0" smtClean="0"/>
              <a:t>Incidencia 1/10000 a 130000 embarazos</a:t>
            </a:r>
          </a:p>
          <a:p>
            <a:r>
              <a:rPr lang="es-ES" sz="2800" u="sng" dirty="0" smtClean="0"/>
              <a:t>Sobrevida maternofetal vinculada al diagnostico y tratamiento precoz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65344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398585"/>
            <a:ext cx="8911687" cy="1078523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Fisiopatología: la conexión Feto materno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477108"/>
            <a:ext cx="8915400" cy="5380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u="sng" dirty="0" smtClean="0"/>
              <a:t>Defecto enzimático mitocondrial central</a:t>
            </a:r>
            <a:r>
              <a:rPr lang="es-ES" sz="2000" dirty="0" smtClean="0"/>
              <a:t>:</a:t>
            </a:r>
          </a:p>
          <a:p>
            <a:r>
              <a:rPr lang="es-ES" sz="2000" dirty="0" smtClean="0"/>
              <a:t>Deficiencia fetal de la enzima LCHAD (Deshidrogenasa de 3 –hidroxiacil-CoA de cadena larga)</a:t>
            </a:r>
          </a:p>
          <a:p>
            <a:r>
              <a:rPr lang="es-ES" sz="2000" dirty="0" smtClean="0"/>
              <a:t>Mutación autosómica recesiva más común: G1528C</a:t>
            </a:r>
          </a:p>
          <a:p>
            <a:pPr marL="0" indent="0">
              <a:buNone/>
            </a:pPr>
            <a:r>
              <a:rPr lang="es-ES" sz="2000" u="sng" dirty="0" smtClean="0"/>
              <a:t>Mecanismo de toxicidad</a:t>
            </a:r>
            <a:r>
              <a:rPr lang="es-ES" sz="2000" dirty="0" smtClean="0"/>
              <a:t>: </a:t>
            </a:r>
          </a:p>
          <a:p>
            <a:pPr>
              <a:buFont typeface="+mj-lt"/>
              <a:buAutoNum type="arabicPeriod"/>
            </a:pPr>
            <a:r>
              <a:rPr lang="es-ES" sz="2000" dirty="0" smtClean="0"/>
              <a:t>El feto (homocigota) no puede oxidar los ácidos grasos de cadena larga.</a:t>
            </a:r>
          </a:p>
          <a:p>
            <a:pPr>
              <a:buFont typeface="+mj-lt"/>
              <a:buAutoNum type="arabicPeriod"/>
            </a:pPr>
            <a:r>
              <a:rPr lang="es-ES" sz="2000" dirty="0" smtClean="0"/>
              <a:t>Se acumulan intermediaros lipídicos hepatotóxicos que ingresan a la circulación materna,</a:t>
            </a:r>
          </a:p>
          <a:p>
            <a:pPr>
              <a:buFont typeface="+mj-lt"/>
              <a:buAutoNum type="arabicPeriod"/>
            </a:pPr>
            <a:r>
              <a:rPr lang="es-ES" sz="2000" dirty="0" smtClean="0"/>
              <a:t>La madre (heterocigota portadora) sufre una sobrecarga mitocondrial extrema.</a:t>
            </a:r>
          </a:p>
          <a:p>
            <a:pPr marL="0" indent="0">
              <a:buNone/>
            </a:pPr>
            <a:r>
              <a:rPr lang="es-ES" sz="2000" b="1" dirty="0" smtClean="0">
                <a:solidFill>
                  <a:srgbClr val="FF0000"/>
                </a:solidFill>
              </a:rPr>
              <a:t>Resultando: estrés oxidativo, esteatosis microvesicular masiva e insuficiencia hepática aguda</a:t>
            </a:r>
            <a:r>
              <a:rPr lang="es-E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201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32338"/>
          </a:xfrm>
        </p:spPr>
        <p:txBody>
          <a:bodyPr/>
          <a:lstStyle/>
          <a:p>
            <a:pPr algn="ctr"/>
            <a:r>
              <a:rPr lang="es-ES" b="1" dirty="0" smtClean="0"/>
              <a:t>              Histología </a:t>
            </a:r>
            <a:endParaRPr lang="en-US" b="1" dirty="0"/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875199"/>
          </a:xfrm>
        </p:spPr>
        <p:txBody>
          <a:bodyPr>
            <a:normAutofit/>
          </a:bodyPr>
          <a:lstStyle/>
          <a:p>
            <a:r>
              <a:rPr lang="es-ES" sz="2400" dirty="0" smtClean="0"/>
              <a:t>Metamorfosis adiposa aguda</a:t>
            </a:r>
          </a:p>
          <a:p>
            <a:r>
              <a:rPr lang="es-ES" sz="2400" dirty="0" smtClean="0"/>
              <a:t>Acumulación de grasa microvesicular, desplaza la función de los hepatocitos, respeta zona </a:t>
            </a:r>
            <a:r>
              <a:rPr lang="es-ES" sz="2400" dirty="0" err="1" smtClean="0"/>
              <a:t>periportal</a:t>
            </a:r>
            <a:r>
              <a:rPr lang="es-ES" sz="2400" dirty="0" smtClean="0"/>
              <a:t>.</a:t>
            </a:r>
          </a:p>
          <a:p>
            <a:r>
              <a:rPr lang="es-ES" sz="2400" dirty="0" smtClean="0"/>
              <a:t>Hígado pequeño, blanco  o amarillento</a:t>
            </a:r>
          </a:p>
          <a:p>
            <a:r>
              <a:rPr lang="es-ES" sz="2400" dirty="0" smtClean="0"/>
              <a:t>Hepatocito tumefactos con el citoplasma lleno de inclusiones lipídicas casi sin necrosis</a:t>
            </a:r>
            <a:endParaRPr lang="en-U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type="body" sz="half" idx="2"/>
          </p:nvPr>
        </p:nvSpPr>
        <p:spPr>
          <a:xfrm>
            <a:off x="839788" y="1570892"/>
            <a:ext cx="3932237" cy="4298096"/>
          </a:xfrm>
        </p:spPr>
        <p:txBody>
          <a:bodyPr/>
          <a:lstStyle/>
          <a:p>
            <a:r>
              <a:rPr lang="es-ES" dirty="0" smtClean="0"/>
              <a:t>Gold </a:t>
            </a:r>
            <a:r>
              <a:rPr lang="es-ES" dirty="0" err="1" smtClean="0"/>
              <a:t>stantard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40" y="2101311"/>
            <a:ext cx="3633531" cy="32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7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Factores de riesgo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N</a:t>
            </a:r>
            <a:r>
              <a:rPr lang="es-ES" sz="2800" dirty="0" smtClean="0"/>
              <a:t>ulíparas (67%)</a:t>
            </a:r>
          </a:p>
          <a:p>
            <a:r>
              <a:rPr lang="es-ES" sz="2800" dirty="0" smtClean="0"/>
              <a:t>Feto de sexo masculino (60%)</a:t>
            </a:r>
          </a:p>
          <a:p>
            <a:r>
              <a:rPr lang="es-ES" sz="2800" dirty="0" smtClean="0"/>
              <a:t>Embarazos múltiples (15%)</a:t>
            </a:r>
          </a:p>
          <a:p>
            <a:r>
              <a:rPr lang="es-ES" sz="2800" dirty="0" smtClean="0"/>
              <a:t>Mujeres con IMC bajo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1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Diagnóstico Clínica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336431"/>
            <a:ext cx="8915400" cy="53029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u="sng" dirty="0" smtClean="0"/>
              <a:t>Síntomas iniciales</a:t>
            </a:r>
            <a:r>
              <a:rPr lang="es-ES" sz="2400" dirty="0" smtClean="0"/>
              <a:t>:</a:t>
            </a:r>
          </a:p>
          <a:p>
            <a:r>
              <a:rPr lang="es-ES" sz="2400" dirty="0" smtClean="0"/>
              <a:t>Náuseas </a:t>
            </a:r>
            <a:r>
              <a:rPr lang="es-ES" sz="2400" dirty="0"/>
              <a:t>(75</a:t>
            </a:r>
            <a:r>
              <a:rPr lang="es-ES" sz="2400" dirty="0" smtClean="0"/>
              <a:t>%) y Vómitos persistente </a:t>
            </a:r>
          </a:p>
          <a:p>
            <a:r>
              <a:rPr lang="es-ES" sz="2400" dirty="0" smtClean="0"/>
              <a:t>Deterioro del estado general, Anorexia</a:t>
            </a:r>
          </a:p>
          <a:p>
            <a:pPr marL="0" indent="0">
              <a:buNone/>
            </a:pPr>
            <a:r>
              <a:rPr lang="es-ES" sz="2400" u="sng" dirty="0" smtClean="0"/>
              <a:t>Evolución del cuadro</a:t>
            </a:r>
            <a:r>
              <a:rPr lang="es-ES" sz="2400" dirty="0" smtClean="0"/>
              <a:t>:</a:t>
            </a:r>
          </a:p>
          <a:p>
            <a:r>
              <a:rPr lang="es-ES" sz="2400" dirty="0" smtClean="0"/>
              <a:t>Epigastralgia (50%)</a:t>
            </a:r>
          </a:p>
          <a:p>
            <a:r>
              <a:rPr lang="es-ES" sz="2400" dirty="0" smtClean="0"/>
              <a:t>Ictericia progresiva</a:t>
            </a:r>
          </a:p>
          <a:p>
            <a:r>
              <a:rPr lang="es-ES" sz="2400" dirty="0" smtClean="0"/>
              <a:t>Poliuria y polidipsia secundaria a DBT insípida</a:t>
            </a:r>
          </a:p>
          <a:p>
            <a:r>
              <a:rPr lang="es-ES" sz="2400" dirty="0" smtClean="0"/>
              <a:t>(50%) pueden presentar HTA y edemas</a:t>
            </a:r>
          </a:p>
          <a:p>
            <a:pPr marL="0" indent="0">
              <a:buNone/>
            </a:pPr>
            <a:r>
              <a:rPr lang="es-ES" sz="2400" u="sng" dirty="0" smtClean="0"/>
              <a:t>Encefalopatía hepática:</a:t>
            </a:r>
            <a:endParaRPr lang="es-ES" sz="2400" u="sng" dirty="0"/>
          </a:p>
          <a:p>
            <a:r>
              <a:rPr lang="es-ES" sz="2400" dirty="0"/>
              <a:t>l</a:t>
            </a:r>
            <a:r>
              <a:rPr lang="es-ES" sz="2400" dirty="0" smtClean="0"/>
              <a:t>etargo</a:t>
            </a:r>
            <a:r>
              <a:rPr lang="es-ES" sz="2400" dirty="0"/>
              <a:t>, confusión por encefalopatía (signo de alarma máxima</a:t>
            </a:r>
            <a:r>
              <a:rPr lang="es-E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15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Alteración del laboratorio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563757"/>
            <a:ext cx="8915400" cy="4982817"/>
          </a:xfrm>
        </p:spPr>
        <p:txBody>
          <a:bodyPr>
            <a:noAutofit/>
          </a:bodyPr>
          <a:lstStyle/>
          <a:p>
            <a:r>
              <a:rPr lang="es-ES" sz="2400" dirty="0" smtClean="0"/>
              <a:t>Disfunción hepática severa: </a:t>
            </a:r>
          </a:p>
          <a:p>
            <a:r>
              <a:rPr lang="es-ES" sz="2400" b="1" dirty="0" err="1" smtClean="0">
                <a:solidFill>
                  <a:srgbClr val="FF0000"/>
                </a:solidFill>
              </a:rPr>
              <a:t>Hipofibrinogenemia</a:t>
            </a:r>
            <a:endParaRPr lang="es-ES" sz="2400" b="1" dirty="0" smtClean="0">
              <a:solidFill>
                <a:srgbClr val="FF0000"/>
              </a:solidFill>
            </a:endParaRPr>
          </a:p>
          <a:p>
            <a:r>
              <a:rPr lang="es-ES" sz="2400" b="1" dirty="0" smtClean="0">
                <a:solidFill>
                  <a:srgbClr val="FF0000"/>
                </a:solidFill>
              </a:rPr>
              <a:t>Hipoalbuminemia</a:t>
            </a:r>
          </a:p>
          <a:p>
            <a:r>
              <a:rPr lang="es-ES" sz="2400" b="1" dirty="0" smtClean="0">
                <a:solidFill>
                  <a:srgbClr val="FF0000"/>
                </a:solidFill>
              </a:rPr>
              <a:t>Coagulograma alterado</a:t>
            </a:r>
          </a:p>
          <a:p>
            <a:r>
              <a:rPr lang="es-ES" sz="2400" b="1" dirty="0" smtClean="0">
                <a:solidFill>
                  <a:srgbClr val="FF0000"/>
                </a:solidFill>
              </a:rPr>
              <a:t>Hipoglucemia severa</a:t>
            </a:r>
          </a:p>
          <a:p>
            <a:r>
              <a:rPr lang="es-ES" sz="2400" dirty="0" smtClean="0"/>
              <a:t>Hipocolesterolemia</a:t>
            </a:r>
          </a:p>
          <a:p>
            <a:r>
              <a:rPr lang="es-ES" sz="2400" dirty="0" err="1" smtClean="0"/>
              <a:t>Hiperbilirrubinemia</a:t>
            </a:r>
            <a:r>
              <a:rPr lang="es-ES" sz="2400" dirty="0" smtClean="0"/>
              <a:t> (&lt;10mg/dl)</a:t>
            </a:r>
          </a:p>
          <a:p>
            <a:r>
              <a:rPr lang="es-ES" sz="2400" dirty="0" smtClean="0"/>
              <a:t>Aumento moderado de transaminasas (300-500)</a:t>
            </a:r>
          </a:p>
          <a:p>
            <a:r>
              <a:rPr lang="es-ES" sz="2400" dirty="0" smtClean="0"/>
              <a:t>Deterioro renal (</a:t>
            </a:r>
            <a:r>
              <a:rPr lang="es-ES" sz="2400" dirty="0" err="1" smtClean="0"/>
              <a:t>ac</a:t>
            </a:r>
            <a:r>
              <a:rPr lang="es-ES" sz="2400" dirty="0" smtClean="0"/>
              <a:t>. Úrico; &gt;5,7 mg/dl, </a:t>
            </a:r>
            <a:r>
              <a:rPr lang="es-ES" sz="2400" dirty="0" err="1" smtClean="0"/>
              <a:t>Creat</a:t>
            </a:r>
            <a:r>
              <a:rPr lang="es-ES" sz="2400" dirty="0" smtClean="0"/>
              <a:t>; &gt;1,7 mg/dl</a:t>
            </a:r>
          </a:p>
          <a:p>
            <a:r>
              <a:rPr lang="es-ES" sz="2400" dirty="0" smtClean="0"/>
              <a:t>Acidosis metabólico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542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Diagnóstico por imágenes 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425148"/>
            <a:ext cx="8915400" cy="3882886"/>
          </a:xfrm>
        </p:spPr>
        <p:txBody>
          <a:bodyPr>
            <a:normAutofit/>
          </a:bodyPr>
          <a:lstStyle/>
          <a:p>
            <a:r>
              <a:rPr lang="es-ES" sz="2800" dirty="0" smtClean="0"/>
              <a:t>La ecografía tiene baja sensibilidad para detectar esteatosis hepática, tienen mejor detección la TAC y RMN</a:t>
            </a:r>
          </a:p>
          <a:p>
            <a:r>
              <a:rPr lang="es-ES" sz="2800" dirty="0" smtClean="0"/>
              <a:t>La ausencia de alteración en las imágenes no desestima el diagnostico</a:t>
            </a:r>
          </a:p>
          <a:p>
            <a:r>
              <a:rPr lang="es-ES" sz="2800" dirty="0" smtClean="0"/>
              <a:t>Hematomas</a:t>
            </a:r>
          </a:p>
          <a:p>
            <a:r>
              <a:rPr lang="es-ES" sz="2800" dirty="0" smtClean="0"/>
              <a:t>Líquido libre intraperitoneal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304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Tratamiento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800" u="sng" dirty="0" smtClean="0"/>
              <a:t>Estabilización materna</a:t>
            </a:r>
            <a:r>
              <a:rPr lang="es-ES" sz="2800" dirty="0" smtClean="0"/>
              <a:t>: </a:t>
            </a:r>
          </a:p>
          <a:p>
            <a:r>
              <a:rPr lang="es-ES" sz="2800" dirty="0" smtClean="0"/>
              <a:t>Corrección de hipoglucemia con infusión continua de glucosa hipertónica.</a:t>
            </a:r>
          </a:p>
          <a:p>
            <a:r>
              <a:rPr lang="es-ES" sz="2800" dirty="0" smtClean="0"/>
              <a:t>Reposición de hemocomponentes (plasma fresco congelados, plaquetas, </a:t>
            </a:r>
            <a:r>
              <a:rPr lang="es-ES" sz="2800" dirty="0" err="1" smtClean="0"/>
              <a:t>crioprecipitados</a:t>
            </a:r>
            <a:r>
              <a:rPr lang="es-ES" sz="2800" dirty="0" smtClean="0"/>
              <a:t>)</a:t>
            </a:r>
          </a:p>
          <a:p>
            <a:r>
              <a:rPr lang="es-ES" sz="2800" dirty="0" smtClean="0"/>
              <a:t>Vigilancia estrecha de la función hepático y renal.</a:t>
            </a:r>
          </a:p>
          <a:p>
            <a:endParaRPr lang="es-E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Finalización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722783"/>
            <a:ext cx="8915400" cy="4467002"/>
          </a:xfrm>
        </p:spPr>
        <p:txBody>
          <a:bodyPr>
            <a:normAutofit/>
          </a:bodyPr>
          <a:lstStyle/>
          <a:p>
            <a:r>
              <a:rPr lang="es-ES" dirty="0" smtClean="0"/>
              <a:t>La finalización del embarazo detiene la progresión del cuadro </a:t>
            </a:r>
          </a:p>
          <a:p>
            <a:r>
              <a:rPr lang="es-ES" dirty="0" smtClean="0"/>
              <a:t>La vía de parto se decide en base al estado general de la paciente, la edad gestacional fetal, condiciones obstétricas  ( presentación fetal, grado de bishop, vitalidad fetal)</a:t>
            </a:r>
          </a:p>
          <a:p>
            <a:r>
              <a:rPr lang="es-ES" u="sng" dirty="0" smtClean="0"/>
              <a:t>PARTO VAGINAL</a:t>
            </a:r>
            <a:r>
              <a:rPr lang="es-ES" dirty="0" smtClean="0"/>
              <a:t>:  </a:t>
            </a:r>
          </a:p>
          <a:p>
            <a:r>
              <a:rPr lang="es-ES" dirty="0" smtClean="0"/>
              <a:t>condiciones favorables para desencadenar el parto en las próximas horas</a:t>
            </a:r>
          </a:p>
          <a:p>
            <a:r>
              <a:rPr lang="es-ES" dirty="0" smtClean="0"/>
              <a:t>Preferible por menor riesgo de hemorragias e infecciones</a:t>
            </a:r>
          </a:p>
          <a:p>
            <a:r>
              <a:rPr lang="es-ES" dirty="0" smtClean="0"/>
              <a:t>Vigilancia permanente de la vitalidad fetal</a:t>
            </a:r>
          </a:p>
          <a:p>
            <a:r>
              <a:rPr lang="es-ES" u="sng" dirty="0" smtClean="0"/>
              <a:t>PARTO POR CESAREA</a:t>
            </a:r>
            <a:r>
              <a:rPr lang="es-ES" dirty="0" smtClean="0"/>
              <a:t>: </a:t>
            </a:r>
          </a:p>
          <a:p>
            <a:r>
              <a:rPr lang="es-ES" dirty="0" smtClean="0"/>
              <a:t>Más rápida</a:t>
            </a:r>
          </a:p>
          <a:p>
            <a:r>
              <a:rPr lang="es-ES" dirty="0" smtClean="0"/>
              <a:t>Vigilar coagulopatía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9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Resolución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 smtClean="0"/>
              <a:t>El proceso comienza a mejorar 2 o 3 días postparto, revierte en 7 a 10 días</a:t>
            </a:r>
          </a:p>
          <a:p>
            <a:r>
              <a:rPr lang="es-ES" sz="2800" dirty="0" smtClean="0"/>
              <a:t>La recuperación sin secuelas depende del manejo intensivo en unidades de alta complejidad </a:t>
            </a:r>
          </a:p>
        </p:txBody>
      </p:sp>
    </p:spTree>
    <p:extLst>
      <p:ext uri="{BB962C8B-B14F-4D97-AF65-F5344CB8AC3E}">
        <p14:creationId xmlns:p14="http://schemas.microsoft.com/office/powerpoint/2010/main" val="370146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Consejería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2800" u="sng" dirty="0"/>
              <a:t>Tamizaje del Recién Nacido</a:t>
            </a:r>
            <a:r>
              <a:rPr lang="es-ES" sz="2800" dirty="0"/>
              <a:t>: test genético molecular para </a:t>
            </a:r>
            <a:r>
              <a:rPr lang="es-ES" sz="2800" dirty="0" smtClean="0"/>
              <a:t>LCHAD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u="sng" dirty="0" smtClean="0"/>
              <a:t>Materno</a:t>
            </a:r>
            <a:r>
              <a:rPr lang="es-ES" sz="2800" dirty="0" smtClean="0"/>
              <a:t>: consejería genética, por presentar recurrencia materna de un 10 a 20 % en gestaciones posteriores</a:t>
            </a:r>
            <a:endParaRPr lang="es-ES" sz="2800" dirty="0"/>
          </a:p>
          <a:p>
            <a:r>
              <a:rPr lang="es-ES" sz="2800" dirty="0"/>
              <a:t>Si la función hepática es normal se debe realizar consejería para MAC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46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Complicaciones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041913"/>
          </a:xfrm>
        </p:spPr>
        <p:txBody>
          <a:bodyPr>
            <a:noAutofit/>
          </a:bodyPr>
          <a:lstStyle/>
          <a:p>
            <a:r>
              <a:rPr lang="es-ES" sz="2800" dirty="0" smtClean="0"/>
              <a:t>Edema cerebral, deterioro neurológico</a:t>
            </a:r>
          </a:p>
          <a:p>
            <a:r>
              <a:rPr lang="es-ES" sz="2800" dirty="0" smtClean="0"/>
              <a:t>Insuficiencia renal (60%)</a:t>
            </a:r>
          </a:p>
          <a:p>
            <a:r>
              <a:rPr lang="es-ES" sz="2800" dirty="0" smtClean="0"/>
              <a:t>Hipoglucemia (53%)</a:t>
            </a:r>
          </a:p>
          <a:p>
            <a:r>
              <a:rPr lang="es-ES" sz="2800" dirty="0" smtClean="0"/>
              <a:t>Infecciones (45%)</a:t>
            </a:r>
          </a:p>
          <a:p>
            <a:r>
              <a:rPr lang="es-ES" sz="2800" dirty="0" smtClean="0"/>
              <a:t>Hemorragia gastrointestinales (33%)</a:t>
            </a:r>
          </a:p>
          <a:p>
            <a:r>
              <a:rPr lang="es-ES" sz="2800" dirty="0" smtClean="0"/>
              <a:t>Coagulopatía (30%)</a:t>
            </a:r>
          </a:p>
          <a:p>
            <a:r>
              <a:rPr lang="es-ES" sz="2800" dirty="0" smtClean="0"/>
              <a:t>Hemorragia puerperal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8062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968150"/>
              </p:ext>
            </p:extLst>
          </p:nvPr>
        </p:nvGraphicFramePr>
        <p:xfrm>
          <a:off x="1359877" y="1406771"/>
          <a:ext cx="10144736" cy="45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6184">
                  <a:extLst>
                    <a:ext uri="{9D8B030D-6E8A-4147-A177-3AD203B41FA5}">
                      <a16:colId xmlns:a16="http://schemas.microsoft.com/office/drawing/2014/main" val="722519154"/>
                    </a:ext>
                  </a:extLst>
                </a:gridCol>
                <a:gridCol w="2536184">
                  <a:extLst>
                    <a:ext uri="{9D8B030D-6E8A-4147-A177-3AD203B41FA5}">
                      <a16:colId xmlns:a16="http://schemas.microsoft.com/office/drawing/2014/main" val="1824717143"/>
                    </a:ext>
                  </a:extLst>
                </a:gridCol>
                <a:gridCol w="2536184">
                  <a:extLst>
                    <a:ext uri="{9D8B030D-6E8A-4147-A177-3AD203B41FA5}">
                      <a16:colId xmlns:a16="http://schemas.microsoft.com/office/drawing/2014/main" val="1384294430"/>
                    </a:ext>
                  </a:extLst>
                </a:gridCol>
                <a:gridCol w="2536184">
                  <a:extLst>
                    <a:ext uri="{9D8B030D-6E8A-4147-A177-3AD203B41FA5}">
                      <a16:colId xmlns:a16="http://schemas.microsoft.com/office/drawing/2014/main" val="3588687088"/>
                    </a:ext>
                  </a:extLst>
                </a:gridCol>
              </a:tblGrid>
              <a:tr h="440931">
                <a:tc>
                  <a:txBody>
                    <a:bodyPr/>
                    <a:lstStyle/>
                    <a:p>
                      <a:r>
                        <a:rPr lang="es-ES" dirty="0" smtClean="0"/>
                        <a:t>Características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HGAE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HELLP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COLESTASIS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84123"/>
                  </a:ext>
                </a:extLst>
              </a:tr>
              <a:tr h="1087226">
                <a:tc>
                  <a:txBody>
                    <a:bodyPr/>
                    <a:lstStyle/>
                    <a:p>
                      <a:r>
                        <a:rPr lang="es-ES" dirty="0" smtClean="0"/>
                        <a:t>Síntoma principal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Vómitos</a:t>
                      </a:r>
                    </a:p>
                    <a:p>
                      <a:r>
                        <a:rPr lang="es-ES" dirty="0" smtClean="0"/>
                        <a:t>Alteración del sensorio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Dolor epigástrico</a:t>
                      </a:r>
                    </a:p>
                    <a:p>
                      <a:r>
                        <a:rPr lang="es-ES" dirty="0" smtClean="0"/>
                        <a:t>Hipertensión arterial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Prurito palmo plantar nocturno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92670"/>
                  </a:ext>
                </a:extLst>
              </a:tr>
              <a:tr h="761058">
                <a:tc>
                  <a:txBody>
                    <a:bodyPr/>
                    <a:lstStyle/>
                    <a:p>
                      <a:r>
                        <a:rPr lang="es-ES" dirty="0" smtClean="0"/>
                        <a:t>Hipoglucemia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Frecuente y muy severo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Extremadamente</a:t>
                      </a:r>
                      <a:r>
                        <a:rPr lang="es-ES" baseline="0" dirty="0" smtClean="0"/>
                        <a:t> raro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Ausente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213503"/>
                  </a:ext>
                </a:extLst>
              </a:tr>
              <a:tr h="761058">
                <a:tc>
                  <a:txBody>
                    <a:bodyPr/>
                    <a:lstStyle/>
                    <a:p>
                      <a:r>
                        <a:rPr lang="es-ES" dirty="0" smtClean="0"/>
                        <a:t>Coagulopatía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Prolongado (temprano)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Normal</a:t>
                      </a:r>
                    </a:p>
                    <a:p>
                      <a:r>
                        <a:rPr lang="es-ES" dirty="0" smtClean="0"/>
                        <a:t>(salvo CID)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255234"/>
                  </a:ext>
                </a:extLst>
              </a:tr>
              <a:tr h="761058">
                <a:tc>
                  <a:txBody>
                    <a:bodyPr/>
                    <a:lstStyle/>
                    <a:p>
                      <a:r>
                        <a:rPr lang="es-ES" dirty="0" smtClean="0"/>
                        <a:t>Plaquetas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Levemente bajas o normales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Trombocitopenia severa (&lt;50</a:t>
                      </a:r>
                      <a:r>
                        <a:rPr lang="es-ES" baseline="0" dirty="0" smtClean="0"/>
                        <a:t> mil)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Normales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98997"/>
                  </a:ext>
                </a:extLst>
              </a:tr>
              <a:tr h="761058">
                <a:tc>
                  <a:txBody>
                    <a:bodyPr/>
                    <a:lstStyle/>
                    <a:p>
                      <a:r>
                        <a:rPr lang="es-ES" dirty="0" smtClean="0"/>
                        <a:t>Ácidos biliares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Moderadamente elevados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Normal / leve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Marcadamente elevados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72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43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2158" y="1401417"/>
            <a:ext cx="5200142" cy="445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211</TotalTime>
  <Words>666</Words>
  <Application>Microsoft Office PowerPoint</Application>
  <PresentationFormat>Panorámica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Espiral</vt:lpstr>
      <vt:lpstr>Hígado Graso Agudo del Embarazo (HGAE)</vt:lpstr>
      <vt:lpstr>Definición </vt:lpstr>
      <vt:lpstr>Generalidades y epidemiologia</vt:lpstr>
      <vt:lpstr>Fisiopatología: la conexión Feto materno</vt:lpstr>
      <vt:lpstr>              Histología </vt:lpstr>
      <vt:lpstr>Factores de riesgo</vt:lpstr>
      <vt:lpstr>Diagnóstico Clínica</vt:lpstr>
      <vt:lpstr>Alteración del laboratorio</vt:lpstr>
      <vt:lpstr>Diagnóstico por imágenes  </vt:lpstr>
      <vt:lpstr>Tratamiento </vt:lpstr>
      <vt:lpstr>Finalización </vt:lpstr>
      <vt:lpstr>Resolución </vt:lpstr>
      <vt:lpstr>Consejería </vt:lpstr>
      <vt:lpstr>Complicaciones </vt:lpstr>
      <vt:lpstr>Presentación de PowerPoint</vt:lpstr>
      <vt:lpstr>Presentación de PowerPoint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Hígado graso agudo del embarazo (HGAE)</dc:title>
  <dc:creator>Alejandra Gonzalez</dc:creator>
  <cp:lastModifiedBy>Alejandra Gonzalez</cp:lastModifiedBy>
  <cp:revision>53</cp:revision>
  <dcterms:created xsi:type="dcterms:W3CDTF">2026-09-16T00:24:49Z</dcterms:created>
  <dcterms:modified xsi:type="dcterms:W3CDTF">2026-09-16T12:40:03Z</dcterms:modified>
</cp:coreProperties>
</file>