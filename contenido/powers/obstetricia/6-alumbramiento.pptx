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1" d="100"/>
          <a:sy n="61" d="100"/>
        </p:scale>
        <p:origin x="12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7DA38F49-B3E2-4BF0-BEC7-C30D34ABBB8D}" type="datetime1">
              <a:rPr lang="en-US" smtClean="0"/>
              <a:t>8/26/2026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400397886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3"/>
          <p:cNvSpPr>
            <a:spLocks noGrp="1"/>
          </p:cNvSpPr>
          <p:nvPr>
            <p:ph type="dt" sz="half" idx="10"/>
          </p:nvPr>
        </p:nvSpPr>
        <p:spPr/>
        <p:txBody>
          <a:bodyPr/>
          <a:lstStyle/>
          <a:p>
            <a:fld id="{7DA38F49-B3E2-4BF0-BEC7-C30D34ABBB8D}" type="datetime1">
              <a:rPr lang="en-US" smtClean="0"/>
              <a:t>8/26/2026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28382600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DA38F49-B3E2-4BF0-BEC7-C30D34ABBB8D}" type="datetime1">
              <a:rPr lang="en-US" smtClean="0"/>
              <a:t>8/26/2026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187578494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7DA38F49-B3E2-4BF0-BEC7-C30D34ABBB8D}" type="datetime1">
              <a:rPr lang="en-US" smtClean="0"/>
              <a:t>8/26/2026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104846116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DA38F49-B3E2-4BF0-BEC7-C30D34ABBB8D}" type="datetime1">
              <a:rPr lang="en-US" smtClean="0"/>
              <a:t>8/26/2026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61360140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7DA38F49-B3E2-4BF0-BEC7-C30D34ABBB8D}" type="datetime1">
              <a:rPr lang="en-US" smtClean="0"/>
              <a:t>8/26/2026</a:t>
            </a:fld>
            <a:endParaRPr lang="en-US"/>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412658212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DA38F49-B3E2-4BF0-BEC7-C30D34ABBB8D}" type="datetime1">
              <a:rPr lang="en-US" smtClean="0"/>
              <a:t>8/26/2026</a:t>
            </a:fld>
            <a:endParaRPr lang="en-US"/>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415180811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p:cNvSpPr>
            <a:spLocks noGrp="1"/>
          </p:cNvSpPr>
          <p:nvPr>
            <p:ph type="dt" sz="half" idx="10"/>
          </p:nvPr>
        </p:nvSpPr>
        <p:spPr/>
        <p:txBody>
          <a:bodyPr/>
          <a:lstStyle/>
          <a:p>
            <a:fld id="{7DA38F49-B3E2-4BF0-BEC7-C30D34ABBB8D}" type="datetime1">
              <a:rPr lang="en-US" smtClean="0"/>
              <a:t>8/26/2026</a:t>
            </a:fld>
            <a:endParaRPr lang="en-US"/>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41872877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DA38F49-B3E2-4BF0-BEC7-C30D34ABBB8D}" type="datetime1">
              <a:rPr lang="en-US" smtClean="0"/>
              <a:t>8/26/2026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252892642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DA38F49-B3E2-4BF0-BEC7-C30D34ABBB8D}" type="datetime1">
              <a:rPr lang="en-US" smtClean="0"/>
              <a:t>8/26/2026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149334179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DA38F49-B3E2-4BF0-BEC7-C30D34ABBB8D}" type="datetime1">
              <a:rPr lang="en-US" smtClean="0"/>
              <a:t>8/26/2026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291480659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a:t>Haga clic para modificar los estilos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DA38F49-B3E2-4BF0-BEC7-C30D34ABBB8D}" type="datetime1">
              <a:rPr lang="en-US" smtClean="0"/>
              <a:t>8/26/2026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‹Nº›</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70971715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DA38F49-B3E2-4BF0-BEC7-C30D34ABBB8D}" type="datetime1">
              <a:rPr lang="en-US" smtClean="0"/>
              <a:t>8/26/2026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187284631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DA38F49-B3E2-4BF0-BEC7-C30D34ABBB8D}" type="datetime1">
              <a:rPr lang="en-US" smtClean="0"/>
              <a:t>8/26/2026</a:t>
            </a:fld>
            <a:endParaRPr lang="en-US"/>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174526502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DA38F49-B3E2-4BF0-BEC7-C30D34ABBB8D}" type="datetime1">
              <a:rPr lang="en-US" smtClean="0"/>
              <a:t>8/26/2026</a:t>
            </a:fld>
            <a:endParaRPr lang="en-US"/>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0999367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DA38F49-B3E2-4BF0-BEC7-C30D34ABBB8D}" type="datetime1">
              <a:rPr lang="en-US" smtClean="0"/>
              <a:t>8/26/2026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22011881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DA38F49-B3E2-4BF0-BEC7-C30D34ABBB8D}" type="datetime1">
              <a:rPr lang="en-US" smtClean="0"/>
              <a:t>8/26/2026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225787599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DA38F49-B3E2-4BF0-BEC7-C30D34ABBB8D}" type="datetime1">
              <a:rPr lang="en-US" smtClean="0"/>
              <a:t>8/26/2026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0C12960-6E85-460F-B6E3-5B82CB31AF3D}" type="slidenum">
              <a:rPr lang="en-US" smtClean="0"/>
              <a:t>‹Nº›</a:t>
            </a:fld>
            <a:endParaRPr lang="en-US"/>
          </a:p>
        </p:txBody>
      </p:sp>
    </p:spTree>
    <p:extLst>
      <p:ext uri="{BB962C8B-B14F-4D97-AF65-F5344CB8AC3E}">
        <p14:creationId xmlns:p14="http://schemas.microsoft.com/office/powerpoint/2010/main" val="685312043"/>
      </p:ext>
    </p:extLst>
  </p:cSld>
  <p:clrMap bg1="dk1" tx1="lt1" bg2="dk2" tx2="lt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7.jpe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7CD221E-8101-E0B4-CE4D-FCC14FA16DAA}"/>
              </a:ext>
            </a:extLst>
          </p:cNvPr>
          <p:cNvSpPr>
            <a:spLocks noGrp="1"/>
          </p:cNvSpPr>
          <p:nvPr>
            <p:ph type="ctrTitle"/>
          </p:nvPr>
        </p:nvSpPr>
        <p:spPr>
          <a:xfrm>
            <a:off x="7630510" y="1325880"/>
            <a:ext cx="4382814" cy="3066507"/>
          </a:xfrm>
        </p:spPr>
        <p:txBody>
          <a:bodyPr>
            <a:normAutofit/>
          </a:bodyPr>
          <a:lstStyle/>
          <a:p>
            <a:r>
              <a:rPr lang="es-AR" sz="3000" i="1" u="sng" dirty="0">
                <a:solidFill>
                  <a:srgbClr val="EBEBEB"/>
                </a:solidFill>
              </a:rPr>
              <a:t>ALUMBRAMIENTO Y POSTALUMBRAMIENTO</a:t>
            </a:r>
          </a:p>
        </p:txBody>
      </p:sp>
      <p:sp>
        <p:nvSpPr>
          <p:cNvPr id="3" name="Subtítulo 2">
            <a:extLst>
              <a:ext uri="{FF2B5EF4-FFF2-40B4-BE49-F238E27FC236}">
                <a16:creationId xmlns:a16="http://schemas.microsoft.com/office/drawing/2014/main" id="{35C41D37-7878-AF54-7DD4-08DA3945588B}"/>
              </a:ext>
            </a:extLst>
          </p:cNvPr>
          <p:cNvSpPr>
            <a:spLocks noGrp="1"/>
          </p:cNvSpPr>
          <p:nvPr>
            <p:ph type="subTitle" idx="1"/>
          </p:nvPr>
        </p:nvSpPr>
        <p:spPr>
          <a:xfrm>
            <a:off x="7973137" y="4588329"/>
            <a:ext cx="3571163" cy="1621508"/>
          </a:xfrm>
        </p:spPr>
        <p:txBody>
          <a:bodyPr>
            <a:normAutofit/>
          </a:bodyPr>
          <a:lstStyle/>
          <a:p>
            <a:r>
              <a:rPr lang="es-AR" sz="1800" dirty="0">
                <a:solidFill>
                  <a:schemeClr val="tx2">
                    <a:lumMod val="40000"/>
                    <a:lumOff val="60000"/>
                  </a:schemeClr>
                </a:solidFill>
              </a:rPr>
              <a:t>DR. CRISTIAN FORNARA – CATEDRA DE OBSTETRICIA – UNIVERSIDAD DE MENDOZA – SEDE SAN RAFAEL.</a:t>
            </a:r>
          </a:p>
        </p:txBody>
      </p:sp>
      <p:sp>
        <p:nvSpPr>
          <p:cNvPr id="12"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6"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Imagen 4">
            <a:extLst>
              <a:ext uri="{FF2B5EF4-FFF2-40B4-BE49-F238E27FC236}">
                <a16:creationId xmlns:a16="http://schemas.microsoft.com/office/drawing/2014/main" id="{3BB4297D-886E-2F6E-ED65-9940B9963038}"/>
              </a:ext>
            </a:extLst>
          </p:cNvPr>
          <p:cNvPicPr>
            <a:picLocks noChangeAspect="1"/>
          </p:cNvPicPr>
          <p:nvPr/>
        </p:nvPicPr>
        <p:blipFill>
          <a:blip r:embed="rId3"/>
          <a:srcRect l="14260" r="20962" b="1"/>
          <a:stretch>
            <a:fillRect/>
          </a:stretch>
        </p:blipFill>
        <p:spPr>
          <a:xfrm>
            <a:off x="20" y="10"/>
            <a:ext cx="7759920" cy="6857991"/>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14" name="Rectangle 13">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spTree>
    <p:extLst>
      <p:ext uri="{BB962C8B-B14F-4D97-AF65-F5344CB8AC3E}">
        <p14:creationId xmlns:p14="http://schemas.microsoft.com/office/powerpoint/2010/main" val="399483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0D9B8FD4-CDEB-4EB4-B4DE-C89E11938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7" name="Freeform 36">
            <a:extLst>
              <a:ext uri="{FF2B5EF4-FFF2-40B4-BE49-F238E27FC236}">
                <a16:creationId xmlns:a16="http://schemas.microsoft.com/office/drawing/2014/main" id="{5A2E3D1D-9E9F-4739-BA14-D4D7FA9FB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39" name="Freeform: Shape 38">
            <a:extLst>
              <a:ext uri="{FF2B5EF4-FFF2-40B4-BE49-F238E27FC236}">
                <a16:creationId xmlns:a16="http://schemas.microsoft.com/office/drawing/2014/main" id="{1FFB365B-E9DC-4859-B8AB-CB83EEBE4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ADAB9C8-EB37-4914-A699-C716FC8FE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 name="Título 1">
            <a:extLst>
              <a:ext uri="{FF2B5EF4-FFF2-40B4-BE49-F238E27FC236}">
                <a16:creationId xmlns:a16="http://schemas.microsoft.com/office/drawing/2014/main" id="{6D3B4436-CA39-82AB-2E4F-376236FD2E37}"/>
              </a:ext>
            </a:extLst>
          </p:cNvPr>
          <p:cNvSpPr>
            <a:spLocks noGrp="1"/>
          </p:cNvSpPr>
          <p:nvPr>
            <p:ph type="title"/>
          </p:nvPr>
        </p:nvSpPr>
        <p:spPr>
          <a:xfrm>
            <a:off x="653143" y="1645920"/>
            <a:ext cx="3522879" cy="4470821"/>
          </a:xfrm>
        </p:spPr>
        <p:txBody>
          <a:bodyPr>
            <a:normAutofit/>
          </a:bodyPr>
          <a:lstStyle/>
          <a:p>
            <a:pPr algn="r"/>
            <a:r>
              <a:rPr lang="es-AR" u="sng" dirty="0">
                <a:solidFill>
                  <a:schemeClr val="bg2"/>
                </a:solidFill>
              </a:rPr>
              <a:t>DEFINICIÓN</a:t>
            </a:r>
            <a:r>
              <a:rPr lang="es-AR" dirty="0">
                <a:solidFill>
                  <a:schemeClr val="bg2"/>
                </a:solidFill>
              </a:rPr>
              <a:t>:</a:t>
            </a:r>
          </a:p>
        </p:txBody>
      </p:sp>
      <p:sp>
        <p:nvSpPr>
          <p:cNvPr id="44" name="Marcador de contenido 2">
            <a:extLst>
              <a:ext uri="{FF2B5EF4-FFF2-40B4-BE49-F238E27FC236}">
                <a16:creationId xmlns:a16="http://schemas.microsoft.com/office/drawing/2014/main" id="{9E6B36A6-7AC5-DA4D-5DEB-362162314163}"/>
              </a:ext>
            </a:extLst>
          </p:cNvPr>
          <p:cNvSpPr>
            <a:spLocks noGrp="1"/>
          </p:cNvSpPr>
          <p:nvPr>
            <p:ph idx="1"/>
          </p:nvPr>
        </p:nvSpPr>
        <p:spPr>
          <a:xfrm>
            <a:off x="5204109" y="1645920"/>
            <a:ext cx="6269434" cy="4470821"/>
          </a:xfrm>
        </p:spPr>
        <p:txBody>
          <a:bodyPr>
            <a:normAutofit/>
          </a:bodyPr>
          <a:lstStyle/>
          <a:p>
            <a:r>
              <a:rPr lang="es-AR" dirty="0"/>
              <a:t>TERCER PERÍODO DEL PARTO.</a:t>
            </a:r>
          </a:p>
          <a:p>
            <a:r>
              <a:rPr lang="es-AR" dirty="0"/>
              <a:t>PERÍODO PLACENTARIO</a:t>
            </a:r>
          </a:p>
          <a:p>
            <a:r>
              <a:rPr lang="es-AR" dirty="0"/>
              <a:t>EXPULSIÓN DE LA PLACENTA Y MEMBRANAS OVULARES.</a:t>
            </a:r>
          </a:p>
          <a:p>
            <a:r>
              <a:rPr lang="es-AR" b="1" dirty="0">
                <a:solidFill>
                  <a:schemeClr val="accent3"/>
                </a:solidFill>
              </a:rPr>
              <a:t>HEMORRAGIAS GRAVES SUELEN PRESENTARSE EN ESTE PERÍODO.</a:t>
            </a:r>
          </a:p>
          <a:p>
            <a:endParaRPr lang="es-AR" dirty="0"/>
          </a:p>
        </p:txBody>
      </p:sp>
    </p:spTree>
    <p:extLst>
      <p:ext uri="{BB962C8B-B14F-4D97-AF65-F5344CB8AC3E}">
        <p14:creationId xmlns:p14="http://schemas.microsoft.com/office/powerpoint/2010/main" val="1669626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2B640D-2502-9EFF-AE7A-95A68220D70C}"/>
              </a:ext>
            </a:extLst>
          </p:cNvPr>
          <p:cNvSpPr>
            <a:spLocks noGrp="1"/>
          </p:cNvSpPr>
          <p:nvPr>
            <p:ph type="title"/>
          </p:nvPr>
        </p:nvSpPr>
        <p:spPr>
          <a:xfrm>
            <a:off x="646111" y="452718"/>
            <a:ext cx="9404723" cy="997710"/>
          </a:xfrm>
        </p:spPr>
        <p:txBody>
          <a:bodyPr/>
          <a:lstStyle/>
          <a:p>
            <a:r>
              <a:rPr lang="es-AR" u="sng" dirty="0"/>
              <a:t>FISIOLOGÍA DEL ALUMBRAMIENTO</a:t>
            </a:r>
            <a:r>
              <a:rPr lang="es-AR" dirty="0"/>
              <a:t>:</a:t>
            </a:r>
          </a:p>
        </p:txBody>
      </p:sp>
      <p:sp>
        <p:nvSpPr>
          <p:cNvPr id="3" name="Marcador de texto 2">
            <a:extLst>
              <a:ext uri="{FF2B5EF4-FFF2-40B4-BE49-F238E27FC236}">
                <a16:creationId xmlns:a16="http://schemas.microsoft.com/office/drawing/2014/main" id="{93FBDC38-C133-801E-60B1-95F6F7EF72FE}"/>
              </a:ext>
            </a:extLst>
          </p:cNvPr>
          <p:cNvSpPr>
            <a:spLocks noGrp="1"/>
          </p:cNvSpPr>
          <p:nvPr>
            <p:ph type="body" idx="1"/>
          </p:nvPr>
        </p:nvSpPr>
        <p:spPr>
          <a:xfrm>
            <a:off x="740703" y="1450428"/>
            <a:ext cx="8497890" cy="788275"/>
          </a:xfrm>
        </p:spPr>
        <p:txBody>
          <a:bodyPr/>
          <a:lstStyle/>
          <a:p>
            <a:r>
              <a:rPr lang="es-AR" b="1" u="sng" dirty="0"/>
              <a:t>ETAPAS O TIEMPOS</a:t>
            </a:r>
            <a:r>
              <a:rPr lang="es-AR" dirty="0"/>
              <a:t>:</a:t>
            </a:r>
          </a:p>
        </p:txBody>
      </p:sp>
      <p:sp>
        <p:nvSpPr>
          <p:cNvPr id="4" name="Marcador de contenido 3">
            <a:extLst>
              <a:ext uri="{FF2B5EF4-FFF2-40B4-BE49-F238E27FC236}">
                <a16:creationId xmlns:a16="http://schemas.microsoft.com/office/drawing/2014/main" id="{A06F9FDC-498D-E8DE-7668-FF76BBD82E66}"/>
              </a:ext>
            </a:extLst>
          </p:cNvPr>
          <p:cNvSpPr>
            <a:spLocks noGrp="1"/>
          </p:cNvSpPr>
          <p:nvPr>
            <p:ph sz="half" idx="2"/>
          </p:nvPr>
        </p:nvSpPr>
        <p:spPr>
          <a:xfrm>
            <a:off x="740702" y="3236412"/>
            <a:ext cx="8497890" cy="3019925"/>
          </a:xfrm>
        </p:spPr>
        <p:txBody>
          <a:bodyPr>
            <a:normAutofit/>
          </a:bodyPr>
          <a:lstStyle/>
          <a:p>
            <a:pPr>
              <a:buFont typeface="+mj-lt"/>
              <a:buAutoNum type="arabicPeriod"/>
            </a:pPr>
            <a:r>
              <a:rPr lang="es-AR" sz="2800" dirty="0"/>
              <a:t>DESPRENDIMIENTO DE LA PLACENTA.</a:t>
            </a:r>
          </a:p>
          <a:p>
            <a:pPr>
              <a:buFont typeface="+mj-lt"/>
              <a:buAutoNum type="arabicPeriod"/>
            </a:pPr>
            <a:r>
              <a:rPr lang="es-AR" sz="2800" dirty="0"/>
              <a:t>DESPRENDIMIENTO DE LAS MEMBRANAS OVULARES.</a:t>
            </a:r>
          </a:p>
          <a:p>
            <a:pPr>
              <a:buFont typeface="+mj-lt"/>
              <a:buAutoNum type="arabicPeriod"/>
            </a:pPr>
            <a:r>
              <a:rPr lang="es-AR" sz="2800" dirty="0"/>
              <a:t>DESCENSO.</a:t>
            </a:r>
          </a:p>
          <a:p>
            <a:pPr>
              <a:buFont typeface="+mj-lt"/>
              <a:buAutoNum type="arabicPeriod"/>
            </a:pPr>
            <a:r>
              <a:rPr lang="es-AR" sz="2800" dirty="0"/>
              <a:t>EXPULSIÓN.</a:t>
            </a:r>
          </a:p>
        </p:txBody>
      </p:sp>
      <p:sp>
        <p:nvSpPr>
          <p:cNvPr id="5" name="Marcador de texto 4">
            <a:extLst>
              <a:ext uri="{FF2B5EF4-FFF2-40B4-BE49-F238E27FC236}">
                <a16:creationId xmlns:a16="http://schemas.microsoft.com/office/drawing/2014/main" id="{84FEA57F-BCE9-02BE-6590-08E9A154B3C0}"/>
              </a:ext>
            </a:extLst>
          </p:cNvPr>
          <p:cNvSpPr>
            <a:spLocks noGrp="1"/>
          </p:cNvSpPr>
          <p:nvPr>
            <p:ph type="body" sz="quarter" idx="3"/>
          </p:nvPr>
        </p:nvSpPr>
        <p:spPr>
          <a:xfrm flipH="1">
            <a:off x="10909738" y="1905000"/>
            <a:ext cx="47296" cy="576262"/>
          </a:xfrm>
        </p:spPr>
        <p:txBody>
          <a:bodyPr/>
          <a:lstStyle/>
          <a:p>
            <a:endParaRPr lang="es-AR" dirty="0"/>
          </a:p>
        </p:txBody>
      </p:sp>
      <p:sp>
        <p:nvSpPr>
          <p:cNvPr id="6" name="Marcador de contenido 5">
            <a:extLst>
              <a:ext uri="{FF2B5EF4-FFF2-40B4-BE49-F238E27FC236}">
                <a16:creationId xmlns:a16="http://schemas.microsoft.com/office/drawing/2014/main" id="{29000429-29AA-E9FC-54ED-4C7F270D4055}"/>
              </a:ext>
            </a:extLst>
          </p:cNvPr>
          <p:cNvSpPr>
            <a:spLocks noGrp="1"/>
          </p:cNvSpPr>
          <p:nvPr>
            <p:ph sz="quarter" idx="4"/>
          </p:nvPr>
        </p:nvSpPr>
        <p:spPr>
          <a:xfrm>
            <a:off x="11088688" y="2514600"/>
            <a:ext cx="73296" cy="3741738"/>
          </a:xfrm>
        </p:spPr>
        <p:txBody>
          <a:bodyPr/>
          <a:lstStyle/>
          <a:p>
            <a:endParaRPr lang="es-AR" dirty="0"/>
          </a:p>
        </p:txBody>
      </p:sp>
    </p:spTree>
    <p:extLst>
      <p:ext uri="{BB962C8B-B14F-4D97-AF65-F5344CB8AC3E}">
        <p14:creationId xmlns:p14="http://schemas.microsoft.com/office/powerpoint/2010/main" val="1189080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pic>
        <p:nvPicPr>
          <p:cNvPr id="17" name="Picture 16">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3" name="Rectangle 22">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21D70DC-6D71-CB75-3C07-42C5EE3E90D1}"/>
              </a:ext>
            </a:extLst>
          </p:cNvPr>
          <p:cNvSpPr>
            <a:spLocks noGrp="1"/>
          </p:cNvSpPr>
          <p:nvPr>
            <p:ph type="title"/>
          </p:nvPr>
        </p:nvSpPr>
        <p:spPr>
          <a:xfrm>
            <a:off x="648931" y="629266"/>
            <a:ext cx="4166510" cy="1622321"/>
          </a:xfrm>
        </p:spPr>
        <p:txBody>
          <a:bodyPr vert="horz" lIns="91440" tIns="45720" rIns="91440" bIns="45720" rtlCol="0" anchor="t">
            <a:normAutofit/>
          </a:bodyPr>
          <a:lstStyle/>
          <a:p>
            <a:r>
              <a:rPr lang="en-US" sz="3300" b="0" i="0" u="sng" kern="1200">
                <a:solidFill>
                  <a:srgbClr val="EBEBEB"/>
                </a:solidFill>
                <a:latin typeface="+mj-lt"/>
                <a:ea typeface="+mj-ea"/>
                <a:cs typeface="+mj-cs"/>
              </a:rPr>
              <a:t>DESPRENDIMIENTO</a:t>
            </a:r>
            <a:r>
              <a:rPr lang="en-US" sz="3300" b="0" i="0" kern="1200">
                <a:solidFill>
                  <a:srgbClr val="EBEBEB"/>
                </a:solidFill>
                <a:latin typeface="+mj-lt"/>
                <a:ea typeface="+mj-ea"/>
                <a:cs typeface="+mj-cs"/>
              </a:rPr>
              <a:t>:</a:t>
            </a:r>
          </a:p>
        </p:txBody>
      </p:sp>
      <p:sp>
        <p:nvSpPr>
          <p:cNvPr id="25"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s-AR"/>
          </a:p>
        </p:txBody>
      </p:sp>
      <p:pic>
        <p:nvPicPr>
          <p:cNvPr id="6" name="Marcador de contenido 5">
            <a:extLst>
              <a:ext uri="{FF2B5EF4-FFF2-40B4-BE49-F238E27FC236}">
                <a16:creationId xmlns:a16="http://schemas.microsoft.com/office/drawing/2014/main" id="{14332648-1089-CF04-A9CE-AC7365F6A37F}"/>
              </a:ext>
            </a:extLst>
          </p:cNvPr>
          <p:cNvPicPr>
            <a:picLocks noGrp="1" noChangeAspect="1"/>
          </p:cNvPicPr>
          <p:nvPr>
            <p:ph sz="half" idx="2"/>
          </p:nvPr>
        </p:nvPicPr>
        <p:blipFill>
          <a:blip r:embed="rId6"/>
          <a:stretch/>
        </p:blipFill>
        <p:spPr>
          <a:xfrm>
            <a:off x="6093992" y="1119608"/>
            <a:ext cx="5449889" cy="4618780"/>
          </a:xfrm>
          <a:prstGeom prst="rect">
            <a:avLst/>
          </a:prstGeom>
          <a:effectLst/>
        </p:spPr>
      </p:pic>
      <p:sp>
        <p:nvSpPr>
          <p:cNvPr id="29" name="Rectangle 28">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 name="Marcador de contenido 2">
            <a:extLst>
              <a:ext uri="{FF2B5EF4-FFF2-40B4-BE49-F238E27FC236}">
                <a16:creationId xmlns:a16="http://schemas.microsoft.com/office/drawing/2014/main" id="{4EE4C3DD-1A9B-C77E-F74F-21A141E5EFC8}"/>
              </a:ext>
            </a:extLst>
          </p:cNvPr>
          <p:cNvSpPr>
            <a:spLocks noGrp="1"/>
          </p:cNvSpPr>
          <p:nvPr>
            <p:ph sz="half" idx="1"/>
          </p:nvPr>
        </p:nvSpPr>
        <p:spPr>
          <a:xfrm>
            <a:off x="648931" y="2880853"/>
            <a:ext cx="4166509" cy="2242940"/>
          </a:xfrm>
        </p:spPr>
        <p:txBody>
          <a:bodyPr vert="horz" lIns="91440" tIns="45720" rIns="91440" bIns="45720" rtlCol="0">
            <a:normAutofit/>
          </a:bodyPr>
          <a:lstStyle/>
          <a:p>
            <a:r>
              <a:rPr lang="en-US" sz="2400" dirty="0">
                <a:solidFill>
                  <a:srgbClr val="EBEBEB"/>
                </a:solidFill>
              </a:rPr>
              <a:t>RETRACCIÓN UTERINA.</a:t>
            </a:r>
          </a:p>
          <a:p>
            <a:r>
              <a:rPr lang="en-US" sz="2400" b="1" i="1" dirty="0">
                <a:solidFill>
                  <a:srgbClr val="EBEBEB"/>
                </a:solidFill>
              </a:rPr>
              <a:t>CONTRACCIONES UTERINAS.</a:t>
            </a:r>
          </a:p>
        </p:txBody>
      </p:sp>
    </p:spTree>
    <p:extLst>
      <p:ext uri="{BB962C8B-B14F-4D97-AF65-F5344CB8AC3E}">
        <p14:creationId xmlns:p14="http://schemas.microsoft.com/office/powerpoint/2010/main" val="266895156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383454-3B74-28DC-FC06-0228D780A802}"/>
              </a:ext>
            </a:extLst>
          </p:cNvPr>
          <p:cNvSpPr>
            <a:spLocks noGrp="1"/>
          </p:cNvSpPr>
          <p:nvPr>
            <p:ph type="title"/>
          </p:nvPr>
        </p:nvSpPr>
        <p:spPr>
          <a:xfrm>
            <a:off x="646111" y="452718"/>
            <a:ext cx="9759130" cy="1400530"/>
          </a:xfrm>
        </p:spPr>
        <p:txBody>
          <a:bodyPr/>
          <a:lstStyle/>
          <a:p>
            <a:r>
              <a:rPr lang="es-AR" u="sng" dirty="0"/>
              <a:t>MECANISMOS DE DESPRENDIMIENTO</a:t>
            </a:r>
            <a:r>
              <a:rPr lang="es-AR" dirty="0"/>
              <a:t>:</a:t>
            </a:r>
          </a:p>
        </p:txBody>
      </p:sp>
      <p:pic>
        <p:nvPicPr>
          <p:cNvPr id="5" name="Marcador de contenido 4">
            <a:extLst>
              <a:ext uri="{FF2B5EF4-FFF2-40B4-BE49-F238E27FC236}">
                <a16:creationId xmlns:a16="http://schemas.microsoft.com/office/drawing/2014/main" id="{B39D15EE-53A8-4736-6A5B-072EFC0EEC67}"/>
              </a:ext>
            </a:extLst>
          </p:cNvPr>
          <p:cNvPicPr>
            <a:picLocks noGrp="1" noChangeAspect="1"/>
          </p:cNvPicPr>
          <p:nvPr>
            <p:ph idx="1"/>
          </p:nvPr>
        </p:nvPicPr>
        <p:blipFill>
          <a:blip r:embed="rId2"/>
          <a:srcRect t="27156"/>
          <a:stretch>
            <a:fillRect/>
          </a:stretch>
        </p:blipFill>
        <p:spPr>
          <a:xfrm>
            <a:off x="1040525" y="1671146"/>
            <a:ext cx="10058400" cy="4603530"/>
          </a:xfrm>
          <a:prstGeom prst="rect">
            <a:avLst/>
          </a:prstGeom>
        </p:spPr>
      </p:pic>
    </p:spTree>
    <p:extLst>
      <p:ext uri="{BB962C8B-B14F-4D97-AF65-F5344CB8AC3E}">
        <p14:creationId xmlns:p14="http://schemas.microsoft.com/office/powerpoint/2010/main" val="3106901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C52A10-4077-D1B5-2749-6979E8A83477}"/>
              </a:ext>
            </a:extLst>
          </p:cNvPr>
          <p:cNvSpPr>
            <a:spLocks noGrp="1"/>
          </p:cNvSpPr>
          <p:nvPr>
            <p:ph type="title"/>
          </p:nvPr>
        </p:nvSpPr>
        <p:spPr/>
        <p:txBody>
          <a:bodyPr/>
          <a:lstStyle/>
          <a:p>
            <a:r>
              <a:rPr lang="es-AR" u="sng" dirty="0"/>
              <a:t>DESCENSO DE LA PLACENTA</a:t>
            </a:r>
            <a:r>
              <a:rPr lang="es-AR" dirty="0"/>
              <a:t>:</a:t>
            </a:r>
          </a:p>
        </p:txBody>
      </p:sp>
      <p:pic>
        <p:nvPicPr>
          <p:cNvPr id="5" name="Marcador de contenido 4">
            <a:extLst>
              <a:ext uri="{FF2B5EF4-FFF2-40B4-BE49-F238E27FC236}">
                <a16:creationId xmlns:a16="http://schemas.microsoft.com/office/drawing/2014/main" id="{E23B9DF8-52DB-4A5A-9736-67318ADE470F}"/>
              </a:ext>
            </a:extLst>
          </p:cNvPr>
          <p:cNvPicPr>
            <a:picLocks noGrp="1" noChangeAspect="1"/>
          </p:cNvPicPr>
          <p:nvPr>
            <p:ph idx="1"/>
          </p:nvPr>
        </p:nvPicPr>
        <p:blipFill>
          <a:blip r:embed="rId2"/>
          <a:srcRect l="2868" t="21503" r="13830"/>
          <a:stretch>
            <a:fillRect/>
          </a:stretch>
        </p:blipFill>
        <p:spPr>
          <a:xfrm>
            <a:off x="1166648" y="1592317"/>
            <a:ext cx="9616965" cy="4812965"/>
          </a:xfrm>
          <a:prstGeom prst="rect">
            <a:avLst/>
          </a:prstGeom>
        </p:spPr>
      </p:pic>
    </p:spTree>
    <p:extLst>
      <p:ext uri="{BB962C8B-B14F-4D97-AF65-F5344CB8AC3E}">
        <p14:creationId xmlns:p14="http://schemas.microsoft.com/office/powerpoint/2010/main" val="121604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365B486-D6BD-4A6E-CE14-305998C6E5F8}"/>
              </a:ext>
            </a:extLst>
          </p:cNvPr>
          <p:cNvSpPr>
            <a:spLocks noGrp="1"/>
          </p:cNvSpPr>
          <p:nvPr>
            <p:ph type="title"/>
          </p:nvPr>
        </p:nvSpPr>
        <p:spPr>
          <a:xfrm>
            <a:off x="648931" y="629266"/>
            <a:ext cx="4166510" cy="1622321"/>
          </a:xfrm>
        </p:spPr>
        <p:txBody>
          <a:bodyPr>
            <a:normAutofit/>
          </a:bodyPr>
          <a:lstStyle/>
          <a:p>
            <a:r>
              <a:rPr lang="es-AR" u="sng">
                <a:solidFill>
                  <a:srgbClr val="EBEBEB"/>
                </a:solidFill>
              </a:rPr>
              <a:t>EXPULSIÓN DE LA PLASENTA</a:t>
            </a:r>
            <a:r>
              <a:rPr lang="es-AR">
                <a:solidFill>
                  <a:srgbClr val="EBEBEB"/>
                </a:solidFill>
              </a:rPr>
              <a:t>:</a:t>
            </a:r>
          </a:p>
        </p:txBody>
      </p:sp>
      <p:sp>
        <p:nvSpPr>
          <p:cNvPr id="14"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6" name="Freeform: Shape 15">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s-AR"/>
          </a:p>
        </p:txBody>
      </p:sp>
      <p:pic>
        <p:nvPicPr>
          <p:cNvPr id="5" name="Marcador de contenido 4">
            <a:extLst>
              <a:ext uri="{FF2B5EF4-FFF2-40B4-BE49-F238E27FC236}">
                <a16:creationId xmlns:a16="http://schemas.microsoft.com/office/drawing/2014/main" id="{AD1393D6-C032-15DB-DC86-9929E057D0A4}"/>
              </a:ext>
            </a:extLst>
          </p:cNvPr>
          <p:cNvPicPr>
            <a:picLocks noChangeAspect="1"/>
          </p:cNvPicPr>
          <p:nvPr/>
        </p:nvPicPr>
        <p:blipFill>
          <a:blip r:embed="rId2"/>
          <a:srcRect l="4638" t="9819" b="20890"/>
          <a:stretch>
            <a:fillRect/>
          </a:stretch>
        </p:blipFill>
        <p:spPr>
          <a:xfrm>
            <a:off x="6093992" y="704054"/>
            <a:ext cx="5449889" cy="5449889"/>
          </a:xfrm>
          <a:prstGeom prst="rect">
            <a:avLst/>
          </a:prstGeom>
          <a:effectLst/>
        </p:spPr>
      </p:pic>
      <p:sp>
        <p:nvSpPr>
          <p:cNvPr id="18" name="Rectangle 17">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9" name="Content Placeholder 8">
            <a:extLst>
              <a:ext uri="{FF2B5EF4-FFF2-40B4-BE49-F238E27FC236}">
                <a16:creationId xmlns:a16="http://schemas.microsoft.com/office/drawing/2014/main" id="{EE12E712-BBF0-74C7-11DA-2FE7EFECC4E5}"/>
              </a:ext>
            </a:extLst>
          </p:cNvPr>
          <p:cNvSpPr>
            <a:spLocks noGrp="1"/>
          </p:cNvSpPr>
          <p:nvPr>
            <p:ph idx="1"/>
          </p:nvPr>
        </p:nvSpPr>
        <p:spPr>
          <a:xfrm>
            <a:off x="648931" y="2880853"/>
            <a:ext cx="4166509" cy="2794733"/>
          </a:xfrm>
        </p:spPr>
        <p:txBody>
          <a:bodyPr>
            <a:normAutofit/>
          </a:bodyPr>
          <a:lstStyle/>
          <a:p>
            <a:r>
              <a:rPr lang="en-US" sz="2400" dirty="0">
                <a:solidFill>
                  <a:srgbClr val="EBEBEB"/>
                </a:solidFill>
              </a:rPr>
              <a:t>SEGÚN EL MECANISMO DE DESPRENDIMIENTO, LA PLACENTA SE EXTERIORIZARA POR LA CARA MATERNA O FETAL, PRECEDIDA O NO DE  SANGRADO.</a:t>
            </a:r>
          </a:p>
        </p:txBody>
      </p:sp>
    </p:spTree>
    <p:extLst>
      <p:ext uri="{BB962C8B-B14F-4D97-AF65-F5344CB8AC3E}">
        <p14:creationId xmlns:p14="http://schemas.microsoft.com/office/powerpoint/2010/main" val="18779574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DF4504B-0F6C-9006-91CC-ED00632598C5}"/>
              </a:ext>
            </a:extLst>
          </p:cNvPr>
          <p:cNvSpPr>
            <a:spLocks noGrp="1"/>
          </p:cNvSpPr>
          <p:nvPr>
            <p:ph type="title"/>
          </p:nvPr>
        </p:nvSpPr>
        <p:spPr>
          <a:xfrm>
            <a:off x="648931" y="629266"/>
            <a:ext cx="4166510" cy="1622321"/>
          </a:xfrm>
        </p:spPr>
        <p:txBody>
          <a:bodyPr>
            <a:normAutofit/>
          </a:bodyPr>
          <a:lstStyle/>
          <a:p>
            <a:pPr>
              <a:lnSpc>
                <a:spcPct val="90000"/>
              </a:lnSpc>
            </a:pPr>
            <a:r>
              <a:rPr lang="es-AR" sz="3600" u="sng">
                <a:solidFill>
                  <a:srgbClr val="EBEBEB"/>
                </a:solidFill>
              </a:rPr>
              <a:t>SEMIOLOGÍA DEL ALUMBRAMIENTO</a:t>
            </a:r>
            <a:r>
              <a:rPr lang="es-AR" sz="3600">
                <a:solidFill>
                  <a:srgbClr val="EBEBEB"/>
                </a:solidFill>
              </a:rPr>
              <a:t>:</a:t>
            </a:r>
          </a:p>
        </p:txBody>
      </p:sp>
      <p:sp>
        <p:nvSpPr>
          <p:cNvPr id="12"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4" name="Freeform: Shape 13">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s-AR"/>
          </a:p>
        </p:txBody>
      </p:sp>
      <p:pic>
        <p:nvPicPr>
          <p:cNvPr id="7" name="Graphic 6" descr="Sellos discográfico">
            <a:extLst>
              <a:ext uri="{FF2B5EF4-FFF2-40B4-BE49-F238E27FC236}">
                <a16:creationId xmlns:a16="http://schemas.microsoft.com/office/drawing/2014/main" id="{0C5CB5E6-7D7B-3093-A11A-A561C8F684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093992" y="704054"/>
            <a:ext cx="5449889" cy="5449889"/>
          </a:xfrm>
          <a:prstGeom prst="rect">
            <a:avLst/>
          </a:prstGeom>
          <a:effectLst/>
        </p:spPr>
      </p:pic>
      <p:sp>
        <p:nvSpPr>
          <p:cNvPr id="16" name="Rectangle 15">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 name="Marcador de contenido 2">
            <a:extLst>
              <a:ext uri="{FF2B5EF4-FFF2-40B4-BE49-F238E27FC236}">
                <a16:creationId xmlns:a16="http://schemas.microsoft.com/office/drawing/2014/main" id="{2DA5D741-BED8-1B80-C15F-221C20FC5BDC}"/>
              </a:ext>
            </a:extLst>
          </p:cNvPr>
          <p:cNvSpPr>
            <a:spLocks noGrp="1"/>
          </p:cNvSpPr>
          <p:nvPr>
            <p:ph idx="1"/>
          </p:nvPr>
        </p:nvSpPr>
        <p:spPr>
          <a:xfrm>
            <a:off x="648931" y="2438400"/>
            <a:ext cx="4166509" cy="3785419"/>
          </a:xfrm>
        </p:spPr>
        <p:txBody>
          <a:bodyPr>
            <a:normAutofit/>
          </a:bodyPr>
          <a:lstStyle/>
          <a:p>
            <a:r>
              <a:rPr lang="es-AR" dirty="0">
                <a:solidFill>
                  <a:srgbClr val="EBEBEB"/>
                </a:solidFill>
              </a:rPr>
              <a:t>SIGNO DE SCHROEDER.</a:t>
            </a:r>
          </a:p>
          <a:p>
            <a:r>
              <a:rPr lang="es-AR" dirty="0">
                <a:solidFill>
                  <a:srgbClr val="EBEBEB"/>
                </a:solidFill>
              </a:rPr>
              <a:t>SIGNO DE AHLFELD ( PINZA).</a:t>
            </a:r>
          </a:p>
          <a:p>
            <a:r>
              <a:rPr lang="es-AR" dirty="0">
                <a:solidFill>
                  <a:srgbClr val="EBEBEB"/>
                </a:solidFill>
              </a:rPr>
              <a:t>SIGNO DE KUSTNER.</a:t>
            </a:r>
          </a:p>
          <a:p>
            <a:r>
              <a:rPr lang="es-AR" dirty="0">
                <a:solidFill>
                  <a:srgbClr val="EBEBEB"/>
                </a:solidFill>
              </a:rPr>
              <a:t>SIGNO DE STRASSMAN (PESCADOR).</a:t>
            </a:r>
          </a:p>
        </p:txBody>
      </p:sp>
      <p:pic>
        <p:nvPicPr>
          <p:cNvPr id="5" name="Imagen 4">
            <a:extLst>
              <a:ext uri="{FF2B5EF4-FFF2-40B4-BE49-F238E27FC236}">
                <a16:creationId xmlns:a16="http://schemas.microsoft.com/office/drawing/2014/main" id="{A6BEAD7D-49C9-2A0A-F2BA-BC05633A62BF}"/>
              </a:ext>
            </a:extLst>
          </p:cNvPr>
          <p:cNvPicPr>
            <a:picLocks noChangeAspect="1"/>
          </p:cNvPicPr>
          <p:nvPr/>
        </p:nvPicPr>
        <p:blipFill>
          <a:blip r:embed="rId3"/>
          <a:srcRect l="49940" t="50000" r="8371" b="8889"/>
          <a:stretch>
            <a:fillRect/>
          </a:stretch>
        </p:blipFill>
        <p:spPr>
          <a:xfrm>
            <a:off x="6440266" y="1355835"/>
            <a:ext cx="5102804" cy="5013434"/>
          </a:xfrm>
          <a:prstGeom prst="rect">
            <a:avLst/>
          </a:prstGeom>
        </p:spPr>
      </p:pic>
    </p:spTree>
    <p:extLst>
      <p:ext uri="{BB962C8B-B14F-4D97-AF65-F5344CB8AC3E}">
        <p14:creationId xmlns:p14="http://schemas.microsoft.com/office/powerpoint/2010/main" val="215762194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F72E38-37D0-BC55-CA76-80A51EC8F6F4}"/>
              </a:ext>
            </a:extLst>
          </p:cNvPr>
          <p:cNvSpPr>
            <a:spLocks noGrp="1"/>
          </p:cNvSpPr>
          <p:nvPr>
            <p:ph type="title"/>
          </p:nvPr>
        </p:nvSpPr>
        <p:spPr/>
        <p:txBody>
          <a:bodyPr/>
          <a:lstStyle/>
          <a:p>
            <a:r>
              <a:rPr lang="es-AR" u="sng" dirty="0"/>
              <a:t>MANEJO DEL ALUMBRAMIENTO</a:t>
            </a:r>
            <a:r>
              <a:rPr lang="es-AR" dirty="0"/>
              <a:t>:</a:t>
            </a:r>
          </a:p>
        </p:txBody>
      </p:sp>
      <p:sp>
        <p:nvSpPr>
          <p:cNvPr id="3" name="Marcador de texto 2">
            <a:extLst>
              <a:ext uri="{FF2B5EF4-FFF2-40B4-BE49-F238E27FC236}">
                <a16:creationId xmlns:a16="http://schemas.microsoft.com/office/drawing/2014/main" id="{810DEA80-2EC9-1D8C-AED4-EC0C9DD92539}"/>
              </a:ext>
            </a:extLst>
          </p:cNvPr>
          <p:cNvSpPr>
            <a:spLocks noGrp="1"/>
          </p:cNvSpPr>
          <p:nvPr>
            <p:ph type="body" idx="1"/>
          </p:nvPr>
        </p:nvSpPr>
        <p:spPr>
          <a:xfrm>
            <a:off x="646111" y="1608083"/>
            <a:ext cx="4853540" cy="693683"/>
          </a:xfrm>
        </p:spPr>
        <p:txBody>
          <a:bodyPr/>
          <a:lstStyle/>
          <a:p>
            <a:pPr algn="ctr"/>
            <a:r>
              <a:rPr lang="es-AR" b="1" i="1" dirty="0"/>
              <a:t>MANEJO ESPECTANTE</a:t>
            </a:r>
          </a:p>
        </p:txBody>
      </p:sp>
      <p:sp>
        <p:nvSpPr>
          <p:cNvPr id="4" name="Marcador de contenido 3">
            <a:extLst>
              <a:ext uri="{FF2B5EF4-FFF2-40B4-BE49-F238E27FC236}">
                <a16:creationId xmlns:a16="http://schemas.microsoft.com/office/drawing/2014/main" id="{F699E34A-7116-577B-3E21-F84FC2DAE6A5}"/>
              </a:ext>
            </a:extLst>
          </p:cNvPr>
          <p:cNvSpPr>
            <a:spLocks noGrp="1"/>
          </p:cNvSpPr>
          <p:nvPr>
            <p:ph sz="half" idx="2"/>
          </p:nvPr>
        </p:nvSpPr>
        <p:spPr>
          <a:xfrm>
            <a:off x="930166" y="2514600"/>
            <a:ext cx="4569485" cy="3741738"/>
          </a:xfrm>
        </p:spPr>
        <p:txBody>
          <a:bodyPr>
            <a:normAutofit/>
          </a:bodyPr>
          <a:lstStyle/>
          <a:p>
            <a:r>
              <a:rPr lang="es-AR" sz="2400" dirty="0"/>
              <a:t>MANEJO CONSERVADOR O FISIOLÓGICO.</a:t>
            </a:r>
          </a:p>
          <a:p>
            <a:r>
              <a:rPr lang="es-AR" sz="2400" dirty="0"/>
              <a:t>EXPECTACIÓN HASTA LA EXPULSIÓN NATURAL DE LA PLACENTA.</a:t>
            </a:r>
          </a:p>
        </p:txBody>
      </p:sp>
      <p:sp>
        <p:nvSpPr>
          <p:cNvPr id="5" name="Marcador de texto 4">
            <a:extLst>
              <a:ext uri="{FF2B5EF4-FFF2-40B4-BE49-F238E27FC236}">
                <a16:creationId xmlns:a16="http://schemas.microsoft.com/office/drawing/2014/main" id="{20BA98CA-A1C7-E4F5-DBE0-3656B4660975}"/>
              </a:ext>
            </a:extLst>
          </p:cNvPr>
          <p:cNvSpPr>
            <a:spLocks noGrp="1"/>
          </p:cNvSpPr>
          <p:nvPr>
            <p:ph type="body" sz="quarter" idx="3"/>
          </p:nvPr>
        </p:nvSpPr>
        <p:spPr>
          <a:xfrm>
            <a:off x="5654495" y="1608083"/>
            <a:ext cx="5412898" cy="693683"/>
          </a:xfrm>
        </p:spPr>
        <p:txBody>
          <a:bodyPr/>
          <a:lstStyle/>
          <a:p>
            <a:pPr algn="ctr"/>
            <a:r>
              <a:rPr lang="es-AR" b="1" i="1" dirty="0"/>
              <a:t>MENEJO ACTIVO</a:t>
            </a:r>
          </a:p>
        </p:txBody>
      </p:sp>
      <p:sp>
        <p:nvSpPr>
          <p:cNvPr id="6" name="Marcador de contenido 5">
            <a:extLst>
              <a:ext uri="{FF2B5EF4-FFF2-40B4-BE49-F238E27FC236}">
                <a16:creationId xmlns:a16="http://schemas.microsoft.com/office/drawing/2014/main" id="{794D191A-F608-C273-7213-604F995CC928}"/>
              </a:ext>
            </a:extLst>
          </p:cNvPr>
          <p:cNvSpPr>
            <a:spLocks noGrp="1"/>
          </p:cNvSpPr>
          <p:nvPr>
            <p:ph sz="quarter" idx="4"/>
          </p:nvPr>
        </p:nvSpPr>
        <p:spPr>
          <a:xfrm>
            <a:off x="5654495" y="2514600"/>
            <a:ext cx="5081822" cy="3741738"/>
          </a:xfrm>
        </p:spPr>
        <p:txBody>
          <a:bodyPr>
            <a:normAutofit/>
          </a:bodyPr>
          <a:lstStyle/>
          <a:p>
            <a:r>
              <a:rPr lang="es-AR" sz="2400" dirty="0"/>
              <a:t>MASAJE UTERINO.</a:t>
            </a:r>
          </a:p>
          <a:p>
            <a:r>
              <a:rPr lang="es-AR" sz="2400" dirty="0"/>
              <a:t>TRACCIÓN SUAVE Y CONTROLADA DEL CORDÓN UMBILICAL.</a:t>
            </a:r>
          </a:p>
          <a:p>
            <a:r>
              <a:rPr lang="es-AR" sz="2400" dirty="0"/>
              <a:t>ADMINISTRACIÓN DE OXITOCINA.</a:t>
            </a:r>
          </a:p>
        </p:txBody>
      </p:sp>
    </p:spTree>
    <p:extLst>
      <p:ext uri="{BB962C8B-B14F-4D97-AF65-F5344CB8AC3E}">
        <p14:creationId xmlns:p14="http://schemas.microsoft.com/office/powerpoint/2010/main" val="1373272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46A7AD-A7A1-3701-7527-F461347454B0}"/>
              </a:ext>
            </a:extLst>
          </p:cNvPr>
          <p:cNvSpPr>
            <a:spLocks noGrp="1"/>
          </p:cNvSpPr>
          <p:nvPr>
            <p:ph type="title"/>
          </p:nvPr>
        </p:nvSpPr>
        <p:spPr/>
        <p:txBody>
          <a:bodyPr/>
          <a:lstStyle/>
          <a:p>
            <a:r>
              <a:rPr lang="es-AR" u="sng" dirty="0"/>
              <a:t>POSTALUMBRAMIENTO</a:t>
            </a:r>
            <a:r>
              <a:rPr lang="es-AR" dirty="0"/>
              <a:t>:</a:t>
            </a:r>
            <a:endParaRPr lang="es-AR" u="sng" dirty="0"/>
          </a:p>
        </p:txBody>
      </p:sp>
      <p:sp>
        <p:nvSpPr>
          <p:cNvPr id="3" name="Marcador de contenido 2">
            <a:extLst>
              <a:ext uri="{FF2B5EF4-FFF2-40B4-BE49-F238E27FC236}">
                <a16:creationId xmlns:a16="http://schemas.microsoft.com/office/drawing/2014/main" id="{7EFE7B81-409E-02FF-D04E-2C24E3B19091}"/>
              </a:ext>
            </a:extLst>
          </p:cNvPr>
          <p:cNvSpPr>
            <a:spLocks noGrp="1"/>
          </p:cNvSpPr>
          <p:nvPr>
            <p:ph idx="1"/>
          </p:nvPr>
        </p:nvSpPr>
        <p:spPr>
          <a:xfrm>
            <a:off x="1103312" y="2052918"/>
            <a:ext cx="10011378" cy="4195481"/>
          </a:xfrm>
        </p:spPr>
        <p:txBody>
          <a:bodyPr/>
          <a:lstStyle/>
          <a:p>
            <a:pPr>
              <a:lnSpc>
                <a:spcPts val="1950"/>
              </a:lnSpc>
            </a:pPr>
            <a:r>
              <a:rPr lang="es-AR" sz="2400" b="1" dirty="0">
                <a:solidFill>
                  <a:srgbClr val="FFFF00"/>
                </a:solidFill>
                <a:effectLst/>
                <a:latin typeface="roboto" panose="02000000000000000000" pitchFamily="2" charset="0"/>
              </a:rPr>
              <a:t>El globo de seguridad de Pinard es la masa globulosa formada por el útero contraído tras la expulsión de la placenta, que asegura la oclusión de los vasos sanguíneos y previene hemorragias postparto.</a:t>
            </a:r>
          </a:p>
          <a:p>
            <a:pPr>
              <a:lnSpc>
                <a:spcPts val="1950"/>
              </a:lnSpc>
            </a:pPr>
            <a:endParaRPr lang="es-AR" sz="2400" b="1" dirty="0">
              <a:solidFill>
                <a:srgbClr val="FFFF00"/>
              </a:solidFill>
              <a:effectLst/>
              <a:latin typeface="roboto" panose="02000000000000000000" pitchFamily="2" charset="0"/>
            </a:endParaRPr>
          </a:p>
          <a:p>
            <a:pPr marL="0" marR="0" indent="0" algn="l">
              <a:buNone/>
            </a:pPr>
            <a:r>
              <a:rPr lang="es-AR" sz="1200" b="0" i="0" dirty="0">
                <a:solidFill>
                  <a:srgbClr val="444444"/>
                </a:solidFill>
                <a:effectLst/>
                <a:latin typeface="roboto" panose="02000000000000000000" pitchFamily="2" charset="0"/>
              </a:rPr>
              <a:t>Me gusta</a:t>
            </a:r>
          </a:p>
          <a:p>
            <a:pPr marL="0" marR="0" indent="0" algn="l">
              <a:buNone/>
            </a:pPr>
            <a:r>
              <a:rPr lang="es-AR" sz="1200" b="0" i="0" dirty="0">
                <a:solidFill>
                  <a:srgbClr val="444444"/>
                </a:solidFill>
                <a:effectLst/>
                <a:latin typeface="roboto" panose="02000000000000000000" pitchFamily="2" charset="0"/>
              </a:rPr>
              <a:t>No me gusta</a:t>
            </a:r>
          </a:p>
          <a:p>
            <a:pPr>
              <a:lnSpc>
                <a:spcPts val="1950"/>
              </a:lnSpc>
            </a:pPr>
            <a:r>
              <a:rPr lang="es-AR" sz="2400" b="1" i="0" dirty="0">
                <a:solidFill>
                  <a:srgbClr val="FFFF00"/>
                </a:solidFill>
                <a:effectLst/>
                <a:latin typeface="roboto" panose="02000000000000000000" pitchFamily="2" charset="0"/>
              </a:rPr>
              <a:t>Las ligaduras vivientes de Pinard son el mecanismo natural por el cual las contracciones uterinas comprimen los vasos sanguíneos del lecho placentario, deteniendo el sangrado tras la expulsión de la placenta.</a:t>
            </a:r>
          </a:p>
          <a:p>
            <a:pPr marL="0" indent="0" algn="ctr">
              <a:buNone/>
            </a:pPr>
            <a:endParaRPr lang="es-AR" dirty="0"/>
          </a:p>
        </p:txBody>
      </p:sp>
    </p:spTree>
    <p:extLst>
      <p:ext uri="{BB962C8B-B14F-4D97-AF65-F5344CB8AC3E}">
        <p14:creationId xmlns:p14="http://schemas.microsoft.com/office/powerpoint/2010/main" val="795826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74C22DD-0C92-F0F3-25DC-5F65A6BDC221}"/>
              </a:ext>
            </a:extLst>
          </p:cNvPr>
          <p:cNvSpPr>
            <a:spLocks noGrp="1"/>
          </p:cNvSpPr>
          <p:nvPr>
            <p:ph type="title"/>
          </p:nvPr>
        </p:nvSpPr>
        <p:spPr>
          <a:xfrm>
            <a:off x="648931" y="629266"/>
            <a:ext cx="4166510" cy="1622321"/>
          </a:xfrm>
        </p:spPr>
        <p:txBody>
          <a:bodyPr>
            <a:normAutofit/>
          </a:bodyPr>
          <a:lstStyle/>
          <a:p>
            <a:pPr>
              <a:lnSpc>
                <a:spcPct val="90000"/>
              </a:lnSpc>
            </a:pPr>
            <a:r>
              <a:rPr lang="es-AR" sz="3600" u="sng">
                <a:solidFill>
                  <a:srgbClr val="EBEBEB"/>
                </a:solidFill>
              </a:rPr>
              <a:t>GLOBO DE SEGURIDAD DE PINARD</a:t>
            </a:r>
          </a:p>
        </p:txBody>
      </p:sp>
      <p:sp>
        <p:nvSpPr>
          <p:cNvPr id="14"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6" name="Freeform: Shape 15">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s-AR"/>
          </a:p>
        </p:txBody>
      </p:sp>
      <p:pic>
        <p:nvPicPr>
          <p:cNvPr id="5" name="Marcador de contenido 4">
            <a:extLst>
              <a:ext uri="{FF2B5EF4-FFF2-40B4-BE49-F238E27FC236}">
                <a16:creationId xmlns:a16="http://schemas.microsoft.com/office/drawing/2014/main" id="{6B9043B7-47A5-FA3F-F9C2-06497C1A38A7}"/>
              </a:ext>
            </a:extLst>
          </p:cNvPr>
          <p:cNvPicPr>
            <a:picLocks noChangeAspect="1"/>
          </p:cNvPicPr>
          <p:nvPr/>
        </p:nvPicPr>
        <p:blipFill>
          <a:blip r:embed="rId2"/>
          <a:stretch>
            <a:fillRect/>
          </a:stretch>
        </p:blipFill>
        <p:spPr>
          <a:xfrm>
            <a:off x="6093992" y="1254548"/>
            <a:ext cx="5449889" cy="4348901"/>
          </a:xfrm>
          <a:prstGeom prst="rect">
            <a:avLst/>
          </a:prstGeom>
          <a:effectLst/>
        </p:spPr>
      </p:pic>
      <p:sp>
        <p:nvSpPr>
          <p:cNvPr id="18" name="Rectangle 17">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pic>
        <p:nvPicPr>
          <p:cNvPr id="7" name="Marcador de contenido 6">
            <a:extLst>
              <a:ext uri="{FF2B5EF4-FFF2-40B4-BE49-F238E27FC236}">
                <a16:creationId xmlns:a16="http://schemas.microsoft.com/office/drawing/2014/main" id="{A07A026A-3669-9BDA-2C93-0145696FB7FE}"/>
              </a:ext>
            </a:extLst>
          </p:cNvPr>
          <p:cNvPicPr>
            <a:picLocks noGrp="1" noChangeAspect="1"/>
          </p:cNvPicPr>
          <p:nvPr>
            <p:ph idx="1"/>
          </p:nvPr>
        </p:nvPicPr>
        <p:blipFill>
          <a:blip r:embed="rId3"/>
          <a:srcRect l="32432" t="24275" r="1634" b="12117"/>
          <a:stretch>
            <a:fillRect/>
          </a:stretch>
        </p:blipFill>
        <p:spPr>
          <a:xfrm>
            <a:off x="804041" y="2880853"/>
            <a:ext cx="4189559" cy="3347881"/>
          </a:xfrm>
          <a:prstGeom prst="rect">
            <a:avLst/>
          </a:prstGeom>
        </p:spPr>
      </p:pic>
    </p:spTree>
    <p:extLst>
      <p:ext uri="{BB962C8B-B14F-4D97-AF65-F5344CB8AC3E}">
        <p14:creationId xmlns:p14="http://schemas.microsoft.com/office/powerpoint/2010/main" val="1769089710"/>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 name="Título 1">
            <a:extLst>
              <a:ext uri="{FF2B5EF4-FFF2-40B4-BE49-F238E27FC236}">
                <a16:creationId xmlns:a16="http://schemas.microsoft.com/office/drawing/2014/main" id="{F6B301B8-F1AD-2F39-3F5A-E6D9712EBB46}"/>
              </a:ext>
            </a:extLst>
          </p:cNvPr>
          <p:cNvSpPr>
            <a:spLocks noGrp="1"/>
          </p:cNvSpPr>
          <p:nvPr>
            <p:ph type="title"/>
          </p:nvPr>
        </p:nvSpPr>
        <p:spPr>
          <a:xfrm>
            <a:off x="5282382" y="1454964"/>
            <a:ext cx="6261917" cy="3308840"/>
          </a:xfrm>
        </p:spPr>
        <p:txBody>
          <a:bodyPr vert="horz" lIns="91440" tIns="45720" rIns="91440" bIns="45720" rtlCol="0" anchor="b">
            <a:normAutofit/>
          </a:bodyPr>
          <a:lstStyle/>
          <a:p>
            <a:r>
              <a:rPr lang="en-US" sz="6700"/>
              <a:t>PREGUNTAS??</a:t>
            </a:r>
          </a:p>
        </p:txBody>
      </p:sp>
      <p:pic>
        <p:nvPicPr>
          <p:cNvPr id="5" name="Marcador de contenido 4">
            <a:extLst>
              <a:ext uri="{FF2B5EF4-FFF2-40B4-BE49-F238E27FC236}">
                <a16:creationId xmlns:a16="http://schemas.microsoft.com/office/drawing/2014/main" id="{A4CCCD75-00D5-1355-F090-A6B3F51C6510}"/>
              </a:ext>
            </a:extLst>
          </p:cNvPr>
          <p:cNvPicPr>
            <a:picLocks noGrp="1" noChangeAspect="1"/>
          </p:cNvPicPr>
          <p:nvPr>
            <p:ph idx="1"/>
          </p:nvPr>
        </p:nvPicPr>
        <p:blipFill>
          <a:blip r:embed="rId7"/>
          <a:srcRect l="6056" r="1049"/>
          <a:stretch>
            <a:fillRect/>
          </a:stretch>
        </p:blipFill>
        <p:spPr>
          <a:xfrm>
            <a:off x="-1" y="10"/>
            <a:ext cx="4634681" cy="6857990"/>
          </a:xfrm>
          <a:prstGeom prst="rect">
            <a:avLst/>
          </a:prstGeom>
        </p:spPr>
      </p:pic>
    </p:spTree>
    <p:extLst>
      <p:ext uri="{BB962C8B-B14F-4D97-AF65-F5344CB8AC3E}">
        <p14:creationId xmlns:p14="http://schemas.microsoft.com/office/powerpoint/2010/main" val="19942960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269</TotalTime>
  <Words>256</Words>
  <Application>Microsoft Office PowerPoint</Application>
  <PresentationFormat>Panorámica</PresentationFormat>
  <Paragraphs>41</Paragraphs>
  <Slides>12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Century Gothic</vt:lpstr>
      <vt:lpstr>roboto</vt:lpstr>
      <vt:lpstr>Wingdings 3</vt:lpstr>
      <vt:lpstr>Ion</vt:lpstr>
      <vt:lpstr>ALUMBRAMIENTO Y POSTALUMBRAMIENTO</vt:lpstr>
      <vt:lpstr>DEFINICIÓN:</vt:lpstr>
      <vt:lpstr>FISIOLOGÍA DEL ALUMBRAMIENTO:</vt:lpstr>
      <vt:lpstr>DESPRENDIMIENTO:</vt:lpstr>
      <vt:lpstr>MECANISMOS DE DESPRENDIMIENTO:</vt:lpstr>
      <vt:lpstr>DESCENSO DE LA PLACENTA:</vt:lpstr>
      <vt:lpstr>EXPULSIÓN DE LA PLASENTA:</vt:lpstr>
      <vt:lpstr>SEMIOLOGÍA DEL ALUMBRAMIENTO:</vt:lpstr>
      <vt:lpstr>MANEJO DEL ALUMBRAMIENTO:</vt:lpstr>
      <vt:lpstr>POSTALUMBRAMIENTO:</vt:lpstr>
      <vt:lpstr>GLOBO DE SEGURIDAD DE PINARD</vt:lpstr>
      <vt:lpstr>PREGUNTAS??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Brunella Mathiot Lo Giudice</dc:creator>
  <cp:lastModifiedBy>Brunella Mathiot Lo Giudice</cp:lastModifiedBy>
  <cp:revision>5</cp:revision>
  <dcterms:created xsi:type="dcterms:W3CDTF">2026-08-25T15:21:59Z</dcterms:created>
  <dcterms:modified xsi:type="dcterms:W3CDTF">2026-08-26T12:09:07Z</dcterms:modified>
</cp:coreProperties>
</file>