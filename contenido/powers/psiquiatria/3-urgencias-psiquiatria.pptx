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sldIdLst>
    <p:sldId id="256" r:id="rId2"/>
    <p:sldId id="257" r:id="rId3"/>
    <p:sldId id="295" r:id="rId4"/>
    <p:sldId id="287" r:id="rId5"/>
    <p:sldId id="286" r:id="rId6"/>
    <p:sldId id="296" r:id="rId7"/>
    <p:sldId id="288" r:id="rId8"/>
    <p:sldId id="289" r:id="rId9"/>
    <p:sldId id="291" r:id="rId10"/>
    <p:sldId id="292" r:id="rId11"/>
    <p:sldId id="290" r:id="rId12"/>
    <p:sldId id="293" r:id="rId13"/>
    <p:sldId id="294" r:id="rId14"/>
    <p:sldId id="297" r:id="rId15"/>
    <p:sldId id="298" r:id="rId16"/>
    <p:sldId id="300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20" r:id="rId35"/>
    <p:sldId id="319" r:id="rId36"/>
    <p:sldId id="321" r:id="rId37"/>
    <p:sldId id="322" r:id="rId38"/>
    <p:sldId id="323" r:id="rId39"/>
    <p:sldId id="324" r:id="rId40"/>
    <p:sldId id="325" r:id="rId41"/>
    <p:sldId id="327" r:id="rId42"/>
    <p:sldId id="326" r:id="rId4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2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95FD9-0C1D-4833-9A86-B15003EC2FEA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9DADC-5D30-4A43-800F-5CA14319677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9DADC-5D30-4A43-800F-5CA143196776}" type="slidenum">
              <a:rPr lang="es-ES" smtClean="0"/>
              <a:pPr/>
              <a:t>29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ES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ES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216323F-4652-4A68-A5BA-57A16D044729}" type="datetimeFigureOut">
              <a:rPr lang="es-ES" smtClean="0"/>
              <a:pPr/>
              <a:t>08/09/2013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34F00EC-6964-47FA-B052-CA357579E2A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86000" y="0"/>
            <a:ext cx="6172200" cy="6858000"/>
          </a:xfrm>
        </p:spPr>
        <p:txBody>
          <a:bodyPr>
            <a:noAutofit/>
          </a:bodyPr>
          <a:lstStyle/>
          <a:p>
            <a:pPr algn="r"/>
            <a:r>
              <a:rPr lang="es-ES" sz="6000" dirty="0" smtClean="0">
                <a:solidFill>
                  <a:schemeClr val="accent1">
                    <a:lumMod val="75000"/>
                  </a:schemeClr>
                </a:solidFill>
              </a:rPr>
              <a:t>El Paciente en Guardia</a:t>
            </a:r>
            <a:br>
              <a:rPr lang="es-ES" sz="60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60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s-ES" sz="60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60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s-ES" sz="60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s-E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0"/>
            <a:ext cx="8715404" cy="6858000"/>
          </a:xfrm>
        </p:spPr>
        <p:txBody>
          <a:bodyPr>
            <a:normAutofit/>
          </a:bodyPr>
          <a:lstStyle/>
          <a:p>
            <a:pPr algn="just"/>
            <a:r>
              <a:rPr lang="es-ES" sz="4000" b="1" i="1" dirty="0" smtClean="0">
                <a:solidFill>
                  <a:schemeClr val="accent1">
                    <a:lumMod val="75000"/>
                  </a:schemeClr>
                </a:solidFill>
              </a:rPr>
              <a:t>Emergencia psiquiátrica</a:t>
            </a:r>
          </a:p>
          <a:p>
            <a:pPr lvl="1" algn="just">
              <a:buNone/>
            </a:pPr>
            <a:r>
              <a:rPr lang="es-ES" sz="3700" dirty="0" smtClean="0"/>
              <a:t>Fenómeno abrupto en el </a:t>
            </a:r>
            <a:r>
              <a:rPr lang="es-ES" sz="3700" dirty="0" smtClean="0"/>
              <a:t>que el trastorno del </a:t>
            </a:r>
            <a:r>
              <a:rPr lang="es-ES" sz="3700" i="1" dirty="0" smtClean="0"/>
              <a:t>pensamiento</a:t>
            </a:r>
            <a:r>
              <a:rPr lang="es-ES" sz="3700" dirty="0" smtClean="0"/>
              <a:t>, </a:t>
            </a:r>
            <a:r>
              <a:rPr lang="es-ES" sz="3700" dirty="0" smtClean="0"/>
              <a:t>el </a:t>
            </a:r>
            <a:r>
              <a:rPr lang="es-ES" sz="3700" i="1" dirty="0" smtClean="0"/>
              <a:t>afecto</a:t>
            </a:r>
            <a:r>
              <a:rPr lang="es-ES" sz="3700" dirty="0" smtClean="0"/>
              <a:t> o </a:t>
            </a:r>
            <a:r>
              <a:rPr lang="es-ES" sz="3700" dirty="0" smtClean="0"/>
              <a:t>la </a:t>
            </a:r>
            <a:r>
              <a:rPr lang="es-ES" sz="3700" i="1" dirty="0" smtClean="0"/>
              <a:t>conducta</a:t>
            </a:r>
            <a:r>
              <a:rPr lang="es-ES" sz="3700" dirty="0" smtClean="0"/>
              <a:t> </a:t>
            </a:r>
            <a:r>
              <a:rPr lang="es-ES" sz="3700" dirty="0" smtClean="0"/>
              <a:t>de un sujeto implica tal disrupción </a:t>
            </a:r>
            <a:r>
              <a:rPr lang="es-ES" sz="3700" dirty="0" smtClean="0"/>
              <a:t>que el </a:t>
            </a:r>
            <a:r>
              <a:rPr lang="es-ES" sz="3700" dirty="0" smtClean="0"/>
              <a:t>mismo paciente, </a:t>
            </a:r>
            <a:r>
              <a:rPr lang="es-ES" sz="3700" dirty="0" smtClean="0"/>
              <a:t>la familia o la sociedad, consideran que requiere atención </a:t>
            </a:r>
            <a:r>
              <a:rPr lang="es-ES" sz="3700" dirty="0" smtClean="0"/>
              <a:t>inmediata para su resolución.</a:t>
            </a:r>
          </a:p>
          <a:p>
            <a:pPr lvl="1" algn="just">
              <a:buNone/>
            </a:pPr>
            <a:r>
              <a:rPr lang="es-ES" sz="3700" dirty="0" smtClean="0"/>
              <a:t>La </a:t>
            </a:r>
            <a:r>
              <a:rPr lang="es-ES" sz="3700" dirty="0" smtClean="0"/>
              <a:t>intervención está dirigida </a:t>
            </a:r>
            <a:r>
              <a:rPr lang="es-ES" sz="3700" dirty="0" smtClean="0"/>
              <a:t>a aliviar la situación inmediata y planear la conducta a seguir.</a:t>
            </a:r>
            <a:endParaRPr lang="es-ES" sz="37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0"/>
            <a:ext cx="8715404" cy="6858000"/>
          </a:xfrm>
        </p:spPr>
        <p:txBody>
          <a:bodyPr>
            <a:normAutofit/>
          </a:bodyPr>
          <a:lstStyle/>
          <a:p>
            <a:pPr algn="just"/>
            <a:r>
              <a:rPr lang="es-ES" sz="4000" b="1" i="1" dirty="0" smtClean="0">
                <a:solidFill>
                  <a:schemeClr val="accent1">
                    <a:lumMod val="75000"/>
                  </a:schemeClr>
                </a:solidFill>
              </a:rPr>
              <a:t>Emergencia psiquiátrica</a:t>
            </a:r>
          </a:p>
          <a:p>
            <a:pPr lvl="1" algn="just">
              <a:buNone/>
            </a:pPr>
            <a:r>
              <a:rPr lang="es-ES" sz="3700" dirty="0" smtClean="0"/>
              <a:t>Se debe definir si la situación psiquiátrica actual del paciente amerita o no internación.</a:t>
            </a:r>
          </a:p>
          <a:p>
            <a:pPr lvl="2" algn="just"/>
            <a:r>
              <a:rPr lang="es-ES" sz="3400" dirty="0" smtClean="0"/>
              <a:t>Presencia de riesgo grave cierto e inminente para sí y/o para terceros.</a:t>
            </a:r>
          </a:p>
          <a:p>
            <a:pPr lvl="2" algn="just"/>
            <a:r>
              <a:rPr lang="es-ES" sz="3400" dirty="0" smtClean="0"/>
              <a:t>Escasa o nula continencia familiar.</a:t>
            </a:r>
          </a:p>
          <a:p>
            <a:pPr lvl="2" algn="just"/>
            <a:r>
              <a:rPr lang="es-ES" sz="3400" dirty="0" smtClean="0"/>
              <a:t>Riesgo de incumplimiento terapéutico</a:t>
            </a:r>
            <a:r>
              <a:rPr lang="es-ES" sz="3400" dirty="0" smtClean="0"/>
              <a:t>.</a:t>
            </a:r>
          </a:p>
          <a:p>
            <a:pPr lvl="2" algn="just"/>
            <a:r>
              <a:rPr lang="es-ES" sz="3400" dirty="0" smtClean="0"/>
              <a:t>Fracaso terapéutico.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286808" cy="1417638"/>
          </a:xfrm>
        </p:spPr>
        <p:txBody>
          <a:bodyPr>
            <a:noAutofit/>
          </a:bodyPr>
          <a:lstStyle/>
          <a:p>
            <a:r>
              <a:rPr lang="es-ES" sz="3600" dirty="0" smtClean="0">
                <a:solidFill>
                  <a:schemeClr val="accent1">
                    <a:lumMod val="75000"/>
                  </a:schemeClr>
                </a:solidFill>
              </a:rPr>
              <a:t>Valoración del contexto psicosocial y personalidad de </a:t>
            </a:r>
            <a:r>
              <a:rPr lang="es-ES" sz="3600" dirty="0" smtClean="0">
                <a:solidFill>
                  <a:schemeClr val="accent1">
                    <a:lumMod val="75000"/>
                  </a:schemeClr>
                </a:solidFill>
              </a:rPr>
              <a:t>base</a:t>
            </a:r>
            <a:endParaRPr lang="es-E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2071678"/>
            <a:ext cx="8286808" cy="4214842"/>
          </a:xfrm>
        </p:spPr>
        <p:txBody>
          <a:bodyPr>
            <a:normAutofit/>
          </a:bodyPr>
          <a:lstStyle/>
          <a:p>
            <a:pPr algn="just"/>
            <a:r>
              <a:rPr lang="es-ES" sz="2800" dirty="0" smtClean="0"/>
              <a:t>Los acontecimientos vitales (Eje IV), sobre todo los ocurridos en el último año, pueden suscitar alteraciones importantes en personalidades débilmente </a:t>
            </a:r>
            <a:r>
              <a:rPr lang="es-ES" sz="2800" dirty="0" err="1" smtClean="0"/>
              <a:t>constituídas</a:t>
            </a:r>
            <a:r>
              <a:rPr lang="es-ES" sz="2800" dirty="0" smtClean="0"/>
              <a:t> o con discapacidad intelectual (Eje II).</a:t>
            </a:r>
          </a:p>
          <a:p>
            <a:pPr algn="just"/>
            <a:r>
              <a:rPr lang="es-ES" sz="2800" dirty="0" smtClean="0"/>
              <a:t>También en patología del Eje I pueden encontrarse </a:t>
            </a:r>
            <a:r>
              <a:rPr lang="es-ES" sz="2800" dirty="0" err="1" smtClean="0"/>
              <a:t>estresores</a:t>
            </a:r>
            <a:r>
              <a:rPr lang="es-ES" sz="2800" dirty="0" smtClean="0"/>
              <a:t> psicosociales como desencadenantes.</a:t>
            </a:r>
            <a:endParaRPr lang="es-E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just"/>
            <a:r>
              <a:rPr lang="es-ES" sz="3600" dirty="0" smtClean="0"/>
              <a:t>Debe descartarse </a:t>
            </a:r>
            <a:r>
              <a:rPr lang="es-ES" sz="3600" b="1" dirty="0" smtClean="0"/>
              <a:t>siempre</a:t>
            </a:r>
            <a:r>
              <a:rPr lang="es-ES" sz="3600" dirty="0" smtClean="0"/>
              <a:t> el origen orgánico del cuadro, que puede estar contribuyendo o generando el </a:t>
            </a:r>
            <a:r>
              <a:rPr lang="es-ES" sz="3600" dirty="0" smtClean="0"/>
              <a:t>padecimiento.</a:t>
            </a:r>
            <a:endParaRPr lang="es-ES" sz="3600" dirty="0" smtClean="0"/>
          </a:p>
          <a:p>
            <a:pPr algn="just"/>
            <a:endParaRPr lang="es-ES" sz="3700" dirty="0" smtClean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285720" y="2500302"/>
          <a:ext cx="8358246" cy="396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1966"/>
                <a:gridCol w="2143140"/>
                <a:gridCol w="2143140"/>
              </a:tblGrid>
              <a:tr h="495857">
                <a:tc>
                  <a:txBody>
                    <a:bodyPr/>
                    <a:lstStyle/>
                    <a:p>
                      <a:endParaRPr lang="es-E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smtClean="0"/>
                        <a:t>Orgánica</a:t>
                      </a:r>
                      <a:endParaRPr lang="es-E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smtClean="0"/>
                        <a:t>Funcional</a:t>
                      </a:r>
                      <a:endParaRPr lang="es-ES" sz="2400" b="1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Edad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&lt;12 o &gt;40 años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12-40 años</a:t>
                      </a:r>
                      <a:endParaRPr lang="es-ES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Inicio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Abrupto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Progresivo</a:t>
                      </a:r>
                      <a:endParaRPr lang="es-ES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Alteración</a:t>
                      </a:r>
                      <a:r>
                        <a:rPr lang="es-ES" sz="2000" b="1" baseline="0" dirty="0" smtClean="0"/>
                        <a:t> de la conciencia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Presente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Ausente</a:t>
                      </a:r>
                      <a:endParaRPr lang="es-ES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Orientación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Desorientado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Orientado</a:t>
                      </a:r>
                      <a:endParaRPr lang="es-ES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Alucinaciones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Visuales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Auditivas</a:t>
                      </a:r>
                      <a:endParaRPr lang="es-ES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Curso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Fluctuante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Continuo</a:t>
                      </a:r>
                      <a:endParaRPr lang="es-ES" dirty="0"/>
                    </a:p>
                  </a:txBody>
                  <a:tcPr/>
                </a:tc>
              </a:tr>
              <a:tr h="495857">
                <a:tc>
                  <a:txBody>
                    <a:bodyPr/>
                    <a:lstStyle/>
                    <a:p>
                      <a:r>
                        <a:rPr lang="es-ES" sz="2000" b="1" dirty="0" smtClean="0"/>
                        <a:t>Historia</a:t>
                      </a:r>
                      <a:r>
                        <a:rPr lang="es-ES" sz="2000" b="1" baseline="0" dirty="0" smtClean="0"/>
                        <a:t> psiquiátrica previa</a:t>
                      </a:r>
                      <a:endParaRPr lang="es-E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Ausente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Presente</a:t>
                      </a:r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0"/>
            <a:ext cx="8572528" cy="6858000"/>
          </a:xfrm>
        </p:spPr>
        <p:txBody>
          <a:bodyPr>
            <a:normAutofit/>
          </a:bodyPr>
          <a:lstStyle/>
          <a:p>
            <a:pPr algn="just"/>
            <a:r>
              <a:rPr lang="es-ES" sz="3700" dirty="0" smtClean="0"/>
              <a:t>Aspectos a evaluar durante la entrevista:</a:t>
            </a:r>
          </a:p>
          <a:p>
            <a:pPr lvl="1" algn="just"/>
            <a:r>
              <a:rPr lang="es-ES" sz="3400" b="1" dirty="0" smtClean="0"/>
              <a:t>Seguridad</a:t>
            </a:r>
            <a:r>
              <a:rPr lang="es-ES" sz="3400" dirty="0" smtClean="0"/>
              <a:t> (riesgo inminente de dañarse a sí mismo o a terceros).</a:t>
            </a:r>
          </a:p>
          <a:p>
            <a:pPr lvl="1" algn="just"/>
            <a:r>
              <a:rPr lang="es-ES" sz="3400" b="1" dirty="0" err="1" smtClean="0"/>
              <a:t>Suicidalidad</a:t>
            </a:r>
            <a:endParaRPr lang="es-ES" sz="3400" b="1" dirty="0" smtClean="0"/>
          </a:p>
          <a:p>
            <a:pPr lvl="1" algn="just"/>
            <a:r>
              <a:rPr lang="es-ES" sz="3400" b="1" dirty="0" smtClean="0"/>
              <a:t>Agresividad </a:t>
            </a:r>
            <a:r>
              <a:rPr lang="es-ES" sz="3400" dirty="0" smtClean="0"/>
              <a:t>(verbal, física o mixta)</a:t>
            </a:r>
          </a:p>
          <a:p>
            <a:pPr lvl="1" algn="just"/>
            <a:r>
              <a:rPr lang="es-ES" sz="3400" b="1" dirty="0" smtClean="0"/>
              <a:t>Abuso de sustancias</a:t>
            </a:r>
            <a:r>
              <a:rPr lang="es-ES" sz="3100" dirty="0" smtClean="0"/>
              <a:t> </a:t>
            </a:r>
            <a:r>
              <a:rPr lang="es-ES" sz="3400" dirty="0" smtClean="0"/>
              <a:t>(mayor riesgo de conductas violentas)</a:t>
            </a:r>
            <a:endParaRPr lang="es-ES" sz="3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274638"/>
            <a:ext cx="8358246" cy="1143000"/>
          </a:xfrm>
        </p:spPr>
        <p:txBody>
          <a:bodyPr>
            <a:noAutofit/>
          </a:bodyPr>
          <a:lstStyle/>
          <a:p>
            <a:pPr algn="just"/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Motivos de Consulta más frecuentes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43890" cy="4873752"/>
          </a:xfrm>
        </p:spPr>
        <p:txBody>
          <a:bodyPr>
            <a:normAutofit fontScale="92500"/>
          </a:bodyPr>
          <a:lstStyle/>
          <a:p>
            <a:pPr lvl="1" algn="just"/>
            <a:r>
              <a:rPr lang="es-ES" sz="3900" dirty="0" smtClean="0"/>
              <a:t>Trastornos de </a:t>
            </a:r>
            <a:r>
              <a:rPr lang="es-ES" sz="3900" dirty="0" smtClean="0"/>
              <a:t>angustia, ansiedad </a:t>
            </a:r>
            <a:r>
              <a:rPr lang="es-ES" sz="3900" dirty="0" smtClean="0"/>
              <a:t>y del estado de ánimo.</a:t>
            </a:r>
          </a:p>
          <a:p>
            <a:pPr lvl="1" algn="just"/>
            <a:r>
              <a:rPr lang="es-ES" sz="3900" dirty="0" smtClean="0"/>
              <a:t>Intoxicaciones, intentos de suicidio, ideas o amenaza suicida.</a:t>
            </a:r>
          </a:p>
          <a:p>
            <a:pPr lvl="1" algn="just"/>
            <a:r>
              <a:rPr lang="es-ES" sz="3900" dirty="0" smtClean="0"/>
              <a:t>Excitación psicomotriz.</a:t>
            </a:r>
          </a:p>
          <a:p>
            <a:pPr lvl="1" algn="just"/>
            <a:r>
              <a:rPr lang="es-ES" sz="3900" dirty="0" smtClean="0"/>
              <a:t>Agravados o no por la presencia de un trastorno de personalidad </a:t>
            </a:r>
            <a:r>
              <a:rPr lang="es-ES" sz="3900" dirty="0" err="1" smtClean="0"/>
              <a:t>comórbido</a:t>
            </a:r>
            <a:r>
              <a:rPr lang="es-ES" sz="3900" dirty="0" smtClean="0"/>
              <a:t>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 de ansiedad-angustia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/>
            <a:r>
              <a:rPr lang="es-ES" sz="2800" dirty="0" smtClean="0"/>
              <a:t>Ansiedad: Emoción normal que puede tornarse patológica cuando se vuelve exageradamente intensa y/o extendida en el tiempo.</a:t>
            </a:r>
          </a:p>
          <a:p>
            <a:pPr algn="just"/>
            <a:r>
              <a:rPr lang="es-ES" sz="2800" dirty="0" smtClean="0"/>
              <a:t>Síntoma presente en diversas patologías (psiquiátricas y no psiquiátricas).</a:t>
            </a:r>
          </a:p>
          <a:p>
            <a:pPr algn="just"/>
            <a:r>
              <a:rPr lang="es-ES" sz="2800" dirty="0" smtClean="0"/>
              <a:t>Suele acompañarse de un aumento en la descarga adrenérgica.</a:t>
            </a:r>
          </a:p>
          <a:p>
            <a:pPr algn="just"/>
            <a:r>
              <a:rPr lang="es-ES" sz="2800" dirty="0" smtClean="0"/>
              <a:t>Pueden presentarse como:</a:t>
            </a:r>
          </a:p>
          <a:p>
            <a:pPr lvl="1" algn="just"/>
            <a:r>
              <a:rPr lang="es-ES" sz="2500" dirty="0" smtClean="0"/>
              <a:t>Respuesta al estrés</a:t>
            </a:r>
          </a:p>
          <a:p>
            <a:pPr lvl="1" algn="just"/>
            <a:r>
              <a:rPr lang="es-ES" sz="2500" dirty="0" smtClean="0"/>
              <a:t>Trastorno psiquiátrico específico</a:t>
            </a:r>
          </a:p>
          <a:p>
            <a:pPr lvl="1" algn="just"/>
            <a:r>
              <a:rPr lang="es-ES" sz="2500" dirty="0" smtClean="0"/>
              <a:t>Manifestación de una enfermedad somática subyacente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 de ansiedad-angustia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marL="609600" indent="-609600">
              <a:lnSpc>
                <a:spcPct val="80000"/>
              </a:lnSpc>
              <a:buNone/>
            </a:pPr>
            <a:endParaRPr lang="es-ES" sz="2800" dirty="0" smtClean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285720" y="785796"/>
          <a:ext cx="8429684" cy="5857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4842"/>
                <a:gridCol w="4214842"/>
              </a:tblGrid>
              <a:tr h="685069">
                <a:tc>
                  <a:txBody>
                    <a:bodyPr/>
                    <a:lstStyle/>
                    <a:p>
                      <a:r>
                        <a:rPr lang="es-ES" sz="2400" dirty="0" smtClean="0"/>
                        <a:t>Síntomas psíquicos</a:t>
                      </a:r>
                      <a:endParaRPr lang="es-E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 smtClean="0"/>
                        <a:t>Síntomas somáticos</a:t>
                      </a:r>
                      <a:endParaRPr lang="es-ES" sz="2400" dirty="0"/>
                    </a:p>
                  </a:txBody>
                  <a:tcPr/>
                </a:tc>
              </a:tr>
              <a:tr h="752784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Miedo a perder el control, volverse loco, morir.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Taquicardia, palpitaciones, dolor precordial.</a:t>
                      </a:r>
                      <a:endParaRPr lang="es-ES" sz="2000" dirty="0"/>
                    </a:p>
                  </a:txBody>
                  <a:tcPr/>
                </a:tc>
              </a:tr>
              <a:tr h="752784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Despersonalización 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Disnea, sensación de</a:t>
                      </a:r>
                      <a:r>
                        <a:rPr lang="es-ES" sz="2000" baseline="0" dirty="0" smtClean="0"/>
                        <a:t> ahogo, sofocación.</a:t>
                      </a:r>
                      <a:endParaRPr lang="es-ES" sz="2000" dirty="0"/>
                    </a:p>
                  </a:txBody>
                  <a:tcPr/>
                </a:tc>
              </a:tr>
              <a:tr h="738320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err="1" smtClean="0"/>
                        <a:t>Desrealización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 smtClean="0"/>
                        <a:t>Temblores o sacudidas.</a:t>
                      </a:r>
                      <a:r>
                        <a:rPr lang="es-ES" sz="2000" dirty="0" smtClean="0"/>
                        <a:t> Cefaleas.</a:t>
                      </a:r>
                    </a:p>
                    <a:p>
                      <a:pPr algn="just"/>
                      <a:endParaRPr lang="es-ES" sz="2000" dirty="0"/>
                    </a:p>
                  </a:txBody>
                  <a:tcPr/>
                </a:tc>
              </a:tr>
              <a:tr h="752784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Irritabilidad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Mareo/vértigo, sensación</a:t>
                      </a:r>
                      <a:r>
                        <a:rPr lang="es-ES" sz="2000" baseline="0" dirty="0" smtClean="0"/>
                        <a:t> de inestabilidad o de desmayo.</a:t>
                      </a:r>
                      <a:endParaRPr lang="es-ES" sz="2000" dirty="0"/>
                    </a:p>
                  </a:txBody>
                  <a:tcPr/>
                </a:tc>
              </a:tr>
              <a:tr h="685069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Aturdimiento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Visión borrosa, zumbidos.</a:t>
                      </a:r>
                      <a:endParaRPr lang="es-ES" sz="2000" dirty="0"/>
                    </a:p>
                  </a:txBody>
                  <a:tcPr/>
                </a:tc>
              </a:tr>
              <a:tr h="752784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Falta de concentración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Parestesias, sudoración, oleadas de frío/calor.</a:t>
                      </a:r>
                      <a:endParaRPr lang="es-ES" sz="2000" dirty="0"/>
                    </a:p>
                  </a:txBody>
                  <a:tcPr/>
                </a:tc>
              </a:tr>
              <a:tr h="738320"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Falta de memoria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2000" dirty="0" smtClean="0"/>
                        <a:t>Sequedad de boca, náuseas, vómitos, molestias abdominales</a:t>
                      </a:r>
                      <a:endParaRPr lang="es-E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 de ansiedad-angustia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571480"/>
            <a:ext cx="8501122" cy="6286520"/>
          </a:xfrm>
        </p:spPr>
        <p:txBody>
          <a:bodyPr vert="horz">
            <a:noAutofit/>
          </a:bodyPr>
          <a:lstStyle/>
          <a:p>
            <a:pPr algn="just"/>
            <a:r>
              <a:rPr lang="es-AR" sz="2600" dirty="0" smtClean="0"/>
              <a:t>Es el motivo de consulta mas frecuente e inespecífico</a:t>
            </a:r>
          </a:p>
          <a:p>
            <a:pPr algn="just"/>
            <a:r>
              <a:rPr lang="es-AR" sz="2600" dirty="0" smtClean="0"/>
              <a:t>Casi el 40% del total de emergencias psiquiátricas</a:t>
            </a:r>
          </a:p>
          <a:p>
            <a:pPr algn="just"/>
            <a:r>
              <a:rPr lang="es-AR" sz="2600" dirty="0" smtClean="0"/>
              <a:t>Mas común sexo femenino (2:1)</a:t>
            </a:r>
          </a:p>
          <a:p>
            <a:pPr algn="just"/>
            <a:r>
              <a:rPr lang="es-AR" sz="2600" dirty="0" smtClean="0"/>
              <a:t>Edad de comienzo: 2º década de la vida</a:t>
            </a:r>
          </a:p>
          <a:p>
            <a:pPr algn="just"/>
            <a:r>
              <a:rPr lang="es-AR" sz="2600" dirty="0" smtClean="0"/>
              <a:t>El 30-40% puede presentar depresión (riesgo suicida)</a:t>
            </a:r>
          </a:p>
          <a:p>
            <a:pPr algn="just"/>
            <a:r>
              <a:rPr lang="es-MX" sz="2600" dirty="0" smtClean="0"/>
              <a:t>Puede presentarse como </a:t>
            </a:r>
            <a:r>
              <a:rPr lang="es-MX" sz="2600" dirty="0" smtClean="0"/>
              <a:t>trastorno </a:t>
            </a:r>
            <a:r>
              <a:rPr lang="es-MX" sz="2600" dirty="0" err="1" smtClean="0"/>
              <a:t>comórbido</a:t>
            </a:r>
            <a:r>
              <a:rPr lang="es-MX" sz="2600" dirty="0" smtClean="0"/>
              <a:t> de:</a:t>
            </a:r>
          </a:p>
          <a:p>
            <a:pPr marL="822960" lvl="1" indent="-457200"/>
            <a:r>
              <a:rPr lang="es-MX" sz="2400" dirty="0" smtClean="0"/>
              <a:t>Depresión</a:t>
            </a:r>
          </a:p>
          <a:p>
            <a:pPr marL="822960" lvl="1" indent="-457200"/>
            <a:r>
              <a:rPr lang="es-MX" sz="2400" dirty="0" smtClean="0"/>
              <a:t>Trastorno </a:t>
            </a:r>
            <a:r>
              <a:rPr lang="es-MX" sz="2400" dirty="0" smtClean="0"/>
              <a:t>bipolar </a:t>
            </a:r>
            <a:endParaRPr lang="es-MX" sz="2400" dirty="0" smtClean="0"/>
          </a:p>
          <a:p>
            <a:pPr marL="822960" lvl="1" indent="-457200"/>
            <a:r>
              <a:rPr lang="es-MX" sz="2400" dirty="0" smtClean="0"/>
              <a:t>Esquizofrenia</a:t>
            </a:r>
          </a:p>
          <a:p>
            <a:pPr marL="822960" lvl="1" indent="-457200"/>
            <a:r>
              <a:rPr lang="es-MX" sz="2400" dirty="0" smtClean="0"/>
              <a:t>Abuso </a:t>
            </a:r>
            <a:r>
              <a:rPr lang="es-MX" sz="2400" dirty="0" smtClean="0"/>
              <a:t>de </a:t>
            </a:r>
            <a:r>
              <a:rPr lang="es-MX" sz="2400" dirty="0" smtClean="0"/>
              <a:t>sustancias</a:t>
            </a:r>
          </a:p>
          <a:p>
            <a:pPr marL="822960" lvl="1" indent="-457200"/>
            <a:r>
              <a:rPr lang="es-MX" sz="2400" dirty="0" smtClean="0"/>
              <a:t>DCL y formas </a:t>
            </a:r>
            <a:r>
              <a:rPr lang="es-MX" sz="2400" dirty="0" err="1" smtClean="0"/>
              <a:t>iniciales</a:t>
            </a:r>
            <a:r>
              <a:rPr lang="es-MX" sz="2400" dirty="0" smtClean="0"/>
              <a:t> de demencia</a:t>
            </a:r>
            <a:endParaRPr lang="es-MX" sz="2400" dirty="0" smtClean="0"/>
          </a:p>
          <a:p>
            <a:pPr marL="822960" lvl="1" indent="-457200"/>
            <a:r>
              <a:rPr lang="es-MX" sz="2400" dirty="0" smtClean="0"/>
              <a:t>Trastornos </a:t>
            </a:r>
            <a:r>
              <a:rPr lang="es-MX" sz="2400" dirty="0" smtClean="0"/>
              <a:t>de </a:t>
            </a:r>
            <a:r>
              <a:rPr lang="es-MX" sz="2400" dirty="0" smtClean="0"/>
              <a:t>personalidad (hasta 65%)</a:t>
            </a:r>
            <a:endParaRPr lang="es-E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 de ansiedad-angustia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marL="609600" indent="-609600">
              <a:lnSpc>
                <a:spcPct val="80000"/>
              </a:lnSpc>
            </a:pPr>
            <a:r>
              <a:rPr lang="es-ES" sz="2800" dirty="0" smtClean="0"/>
              <a:t>Descartar patología del Eje III:</a:t>
            </a:r>
            <a:endParaRPr lang="es-AR" sz="2800" dirty="0" smtClean="0"/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Angina de pecho, IAM, HTA, arritmias, p</a:t>
            </a:r>
            <a:r>
              <a:rPr lang="es-AR" sz="2500" dirty="0" err="1" smtClean="0"/>
              <a:t>rolapso</a:t>
            </a:r>
            <a:r>
              <a:rPr lang="es-AR" sz="2500" dirty="0" smtClean="0"/>
              <a:t> de </a:t>
            </a:r>
            <a:r>
              <a:rPr lang="es-AR" sz="2500" dirty="0" smtClean="0"/>
              <a:t>válvula </a:t>
            </a:r>
            <a:r>
              <a:rPr lang="es-AR" sz="2500" dirty="0" smtClean="0"/>
              <a:t>mitral, ICC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AR" sz="2500" dirty="0" smtClean="0"/>
              <a:t>Hiperventilación, asma, EPOC, TEP, edema agudo de pulmón, neumotórax.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TEC, accidentes cerebro-vasculares, HSA, epilepsia </a:t>
            </a:r>
            <a:r>
              <a:rPr lang="es-ES" sz="2500" dirty="0" smtClean="0"/>
              <a:t>lóbulo </a:t>
            </a:r>
            <a:r>
              <a:rPr lang="es-ES" sz="2500" dirty="0" smtClean="0"/>
              <a:t>temporal, migraña, </a:t>
            </a:r>
            <a:endParaRPr lang="es-ES" sz="2500" dirty="0" smtClean="0"/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Hipertiroidismo, hipoglucemia, menopausia, síndrome premenstrual, </a:t>
            </a:r>
            <a:r>
              <a:rPr lang="es-ES" sz="2500" dirty="0" err="1" smtClean="0"/>
              <a:t>hiperparatiroidismo</a:t>
            </a:r>
            <a:r>
              <a:rPr lang="es-ES" sz="2500" dirty="0" smtClean="0"/>
              <a:t>, </a:t>
            </a:r>
            <a:r>
              <a:rPr lang="es-ES" sz="2500" dirty="0" err="1" smtClean="0"/>
              <a:t>feocromocitoma</a:t>
            </a:r>
            <a:endParaRPr lang="es-ES" sz="2500" dirty="0" smtClean="0"/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Anemia, </a:t>
            </a:r>
            <a:r>
              <a:rPr lang="es-ES" sz="2500" dirty="0" err="1" smtClean="0"/>
              <a:t>porfiria</a:t>
            </a:r>
            <a:r>
              <a:rPr lang="es-ES" sz="2500" dirty="0" smtClean="0"/>
              <a:t> aguda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Abstinencia </a:t>
            </a:r>
            <a:r>
              <a:rPr lang="es-ES" sz="2500" dirty="0" smtClean="0"/>
              <a:t>de alcohol, opiáceos y barbitúricos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Intoxicaciones </a:t>
            </a:r>
            <a:r>
              <a:rPr lang="es-ES" sz="2500" dirty="0" smtClean="0"/>
              <a:t>por </a:t>
            </a:r>
            <a:r>
              <a:rPr lang="es-ES" sz="2500" dirty="0" smtClean="0"/>
              <a:t>psicotrópicos </a:t>
            </a:r>
            <a:endParaRPr lang="es-ES" sz="25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 de ansiedad-angustia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>
              <a:lnSpc>
                <a:spcPct val="80000"/>
              </a:lnSpc>
            </a:pPr>
            <a:r>
              <a:rPr lang="es-MX" sz="2800" dirty="0" smtClean="0"/>
              <a:t>Tratamiento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Interrogar </a:t>
            </a:r>
            <a:r>
              <a:rPr lang="es-MX" sz="2500" dirty="0" smtClean="0"/>
              <a:t>sobre factores desencadenantes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Explicar </a:t>
            </a:r>
            <a:r>
              <a:rPr lang="es-MX" sz="2500" dirty="0" smtClean="0"/>
              <a:t>que no </a:t>
            </a:r>
            <a:r>
              <a:rPr lang="es-MX" sz="2500" dirty="0" smtClean="0"/>
              <a:t>representa </a:t>
            </a:r>
            <a:r>
              <a:rPr lang="es-MX" sz="2500" dirty="0" smtClean="0"/>
              <a:t>riesgo de vida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Explicar </a:t>
            </a:r>
            <a:r>
              <a:rPr lang="es-MX" sz="2500" dirty="0" smtClean="0"/>
              <a:t>la naturaleza y origen de los síntomas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Administrar medicación                  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Las benzodiacepinas son los </a:t>
            </a:r>
            <a:r>
              <a:rPr lang="es-MX" sz="2500" dirty="0" err="1" smtClean="0"/>
              <a:t>ansióliticos</a:t>
            </a:r>
            <a:r>
              <a:rPr lang="es-MX" sz="2500" dirty="0" smtClean="0"/>
              <a:t> de elección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Evitar su uso en pacientes con antecedentes  de abuso o dependencia de sustancias.</a:t>
            </a:r>
          </a:p>
          <a:p>
            <a:pPr lvl="1" algn="just">
              <a:lnSpc>
                <a:spcPct val="80000"/>
              </a:lnSpc>
            </a:pPr>
            <a:r>
              <a:rPr lang="es-MX" sz="2500" dirty="0" smtClean="0"/>
              <a:t>Explicar que el uso de la medicación será por tiempo limitado.</a:t>
            </a:r>
          </a:p>
          <a:p>
            <a:pPr lvl="1" algn="just">
              <a:lnSpc>
                <a:spcPct val="80000"/>
              </a:lnSpc>
            </a:pPr>
            <a:endParaRPr lang="es-ES" sz="25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285720" y="4714884"/>
          <a:ext cx="850109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919"/>
                <a:gridCol w="863398"/>
                <a:gridCol w="2437721"/>
                <a:gridCol w="1108835"/>
                <a:gridCol w="1700218"/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Fármaco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Vía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Inicio de acción (VO)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T ½ (hs)</a:t>
                      </a:r>
                      <a:r>
                        <a:rPr lang="es-ES" sz="1600" baseline="0" dirty="0" smtClean="0"/>
                        <a:t> 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Dosis </a:t>
                      </a:r>
                      <a:r>
                        <a:rPr lang="es-ES" sz="1600" dirty="0" err="1" smtClean="0"/>
                        <a:t>equiv</a:t>
                      </a:r>
                      <a:r>
                        <a:rPr lang="es-ES" sz="1600" dirty="0" smtClean="0"/>
                        <a:t>.</a:t>
                      </a:r>
                      <a:endParaRPr lang="es-E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 smtClean="0"/>
                        <a:t>Clonazepam</a:t>
                      </a:r>
                      <a:r>
                        <a:rPr lang="es-ES" sz="1600" dirty="0" smtClean="0"/>
                        <a:t> (0,5-4 mg)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VO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Intermedia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18- 50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0,25</a:t>
                      </a:r>
                      <a:endParaRPr lang="es-E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 smtClean="0"/>
                        <a:t>Lorazepam</a:t>
                      </a:r>
                      <a:r>
                        <a:rPr lang="es-ES" sz="1600" dirty="0" smtClean="0"/>
                        <a:t> (1-6 mg)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VO/IM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Intermedia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10- 20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1</a:t>
                      </a:r>
                      <a:endParaRPr lang="es-E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 smtClean="0"/>
                        <a:t>Alprazolam</a:t>
                      </a:r>
                      <a:r>
                        <a:rPr lang="es-ES" sz="1600" dirty="0" smtClean="0"/>
                        <a:t> (0,5-</a:t>
                      </a:r>
                      <a:r>
                        <a:rPr lang="es-ES" sz="1600" baseline="0" dirty="0" smtClean="0"/>
                        <a:t> 4 mg)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VO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Intermedia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6- 20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0,5</a:t>
                      </a:r>
                      <a:endParaRPr lang="es-E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 smtClean="0"/>
                        <a:t>Diazepam</a:t>
                      </a:r>
                      <a:r>
                        <a:rPr lang="es-ES" sz="1600" dirty="0" smtClean="0"/>
                        <a:t> (2,5- 40 mg)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VO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Rápido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30- 100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5</a:t>
                      </a:r>
                      <a:endParaRPr lang="es-E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 de ansiedad-angustia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marL="609600" indent="-609600">
              <a:lnSpc>
                <a:spcPct val="80000"/>
              </a:lnSpc>
            </a:pPr>
            <a:r>
              <a:rPr lang="es-ES" sz="2800" dirty="0" smtClean="0"/>
              <a:t>Tratamiento</a:t>
            </a:r>
            <a:endParaRPr lang="es-AR" sz="2800" dirty="0" smtClean="0"/>
          </a:p>
          <a:p>
            <a:pPr marL="975360" lvl="1" indent="-609600" algn="just">
              <a:lnSpc>
                <a:spcPct val="80000"/>
              </a:lnSpc>
              <a:buNone/>
            </a:pPr>
            <a:r>
              <a:rPr lang="es-ES" sz="2500" dirty="0" smtClean="0"/>
              <a:t>Una vez descartado el compromiso orgánico, la </a:t>
            </a:r>
            <a:r>
              <a:rPr lang="es-ES" sz="2500" i="1" dirty="0" err="1" smtClean="0"/>
              <a:t>psicoeducación</a:t>
            </a:r>
            <a:r>
              <a:rPr lang="es-ES" sz="2500" dirty="0" smtClean="0"/>
              <a:t> constituye un elemento esencial del tratamiento agudo.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Informar que los ataques de pánico no constituyen una amenaza para la vida, pero que de no ser tratados pueden acarrear consecuencias a largo plazo.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Desaconsejar el consumo de productos con cafeína y medicamentos que contienen estimulantes.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Derivar el paciente para tratamiento ambulatorio.</a:t>
            </a:r>
          </a:p>
          <a:p>
            <a:pPr marL="975360" lvl="1" indent="-609600" algn="just">
              <a:lnSpc>
                <a:spcPct val="80000"/>
              </a:lnSpc>
            </a:pPr>
            <a:r>
              <a:rPr lang="es-ES" sz="2500" dirty="0" smtClean="0"/>
              <a:t>Evaluar la posibilidad de internación, en caso de que sea necesario.</a:t>
            </a:r>
            <a:endParaRPr lang="es-ES" sz="25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/>
            <a:r>
              <a:rPr lang="es-ES" sz="2800" dirty="0" smtClean="0"/>
              <a:t>Síndrome caracterizado por un aumento significativo de la </a:t>
            </a:r>
            <a:r>
              <a:rPr lang="es-ES" sz="2800" i="1" dirty="0" smtClean="0"/>
              <a:t>actividad</a:t>
            </a:r>
            <a:r>
              <a:rPr lang="es-ES" sz="2800" dirty="0" smtClean="0"/>
              <a:t> motora, acompañado generalmente de la alteración de la </a:t>
            </a:r>
            <a:r>
              <a:rPr lang="es-ES" sz="2800" i="1" dirty="0" smtClean="0"/>
              <a:t>esfera emocional </a:t>
            </a:r>
            <a:r>
              <a:rPr lang="es-ES" sz="2800" dirty="0" smtClean="0"/>
              <a:t>y un diverso conjunto de síntomas polimorfos e inespecíficos.</a:t>
            </a:r>
          </a:p>
          <a:p>
            <a:pPr algn="just"/>
            <a:r>
              <a:rPr lang="es-ES" sz="2800" dirty="0" smtClean="0"/>
              <a:t>El riesgo de presentar una conducta violenta se incrementa significativamente por el consumo de sustancias psicoactivas.</a:t>
            </a:r>
          </a:p>
          <a:p>
            <a:pPr algn="just"/>
            <a:r>
              <a:rPr lang="es-ES" sz="2800" smtClean="0"/>
              <a:t>Pacientes escasamente colaboradores y que pueden presentar conductas agresivas o violentas.</a:t>
            </a:r>
          </a:p>
          <a:p>
            <a:pPr algn="just"/>
            <a:r>
              <a:rPr lang="es-ES" sz="2800" smtClean="0"/>
              <a:t>Tendencia </a:t>
            </a:r>
            <a:r>
              <a:rPr lang="es-ES" sz="2800" dirty="0" smtClean="0"/>
              <a:t>a atribuirle inmediatamente un origen psiquiátrico.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/>
            <a:r>
              <a:rPr lang="es-ES" sz="2800" dirty="0" smtClean="0"/>
              <a:t>Síndrome psiquiátrico de urgencia más importante.</a:t>
            </a:r>
          </a:p>
          <a:p>
            <a:pPr algn="just"/>
            <a:r>
              <a:rPr lang="es-ES" sz="2800" dirty="0" smtClean="0"/>
              <a:t>No constituye en sí mismo una enfermedad.</a:t>
            </a:r>
          </a:p>
          <a:p>
            <a:pPr algn="just"/>
            <a:r>
              <a:rPr lang="es-ES" sz="2800" dirty="0" smtClean="0"/>
              <a:t>Requiere de asistencia e intervención inmediata, sin posibilidad de atención diferida.</a:t>
            </a:r>
          </a:p>
          <a:p>
            <a:pPr algn="just"/>
            <a:r>
              <a:rPr lang="es-ES" sz="2800" dirty="0" smtClean="0"/>
              <a:t>Puede ser consecuencia de trastornos psiquiátricos, reactivos u orgánicos.</a:t>
            </a:r>
          </a:p>
          <a:p>
            <a:pPr algn="just"/>
            <a:r>
              <a:rPr lang="es-ES" sz="2800" dirty="0" smtClean="0"/>
              <a:t>Es distinto del paciente violento (uso intencional de la fuerza o el poder físico, de hecho o como  amenazas).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/>
            <a:r>
              <a:rPr lang="es-ES" sz="3200" dirty="0" smtClean="0"/>
              <a:t>Presentación clínica:</a:t>
            </a:r>
          </a:p>
          <a:p>
            <a:pPr lvl="1" algn="just"/>
            <a:r>
              <a:rPr lang="es-MX" sz="2800" dirty="0" smtClean="0"/>
              <a:t>Inquietud motora</a:t>
            </a:r>
          </a:p>
          <a:p>
            <a:pPr lvl="1" algn="just"/>
            <a:r>
              <a:rPr lang="es-MX" sz="2800" dirty="0" smtClean="0"/>
              <a:t>Irritabilidad</a:t>
            </a:r>
          </a:p>
          <a:p>
            <a:pPr lvl="1" algn="just"/>
            <a:r>
              <a:rPr lang="es-MX" sz="2800" dirty="0" smtClean="0"/>
              <a:t>Actividad </a:t>
            </a:r>
            <a:r>
              <a:rPr lang="es-MX" sz="2800" dirty="0" smtClean="0"/>
              <a:t>verbal y motora sin propósito </a:t>
            </a:r>
            <a:r>
              <a:rPr lang="es-MX" sz="2800" dirty="0" smtClean="0"/>
              <a:t>definido</a:t>
            </a:r>
          </a:p>
          <a:p>
            <a:pPr lvl="1" algn="just"/>
            <a:r>
              <a:rPr lang="es-MX" sz="2800" dirty="0" smtClean="0"/>
              <a:t>Pobre </a:t>
            </a:r>
            <a:r>
              <a:rPr lang="es-MX" sz="2800" dirty="0" smtClean="0"/>
              <a:t>control de los </a:t>
            </a:r>
            <a:r>
              <a:rPr lang="es-MX" sz="2800" dirty="0" smtClean="0"/>
              <a:t>impulsos</a:t>
            </a:r>
          </a:p>
          <a:p>
            <a:pPr lvl="1" algn="just"/>
            <a:r>
              <a:rPr lang="es-MX" sz="2800" dirty="0" smtClean="0"/>
              <a:t>Disminución </a:t>
            </a:r>
            <a:r>
              <a:rPr lang="es-MX" sz="2800" dirty="0" smtClean="0"/>
              <a:t>de la cantidad de horas de </a:t>
            </a:r>
            <a:r>
              <a:rPr lang="es-MX" sz="2800" dirty="0" smtClean="0"/>
              <a:t>sueño</a:t>
            </a:r>
          </a:p>
          <a:p>
            <a:pPr lvl="1" algn="just"/>
            <a:r>
              <a:rPr lang="es-MX" sz="2800" dirty="0" smtClean="0"/>
              <a:t>Fluctuación </a:t>
            </a:r>
            <a:r>
              <a:rPr lang="es-MX" sz="2800" dirty="0" smtClean="0"/>
              <a:t>de los síntomas a través del </a:t>
            </a:r>
            <a:r>
              <a:rPr lang="es-MX" sz="2800" dirty="0" smtClean="0"/>
              <a:t>tiempo</a:t>
            </a:r>
          </a:p>
          <a:p>
            <a:pPr lvl="1" algn="just"/>
            <a:r>
              <a:rPr lang="es-MX" sz="2800" dirty="0" smtClean="0"/>
              <a:t>Lenguaje </a:t>
            </a:r>
            <a:r>
              <a:rPr lang="es-MX" sz="2800" dirty="0" smtClean="0"/>
              <a:t>poco </a:t>
            </a:r>
            <a:r>
              <a:rPr lang="es-MX" sz="2800" dirty="0" smtClean="0"/>
              <a:t>apropiado</a:t>
            </a:r>
          </a:p>
          <a:p>
            <a:pPr lvl="1" algn="just"/>
            <a:r>
              <a:rPr lang="es-MX" sz="2800" dirty="0" err="1" smtClean="0"/>
              <a:t>Distress</a:t>
            </a:r>
            <a:r>
              <a:rPr lang="es-MX" sz="2800" dirty="0" smtClean="0"/>
              <a:t> </a:t>
            </a:r>
            <a:r>
              <a:rPr lang="es-MX" sz="2800" dirty="0" smtClean="0"/>
              <a:t>personal y familiar </a:t>
            </a:r>
            <a:r>
              <a:rPr lang="es-MX" sz="2800" dirty="0" smtClean="0"/>
              <a:t>intenso</a:t>
            </a:r>
          </a:p>
          <a:p>
            <a:pPr lvl="1" algn="just"/>
            <a:r>
              <a:rPr lang="es-MX" sz="2800" dirty="0" smtClean="0"/>
              <a:t>Impulsividad</a:t>
            </a:r>
            <a:endParaRPr lang="es-MX" sz="2800" dirty="0" smtClean="0"/>
          </a:p>
          <a:p>
            <a:pPr lvl="1" algn="just"/>
            <a:endParaRPr lang="es-ES" sz="1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6143644"/>
          </a:xfrm>
        </p:spPr>
        <p:txBody>
          <a:bodyPr vert="horz">
            <a:noAutofit/>
          </a:bodyPr>
          <a:lstStyle/>
          <a:p>
            <a:pPr algn="just"/>
            <a:r>
              <a:rPr lang="es-ES" sz="3600" dirty="0" smtClean="0"/>
              <a:t>Etiología</a:t>
            </a:r>
          </a:p>
          <a:p>
            <a:pPr marL="822960" lvl="1" indent="-457200" algn="just">
              <a:buFont typeface="+mj-lt"/>
              <a:buAutoNum type="arabicPeriod"/>
            </a:pPr>
            <a:r>
              <a:rPr lang="es-ES" sz="2800" dirty="0" smtClean="0"/>
              <a:t>Delirium</a:t>
            </a:r>
          </a:p>
          <a:p>
            <a:pPr marL="822960" lvl="1" indent="-457200" algn="just">
              <a:buFont typeface="+mj-lt"/>
              <a:buAutoNum type="arabicPeriod"/>
            </a:pPr>
            <a:r>
              <a:rPr lang="es-ES" sz="2800" dirty="0" smtClean="0"/>
              <a:t>Trastornos psicóticos no asociados a delirium</a:t>
            </a:r>
          </a:p>
          <a:p>
            <a:pPr marL="1097280" lvl="2" indent="-457200" algn="just"/>
            <a:r>
              <a:rPr lang="es-ES" sz="2500" dirty="0" smtClean="0"/>
              <a:t>Esquizofrenia</a:t>
            </a:r>
          </a:p>
          <a:p>
            <a:pPr marL="1097280" lvl="2" indent="-457200" algn="just"/>
            <a:r>
              <a:rPr lang="es-ES" sz="2500" dirty="0" smtClean="0"/>
              <a:t>Trastornos del estado de ánimo</a:t>
            </a:r>
          </a:p>
          <a:p>
            <a:pPr marL="1097280" lvl="2" indent="-457200" algn="just"/>
            <a:r>
              <a:rPr lang="es-ES" sz="2500" dirty="0" smtClean="0"/>
              <a:t>Trastorno delirante </a:t>
            </a:r>
          </a:p>
          <a:p>
            <a:pPr marL="822960" lvl="1" indent="-457200" algn="just">
              <a:buFont typeface="+mj-lt"/>
              <a:buAutoNum type="arabicPeriod"/>
            </a:pPr>
            <a:r>
              <a:rPr lang="es-ES" sz="2800" dirty="0" smtClean="0"/>
              <a:t>Trastornos no psicóticos con agitación</a:t>
            </a:r>
          </a:p>
          <a:p>
            <a:pPr marL="1097280" lvl="2" indent="-457200" algn="just"/>
            <a:r>
              <a:rPr lang="es-ES" sz="2400" dirty="0" smtClean="0"/>
              <a:t>Trastornos de ansiedad</a:t>
            </a:r>
          </a:p>
          <a:p>
            <a:pPr marL="1097280" lvl="2" indent="-457200" algn="just"/>
            <a:r>
              <a:rPr lang="es-ES" sz="2400" dirty="0" smtClean="0"/>
              <a:t>Trastorno conversivo</a:t>
            </a:r>
          </a:p>
          <a:p>
            <a:pPr marL="1097280" lvl="2" indent="-457200" algn="just"/>
            <a:r>
              <a:rPr lang="es-ES" sz="2400" dirty="0" smtClean="0"/>
              <a:t>Trastornos de personalidad (antisocial, trastorno límite de personalidad)</a:t>
            </a:r>
          </a:p>
          <a:p>
            <a:pPr marL="1097280" lvl="2" indent="-457200" algn="just"/>
            <a:r>
              <a:rPr lang="es-ES" sz="2400" dirty="0" smtClean="0"/>
              <a:t>TEPT</a:t>
            </a:r>
          </a:p>
          <a:p>
            <a:pPr marL="1097280" lvl="2" indent="-457200" algn="just"/>
            <a:r>
              <a:rPr lang="es-ES" sz="2400" dirty="0" smtClean="0"/>
              <a:t>Trastorno por consumo de sustancias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642918"/>
            <a:ext cx="8929718" cy="6215082"/>
          </a:xfrm>
        </p:spPr>
        <p:txBody>
          <a:bodyPr vert="horz">
            <a:noAutofit/>
          </a:bodyPr>
          <a:lstStyle/>
          <a:p>
            <a:pPr algn="just"/>
            <a:r>
              <a:rPr lang="es-ES" sz="3200" dirty="0" smtClean="0"/>
              <a:t>Actuación ante el paciente agitado: m</a:t>
            </a:r>
            <a:r>
              <a:rPr lang="es-MX" sz="3200" dirty="0" err="1" smtClean="0"/>
              <a:t>edidas</a:t>
            </a:r>
            <a:r>
              <a:rPr lang="es-MX" sz="3200" dirty="0" smtClean="0"/>
              <a:t> de seguridad</a:t>
            </a:r>
          </a:p>
          <a:p>
            <a:pPr lvl="1" algn="just"/>
            <a:r>
              <a:rPr lang="es-MX" sz="2000" dirty="0" smtClean="0"/>
              <a:t>Obtener toda la información posible antes del contacto con el paciente.</a:t>
            </a:r>
          </a:p>
          <a:p>
            <a:pPr lvl="1" algn="just"/>
            <a:r>
              <a:rPr lang="es-MX" sz="2000" dirty="0" smtClean="0"/>
              <a:t>Quitarse collares, aros, anteojos y recogerse el pelo.</a:t>
            </a:r>
          </a:p>
          <a:p>
            <a:pPr lvl="1" algn="just"/>
            <a:r>
              <a:rPr lang="es-MX" sz="2000" dirty="0" smtClean="0"/>
              <a:t>Evitar el uso de todo objeto que pueda ser utilizado como arma.</a:t>
            </a:r>
          </a:p>
          <a:p>
            <a:pPr lvl="1" algn="just"/>
            <a:r>
              <a:rPr lang="es-MX" sz="2000" dirty="0" smtClean="0"/>
              <a:t>Ambiente: Muebles sólidos y pesados, despejado de objetos de vidrio y de decoración que puedan ser usados como proyectiles.</a:t>
            </a:r>
          </a:p>
          <a:p>
            <a:pPr lvl="1" algn="just"/>
            <a:r>
              <a:rPr lang="es-MX" sz="2000" i="1" dirty="0" smtClean="0"/>
              <a:t>Privado pero no aislado</a:t>
            </a:r>
            <a:r>
              <a:rPr lang="es-MX" sz="2000" dirty="0" smtClean="0"/>
              <a:t>, sin dificultades para su acceso (dos puertas sin traba; en el caso de haber una sola: fácil acceso para entrevistador y paciente sin objetos interpuestos).</a:t>
            </a:r>
          </a:p>
          <a:p>
            <a:pPr lvl="1" algn="just"/>
            <a:r>
              <a:rPr lang="es-MX" sz="2000" i="1" dirty="0" smtClean="0"/>
              <a:t>Sistema de llamada al exterior</a:t>
            </a:r>
            <a:r>
              <a:rPr lang="es-MX" sz="2000" dirty="0" smtClean="0"/>
              <a:t>.</a:t>
            </a:r>
          </a:p>
          <a:p>
            <a:pPr lvl="1" algn="just"/>
            <a:r>
              <a:rPr lang="es-MX" sz="2000" i="1" dirty="0" smtClean="0"/>
              <a:t>Entrevistar al paciente solo </a:t>
            </a:r>
            <a:r>
              <a:rPr lang="es-MX" sz="2000" dirty="0" smtClean="0"/>
              <a:t>o en presencia de un familiar que lo tranquilice.</a:t>
            </a:r>
          </a:p>
          <a:p>
            <a:pPr lvl="1" algn="just"/>
            <a:r>
              <a:rPr lang="es-MX" sz="2000" dirty="0" smtClean="0"/>
              <a:t>Si el riesgo de violencia es elevado, entrevistar con la puerta abierta y otras personas fuera o dentro de la habitación. La presencia de personal suficiente tiene carácter persuasivo y tranquilizador.</a:t>
            </a:r>
            <a:endParaRPr lang="es-E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571480"/>
            <a:ext cx="8929718" cy="6286520"/>
          </a:xfrm>
        </p:spPr>
        <p:txBody>
          <a:bodyPr vert="horz">
            <a:noAutofit/>
          </a:bodyPr>
          <a:lstStyle/>
          <a:p>
            <a:pPr algn="just"/>
            <a:r>
              <a:rPr lang="es-ES" sz="3200" dirty="0" smtClean="0"/>
              <a:t>Actuación ante el paciente agitado: m</a:t>
            </a:r>
            <a:r>
              <a:rPr lang="es-MX" sz="3200" dirty="0" err="1" smtClean="0"/>
              <a:t>edidas</a:t>
            </a:r>
            <a:r>
              <a:rPr lang="es-MX" sz="3200" dirty="0" smtClean="0"/>
              <a:t> de seguridad</a:t>
            </a:r>
          </a:p>
          <a:p>
            <a:pPr lvl="1" algn="just"/>
            <a:r>
              <a:rPr lang="es-MX" sz="2000" dirty="0" smtClean="0"/>
              <a:t>Avisar al equipo que se va a entrevistar al paciente, para poner en alerta al personal sobre cualquier necesidad de intervención urgente.</a:t>
            </a:r>
          </a:p>
          <a:p>
            <a:pPr lvl="1" algn="just"/>
            <a:r>
              <a:rPr lang="es-MX" sz="2000" dirty="0" smtClean="0"/>
              <a:t>El comportamiento y los elementos de comunicación </a:t>
            </a:r>
            <a:r>
              <a:rPr lang="es-MX" sz="2000" dirty="0" err="1" smtClean="0"/>
              <a:t>preverbales</a:t>
            </a:r>
            <a:r>
              <a:rPr lang="es-MX" sz="2000" dirty="0" smtClean="0"/>
              <a:t> del examinador pueden inducir o evitar la violencia.</a:t>
            </a:r>
          </a:p>
          <a:p>
            <a:pPr lvl="1" algn="just"/>
            <a:r>
              <a:rPr lang="es-MX" sz="2000" dirty="0" smtClean="0"/>
              <a:t>Hablar pausadamente, mostrando actitud calma.</a:t>
            </a:r>
          </a:p>
          <a:p>
            <a:pPr lvl="1" algn="just"/>
            <a:r>
              <a:rPr lang="es-MX" sz="2000" dirty="0" smtClean="0"/>
              <a:t>Mantener las manos a la vista del paciente durante toda la entrevista.</a:t>
            </a:r>
          </a:p>
          <a:p>
            <a:pPr lvl="1" algn="just"/>
            <a:r>
              <a:rPr lang="es-MX" sz="2000" dirty="0" smtClean="0"/>
              <a:t>Evitar movimientos bruscos o súbitos.</a:t>
            </a:r>
          </a:p>
          <a:p>
            <a:pPr lvl="1" algn="just"/>
            <a:r>
              <a:rPr lang="es-MX" sz="2000" dirty="0" smtClean="0"/>
              <a:t>En lo posible, iniciar la entrevista con temas neutrales.</a:t>
            </a:r>
          </a:p>
          <a:p>
            <a:pPr lvl="1" algn="just"/>
            <a:r>
              <a:rPr lang="es-MX" sz="2000" dirty="0" smtClean="0"/>
              <a:t>NO examinar a pacientes que se encuentren armados y dar información de esto al personal de seguridad o la policía.</a:t>
            </a:r>
          </a:p>
          <a:p>
            <a:pPr lvl="1" algn="just"/>
            <a:r>
              <a:rPr lang="es-MX" sz="2000" dirty="0" smtClean="0"/>
              <a:t>No entrevistar al paciente a solas</a:t>
            </a:r>
          </a:p>
          <a:p>
            <a:pPr lvl="1" algn="just"/>
            <a:r>
              <a:rPr lang="es-MX" sz="2000" dirty="0" smtClean="0"/>
              <a:t>No dar la espalda al paciente</a:t>
            </a:r>
          </a:p>
          <a:p>
            <a:pPr lvl="1" algn="just"/>
            <a:r>
              <a:rPr lang="es-MX" sz="2000" dirty="0" smtClean="0"/>
              <a:t>Mantenerse fuera del alcance de potenciales golpes.</a:t>
            </a:r>
          </a:p>
          <a:p>
            <a:pPr lvl="1" algn="just"/>
            <a:r>
              <a:rPr lang="es-MX" sz="2000" dirty="0" smtClean="0"/>
              <a:t>No intentar tocar al paciente.</a:t>
            </a:r>
            <a:endParaRPr lang="es-E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6143644"/>
          </a:xfrm>
        </p:spPr>
        <p:txBody>
          <a:bodyPr vert="horz">
            <a:noAutofit/>
          </a:bodyPr>
          <a:lstStyle/>
          <a:p>
            <a:pPr algn="just"/>
            <a:r>
              <a:rPr lang="es-ES" sz="3600" dirty="0" smtClean="0"/>
              <a:t>Factores </a:t>
            </a:r>
            <a:r>
              <a:rPr lang="es-ES" sz="3600" dirty="0" err="1" smtClean="0"/>
              <a:t>predictores</a:t>
            </a:r>
            <a:r>
              <a:rPr lang="es-ES" sz="3600" dirty="0" smtClean="0"/>
              <a:t> de </a:t>
            </a:r>
            <a:r>
              <a:rPr lang="es-ES" sz="3600" dirty="0" err="1" smtClean="0"/>
              <a:t>hetero</a:t>
            </a:r>
            <a:r>
              <a:rPr lang="es-ES" sz="3600" dirty="0" err="1" smtClean="0"/>
              <a:t>-</a:t>
            </a:r>
            <a:r>
              <a:rPr lang="es-ES" sz="3600" dirty="0" err="1" smtClean="0"/>
              <a:t>autoagresividad</a:t>
            </a:r>
            <a:r>
              <a:rPr lang="es-ES" sz="3600" dirty="0" smtClean="0"/>
              <a:t>: Violencia posible</a:t>
            </a:r>
          </a:p>
          <a:p>
            <a:pPr lvl="1" algn="just"/>
            <a:r>
              <a:rPr lang="es-ES" sz="2400" dirty="0" smtClean="0"/>
              <a:t>Aumento creciente de actividad motora</a:t>
            </a:r>
          </a:p>
          <a:p>
            <a:pPr lvl="1" algn="just"/>
            <a:r>
              <a:rPr lang="es-ES" sz="2400" dirty="0" smtClean="0"/>
              <a:t>Presencia de gestos y actitudes violentas: amenazas verbales, gritos, exhibición de violencia sobre objetos.</a:t>
            </a:r>
          </a:p>
          <a:p>
            <a:pPr lvl="1" algn="just"/>
            <a:r>
              <a:rPr lang="es-ES" sz="2400" dirty="0" smtClean="0"/>
              <a:t>Sospecha de consumo de tóxicos.</a:t>
            </a:r>
          </a:p>
          <a:p>
            <a:pPr lvl="1" algn="just"/>
            <a:r>
              <a:rPr lang="es-ES" sz="2400" dirty="0" smtClean="0"/>
              <a:t>Antecedentes previos de conducta violenta.</a:t>
            </a:r>
          </a:p>
          <a:p>
            <a:pPr lvl="1" algn="just"/>
            <a:r>
              <a:rPr lang="es-ES" sz="2400" dirty="0" smtClean="0"/>
              <a:t>Hablar más rápidos, subir el tono de voz, sarcasmo.</a:t>
            </a:r>
          </a:p>
          <a:p>
            <a:pPr lvl="1" algn="just"/>
            <a:r>
              <a:rPr lang="es-ES" sz="2400" dirty="0" smtClean="0"/>
              <a:t>Deambular; negarse a toma asiento.</a:t>
            </a:r>
          </a:p>
          <a:p>
            <a:pPr lvl="1" algn="just"/>
            <a:r>
              <a:rPr lang="es-ES" sz="2400" dirty="0" smtClean="0"/>
              <a:t>Señalar con el dedo.</a:t>
            </a:r>
          </a:p>
          <a:p>
            <a:pPr lvl="1" algn="just"/>
            <a:r>
              <a:rPr lang="es-ES" sz="2400" dirty="0" smtClean="0"/>
              <a:t>Apretar la mandíbula</a:t>
            </a:r>
          </a:p>
          <a:p>
            <a:pPr lvl="1" algn="just"/>
            <a:r>
              <a:rPr lang="es-ES" sz="2400" dirty="0" smtClean="0"/>
              <a:t>Presencia de alucinaciones.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85794"/>
            <a:ext cx="8501122" cy="6072206"/>
          </a:xfrm>
        </p:spPr>
        <p:txBody>
          <a:bodyPr vert="horz">
            <a:noAutofit/>
          </a:bodyPr>
          <a:lstStyle/>
          <a:p>
            <a:pPr algn="just"/>
            <a:r>
              <a:rPr lang="es-ES" sz="3600" dirty="0" smtClean="0"/>
              <a:t>Factores </a:t>
            </a:r>
            <a:r>
              <a:rPr lang="es-ES" sz="3600" dirty="0" err="1" smtClean="0"/>
              <a:t>predictores</a:t>
            </a:r>
            <a:r>
              <a:rPr lang="es-ES" sz="3600" dirty="0" smtClean="0"/>
              <a:t> de </a:t>
            </a:r>
            <a:r>
              <a:rPr lang="es-ES" sz="3600" dirty="0" err="1" smtClean="0"/>
              <a:t>hetero</a:t>
            </a:r>
            <a:r>
              <a:rPr lang="es-ES" sz="3600" dirty="0" err="1" smtClean="0"/>
              <a:t>-</a:t>
            </a:r>
            <a:r>
              <a:rPr lang="es-ES" sz="3600" dirty="0" err="1" smtClean="0"/>
              <a:t>autoagresividad</a:t>
            </a:r>
            <a:r>
              <a:rPr lang="es-ES" sz="3600" dirty="0" smtClean="0"/>
              <a:t>: Violencia inminente</a:t>
            </a:r>
          </a:p>
          <a:p>
            <a:pPr algn="just"/>
            <a:endParaRPr lang="es-ES" sz="3600" dirty="0" smtClean="0"/>
          </a:p>
          <a:p>
            <a:pPr lvl="1" algn="just"/>
            <a:r>
              <a:rPr lang="es-ES" sz="2400" dirty="0" smtClean="0"/>
              <a:t>Cerrar los puños y mostrarlos</a:t>
            </a:r>
          </a:p>
          <a:p>
            <a:pPr lvl="1" algn="just"/>
            <a:r>
              <a:rPr lang="es-ES" sz="2400" dirty="0" smtClean="0"/>
              <a:t>Agitar el puño cerrado</a:t>
            </a:r>
          </a:p>
          <a:p>
            <a:pPr lvl="1" algn="just"/>
            <a:r>
              <a:rPr lang="es-ES" sz="2400" dirty="0" smtClean="0"/>
              <a:t>Levantar el puño por encima del hombro</a:t>
            </a:r>
          </a:p>
          <a:p>
            <a:pPr lvl="1" algn="just"/>
            <a:r>
              <a:rPr lang="es-ES" sz="2400" dirty="0" smtClean="0"/>
              <a:t>Golpear la palma de la mano con el puño</a:t>
            </a:r>
          </a:p>
          <a:p>
            <a:pPr lvl="1" algn="just"/>
            <a:r>
              <a:rPr lang="es-ES" sz="2400" dirty="0" smtClean="0"/>
              <a:t>Asumir posición de ataque</a:t>
            </a:r>
          </a:p>
          <a:p>
            <a:pPr lvl="1" algn="just"/>
            <a:r>
              <a:rPr lang="es-ES" sz="2400" dirty="0" smtClean="0"/>
              <a:t>Expandir el tórax y ensanchar los hombros</a:t>
            </a:r>
          </a:p>
          <a:p>
            <a:pPr lvl="1" algn="just"/>
            <a:r>
              <a:rPr lang="es-ES" sz="2400" dirty="0" smtClean="0"/>
              <a:t>Buscar un objeto utilizable como arma.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85794"/>
            <a:ext cx="8501122" cy="6072206"/>
          </a:xfrm>
        </p:spPr>
        <p:txBody>
          <a:bodyPr vert="horz">
            <a:noAutofit/>
          </a:bodyPr>
          <a:lstStyle/>
          <a:p>
            <a:pPr algn="just"/>
            <a:r>
              <a:rPr lang="es-ES" sz="3600" dirty="0" smtClean="0"/>
              <a:t>Ante amenaza de violencia</a:t>
            </a:r>
          </a:p>
          <a:p>
            <a:pPr lvl="1" algn="just"/>
            <a:r>
              <a:rPr lang="es-ES" sz="3200" dirty="0" smtClean="0"/>
              <a:t>Recurrir a comportamiento de sumisión:</a:t>
            </a:r>
          </a:p>
          <a:p>
            <a:pPr lvl="2" algn="just"/>
            <a:r>
              <a:rPr lang="es-ES" sz="2400" dirty="0" smtClean="0"/>
              <a:t>No hablar de manera autoritaria</a:t>
            </a:r>
          </a:p>
          <a:p>
            <a:pPr lvl="2" algn="just"/>
            <a:r>
              <a:rPr lang="es-ES" sz="2400" dirty="0" smtClean="0"/>
              <a:t>Evitar movimientos y desplazamientos rápidos</a:t>
            </a:r>
          </a:p>
          <a:p>
            <a:pPr lvl="2" algn="just"/>
            <a:r>
              <a:rPr lang="es-ES" sz="2400" dirty="0" smtClean="0"/>
              <a:t>Disminuir el contacto visual cara a cara.</a:t>
            </a:r>
          </a:p>
          <a:p>
            <a:pPr lvl="2" algn="just"/>
            <a:r>
              <a:rPr lang="es-ES" sz="2400" dirty="0" smtClean="0"/>
              <a:t>No elevar las manos</a:t>
            </a:r>
          </a:p>
          <a:p>
            <a:pPr lvl="2" algn="just"/>
            <a:r>
              <a:rPr lang="es-ES" sz="2400" dirty="0" smtClean="0"/>
              <a:t>No cerrar los puños ni esconder las manos.</a:t>
            </a:r>
          </a:p>
          <a:p>
            <a:pPr lvl="2" algn="just"/>
            <a:r>
              <a:rPr lang="es-ES" sz="2400" dirty="0" smtClean="0"/>
              <a:t>No acercarse ni tocar al paciente.</a:t>
            </a:r>
          </a:p>
          <a:p>
            <a:pPr lvl="2" algn="just"/>
            <a:r>
              <a:rPr lang="es-ES" sz="2400" dirty="0" smtClean="0"/>
              <a:t>Hundir el pecho y encoger los hombros</a:t>
            </a:r>
          </a:p>
          <a:p>
            <a:pPr lvl="1" algn="just"/>
            <a:r>
              <a:rPr lang="es-ES" sz="3200" dirty="0" smtClean="0"/>
              <a:t>Asegurar el acceso a la puerta</a:t>
            </a:r>
          </a:p>
          <a:p>
            <a:pPr lvl="1" algn="just"/>
            <a:r>
              <a:rPr lang="es-ES" sz="3200" dirty="0" smtClean="0"/>
              <a:t>Emitir alguna señal convenida, para que intervenga el equipo tratante.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85794"/>
            <a:ext cx="8501122" cy="6072206"/>
          </a:xfrm>
        </p:spPr>
        <p:txBody>
          <a:bodyPr vert="horz">
            <a:noAutofit/>
          </a:bodyPr>
          <a:lstStyle/>
          <a:p>
            <a:pPr algn="just"/>
            <a:r>
              <a:rPr lang="es-ES" sz="3600" dirty="0" smtClean="0"/>
              <a:t>Control de la conducta: </a:t>
            </a:r>
            <a:r>
              <a:rPr lang="es-ES" sz="3600" dirty="0" smtClean="0"/>
              <a:t>contención</a:t>
            </a:r>
          </a:p>
          <a:p>
            <a:pPr algn="just"/>
            <a:endParaRPr lang="es-ES" sz="3600" dirty="0" smtClean="0"/>
          </a:p>
          <a:p>
            <a:pPr algn="just"/>
            <a:r>
              <a:rPr lang="es-ES" sz="3600" dirty="0" smtClean="0"/>
              <a:t>Tomar medidas para intentar controlar la agitación del paciente.</a:t>
            </a:r>
          </a:p>
          <a:p>
            <a:pPr algn="just"/>
            <a:r>
              <a:rPr lang="es-ES" sz="3600" dirty="0" smtClean="0"/>
              <a:t>Deben ayudar a posibilitar la evaluación, el diagnóstico y comenzar con el posible tratamiento.</a:t>
            </a:r>
          </a:p>
          <a:p>
            <a:pPr algn="just"/>
            <a:endParaRPr lang="es-ES" sz="3200" dirty="0" smtClean="0"/>
          </a:p>
          <a:p>
            <a:pPr algn="just"/>
            <a:r>
              <a:rPr lang="es-ES" sz="3200" dirty="0" smtClean="0"/>
              <a:t>Contención verbal </a:t>
            </a:r>
            <a:r>
              <a:rPr lang="es-ES" sz="3200" dirty="0" smtClean="0">
                <a:sym typeface="Wingdings" pitchFamily="2" charset="2"/>
              </a:rPr>
              <a:t> Contención mecánica</a:t>
            </a:r>
            <a:endParaRPr lang="es-E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642918"/>
            <a:ext cx="8501122" cy="6215082"/>
          </a:xfrm>
        </p:spPr>
        <p:txBody>
          <a:bodyPr vert="horz">
            <a:noAutofit/>
          </a:bodyPr>
          <a:lstStyle/>
          <a:p>
            <a:pPr algn="just"/>
            <a:r>
              <a:rPr lang="es-ES" sz="3600" b="1" dirty="0" smtClean="0"/>
              <a:t>Contención verbal</a:t>
            </a:r>
            <a:endParaRPr lang="es-ES" sz="3200" b="1" dirty="0" smtClean="0"/>
          </a:p>
          <a:p>
            <a:pPr lvl="1" algn="just"/>
            <a:r>
              <a:rPr lang="es-ES" sz="2900" dirty="0" smtClean="0"/>
              <a:t>Transmitir al enfermo que se lo está tratando de ayudar.</a:t>
            </a:r>
          </a:p>
          <a:p>
            <a:pPr lvl="1" algn="just"/>
            <a:r>
              <a:rPr lang="es-ES" sz="2900" dirty="0" smtClean="0"/>
              <a:t>Evitar mostrar miedo.</a:t>
            </a:r>
          </a:p>
          <a:p>
            <a:pPr lvl="1" algn="just"/>
            <a:r>
              <a:rPr lang="es-ES" sz="2900" dirty="0" smtClean="0"/>
              <a:t>Mostrarse permanentemente en control de la situación. </a:t>
            </a:r>
          </a:p>
          <a:p>
            <a:pPr lvl="1" algn="just"/>
            <a:r>
              <a:rPr lang="es-ES" sz="2900" dirty="0" smtClean="0"/>
              <a:t>Firmeza y claridad en indicaciones.</a:t>
            </a:r>
          </a:p>
          <a:p>
            <a:pPr lvl="1" algn="just"/>
            <a:r>
              <a:rPr lang="es-ES" sz="2900" dirty="0" smtClean="0"/>
              <a:t>Usar tono de voz calmo y neutro.</a:t>
            </a:r>
          </a:p>
          <a:p>
            <a:pPr lvl="1" algn="just"/>
            <a:r>
              <a:rPr lang="es-ES" sz="2900" dirty="0" smtClean="0"/>
              <a:t>Escuchar y dejar hablar al paciente.</a:t>
            </a:r>
          </a:p>
          <a:p>
            <a:pPr lvl="1" algn="just"/>
            <a:r>
              <a:rPr lang="es-ES" sz="2900" dirty="0" smtClean="0"/>
              <a:t>Realizar preguntas cortas y directas.</a:t>
            </a:r>
          </a:p>
          <a:p>
            <a:pPr lvl="1" algn="just"/>
            <a:r>
              <a:rPr lang="es-ES" sz="2900" dirty="0" smtClean="0"/>
              <a:t>No confrontar, discutir o desafiar al paciente.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00042"/>
            <a:ext cx="8501122" cy="6357958"/>
          </a:xfrm>
        </p:spPr>
        <p:txBody>
          <a:bodyPr vert="horz">
            <a:noAutofit/>
          </a:bodyPr>
          <a:lstStyle/>
          <a:p>
            <a:pPr algn="just"/>
            <a:r>
              <a:rPr lang="es-ES" sz="3600" b="1" dirty="0" smtClean="0"/>
              <a:t>Contención mecánica</a:t>
            </a:r>
            <a:endParaRPr lang="es-ES" sz="3200" b="1" dirty="0" smtClean="0"/>
          </a:p>
          <a:p>
            <a:pPr lvl="1" algn="just"/>
            <a:r>
              <a:rPr lang="es-ES" sz="2200" dirty="0" smtClean="0"/>
              <a:t>Inmovilización física: Se aplica cuando fracasa o no es posible la contención verbal.</a:t>
            </a:r>
          </a:p>
          <a:p>
            <a:pPr lvl="1" algn="just"/>
            <a:r>
              <a:rPr lang="es-ES" sz="2200" dirty="0" smtClean="0"/>
              <a:t>Siempre es de </a:t>
            </a:r>
            <a:r>
              <a:rPr lang="es-ES" sz="2200" i="1" dirty="0" smtClean="0"/>
              <a:t>aplicación temporal</a:t>
            </a:r>
            <a:endParaRPr lang="es-ES" sz="2200" dirty="0" smtClean="0"/>
          </a:p>
          <a:p>
            <a:pPr lvl="1" algn="just"/>
            <a:r>
              <a:rPr lang="es-ES" sz="2200" dirty="0" smtClean="0"/>
              <a:t>Contar con un equipo de al menos 5 personas; 1 dirige el procedimiento.</a:t>
            </a:r>
          </a:p>
          <a:p>
            <a:pPr lvl="1" algn="just"/>
            <a:r>
              <a:rPr lang="es-ES" sz="2200" dirty="0" smtClean="0"/>
              <a:t>Colocar al sujeto de espaldas, sobre el suelo o la camilla y sujetar las extremidades con ambas manos y próximas a las articulaciones.</a:t>
            </a:r>
          </a:p>
          <a:p>
            <a:pPr lvl="1" algn="just"/>
            <a:r>
              <a:rPr lang="es-ES" sz="2200" dirty="0" smtClean="0"/>
              <a:t>Sujetar en dos puntos (brazo y pierna </a:t>
            </a:r>
            <a:r>
              <a:rPr lang="es-ES" sz="2200" dirty="0" err="1" smtClean="0"/>
              <a:t>contralaterales</a:t>
            </a:r>
            <a:r>
              <a:rPr lang="es-ES" sz="2200" dirty="0" smtClean="0"/>
              <a:t>) o cinco puntos (todas las extremidades y cintura).</a:t>
            </a:r>
          </a:p>
          <a:p>
            <a:pPr lvl="1" algn="just"/>
            <a:r>
              <a:rPr lang="es-ES" sz="2200" dirty="0" smtClean="0"/>
              <a:t>La inmovilización exclusivamente sobre el abdomen puede producir traumatismo abdominal cerrado.</a:t>
            </a:r>
          </a:p>
          <a:p>
            <a:pPr lvl="1" algn="just"/>
            <a:r>
              <a:rPr lang="es-ES" sz="2200" dirty="0" smtClean="0"/>
              <a:t>Cabeza ligeramente incorporada para evitar aspiraciones.</a:t>
            </a:r>
          </a:p>
          <a:p>
            <a:pPr lvl="1" algn="just"/>
            <a:r>
              <a:rPr lang="es-ES" sz="2200" dirty="0" smtClean="0"/>
              <a:t>Ante violencia extrema, la inmovilización será realizada por personal de seguridad o policial.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00042"/>
            <a:ext cx="8643998" cy="6357958"/>
          </a:xfrm>
        </p:spPr>
        <p:txBody>
          <a:bodyPr vert="horz">
            <a:noAutofit/>
          </a:bodyPr>
          <a:lstStyle/>
          <a:p>
            <a:pPr algn="just"/>
            <a:r>
              <a:rPr lang="es-ES" sz="3600" b="1" dirty="0" smtClean="0"/>
              <a:t>Contención </a:t>
            </a:r>
            <a:r>
              <a:rPr lang="es-ES" sz="3200" b="1" dirty="0" smtClean="0"/>
              <a:t>mecánica</a:t>
            </a:r>
          </a:p>
          <a:p>
            <a:pPr lvl="1" algn="just"/>
            <a:r>
              <a:rPr lang="es-ES" sz="2200" dirty="0" smtClean="0"/>
              <a:t>Aflojar periódica y alternantemente las ataduras.</a:t>
            </a:r>
          </a:p>
          <a:p>
            <a:pPr lvl="1" algn="just"/>
            <a:r>
              <a:rPr lang="es-ES" sz="2200" dirty="0" smtClean="0"/>
              <a:t>Control de signos vitales cada 30 </a:t>
            </a:r>
            <a:r>
              <a:rPr lang="es-ES" sz="2200" dirty="0" err="1" smtClean="0"/>
              <a:t>minuntos</a:t>
            </a:r>
            <a:r>
              <a:rPr lang="es-ES" sz="2200" dirty="0" smtClean="0"/>
              <a:t>.</a:t>
            </a:r>
          </a:p>
          <a:p>
            <a:pPr lvl="1" algn="just"/>
            <a:r>
              <a:rPr lang="es-ES" sz="2200" dirty="0" smtClean="0"/>
              <a:t>Asegurar la correcta hidratación, vigilar la vía aérea y la higiene.</a:t>
            </a:r>
          </a:p>
          <a:p>
            <a:pPr algn="just"/>
            <a:r>
              <a:rPr lang="es-ES" sz="3200" b="1" dirty="0" smtClean="0"/>
              <a:t>Evaluación del paciente</a:t>
            </a:r>
          </a:p>
          <a:p>
            <a:pPr lvl="1" algn="just"/>
            <a:r>
              <a:rPr lang="es-ES" sz="2200" dirty="0" smtClean="0"/>
              <a:t>Encuadrar al paciente dentro de uno de los tres grupos etiológicos.</a:t>
            </a:r>
          </a:p>
          <a:p>
            <a:pPr algn="just"/>
            <a:r>
              <a:rPr lang="es-ES" sz="3200" b="1" dirty="0" smtClean="0"/>
              <a:t>Tratamiento</a:t>
            </a:r>
          </a:p>
          <a:p>
            <a:pPr lvl="1" algn="just"/>
            <a:r>
              <a:rPr lang="es-ES" sz="2200" dirty="0" smtClean="0"/>
              <a:t>Control de elementos que pudiesen gatillar el episodio</a:t>
            </a:r>
          </a:p>
          <a:p>
            <a:pPr lvl="1" algn="just"/>
            <a:r>
              <a:rPr lang="es-ES" sz="2200" dirty="0" smtClean="0"/>
              <a:t>Soporte vital clínico</a:t>
            </a:r>
          </a:p>
          <a:p>
            <a:pPr lvl="1" algn="just"/>
            <a:r>
              <a:rPr lang="es-ES" sz="2200" dirty="0" smtClean="0"/>
              <a:t>Elección de tratamiento farmacológico de acuerdo a situación clínica y paciente</a:t>
            </a:r>
          </a:p>
          <a:p>
            <a:pPr lvl="1" algn="just"/>
            <a:r>
              <a:rPr lang="es-ES" sz="2200" dirty="0" smtClean="0"/>
              <a:t>Monitoreo del resultado terapéutico</a:t>
            </a:r>
          </a:p>
          <a:p>
            <a:pPr lvl="1" algn="just"/>
            <a:r>
              <a:rPr lang="es-ES" sz="2200" dirty="0" smtClean="0"/>
              <a:t>Reevaluación periódica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6143644"/>
          </a:xfrm>
        </p:spPr>
        <p:txBody>
          <a:bodyPr vert="horz">
            <a:noAutofit/>
          </a:bodyPr>
          <a:lstStyle/>
          <a:p>
            <a:pPr algn="just"/>
            <a:r>
              <a:rPr lang="es-ES" sz="3200" b="1" dirty="0" smtClean="0"/>
              <a:t>Tratamiento farmacológico</a:t>
            </a:r>
          </a:p>
          <a:p>
            <a:pPr algn="just"/>
            <a:endParaRPr lang="es-ES" sz="3200" b="1" dirty="0" smtClean="0"/>
          </a:p>
          <a:p>
            <a:pPr algn="just">
              <a:lnSpc>
                <a:spcPct val="80000"/>
              </a:lnSpc>
            </a:pPr>
            <a:r>
              <a:rPr lang="es-AR" sz="3200" dirty="0" smtClean="0"/>
              <a:t>Factores determinantes para la elección inicial de una </a:t>
            </a:r>
            <a:r>
              <a:rPr lang="es-AR" sz="3200" dirty="0" smtClean="0"/>
              <a:t>medicación:</a:t>
            </a:r>
          </a:p>
          <a:p>
            <a:pPr lvl="1" algn="just">
              <a:lnSpc>
                <a:spcPct val="80000"/>
              </a:lnSpc>
            </a:pPr>
            <a:r>
              <a:rPr lang="es-AR" sz="2800" dirty="0" smtClean="0"/>
              <a:t>Rápido </a:t>
            </a:r>
            <a:r>
              <a:rPr lang="es-AR" sz="2800" dirty="0" smtClean="0"/>
              <a:t>inicio de acción</a:t>
            </a:r>
          </a:p>
          <a:p>
            <a:pPr lvl="1" algn="just">
              <a:lnSpc>
                <a:spcPct val="110000"/>
              </a:lnSpc>
            </a:pPr>
            <a:r>
              <a:rPr lang="es-AR" sz="2800" dirty="0" smtClean="0"/>
              <a:t>Sedación </a:t>
            </a:r>
            <a:r>
              <a:rPr lang="es-AR" sz="2800" dirty="0" smtClean="0"/>
              <a:t>clínicamente útil</a:t>
            </a:r>
          </a:p>
          <a:p>
            <a:pPr lvl="1" algn="just">
              <a:lnSpc>
                <a:spcPct val="110000"/>
              </a:lnSpc>
            </a:pPr>
            <a:r>
              <a:rPr lang="es-AR" sz="2800" dirty="0" smtClean="0"/>
              <a:t>Limitado </a:t>
            </a:r>
            <a:r>
              <a:rPr lang="es-AR" sz="2800" dirty="0" smtClean="0"/>
              <a:t>riesgo de efectos adversos peligrosos o intolerables</a:t>
            </a:r>
          </a:p>
          <a:p>
            <a:pPr lvl="1" algn="just">
              <a:lnSpc>
                <a:spcPct val="110000"/>
              </a:lnSpc>
            </a:pPr>
            <a:r>
              <a:rPr lang="es-AR" sz="2800" dirty="0" smtClean="0"/>
              <a:t>Disponibilidad </a:t>
            </a:r>
            <a:r>
              <a:rPr lang="es-AR" sz="2800" dirty="0" smtClean="0"/>
              <a:t>de formulaciones inyectables </a:t>
            </a:r>
            <a:r>
              <a:rPr lang="es-AR" sz="2800" dirty="0" smtClean="0"/>
              <a:t>o </a:t>
            </a:r>
            <a:r>
              <a:rPr lang="es-AR" sz="2800" dirty="0" err="1" smtClean="0"/>
              <a:t>bucodispersables</a:t>
            </a:r>
            <a:r>
              <a:rPr lang="es-AR" sz="2800" dirty="0" smtClean="0"/>
              <a:t>.</a:t>
            </a:r>
            <a:endParaRPr lang="es-AR" sz="2800" dirty="0" smtClean="0"/>
          </a:p>
          <a:p>
            <a:pPr lvl="1" algn="just">
              <a:lnSpc>
                <a:spcPct val="110000"/>
              </a:lnSpc>
            </a:pPr>
            <a:r>
              <a:rPr lang="es-AR" sz="2800" dirty="0" smtClean="0"/>
              <a:t>Historia </a:t>
            </a:r>
            <a:r>
              <a:rPr lang="es-AR" sz="2800" dirty="0" smtClean="0"/>
              <a:t>de respuesta a la medicación</a:t>
            </a:r>
          </a:p>
          <a:p>
            <a:pPr lvl="1" algn="just">
              <a:lnSpc>
                <a:spcPct val="110000"/>
              </a:lnSpc>
            </a:pPr>
            <a:r>
              <a:rPr lang="es-AR" sz="2800" dirty="0" smtClean="0"/>
              <a:t>Preferencia </a:t>
            </a:r>
            <a:r>
              <a:rPr lang="es-AR" sz="2800" dirty="0" smtClean="0"/>
              <a:t>del </a:t>
            </a:r>
            <a:r>
              <a:rPr lang="es-AR" sz="2800" dirty="0" smtClean="0"/>
              <a:t>paciente</a:t>
            </a:r>
            <a:endParaRPr lang="es-A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6143644"/>
          </a:xfrm>
        </p:spPr>
        <p:txBody>
          <a:bodyPr vert="horz">
            <a:noAutofit/>
          </a:bodyPr>
          <a:lstStyle/>
          <a:p>
            <a:pPr algn="just"/>
            <a:r>
              <a:rPr lang="es-ES" sz="3200" b="1" dirty="0" smtClean="0"/>
              <a:t>Tratamiento farmacológico vía oral</a:t>
            </a:r>
          </a:p>
          <a:p>
            <a:pPr algn="just"/>
            <a:endParaRPr lang="es-ES" sz="3200" b="1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Risperidona</a:t>
            </a:r>
            <a:r>
              <a:rPr lang="es-AR" sz="2800" dirty="0" smtClean="0"/>
              <a:t>: </a:t>
            </a:r>
            <a:r>
              <a:rPr lang="es-AR" sz="2800" dirty="0" smtClean="0"/>
              <a:t>1-2 mg, cada </a:t>
            </a:r>
            <a:r>
              <a:rPr lang="es-AR" sz="2800" dirty="0" smtClean="0"/>
              <a:t>30 minutos a </a:t>
            </a:r>
            <a:r>
              <a:rPr lang="es-AR" sz="2800" dirty="0" smtClean="0"/>
              <a:t>2 </a:t>
            </a:r>
            <a:r>
              <a:rPr lang="es-AR" sz="2800" dirty="0" smtClean="0"/>
              <a:t>horas </a:t>
            </a:r>
            <a:r>
              <a:rPr lang="es-AR" sz="2800" dirty="0" smtClean="0"/>
              <a:t>(máximo  6 mg/día</a:t>
            </a:r>
            <a:r>
              <a:rPr lang="es-AR" sz="2800" dirty="0" smtClean="0"/>
              <a:t>)</a:t>
            </a:r>
            <a:endParaRPr lang="es-AR" sz="2800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Olanzapina</a:t>
            </a:r>
            <a:r>
              <a:rPr lang="es-AR" sz="2800" dirty="0" smtClean="0"/>
              <a:t>: </a:t>
            </a:r>
            <a:r>
              <a:rPr lang="es-AR" sz="2800" dirty="0" smtClean="0"/>
              <a:t>5-10 mg, cada </a:t>
            </a:r>
            <a:r>
              <a:rPr lang="es-AR" sz="2800" dirty="0" smtClean="0"/>
              <a:t>30 minutos a </a:t>
            </a:r>
            <a:r>
              <a:rPr lang="es-AR" sz="2800" dirty="0" smtClean="0"/>
              <a:t>2 </a:t>
            </a:r>
            <a:r>
              <a:rPr lang="es-AR" sz="2800" dirty="0" smtClean="0"/>
              <a:t>horas </a:t>
            </a:r>
            <a:r>
              <a:rPr lang="es-AR" sz="2800" dirty="0" smtClean="0"/>
              <a:t>(máximo  30-40 mg/día</a:t>
            </a:r>
            <a:r>
              <a:rPr lang="es-AR" sz="2800" dirty="0" smtClean="0"/>
              <a:t>)</a:t>
            </a:r>
            <a:endParaRPr lang="es-AR" sz="2800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Aripiprazol</a:t>
            </a:r>
            <a:r>
              <a:rPr lang="es-AR" sz="2800" dirty="0" smtClean="0"/>
              <a:t>: </a:t>
            </a:r>
            <a:r>
              <a:rPr lang="es-AR" sz="2800" dirty="0" smtClean="0"/>
              <a:t>5-10 mg, con intervalo de 2 </a:t>
            </a:r>
            <a:r>
              <a:rPr lang="es-AR" sz="2800" dirty="0" smtClean="0"/>
              <a:t>horas </a:t>
            </a:r>
            <a:r>
              <a:rPr lang="es-AR" sz="2800" dirty="0" smtClean="0"/>
              <a:t>(máximo  30 mg/día</a:t>
            </a:r>
            <a:r>
              <a:rPr lang="es-AR" sz="2800" dirty="0" smtClean="0"/>
              <a:t>)</a:t>
            </a:r>
            <a:endParaRPr lang="es-AR" sz="2800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Quetiapina</a:t>
            </a:r>
            <a:r>
              <a:rPr lang="es-AR" sz="2800" dirty="0" smtClean="0"/>
              <a:t>:  </a:t>
            </a:r>
            <a:r>
              <a:rPr lang="es-AR" sz="2800" dirty="0" smtClean="0"/>
              <a:t>50-300 mg, máximo 800 </a:t>
            </a:r>
            <a:r>
              <a:rPr lang="es-AR" sz="2800" dirty="0" smtClean="0"/>
              <a:t>mg/día</a:t>
            </a:r>
            <a:endParaRPr lang="es-AR" sz="2800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Ziprasidona</a:t>
            </a:r>
            <a:r>
              <a:rPr lang="es-AR" sz="2800" dirty="0" smtClean="0"/>
              <a:t>: </a:t>
            </a:r>
            <a:r>
              <a:rPr lang="es-AR" sz="2800" dirty="0" smtClean="0"/>
              <a:t>40-120 mg, máximo 200 </a:t>
            </a:r>
            <a:r>
              <a:rPr lang="es-AR" sz="2800" dirty="0" smtClean="0"/>
              <a:t>mg/día</a:t>
            </a:r>
            <a:endParaRPr lang="es-AR" sz="2800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Haloperidol</a:t>
            </a:r>
            <a:r>
              <a:rPr lang="es-AR" sz="2800" dirty="0" smtClean="0"/>
              <a:t>: </a:t>
            </a:r>
            <a:r>
              <a:rPr lang="es-AR" sz="2800" dirty="0" smtClean="0"/>
              <a:t>5-10 mg, cada </a:t>
            </a:r>
            <a:r>
              <a:rPr lang="es-AR" sz="2800" dirty="0" smtClean="0"/>
              <a:t>30 minutos </a:t>
            </a:r>
            <a:r>
              <a:rPr lang="es-AR" sz="2800" dirty="0" smtClean="0"/>
              <a:t>a </a:t>
            </a:r>
            <a:r>
              <a:rPr lang="es-AR" sz="2800" dirty="0" smtClean="0"/>
              <a:t>2 horas </a:t>
            </a:r>
            <a:r>
              <a:rPr lang="es-AR" sz="2800" dirty="0" smtClean="0"/>
              <a:t>(máximo 40 mg/día</a:t>
            </a:r>
            <a:r>
              <a:rPr lang="es-AR" sz="2800" dirty="0" smtClean="0"/>
              <a:t>)</a:t>
            </a:r>
            <a:endParaRPr lang="es-AR" sz="2800" dirty="0" smtClean="0"/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Lorazepam</a:t>
            </a:r>
            <a:r>
              <a:rPr lang="es-AR" sz="2800" dirty="0" smtClean="0"/>
              <a:t>: </a:t>
            </a:r>
            <a:r>
              <a:rPr lang="es-AR" sz="2800" dirty="0" smtClean="0"/>
              <a:t>1-2 mg, cada </a:t>
            </a:r>
            <a:r>
              <a:rPr lang="es-AR" sz="2800" dirty="0" smtClean="0"/>
              <a:t>30 minutos a </a:t>
            </a:r>
            <a:r>
              <a:rPr lang="es-AR" sz="2800" dirty="0" smtClean="0"/>
              <a:t>2 </a:t>
            </a:r>
            <a:r>
              <a:rPr lang="es-AR" sz="2800" dirty="0" smtClean="0"/>
              <a:t>horas </a:t>
            </a:r>
            <a:r>
              <a:rPr lang="es-AR" sz="2800" dirty="0" smtClean="0"/>
              <a:t>(máximo 12 mg/día</a:t>
            </a:r>
            <a:r>
              <a:rPr lang="es-AR" sz="2800" dirty="0" smtClean="0"/>
              <a:t>)</a:t>
            </a:r>
            <a:endParaRPr lang="es-A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Excitación psicomotriz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6143644"/>
          </a:xfrm>
        </p:spPr>
        <p:txBody>
          <a:bodyPr vert="horz">
            <a:noAutofit/>
          </a:bodyPr>
          <a:lstStyle/>
          <a:p>
            <a:pPr algn="just"/>
            <a:r>
              <a:rPr lang="es-ES" sz="3200" b="1" dirty="0" smtClean="0"/>
              <a:t>Tratamiento farmacológico vía intramuscular:</a:t>
            </a:r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Olanzapina</a:t>
            </a:r>
            <a:r>
              <a:rPr lang="es-AR" sz="2800" dirty="0" smtClean="0"/>
              <a:t>: </a:t>
            </a:r>
            <a:r>
              <a:rPr lang="es-AR" sz="2800" dirty="0" smtClean="0"/>
              <a:t>5-10 mg, cada </a:t>
            </a:r>
            <a:r>
              <a:rPr lang="es-AR" sz="2800" dirty="0" smtClean="0"/>
              <a:t>30 minutos a </a:t>
            </a:r>
            <a:r>
              <a:rPr lang="es-AR" sz="2800" dirty="0" smtClean="0"/>
              <a:t>2 </a:t>
            </a:r>
            <a:r>
              <a:rPr lang="es-AR" sz="2800" dirty="0" smtClean="0"/>
              <a:t>horas </a:t>
            </a:r>
            <a:r>
              <a:rPr lang="es-AR" sz="2800" dirty="0" smtClean="0"/>
              <a:t>(máximo  30-40 mg/día</a:t>
            </a:r>
            <a:r>
              <a:rPr lang="es-AR" sz="2800" dirty="0" smtClean="0"/>
              <a:t>)</a:t>
            </a:r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Ziprasidona</a:t>
            </a:r>
            <a:r>
              <a:rPr lang="es-AR" sz="2800" dirty="0" smtClean="0"/>
              <a:t>: 10-20 mg, máximo 40 </a:t>
            </a:r>
            <a:r>
              <a:rPr lang="es-AR" sz="2800" dirty="0" smtClean="0"/>
              <a:t>mg/día</a:t>
            </a:r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Haloperidol</a:t>
            </a:r>
            <a:r>
              <a:rPr lang="es-AR" sz="2800" dirty="0" smtClean="0"/>
              <a:t>: </a:t>
            </a:r>
            <a:r>
              <a:rPr lang="es-AR" sz="2800" dirty="0" smtClean="0"/>
              <a:t>5 </a:t>
            </a:r>
            <a:r>
              <a:rPr lang="es-AR" sz="2800" dirty="0" smtClean="0"/>
              <a:t>mg, cada 30 minutos a 2 horas (máximo 40 mg/día)</a:t>
            </a:r>
          </a:p>
          <a:p>
            <a:pPr lvl="1" algn="just">
              <a:lnSpc>
                <a:spcPct val="80000"/>
              </a:lnSpc>
            </a:pPr>
            <a:r>
              <a:rPr lang="es-AR" sz="2800" b="1" dirty="0" err="1" smtClean="0"/>
              <a:t>Lorazepam</a:t>
            </a:r>
            <a:r>
              <a:rPr lang="es-AR" sz="2800" dirty="0" smtClean="0"/>
              <a:t>: </a:t>
            </a:r>
            <a:r>
              <a:rPr lang="es-AR" sz="2800" dirty="0" smtClean="0"/>
              <a:t>1-2 mg, cada </a:t>
            </a:r>
            <a:r>
              <a:rPr lang="es-AR" sz="2800" dirty="0" smtClean="0"/>
              <a:t>30 minutos a </a:t>
            </a:r>
            <a:r>
              <a:rPr lang="es-AR" sz="2800" dirty="0" smtClean="0"/>
              <a:t>2 </a:t>
            </a:r>
            <a:r>
              <a:rPr lang="es-AR" sz="2800" dirty="0" smtClean="0"/>
              <a:t>horas </a:t>
            </a:r>
            <a:r>
              <a:rPr lang="es-AR" sz="2800" dirty="0" smtClean="0"/>
              <a:t>(máximo 12 mg/día</a:t>
            </a:r>
            <a:r>
              <a:rPr lang="es-AR" sz="2800" dirty="0" smtClean="0"/>
              <a:t>)</a:t>
            </a:r>
          </a:p>
          <a:p>
            <a:pPr lvl="1" algn="just">
              <a:lnSpc>
                <a:spcPct val="80000"/>
              </a:lnSpc>
            </a:pPr>
            <a:endParaRPr lang="es-AR" sz="2800" dirty="0" smtClean="0"/>
          </a:p>
          <a:p>
            <a:pPr lvl="1" algn="just">
              <a:lnSpc>
                <a:spcPct val="80000"/>
              </a:lnSpc>
              <a:buNone/>
            </a:pPr>
            <a:r>
              <a:rPr lang="es-ES" sz="2800" dirty="0" smtClean="0"/>
              <a:t>La </a:t>
            </a:r>
            <a:r>
              <a:rPr lang="es-ES" sz="2800" dirty="0" err="1" smtClean="0"/>
              <a:t>olanzapina</a:t>
            </a:r>
            <a:r>
              <a:rPr lang="es-ES" sz="2800" dirty="0" smtClean="0"/>
              <a:t> administrada por vía IM tiene efectos sinérgico con las BZD, por lo que no deben ser </a:t>
            </a:r>
            <a:r>
              <a:rPr lang="es-ES" sz="2800" dirty="0" err="1" smtClean="0"/>
              <a:t>adminsitradas</a:t>
            </a:r>
            <a:r>
              <a:rPr lang="es-ES" sz="2800" dirty="0" smtClean="0"/>
              <a:t> concomitantemente (se recomienda un intervalo mínimo de una hora).</a:t>
            </a:r>
          </a:p>
          <a:p>
            <a:pPr lvl="1" algn="just">
              <a:lnSpc>
                <a:spcPct val="80000"/>
              </a:lnSpc>
            </a:pPr>
            <a:endParaRPr lang="es-A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/>
            <a:r>
              <a:rPr lang="es-ES" dirty="0" smtClean="0"/>
              <a:t>Acto suicida (OMS): Acción por la que un individuo se causa a sí mismo un daño, con independencia del grado de intención letal.</a:t>
            </a:r>
          </a:p>
          <a:p>
            <a:pPr algn="just"/>
            <a:r>
              <a:rPr lang="es-ES" dirty="0" smtClean="0"/>
              <a:t>En general surge del sentimiento de que la vida es tan insoportable que la muerte es la única forma de alivio o vía de escape.</a:t>
            </a:r>
          </a:p>
          <a:p>
            <a:pPr algn="just"/>
            <a:r>
              <a:rPr lang="es-ES" dirty="0" smtClean="0"/>
              <a:t>Uno de cada tres pacientes que son asistidos en Servicios de Urgencias Psiquiátricas ha pensado en matarse o ha realizado un intento de suicidio.</a:t>
            </a:r>
          </a:p>
          <a:p>
            <a:pPr algn="just"/>
            <a:r>
              <a:rPr lang="es-ES" dirty="0" smtClean="0"/>
              <a:t>Uno de cada seis pacientes que ha realizado un intento de suicidio y reciben atención en un Servicio de Urgencias, muere en los 5 años posteriores (por suicidio o accidentes).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 eaLnBrk="0" hangingPunct="0">
              <a:buFont typeface="Wingdings" pitchFamily="2" charset="2"/>
              <a:buNone/>
            </a:pPr>
            <a:r>
              <a:rPr lang="es-MX" dirty="0" smtClean="0"/>
              <a:t>Trastornos psiquiátricos con mayor incidencia de conductas suicidas</a:t>
            </a:r>
            <a:r>
              <a:rPr lang="es-MX" dirty="0" smtClean="0"/>
              <a:t>:</a:t>
            </a:r>
            <a:endParaRPr lang="es-MX" dirty="0" smtClean="0"/>
          </a:p>
          <a:p>
            <a:pPr lvl="1" algn="just"/>
            <a:r>
              <a:rPr lang="es-MX" dirty="0" smtClean="0"/>
              <a:t>Trastornos del estado de ánimo </a:t>
            </a:r>
          </a:p>
          <a:p>
            <a:pPr lvl="1" algn="just"/>
            <a:r>
              <a:rPr lang="es-MX" dirty="0" smtClean="0"/>
              <a:t>Esquizofrenia y otros trastornos psicóticos </a:t>
            </a:r>
          </a:p>
          <a:p>
            <a:pPr lvl="1" algn="just"/>
            <a:r>
              <a:rPr lang="es-MX" dirty="0" smtClean="0"/>
              <a:t>Trastornos de personalidad</a:t>
            </a:r>
          </a:p>
          <a:p>
            <a:pPr lvl="1" algn="just"/>
            <a:r>
              <a:rPr lang="es-MX" dirty="0" smtClean="0"/>
              <a:t>Trastornos por consumo de sustancias y alcohol</a:t>
            </a:r>
          </a:p>
          <a:p>
            <a:pPr algn="just">
              <a:buFont typeface="Wingdings" pitchFamily="2" charset="2"/>
              <a:buNone/>
            </a:pPr>
            <a:endParaRPr lang="es-MX" dirty="0" smtClean="0"/>
          </a:p>
          <a:p>
            <a:pPr algn="just">
              <a:buFont typeface="Wingdings" pitchFamily="2" charset="2"/>
              <a:buNone/>
            </a:pPr>
            <a:r>
              <a:rPr lang="es-MX" dirty="0" smtClean="0"/>
              <a:t>La presencia de ansiedad incrementa el riesgo de padecer conductas suicidas en cualquiera de estos trastornos. </a:t>
            </a:r>
          </a:p>
          <a:p>
            <a:pPr algn="just">
              <a:buFont typeface="Wingdings" pitchFamily="2" charset="2"/>
              <a:buNone/>
            </a:pPr>
            <a:endParaRPr lang="es-MX" dirty="0" smtClean="0"/>
          </a:p>
          <a:p>
            <a:pPr algn="just">
              <a:buFont typeface="Wingdings" pitchFamily="2" charset="2"/>
              <a:buNone/>
            </a:pPr>
            <a:r>
              <a:rPr lang="es-MX" dirty="0" smtClean="0"/>
              <a:t>La presencia de ansiedad incrementa 7 veces el riesgo de cometer suicidio en la población general y sin otra patología psiquiátrica</a:t>
            </a:r>
            <a:endParaRPr lang="es-ES" dirty="0" smtClean="0"/>
          </a:p>
          <a:p>
            <a:pPr algn="just"/>
            <a:endParaRPr 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s-MX" b="1" dirty="0" smtClean="0"/>
              <a:t>Método de evaluación</a:t>
            </a:r>
          </a:p>
          <a:p>
            <a:pPr algn="just"/>
            <a:r>
              <a:rPr lang="es-MX" dirty="0" smtClean="0"/>
              <a:t>Entrevistar al paciente en un lugar tranquilo y privado</a:t>
            </a:r>
          </a:p>
          <a:p>
            <a:pPr algn="just"/>
            <a:r>
              <a:rPr lang="es-MX" dirty="0" smtClean="0"/>
              <a:t>Primera parte de la entrevista libre (relato espontáneo del paciente)</a:t>
            </a:r>
          </a:p>
          <a:p>
            <a:pPr algn="just"/>
            <a:r>
              <a:rPr lang="es-MX" dirty="0" smtClean="0"/>
              <a:t>Segunda parte de la entrevista dirigida: preguntar por la idea, desencadenantes, </a:t>
            </a:r>
            <a:r>
              <a:rPr lang="es-MX" dirty="0" smtClean="0"/>
              <a:t>planificación.</a:t>
            </a:r>
            <a:endParaRPr lang="es-MX" dirty="0" smtClean="0"/>
          </a:p>
          <a:p>
            <a:pPr algn="just">
              <a:buFont typeface="Wingdings" pitchFamily="2" charset="2"/>
              <a:buNone/>
            </a:pPr>
            <a:endParaRPr lang="es-MX" dirty="0" smtClean="0"/>
          </a:p>
          <a:p>
            <a:pPr algn="just">
              <a:buFont typeface="Wingdings" pitchFamily="2" charset="2"/>
              <a:buNone/>
            </a:pPr>
            <a:r>
              <a:rPr lang="es-MX" dirty="0" err="1" smtClean="0"/>
              <a:t>Estresores</a:t>
            </a:r>
            <a:r>
              <a:rPr lang="es-MX" dirty="0" smtClean="0"/>
              <a:t> que precipitan conductas suicidas</a:t>
            </a:r>
          </a:p>
          <a:p>
            <a:pPr algn="just"/>
            <a:r>
              <a:rPr lang="es-MX" dirty="0" smtClean="0"/>
              <a:t>Presencia de depresión mayor.</a:t>
            </a:r>
          </a:p>
          <a:p>
            <a:pPr algn="just"/>
            <a:r>
              <a:rPr lang="es-MX" dirty="0" smtClean="0"/>
              <a:t>Intoxicación aguda con sustancias, especialmente alcohol.</a:t>
            </a:r>
          </a:p>
          <a:p>
            <a:pPr algn="just"/>
            <a:r>
              <a:rPr lang="es-MX" dirty="0" smtClean="0"/>
              <a:t>Disfunción psicosocial</a:t>
            </a:r>
            <a:r>
              <a:rPr lang="es-MX" dirty="0" smtClean="0"/>
              <a:t>.</a:t>
            </a:r>
            <a:endParaRPr lang="es-MX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5929330"/>
          </a:xfrm>
        </p:spPr>
        <p:txBody>
          <a:bodyPr vert="horz"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s-MX" b="1" dirty="0" smtClean="0"/>
              <a:t>Factores de riesgo:</a:t>
            </a:r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Sexo </a:t>
            </a:r>
            <a:r>
              <a:rPr lang="es-MX" sz="2200" dirty="0" smtClean="0"/>
              <a:t>masculino </a:t>
            </a:r>
            <a:r>
              <a:rPr lang="es-MX" sz="2200" dirty="0" smtClean="0"/>
              <a:t>(4 veces más frecuente; las mujeres lo intentan 4 veces más). Relacionado con el método empleado.</a:t>
            </a:r>
            <a:endParaRPr lang="es-MX" sz="2200" dirty="0" smtClean="0"/>
          </a:p>
          <a:p>
            <a:pPr algn="just">
              <a:lnSpc>
                <a:spcPct val="80000"/>
              </a:lnSpc>
            </a:pPr>
            <a:r>
              <a:rPr lang="es-AR" sz="2200" dirty="0" smtClean="0"/>
              <a:t>Edad (aumentan </a:t>
            </a:r>
            <a:r>
              <a:rPr lang="es-AR" sz="2200" dirty="0" smtClean="0"/>
              <a:t>con la </a:t>
            </a:r>
            <a:r>
              <a:rPr lang="es-AR" sz="2200" dirty="0" smtClean="0"/>
              <a:t>edad; en varones </a:t>
            </a:r>
            <a:r>
              <a:rPr lang="es-AR" sz="2200" dirty="0" smtClean="0"/>
              <a:t>la incidencia </a:t>
            </a:r>
            <a:r>
              <a:rPr lang="es-AR" sz="2200" dirty="0" smtClean="0"/>
              <a:t>máxima </a:t>
            </a:r>
            <a:r>
              <a:rPr lang="es-AR" sz="2200" dirty="0" smtClean="0"/>
              <a:t>se observa a partir de los 45 años; en las mujeres </a:t>
            </a:r>
            <a:r>
              <a:rPr lang="es-AR" sz="2200" dirty="0" smtClean="0"/>
              <a:t>a </a:t>
            </a:r>
            <a:r>
              <a:rPr lang="es-AR" sz="2200" dirty="0" smtClean="0"/>
              <a:t>partir de los </a:t>
            </a:r>
            <a:r>
              <a:rPr lang="es-AR" sz="2200" dirty="0" smtClean="0"/>
              <a:t>55). Los </a:t>
            </a:r>
            <a:r>
              <a:rPr lang="es-AR" sz="2200" dirty="0" err="1" smtClean="0"/>
              <a:t>gerontes</a:t>
            </a:r>
            <a:r>
              <a:rPr lang="es-AR" sz="2200" dirty="0" smtClean="0"/>
              <a:t> lo intentan menos, pero lo logran más.</a:t>
            </a:r>
          </a:p>
          <a:p>
            <a:pPr algn="just">
              <a:lnSpc>
                <a:spcPct val="80000"/>
              </a:lnSpc>
            </a:pPr>
            <a:r>
              <a:rPr lang="es-AR" sz="2200" dirty="0" smtClean="0"/>
              <a:t>Estado civil (soltero duplicaría; viudo y divorciado triplicaría)</a:t>
            </a:r>
            <a:endParaRPr lang="es-MX" sz="2200" dirty="0" smtClean="0"/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Pérdidas recientes </a:t>
            </a:r>
            <a:r>
              <a:rPr lang="es-MX" sz="2200" dirty="0" smtClean="0"/>
              <a:t>(las mujeres se adaptan mejor)</a:t>
            </a:r>
            <a:endParaRPr lang="es-MX" sz="2200" dirty="0" smtClean="0"/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Aislamiento </a:t>
            </a:r>
            <a:r>
              <a:rPr lang="es-MX" sz="2200" dirty="0" smtClean="0"/>
              <a:t>(</a:t>
            </a:r>
            <a:r>
              <a:rPr lang="es-AR" sz="2200" dirty="0" smtClean="0"/>
              <a:t>falta de </a:t>
            </a:r>
            <a:r>
              <a:rPr lang="es-AR" sz="2200" dirty="0" smtClean="0"/>
              <a:t>integración </a:t>
            </a:r>
            <a:r>
              <a:rPr lang="es-AR" sz="2200" dirty="0" smtClean="0"/>
              <a:t>social y </a:t>
            </a:r>
            <a:r>
              <a:rPr lang="es-AR" sz="2200" dirty="0" smtClean="0"/>
              <a:t>familiar )</a:t>
            </a:r>
            <a:endParaRPr lang="es-MX" sz="2200" dirty="0" smtClean="0"/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Secuelas físicas </a:t>
            </a:r>
            <a:r>
              <a:rPr lang="es-MX" sz="2200" dirty="0" err="1" smtClean="0"/>
              <a:t>discapacitantes</a:t>
            </a:r>
            <a:r>
              <a:rPr lang="es-MX" sz="2200" dirty="0" smtClean="0"/>
              <a:t> (pérdida de movilidad)</a:t>
            </a:r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Enfermedades crónicas, dolor crónico</a:t>
            </a:r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Impulsividad</a:t>
            </a:r>
            <a:endParaRPr lang="es-MX" sz="2200" dirty="0" smtClean="0"/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Abuso </a:t>
            </a:r>
            <a:r>
              <a:rPr lang="es-MX" sz="2200" dirty="0" smtClean="0"/>
              <a:t>de sustancias o alcohol</a:t>
            </a:r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Síndrome depresivo</a:t>
            </a:r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Antecedentes de intentos suicidas previos, </a:t>
            </a:r>
            <a:r>
              <a:rPr lang="es-MX" sz="2200" dirty="0" smtClean="0"/>
              <a:t>personales (3 meses previos) </a:t>
            </a:r>
            <a:r>
              <a:rPr lang="es-MX" sz="2200" dirty="0" smtClean="0"/>
              <a:t>o familiares</a:t>
            </a:r>
          </a:p>
          <a:p>
            <a:pPr algn="just">
              <a:lnSpc>
                <a:spcPct val="80000"/>
              </a:lnSpc>
            </a:pPr>
            <a:r>
              <a:rPr lang="es-MX" sz="2200" dirty="0" smtClean="0"/>
              <a:t>Ideación suicida previa</a:t>
            </a:r>
            <a:endParaRPr lang="es-MX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501122" cy="5929330"/>
          </a:xfrm>
        </p:spPr>
        <p:txBody>
          <a:bodyPr vert="horz"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s-MX" sz="2800" b="1" dirty="0" smtClean="0"/>
              <a:t>Factores </a:t>
            </a:r>
            <a:r>
              <a:rPr lang="es-MX" sz="2800" b="1" dirty="0" smtClean="0"/>
              <a:t>protectores:</a:t>
            </a:r>
            <a:endParaRPr lang="es-MX" sz="2800" b="1" dirty="0" smtClean="0"/>
          </a:p>
          <a:p>
            <a:pPr algn="just">
              <a:lnSpc>
                <a:spcPct val="80000"/>
              </a:lnSpc>
            </a:pPr>
            <a:r>
              <a:rPr lang="es-ES" dirty="0" smtClean="0"/>
              <a:t>Niños en el hogar (excepto puérperas con depresión posparto).</a:t>
            </a:r>
            <a:endParaRPr lang="es-AR" dirty="0" smtClean="0"/>
          </a:p>
          <a:p>
            <a:pPr algn="just">
              <a:lnSpc>
                <a:spcPct val="80000"/>
              </a:lnSpc>
            </a:pPr>
            <a:r>
              <a:rPr lang="es-AR" dirty="0" smtClean="0"/>
              <a:t>Estado civil (matrimonio).</a:t>
            </a:r>
          </a:p>
          <a:p>
            <a:pPr algn="just">
              <a:lnSpc>
                <a:spcPct val="80000"/>
              </a:lnSpc>
            </a:pPr>
            <a:r>
              <a:rPr lang="es-AR" dirty="0" smtClean="0"/>
              <a:t>Sentido de responsabilidad familiar.</a:t>
            </a:r>
          </a:p>
          <a:p>
            <a:pPr algn="just">
              <a:lnSpc>
                <a:spcPct val="80000"/>
              </a:lnSpc>
            </a:pPr>
            <a:r>
              <a:rPr lang="es-AR" dirty="0" smtClean="0"/>
              <a:t>Religiosidad.</a:t>
            </a:r>
          </a:p>
          <a:p>
            <a:pPr algn="just">
              <a:lnSpc>
                <a:spcPct val="80000"/>
              </a:lnSpc>
            </a:pPr>
            <a:r>
              <a:rPr lang="es-AR" dirty="0" smtClean="0"/>
              <a:t>Nivel de satisfacción con la vida.</a:t>
            </a:r>
          </a:p>
          <a:p>
            <a:pPr algn="just">
              <a:lnSpc>
                <a:spcPct val="80000"/>
              </a:lnSpc>
            </a:pPr>
            <a:r>
              <a:rPr lang="es-AR" dirty="0" smtClean="0"/>
              <a:t>Habilidades positivas para enfrentar y resolver problemas.</a:t>
            </a:r>
          </a:p>
          <a:p>
            <a:pPr algn="just">
              <a:lnSpc>
                <a:spcPct val="80000"/>
              </a:lnSpc>
            </a:pPr>
            <a:r>
              <a:rPr lang="es-AR" dirty="0" smtClean="0"/>
              <a:t>Soporte social activo.</a:t>
            </a:r>
          </a:p>
          <a:p>
            <a:pPr algn="just">
              <a:lnSpc>
                <a:spcPct val="80000"/>
              </a:lnSpc>
            </a:pPr>
            <a:r>
              <a:rPr lang="es-AR" dirty="0" smtClean="0"/>
              <a:t>Relaciones interpersonales favorables.</a:t>
            </a:r>
            <a:endParaRPr lang="es-MX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8501122" cy="6000768"/>
          </a:xfrm>
        </p:spPr>
        <p:txBody>
          <a:bodyPr vert="horz"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s-MX" b="1" dirty="0" smtClean="0"/>
              <a:t>Determinación de la gravedad del </a:t>
            </a:r>
            <a:r>
              <a:rPr lang="es-MX" b="1" dirty="0" smtClean="0"/>
              <a:t>intento:</a:t>
            </a:r>
            <a:endParaRPr lang="es-MX" dirty="0" smtClean="0"/>
          </a:p>
          <a:p>
            <a:pPr algn="just"/>
            <a:r>
              <a:rPr lang="es-MX" dirty="0" smtClean="0"/>
              <a:t>Premeditado o impulsivo.</a:t>
            </a:r>
          </a:p>
          <a:p>
            <a:pPr algn="just"/>
            <a:r>
              <a:rPr lang="es-MX" dirty="0" smtClean="0"/>
              <a:t>Letalidad del </a:t>
            </a:r>
            <a:r>
              <a:rPr lang="es-MX" dirty="0" smtClean="0"/>
              <a:t>método.</a:t>
            </a:r>
            <a:endParaRPr lang="es-MX" dirty="0" smtClean="0"/>
          </a:p>
          <a:p>
            <a:pPr algn="just"/>
            <a:r>
              <a:rPr lang="es-MX" dirty="0" smtClean="0"/>
              <a:t>Oportunidad de rescate.</a:t>
            </a:r>
          </a:p>
          <a:p>
            <a:pPr algn="just">
              <a:buFont typeface="Wingdings" pitchFamily="2" charset="2"/>
              <a:buNone/>
            </a:pPr>
            <a:endParaRPr lang="es-MX" dirty="0" smtClean="0"/>
          </a:p>
          <a:p>
            <a:pPr algn="just">
              <a:buFont typeface="Wingdings" pitchFamily="2" charset="2"/>
              <a:buNone/>
            </a:pPr>
            <a:r>
              <a:rPr lang="es-MX" b="1" dirty="0" smtClean="0"/>
              <a:t>Conducta terapéutica inmediata:</a:t>
            </a:r>
            <a:endParaRPr lang="es-MX" dirty="0" smtClean="0"/>
          </a:p>
          <a:p>
            <a:pPr algn="just"/>
            <a:r>
              <a:rPr lang="es-MX" dirty="0" smtClean="0"/>
              <a:t>No intentar disuadirlo de su actitud.</a:t>
            </a:r>
          </a:p>
          <a:p>
            <a:pPr algn="just"/>
            <a:r>
              <a:rPr lang="es-MX" dirty="0" smtClean="0"/>
              <a:t>Derivación para asistencia especializada. 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501122" cy="6286520"/>
          </a:xfrm>
        </p:spPr>
        <p:txBody>
          <a:bodyPr vert="horz"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s-MX" sz="2800" b="1" dirty="0" smtClean="0"/>
              <a:t>La internación es imprescindible si:</a:t>
            </a:r>
            <a:endParaRPr lang="es-MX" sz="2800" dirty="0" smtClean="0"/>
          </a:p>
          <a:p>
            <a:pPr algn="just">
              <a:lnSpc>
                <a:spcPct val="80000"/>
              </a:lnSpc>
            </a:pPr>
            <a:r>
              <a:rPr lang="es-ES_tradnl" dirty="0" smtClean="0"/>
              <a:t>Después de un intento suicida: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El paciente está psicótico.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El intento fue violento, casi letal o premeditado.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Se tomaron precauciones para evitar el rescate o el descubrimiento de la situación.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Persiste ideación o tentativa.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Aumentó el estrés o el paciente se arrepiente de haber sobrevivido.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El paciente es hombre,&gt; de 45 años o con enfermedad psiquiátrica o con ideación suicida de inicio agudo.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Existe falta de contención </a:t>
            </a:r>
            <a:r>
              <a:rPr lang="es-ES_tradnl" sz="2000" dirty="0" err="1" smtClean="0"/>
              <a:t>fliar</a:t>
            </a:r>
            <a:r>
              <a:rPr lang="es-ES_tradnl" sz="2000" dirty="0" smtClean="0"/>
              <a:t> o social.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Se detecta conducta impulsiva, agitación severa, juicio empobrecido o falta de autocrítica.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Hay cambios en el cuadro psiquiátrico debido a causas tóxicas, metabólicas o infecciosas u otras que pudiesen requerir evaluación y tratamiento de mayor complejidad</a:t>
            </a:r>
          </a:p>
          <a:p>
            <a:pPr algn="just">
              <a:lnSpc>
                <a:spcPct val="80000"/>
              </a:lnSpc>
            </a:pPr>
            <a:r>
              <a:rPr lang="es-ES_tradnl" dirty="0" smtClean="0"/>
              <a:t>Cuando no hubo intento, pero existe ideación suicida si: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Existe un plan muy específico de gran letalidad.</a:t>
            </a:r>
          </a:p>
          <a:p>
            <a:pPr lvl="1" algn="just">
              <a:lnSpc>
                <a:spcPct val="80000"/>
              </a:lnSpc>
              <a:buFontTx/>
              <a:buChar char="•"/>
            </a:pPr>
            <a:r>
              <a:rPr lang="es-ES_tradnl" sz="2000" dirty="0" smtClean="0"/>
              <a:t>Se </a:t>
            </a:r>
            <a:r>
              <a:rPr lang="es-ES_tradnl" sz="2000" dirty="0" smtClean="0"/>
              <a:t>realizó previamente una tentativa de gran magnitud suicida.</a:t>
            </a:r>
            <a:endParaRPr lang="es-ES_tradnl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501122" cy="6286520"/>
          </a:xfrm>
        </p:spPr>
        <p:txBody>
          <a:bodyPr vert="horz"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s-MX" sz="2800" b="1" dirty="0" smtClean="0"/>
              <a:t>La internación puede estar indicada si:</a:t>
            </a:r>
            <a:endParaRPr lang="es-MX" sz="2800" dirty="0" smtClean="0"/>
          </a:p>
          <a:p>
            <a:pPr>
              <a:lnSpc>
                <a:spcPct val="80000"/>
              </a:lnSpc>
              <a:buNone/>
            </a:pPr>
            <a:r>
              <a:rPr lang="es-ES_tradnl" sz="2800" dirty="0" smtClean="0"/>
              <a:t>Existe ideación suicida con: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Psicosis.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Trastornos psiquiátricos graves.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Intentos anteriores con lesiones graves o médicamente serios.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Sospecha de enfermedades concurrentes (cáncer, </a:t>
            </a:r>
            <a:r>
              <a:rPr lang="es-ES_tradnl" sz="2200" dirty="0" smtClean="0"/>
              <a:t>infecciones, neurológicos</a:t>
            </a:r>
            <a:r>
              <a:rPr lang="es-ES_tradnl" sz="2200" dirty="0" smtClean="0"/>
              <a:t>).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Dificultad o imposibilidad de realizar un </a:t>
            </a:r>
            <a:r>
              <a:rPr lang="es-ES_tradnl" sz="2200" dirty="0" smtClean="0"/>
              <a:t>tratamiento </a:t>
            </a:r>
            <a:r>
              <a:rPr lang="es-ES_tradnl" sz="2200" dirty="0" smtClean="0"/>
              <a:t>ambulatorio.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Necesidad de </a:t>
            </a:r>
            <a:r>
              <a:rPr lang="es-ES_tradnl" sz="2200" dirty="0" smtClean="0"/>
              <a:t>tratamientos </a:t>
            </a:r>
            <a:r>
              <a:rPr lang="es-ES_tradnl" sz="2200" dirty="0" smtClean="0"/>
              <a:t>complejos (medicación, TEC).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Necesidad de observación o evaluación especializada o </a:t>
            </a:r>
            <a:r>
              <a:rPr lang="es-ES_tradnl" sz="2200" dirty="0" smtClean="0"/>
              <a:t>tratamiento </a:t>
            </a:r>
            <a:r>
              <a:rPr lang="es-ES_tradnl" sz="2200" dirty="0" smtClean="0"/>
              <a:t>clínico </a:t>
            </a:r>
            <a:r>
              <a:rPr lang="es-ES_tradnl" sz="2200" dirty="0" smtClean="0"/>
              <a:t>complejo</a:t>
            </a:r>
            <a:r>
              <a:rPr lang="es-ES_tradnl" sz="2200" dirty="0" smtClean="0"/>
              <a:t>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Contención </a:t>
            </a:r>
            <a:r>
              <a:rPr lang="es-ES_tradnl" sz="2200" dirty="0" smtClean="0"/>
              <a:t>familiar </a:t>
            </a:r>
            <a:r>
              <a:rPr lang="es-ES_tradnl" sz="2200" dirty="0" smtClean="0"/>
              <a:t>o social limitada.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Imposibilidad o dificultad para concurrir regularmente a tratamiento ambulatorio.</a:t>
            </a:r>
          </a:p>
          <a:p>
            <a:pPr algn="just">
              <a:lnSpc>
                <a:spcPct val="80000"/>
              </a:lnSpc>
              <a:buFontTx/>
              <a:buChar char="•"/>
            </a:pPr>
            <a:r>
              <a:rPr lang="es-ES_tradnl" sz="2200" dirty="0" smtClean="0"/>
              <a:t>Aún en ausencia de intentos o de ideación suicida, pero con indicios de la evaluación psiquiátrica, o de los antecedentes, sugiriendo un alto nivel de riesgo o un incremento reciente del mismo.</a:t>
            </a:r>
            <a:endParaRPr lang="es-ES_tradnl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Intento de Suicidio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501122" cy="6286520"/>
          </a:xfrm>
        </p:spPr>
        <p:txBody>
          <a:bodyPr vert="horz"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s-MX" sz="2800" b="1" dirty="0" smtClean="0"/>
              <a:t>El tratamiento ambulatorio puede estar indicado cuando:</a:t>
            </a:r>
            <a:endParaRPr lang="es-MX" sz="2800" dirty="0" smtClean="0"/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s-ES_tradnl" sz="2800" dirty="0" smtClean="0"/>
              <a:t>La crisis suicida es </a:t>
            </a:r>
            <a:r>
              <a:rPr lang="es-ES_tradnl" sz="2800" dirty="0" smtClean="0"/>
              <a:t>respuesta </a:t>
            </a:r>
            <a:r>
              <a:rPr lang="es-ES_tradnl" sz="2800" dirty="0" smtClean="0"/>
              <a:t>a un evento precipitante, el paciente cambia su punto de vista y expresa crítica convincente en relación a su acto o ideación.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s-ES_tradnl" sz="2800" dirty="0" smtClean="0"/>
              <a:t>El plan, el método o el intento son de baja letalidad.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s-ES_tradnl" sz="2800" dirty="0" smtClean="0"/>
              <a:t>La situación vital del paciente es estable y contenedora.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s-ES_tradnl" sz="2800" dirty="0" smtClean="0"/>
              <a:t>El paciente es confiable a la hora de colaborar  con las recomendaciones, y se acordó con el psiquiatra de consulta externa continuar con el </a:t>
            </a:r>
            <a:r>
              <a:rPr lang="es-ES_tradnl" sz="2800" dirty="0" smtClean="0"/>
              <a:t>tratamiento en </a:t>
            </a:r>
            <a:r>
              <a:rPr lang="es-ES_tradnl" sz="2800" dirty="0" smtClean="0"/>
              <a:t>forma ambulatoria.</a:t>
            </a:r>
            <a:endParaRPr lang="es-ES_tradnl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Trastornos de Personalidad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501122" cy="6286520"/>
          </a:xfrm>
        </p:spPr>
        <p:txBody>
          <a:bodyPr vert="horz">
            <a:noAutofit/>
          </a:bodyPr>
          <a:lstStyle/>
          <a:p>
            <a:pPr algn="just"/>
            <a:r>
              <a:rPr lang="es-ES" sz="2800" dirty="0" smtClean="0"/>
              <a:t>Son patrones </a:t>
            </a:r>
            <a:r>
              <a:rPr lang="es-ES" sz="2800" dirty="0" smtClean="0"/>
              <a:t>de percepción, reacción y relación </a:t>
            </a:r>
            <a:r>
              <a:rPr lang="es-ES" sz="2800" dirty="0" smtClean="0"/>
              <a:t>relativamente </a:t>
            </a:r>
            <a:r>
              <a:rPr lang="es-ES" sz="2800" dirty="0" smtClean="0"/>
              <a:t>fijos, inflexibles y socialmente desadaptados. </a:t>
            </a:r>
            <a:endParaRPr lang="es-ES" sz="2800" dirty="0" smtClean="0"/>
          </a:p>
          <a:p>
            <a:pPr algn="just"/>
            <a:r>
              <a:rPr lang="es-ES" sz="2800" dirty="0" smtClean="0"/>
              <a:t>Las </a:t>
            </a:r>
            <a:r>
              <a:rPr lang="es-ES" sz="2800" dirty="0" smtClean="0"/>
              <a:t>personas con trastornos de la personalidad generalmente no son conscientes de que su comportamiento o sus patrones de pensamiento son inapropiados</a:t>
            </a:r>
            <a:r>
              <a:rPr lang="es-ES" sz="2800" dirty="0" smtClean="0"/>
              <a:t>.</a:t>
            </a:r>
          </a:p>
          <a:p>
            <a:pPr algn="just"/>
            <a:endParaRPr lang="es-ES" sz="2000" dirty="0" smtClean="0"/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Constituyen:</a:t>
            </a:r>
          </a:p>
          <a:p>
            <a:pPr lvl="1" algn="just">
              <a:spcBef>
                <a:spcPts val="0"/>
              </a:spcBef>
            </a:pPr>
            <a:r>
              <a:rPr lang="es-AR" sz="2500" dirty="0" smtClean="0"/>
              <a:t>Incremento </a:t>
            </a:r>
            <a:r>
              <a:rPr lang="es-AR" sz="2500" dirty="0" smtClean="0"/>
              <a:t>en la demanda</a:t>
            </a:r>
          </a:p>
          <a:p>
            <a:pPr lvl="1" algn="just">
              <a:spcBef>
                <a:spcPts val="0"/>
              </a:spcBef>
            </a:pPr>
            <a:r>
              <a:rPr lang="es-AR" sz="2500" dirty="0" smtClean="0"/>
              <a:t>Aumento en la complejidad y agresividad de los pacientes agitados</a:t>
            </a:r>
          </a:p>
          <a:p>
            <a:pPr lvl="1" algn="just">
              <a:spcBef>
                <a:spcPts val="0"/>
              </a:spcBef>
            </a:pPr>
            <a:r>
              <a:rPr lang="es-AR" sz="2500" dirty="0" smtClean="0"/>
              <a:t>Aumento de la intervención policial y judicial</a:t>
            </a:r>
          </a:p>
          <a:p>
            <a:pPr lvl="1" algn="just">
              <a:spcBef>
                <a:spcPts val="0"/>
              </a:spcBef>
            </a:pPr>
            <a:r>
              <a:rPr lang="es-AR" sz="2500" dirty="0" smtClean="0"/>
              <a:t>Aumento de pacientes “puerta giratoria”</a:t>
            </a:r>
          </a:p>
          <a:p>
            <a:pPr lvl="1" algn="just">
              <a:spcBef>
                <a:spcPts val="0"/>
              </a:spcBef>
            </a:pPr>
            <a:r>
              <a:rPr lang="es-AR" sz="2500" dirty="0" smtClean="0"/>
              <a:t>Aumento de pacientes “</a:t>
            </a:r>
            <a:r>
              <a:rPr lang="es-AR" sz="2500" dirty="0" err="1" smtClean="0"/>
              <a:t>hiperfrecuentadores</a:t>
            </a:r>
            <a:r>
              <a:rPr lang="es-AR" sz="2500" dirty="0" smtClean="0"/>
              <a:t>”</a:t>
            </a:r>
            <a:endParaRPr lang="es-ES" sz="2500" dirty="0" smtClean="0"/>
          </a:p>
          <a:p>
            <a:pPr algn="just"/>
            <a:endParaRPr lang="es-ES_tradnl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Trastornos de Personalidad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929718" cy="6286520"/>
          </a:xfrm>
        </p:spPr>
        <p:txBody>
          <a:bodyPr vert="horz"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None/>
            </a:pPr>
            <a:r>
              <a:rPr lang="es-AR" sz="2800" b="1" dirty="0" smtClean="0"/>
              <a:t>Trastorno límite de personalidad:</a:t>
            </a:r>
            <a:endParaRPr lang="es-AR" sz="2800" b="1" dirty="0" smtClean="0"/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Inestabilidad </a:t>
            </a:r>
            <a:r>
              <a:rPr lang="es-AR" sz="2800" dirty="0" smtClean="0"/>
              <a:t>emocional, irritabilidad, ira intensa</a:t>
            </a:r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Pensamiento </a:t>
            </a:r>
            <a:r>
              <a:rPr lang="es-AR" sz="2800" dirty="0" smtClean="0"/>
              <a:t>extremadamente polarizado </a:t>
            </a:r>
            <a:r>
              <a:rPr lang="es-AR" sz="2800" dirty="0" smtClean="0"/>
              <a:t>y dicotómico (amor-odio</a:t>
            </a:r>
            <a:r>
              <a:rPr lang="es-AR" sz="2800" dirty="0" smtClean="0"/>
              <a:t>)</a:t>
            </a:r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Relaciones </a:t>
            </a:r>
            <a:r>
              <a:rPr lang="es-AR" sz="2800" dirty="0" smtClean="0"/>
              <a:t>interpersonales caóticas e inestables</a:t>
            </a:r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Oscilación </a:t>
            </a:r>
            <a:r>
              <a:rPr lang="es-AR" sz="2800" dirty="0" smtClean="0"/>
              <a:t>en la autoimagen</a:t>
            </a:r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Trastornos </a:t>
            </a:r>
            <a:r>
              <a:rPr lang="es-AR" sz="2800" dirty="0" smtClean="0"/>
              <a:t>de la conducta</a:t>
            </a:r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Episodios </a:t>
            </a:r>
            <a:r>
              <a:rPr lang="es-AR" sz="2800" dirty="0" smtClean="0"/>
              <a:t>de auto o </a:t>
            </a:r>
            <a:r>
              <a:rPr lang="es-AR" sz="2800" dirty="0" err="1" smtClean="0"/>
              <a:t>heteroagresión</a:t>
            </a:r>
            <a:endParaRPr lang="es-AR" sz="2800" dirty="0" smtClean="0"/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Reacción </a:t>
            </a:r>
            <a:r>
              <a:rPr lang="es-AR" sz="2800" dirty="0" smtClean="0"/>
              <a:t>desmedida frente a un abandono real o </a:t>
            </a:r>
            <a:r>
              <a:rPr lang="es-AR" sz="2800" dirty="0" smtClean="0"/>
              <a:t>imaginario</a:t>
            </a:r>
          </a:p>
          <a:p>
            <a:pPr algn="just">
              <a:spcBef>
                <a:spcPts val="0"/>
              </a:spcBef>
            </a:pPr>
            <a:r>
              <a:rPr lang="es-AR" sz="2800" dirty="0" smtClean="0"/>
              <a:t>Sentimiento crónico de vacío o inutilidad</a:t>
            </a:r>
          </a:p>
          <a:p>
            <a:pPr algn="just">
              <a:spcBef>
                <a:spcPts val="0"/>
              </a:spcBef>
            </a:pPr>
            <a:endParaRPr lang="es-AR" sz="1400" dirty="0" smtClean="0"/>
          </a:p>
          <a:p>
            <a:pPr>
              <a:lnSpc>
                <a:spcPct val="80000"/>
              </a:lnSpc>
            </a:pPr>
            <a:r>
              <a:rPr lang="es-AR" sz="2000" dirty="0" smtClean="0"/>
              <a:t>1 – 2 % de la </a:t>
            </a:r>
            <a:r>
              <a:rPr lang="es-AR" sz="2000" dirty="0" err="1" smtClean="0"/>
              <a:t>poblacion</a:t>
            </a:r>
            <a:r>
              <a:rPr lang="es-AR" sz="2000" dirty="0" smtClean="0"/>
              <a:t> </a:t>
            </a:r>
            <a:r>
              <a:rPr lang="es-AR" sz="2000" dirty="0" smtClean="0"/>
              <a:t>general.</a:t>
            </a:r>
            <a:endParaRPr lang="es-AR" sz="2000" dirty="0" smtClean="0"/>
          </a:p>
          <a:p>
            <a:pPr algn="just">
              <a:lnSpc>
                <a:spcPct val="80000"/>
              </a:lnSpc>
            </a:pPr>
            <a:r>
              <a:rPr lang="es-AR" sz="2000" dirty="0" smtClean="0"/>
              <a:t>10 % pacientes psiquiátricos </a:t>
            </a:r>
            <a:r>
              <a:rPr lang="es-AR" sz="2000" dirty="0" smtClean="0"/>
              <a:t>ambulatorios.; 20 </a:t>
            </a:r>
            <a:r>
              <a:rPr lang="es-AR" sz="2000" dirty="0" smtClean="0"/>
              <a:t>% </a:t>
            </a:r>
            <a:r>
              <a:rPr lang="es-AR" sz="2000" dirty="0" smtClean="0"/>
              <a:t>internados.</a:t>
            </a:r>
            <a:endParaRPr lang="es-AR" sz="2000" dirty="0" smtClean="0"/>
          </a:p>
          <a:p>
            <a:pPr algn="just">
              <a:lnSpc>
                <a:spcPct val="80000"/>
              </a:lnSpc>
            </a:pPr>
            <a:r>
              <a:rPr lang="es-AR" sz="2000" dirty="0" smtClean="0"/>
              <a:t>30 – 60 % de los trastornos de </a:t>
            </a:r>
            <a:r>
              <a:rPr lang="es-AR" sz="2000" dirty="0" smtClean="0"/>
              <a:t>personalidad.</a:t>
            </a:r>
            <a:endParaRPr lang="es-AR" sz="2000" dirty="0" smtClean="0"/>
          </a:p>
          <a:p>
            <a:pPr>
              <a:lnSpc>
                <a:spcPct val="80000"/>
              </a:lnSpc>
            </a:pPr>
            <a:r>
              <a:rPr lang="es-AR" sz="2000" dirty="0" smtClean="0"/>
              <a:t>Predominio en mujeres; relación 3 </a:t>
            </a:r>
            <a:r>
              <a:rPr lang="es-AR" sz="2000" dirty="0" smtClean="0"/>
              <a:t>: </a:t>
            </a:r>
            <a:r>
              <a:rPr lang="es-AR" sz="2000" dirty="0" smtClean="0"/>
              <a:t>1</a:t>
            </a: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Trastornos de Personalidad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929718" cy="6286520"/>
          </a:xfrm>
        </p:spPr>
        <p:txBody>
          <a:bodyPr vert="horz"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None/>
            </a:pPr>
            <a:r>
              <a:rPr lang="es-AR" sz="2800" b="1" dirty="0" smtClean="0"/>
              <a:t>Trastorno límite de personalidad:</a:t>
            </a:r>
            <a:endParaRPr lang="es-AR" sz="2800" b="1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s-AR" sz="1400" b="1" dirty="0" smtClean="0"/>
          </a:p>
          <a:p>
            <a:pPr algn="just">
              <a:spcBef>
                <a:spcPts val="0"/>
              </a:spcBef>
            </a:pPr>
            <a:r>
              <a:rPr lang="es-AR" dirty="0" smtClean="0"/>
              <a:t>73 % intentan  suicidarse</a:t>
            </a:r>
          </a:p>
          <a:p>
            <a:pPr algn="just">
              <a:spcBef>
                <a:spcPts val="0"/>
              </a:spcBef>
            </a:pPr>
            <a:r>
              <a:rPr lang="es-AR" dirty="0" smtClean="0"/>
              <a:t>3,4  </a:t>
            </a:r>
            <a:r>
              <a:rPr lang="es-AR" dirty="0" smtClean="0"/>
              <a:t>intentos </a:t>
            </a:r>
            <a:r>
              <a:rPr lang="es-AR" dirty="0" smtClean="0"/>
              <a:t>de suicidio promedio</a:t>
            </a:r>
          </a:p>
          <a:p>
            <a:pPr algn="just">
              <a:spcBef>
                <a:spcPts val="0"/>
              </a:spcBef>
            </a:pPr>
            <a:r>
              <a:rPr lang="es-AR" dirty="0" smtClean="0"/>
              <a:t>8 – 10% se suicidan</a:t>
            </a:r>
          </a:p>
          <a:p>
            <a:pPr algn="just">
              <a:spcBef>
                <a:spcPts val="0"/>
              </a:spcBef>
            </a:pPr>
            <a:r>
              <a:rPr lang="es-AR" dirty="0" smtClean="0"/>
              <a:t>Mayor riesgo después de lo 20 años</a:t>
            </a:r>
          </a:p>
          <a:p>
            <a:pPr algn="just">
              <a:spcBef>
                <a:spcPts val="0"/>
              </a:spcBef>
            </a:pPr>
            <a:r>
              <a:rPr lang="es-AR" dirty="0" smtClean="0"/>
              <a:t>Mayor riesgo en </a:t>
            </a:r>
            <a:r>
              <a:rPr lang="es-AR" dirty="0" err="1" smtClean="0"/>
              <a:t>comorbilidad</a:t>
            </a:r>
            <a:r>
              <a:rPr lang="es-AR" dirty="0" smtClean="0"/>
              <a:t> con eje I</a:t>
            </a:r>
          </a:p>
          <a:p>
            <a:pPr algn="just">
              <a:spcBef>
                <a:spcPts val="0"/>
              </a:spcBef>
            </a:pPr>
            <a:r>
              <a:rPr lang="es-AR" dirty="0" smtClean="0"/>
              <a:t>30 % </a:t>
            </a:r>
            <a:r>
              <a:rPr lang="es-AR" dirty="0" smtClean="0"/>
              <a:t>individuos que mueren por suicidio</a:t>
            </a:r>
            <a:endParaRPr lang="es-AR" dirty="0" smtClean="0"/>
          </a:p>
          <a:p>
            <a:pPr algn="just">
              <a:spcBef>
                <a:spcPts val="0"/>
              </a:spcBef>
            </a:pPr>
            <a:r>
              <a:rPr lang="es-AR" dirty="0" smtClean="0"/>
              <a:t>40 % </a:t>
            </a:r>
            <a:r>
              <a:rPr lang="es-AR" dirty="0" smtClean="0"/>
              <a:t>individuos que intenta suicidarse</a:t>
            </a:r>
          </a:p>
          <a:p>
            <a:pPr algn="just">
              <a:spcBef>
                <a:spcPts val="0"/>
              </a:spcBef>
            </a:pPr>
            <a:endParaRPr lang="es-AR" dirty="0" smtClean="0"/>
          </a:p>
          <a:p>
            <a:pPr algn="just">
              <a:spcBef>
                <a:spcPts val="0"/>
              </a:spcBef>
            </a:pPr>
            <a:r>
              <a:rPr lang="es-AR" sz="1800" dirty="0" smtClean="0"/>
              <a:t>Finalidad letal menos relevante que la “función de comunicación”</a:t>
            </a:r>
          </a:p>
          <a:p>
            <a:pPr algn="just">
              <a:spcBef>
                <a:spcPts val="0"/>
              </a:spcBef>
              <a:buFont typeface="Wingdings" pitchFamily="2" charset="2"/>
              <a:buNone/>
            </a:pPr>
            <a:endParaRPr lang="es-AR" sz="2000" cap="small" dirty="0" smtClean="0"/>
          </a:p>
          <a:p>
            <a:pPr lvl="1" algn="just">
              <a:spcBef>
                <a:spcPts val="0"/>
              </a:spcBef>
            </a:pPr>
            <a:r>
              <a:rPr lang="es-AR" sz="1800" dirty="0" smtClean="0"/>
              <a:t>Estrategia de afrontamiento del estrés</a:t>
            </a:r>
          </a:p>
          <a:p>
            <a:pPr lvl="1" algn="just">
              <a:spcBef>
                <a:spcPts val="0"/>
              </a:spcBef>
            </a:pPr>
            <a:r>
              <a:rPr lang="es-AR" sz="1800" dirty="0" smtClean="0"/>
              <a:t>Mecanismo para provocar cambios ambientales</a:t>
            </a:r>
          </a:p>
          <a:p>
            <a:pPr lvl="1" algn="just">
              <a:spcBef>
                <a:spcPts val="0"/>
              </a:spcBef>
            </a:pPr>
            <a:r>
              <a:rPr lang="es-AR" sz="1800" dirty="0" smtClean="0"/>
              <a:t>Vía alternativa para internarse</a:t>
            </a:r>
            <a:endParaRPr lang="es-A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358246" cy="642918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solidFill>
                  <a:schemeClr val="accent1">
                    <a:lumMod val="75000"/>
                  </a:schemeClr>
                </a:solidFill>
              </a:rPr>
              <a:t>Trastornos de Personalidad</a:t>
            </a:r>
            <a:endParaRPr lang="es-E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571480"/>
            <a:ext cx="8929718" cy="6286520"/>
          </a:xfrm>
        </p:spPr>
        <p:txBody>
          <a:bodyPr vert="horz"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None/>
            </a:pPr>
            <a:r>
              <a:rPr lang="es-AR" sz="2800" b="1" dirty="0" smtClean="0"/>
              <a:t>Trastorno antisocial de personalidad:</a:t>
            </a:r>
          </a:p>
          <a:p>
            <a:pPr algn="just">
              <a:spcBef>
                <a:spcPts val="0"/>
              </a:spcBef>
            </a:pPr>
            <a:r>
              <a:rPr lang="es-ES" sz="2800" dirty="0" err="1" smtClean="0"/>
              <a:t>Rehuyen</a:t>
            </a:r>
            <a:r>
              <a:rPr lang="es-ES" sz="2800" dirty="0" smtClean="0"/>
              <a:t> </a:t>
            </a:r>
            <a:r>
              <a:rPr lang="es-ES" sz="2800" dirty="0" smtClean="0"/>
              <a:t>a las normas preestablecidas; no saben o no pueden adaptarse a ellas.</a:t>
            </a:r>
            <a:endParaRPr lang="es-AR" sz="2800" dirty="0" smtClean="0"/>
          </a:p>
          <a:p>
            <a:pPr algn="just">
              <a:spcBef>
                <a:spcPts val="0"/>
              </a:spcBef>
            </a:pPr>
            <a:r>
              <a:rPr lang="es-ES" sz="2800" dirty="0" smtClean="0"/>
              <a:t>A</a:t>
            </a:r>
            <a:r>
              <a:rPr lang="es-ES" sz="2800" dirty="0" smtClean="0"/>
              <a:t>ctúan para </a:t>
            </a:r>
            <a:r>
              <a:rPr lang="es-ES" sz="2800" dirty="0" smtClean="0"/>
              <a:t>alcanzar lo que desean, cometiendo en muchos casos delitos </a:t>
            </a:r>
            <a:r>
              <a:rPr lang="es-ES" sz="2800" dirty="0" smtClean="0"/>
              <a:t>graves.</a:t>
            </a:r>
          </a:p>
          <a:p>
            <a:pPr algn="just">
              <a:spcBef>
                <a:spcPts val="0"/>
              </a:spcBef>
            </a:pPr>
            <a:r>
              <a:rPr lang="es-ES" sz="2800" dirty="0" smtClean="0"/>
              <a:t>Impulsividad o incapacidad para planificar el futuro.</a:t>
            </a:r>
          </a:p>
          <a:p>
            <a:pPr algn="just">
              <a:spcBef>
                <a:spcPts val="0"/>
              </a:spcBef>
            </a:pPr>
            <a:r>
              <a:rPr lang="es-ES" sz="2800" dirty="0" smtClean="0"/>
              <a:t>Irritabilidad y agresividad.</a:t>
            </a:r>
          </a:p>
          <a:p>
            <a:pPr algn="just">
              <a:spcBef>
                <a:spcPts val="0"/>
              </a:spcBef>
            </a:pPr>
            <a:r>
              <a:rPr lang="es-ES" sz="2800" dirty="0" smtClean="0"/>
              <a:t>Despreocupación por su seguridad o la de los demás.</a:t>
            </a:r>
          </a:p>
          <a:p>
            <a:pPr algn="just">
              <a:spcBef>
                <a:spcPts val="0"/>
              </a:spcBef>
            </a:pPr>
            <a:r>
              <a:rPr lang="es-ES" sz="2800" dirty="0" smtClean="0"/>
              <a:t>Falta de remordimiento.</a:t>
            </a:r>
            <a:endParaRPr lang="es-A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6756</TotalTime>
  <Words>3199</Words>
  <Application>Microsoft Office PowerPoint</Application>
  <PresentationFormat>Presentación en pantalla (4:3)</PresentationFormat>
  <Paragraphs>436</Paragraphs>
  <Slides>42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3" baseType="lpstr">
      <vt:lpstr>Mirador</vt:lpstr>
      <vt:lpstr>El Paciente en Guardia   </vt:lpstr>
      <vt:lpstr>Diapositiva 2</vt:lpstr>
      <vt:lpstr>Diapositiva 3</vt:lpstr>
      <vt:lpstr>Valoración del contexto psicosocial y personalidad de base</vt:lpstr>
      <vt:lpstr>Diapositiva 5</vt:lpstr>
      <vt:lpstr>Diapositiva 6</vt:lpstr>
      <vt:lpstr>Motivos de Consulta más frecuentes</vt:lpstr>
      <vt:lpstr>Trastorno de ansiedad-angustia</vt:lpstr>
      <vt:lpstr>Trastorno de ansiedad-angustia</vt:lpstr>
      <vt:lpstr>Trastorno de ansiedad-angustia</vt:lpstr>
      <vt:lpstr>Trastorno de ansiedad-angustia</vt:lpstr>
      <vt:lpstr>Trastorno de ansiedad-angustia</vt:lpstr>
      <vt:lpstr>Trastorno de ansiedad-angustia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Excitación psicomotriz</vt:lpstr>
      <vt:lpstr>Intento de Suicidio</vt:lpstr>
      <vt:lpstr>Intento de Suicidio</vt:lpstr>
      <vt:lpstr>Intento de Suicidio</vt:lpstr>
      <vt:lpstr>Intento de Suicidio</vt:lpstr>
      <vt:lpstr>Intento de Suicidio</vt:lpstr>
      <vt:lpstr>Intento de Suicidio</vt:lpstr>
      <vt:lpstr>Intento de Suicidio</vt:lpstr>
      <vt:lpstr>Intento de Suicidio</vt:lpstr>
      <vt:lpstr>Intento de Suicidio</vt:lpstr>
      <vt:lpstr>Trastornos de Personalidad</vt:lpstr>
      <vt:lpstr>Trastornos de Personalidad</vt:lpstr>
      <vt:lpstr>Trastornos de Personalidad</vt:lpstr>
      <vt:lpstr>Trastornos de Personalidad</vt:lpstr>
    </vt:vector>
  </TitlesOfParts>
  <Company>Acer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TRASTORNO BORDERLINE DE LA  PERSONALIDAD</dc:title>
  <dc:creator>Valued Acer Customer</dc:creator>
  <cp:lastModifiedBy>Valued Acer Customer</cp:lastModifiedBy>
  <cp:revision>331</cp:revision>
  <dcterms:created xsi:type="dcterms:W3CDTF">2012-07-12T23:17:23Z</dcterms:created>
  <dcterms:modified xsi:type="dcterms:W3CDTF">2013-09-09T00:40:40Z</dcterms:modified>
</cp:coreProperties>
</file>