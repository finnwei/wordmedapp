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846216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4129415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3022768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62C44C58-D415-44CD-83F8-C4C5744B6B98}" type="datetimeFigureOut">
              <a:rPr lang="es-AR" smtClean="0"/>
              <a:t>5/8/2023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1390210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62C44C58-D415-44CD-83F8-C4C5744B6B98}" type="datetimeFigureOut">
              <a:rPr lang="es-AR" smtClean="0"/>
              <a:t>5/8/2023</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105947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3"/>
          <p:cNvSpPr>
            <a:spLocks noGrp="1"/>
          </p:cNvSpPr>
          <p:nvPr>
            <p:ph type="ftr" sz="quarter" idx="11"/>
          </p:nvPr>
        </p:nvSpPr>
        <p:spPr/>
        <p:txBody>
          <a:bodyPr/>
          <a:lstStyle/>
          <a:p>
            <a:endParaRPr lang="es-AR"/>
          </a:p>
        </p:txBody>
      </p:sp>
      <p:sp>
        <p:nvSpPr>
          <p:cNvPr id="6" name="Slide Number Placeholder 4"/>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4147672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2"/>
          <p:cNvSpPr>
            <a:spLocks noGrp="1"/>
          </p:cNvSpPr>
          <p:nvPr>
            <p:ph type="ftr" sz="quarter" idx="11"/>
          </p:nvPr>
        </p:nvSpPr>
        <p:spPr/>
        <p:txBody>
          <a:bodyPr/>
          <a:lstStyle/>
          <a:p>
            <a:endParaRPr lang="es-AR"/>
          </a:p>
        </p:txBody>
      </p:sp>
      <p:sp>
        <p:nvSpPr>
          <p:cNvPr id="6" name="Slide Number Placeholder 3"/>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309462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7" name="Date Placeholder 4"/>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5"/>
          <p:cNvSpPr>
            <a:spLocks noGrp="1"/>
          </p:cNvSpPr>
          <p:nvPr>
            <p:ph type="ftr" sz="quarter" idx="11"/>
          </p:nvPr>
        </p:nvSpPr>
        <p:spPr/>
        <p:txBody>
          <a:bodyPr/>
          <a:lstStyle/>
          <a:p>
            <a:endParaRPr lang="es-AR"/>
          </a:p>
        </p:txBody>
      </p:sp>
      <p:sp>
        <p:nvSpPr>
          <p:cNvPr id="6" name="Slide Number Placeholder 6"/>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196041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62C44C58-D415-44CD-83F8-C4C5744B6B98}" type="datetimeFigureOut">
              <a:rPr lang="es-AR" smtClean="0"/>
              <a:t>5/8/2023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2751665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62C44C58-D415-44CD-83F8-C4C5744B6B98}" type="datetimeFigureOut">
              <a:rPr lang="es-AR" smtClean="0"/>
              <a:t>5/8/2023</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240706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3145989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smtClean="0"/>
              <a:t>Haga clic para modificar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76473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2537770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757201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4"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3386248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867442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62C44C58-D415-44CD-83F8-C4C5744B6B98}" type="datetimeFigureOut">
              <a:rPr lang="es-AR" smtClean="0"/>
              <a:t>5/8/2023</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F2AEE4DD-0187-46BE-9853-58421F487B97}" type="slidenum">
              <a:rPr lang="es-AR" smtClean="0"/>
              <a:t>‹Nº›</a:t>
            </a:fld>
            <a:endParaRPr lang="es-AR"/>
          </a:p>
        </p:txBody>
      </p:sp>
    </p:spTree>
    <p:extLst>
      <p:ext uri="{BB962C8B-B14F-4D97-AF65-F5344CB8AC3E}">
        <p14:creationId xmlns:p14="http://schemas.microsoft.com/office/powerpoint/2010/main" val="488222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2C44C58-D415-44CD-83F8-C4C5744B6B98}" type="datetimeFigureOut">
              <a:rPr lang="es-AR" smtClean="0"/>
              <a:t>5/8/2023</a:t>
            </a:fld>
            <a:endParaRPr lang="es-A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2AEE4DD-0187-46BE-9853-58421F487B97}" type="slidenum">
              <a:rPr lang="es-AR" smtClean="0"/>
              <a:t>‹Nº›</a:t>
            </a:fld>
            <a:endParaRPr lang="es-AR"/>
          </a:p>
        </p:txBody>
      </p:sp>
    </p:spTree>
    <p:extLst>
      <p:ext uri="{BB962C8B-B14F-4D97-AF65-F5344CB8AC3E}">
        <p14:creationId xmlns:p14="http://schemas.microsoft.com/office/powerpoint/2010/main" val="45855739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psicologiaymente.com/clinica/trastorno-deficit-atencion-hiperactividad-tdah-adulto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lgn="ctr"/>
            <a:r>
              <a:rPr lang="es-ES" sz="2800" u="sng" dirty="0"/>
              <a:t>SALUD MENTAL Y PSIQUIATRIA </a:t>
            </a:r>
            <a:r>
              <a:rPr lang="es-ES" sz="2800" u="sng" dirty="0" smtClean="0"/>
              <a:t/>
            </a:r>
            <a:br>
              <a:rPr lang="es-ES" sz="2800" u="sng" dirty="0" smtClean="0"/>
            </a:br>
            <a:r>
              <a:rPr lang="es-ES" sz="2800" u="sng" dirty="0"/>
              <a:t/>
            </a:r>
            <a:br>
              <a:rPr lang="es-ES" sz="2800" u="sng" dirty="0"/>
            </a:br>
            <a:r>
              <a:rPr lang="es-ES" sz="2800" u="sng" dirty="0" smtClean="0"/>
              <a:t/>
            </a:r>
            <a:br>
              <a:rPr lang="es-ES" sz="2800" u="sng" dirty="0" smtClean="0"/>
            </a:br>
            <a:r>
              <a:rPr lang="es-ES" sz="2800" u="sng" dirty="0" smtClean="0"/>
              <a:t>INTRODUCCION </a:t>
            </a:r>
            <a:endParaRPr lang="es-AR" sz="2800" u="sng" dirty="0"/>
          </a:p>
        </p:txBody>
      </p:sp>
      <p:sp>
        <p:nvSpPr>
          <p:cNvPr id="3" name="Subtítulo 2"/>
          <p:cNvSpPr>
            <a:spLocks noGrp="1"/>
          </p:cNvSpPr>
          <p:nvPr>
            <p:ph type="subTitle" idx="1"/>
          </p:nvPr>
        </p:nvSpPr>
        <p:spPr/>
        <p:txBody>
          <a:bodyPr/>
          <a:lstStyle/>
          <a:p>
            <a:endParaRPr lang="es-AR" dirty="0"/>
          </a:p>
        </p:txBody>
      </p:sp>
    </p:spTree>
    <p:extLst>
      <p:ext uri="{BB962C8B-B14F-4D97-AF65-F5344CB8AC3E}">
        <p14:creationId xmlns:p14="http://schemas.microsoft.com/office/powerpoint/2010/main" val="3886849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a:xfrm>
            <a:off x="1103312" y="452718"/>
            <a:ext cx="8946541" cy="5795681"/>
          </a:xfrm>
        </p:spPr>
        <p:txBody>
          <a:bodyPr/>
          <a:lstStyle/>
          <a:p>
            <a:pPr marL="0" indent="0" algn="ctr">
              <a:buNone/>
            </a:pPr>
            <a:r>
              <a:rPr lang="es-ES" sz="2400" u="sng" dirty="0"/>
              <a:t>La magnitud y carga de los trastornos mentales </a:t>
            </a:r>
            <a:endParaRPr lang="es-ES" sz="2400" u="sng" dirty="0" smtClean="0"/>
          </a:p>
          <a:p>
            <a:r>
              <a:rPr lang="es-ES" dirty="0" smtClean="0"/>
              <a:t>450 </a:t>
            </a:r>
            <a:r>
              <a:rPr lang="es-ES" dirty="0"/>
              <a:t>millones de personas sufren de un trastorno mental o de la conducta</a:t>
            </a:r>
            <a:r>
              <a:rPr lang="es-ES" dirty="0" smtClean="0"/>
              <a:t>.</a:t>
            </a:r>
          </a:p>
          <a:p>
            <a:r>
              <a:rPr lang="es-ES" dirty="0" smtClean="0"/>
              <a:t> </a:t>
            </a:r>
            <a:r>
              <a:rPr lang="es-ES" dirty="0"/>
              <a:t>Alrededor de 1 millón de personas se suicidan cada año. </a:t>
            </a:r>
            <a:endParaRPr lang="es-ES" dirty="0" smtClean="0"/>
          </a:p>
          <a:p>
            <a:r>
              <a:rPr lang="es-ES" dirty="0" smtClean="0"/>
              <a:t>Una </a:t>
            </a:r>
            <a:r>
              <a:rPr lang="es-ES" dirty="0"/>
              <a:t>de cada cuatro familias tiene por lo menos un miembro afectado por un trastorno mental. La magnitud de la carga en la familia es difícil de justipreciar, y por eso es frecuentemente ignorada. No obstante, es dable afirmar que el impacto es importante en la calidad de la vida familiar</a:t>
            </a:r>
            <a:r>
              <a:rPr lang="es-ES" dirty="0" smtClean="0"/>
              <a:t>.</a:t>
            </a:r>
          </a:p>
          <a:p>
            <a:r>
              <a:rPr lang="es-ES" dirty="0" smtClean="0"/>
              <a:t> </a:t>
            </a:r>
            <a:r>
              <a:rPr lang="es-ES" dirty="0"/>
              <a:t>Amén de los costos de salud y sociales, las personas afectadas por trastornos mentales son víctimas de violaciones de los derechos humanos, estigma y discriminación, dentro y fuera de las instituciones psiquiátricas. </a:t>
            </a:r>
            <a:endParaRPr lang="es-AR" dirty="0"/>
          </a:p>
        </p:txBody>
      </p:sp>
    </p:spTree>
    <p:extLst>
      <p:ext uri="{BB962C8B-B14F-4D97-AF65-F5344CB8AC3E}">
        <p14:creationId xmlns:p14="http://schemas.microsoft.com/office/powerpoint/2010/main" val="1856800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Pobreza y trastornos mentales: un círculo vicioso </a:t>
            </a:r>
            <a:endParaRPr lang="es-AR" dirty="0"/>
          </a:p>
        </p:txBody>
      </p:sp>
      <p:sp>
        <p:nvSpPr>
          <p:cNvPr id="3" name="Marcador de contenido 2"/>
          <p:cNvSpPr>
            <a:spLocks noGrp="1"/>
          </p:cNvSpPr>
          <p:nvPr>
            <p:ph idx="1"/>
          </p:nvPr>
        </p:nvSpPr>
        <p:spPr/>
        <p:txBody>
          <a:bodyPr/>
          <a:lstStyle/>
          <a:p>
            <a:r>
              <a:rPr lang="es-ES" dirty="0"/>
              <a:t>En tanto que los trastornos mentales generan costos por concepto de tratamientos de largo alcance y de productividad perdida, contribuyen a la pobreza. Al mismo tiempo, la inseguridad, un bajo nivel educacional, la vivienda inadecuada y la </a:t>
            </a:r>
            <a:r>
              <a:rPr lang="es-ES" dirty="0" err="1"/>
              <a:t>subnutrición</a:t>
            </a:r>
            <a:r>
              <a:rPr lang="es-ES" dirty="0"/>
              <a:t> han sido reconocidos como factores asociados con los trastornos mentales. </a:t>
            </a:r>
            <a:endParaRPr lang="es-ES" dirty="0" smtClean="0"/>
          </a:p>
          <a:p>
            <a:r>
              <a:rPr lang="es-ES" dirty="0" smtClean="0"/>
              <a:t>La </a:t>
            </a:r>
            <a:r>
              <a:rPr lang="es-ES" dirty="0"/>
              <a:t>pobreza puede entonces considerarse un determinante importante de los trastornos mentales, y viceversa. De tal manera que ambos aparecen unidos en un círculo vicioso afectando diversas dimensiones del desarrollo individual y social. Organización Mundial de la Salud .Invertir en salud mental.</a:t>
            </a:r>
            <a:endParaRPr lang="es-AR" dirty="0"/>
          </a:p>
        </p:txBody>
      </p:sp>
    </p:spTree>
    <p:extLst>
      <p:ext uri="{BB962C8B-B14F-4D97-AF65-F5344CB8AC3E}">
        <p14:creationId xmlns:p14="http://schemas.microsoft.com/office/powerpoint/2010/main" val="3868376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sz="3200" u="sng" dirty="0"/>
              <a:t>Hablar de los Trastornos Mentales es hablar de estigma y de derechos humanos</a:t>
            </a:r>
            <a:endParaRPr lang="es-AR" sz="3200" u="sng" dirty="0"/>
          </a:p>
        </p:txBody>
      </p:sp>
      <p:sp>
        <p:nvSpPr>
          <p:cNvPr id="3" name="Marcador de contenido 2"/>
          <p:cNvSpPr>
            <a:spLocks noGrp="1"/>
          </p:cNvSpPr>
          <p:nvPr>
            <p:ph idx="1"/>
          </p:nvPr>
        </p:nvSpPr>
        <p:spPr/>
        <p:txBody>
          <a:bodyPr/>
          <a:lstStyle/>
          <a:p>
            <a:r>
              <a:rPr lang="es-ES" dirty="0"/>
              <a:t>Además del peso social y económico, las personas que sufren de enfermedades mentales son también víctimas de violaciones de los derechos humanos, de estigma y discriminación</a:t>
            </a:r>
            <a:r>
              <a:rPr lang="es-ES" dirty="0" smtClean="0"/>
              <a:t>.</a:t>
            </a:r>
          </a:p>
          <a:p>
            <a:r>
              <a:rPr lang="es-ES" dirty="0" smtClean="0"/>
              <a:t> </a:t>
            </a:r>
            <a:r>
              <a:rPr lang="es-ES" dirty="0"/>
              <a:t>Las violaciones de los derechos humanos en las instituciones psiquiátricas distan de ser infrecuentes. </a:t>
            </a:r>
            <a:endParaRPr lang="es-ES" dirty="0" smtClean="0"/>
          </a:p>
          <a:p>
            <a:r>
              <a:rPr lang="es-ES" dirty="0" smtClean="0"/>
              <a:t>Las </a:t>
            </a:r>
            <a:r>
              <a:rPr lang="es-ES" dirty="0"/>
              <a:t>violaciones también tienen lugar fuera de las instituciones: el estigma de la enfermedad mental</a:t>
            </a:r>
            <a:endParaRPr lang="es-AR" dirty="0"/>
          </a:p>
        </p:txBody>
      </p:sp>
    </p:spTree>
    <p:extLst>
      <p:ext uri="{BB962C8B-B14F-4D97-AF65-F5344CB8AC3E}">
        <p14:creationId xmlns:p14="http://schemas.microsoft.com/office/powerpoint/2010/main" val="2656102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74220" y="341881"/>
            <a:ext cx="9404723" cy="1400530"/>
          </a:xfrm>
        </p:spPr>
        <p:txBody>
          <a:bodyPr/>
          <a:lstStyle/>
          <a:p>
            <a:pPr algn="ctr"/>
            <a:r>
              <a:rPr lang="es-ES" sz="3200" u="sng" dirty="0"/>
              <a:t>Barreras que impiden que las personas accedan a una atención apropiada en salud mental</a:t>
            </a:r>
            <a:endParaRPr lang="es-AR" sz="3200" u="sng" dirty="0"/>
          </a:p>
        </p:txBody>
      </p:sp>
      <p:sp>
        <p:nvSpPr>
          <p:cNvPr id="3" name="Marcador de contenido 2"/>
          <p:cNvSpPr>
            <a:spLocks noGrp="1"/>
          </p:cNvSpPr>
          <p:nvPr>
            <p:ph idx="1"/>
          </p:nvPr>
        </p:nvSpPr>
        <p:spPr/>
        <p:txBody>
          <a:bodyPr/>
          <a:lstStyle/>
          <a:p>
            <a:r>
              <a:rPr lang="es-ES" dirty="0"/>
              <a:t>Estigma Medicamentos inexistentes </a:t>
            </a:r>
            <a:endParaRPr lang="es-ES" dirty="0" smtClean="0"/>
          </a:p>
          <a:p>
            <a:r>
              <a:rPr lang="es-ES" dirty="0" smtClean="0"/>
              <a:t>Prioridades </a:t>
            </a:r>
            <a:r>
              <a:rPr lang="es-ES" dirty="0"/>
              <a:t>erradas Personal del nivel primario de atención, no capacitado. </a:t>
            </a:r>
            <a:endParaRPr lang="es-ES" dirty="0" smtClean="0"/>
          </a:p>
          <a:p>
            <a:r>
              <a:rPr lang="es-ES" dirty="0" smtClean="0"/>
              <a:t>Políticas </a:t>
            </a:r>
            <a:r>
              <a:rPr lang="es-ES" dirty="0"/>
              <a:t>y legislación en salud mental que carecen de bases racionales y de integralidad.</a:t>
            </a:r>
            <a:endParaRPr lang="es-AR" dirty="0"/>
          </a:p>
        </p:txBody>
      </p:sp>
    </p:spTree>
    <p:extLst>
      <p:ext uri="{BB962C8B-B14F-4D97-AF65-F5344CB8AC3E}">
        <p14:creationId xmlns:p14="http://schemas.microsoft.com/office/powerpoint/2010/main" val="181259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u="sng" dirty="0" smtClean="0"/>
              <a:t>Salud </a:t>
            </a:r>
            <a:r>
              <a:rPr lang="es-ES" u="sng" dirty="0"/>
              <a:t>Mental y La </a:t>
            </a:r>
            <a:r>
              <a:rPr lang="es-ES" u="sng" dirty="0" smtClean="0"/>
              <a:t>Psiquiatría</a:t>
            </a:r>
            <a:endParaRPr lang="es-AR" u="sng" dirty="0"/>
          </a:p>
        </p:txBody>
      </p:sp>
      <p:sp>
        <p:nvSpPr>
          <p:cNvPr id="3" name="Marcador de contenido 2"/>
          <p:cNvSpPr>
            <a:spLocks noGrp="1"/>
          </p:cNvSpPr>
          <p:nvPr>
            <p:ph idx="1"/>
          </p:nvPr>
        </p:nvSpPr>
        <p:spPr/>
        <p:txBody>
          <a:bodyPr>
            <a:normAutofit/>
          </a:bodyPr>
          <a:lstStyle/>
          <a:p>
            <a:pPr marL="0" indent="0" algn="ctr">
              <a:buNone/>
            </a:pPr>
            <a:r>
              <a:rPr lang="es-AR" sz="3200" b="1" u="sng" dirty="0"/>
              <a:t>INTRODUCCION</a:t>
            </a:r>
          </a:p>
        </p:txBody>
      </p:sp>
    </p:spTree>
    <p:extLst>
      <p:ext uri="{BB962C8B-B14F-4D97-AF65-F5344CB8AC3E}">
        <p14:creationId xmlns:p14="http://schemas.microsoft.com/office/powerpoint/2010/main" val="3233039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u="sng" dirty="0"/>
              <a:t>Definición de Salud y Salud Mental </a:t>
            </a:r>
            <a:endParaRPr lang="es-AR" u="sng" dirty="0"/>
          </a:p>
        </p:txBody>
      </p:sp>
      <p:sp>
        <p:nvSpPr>
          <p:cNvPr id="3" name="Marcador de contenido 2"/>
          <p:cNvSpPr>
            <a:spLocks noGrp="1"/>
          </p:cNvSpPr>
          <p:nvPr>
            <p:ph idx="1"/>
          </p:nvPr>
        </p:nvSpPr>
        <p:spPr/>
        <p:txBody>
          <a:bodyPr/>
          <a:lstStyle/>
          <a:p>
            <a:r>
              <a:rPr lang="es-ES" u="sng" dirty="0"/>
              <a:t>La salud </a:t>
            </a:r>
            <a:r>
              <a:rPr lang="es-ES" dirty="0"/>
              <a:t>es un estado de completo bienestar físico, mental y social y no solamente la ausencia de afecciones o enfermedades</a:t>
            </a:r>
            <a:r>
              <a:rPr lang="es-ES" dirty="0" smtClean="0"/>
              <a:t>».</a:t>
            </a:r>
          </a:p>
          <a:p>
            <a:r>
              <a:rPr lang="es-ES" dirty="0" smtClean="0"/>
              <a:t> La</a:t>
            </a:r>
            <a:r>
              <a:rPr lang="es-ES" u="sng" dirty="0" smtClean="0"/>
              <a:t> Salud </a:t>
            </a:r>
            <a:r>
              <a:rPr lang="es-ES" u="sng" dirty="0"/>
              <a:t>mental </a:t>
            </a:r>
            <a:r>
              <a:rPr lang="es-ES" dirty="0"/>
              <a:t>es más que la mera ausencia de trastornos mentales </a:t>
            </a:r>
            <a:r>
              <a:rPr lang="es-ES" dirty="0" smtClean="0"/>
              <a:t>.</a:t>
            </a:r>
          </a:p>
          <a:p>
            <a:pPr algn="ctr"/>
            <a:r>
              <a:rPr lang="es-ES" dirty="0" smtClean="0"/>
              <a:t> </a:t>
            </a:r>
            <a:r>
              <a:rPr lang="es-ES" dirty="0"/>
              <a:t>“Estado de bienestar que permite a los individuos realizar sus habilidades, afrontar el estrés normal de la vida, trabajar de manera productiva y fructífera, y hacer una contribución significativa a sus comunidades.” </a:t>
            </a:r>
            <a:endParaRPr lang="es-AR" dirty="0"/>
          </a:p>
        </p:txBody>
      </p:sp>
    </p:spTree>
    <p:extLst>
      <p:ext uri="{BB962C8B-B14F-4D97-AF65-F5344CB8AC3E}">
        <p14:creationId xmlns:p14="http://schemas.microsoft.com/office/powerpoint/2010/main" val="1204526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AR" u="sng" dirty="0"/>
              <a:t>La Psiquiatría, enfoque Biopsicosocial</a:t>
            </a:r>
          </a:p>
        </p:txBody>
      </p:sp>
      <p:sp>
        <p:nvSpPr>
          <p:cNvPr id="3" name="Marcador de contenido 2"/>
          <p:cNvSpPr>
            <a:spLocks noGrp="1"/>
          </p:cNvSpPr>
          <p:nvPr>
            <p:ph idx="1"/>
          </p:nvPr>
        </p:nvSpPr>
        <p:spPr/>
        <p:txBody>
          <a:bodyPr>
            <a:normAutofit fontScale="85000" lnSpcReduction="20000"/>
          </a:bodyPr>
          <a:lstStyle/>
          <a:p>
            <a:r>
              <a:rPr lang="es-ES" dirty="0"/>
              <a:t>•La psiquiatría enriquece el estudio y manejo interdisciplinario de la problemática de los pacientes por su enfoque biopsicosocial. </a:t>
            </a:r>
            <a:endParaRPr lang="es-ES" dirty="0" smtClean="0"/>
          </a:p>
          <a:p>
            <a:r>
              <a:rPr lang="es-ES" dirty="0" smtClean="0"/>
              <a:t>•</a:t>
            </a:r>
            <a:r>
              <a:rPr lang="es-ES" dirty="0"/>
              <a:t>En la enseñanza medica el énfasis recae sobre la enfermedad aguda y el tratamiento curativo y no sobre el tratamiento de enfermedades crónicas. </a:t>
            </a:r>
            <a:endParaRPr lang="es-ES" dirty="0" smtClean="0"/>
          </a:p>
          <a:p>
            <a:r>
              <a:rPr lang="es-ES" dirty="0" smtClean="0"/>
              <a:t>•</a:t>
            </a:r>
            <a:r>
              <a:rPr lang="es-ES" dirty="0"/>
              <a:t>y no atiende la necesidad de afrontar factores asociados como: </a:t>
            </a:r>
            <a:endParaRPr lang="es-ES" dirty="0" smtClean="0"/>
          </a:p>
          <a:p>
            <a:r>
              <a:rPr lang="es-ES" dirty="0" smtClean="0"/>
              <a:t>-</a:t>
            </a:r>
            <a:r>
              <a:rPr lang="es-ES" dirty="0"/>
              <a:t>Antecedentes personales y familiares </a:t>
            </a:r>
            <a:endParaRPr lang="es-ES" dirty="0" smtClean="0"/>
          </a:p>
          <a:p>
            <a:r>
              <a:rPr lang="es-ES" dirty="0" smtClean="0"/>
              <a:t>-</a:t>
            </a:r>
            <a:r>
              <a:rPr lang="es-ES" dirty="0"/>
              <a:t>Contexto social que rodea al paciente </a:t>
            </a:r>
            <a:endParaRPr lang="es-ES" dirty="0" smtClean="0"/>
          </a:p>
          <a:p>
            <a:r>
              <a:rPr lang="es-ES" dirty="0" smtClean="0"/>
              <a:t>-</a:t>
            </a:r>
            <a:r>
              <a:rPr lang="es-ES" dirty="0"/>
              <a:t>Sintomatología psiquiátrica </a:t>
            </a:r>
            <a:endParaRPr lang="es-ES" dirty="0" smtClean="0"/>
          </a:p>
          <a:p>
            <a:r>
              <a:rPr lang="es-ES" dirty="0" smtClean="0"/>
              <a:t>-</a:t>
            </a:r>
            <a:r>
              <a:rPr lang="es-ES" dirty="0"/>
              <a:t>Puede producir un trastorno </a:t>
            </a:r>
            <a:r>
              <a:rPr lang="es-ES" dirty="0" smtClean="0"/>
              <a:t>psiquiátrico</a:t>
            </a:r>
          </a:p>
          <a:p>
            <a:r>
              <a:rPr lang="es-ES" dirty="0" smtClean="0"/>
              <a:t> </a:t>
            </a:r>
            <a:r>
              <a:rPr lang="es-ES" dirty="0"/>
              <a:t>-Recomendaciones terapéuticas para el paciente y su familia. </a:t>
            </a:r>
            <a:endParaRPr lang="es-ES" dirty="0" smtClean="0"/>
          </a:p>
          <a:p>
            <a:r>
              <a:rPr lang="es-ES" dirty="0" smtClean="0"/>
              <a:t>-</a:t>
            </a:r>
            <a:r>
              <a:rPr lang="es-ES" dirty="0"/>
              <a:t>Consulta de los otros del equipo por evolución del paciente (seguimiento) -Remisión a centros especializados para su </a:t>
            </a:r>
            <a:r>
              <a:rPr lang="es-ES" dirty="0" smtClean="0"/>
              <a:t>tratamiento</a:t>
            </a:r>
          </a:p>
          <a:p>
            <a:r>
              <a:rPr lang="es-ES" dirty="0" smtClean="0"/>
              <a:t> </a:t>
            </a:r>
            <a:r>
              <a:rPr lang="es-ES" dirty="0"/>
              <a:t>-</a:t>
            </a:r>
            <a:r>
              <a:rPr lang="es-ES" dirty="0" err="1"/>
              <a:t>Etc</a:t>
            </a:r>
            <a:endParaRPr lang="es-AR" dirty="0"/>
          </a:p>
        </p:txBody>
      </p:sp>
    </p:spTree>
    <p:extLst>
      <p:ext uri="{BB962C8B-B14F-4D97-AF65-F5344CB8AC3E}">
        <p14:creationId xmlns:p14="http://schemas.microsoft.com/office/powerpoint/2010/main" val="1078632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u="sng" dirty="0"/>
              <a:t>El problema de la enseñanza en Psiquiatría</a:t>
            </a:r>
            <a:endParaRPr lang="es-AR" u="sng" dirty="0"/>
          </a:p>
        </p:txBody>
      </p:sp>
      <p:sp>
        <p:nvSpPr>
          <p:cNvPr id="3" name="Marcador de contenido 2"/>
          <p:cNvSpPr>
            <a:spLocks noGrp="1"/>
          </p:cNvSpPr>
          <p:nvPr>
            <p:ph idx="1"/>
          </p:nvPr>
        </p:nvSpPr>
        <p:spPr/>
        <p:txBody>
          <a:bodyPr>
            <a:normAutofit lnSpcReduction="10000"/>
          </a:bodyPr>
          <a:lstStyle/>
          <a:p>
            <a:r>
              <a:rPr lang="es-ES" u="sng" dirty="0"/>
              <a:t>Capacitación psiquiátrica en psiquiátricos. </a:t>
            </a:r>
            <a:endParaRPr lang="es-ES" u="sng" dirty="0" smtClean="0"/>
          </a:p>
          <a:p>
            <a:r>
              <a:rPr lang="es-ES" u="sng" dirty="0" smtClean="0"/>
              <a:t>En </a:t>
            </a:r>
            <a:r>
              <a:rPr lang="es-ES" u="sng" dirty="0"/>
              <a:t>los hospitales generales: </a:t>
            </a:r>
            <a:endParaRPr lang="es-ES" u="sng" dirty="0" smtClean="0"/>
          </a:p>
          <a:p>
            <a:r>
              <a:rPr lang="es-ES" dirty="0" smtClean="0"/>
              <a:t> </a:t>
            </a:r>
            <a:r>
              <a:rPr lang="es-ES" dirty="0"/>
              <a:t>No aprendemos a identificar las emociones que acompañan las manifestaciones somáticas en sus pacientes , como tampoco los síntomas psicológicos que constituyen su queja principal</a:t>
            </a:r>
            <a:r>
              <a:rPr lang="es-ES" dirty="0" smtClean="0"/>
              <a:t>.</a:t>
            </a:r>
          </a:p>
          <a:p>
            <a:r>
              <a:rPr lang="es-ES" dirty="0" smtClean="0"/>
              <a:t> </a:t>
            </a:r>
            <a:r>
              <a:rPr lang="es-ES" dirty="0"/>
              <a:t> Dicotomía entre lo psicológico y lo somático. </a:t>
            </a:r>
            <a:endParaRPr lang="es-ES" dirty="0" smtClean="0"/>
          </a:p>
          <a:p>
            <a:r>
              <a:rPr lang="es-ES" dirty="0" smtClean="0"/>
              <a:t> </a:t>
            </a:r>
            <a:r>
              <a:rPr lang="es-ES" dirty="0"/>
              <a:t>No diseño curricular estandarizado en la carrera de medicina para la psiquiatría. El estudiante de medicina juzga la psiquiatría</a:t>
            </a:r>
            <a:r>
              <a:rPr lang="es-ES" dirty="0" smtClean="0"/>
              <a:t>.</a:t>
            </a:r>
          </a:p>
          <a:p>
            <a:r>
              <a:rPr lang="es-ES" dirty="0" smtClean="0"/>
              <a:t> </a:t>
            </a:r>
            <a:r>
              <a:rPr lang="es-ES" dirty="0"/>
              <a:t> poco efectiva, carente de intervenciones científicas sólidas. </a:t>
            </a:r>
            <a:endParaRPr lang="es-ES" dirty="0" smtClean="0"/>
          </a:p>
          <a:p>
            <a:r>
              <a:rPr lang="es-ES" dirty="0" smtClean="0"/>
              <a:t> </a:t>
            </a:r>
            <a:r>
              <a:rPr lang="es-ES" dirty="0"/>
              <a:t>mediciones objetivas son más sencillas que las del comportamiento humano.</a:t>
            </a:r>
            <a:endParaRPr lang="es-AR" dirty="0"/>
          </a:p>
        </p:txBody>
      </p:sp>
    </p:spTree>
    <p:extLst>
      <p:ext uri="{BB962C8B-B14F-4D97-AF65-F5344CB8AC3E}">
        <p14:creationId xmlns:p14="http://schemas.microsoft.com/office/powerpoint/2010/main" val="2831827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u="sng" dirty="0"/>
              <a:t>La Psiquiatría, especialidad medica</a:t>
            </a:r>
          </a:p>
        </p:txBody>
      </p:sp>
      <p:sp>
        <p:nvSpPr>
          <p:cNvPr id="3" name="Marcador de contenido 2"/>
          <p:cNvSpPr>
            <a:spLocks noGrp="1"/>
          </p:cNvSpPr>
          <p:nvPr>
            <p:ph idx="1"/>
          </p:nvPr>
        </p:nvSpPr>
        <p:spPr/>
        <p:txBody>
          <a:bodyPr/>
          <a:lstStyle/>
          <a:p>
            <a:r>
              <a:rPr lang="es-ES" dirty="0"/>
              <a:t>La Psiquiatría es la rama de la medicina que se ocupa de los trastornos mentales, emocionales y conductuales. </a:t>
            </a:r>
            <a:endParaRPr lang="es-ES" dirty="0" smtClean="0"/>
          </a:p>
          <a:p>
            <a:r>
              <a:rPr lang="es-ES" dirty="0" smtClean="0"/>
              <a:t>Su </a:t>
            </a:r>
            <a:r>
              <a:rPr lang="es-ES" dirty="0"/>
              <a:t>objetivo es el estudio de la enfermedad mental, los efectos bioquímicos y ambientales sobre la dinámica del comportamiento y cómo interaccionan con el organismo para enfrentarse al medio ambiente. </a:t>
            </a:r>
            <a:endParaRPr lang="es-ES" dirty="0" smtClean="0"/>
          </a:p>
          <a:p>
            <a:r>
              <a:rPr lang="es-ES" dirty="0" smtClean="0"/>
              <a:t>Podemos </a:t>
            </a:r>
            <a:r>
              <a:rPr lang="es-ES" dirty="0"/>
              <a:t>dividirla en dos grandes categorías: </a:t>
            </a:r>
            <a:endParaRPr lang="es-ES" dirty="0" smtClean="0"/>
          </a:p>
          <a:p>
            <a:r>
              <a:rPr lang="es-ES" u="sng" dirty="0" smtClean="0"/>
              <a:t>Enfermedades </a:t>
            </a:r>
            <a:r>
              <a:rPr lang="es-ES" u="sng" dirty="0" err="1"/>
              <a:t>Psiquiatricas</a:t>
            </a:r>
            <a:r>
              <a:rPr lang="es-ES" u="sng" dirty="0"/>
              <a:t> Orgánicas; </a:t>
            </a:r>
            <a:r>
              <a:rPr lang="es-ES" dirty="0"/>
              <a:t>demencias, epilepsias, Delirio febril, etc. con base física u orgánica demostrable. </a:t>
            </a:r>
            <a:r>
              <a:rPr lang="es-ES" u="sng" dirty="0"/>
              <a:t>Enfermedades </a:t>
            </a:r>
            <a:r>
              <a:rPr lang="es-ES" u="sng" dirty="0" err="1"/>
              <a:t>Psiquiatricas</a:t>
            </a:r>
            <a:r>
              <a:rPr lang="es-ES" u="sng" dirty="0"/>
              <a:t> Funcionales</a:t>
            </a:r>
            <a:r>
              <a:rPr lang="es-ES" dirty="0"/>
              <a:t>: Esquizofrenias, Depresión, ansiedad etc., que no tienen causa física evidente.</a:t>
            </a:r>
            <a:endParaRPr lang="es-AR" dirty="0"/>
          </a:p>
        </p:txBody>
      </p:sp>
    </p:spTree>
    <p:extLst>
      <p:ext uri="{BB962C8B-B14F-4D97-AF65-F5344CB8AC3E}">
        <p14:creationId xmlns:p14="http://schemas.microsoft.com/office/powerpoint/2010/main" val="778865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dirty="0"/>
          </a:p>
        </p:txBody>
      </p:sp>
      <p:sp>
        <p:nvSpPr>
          <p:cNvPr id="3" name="Marcador de contenido 2"/>
          <p:cNvSpPr>
            <a:spLocks noGrp="1"/>
          </p:cNvSpPr>
          <p:nvPr>
            <p:ph idx="1"/>
          </p:nvPr>
        </p:nvSpPr>
        <p:spPr/>
        <p:txBody>
          <a:bodyPr/>
          <a:lstStyle/>
          <a:p>
            <a:r>
              <a:rPr lang="es-AR" dirty="0"/>
              <a:t>Las Enfermedades Psiquiátricas pueden originarse en </a:t>
            </a:r>
            <a:r>
              <a:rPr lang="es-AR" u="sng" dirty="0"/>
              <a:t>factores físicos definidos</a:t>
            </a:r>
            <a:r>
              <a:rPr lang="es-AR" dirty="0"/>
              <a:t> (Enfermedades Psiquiátricas Orgánicas) </a:t>
            </a:r>
            <a:r>
              <a:rPr lang="es-AR" u="sng" dirty="0"/>
              <a:t>o tener causas multifactoriales desconocidas </a:t>
            </a:r>
            <a:r>
              <a:rPr lang="es-AR" dirty="0"/>
              <a:t>( Enfermedades Psiquiátricas funcionales). </a:t>
            </a:r>
            <a:endParaRPr lang="es-AR" dirty="0" smtClean="0"/>
          </a:p>
          <a:p>
            <a:r>
              <a:rPr lang="es-AR" dirty="0" smtClean="0"/>
              <a:t>La </a:t>
            </a:r>
            <a:r>
              <a:rPr lang="es-AR" dirty="0"/>
              <a:t>psiquiatría suele adoptar un modelo </a:t>
            </a:r>
            <a:r>
              <a:rPr lang="es-AR" b="1" u="sng" dirty="0"/>
              <a:t>médico </a:t>
            </a:r>
            <a:r>
              <a:rPr lang="es-AR" dirty="0"/>
              <a:t>para afrontar los trastornos mentales, pero considera tanto los factores biológicos como psicológicos, socio/culturales y antropológicos. </a:t>
            </a:r>
          </a:p>
        </p:txBody>
      </p:sp>
    </p:spTree>
    <p:extLst>
      <p:ext uri="{BB962C8B-B14F-4D97-AF65-F5344CB8AC3E}">
        <p14:creationId xmlns:p14="http://schemas.microsoft.com/office/powerpoint/2010/main" val="1800465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u="sng" dirty="0"/>
              <a:t>Trastornos Psiquiátricos Funcionales</a:t>
            </a:r>
          </a:p>
        </p:txBody>
      </p:sp>
      <p:sp>
        <p:nvSpPr>
          <p:cNvPr id="3" name="Marcador de contenido 2"/>
          <p:cNvSpPr>
            <a:spLocks noGrp="1"/>
          </p:cNvSpPr>
          <p:nvPr>
            <p:ph idx="1"/>
          </p:nvPr>
        </p:nvSpPr>
        <p:spPr/>
        <p:txBody>
          <a:bodyPr/>
          <a:lstStyle/>
          <a:p>
            <a:r>
              <a:rPr lang="es-ES" dirty="0"/>
              <a:t>Existen diversos tipos de trastornos Psiquiátricos funcionales. </a:t>
            </a:r>
            <a:r>
              <a:rPr lang="es-ES" u="sng" dirty="0"/>
              <a:t>Podemos dividirlos en 4 amplios grupos: </a:t>
            </a:r>
            <a:endParaRPr lang="es-ES" u="sng" dirty="0" smtClean="0"/>
          </a:p>
          <a:p>
            <a:r>
              <a:rPr lang="es-ES" dirty="0" smtClean="0"/>
              <a:t>TRASTORNOS </a:t>
            </a:r>
            <a:r>
              <a:rPr lang="es-ES" dirty="0"/>
              <a:t>DE ANSIEDAD: Caracterizados principalmente por síntomas físicos y mentales de ansiedad. (No hay perdida de contacto con la realidad) </a:t>
            </a:r>
            <a:endParaRPr lang="es-ES" dirty="0" smtClean="0"/>
          </a:p>
          <a:p>
            <a:r>
              <a:rPr lang="es-ES" dirty="0" smtClean="0"/>
              <a:t>ESQUIZOFRENIA </a:t>
            </a:r>
            <a:r>
              <a:rPr lang="es-ES" dirty="0"/>
              <a:t>Y PSICOSIS SIMILARES: Grupo de Alteraciones psiquiátricas graves que afectan pensamiento, emociones y conducta. -Ruptura del contacto con la realidad-.</a:t>
            </a:r>
            <a:endParaRPr lang="es-AR" dirty="0"/>
          </a:p>
        </p:txBody>
      </p:sp>
    </p:spTree>
    <p:extLst>
      <p:ext uri="{BB962C8B-B14F-4D97-AF65-F5344CB8AC3E}">
        <p14:creationId xmlns:p14="http://schemas.microsoft.com/office/powerpoint/2010/main" val="2599053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a:xfrm>
            <a:off x="1103312" y="452718"/>
            <a:ext cx="8946541" cy="5795681"/>
          </a:xfrm>
        </p:spPr>
        <p:txBody>
          <a:bodyPr/>
          <a:lstStyle/>
          <a:p>
            <a:r>
              <a:rPr lang="es-ES" dirty="0"/>
              <a:t>TRASTORNOS DEL ESTADO DE ANIMO (AFECTIVOS). Se caracterizan por estados de animo inestables, anormales, como la depresión y la manía. </a:t>
            </a:r>
            <a:endParaRPr lang="es-ES" dirty="0" smtClean="0"/>
          </a:p>
          <a:p>
            <a:r>
              <a:rPr lang="es-ES" dirty="0" smtClean="0"/>
              <a:t>TRASTORNOS </a:t>
            </a:r>
            <a:r>
              <a:rPr lang="es-ES" dirty="0"/>
              <a:t>DE LA PERSONALIDAD. </a:t>
            </a:r>
            <a:r>
              <a:rPr lang="es-ES" dirty="0" smtClean="0"/>
              <a:t>Cuando </a:t>
            </a:r>
            <a:r>
              <a:rPr lang="es-ES" dirty="0"/>
              <a:t>los rasgos de nuestra personalidad, son inflexibles e interfieren en el funcionamiento diario de las personas; </a:t>
            </a:r>
            <a:r>
              <a:rPr lang="es-ES" dirty="0" err="1"/>
              <a:t>inadaptativos</a:t>
            </a:r>
            <a:r>
              <a:rPr lang="es-ES" dirty="0"/>
              <a:t>. </a:t>
            </a:r>
            <a:endParaRPr lang="es-ES" dirty="0" smtClean="0"/>
          </a:p>
          <a:p>
            <a:endParaRPr lang="es-ES" dirty="0" smtClean="0"/>
          </a:p>
          <a:p>
            <a:pPr algn="ctr"/>
            <a:r>
              <a:rPr lang="es-ES" b="1" u="sng" dirty="0" smtClean="0">
                <a:effectLst>
                  <a:outerShdw blurRad="38100" dist="38100" dir="2700000" algn="tl">
                    <a:srgbClr val="000000">
                      <a:alpha val="43137"/>
                    </a:srgbClr>
                  </a:outerShdw>
                </a:effectLst>
              </a:rPr>
              <a:t>PESO </a:t>
            </a:r>
            <a:r>
              <a:rPr lang="es-ES" b="1" u="sng" dirty="0">
                <a:effectLst>
                  <a:outerShdw blurRad="38100" dist="38100" dir="2700000" algn="tl">
                    <a:srgbClr val="000000">
                      <a:alpha val="43137"/>
                    </a:srgbClr>
                  </a:outerShdw>
                </a:effectLst>
              </a:rPr>
              <a:t>DE LAS ENFERMEDAES PSIQUIATRICAS </a:t>
            </a:r>
            <a:endParaRPr lang="es-ES" b="1" u="sng" dirty="0" smtClean="0">
              <a:effectLst>
                <a:outerShdw blurRad="38100" dist="38100" dir="2700000" algn="tl">
                  <a:srgbClr val="000000">
                    <a:alpha val="43137"/>
                  </a:srgbClr>
                </a:outerShdw>
              </a:effectLst>
            </a:endParaRPr>
          </a:p>
          <a:p>
            <a:r>
              <a:rPr lang="es-ES" dirty="0" smtClean="0"/>
              <a:t>4 </a:t>
            </a:r>
            <a:r>
              <a:rPr lang="es-ES" dirty="0"/>
              <a:t>de las 10 principales causas mundiales de incapacidad, corresponden a los trastornos psiquiátricos: Depresión, alcoholismo, Trastornos </a:t>
            </a:r>
            <a:r>
              <a:rPr lang="es-ES" dirty="0" err="1"/>
              <a:t>Bipolares,Esquizofrenias</a:t>
            </a:r>
            <a:r>
              <a:rPr lang="es-ES" dirty="0" smtClean="0"/>
              <a:t>.</a:t>
            </a:r>
          </a:p>
          <a:p>
            <a:r>
              <a:rPr lang="es-ES" dirty="0" smtClean="0"/>
              <a:t> </a:t>
            </a:r>
            <a:r>
              <a:rPr lang="es-ES" dirty="0"/>
              <a:t>Hasta un 25% de las personas en el mundo, presentaran un trastorno psiquiátrico en algún momento de sus vidas.</a:t>
            </a:r>
            <a:endParaRPr lang="es-AR" dirty="0"/>
          </a:p>
        </p:txBody>
      </p:sp>
    </p:spTree>
    <p:extLst>
      <p:ext uri="{BB962C8B-B14F-4D97-AF65-F5344CB8AC3E}">
        <p14:creationId xmlns:p14="http://schemas.microsoft.com/office/powerpoint/2010/main" val="1406036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u="sng" dirty="0"/>
              <a:t>RESPUESTA A LOS PROBLEMAS DE SALUD MENTAL</a:t>
            </a:r>
            <a:endParaRPr lang="es-AR" u="sng" dirty="0"/>
          </a:p>
        </p:txBody>
      </p:sp>
      <p:sp>
        <p:nvSpPr>
          <p:cNvPr id="3" name="Marcador de contenido 2"/>
          <p:cNvSpPr>
            <a:spLocks noGrp="1"/>
          </p:cNvSpPr>
          <p:nvPr>
            <p:ph idx="1"/>
          </p:nvPr>
        </p:nvSpPr>
        <p:spPr/>
        <p:txBody>
          <a:bodyPr/>
          <a:lstStyle/>
          <a:p>
            <a:r>
              <a:rPr lang="es-ES" dirty="0"/>
              <a:t>La atención y tratamiento de las personas con enfermedad mental evoluciono mucho desde el siglo pasado. La internación prolongada de los pacientes fue reemplazada por la atención sustentada en la comunidad. </a:t>
            </a:r>
            <a:endParaRPr lang="es-ES" dirty="0" smtClean="0"/>
          </a:p>
          <a:p>
            <a:r>
              <a:rPr lang="es-ES" i="1" u="sng" dirty="0" smtClean="0"/>
              <a:t>3 </a:t>
            </a:r>
            <a:r>
              <a:rPr lang="es-ES" i="1" u="sng" dirty="0"/>
              <a:t>factores incidieron positivamente en ello</a:t>
            </a:r>
            <a:r>
              <a:rPr lang="es-ES" i="1" u="sng" dirty="0" smtClean="0"/>
              <a:t>:</a:t>
            </a:r>
          </a:p>
          <a:p>
            <a:r>
              <a:rPr lang="es-ES" dirty="0" smtClean="0"/>
              <a:t> </a:t>
            </a:r>
            <a:r>
              <a:rPr lang="es-ES" dirty="0"/>
              <a:t>- La Psicofarmacología. El desarrollo de fármacos como los anti psicóticos y antidepresivos, mejoraron notoriamente la calidad de vida de las personas con enfermedad mental. </a:t>
            </a:r>
            <a:endParaRPr lang="es-ES" dirty="0" smtClean="0"/>
          </a:p>
          <a:p>
            <a:r>
              <a:rPr lang="es-ES" dirty="0" smtClean="0"/>
              <a:t>- </a:t>
            </a:r>
            <a:r>
              <a:rPr lang="es-ES" dirty="0"/>
              <a:t>El Progreso en materia de derechos humanos. </a:t>
            </a:r>
            <a:endParaRPr lang="es-ES" dirty="0" smtClean="0"/>
          </a:p>
          <a:p>
            <a:r>
              <a:rPr lang="es-ES" dirty="0" smtClean="0"/>
              <a:t>- </a:t>
            </a:r>
            <a:r>
              <a:rPr lang="es-ES" dirty="0"/>
              <a:t>La inclusión de elementos sociales y mentales, en la definición y concepción de salud por parte de la OMS</a:t>
            </a:r>
            <a:endParaRPr lang="es-AR" dirty="0"/>
          </a:p>
        </p:txBody>
      </p:sp>
    </p:spTree>
    <p:extLst>
      <p:ext uri="{BB962C8B-B14F-4D97-AF65-F5344CB8AC3E}">
        <p14:creationId xmlns:p14="http://schemas.microsoft.com/office/powerpoint/2010/main" val="631275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u="sng" dirty="0"/>
              <a:t>TRATAMIENTOS EN PSIQUIATRIA</a:t>
            </a:r>
          </a:p>
        </p:txBody>
      </p:sp>
      <p:sp>
        <p:nvSpPr>
          <p:cNvPr id="3" name="Marcador de contenido 2"/>
          <p:cNvSpPr>
            <a:spLocks noGrp="1"/>
          </p:cNvSpPr>
          <p:nvPr>
            <p:ph idx="1"/>
          </p:nvPr>
        </p:nvSpPr>
        <p:spPr/>
        <p:txBody>
          <a:bodyPr/>
          <a:lstStyle/>
          <a:p>
            <a:r>
              <a:rPr lang="es-ES" dirty="0"/>
              <a:t>Los tratamientos psiquiátricos suelen dividirse en dos tipos: </a:t>
            </a:r>
            <a:r>
              <a:rPr lang="es-ES" u="sng" dirty="0"/>
              <a:t>biológicos y psicoterapéuticos. </a:t>
            </a:r>
            <a:endParaRPr lang="es-ES" u="sng" dirty="0" smtClean="0"/>
          </a:p>
          <a:p>
            <a:r>
              <a:rPr lang="es-ES" dirty="0" smtClean="0"/>
              <a:t>Los </a:t>
            </a:r>
            <a:r>
              <a:rPr lang="es-ES" dirty="0"/>
              <a:t>biológicos son aquellos que actúan a nivel bioquímico en el cerebro del paciente, como es el caso de los </a:t>
            </a:r>
            <a:r>
              <a:rPr lang="es-ES" dirty="0" err="1"/>
              <a:t>Psicofarmacos</a:t>
            </a:r>
            <a:r>
              <a:rPr lang="es-ES" dirty="0"/>
              <a:t> y el electroshock. </a:t>
            </a:r>
            <a:endParaRPr lang="es-ES" dirty="0" smtClean="0"/>
          </a:p>
          <a:p>
            <a:r>
              <a:rPr lang="es-ES" dirty="0" smtClean="0"/>
              <a:t>Los </a:t>
            </a:r>
            <a:r>
              <a:rPr lang="es-ES" dirty="0"/>
              <a:t>psicoterapéuticos son aquellos que se valen de técnicas como la psicoterapia para mejorar la condición del paciente. como el Psicoanálisis, Terapia Gestalt, Psicología Humanista o Terapia Cognitiva, etc. </a:t>
            </a:r>
            <a:endParaRPr lang="es-AR" dirty="0"/>
          </a:p>
        </p:txBody>
      </p:sp>
    </p:spTree>
    <p:extLst>
      <p:ext uri="{BB962C8B-B14F-4D97-AF65-F5344CB8AC3E}">
        <p14:creationId xmlns:p14="http://schemas.microsoft.com/office/powerpoint/2010/main" val="98726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a:xfrm>
            <a:off x="1103312" y="554182"/>
            <a:ext cx="8946541" cy="5694217"/>
          </a:xfrm>
        </p:spPr>
        <p:txBody>
          <a:bodyPr/>
          <a:lstStyle/>
          <a:p>
            <a:r>
              <a:rPr lang="es-ES" dirty="0"/>
              <a:t>La salud mental ha estado oculta tras una cortina de estigma y discriminación durante largo tiempo. </a:t>
            </a:r>
            <a:endParaRPr lang="es-ES" dirty="0" smtClean="0"/>
          </a:p>
          <a:p>
            <a:r>
              <a:rPr lang="es-ES" dirty="0" smtClean="0"/>
              <a:t>Ha </a:t>
            </a:r>
            <a:r>
              <a:rPr lang="es-ES" dirty="0"/>
              <a:t>llegado la hora de que salga a la luz. La magnitud, el sufrimiento y la carga en términos de discapacidad y costos para los individuos, las familias y las sociedades son abrumadores. </a:t>
            </a:r>
            <a:endParaRPr lang="es-ES" dirty="0" smtClean="0"/>
          </a:p>
          <a:p>
            <a:r>
              <a:rPr lang="es-ES" dirty="0" smtClean="0"/>
              <a:t>En </a:t>
            </a:r>
            <a:r>
              <a:rPr lang="es-ES" dirty="0"/>
              <a:t>los últimos años el mundo se ha tornado más consciente de la enorme carga y el potencial que existe para hacer progresos en salud mental. </a:t>
            </a:r>
            <a:endParaRPr lang="es-ES" dirty="0" smtClean="0"/>
          </a:p>
          <a:p>
            <a:r>
              <a:rPr lang="es-ES" dirty="0" smtClean="0"/>
              <a:t>En </a:t>
            </a:r>
            <a:r>
              <a:rPr lang="es-ES" dirty="0"/>
              <a:t>efecto, podemos lograr un cambio usando el conocimiento que está presto a ser aplicado</a:t>
            </a:r>
            <a:endParaRPr lang="es-AR" dirty="0"/>
          </a:p>
        </p:txBody>
      </p:sp>
    </p:spTree>
    <p:extLst>
      <p:ext uri="{BB962C8B-B14F-4D97-AF65-F5344CB8AC3E}">
        <p14:creationId xmlns:p14="http://schemas.microsoft.com/office/powerpoint/2010/main" val="3282808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u="sng" dirty="0" smtClean="0"/>
              <a:t>Movimientos anti psiquiatría </a:t>
            </a:r>
            <a:endParaRPr lang="es-AR" u="sng" dirty="0"/>
          </a:p>
        </p:txBody>
      </p:sp>
      <p:sp>
        <p:nvSpPr>
          <p:cNvPr id="3" name="Marcador de contenido 2"/>
          <p:cNvSpPr>
            <a:spLocks noGrp="1"/>
          </p:cNvSpPr>
          <p:nvPr>
            <p:ph idx="1"/>
          </p:nvPr>
        </p:nvSpPr>
        <p:spPr>
          <a:xfrm>
            <a:off x="1103312" y="1293092"/>
            <a:ext cx="8946541" cy="4955308"/>
          </a:xfrm>
        </p:spPr>
        <p:txBody>
          <a:bodyPr>
            <a:normAutofit fontScale="85000" lnSpcReduction="10000"/>
          </a:bodyPr>
          <a:lstStyle/>
          <a:p>
            <a:r>
              <a:rPr lang="es-ES" dirty="0"/>
              <a:t>Durante el siglo XX se popularizaron muchos tratamientos psiquiátricos para trastornos mentales, incluyendo algunos muy cuestionables en un sentido ético y práctico. </a:t>
            </a:r>
            <a:r>
              <a:rPr lang="es-ES" dirty="0" smtClean="0"/>
              <a:t>La </a:t>
            </a:r>
            <a:r>
              <a:rPr lang="es-ES" dirty="0"/>
              <a:t>extrema medicalización de problemas como la esquizofrenia han tenido y siguen teniendo, en un gran número de casos, componentes coercitivos que son criticados con frecuencia</a:t>
            </a:r>
            <a:r>
              <a:rPr lang="es-ES" dirty="0" smtClean="0"/>
              <a:t>.</a:t>
            </a:r>
          </a:p>
          <a:p>
            <a:r>
              <a:rPr lang="es-ES" dirty="0"/>
              <a:t>En 1967 </a:t>
            </a:r>
            <a:r>
              <a:rPr lang="es-ES" b="1" dirty="0"/>
              <a:t>el psiquiatra David Cooper acuñó el término “</a:t>
            </a:r>
            <a:r>
              <a:rPr lang="es-ES" b="1" dirty="0" err="1"/>
              <a:t>antipsiquiatría</a:t>
            </a:r>
            <a:r>
              <a:rPr lang="es-ES" b="1" dirty="0"/>
              <a:t>”</a:t>
            </a:r>
            <a:r>
              <a:rPr lang="es-ES" dirty="0"/>
              <a:t> para dar nombre al movimiento del que formaba parte, y que tenía a estas alturas un alcance internacional, mientras que previamente había sido bastante específico del mundo anglosajón. Muchos profesionales se adherían ahora al movimiento, influido de forma clave por el marxismo.</a:t>
            </a:r>
          </a:p>
          <a:p>
            <a:r>
              <a:rPr lang="es-ES" dirty="0"/>
              <a:t>En las décadas posteriores la breve unidad de la </a:t>
            </a:r>
            <a:r>
              <a:rPr lang="es-ES" dirty="0" err="1"/>
              <a:t>antipsiquiatría</a:t>
            </a:r>
            <a:r>
              <a:rPr lang="es-ES" dirty="0"/>
              <a:t> se diluyó, si bien surgieron con fuerza demandas similares </a:t>
            </a:r>
            <a:r>
              <a:rPr lang="es-ES" b="1" dirty="0"/>
              <a:t>en torno a los derechos de las personas homosexuales y </a:t>
            </a:r>
            <a:r>
              <a:rPr lang="es-ES" b="1" dirty="0" err="1"/>
              <a:t>transgénero</a:t>
            </a:r>
            <a:r>
              <a:rPr lang="es-ES" dirty="0"/>
              <a:t>, </a:t>
            </a:r>
            <a:r>
              <a:rPr lang="es-ES" dirty="0" err="1"/>
              <a:t>patologizadas</a:t>
            </a:r>
            <a:r>
              <a:rPr lang="es-ES" dirty="0"/>
              <a:t> por las clasificaciones diagnósticas. Lo mismo se puede decir de otros colectivos, como las personas con diversidad funcional y con trastornos mentales severos.</a:t>
            </a:r>
          </a:p>
          <a:p>
            <a:r>
              <a:rPr lang="es-ES" dirty="0"/>
              <a:t/>
            </a:r>
            <a:br>
              <a:rPr lang="es-ES" dirty="0"/>
            </a:br>
            <a:endParaRPr lang="es-ES" dirty="0"/>
          </a:p>
        </p:txBody>
      </p:sp>
    </p:spTree>
    <p:extLst>
      <p:ext uri="{BB962C8B-B14F-4D97-AF65-F5344CB8AC3E}">
        <p14:creationId xmlns:p14="http://schemas.microsoft.com/office/powerpoint/2010/main" val="2515816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a:xfrm>
            <a:off x="1103312" y="775856"/>
            <a:ext cx="8946541" cy="5472544"/>
          </a:xfrm>
        </p:spPr>
        <p:txBody>
          <a:bodyPr>
            <a:normAutofit fontScale="92500" lnSpcReduction="10000"/>
          </a:bodyPr>
          <a:lstStyle/>
          <a:p>
            <a:r>
              <a:rPr lang="es-ES" dirty="0"/>
              <a:t>A modo general, </a:t>
            </a:r>
            <a:r>
              <a:rPr lang="es-ES" b="1" dirty="0"/>
              <a:t>el movimiento </a:t>
            </a:r>
            <a:r>
              <a:rPr lang="es-ES" b="1" dirty="0" err="1"/>
              <a:t>antipsiquiatría</a:t>
            </a:r>
            <a:r>
              <a:rPr lang="es-ES" b="1" dirty="0"/>
              <a:t> aboga por la acción política</a:t>
            </a:r>
            <a:r>
              <a:rPr lang="es-ES" dirty="0"/>
              <a:t> como método para cambiar la visión de la población, y especialmente de los líderes institucionales, con respecto a los “trastornos mentales”, que para quienes se adhieren a esta orientación constituyen herramientas de control de los ciudadanos, pues los estigmatizan y los </a:t>
            </a:r>
            <a:r>
              <a:rPr lang="es-ES" dirty="0" err="1"/>
              <a:t>patologizan</a:t>
            </a:r>
            <a:r>
              <a:rPr lang="es-ES" dirty="0" smtClean="0"/>
              <a:t>.</a:t>
            </a:r>
          </a:p>
          <a:p>
            <a:r>
              <a:rPr lang="es-ES" dirty="0"/>
              <a:t>Como dentro de cualquier movimiento, existen diferencias teóricas notables entre los promotores de la </a:t>
            </a:r>
            <a:r>
              <a:rPr lang="es-ES" dirty="0" err="1"/>
              <a:t>antipsiquiatría</a:t>
            </a:r>
            <a:r>
              <a:rPr lang="es-ES" dirty="0"/>
              <a:t>, lo cual ha dificultado significativamente su consolidación. En todo caso, se detecta una coincidencia general en torno a la </a:t>
            </a:r>
            <a:r>
              <a:rPr lang="es-ES" b="1" dirty="0"/>
              <a:t>medicalización excesiva de los problemas psicológicos</a:t>
            </a:r>
            <a:r>
              <a:rPr lang="es-ES" dirty="0"/>
              <a:t> y a los potenciales peligros de las etiquetas diagnósticas.</a:t>
            </a:r>
          </a:p>
          <a:p>
            <a:r>
              <a:rPr lang="es-ES" dirty="0"/>
              <a:t>Entre otros argumentos, los teóricos de la </a:t>
            </a:r>
            <a:r>
              <a:rPr lang="es-ES" dirty="0" err="1"/>
              <a:t>antipsiquiatría</a:t>
            </a:r>
            <a:r>
              <a:rPr lang="es-ES" dirty="0"/>
              <a:t> clásica defendían que las conductas y problemas que eran concebidos como trastornos eran el resultado de unos valores sociales determinados, y no de la presencia de características patológicas en sí mismas. Así, </a:t>
            </a:r>
            <a:r>
              <a:rPr lang="es-ES" b="1" dirty="0"/>
              <a:t>el trastorno sólo puede ser designado como tal en relación al contexto sociocultural</a:t>
            </a:r>
            <a:r>
              <a:rPr lang="es-ES" dirty="0"/>
              <a:t>.</a:t>
            </a:r>
          </a:p>
          <a:p>
            <a:endParaRPr lang="es-AR" dirty="0"/>
          </a:p>
        </p:txBody>
      </p:sp>
    </p:spTree>
    <p:extLst>
      <p:ext uri="{BB962C8B-B14F-4D97-AF65-F5344CB8AC3E}">
        <p14:creationId xmlns:p14="http://schemas.microsoft.com/office/powerpoint/2010/main" val="2760831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a:xfrm>
            <a:off x="1103312" y="387928"/>
            <a:ext cx="8946541" cy="5860472"/>
          </a:xfrm>
        </p:spPr>
        <p:txBody>
          <a:bodyPr>
            <a:normAutofit lnSpcReduction="10000"/>
          </a:bodyPr>
          <a:lstStyle/>
          <a:p>
            <a:r>
              <a:rPr lang="es-ES" dirty="0"/>
              <a:t>Otro de los blancos tradicionales del movimiento </a:t>
            </a:r>
            <a:r>
              <a:rPr lang="es-ES" dirty="0" err="1"/>
              <a:t>antipsiquiatría</a:t>
            </a:r>
            <a:r>
              <a:rPr lang="es-ES" dirty="0"/>
              <a:t> fue el psicoanálisis, al que se acusó de provocar con frecuencia efectos iatrogénicos (es decir, dañar la salud mental de los clientes más que mejorarla). Lo mismo se puede decir de muchas otras terapias, en particular aquellas cuya eficacia no ha sido probada</a:t>
            </a:r>
            <a:r>
              <a:rPr lang="es-ES" dirty="0" smtClean="0"/>
              <a:t>.</a:t>
            </a:r>
          </a:p>
          <a:p>
            <a:pPr marL="0" indent="0">
              <a:buNone/>
            </a:pPr>
            <a:endParaRPr lang="es-ES" dirty="0"/>
          </a:p>
          <a:p>
            <a:pPr marL="0" indent="0" algn="ctr">
              <a:buNone/>
            </a:pPr>
            <a:r>
              <a:rPr lang="es-ES" b="1" u="sng" dirty="0"/>
              <a:t>La </a:t>
            </a:r>
            <a:r>
              <a:rPr lang="es-ES" b="1" u="sng" dirty="0" err="1"/>
              <a:t>antipsiquiatría</a:t>
            </a:r>
            <a:r>
              <a:rPr lang="es-ES" b="1" u="sng" dirty="0"/>
              <a:t> en la actualidad</a:t>
            </a:r>
          </a:p>
          <a:p>
            <a:r>
              <a:rPr lang="es-ES" dirty="0"/>
              <a:t>En la actualidad el movimiento </a:t>
            </a:r>
            <a:r>
              <a:rPr lang="es-ES" dirty="0" err="1"/>
              <a:t>antipsiquiatría</a:t>
            </a:r>
            <a:r>
              <a:rPr lang="es-ES" dirty="0"/>
              <a:t> se encuentra tan vigente como hace 50 años, a pesar -o precisamente a causa- de la clara predominancia de las intervenciones médicas en el área de la salud mental. La oposición es fuerte en muchos pacientes y familiares, así como en la psicología clínica, lastrada por el intrusismo profesional sistemático por parte de la psiquiatría.</a:t>
            </a:r>
          </a:p>
          <a:p>
            <a:r>
              <a:rPr lang="es-ES" dirty="0"/>
              <a:t>Uno de los campos en que las críticas son más intensas es el de </a:t>
            </a:r>
            <a:r>
              <a:rPr lang="es-ES" b="1" dirty="0"/>
              <a:t>la medicalización de determinados comportamientos infantiles</a:t>
            </a:r>
            <a:r>
              <a:rPr lang="es-ES" dirty="0"/>
              <a:t>, entre los que destaca el patrón de conducta al que se denomina </a:t>
            </a:r>
            <a:r>
              <a:rPr lang="es-ES" b="1" dirty="0">
                <a:hlinkClick r:id="rId2"/>
              </a:rPr>
              <a:t>Trastorno por Déficit de Atención con Hiperactividad</a:t>
            </a:r>
            <a:r>
              <a:rPr lang="es-ES" dirty="0"/>
              <a:t>, caracterizado por el </a:t>
            </a:r>
            <a:r>
              <a:rPr lang="es-ES" dirty="0" err="1"/>
              <a:t>sobrediagnóstico</a:t>
            </a:r>
            <a:r>
              <a:rPr lang="es-ES" dirty="0"/>
              <a:t> y el uso a largo plazo de fármacos estimulantes insuficientemente estudiados</a:t>
            </a:r>
            <a:r>
              <a:rPr lang="es-ES" dirty="0" smtClean="0"/>
              <a:t>.</a:t>
            </a:r>
            <a:endParaRPr lang="es-ES" dirty="0"/>
          </a:p>
        </p:txBody>
      </p:sp>
    </p:spTree>
    <p:extLst>
      <p:ext uri="{BB962C8B-B14F-4D97-AF65-F5344CB8AC3E}">
        <p14:creationId xmlns:p14="http://schemas.microsoft.com/office/powerpoint/2010/main" val="3100264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p:txBody>
          <a:bodyPr>
            <a:normAutofit lnSpcReduction="10000"/>
          </a:bodyPr>
          <a:lstStyle/>
          <a:p>
            <a:r>
              <a:rPr lang="es-ES" dirty="0"/>
              <a:t>Por otra parte, resulta muy preocupante </a:t>
            </a:r>
            <a:r>
              <a:rPr lang="es-ES" b="1" dirty="0"/>
              <a:t>el creciente poder de las grandes corporaciones farmacéuticas</a:t>
            </a:r>
            <a:r>
              <a:rPr lang="es-ES" dirty="0"/>
              <a:t> y sus estrechos vínculos con la clase política, con los medios de comunicación e incluso con muchos miembros de la comunidad científica. Todo ello genera prejuicios comprensibles en torno a la fiabilidad de los fármacos y de los estudios que la respaldan.</a:t>
            </a:r>
          </a:p>
          <a:p>
            <a:r>
              <a:rPr lang="es-ES" dirty="0"/>
              <a:t>En cuanto a </a:t>
            </a:r>
            <a:r>
              <a:rPr lang="es-ES" b="1" dirty="0"/>
              <a:t>los trastornos mentales severos, como la esquizofrenia y el trastorno bipolar</a:t>
            </a:r>
            <a:r>
              <a:rPr lang="es-ES" dirty="0"/>
              <a:t>, el tratamiento farmacológico y psicológico ha mejorado en los últimos años pero muchas instituciones psiquiátricas siguen utilizando procedimientos poco recomendables. Asimismo, la estigmatización de estos y otros trastornos seguirá contribuyendo a un manejo menos que ideal.</a:t>
            </a:r>
          </a:p>
          <a:p>
            <a:r>
              <a:rPr lang="es-ES" dirty="0"/>
              <a:t/>
            </a:r>
            <a:br>
              <a:rPr lang="es-ES" dirty="0"/>
            </a:br>
            <a:endParaRPr lang="es-AR" dirty="0"/>
          </a:p>
          <a:p>
            <a:endParaRPr lang="es-AR" dirty="0"/>
          </a:p>
        </p:txBody>
      </p:sp>
    </p:spTree>
    <p:extLst>
      <p:ext uri="{BB962C8B-B14F-4D97-AF65-F5344CB8AC3E}">
        <p14:creationId xmlns:p14="http://schemas.microsoft.com/office/powerpoint/2010/main" val="1879164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Nota </a:t>
            </a:r>
            <a:r>
              <a:rPr lang="es-AR" dirty="0" err="1" smtClean="0"/>
              <a:t>infobae</a:t>
            </a:r>
            <a:r>
              <a:rPr lang="es-AR" dirty="0" smtClean="0"/>
              <a:t> 2023</a:t>
            </a:r>
            <a:endParaRPr lang="es-AR" dirty="0"/>
          </a:p>
        </p:txBody>
      </p:sp>
      <p:sp>
        <p:nvSpPr>
          <p:cNvPr id="3" name="Marcador de contenido 2"/>
          <p:cNvSpPr>
            <a:spLocks noGrp="1"/>
          </p:cNvSpPr>
          <p:nvPr>
            <p:ph idx="1"/>
          </p:nvPr>
        </p:nvSpPr>
        <p:spPr>
          <a:xfrm>
            <a:off x="1103312" y="1293092"/>
            <a:ext cx="8946541" cy="4955308"/>
          </a:xfrm>
        </p:spPr>
        <p:txBody>
          <a:bodyPr>
            <a:normAutofit fontScale="92500" lnSpcReduction="20000"/>
          </a:bodyPr>
          <a:lstStyle/>
          <a:p>
            <a:r>
              <a:rPr lang="es-ES" dirty="0"/>
              <a:t>En línea con el lema promovido por la</a:t>
            </a:r>
            <a:r>
              <a:rPr lang="es-ES" b="1" dirty="0"/>
              <a:t> Organización Mundial de la Salud (OMS): </a:t>
            </a:r>
            <a:endParaRPr lang="es-ES" b="1" dirty="0" smtClean="0"/>
          </a:p>
          <a:p>
            <a:pPr marL="0" indent="0" algn="ctr">
              <a:buNone/>
            </a:pPr>
            <a:r>
              <a:rPr lang="es-ES" b="1" dirty="0"/>
              <a:t>En nuestro país se producen 8 muertes diarias por suicidio. Los problemas mentales, neurológicos y por uso de sustancias, representan más de un tercio del total de años vividos con discapacidad</a:t>
            </a:r>
            <a:endParaRPr lang="es-ES" b="1" dirty="0" smtClean="0"/>
          </a:p>
          <a:p>
            <a:r>
              <a:rPr lang="es-ES" dirty="0" smtClean="0"/>
              <a:t>“</a:t>
            </a:r>
            <a:r>
              <a:rPr lang="es-ES" dirty="0"/>
              <a:t>Atención de salud mental para todos: hagámosla realidad”, el Gobierno nacional amplió el</a:t>
            </a:r>
            <a:r>
              <a:rPr lang="es-ES" b="1" dirty="0"/>
              <a:t> Plan de Salud Mental con nuevas medidas</a:t>
            </a:r>
            <a:r>
              <a:rPr lang="es-ES" dirty="0"/>
              <a:t> para abordar los distintos problemas que afectan a la población</a:t>
            </a:r>
            <a:r>
              <a:rPr lang="es-ES" dirty="0" smtClean="0"/>
              <a:t>.</a:t>
            </a:r>
          </a:p>
          <a:p>
            <a:r>
              <a:rPr lang="es-ES" dirty="0"/>
              <a:t>La salud mental es una cuestión de salud pública que, especialmente en la coyuntura actual, debe ser abordado a través de acciones estratégicas. </a:t>
            </a:r>
            <a:endParaRPr lang="es-ES" dirty="0" smtClean="0"/>
          </a:p>
          <a:p>
            <a:r>
              <a:rPr lang="es-ES" b="1" dirty="0" smtClean="0"/>
              <a:t>En </a:t>
            </a:r>
            <a:r>
              <a:rPr lang="es-ES" b="1" dirty="0"/>
              <a:t>la Región de las Américas, los trastornos mentales, neurológicos y por uso de sustancias, representan más de un tercio del total de años vividos con discapacidad,</a:t>
            </a:r>
            <a:r>
              <a:rPr lang="es-ES" dirty="0"/>
              <a:t> siendo los trastornos depresivos la principal causa de discapacidad. En ese sentido se destaca que casi 100.000 personas mueren por suicidio cada año en el mundo.</a:t>
            </a:r>
            <a:endParaRPr lang="es-AR" dirty="0"/>
          </a:p>
        </p:txBody>
      </p:sp>
    </p:spTree>
    <p:extLst>
      <p:ext uri="{BB962C8B-B14F-4D97-AF65-F5344CB8AC3E}">
        <p14:creationId xmlns:p14="http://schemas.microsoft.com/office/powerpoint/2010/main" val="2016677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sp>
        <p:nvSpPr>
          <p:cNvPr id="3" name="Marcador de contenido 2"/>
          <p:cNvSpPr>
            <a:spLocks noGrp="1"/>
          </p:cNvSpPr>
          <p:nvPr>
            <p:ph idx="1"/>
          </p:nvPr>
        </p:nvSpPr>
        <p:spPr/>
        <p:txBody>
          <a:bodyPr>
            <a:normAutofit/>
          </a:bodyPr>
          <a:lstStyle/>
          <a:p>
            <a:r>
              <a:rPr lang="es-ES" dirty="0"/>
              <a:t>Según informa el último </a:t>
            </a:r>
            <a:r>
              <a:rPr lang="es-ES" b="1" dirty="0"/>
              <a:t>Boletín Epidemiológico Nacional (BEN)</a:t>
            </a:r>
            <a:r>
              <a:rPr lang="es-ES" dirty="0"/>
              <a:t>, en nuestro país, durante el período </a:t>
            </a:r>
            <a:r>
              <a:rPr lang="es-ES" b="1" dirty="0"/>
              <a:t>2010-2019 </a:t>
            </a:r>
            <a:r>
              <a:rPr lang="es-ES" dirty="0"/>
              <a:t>se produjeron </a:t>
            </a:r>
            <a:r>
              <a:rPr lang="es-ES" b="1" dirty="0"/>
              <a:t>31.847 muertes por suicidios</a:t>
            </a:r>
            <a:r>
              <a:rPr lang="es-ES" dirty="0"/>
              <a:t>, según la información de la Dirección de Estadísticas e Información en Salud del Ministerio de Salud de la Nación (DEIS), esto implica </a:t>
            </a:r>
            <a:r>
              <a:rPr lang="es-ES" b="1" dirty="0"/>
              <a:t>3.185 muertes por año, y ocho fallecimientos por día</a:t>
            </a:r>
            <a:r>
              <a:rPr lang="es-ES" dirty="0"/>
              <a:t>. </a:t>
            </a:r>
            <a:endParaRPr lang="es-ES" dirty="0" smtClean="0"/>
          </a:p>
          <a:p>
            <a:r>
              <a:rPr lang="es-ES" dirty="0" smtClean="0"/>
              <a:t>La </a:t>
            </a:r>
            <a:r>
              <a:rPr lang="es-ES" dirty="0"/>
              <a:t>tasa de mortalidad por suicidio para el año 2019 fue de </a:t>
            </a:r>
            <a:r>
              <a:rPr lang="es-ES" b="1" dirty="0"/>
              <a:t>7,3 por cada 100.000 habitantes</a:t>
            </a:r>
            <a:r>
              <a:rPr lang="es-ES" dirty="0"/>
              <a:t>, inferior a la media mundial, que supera los 11 decesos cada 100.000 habitantes.</a:t>
            </a:r>
          </a:p>
          <a:p>
            <a:r>
              <a:rPr lang="es-ES" dirty="0" smtClean="0"/>
              <a:t>“El </a:t>
            </a:r>
            <a:r>
              <a:rPr lang="es-ES" dirty="0"/>
              <a:t>suicidio es prevenible y se requiere de un enfoque intersectorial para que las estrategias sean eficaces de acuerdo a cada realidad </a:t>
            </a:r>
            <a:r>
              <a:rPr lang="es-ES" dirty="0" smtClean="0"/>
              <a:t>local” </a:t>
            </a:r>
            <a:endParaRPr lang="es-AR" dirty="0"/>
          </a:p>
        </p:txBody>
      </p:sp>
    </p:spTree>
    <p:extLst>
      <p:ext uri="{BB962C8B-B14F-4D97-AF65-F5344CB8AC3E}">
        <p14:creationId xmlns:p14="http://schemas.microsoft.com/office/powerpoint/2010/main" val="3219754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pic>
        <p:nvPicPr>
          <p:cNvPr id="5" name="Marcador de contenido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148013" y="2078181"/>
            <a:ext cx="4786024" cy="3265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760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a:p>
        </p:txBody>
      </p:sp>
      <p:pic>
        <p:nvPicPr>
          <p:cNvPr id="6" name="Marcador de contenido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25604" y="1714702"/>
            <a:ext cx="5708795" cy="3522316"/>
          </a:xfrm>
        </p:spPr>
      </p:pic>
    </p:spTree>
    <p:extLst>
      <p:ext uri="{BB962C8B-B14F-4D97-AF65-F5344CB8AC3E}">
        <p14:creationId xmlns:p14="http://schemas.microsoft.com/office/powerpoint/2010/main" val="37589768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826</TotalTime>
  <Words>1493</Words>
  <Application>Microsoft Office PowerPoint</Application>
  <PresentationFormat>Panorámica</PresentationFormat>
  <Paragraphs>98</Paragraphs>
  <Slides>24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Century Gothic</vt:lpstr>
      <vt:lpstr>Wingdings 3</vt:lpstr>
      <vt:lpstr>Ion</vt:lpstr>
      <vt:lpstr>SALUD MENTAL Y PSIQUIATRIA    INTRODUCCION </vt:lpstr>
      <vt:lpstr>Presentación de PowerPoint</vt:lpstr>
      <vt:lpstr>Pobreza y trastornos mentales: un círculo vicioso </vt:lpstr>
      <vt:lpstr>Hablar de los Trastornos Mentales es hablar de estigma y de derechos humanos</vt:lpstr>
      <vt:lpstr>Barreras que impiden que las personas accedan a una atención apropiada en salud mental</vt:lpstr>
      <vt:lpstr>Salud Mental y La Psiquiatría</vt:lpstr>
      <vt:lpstr>Definición de Salud y Salud Mental </vt:lpstr>
      <vt:lpstr>La Psiquiatría, enfoque Biopsicosocial</vt:lpstr>
      <vt:lpstr>El problema de la enseñanza en Psiquiatría</vt:lpstr>
      <vt:lpstr>La Psiquiatría, especialidad medica</vt:lpstr>
      <vt:lpstr>Presentación de PowerPoint</vt:lpstr>
      <vt:lpstr>Trastornos Psiquiátricos Funcionales</vt:lpstr>
      <vt:lpstr>Presentación de PowerPoint</vt:lpstr>
      <vt:lpstr>RESPUESTA A LOS PROBLEMAS DE SALUD MENTAL</vt:lpstr>
      <vt:lpstr>TRATAMIENTOS EN PSIQUIATRIA</vt:lpstr>
      <vt:lpstr>Presentación de PowerPoint</vt:lpstr>
      <vt:lpstr>Movimientos anti psiquiatría </vt:lpstr>
      <vt:lpstr>Presentación de PowerPoint</vt:lpstr>
      <vt:lpstr>Presentación de PowerPoint</vt:lpstr>
      <vt:lpstr>Presentación de PowerPoint</vt:lpstr>
      <vt:lpstr>Nota infobae 2023</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SALUD MENTAL Y PSIQUIATRIA    INTRODUCCION</dc:title>
  <dc:creator>LENOVO</dc:creator>
  <cp:lastModifiedBy>LENOVO</cp:lastModifiedBy>
  <cp:revision>13</cp:revision>
  <dcterms:created xsi:type="dcterms:W3CDTF">2023-08-05T23:56:35Z</dcterms:created>
  <dcterms:modified xsi:type="dcterms:W3CDTF">2023-08-06T13:43:01Z</dcterms:modified>
</cp:coreProperties>
</file>