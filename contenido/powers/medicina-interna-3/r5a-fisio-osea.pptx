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3E2B1-6FBE-F64D-A17B-177B5C867C9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1564-6140-C744-B9C5-0F92373E29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9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8A5A3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F7A5C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Mariela Araujo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Reumatóloga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1F7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III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Mendoza (UM)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8A5A3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F7A5C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FISIOLOGÍA · SISTEMA MUSCULOESQUELÉTICO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Fisiología Ósea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remodelación y homeostasis mineral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1F7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hueso es un tejido vivo en remodelación constante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para alumnos avanzados de medicina  ·  30–45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el alumno podrá: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</a:t>
            </a: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y organización estructural del tejido óseo.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3D2C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</a:t>
            </a: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celulares óseos y su función en el ciclo de remodelación.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RANKL/RANK/OPG como regulador central de la resorción ósea.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3D2C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</a:t>
            </a: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regulación hormonal y los marcadores bioquímicos con la homeostasis del calcio.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del tejido óseo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3E9DD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8A5A3B"/>
          </a:solidFill>
          <a:ln/>
        </p:spPr>
      </p:sp>
      <p:pic>
        <p:nvPicPr>
          <p:cNvPr id="6" name="Image 0" descr="/home/claude/bone_icons/sop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estructural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 el cuerpo y sirve de palanca para la contracción muscular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3D2C1F"/>
          </a:solidFill>
          <a:ln/>
        </p:spPr>
      </p:sp>
      <p:pic>
        <p:nvPicPr>
          <p:cNvPr id="11" name="Image 1" descr="/home/claude/bone_icons/protec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212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Resguarda órganos vitales (cráneo, caja torácica, canal vertebral)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3E9DD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8A5A3B"/>
          </a:solidFill>
          <a:ln/>
        </p:spPr>
      </p:sp>
      <p:pic>
        <p:nvPicPr>
          <p:cNvPr id="16" name="Image 2" descr="/home/claude/bone_icons/mine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Reservorio mineral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92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el 99% del calcio y el 85% del fósforo corporal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3D2C1F"/>
          </a:solidFill>
          <a:ln/>
        </p:spPr>
      </p:sp>
      <p:pic>
        <p:nvPicPr>
          <p:cNvPr id="21" name="Image 3" descr="/home/claude/bone_icons/hematopoyes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315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Hematopoyesis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892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médula ósea roja produce las células sanguíneas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ósea: orgánica e inorgánica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3E9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orgánica (osteoide) — ~35%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8716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Colágeno tipo I (~90%): da resistencia a la tensión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44728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 fundamental: proteoglicanos y glucoproteínas (osteocalcina, osteonectina)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0740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Confiere flexibilidad y resistencia elástica al hueso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3D2C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inorgánica (mineral) — ~65%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265176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4871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Cristales de hidroxiapatita: [Ca10(PO4)6(OH)2]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61188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4472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rigidez y resistencia a la compresión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457200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40740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Reservorio dinámico de calcio y fósforo, intercambiable con el plasma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hueso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3E9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 cortical (compacto)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de la masa ósea. Denso, organizado en osteonas (sistemas de Havers). Predomina en la diáfisis de huesos largos.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3D2C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 trabecular (esponjoso)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de la masa ósea, pero mayor superficie y actividad metabólica. Forma una red de trabéculas. Predomina en epífisis y huesos planos.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microscópico: hueso laminar (maduro, organizado) vs. hueso entretejido o "woven" (inmaduro, desorganizado — normal en el feto o en la reparación de fracturas).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óseas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3E9DD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8A5A3B"/>
          </a:solidFill>
          <a:ln/>
        </p:spPr>
      </p:sp>
      <p:pic>
        <p:nvPicPr>
          <p:cNvPr id="6" name="Image 0" descr="/home/claude/bone_icons/osteobla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 la matriz ósea (osteoide) y participa en su mineralización. Origen mesenquimático.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3D2C1F"/>
          </a:solidFill>
          <a:ln/>
        </p:spPr>
      </p:sp>
      <p:pic>
        <p:nvPicPr>
          <p:cNvPr id="11" name="Image 1" descr="/home/claude/bone_icons/osteoc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212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031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Osteocito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Osteoblasto maduro atrapado en la matriz. Mecanosensor: detecta la carga mecánica a través de una red de canalículos.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3E9DD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8A5A3B"/>
          </a:solidFill>
          <a:ln/>
        </p:spPr>
      </p:sp>
      <p:pic>
        <p:nvPicPr>
          <p:cNvPr id="16" name="Image 2" descr="/home/claude/bone_icons/osteoclas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multinucleada de origen monocito-macrófago. Reabsorbe hueso mediante secreción ácida y enzimas proteolíticas.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6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3D2C1F"/>
          </a:solidFill>
          <a:ln/>
        </p:spPr>
      </p:sp>
      <p:pic>
        <p:nvPicPr>
          <p:cNvPr id="21" name="Image 3" descr="/home/claude/bone_icons/revestimien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315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revestimiento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Osteoblasto quiescente que cubre las superficies óseas inactivas; regula el paso de iones y activa la remodelación.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remodelación ósea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la unidad multicelular básica (BMU) y reemplaza continuamente el hueso viejo por hueso nuevo.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121408" cy="3200400"/>
          </a:xfrm>
          <a:prstGeom prst="roundRect">
            <a:avLst>
              <a:gd name="adj" fmla="val 4310"/>
            </a:avLst>
          </a:prstGeom>
          <a:solidFill>
            <a:srgbClr val="3D2C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de revestimiento se retraen; señales reclutan precursores de osteoclastos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38404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24912" y="2514600"/>
            <a:ext cx="2121408" cy="3200400"/>
          </a:xfrm>
          <a:prstGeom prst="roundRect">
            <a:avLst>
              <a:gd name="adj" fmla="val 4310"/>
            </a:avLst>
          </a:prstGeom>
          <a:solidFill>
            <a:srgbClr val="8A5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07792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4290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Resorción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39319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osteoclastos disuelven la matriz mineral y degradan el colágeno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8404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92624" y="2514600"/>
            <a:ext cx="2121408" cy="3200400"/>
          </a:xfrm>
          <a:prstGeom prst="roundRect">
            <a:avLst>
              <a:gd name="adj" fmla="val 4310"/>
            </a:avLst>
          </a:prstGeom>
          <a:solidFill>
            <a:srgbClr val="3D2C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75504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34290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Reversión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39319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mononucleares preparan la superficie para la formación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38404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60336" y="2514600"/>
            <a:ext cx="2121408" cy="3200400"/>
          </a:xfrm>
          <a:prstGeom prst="roundRect">
            <a:avLst>
              <a:gd name="adj" fmla="val 4310"/>
            </a:avLst>
          </a:prstGeom>
          <a:solidFill>
            <a:srgbClr val="8A5A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43216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443216" y="34290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43216" y="39319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osteoblastos sintetizan nueva matriz (osteoide)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81744" y="38404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528048" y="2514600"/>
            <a:ext cx="2121408" cy="3200400"/>
          </a:xfrm>
          <a:prstGeom prst="roundRect">
            <a:avLst>
              <a:gd name="adj" fmla="val 4310"/>
            </a:avLst>
          </a:prstGeom>
          <a:solidFill>
            <a:srgbClr val="3D2C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10928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34290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Mineralización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39319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de hidroxiapatita; el hueso nuevo madura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CELULAR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eje RANKL / RANK / OPG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osteoblasto/osteocito</a:t>
            </a: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 cuánto hueso se reabsorbe: secreta </a:t>
            </a:r>
            <a:r>
              <a:rPr lang="en-US" sz="140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RANKL</a:t>
            </a: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(activa la diferenciación de osteoclastos) y </a:t>
            </a: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</a:t>
            </a: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receptor señuelo que lo neutraliza.</a:t>
            </a:r>
            <a:endParaRPr lang="en-US" sz="1400" dirty="0"/>
          </a:p>
        </p:txBody>
      </p:sp>
      <p:pic>
        <p:nvPicPr>
          <p:cNvPr id="5" name="Image 0" descr="/home/claude/bone_icons/rankl_diagram.png"/>
          <p:cNvPicPr>
            <a:picLocks noChangeAspect="1"/>
          </p:cNvPicPr>
          <p:nvPr/>
        </p:nvPicPr>
        <p:blipFill>
          <a:blip r:embed="rId3"/>
          <a:srcRect l="-71505" r="-71505"/>
          <a:stretch/>
        </p:blipFill>
        <p:spPr>
          <a:xfrm>
            <a:off x="914400" y="2331720"/>
            <a:ext cx="1033272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Regulación hormonal del metabolismo óseo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 paratiroidea (PTH)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Aumenta la resorción ósea y la calcemia; estimula la síntesis renal de calcitriol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Calcitriol (vitamina D activa)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Aumenta la absorción intestinal de calcio y fósforo; favorece la mineralización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Calcitonina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Inhibe la actividad osteoclástica; efecto hipocalcemiante (modesto en el humano adulto)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Estrógenos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Inhiben la resorción ósea; su deficiencia (menopausia) acelera la pérdida de masa ósea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Marcadores bioquímicos de remodelación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3E9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de formación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414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P1NP (propéptido N-terminal del procolágeno tipo 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Osteocalcina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118872" cy="118872"/>
          </a:xfrm>
          <a:prstGeom prst="ellipse">
            <a:avLst/>
          </a:prstGeom>
          <a:solidFill>
            <a:srgbClr val="8A5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0873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Fosfatasa alcalina específica de hueso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3D2C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de resorción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260604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4414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(telopéptido C-terminal del colágeno tipo 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42900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26440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NTX (telopéptido N-terminal)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251960"/>
            <a:ext cx="118872" cy="118872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08736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Piridinolina y desoxipiridinolina urinarias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clínico: evaluar la respuesta al tratamiento antirresortivo u osteoformador antes de repetir una densitometría.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el equilibrio se rompe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3D2C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resorción supera a la formación; disminuye la masa y la resistencia ósea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3E9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Osteopetrosis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la función osteoclástica; el hueso es denso pero frágil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3E9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de Paget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8346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acelerada y desorganizada; hueso aumentado de tamaño pero débil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D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casos, el problema no es solo "cuánto" hueso hay, sino el equilibrio entre resorción y formación.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202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hueso es un tejido vivo que combina matriz orgánica (colágeno) e inorgánica (hidroxiapatita).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7860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Osteoblastos forman, osteocitos censan la carga mecánica y osteoclastos reabsorben el hueso.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369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remodelación ósea ocurre de forma continua en la unidad multicelular básica (BMU).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9534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RANKL/RANK/OPG es el regulador central de la diferenciación osteoclástica.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5371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PTH, calcitriol, calcitonina y estrógenos modulan el equilibrio entre formación y resorción.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292608" cy="29260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12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desequilibrio de este ciclo explica enfermedades como la osteoporosis, la osteopetrosis y la enfermedad de Paget.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erre">
    <p:bg>
      <p:bgPr>
        <a:solidFill>
          <a:srgbClr val="3D2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8A5A3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F7A5C">
              <a:alpha val="45000"/>
            </a:srgbClr>
          </a:solidFill>
          <a:ln/>
        </p:spPr>
      </p:sp>
      <p:sp>
        <p:nvSpPr>
          <p:cNvPr id="10" name="Text Gracias"/>
          <p:cNvSpPr txBox="1"/>
          <p:nvPr/>
        </p:nvSpPr>
        <p:spPr>
          <a:xfrm>
            <a:off x="685800" y="2779395"/>
            <a:ext cx="10820400" cy="129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 por su atención!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14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Mariela Araujo</cp:lastModifiedBy>
  <cp:revision>4</cp:revision>
  <dcterms:created xsi:type="dcterms:W3CDTF">2026-08-30T22:23:33Z</dcterms:created>
  <dcterms:modified xsi:type="dcterms:W3CDTF">2026-09-09T13:16:10Z</dcterms:modified>
</cp:coreProperties>
</file>