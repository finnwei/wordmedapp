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2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49172" y="2419603"/>
            <a:ext cx="969365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8717" y="256158"/>
            <a:ext cx="9954564" cy="10704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0752" y="1364996"/>
            <a:ext cx="10189210" cy="2121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9143" rIns="0" bIns="0" rtlCol="0">
            <a:spAutoFit/>
          </a:bodyPr>
          <a:lstStyle/>
          <a:p>
            <a:pPr marL="2185035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MEDICINA</a:t>
            </a:r>
            <a:r>
              <a:rPr sz="3600" spc="-180" dirty="0"/>
              <a:t> </a:t>
            </a:r>
            <a:r>
              <a:rPr sz="3600" spc="-35" dirty="0"/>
              <a:t>INTERNA</a:t>
            </a:r>
            <a:r>
              <a:rPr sz="3600" spc="-225" dirty="0"/>
              <a:t> </a:t>
            </a:r>
            <a:r>
              <a:rPr sz="3600" spc="-25" dirty="0"/>
              <a:t>III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995041" y="2388235"/>
            <a:ext cx="5516880" cy="345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1505" marR="589915" algn="ctr">
              <a:lnSpc>
                <a:spcPct val="135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Ciencias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Médicas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Universidad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Mendoza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SEDE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SAN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RAFAEL</a:t>
            </a:r>
            <a:endParaRPr sz="2400" dirty="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1430"/>
              </a:spcBef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0"/>
              </a:spcBef>
            </a:pPr>
            <a:endParaRPr sz="2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3171190" algn="l"/>
              </a:tabLst>
            </a:pPr>
            <a:r>
              <a:rPr sz="2400" b="1" spc="-25" dirty="0">
                <a:latin typeface="Arial"/>
                <a:cs typeface="Arial"/>
              </a:rPr>
              <a:t>ENDOCRINOLOGÍA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-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10" dirty="0">
                <a:latin typeface="Arial"/>
                <a:cs typeface="Arial"/>
              </a:rPr>
              <a:t>DIABETOLOGÍA</a:t>
            </a:r>
            <a:endParaRPr sz="2400" dirty="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1019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Dr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Roberto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M.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Pelayes</a:t>
            </a:r>
            <a:r>
              <a:rPr sz="18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Profesor</a:t>
            </a:r>
            <a:r>
              <a:rPr sz="1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Adjunto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Cargo.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59" y="569976"/>
            <a:ext cx="1970531" cy="11201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MICROADENOMAS</a:t>
            </a:r>
            <a:r>
              <a:rPr sz="3600" spc="-105" dirty="0"/>
              <a:t> </a:t>
            </a:r>
            <a:r>
              <a:rPr sz="3600" dirty="0"/>
              <a:t>PRODUCTORES</a:t>
            </a:r>
            <a:r>
              <a:rPr sz="3600" spc="-90" dirty="0"/>
              <a:t> </a:t>
            </a:r>
            <a:r>
              <a:rPr sz="3600" dirty="0"/>
              <a:t>DE</a:t>
            </a:r>
            <a:r>
              <a:rPr sz="3600" spc="-60" dirty="0"/>
              <a:t> </a:t>
            </a:r>
            <a:r>
              <a:rPr sz="3600" spc="-25" dirty="0"/>
              <a:t>PRL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063746" y="4447794"/>
            <a:ext cx="40468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Arial"/>
                <a:cs typeface="Arial"/>
              </a:rPr>
              <a:t>PROLACTINOMAS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1002029"/>
            <a:ext cx="9953625" cy="4850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589915" indent="-28448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mayoría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causas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secundarias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macroprolactinemia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producen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valores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PRL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entre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100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ng/ml.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0"/>
              </a:spcBef>
              <a:buClr>
                <a:srgbClr val="FFFFFF"/>
              </a:buClr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296545" marR="5080" indent="-28448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hiperprolactinemia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daño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hipotalámico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compresión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del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tallo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hipofisario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suele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ser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inferior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100-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150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ng/ml.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0"/>
              </a:spcBef>
              <a:buClr>
                <a:srgbClr val="FFFFFF"/>
              </a:buClr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296545" marR="549275" indent="-28448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9085" algn="l"/>
              </a:tabLst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Valores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PRL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superiores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250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ng/ml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generalmente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indican</a:t>
            </a:r>
            <a:r>
              <a:rPr sz="24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la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presencia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prolactinoma</a:t>
            </a:r>
            <a:r>
              <a:rPr sz="24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(macroprolactinoma)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15"/>
              </a:spcBef>
              <a:buClr>
                <a:srgbClr val="FFFFFF"/>
              </a:buClr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718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Fármacos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metoclopramida,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risperidona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fenotiazinas</a:t>
            </a:r>
            <a:endParaRPr sz="24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pueden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llegar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producir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valores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PRL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superiores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200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ng/ml</a:t>
            </a:r>
            <a:r>
              <a:rPr sz="2400" b="1" spc="-10" dirty="0">
                <a:solidFill>
                  <a:srgbClr val="006EC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8717" y="485012"/>
            <a:ext cx="99434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/>
              <a:t>MANIFESTACIONES</a:t>
            </a:r>
            <a:r>
              <a:rPr sz="2800" spc="-160" dirty="0"/>
              <a:t> </a:t>
            </a:r>
            <a:r>
              <a:rPr sz="2800" spc="-25" dirty="0"/>
              <a:t>CLÍNICAS</a:t>
            </a:r>
            <a:r>
              <a:rPr sz="2800" spc="-170" dirty="0"/>
              <a:t> </a:t>
            </a:r>
            <a:r>
              <a:rPr sz="2800" dirty="0"/>
              <a:t>ADENOMAS</a:t>
            </a:r>
            <a:r>
              <a:rPr sz="2800" spc="-105" dirty="0"/>
              <a:t> </a:t>
            </a:r>
            <a:r>
              <a:rPr sz="2800" spc="-10" dirty="0"/>
              <a:t>HIPOFISARIOS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301496"/>
            <a:ext cx="11041380" cy="538886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8800" y="1289430"/>
          <a:ext cx="11130280" cy="5387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04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804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804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370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438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HIPERSECRECIÓN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524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HIPOSECRECIÓN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93700" marR="147955" indent="-254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MANIFESTACIONES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NEUROLOGICAS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175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PROLACTINOMA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216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Enfermedad</a:t>
                      </a:r>
                      <a:r>
                        <a:rPr sz="20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Cushing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0805" marR="1253490">
                        <a:lnSpc>
                          <a:spcPct val="200000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Acromegalia Gonadotropinomas Tirotropinomas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Déficit</a:t>
                      </a:r>
                      <a:r>
                        <a:rPr sz="2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35" dirty="0">
                          <a:latin typeface="Arial"/>
                          <a:cs typeface="Arial"/>
                        </a:rPr>
                        <a:t>GH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98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Hipotiroidismo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1440" marR="1750695">
                        <a:lnSpc>
                          <a:spcPct val="131200"/>
                        </a:lnSpc>
                        <a:spcBef>
                          <a:spcPts val="1985"/>
                        </a:spcBef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Insuficiencia 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suprarrenal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Hipogonadismo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975" indent="-34290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Wingdings"/>
                        <a:buChar char=""/>
                        <a:tabLst>
                          <a:tab pos="434975" algn="l"/>
                        </a:tabLst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Cefalea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Wingdings"/>
                        <a:buChar char=""/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34975" indent="-34290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434975" algn="l"/>
                        </a:tabLst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Hipertensión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349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endocraneana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34975" indent="-34290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434975" algn="l"/>
                        </a:tabLst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Déficit</a:t>
                      </a:r>
                      <a:r>
                        <a:rPr sz="24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Visuales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  <a:buFont typeface="Wingdings"/>
                        <a:buChar char=""/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34975" indent="-34290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434975" algn="l"/>
                        </a:tabLst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Diplopía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7461" y="419226"/>
            <a:ext cx="333247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PROLACTINOMA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101089"/>
            <a:ext cx="10288270" cy="379031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82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DEFINICIÓN:</a:t>
            </a:r>
            <a:endParaRPr sz="2400">
              <a:latin typeface="Arial"/>
              <a:cs typeface="Arial"/>
            </a:endParaRPr>
          </a:p>
          <a:p>
            <a:pPr marL="296545" marR="1225550" indent="-284480">
              <a:lnSpc>
                <a:spcPct val="90200"/>
              </a:lnSpc>
              <a:spcBef>
                <a:spcPts val="1000"/>
              </a:spcBef>
              <a:buFont typeface="Wingdings"/>
              <a:buChar char="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adenomas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secretores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prolactina,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también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llamados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prolactinomas,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representan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cerca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80%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adenomas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funcionantes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aproximadamente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40-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50%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todos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AH.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20"/>
              </a:spcBef>
              <a:buClr>
                <a:srgbClr val="FFFFFF"/>
              </a:buClr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Prevalencia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adultos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100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casos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por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millón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habitantes.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60"/>
              </a:spcBef>
              <a:buClr>
                <a:srgbClr val="FFFFFF"/>
              </a:buClr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296545" marR="5080" indent="-284480">
              <a:lnSpc>
                <a:spcPts val="2600"/>
              </a:lnSpc>
              <a:spcBef>
                <a:spcPts val="5"/>
              </a:spcBef>
              <a:buFont typeface="Wingdings"/>
              <a:buChar char=""/>
              <a:tabLst>
                <a:tab pos="299085" algn="l"/>
                <a:tab pos="90995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Frecuencia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varía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sexo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edad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(mujeres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edad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fértil),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después 	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	los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50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años,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frecuencia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similar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ambos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sexos.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635" y="5422493"/>
            <a:ext cx="521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845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Proporción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mujeres/hombres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10:1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5300" y="342900"/>
            <a:ext cx="11186160" cy="6177280"/>
            <a:chOff x="495300" y="342900"/>
            <a:chExt cx="11186160" cy="6177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211" y="400811"/>
              <a:ext cx="11070336" cy="60609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24255" y="371855"/>
              <a:ext cx="11128375" cy="6118860"/>
            </a:xfrm>
            <a:custGeom>
              <a:avLst/>
              <a:gdLst/>
              <a:ahLst/>
              <a:cxnLst/>
              <a:rect l="l" t="t" r="r" b="b"/>
              <a:pathLst>
                <a:path w="11128375" h="6118860">
                  <a:moveTo>
                    <a:pt x="0" y="6118860"/>
                  </a:moveTo>
                  <a:lnTo>
                    <a:pt x="11128121" y="6118860"/>
                  </a:lnTo>
                  <a:lnTo>
                    <a:pt x="11128121" y="0"/>
                  </a:lnTo>
                  <a:lnTo>
                    <a:pt x="0" y="0"/>
                  </a:lnTo>
                  <a:lnTo>
                    <a:pt x="0" y="6118860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2344" y="977645"/>
            <a:ext cx="16008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POU1F1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2394330"/>
            <a:ext cx="10205085" cy="24904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9085" marR="97790" indent="-287020">
              <a:lnSpc>
                <a:spcPct val="100400"/>
              </a:lnSpc>
              <a:spcBef>
                <a:spcPts val="85"/>
              </a:spcBef>
              <a:buFont typeface="Wingdings"/>
              <a:buChar char=""/>
              <a:tabLst>
                <a:tab pos="299085" algn="l"/>
                <a:tab pos="38290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codifica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proteína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KDa,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conocida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Pit-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1/GHF1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(factor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transcripción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nuclear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específico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hipófisis,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actúa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promotor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genes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GH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PRL).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75"/>
              </a:spcBef>
              <a:buClr>
                <a:srgbClr val="FFFFFF"/>
              </a:buClr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299085" marR="5080" indent="-287020">
              <a:lnSpc>
                <a:spcPct val="100800"/>
              </a:lnSpc>
              <a:buFont typeface="Wingdings"/>
              <a:buChar char=""/>
              <a:tabLst>
                <a:tab pos="299085" algn="l"/>
                <a:tab pos="38290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proteína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Pit-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expresa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adenomas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productores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GH,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PRL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TSH.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2089" rIns="0" bIns="0" rtlCol="0">
            <a:spAutoFit/>
          </a:bodyPr>
          <a:lstStyle/>
          <a:p>
            <a:pPr marL="3112135">
              <a:lnSpc>
                <a:spcPct val="100000"/>
              </a:lnSpc>
              <a:spcBef>
                <a:spcPts val="105"/>
              </a:spcBef>
            </a:pPr>
            <a:r>
              <a:rPr dirty="0"/>
              <a:t>ESTUDIO</a:t>
            </a:r>
            <a:r>
              <a:rPr spc="-60" dirty="0"/>
              <a:t> </a:t>
            </a:r>
            <a:r>
              <a:rPr spc="-10" dirty="0"/>
              <a:t>GENÉTICO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335" y="1384172"/>
            <a:ext cx="10526395" cy="472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2585" indent="-349885">
              <a:lnSpc>
                <a:spcPct val="100000"/>
              </a:lnSpc>
              <a:spcBef>
                <a:spcPts val="100"/>
              </a:spcBef>
              <a:buSzPct val="75000"/>
              <a:buFont typeface="Wingdings"/>
              <a:buChar char=""/>
              <a:tabLst>
                <a:tab pos="3625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prolactinomas,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son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mayoritariamente esporádicos.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0"/>
              </a:spcBef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  <a:tab pos="37147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Algunos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incluidos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síndromes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familiares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bien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definidos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MEN1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(gen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FFFF"/>
                </a:solidFill>
                <a:latin typeface="Arial"/>
                <a:cs typeface="Arial"/>
              </a:rPr>
              <a:t>MEN1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complejo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Carney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5"/>
              </a:spcBef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382905" indent="-370205">
              <a:lnSpc>
                <a:spcPct val="100000"/>
              </a:lnSpc>
              <a:buClr>
                <a:srgbClr val="FFFFFF"/>
              </a:buClr>
              <a:buFont typeface="Wingdings"/>
              <a:buChar char=""/>
              <a:tabLst>
                <a:tab pos="382905" algn="l"/>
              </a:tabLst>
            </a:pP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Se</a:t>
            </a:r>
            <a:r>
              <a:rPr sz="2400" b="1" spc="-6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debe</a:t>
            </a:r>
            <a:r>
              <a:rPr sz="2400" b="1" spc="-5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plantear</a:t>
            </a:r>
            <a:r>
              <a:rPr sz="2400" b="1" spc="-5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el</a:t>
            </a:r>
            <a:r>
              <a:rPr sz="2400" b="1" spc="-7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estudio</a:t>
            </a:r>
            <a:r>
              <a:rPr sz="2400" b="1" spc="-7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genético</a:t>
            </a:r>
            <a:r>
              <a:rPr sz="2400" b="1" spc="-6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00"/>
                </a:solidFill>
                <a:latin typeface="Arial"/>
                <a:cs typeface="Arial"/>
              </a:rPr>
              <a:t>en: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Pacientes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prolactinomas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historia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agregación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familiar.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Asociación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otras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neoplasias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endocrinas.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Formas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agresivas.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Inicio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edades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tempranas.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502" rIns="0" bIns="0" rtlCol="0">
            <a:spAutoFit/>
          </a:bodyPr>
          <a:lstStyle/>
          <a:p>
            <a:pPr marL="3315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PROLACTINOMA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189" y="1991309"/>
            <a:ext cx="9032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EVALUACIÓN</a:t>
            </a:r>
            <a:r>
              <a:rPr sz="18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8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PACIENTE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8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ADENOMA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HIPOFISARIO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PRODUCTOR</a:t>
            </a: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PRL.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4749" y="2436770"/>
          <a:ext cx="9276080" cy="1131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37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534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46329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2115">
                <a:tc>
                  <a:txBody>
                    <a:bodyPr/>
                    <a:lstStyle/>
                    <a:p>
                      <a:pPr marL="31750">
                        <a:lnSpc>
                          <a:spcPts val="2655"/>
                        </a:lnSpc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CLÍNICA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ts val="2655"/>
                        </a:lnSpc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BIOQUÍMICA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3415">
                        <a:lnSpc>
                          <a:spcPts val="2655"/>
                        </a:lnSpc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IMÁGENES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65735" indent="-133985">
                        <a:lnSpc>
                          <a:spcPct val="100000"/>
                        </a:lnSpc>
                        <a:spcBef>
                          <a:spcPts val="390"/>
                        </a:spcBef>
                        <a:buFont typeface="Arial MT"/>
                        <a:buChar char="•"/>
                        <a:tabLst>
                          <a:tab pos="165735" algn="l"/>
                        </a:tabLst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Anamnesis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9530" marB="0"/>
                </a:tc>
                <a:tc>
                  <a:txBody>
                    <a:bodyPr/>
                    <a:lstStyle/>
                    <a:p>
                      <a:pPr marL="431800" indent="-141605">
                        <a:lnSpc>
                          <a:spcPct val="100000"/>
                        </a:lnSpc>
                        <a:spcBef>
                          <a:spcPts val="390"/>
                        </a:spcBef>
                        <a:buFont typeface="Arial MT"/>
                        <a:buChar char="•"/>
                        <a:tabLst>
                          <a:tab pos="431800" algn="l"/>
                        </a:tabLst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Determinación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hormonal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9530" marB="0"/>
                </a:tc>
                <a:tc>
                  <a:txBody>
                    <a:bodyPr/>
                    <a:lstStyle/>
                    <a:p>
                      <a:pPr marL="785495" indent="-142875">
                        <a:lnSpc>
                          <a:spcPct val="100000"/>
                        </a:lnSpc>
                        <a:spcBef>
                          <a:spcPts val="390"/>
                        </a:spcBef>
                        <a:buFont typeface="Arial MT"/>
                        <a:buChar char="•"/>
                        <a:tabLst>
                          <a:tab pos="785495" algn="l"/>
                        </a:tabLst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Campo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visual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953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173355" indent="-141605">
                        <a:lnSpc>
                          <a:spcPts val="2080"/>
                        </a:lnSpc>
                        <a:spcBef>
                          <a:spcPts val="370"/>
                        </a:spcBef>
                        <a:buFont typeface="Arial MT"/>
                        <a:buChar char="•"/>
                        <a:tabLst>
                          <a:tab pos="173355" algn="l"/>
                        </a:tabLst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Examen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físico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5975" indent="-142875">
                        <a:lnSpc>
                          <a:spcPts val="2080"/>
                        </a:lnSpc>
                        <a:spcBef>
                          <a:spcPts val="370"/>
                        </a:spcBef>
                        <a:buFont typeface="Arial MT"/>
                        <a:buChar char="•"/>
                        <a:tabLst>
                          <a:tab pos="815975" algn="l"/>
                        </a:tabLst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RMN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hipófisis/Gadolinio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23189" y="3915536"/>
            <a:ext cx="5262880" cy="1767839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-10" dirty="0">
                <a:latin typeface="Arial"/>
                <a:cs typeface="Arial"/>
              </a:rPr>
              <a:t>ESTUDIO</a:t>
            </a:r>
            <a:r>
              <a:rPr sz="2400" b="1" spc="-140" dirty="0">
                <a:latin typeface="Arial"/>
                <a:cs typeface="Arial"/>
              </a:rPr>
              <a:t> </a:t>
            </a:r>
            <a:r>
              <a:rPr sz="2400" b="1" spc="-30" dirty="0">
                <a:latin typeface="Arial"/>
                <a:cs typeface="Arial"/>
              </a:rPr>
              <a:t>ANATOMO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PATOLÓGICO</a:t>
            </a:r>
            <a:endParaRPr sz="2400">
              <a:latin typeface="Arial"/>
              <a:cs typeface="Arial"/>
            </a:endParaRPr>
          </a:p>
          <a:p>
            <a:pPr marL="146685" indent="-133985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14668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Anatomía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patológica</a:t>
            </a:r>
            <a:endParaRPr sz="1800">
              <a:latin typeface="Arial"/>
              <a:cs typeface="Arial"/>
            </a:endParaRPr>
          </a:p>
          <a:p>
            <a:pPr marL="155575" indent="-14287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155575" algn="l"/>
              </a:tabLst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Inmuno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histoquímica</a:t>
            </a:r>
            <a:endParaRPr sz="1800">
              <a:latin typeface="Arial"/>
              <a:cs typeface="Arial"/>
            </a:endParaRPr>
          </a:p>
          <a:p>
            <a:pPr marL="156845" indent="-14414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15684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Factores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transcripción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9842" rIns="0" bIns="0" rtlCol="0">
            <a:spAutoFit/>
          </a:bodyPr>
          <a:lstStyle/>
          <a:p>
            <a:pPr marL="29718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PROLACTINOMA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386078"/>
            <a:ext cx="4536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clasifican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según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tamaño: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635" y="2369057"/>
            <a:ext cx="6142990" cy="157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2905" indent="-370205">
              <a:lnSpc>
                <a:spcPct val="100000"/>
              </a:lnSpc>
              <a:spcBef>
                <a:spcPts val="95"/>
              </a:spcBef>
              <a:buClr>
                <a:srgbClr val="FFFFFF"/>
              </a:buClr>
              <a:buSzPct val="85714"/>
              <a:buFont typeface="Wingdings"/>
              <a:buChar char=""/>
              <a:tabLst>
                <a:tab pos="382905" algn="l"/>
              </a:tabLst>
            </a:pPr>
            <a:r>
              <a:rPr sz="2800" b="1" spc="-10" dirty="0">
                <a:latin typeface="Arial"/>
                <a:cs typeface="Arial"/>
              </a:rPr>
              <a:t>Microadenomas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menos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10</a:t>
            </a:r>
            <a:r>
              <a:rPr sz="2800" b="1" spc="-14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mm.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40"/>
              </a:spcBef>
              <a:buFont typeface="Wingdings"/>
              <a:buChar char=""/>
            </a:pPr>
            <a:endParaRPr sz="2800">
              <a:latin typeface="Arial"/>
              <a:cs typeface="Arial"/>
            </a:endParaRPr>
          </a:p>
          <a:p>
            <a:pPr marL="397510" indent="-384810">
              <a:lnSpc>
                <a:spcPct val="100000"/>
              </a:lnSpc>
              <a:buClr>
                <a:srgbClr val="FFFFFF"/>
              </a:buClr>
              <a:buFont typeface="Wingdings"/>
              <a:buChar char=""/>
              <a:tabLst>
                <a:tab pos="397510" algn="l"/>
              </a:tabLst>
            </a:pPr>
            <a:r>
              <a:rPr sz="2800" b="1" spc="-10" dirty="0">
                <a:latin typeface="Arial"/>
                <a:cs typeface="Arial"/>
              </a:rPr>
              <a:t>Macroadenomas </a:t>
            </a:r>
            <a:r>
              <a:rPr sz="2800" b="1" dirty="0">
                <a:latin typeface="Arial"/>
                <a:cs typeface="Arial"/>
              </a:rPr>
              <a:t>10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mm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más.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635" y="4400980"/>
            <a:ext cx="9631680" cy="137604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Valores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PRL</a:t>
            </a:r>
            <a:r>
              <a:rPr sz="24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superior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100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ng/ml,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sugestivo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prolactinoma.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niveles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PRL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son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generalmente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proporcional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masa</a:t>
            </a:r>
            <a:endParaRPr sz="24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tumoral.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294" y="268300"/>
            <a:ext cx="73202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CARACTERISTICAS</a:t>
            </a:r>
            <a:r>
              <a:rPr spc="-100" dirty="0"/>
              <a:t> </a:t>
            </a:r>
            <a:r>
              <a:rPr dirty="0"/>
              <a:t>SEGÚN</a:t>
            </a:r>
            <a:r>
              <a:rPr spc="-10" dirty="0"/>
              <a:t> </a:t>
            </a:r>
            <a:r>
              <a:rPr dirty="0"/>
              <a:t>EL</a:t>
            </a:r>
            <a:r>
              <a:rPr spc="-75" dirty="0"/>
              <a:t> </a:t>
            </a:r>
            <a:r>
              <a:rPr spc="-20" dirty="0"/>
              <a:t>SEXO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2960" y="1059180"/>
            <a:ext cx="10564495" cy="5798820"/>
            <a:chOff x="822960" y="1059180"/>
            <a:chExt cx="10564495" cy="57988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" y="6693407"/>
              <a:ext cx="10564368" cy="1645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1066800"/>
              <a:ext cx="10515600" cy="15605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0580" y="1059180"/>
              <a:ext cx="10549128" cy="56433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047492" y="1085215"/>
            <a:ext cx="6259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02860" algn="l"/>
              </a:tabLst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Mujer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Hombre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635" y="1882266"/>
            <a:ext cx="2098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MICROADENOMAS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8932" y="1882266"/>
            <a:ext cx="758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(&gt;90%)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4994" y="1882266"/>
            <a:ext cx="2867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MACROADENOMAS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(60%)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635" y="2649473"/>
            <a:ext cx="1830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Oligoa/amenorrea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75628" y="2649473"/>
            <a:ext cx="1748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Disfunción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eréctil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635" y="3430270"/>
            <a:ext cx="120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Galactorrea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5628" y="3430270"/>
            <a:ext cx="1950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Perdida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libido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6635" y="4211573"/>
            <a:ext cx="1061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Infertilidad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75628" y="4211573"/>
            <a:ext cx="1061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Infertilidad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6635" y="4991811"/>
            <a:ext cx="4112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Hipoestrogenismo,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alteración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libido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75628" y="4991811"/>
            <a:ext cx="4942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Disminución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caracteres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sexuales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secundarios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6635" y="5748324"/>
            <a:ext cx="4399280" cy="579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51435">
              <a:lnSpc>
                <a:spcPct val="101699"/>
              </a:lnSpc>
              <a:spcBef>
                <a:spcPts val="60"/>
              </a:spcBef>
            </a:pPr>
            <a:r>
              <a:rPr sz="1800" spc="-10" dirty="0">
                <a:latin typeface="Arial MT"/>
                <a:cs typeface="Arial MT"/>
              </a:rPr>
              <a:t>Osteopenia/osteoporosis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(hipogonadismo) </a:t>
            </a:r>
            <a:r>
              <a:rPr sz="1800" dirty="0">
                <a:latin typeface="Arial MT"/>
                <a:cs typeface="Arial MT"/>
              </a:rPr>
              <a:t>Síntomas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neurológicos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macroadenomas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75628" y="5773013"/>
            <a:ext cx="46539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Osteopenia/osteoporosis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(hipogonadismo) </a:t>
            </a:r>
            <a:r>
              <a:rPr sz="1800" dirty="0">
                <a:latin typeface="Arial MT"/>
                <a:cs typeface="Arial MT"/>
              </a:rPr>
              <a:t>Síntomas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neurológicos,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cefaleas,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alteraciones </a:t>
            </a:r>
            <a:r>
              <a:rPr sz="1800" dirty="0">
                <a:latin typeface="Arial MT"/>
                <a:cs typeface="Arial MT"/>
              </a:rPr>
              <a:t>visuales,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hipopituitarismo.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7753" y="374395"/>
            <a:ext cx="39211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MACROADENOMAS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986154"/>
            <a:ext cx="9178925" cy="224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Expansión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paraselar: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compromiso</a:t>
            </a:r>
            <a:r>
              <a:rPr sz="24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seno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cavernoso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lateral.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20"/>
              </a:spcBef>
              <a:buClr>
                <a:srgbClr val="FFFFFF"/>
              </a:buClr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lr>
                <a:srgbClr val="FFFFFF"/>
              </a:buClr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Expansión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supraselar: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compromiso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quiasma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óptico.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14"/>
              </a:spcBef>
              <a:buClr>
                <a:srgbClr val="FFFFFF"/>
              </a:buClr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lr>
                <a:srgbClr val="FFFFFF"/>
              </a:buClr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Extensión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inferior: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compromiso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seno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esfenoidal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inferior.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635" y="3780282"/>
            <a:ext cx="9201785" cy="72199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9085" marR="5080" indent="-287020">
              <a:lnSpc>
                <a:spcPts val="2600"/>
              </a:lnSpc>
              <a:spcBef>
                <a:spcPts val="42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Según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capacidad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perforación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silla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turca: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invasivos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y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no </a:t>
            </a:r>
            <a:r>
              <a:rPr sz="2400" b="1" spc="-10" dirty="0">
                <a:latin typeface="Arial"/>
                <a:cs typeface="Arial"/>
              </a:rPr>
              <a:t>invasivos.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635" y="5034788"/>
            <a:ext cx="10258425" cy="10528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9085" marR="5080" indent="-287020">
              <a:lnSpc>
                <a:spcPts val="2600"/>
              </a:lnSpc>
              <a:spcBef>
                <a:spcPts val="420"/>
              </a:spcBef>
              <a:buClr>
                <a:srgbClr val="FFFFFF"/>
              </a:buClr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Prolactinoma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Maligno</a:t>
            </a:r>
            <a:r>
              <a:rPr sz="2400" b="1" spc="-165" dirty="0"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extremadamente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raro: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&lt;1%,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diagnostica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metástasis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extracraneanas.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responden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Agonistas dopaminergicos.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5775" rIns="0" bIns="0" rtlCol="0">
            <a:spAutoFit/>
          </a:bodyPr>
          <a:lstStyle/>
          <a:p>
            <a:pPr marL="2679065">
              <a:lnSpc>
                <a:spcPct val="100000"/>
              </a:lnSpc>
              <a:spcBef>
                <a:spcPts val="105"/>
              </a:spcBef>
            </a:pPr>
            <a:r>
              <a:rPr dirty="0"/>
              <a:t>HIPÓFISIS</a:t>
            </a:r>
            <a:r>
              <a:rPr spc="-40" dirty="0"/>
              <a:t> </a:t>
            </a:r>
            <a:r>
              <a:rPr spc="-10" dirty="0"/>
              <a:t>NORMAL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3848" y="1749551"/>
            <a:ext cx="6237732" cy="44927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3277" rIns="0" bIns="0" rtlCol="0">
            <a:spAutoFit/>
          </a:bodyPr>
          <a:lstStyle/>
          <a:p>
            <a:pPr marL="29032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MICROADENOMA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6420" y="1970532"/>
            <a:ext cx="3745991" cy="35158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3452" y="1970532"/>
            <a:ext cx="3744467" cy="35158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965" y="1058037"/>
            <a:ext cx="36493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MACROADENOMA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6439" y="2074164"/>
            <a:ext cx="3994404" cy="37597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2991" y="2074164"/>
            <a:ext cx="3735323" cy="37597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3245" y="948308"/>
            <a:ext cx="52838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PROLACTINOMA</a:t>
            </a:r>
            <a:r>
              <a:rPr spc="-200" dirty="0"/>
              <a:t> </a:t>
            </a:r>
            <a:r>
              <a:rPr spc="-10" dirty="0"/>
              <a:t>GIGANTE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4455" y="2228088"/>
            <a:ext cx="3992879" cy="32964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0171" y="2228088"/>
            <a:ext cx="3528059" cy="32964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4391" y="870584"/>
            <a:ext cx="16681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CLÍNICA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2305558"/>
            <a:ext cx="98907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5080" indent="-28448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mayoría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síntomas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son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consecuencia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directa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la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hiperprolactinemia,</a:t>
            </a:r>
            <a:r>
              <a:rPr sz="24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pero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macroprolactinomas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suman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los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efectos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secundarios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masa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tumoral.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2552" y="5008626"/>
            <a:ext cx="9144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alteraciones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neurológicas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aparecen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microadenomas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43955" y="3607308"/>
            <a:ext cx="495300" cy="1161415"/>
            <a:chOff x="5743955" y="3607308"/>
            <a:chExt cx="495300" cy="1161415"/>
          </a:xfrm>
        </p:grpSpPr>
        <p:sp>
          <p:nvSpPr>
            <p:cNvPr id="6" name="object 6"/>
            <p:cNvSpPr/>
            <p:nvPr/>
          </p:nvSpPr>
          <p:spPr>
            <a:xfrm>
              <a:off x="5753099" y="3616452"/>
              <a:ext cx="475615" cy="1141730"/>
            </a:xfrm>
            <a:custGeom>
              <a:avLst/>
              <a:gdLst/>
              <a:ahLst/>
              <a:cxnLst/>
              <a:rect l="l" t="t" r="r" b="b"/>
              <a:pathLst>
                <a:path w="475614" h="1141729">
                  <a:moveTo>
                    <a:pt x="356488" y="0"/>
                  </a:moveTo>
                  <a:lnTo>
                    <a:pt x="118872" y="0"/>
                  </a:lnTo>
                  <a:lnTo>
                    <a:pt x="118872" y="939546"/>
                  </a:lnTo>
                  <a:lnTo>
                    <a:pt x="0" y="939546"/>
                  </a:lnTo>
                  <a:lnTo>
                    <a:pt x="237744" y="1141222"/>
                  </a:lnTo>
                  <a:lnTo>
                    <a:pt x="475361" y="939546"/>
                  </a:lnTo>
                  <a:lnTo>
                    <a:pt x="356488" y="939546"/>
                  </a:lnTo>
                  <a:lnTo>
                    <a:pt x="356488" y="0"/>
                  </a:lnTo>
                  <a:close/>
                </a:path>
              </a:pathLst>
            </a:custGeom>
            <a:solidFill>
              <a:srgbClr val="E3B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53861" y="3617214"/>
              <a:ext cx="475615" cy="1141730"/>
            </a:xfrm>
            <a:custGeom>
              <a:avLst/>
              <a:gdLst/>
              <a:ahLst/>
              <a:cxnLst/>
              <a:rect l="l" t="t" r="r" b="b"/>
              <a:pathLst>
                <a:path w="475614" h="1141729">
                  <a:moveTo>
                    <a:pt x="0" y="939546"/>
                  </a:moveTo>
                  <a:lnTo>
                    <a:pt x="118872" y="939546"/>
                  </a:lnTo>
                  <a:lnTo>
                    <a:pt x="118872" y="0"/>
                  </a:lnTo>
                  <a:lnTo>
                    <a:pt x="356488" y="0"/>
                  </a:lnTo>
                  <a:lnTo>
                    <a:pt x="356488" y="939546"/>
                  </a:lnTo>
                  <a:lnTo>
                    <a:pt x="475361" y="939546"/>
                  </a:lnTo>
                  <a:lnTo>
                    <a:pt x="237616" y="1141222"/>
                  </a:lnTo>
                  <a:lnTo>
                    <a:pt x="0" y="939546"/>
                  </a:lnTo>
                  <a:close/>
                </a:path>
              </a:pathLst>
            </a:custGeom>
            <a:ln w="19812">
              <a:solidFill>
                <a:srgbClr val="A883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0101" rIns="0" bIns="0" rtlCol="0">
            <a:spAutoFit/>
          </a:bodyPr>
          <a:lstStyle/>
          <a:p>
            <a:pPr marL="2177415">
              <a:lnSpc>
                <a:spcPct val="100000"/>
              </a:lnSpc>
              <a:spcBef>
                <a:spcPts val="105"/>
              </a:spcBef>
            </a:pPr>
            <a:r>
              <a:rPr dirty="0"/>
              <a:t>SÍNTOMAS</a:t>
            </a:r>
            <a:r>
              <a:rPr spc="-110" dirty="0"/>
              <a:t> </a:t>
            </a:r>
            <a:r>
              <a:rPr spc="-10" dirty="0"/>
              <a:t>NEUROLÓGICOS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235" y="1910537"/>
            <a:ext cx="9501505" cy="324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SzPct val="75000"/>
              <a:buFont typeface="Wingdings"/>
              <a:buChar char=""/>
              <a:tabLst>
                <a:tab pos="350520" algn="l"/>
              </a:tabLst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Cefaleas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5"/>
              </a:spcBef>
            </a:pPr>
            <a:endParaRPr sz="2400">
              <a:latin typeface="Arial"/>
              <a:cs typeface="Arial"/>
            </a:endParaRPr>
          </a:p>
          <a:p>
            <a:pPr marL="382905" indent="-370205">
              <a:lnSpc>
                <a:spcPct val="100000"/>
              </a:lnSpc>
              <a:buFont typeface="Wingdings"/>
              <a:buChar char=""/>
              <a:tabLst>
                <a:tab pos="38290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común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frontales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(50%)</a:t>
            </a:r>
            <a:endParaRPr sz="2400">
              <a:latin typeface="Arial"/>
              <a:cs typeface="Arial"/>
            </a:endParaRPr>
          </a:p>
          <a:p>
            <a:pPr marL="382905" indent="-370205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38290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menos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frecuentes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temporales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retroorbitarias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2400">
              <a:latin typeface="Arial"/>
              <a:cs typeface="Arial"/>
            </a:endParaRPr>
          </a:p>
          <a:p>
            <a:pPr marL="299085" marR="5080" indent="-287020">
              <a:lnSpc>
                <a:spcPct val="100400"/>
              </a:lnSpc>
              <a:buFont typeface="Wingdings"/>
              <a:buChar char=""/>
              <a:tabLst>
                <a:tab pos="299085" algn="l"/>
                <a:tab pos="38290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crecimiento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expansivo,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invade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seno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cavernoso,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produce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parálisis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pares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craneales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III,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IV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VI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4775" y="1094232"/>
            <a:ext cx="10000615" cy="4905375"/>
            <a:chOff x="874775" y="1094232"/>
            <a:chExt cx="10000615" cy="49053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2687" y="1152144"/>
              <a:ext cx="9872471" cy="47899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731" y="1123188"/>
              <a:ext cx="9942830" cy="4847590"/>
            </a:xfrm>
            <a:custGeom>
              <a:avLst/>
              <a:gdLst/>
              <a:ahLst/>
              <a:cxnLst/>
              <a:rect l="l" t="t" r="r" b="b"/>
              <a:pathLst>
                <a:path w="9942830" h="4847590">
                  <a:moveTo>
                    <a:pt x="0" y="4847463"/>
                  </a:moveTo>
                  <a:lnTo>
                    <a:pt x="9942322" y="4847463"/>
                  </a:lnTo>
                  <a:lnTo>
                    <a:pt x="9942322" y="0"/>
                  </a:lnTo>
                  <a:lnTo>
                    <a:pt x="0" y="0"/>
                  </a:lnTo>
                  <a:lnTo>
                    <a:pt x="0" y="4847463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2497" y="851662"/>
            <a:ext cx="31337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CAMPO</a:t>
            </a:r>
            <a:r>
              <a:rPr spc="-35" dirty="0"/>
              <a:t> </a:t>
            </a:r>
            <a:r>
              <a:rPr spc="-10" dirty="0"/>
              <a:t>VISUAL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37559" y="2186939"/>
            <a:ext cx="5379720" cy="2961005"/>
            <a:chOff x="3337559" y="2186939"/>
            <a:chExt cx="5379720" cy="2961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5659" y="2225039"/>
              <a:ext cx="5301995" cy="28834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56609" y="2205989"/>
              <a:ext cx="5341620" cy="2922905"/>
            </a:xfrm>
            <a:custGeom>
              <a:avLst/>
              <a:gdLst/>
              <a:ahLst/>
              <a:cxnLst/>
              <a:rect l="l" t="t" r="r" b="b"/>
              <a:pathLst>
                <a:path w="5341620" h="2922904">
                  <a:moveTo>
                    <a:pt x="0" y="2922905"/>
                  </a:moveTo>
                  <a:lnTo>
                    <a:pt x="5341366" y="2922905"/>
                  </a:lnTo>
                  <a:lnTo>
                    <a:pt x="5341366" y="0"/>
                  </a:lnTo>
                  <a:lnTo>
                    <a:pt x="0" y="0"/>
                  </a:lnTo>
                  <a:lnTo>
                    <a:pt x="0" y="292290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6151" rIns="0" bIns="0" rtlCol="0">
            <a:spAutoFit/>
          </a:bodyPr>
          <a:lstStyle/>
          <a:p>
            <a:pPr marL="2380615">
              <a:lnSpc>
                <a:spcPct val="100000"/>
              </a:lnSpc>
              <a:spcBef>
                <a:spcPts val="105"/>
              </a:spcBef>
            </a:pPr>
            <a:r>
              <a:rPr dirty="0"/>
              <a:t>SÍNTOMAS</a:t>
            </a:r>
            <a:r>
              <a:rPr spc="-120" dirty="0"/>
              <a:t> </a:t>
            </a:r>
            <a:r>
              <a:rPr spc="-10" dirty="0"/>
              <a:t>COMPRESIVOS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688" y="1459991"/>
            <a:ext cx="10549127" cy="49392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20520" y="1486611"/>
            <a:ext cx="46964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COMPROMISO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III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PAR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CRANEAL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(Motor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ocular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común)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9352" y="2951226"/>
            <a:ext cx="505968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El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ojo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afectado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(derecho)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gira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ligeramente </a:t>
            </a:r>
            <a:r>
              <a:rPr sz="2000" b="1" dirty="0">
                <a:latin typeface="Arial"/>
                <a:cs typeface="Arial"/>
              </a:rPr>
              <a:t>hacia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fuera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hacia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abajo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cuando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</a:t>
            </a:r>
            <a:r>
              <a:rPr sz="2000" b="1" spc="-25" dirty="0">
                <a:latin typeface="Arial"/>
                <a:cs typeface="Arial"/>
              </a:rPr>
              <a:t> ojo</a:t>
            </a:r>
            <a:r>
              <a:rPr sz="2000" b="1" spc="5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afectado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mira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frente.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puede </a:t>
            </a:r>
            <a:r>
              <a:rPr sz="2000" b="1" dirty="0">
                <a:latin typeface="Arial"/>
                <a:cs typeface="Arial"/>
              </a:rPr>
              <a:t>moverse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hacia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arriba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hacia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abajo.</a:t>
            </a:r>
            <a:endParaRPr sz="2000">
              <a:latin typeface="Arial"/>
              <a:cs typeface="Arial"/>
            </a:endParaRPr>
          </a:p>
          <a:p>
            <a:pPr marL="12700" marR="211454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Ptósis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palpebral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Falta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respuesta </a:t>
            </a:r>
            <a:r>
              <a:rPr sz="2000" b="1" dirty="0">
                <a:latin typeface="Arial"/>
                <a:cs typeface="Arial"/>
              </a:rPr>
              <a:t>pulpilar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sin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contracción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ante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estimulo lumínico.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347" y="2820923"/>
            <a:ext cx="4305300" cy="20467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056" rIns="0" bIns="0" rtlCol="0">
            <a:spAutoFit/>
          </a:bodyPr>
          <a:lstStyle/>
          <a:p>
            <a:pPr marL="2337435">
              <a:lnSpc>
                <a:spcPct val="100000"/>
              </a:lnSpc>
              <a:spcBef>
                <a:spcPts val="105"/>
              </a:spcBef>
            </a:pPr>
            <a:r>
              <a:rPr dirty="0"/>
              <a:t>SÍNTOMAS</a:t>
            </a:r>
            <a:r>
              <a:rPr spc="-135" dirty="0"/>
              <a:t> </a:t>
            </a:r>
            <a:r>
              <a:rPr spc="-10" dirty="0"/>
              <a:t>COMPRESIVOS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3816" y="1481074"/>
            <a:ext cx="10566400" cy="4932045"/>
            <a:chOff x="813816" y="1481074"/>
            <a:chExt cx="10566400" cy="4932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493520"/>
              <a:ext cx="5257800" cy="48935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96000" y="1493520"/>
              <a:ext cx="5257800" cy="4895215"/>
            </a:xfrm>
            <a:custGeom>
              <a:avLst/>
              <a:gdLst/>
              <a:ahLst/>
              <a:cxnLst/>
              <a:rect l="l" t="t" r="r" b="b"/>
              <a:pathLst>
                <a:path w="5257800" h="4895215">
                  <a:moveTo>
                    <a:pt x="5257800" y="0"/>
                  </a:moveTo>
                  <a:lnTo>
                    <a:pt x="0" y="0"/>
                  </a:lnTo>
                  <a:lnTo>
                    <a:pt x="0" y="4895088"/>
                  </a:lnTo>
                  <a:lnTo>
                    <a:pt x="5257800" y="4895088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E3B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2104" y="1487424"/>
              <a:ext cx="10528300" cy="4919345"/>
            </a:xfrm>
            <a:custGeom>
              <a:avLst/>
              <a:gdLst/>
              <a:ahLst/>
              <a:cxnLst/>
              <a:rect l="l" t="t" r="r" b="b"/>
              <a:pathLst>
                <a:path w="10528300" h="4919345">
                  <a:moveTo>
                    <a:pt x="5263896" y="0"/>
                  </a:moveTo>
                  <a:lnTo>
                    <a:pt x="5263896" y="4918913"/>
                  </a:lnTo>
                </a:path>
                <a:path w="10528300" h="4919345">
                  <a:moveTo>
                    <a:pt x="6350" y="0"/>
                  </a:moveTo>
                  <a:lnTo>
                    <a:pt x="6350" y="4918913"/>
                  </a:lnTo>
                </a:path>
                <a:path w="10528300" h="4919345">
                  <a:moveTo>
                    <a:pt x="10521442" y="0"/>
                  </a:moveTo>
                  <a:lnTo>
                    <a:pt x="10521442" y="4918913"/>
                  </a:lnTo>
                </a:path>
                <a:path w="10528300" h="4919345">
                  <a:moveTo>
                    <a:pt x="0" y="6350"/>
                  </a:moveTo>
                  <a:lnTo>
                    <a:pt x="10527792" y="6350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866" y="6389370"/>
              <a:ext cx="10528300" cy="0"/>
            </a:xfrm>
            <a:custGeom>
              <a:avLst/>
              <a:gdLst/>
              <a:ahLst/>
              <a:cxnLst/>
              <a:rect l="l" t="t" r="r" b="b"/>
              <a:pathLst>
                <a:path w="10528300">
                  <a:moveTo>
                    <a:pt x="0" y="0"/>
                  </a:moveTo>
                  <a:lnTo>
                    <a:pt x="10527791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5171" y="1512570"/>
            <a:ext cx="39427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COMPROMISO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IV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PAR</a:t>
            </a:r>
            <a:endParaRPr sz="24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CRANEAL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(patético)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635" y="3526027"/>
            <a:ext cx="486791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El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ojo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afectado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(derecho)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puede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girar </a:t>
            </a:r>
            <a:r>
              <a:rPr sz="2000" b="1" dirty="0">
                <a:latin typeface="Arial"/>
                <a:cs typeface="Arial"/>
              </a:rPr>
              <a:t>hacia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adentro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hacia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abajo.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Como </a:t>
            </a:r>
            <a:r>
              <a:rPr sz="2000" b="1" dirty="0">
                <a:latin typeface="Arial"/>
                <a:cs typeface="Arial"/>
              </a:rPr>
              <a:t>consecuencia,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persona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ve </a:t>
            </a:r>
            <a:r>
              <a:rPr sz="2000" b="1" spc="-10" dirty="0">
                <a:latin typeface="Arial"/>
                <a:cs typeface="Arial"/>
              </a:rPr>
              <a:t>imágenes dobles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0715" y="2407920"/>
            <a:ext cx="4533899" cy="271729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058" rIns="0" bIns="0" rtlCol="0">
            <a:spAutoFit/>
          </a:bodyPr>
          <a:lstStyle/>
          <a:p>
            <a:pPr marL="2305685">
              <a:lnSpc>
                <a:spcPct val="100000"/>
              </a:lnSpc>
              <a:spcBef>
                <a:spcPts val="105"/>
              </a:spcBef>
            </a:pPr>
            <a:r>
              <a:rPr dirty="0"/>
              <a:t>SÍNTOMAS</a:t>
            </a:r>
            <a:r>
              <a:rPr spc="-135" dirty="0"/>
              <a:t> </a:t>
            </a:r>
            <a:r>
              <a:rPr spc="-10" dirty="0"/>
              <a:t>COMPRESIVOS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3816" y="1464310"/>
            <a:ext cx="10566400" cy="5194300"/>
            <a:chOff x="813816" y="1464310"/>
            <a:chExt cx="10566400" cy="5194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476756"/>
              <a:ext cx="5257800" cy="51556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96000" y="1476756"/>
              <a:ext cx="5257800" cy="5156200"/>
            </a:xfrm>
            <a:custGeom>
              <a:avLst/>
              <a:gdLst/>
              <a:ahLst/>
              <a:cxnLst/>
              <a:rect l="l" t="t" r="r" b="b"/>
              <a:pathLst>
                <a:path w="5257800" h="5156200">
                  <a:moveTo>
                    <a:pt x="5257800" y="0"/>
                  </a:moveTo>
                  <a:lnTo>
                    <a:pt x="0" y="0"/>
                  </a:lnTo>
                  <a:lnTo>
                    <a:pt x="0" y="5155692"/>
                  </a:lnTo>
                  <a:lnTo>
                    <a:pt x="5257800" y="5155692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E3B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2104" y="1470660"/>
              <a:ext cx="10528300" cy="5181600"/>
            </a:xfrm>
            <a:custGeom>
              <a:avLst/>
              <a:gdLst/>
              <a:ahLst/>
              <a:cxnLst/>
              <a:rect l="l" t="t" r="r" b="b"/>
              <a:pathLst>
                <a:path w="10528300" h="5181600">
                  <a:moveTo>
                    <a:pt x="5263896" y="0"/>
                  </a:moveTo>
                  <a:lnTo>
                    <a:pt x="5263896" y="5181523"/>
                  </a:lnTo>
                </a:path>
                <a:path w="10528300" h="5181600">
                  <a:moveTo>
                    <a:pt x="6350" y="0"/>
                  </a:moveTo>
                  <a:lnTo>
                    <a:pt x="6350" y="5181523"/>
                  </a:lnTo>
                </a:path>
                <a:path w="10528300" h="5181600">
                  <a:moveTo>
                    <a:pt x="10521442" y="0"/>
                  </a:moveTo>
                  <a:lnTo>
                    <a:pt x="10521442" y="5181523"/>
                  </a:lnTo>
                </a:path>
                <a:path w="10528300" h="5181600">
                  <a:moveTo>
                    <a:pt x="0" y="6350"/>
                  </a:moveTo>
                  <a:lnTo>
                    <a:pt x="10527792" y="6350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866" y="6633210"/>
              <a:ext cx="10528300" cy="0"/>
            </a:xfrm>
            <a:custGeom>
              <a:avLst/>
              <a:gdLst/>
              <a:ahLst/>
              <a:cxnLst/>
              <a:rect l="l" t="t" r="r" b="b"/>
              <a:pathLst>
                <a:path w="10528300">
                  <a:moveTo>
                    <a:pt x="0" y="0"/>
                  </a:moveTo>
                  <a:lnTo>
                    <a:pt x="10527791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06727" y="1495805"/>
            <a:ext cx="392937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COMPROMISO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VI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PAR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CRANEAL</a:t>
            </a:r>
            <a:endParaRPr sz="2400">
              <a:latin typeface="Arial"/>
              <a:cs typeface="Arial"/>
            </a:endParaRPr>
          </a:p>
          <a:p>
            <a:pPr marL="77470"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motor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ocular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externo)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635" y="3691509"/>
            <a:ext cx="493903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53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El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ojo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afectado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(derecho)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gira </a:t>
            </a:r>
            <a:r>
              <a:rPr sz="2000" b="1" dirty="0">
                <a:latin typeface="Arial"/>
                <a:cs typeface="Arial"/>
              </a:rPr>
              <a:t>completamente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hacia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afuera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puede </a:t>
            </a:r>
            <a:r>
              <a:rPr sz="2000" b="1" dirty="0">
                <a:latin typeface="Arial"/>
                <a:cs typeface="Arial"/>
              </a:rPr>
              <a:t>girar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hacia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adentro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al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mirar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hacia adelante.</a:t>
            </a:r>
            <a:endParaRPr sz="2000">
              <a:latin typeface="Arial"/>
              <a:cs typeface="Arial"/>
            </a:endParaRPr>
          </a:p>
          <a:p>
            <a:pPr marL="12700" marR="5080" indent="6985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Se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produce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visión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doble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cuando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mira </a:t>
            </a:r>
            <a:r>
              <a:rPr sz="2000" b="1" dirty="0">
                <a:latin typeface="Arial"/>
                <a:cs typeface="Arial"/>
              </a:rPr>
              <a:t>hacia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lado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del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ojo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afectado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90715" y="2209800"/>
            <a:ext cx="4590415" cy="3792220"/>
            <a:chOff x="6490715" y="2209800"/>
            <a:chExt cx="4590415" cy="379222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0715" y="2209800"/>
              <a:ext cx="4590288" cy="18120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8831" y="4302251"/>
              <a:ext cx="2871216" cy="16992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7438" y="256158"/>
            <a:ext cx="28867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DIAGNÓSTICO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2103" y="890016"/>
            <a:ext cx="10528935" cy="2927985"/>
            <a:chOff x="832103" y="890016"/>
            <a:chExt cx="10528935" cy="29279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897636"/>
              <a:ext cx="10515600" cy="29016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2103" y="890016"/>
              <a:ext cx="10528300" cy="2927350"/>
            </a:xfrm>
            <a:custGeom>
              <a:avLst/>
              <a:gdLst/>
              <a:ahLst/>
              <a:cxnLst/>
              <a:rect l="l" t="t" r="r" b="b"/>
              <a:pathLst>
                <a:path w="10528300" h="2927350">
                  <a:moveTo>
                    <a:pt x="6350" y="0"/>
                  </a:moveTo>
                  <a:lnTo>
                    <a:pt x="6350" y="2927096"/>
                  </a:lnTo>
                </a:path>
                <a:path w="10528300" h="2927350">
                  <a:moveTo>
                    <a:pt x="10521442" y="0"/>
                  </a:moveTo>
                  <a:lnTo>
                    <a:pt x="10521442" y="2927096"/>
                  </a:lnTo>
                </a:path>
                <a:path w="10528300" h="2927350">
                  <a:moveTo>
                    <a:pt x="0" y="6350"/>
                  </a:moveTo>
                  <a:lnTo>
                    <a:pt x="10527792" y="6350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2865" y="3798570"/>
              <a:ext cx="10528300" cy="0"/>
            </a:xfrm>
            <a:custGeom>
              <a:avLst/>
              <a:gdLst/>
              <a:ahLst/>
              <a:cxnLst/>
              <a:rect l="l" t="t" r="r" b="b"/>
              <a:pathLst>
                <a:path w="10528300">
                  <a:moveTo>
                    <a:pt x="0" y="0"/>
                  </a:moveTo>
                  <a:lnTo>
                    <a:pt x="10527791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4055364"/>
            <a:ext cx="10515600" cy="23469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8961" y="4056126"/>
            <a:ext cx="10515600" cy="2346960"/>
          </a:xfrm>
          <a:prstGeom prst="rect">
            <a:avLst/>
          </a:prstGeom>
          <a:ln w="19811">
            <a:solidFill>
              <a:srgbClr val="A8833C"/>
            </a:solidFill>
          </a:ln>
        </p:spPr>
        <p:txBody>
          <a:bodyPr vert="horz" wrap="square" lIns="0" tIns="269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20"/>
              </a:spcBef>
            </a:pPr>
            <a:endParaRPr sz="2000">
              <a:latin typeface="Times New Roman"/>
              <a:cs typeface="Times New Roman"/>
            </a:endParaRPr>
          </a:p>
          <a:p>
            <a:pPr marL="8255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Siempre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frente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hallazgo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incidentaloma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hipofisario: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solicitar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también</a:t>
            </a:r>
            <a:r>
              <a:rPr sz="20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IGF1,</a:t>
            </a:r>
            <a:endParaRPr sz="20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descartar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tumor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mixto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secreción</a:t>
            </a:r>
            <a:r>
              <a:rPr sz="20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PRL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GH.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Hombres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LH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testosterona.</a:t>
            </a:r>
            <a:endParaRPr sz="20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Evaluación</a:t>
            </a:r>
            <a:r>
              <a:rPr sz="20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hipopituitarismo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(macroprolactinomas)</a:t>
            </a:r>
            <a:endParaRPr sz="2000">
              <a:latin typeface="Arial"/>
              <a:cs typeface="Arial"/>
            </a:endParaRPr>
          </a:p>
          <a:p>
            <a:pPr marL="251777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PRL,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GH,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IGF1,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TSH,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FSH,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LH,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Testosterona.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E2,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cortisol,</a:t>
            </a:r>
            <a:r>
              <a:rPr sz="2000" b="1" spc="3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ACTH.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635" y="918209"/>
            <a:ext cx="10156190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basa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presencia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de: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HIPERPROLACTINEMIA</a:t>
            </a:r>
            <a:endParaRPr sz="1800">
              <a:latin typeface="Arial"/>
              <a:cs typeface="Arial"/>
            </a:endParaRPr>
          </a:p>
          <a:p>
            <a:pPr marL="12700" marR="12700">
              <a:lnSpc>
                <a:spcPct val="100000"/>
              </a:lnSpc>
              <a:tabLst>
                <a:tab pos="1663064" algn="l"/>
              </a:tabLst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Demostración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	de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tumor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Hipofisario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RMN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alto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campo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Hipófisis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Gadolinio, </a:t>
            </a:r>
            <a:r>
              <a:rPr sz="2000" b="1" spc="-10" dirty="0">
                <a:latin typeface="Arial"/>
                <a:cs typeface="Arial"/>
              </a:rPr>
              <a:t>Microadenomas: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imagen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hipointensa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secuencias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T1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respecto</a:t>
            </a:r>
            <a:r>
              <a:rPr sz="18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hipófisis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anterior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muestra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imagen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hiperintensa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gadolinio.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10"/>
              </a:lnSpc>
              <a:spcBef>
                <a:spcPts val="305"/>
              </a:spcBef>
            </a:pPr>
            <a:r>
              <a:rPr sz="2000" b="1" dirty="0">
                <a:latin typeface="Arial"/>
                <a:cs typeface="Arial"/>
              </a:rPr>
              <a:t>Macroadenomas: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suelen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ser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hiperintensos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secuencias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T1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gadolinio,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mientras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hipófisis</a:t>
            </a:r>
            <a:r>
              <a:rPr sz="1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puede</a:t>
            </a:r>
            <a:r>
              <a:rPr sz="1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distinguirse</a:t>
            </a:r>
            <a:r>
              <a:rPr sz="1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adecuadamente.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58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Campo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visual,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fondo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ojos.</a:t>
            </a:r>
            <a:endParaRPr sz="1800">
              <a:latin typeface="Arial"/>
              <a:cs typeface="Arial"/>
            </a:endParaRPr>
          </a:p>
          <a:p>
            <a:pPr marL="1458595">
              <a:lnSpc>
                <a:spcPts val="196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3531235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TRATAMIENTO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710893"/>
            <a:ext cx="3595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7510" indent="-38481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97510" algn="l"/>
              </a:tabLst>
            </a:pP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FARMACOLÓGICO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635" y="3372434"/>
            <a:ext cx="2703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7510" indent="-38481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97510" algn="l"/>
              </a:tabLst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QUIRÚRGICO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635" y="5034737"/>
            <a:ext cx="3096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7510" indent="-38481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97510" algn="l"/>
              </a:tabLst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RADIOTERAPIA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3006725">
              <a:lnSpc>
                <a:spcPct val="100000"/>
              </a:lnSpc>
              <a:spcBef>
                <a:spcPts val="100"/>
              </a:spcBef>
            </a:pPr>
            <a:r>
              <a:rPr sz="3600" spc="-55" dirty="0"/>
              <a:t>TRATAMIENTO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235" y="1346708"/>
            <a:ext cx="7044690" cy="476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OBJETIVOS: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Eliminar</a:t>
            </a:r>
            <a:r>
              <a:rPr sz="22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2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masa</a:t>
            </a:r>
            <a:r>
              <a:rPr sz="22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tumoral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5"/>
              </a:spcBef>
              <a:buClr>
                <a:srgbClr val="FFFFFF"/>
              </a:buClr>
              <a:buFont typeface="Wingdings"/>
              <a:buChar char=""/>
            </a:pPr>
            <a:endParaRPr sz="22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Preservar</a:t>
            </a:r>
            <a:r>
              <a:rPr sz="22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2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visión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20"/>
              </a:spcBef>
              <a:buClr>
                <a:srgbClr val="FFFFFF"/>
              </a:buClr>
              <a:buFont typeface="Wingdings"/>
              <a:buChar char=""/>
            </a:pPr>
            <a:endParaRPr sz="22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</a:tabLst>
            </a:pP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Eliminar</a:t>
            </a:r>
            <a:r>
              <a:rPr sz="22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2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hipersecreción</a:t>
            </a:r>
            <a:r>
              <a:rPr sz="2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hormonal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5"/>
              </a:spcBef>
              <a:buClr>
                <a:srgbClr val="FFFFFF"/>
              </a:buClr>
              <a:buFont typeface="Wingdings"/>
              <a:buChar char=""/>
            </a:pPr>
            <a:endParaRPr sz="22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Corregir</a:t>
            </a:r>
            <a:r>
              <a:rPr sz="22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2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posible</a:t>
            </a:r>
            <a:r>
              <a:rPr sz="22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hipofunción</a:t>
            </a:r>
            <a:r>
              <a:rPr sz="22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hormonal</a:t>
            </a:r>
            <a:r>
              <a:rPr sz="22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asociada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5"/>
              </a:spcBef>
              <a:buClr>
                <a:srgbClr val="FFFFFF"/>
              </a:buClr>
              <a:buFont typeface="Wingdings"/>
              <a:buChar char=""/>
            </a:pPr>
            <a:endParaRPr sz="22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</a:tabLst>
            </a:pP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Evitar</a:t>
            </a:r>
            <a:r>
              <a:rPr sz="22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2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recurrencia</a:t>
            </a:r>
            <a:r>
              <a:rPr sz="22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2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tumor.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4025" rIns="0" bIns="0" rtlCol="0">
            <a:spAutoFit/>
          </a:bodyPr>
          <a:lstStyle/>
          <a:p>
            <a:pPr marL="3006725">
              <a:lnSpc>
                <a:spcPct val="100000"/>
              </a:lnSpc>
              <a:spcBef>
                <a:spcPts val="100"/>
              </a:spcBef>
            </a:pPr>
            <a:r>
              <a:rPr sz="3600" spc="-55" dirty="0"/>
              <a:t>TRATAMIENTO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235" y="1720723"/>
            <a:ext cx="10381615" cy="477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objetivos:</a:t>
            </a:r>
            <a:endParaRPr sz="2800">
              <a:latin typeface="Arial"/>
              <a:cs typeface="Arial"/>
            </a:endParaRPr>
          </a:p>
          <a:p>
            <a:pPr marL="299085" marR="16510" indent="-287020">
              <a:lnSpc>
                <a:spcPct val="100000"/>
              </a:lnSpc>
              <a:spcBef>
                <a:spcPts val="1814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alcanza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mediante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tratamiento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quirúrgico,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fundamentalmente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vía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transesfenoidal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(endoscópica).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0"/>
              </a:spcBef>
              <a:buClr>
                <a:srgbClr val="FFFFFF"/>
              </a:buClr>
              <a:buFont typeface="Wingdings"/>
              <a:buChar char=""/>
            </a:pP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radioterapia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útil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complemento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cirugía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evitar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endParaRPr sz="24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recidivas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cuando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hayan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producido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estas.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0"/>
              </a:spcBef>
            </a:pP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modalidad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moderna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radiocirugía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estereotáxica.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0"/>
              </a:spcBef>
              <a:buClr>
                <a:srgbClr val="FFFFFF"/>
              </a:buClr>
              <a:buFont typeface="Wingdings"/>
              <a:buChar char=""/>
            </a:pP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Tratamiento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médico.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2097" y="241553"/>
            <a:ext cx="60610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5" dirty="0"/>
              <a:t>TRATAMIENTO</a:t>
            </a:r>
            <a:r>
              <a:rPr sz="2900" spc="-165" dirty="0"/>
              <a:t> </a:t>
            </a:r>
            <a:r>
              <a:rPr sz="2900" spc="-10" dirty="0"/>
              <a:t>FARMACOLÓGICO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916635" y="1113790"/>
            <a:ext cx="7753350" cy="563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agonistas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dopaminérgicos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tienen: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Arial"/>
              <a:cs typeface="Arial"/>
            </a:endParaRPr>
          </a:p>
          <a:p>
            <a:pPr marL="368935" indent="-356235">
              <a:lnSpc>
                <a:spcPct val="100000"/>
              </a:lnSpc>
              <a:buFont typeface="Wingdings"/>
              <a:buChar char=""/>
              <a:tabLst>
                <a:tab pos="36893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Efecto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citolítico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sobre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células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tumorales.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0"/>
              </a:spcBef>
              <a:buClr>
                <a:srgbClr val="FFFFFF"/>
              </a:buClr>
              <a:buFont typeface="Wingdings"/>
              <a:buChar char=""/>
            </a:pPr>
            <a:endParaRPr sz="2000">
              <a:latin typeface="Arial"/>
              <a:cs typeface="Arial"/>
            </a:endParaRPr>
          </a:p>
          <a:p>
            <a:pPr marL="368935" indent="-356235">
              <a:lnSpc>
                <a:spcPct val="100000"/>
              </a:lnSpc>
              <a:buFont typeface="Wingdings"/>
              <a:buChar char=""/>
              <a:tabLst>
                <a:tab pos="36893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Disminuyen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tamaño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tumoral.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5"/>
              </a:spcBef>
              <a:buClr>
                <a:srgbClr val="FFFFFF"/>
              </a:buClr>
              <a:buFont typeface="Wingdings"/>
              <a:buChar char=""/>
            </a:pPr>
            <a:endParaRPr sz="2000">
              <a:latin typeface="Arial"/>
              <a:cs typeface="Arial"/>
            </a:endParaRPr>
          </a:p>
          <a:p>
            <a:pPr marL="368935" indent="-356235">
              <a:lnSpc>
                <a:spcPct val="100000"/>
              </a:lnSpc>
              <a:buFont typeface="Wingdings"/>
              <a:buChar char=""/>
              <a:tabLst>
                <a:tab pos="36893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Reducen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volumen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celular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mediante:</a:t>
            </a:r>
            <a:endParaRPr sz="2000">
              <a:latin typeface="Arial"/>
              <a:cs typeface="Arial"/>
            </a:endParaRPr>
          </a:p>
          <a:p>
            <a:pPr marL="368935" indent="-356235">
              <a:lnSpc>
                <a:spcPct val="100000"/>
              </a:lnSpc>
              <a:spcBef>
                <a:spcPts val="1005"/>
              </a:spcBef>
              <a:buFont typeface="Wingdings"/>
              <a:buChar char=""/>
              <a:tabLst>
                <a:tab pos="36893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inhibición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mecanismos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síntesis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secreción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PRL</a:t>
            </a:r>
            <a:endParaRPr sz="2000">
              <a:latin typeface="Arial"/>
              <a:cs typeface="Arial"/>
            </a:endParaRPr>
          </a:p>
          <a:p>
            <a:pPr marL="368935" indent="-356235">
              <a:lnSpc>
                <a:spcPct val="100000"/>
              </a:lnSpc>
              <a:spcBef>
                <a:spcPts val="1000"/>
              </a:spcBef>
              <a:buFont typeface="Wingdings"/>
              <a:buChar char=""/>
              <a:tabLst>
                <a:tab pos="36893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inhibición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transcripción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genes.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2000">
              <a:latin typeface="Arial"/>
              <a:cs typeface="Arial"/>
            </a:endParaRPr>
          </a:p>
          <a:p>
            <a:pPr marL="368935" indent="-356235">
              <a:lnSpc>
                <a:spcPct val="100000"/>
              </a:lnSpc>
              <a:buFont typeface="Wingdings"/>
              <a:buChar char=""/>
              <a:tabLst>
                <a:tab pos="36893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Inducen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fibrosis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perivascular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necrosis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celular.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0"/>
              </a:spcBef>
              <a:buClr>
                <a:srgbClr val="FFFFFF"/>
              </a:buClr>
              <a:buFont typeface="Wingdings"/>
              <a:buChar char=""/>
            </a:pPr>
            <a:endParaRPr sz="2000">
              <a:latin typeface="Arial"/>
              <a:cs typeface="Arial"/>
            </a:endParaRPr>
          </a:p>
          <a:p>
            <a:pPr marL="368935" indent="-356235">
              <a:lnSpc>
                <a:spcPct val="100000"/>
              </a:lnSpc>
              <a:buFont typeface="Wingdings"/>
              <a:buChar char=""/>
              <a:tabLst>
                <a:tab pos="36893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Efecto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antimitótico.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9320" y="418591"/>
            <a:ext cx="62985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AGONISTAS</a:t>
            </a:r>
            <a:r>
              <a:rPr spc="-160" dirty="0"/>
              <a:t> </a:t>
            </a:r>
            <a:r>
              <a:rPr spc="-10" dirty="0"/>
              <a:t>DOPAMINERGICOS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804" y="994028"/>
            <a:ext cx="10396855" cy="46761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6545" marR="177800" indent="-284480">
              <a:lnSpc>
                <a:spcPts val="2590"/>
              </a:lnSpc>
              <a:spcBef>
                <a:spcPts val="425"/>
              </a:spcBef>
              <a:buFont typeface="Wingdings"/>
              <a:buChar char="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pacientes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logran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normalizar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niveles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PRL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no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presentan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reducción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significativa</a:t>
            </a:r>
            <a:r>
              <a:rPr sz="24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tamaño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tumoral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recomienda 	incrementar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dosis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máximo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tolere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antes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plantear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la 	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cirugía.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39"/>
              </a:spcBef>
              <a:buClr>
                <a:srgbClr val="FFFFFF"/>
              </a:buClr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296545" marR="577215" indent="-284480">
              <a:lnSpc>
                <a:spcPts val="2590"/>
              </a:lnSpc>
              <a:buFont typeface="Wingdings"/>
              <a:buChar char="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recomienda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realizar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controles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ecocardiograma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pacientes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altas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dosis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largos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periodos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tiempo.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30"/>
              </a:spcBef>
              <a:buClr>
                <a:srgbClr val="FFFFFF"/>
              </a:buClr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296545" marR="5080" indent="-284480">
              <a:lnSpc>
                <a:spcPts val="2600"/>
              </a:lnSpc>
              <a:buFont typeface="Wingdings"/>
              <a:buChar char="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recomienda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tras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seguimiento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clínico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bioquímico,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discontinuar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tratamiento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si:</a:t>
            </a:r>
            <a:endParaRPr sz="2400">
              <a:latin typeface="Arial"/>
              <a:cs typeface="Arial"/>
            </a:endParaRPr>
          </a:p>
          <a:p>
            <a:pPr marL="12700" marR="826769" indent="2103120">
              <a:lnSpc>
                <a:spcPts val="2700"/>
              </a:lnSpc>
              <a:spcBef>
                <a:spcPts val="720"/>
              </a:spcBef>
            </a:pP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luego</a:t>
            </a:r>
            <a:r>
              <a:rPr sz="2400" b="1" spc="-7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de</a:t>
            </a:r>
            <a:r>
              <a:rPr sz="2400" b="1" spc="-4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2</a:t>
            </a:r>
            <a:r>
              <a:rPr sz="2400" b="1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años,</a:t>
            </a:r>
            <a:r>
              <a:rPr sz="2400" b="1" spc="-3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con</a:t>
            </a:r>
            <a:r>
              <a:rPr sz="2400" b="1" spc="-5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niveles</a:t>
            </a:r>
            <a:r>
              <a:rPr sz="2400" b="1" spc="-4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normales</a:t>
            </a:r>
            <a:r>
              <a:rPr sz="2400" b="1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de</a:t>
            </a:r>
            <a:r>
              <a:rPr sz="2400" b="1" spc="-5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PRL</a:t>
            </a:r>
            <a:r>
              <a:rPr sz="2400" b="1" spc="-6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y</a:t>
            </a:r>
            <a:r>
              <a:rPr sz="2400" b="1" spc="-4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00"/>
                </a:solidFill>
                <a:latin typeface="Arial"/>
                <a:cs typeface="Arial"/>
              </a:rPr>
              <a:t>sin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tumor</a:t>
            </a:r>
            <a:r>
              <a:rPr sz="2400" b="1" spc="-6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visible</a:t>
            </a:r>
            <a:r>
              <a:rPr sz="2400" b="1" spc="-9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en</a:t>
            </a:r>
            <a:r>
              <a:rPr sz="2400" b="1" spc="-5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00"/>
                </a:solidFill>
                <a:latin typeface="Arial"/>
                <a:cs typeface="Arial"/>
              </a:rPr>
              <a:t>RMN.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0176" y="371678"/>
            <a:ext cx="275590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0" dirty="0"/>
              <a:t>CABERGOLINA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916635" y="954404"/>
            <a:ext cx="9110980" cy="375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905" indent="-37020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8290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Agonista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selectivo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sobre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receptores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D2.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0"/>
              </a:spcBef>
              <a:buClr>
                <a:srgbClr val="FFFFFF"/>
              </a:buClr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371475" indent="-358775">
              <a:lnSpc>
                <a:spcPct val="100000"/>
              </a:lnSpc>
              <a:buFont typeface="Wingdings"/>
              <a:buChar char=""/>
              <a:tabLst>
                <a:tab pos="37147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Ampliamente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usada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tratamiento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microadenomas</a:t>
            </a:r>
            <a:endParaRPr sz="24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sintomáticos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prolactinomas.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0"/>
              </a:spcBef>
            </a:pPr>
            <a:endParaRPr sz="2400">
              <a:latin typeface="Arial"/>
              <a:cs typeface="Arial"/>
            </a:endParaRPr>
          </a:p>
          <a:p>
            <a:pPr marL="382905" indent="-370205">
              <a:lnSpc>
                <a:spcPct val="100000"/>
              </a:lnSpc>
              <a:buFont typeface="Wingdings"/>
              <a:buChar char=""/>
              <a:tabLst>
                <a:tab pos="38290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Mayor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eficacia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normalizar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valores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PRL.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5"/>
              </a:spcBef>
              <a:buClr>
                <a:srgbClr val="FFFFFF"/>
              </a:buClr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382905" indent="-370205">
              <a:lnSpc>
                <a:spcPct val="100000"/>
              </a:lnSpc>
              <a:buFont typeface="Wingdings"/>
              <a:buChar char=""/>
              <a:tabLst>
                <a:tab pos="38290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Mejor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tolerancia.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635" y="5263641"/>
            <a:ext cx="4900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905" indent="-37020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Wingdings"/>
              <a:buChar char=""/>
              <a:tabLst>
                <a:tab pos="382905" algn="l"/>
              </a:tabLst>
            </a:pPr>
            <a:r>
              <a:rPr sz="2400" b="1" dirty="0">
                <a:latin typeface="Arial"/>
                <a:cs typeface="Arial"/>
              </a:rPr>
              <a:t>Dosis: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0,25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mg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por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semana.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9175" y="411607"/>
            <a:ext cx="75990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NORMALIZACIÓN</a:t>
            </a:r>
            <a:r>
              <a:rPr spc="-8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NIVELES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25" dirty="0"/>
              <a:t>PRL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085469"/>
            <a:ext cx="10247630" cy="509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957705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  <a:tab pos="35052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Depende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volumen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tumoral,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siendo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lenta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macroprolactinomas.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0"/>
              </a:spcBef>
              <a:buFont typeface="Wingdings"/>
              <a:buChar char=""/>
            </a:pPr>
            <a:endParaRPr sz="2400">
              <a:latin typeface="Arial"/>
              <a:cs typeface="Arial"/>
            </a:endParaRPr>
          </a:p>
          <a:p>
            <a:pPr marL="382905" indent="-370205">
              <a:lnSpc>
                <a:spcPct val="100000"/>
              </a:lnSpc>
              <a:buFont typeface="Wingdings"/>
              <a:buChar char=""/>
              <a:tabLst>
                <a:tab pos="38290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evolución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habitual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siguiente: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25"/>
              </a:spcBef>
            </a:pP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Reducción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niveles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PRL.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Mejoría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galactorrea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(si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ésta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existe)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Mejoría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manifestaciones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visuales.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Retorno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menstruación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normal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ovulación.</a:t>
            </a:r>
            <a:endParaRPr sz="2400"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Mejoría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súbita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fertilidad,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puede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producirse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embarazo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primeros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meses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tratamiento.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587" rIns="0" bIns="0" rtlCol="0">
            <a:spAutoFit/>
          </a:bodyPr>
          <a:lstStyle/>
          <a:p>
            <a:pPr marL="2154555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TRATAMIENTO</a:t>
            </a:r>
            <a:r>
              <a:rPr spc="-170" dirty="0"/>
              <a:t> </a:t>
            </a:r>
            <a:r>
              <a:rPr spc="-10" dirty="0"/>
              <a:t>QUIRÚRGICO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227329" indent="-28448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pc="-10" dirty="0"/>
              <a:t>Adenomectomía</a:t>
            </a:r>
            <a:r>
              <a:rPr spc="-90" dirty="0"/>
              <a:t> </a:t>
            </a:r>
            <a:r>
              <a:rPr dirty="0"/>
              <a:t>selectiva</a:t>
            </a:r>
            <a:r>
              <a:rPr spc="-90" dirty="0"/>
              <a:t> </a:t>
            </a:r>
            <a:r>
              <a:rPr dirty="0"/>
              <a:t>por</a:t>
            </a:r>
            <a:r>
              <a:rPr spc="-105" dirty="0"/>
              <a:t> </a:t>
            </a:r>
            <a:r>
              <a:rPr dirty="0"/>
              <a:t>vía</a:t>
            </a:r>
            <a:r>
              <a:rPr spc="-105" dirty="0"/>
              <a:t> </a:t>
            </a:r>
            <a:r>
              <a:rPr dirty="0"/>
              <a:t>transesfenoidal,</a:t>
            </a:r>
            <a:r>
              <a:rPr spc="-120" dirty="0"/>
              <a:t> </a:t>
            </a:r>
            <a:r>
              <a:rPr dirty="0"/>
              <a:t>que</a:t>
            </a:r>
            <a:r>
              <a:rPr spc="-105" dirty="0"/>
              <a:t> </a:t>
            </a:r>
            <a:r>
              <a:rPr dirty="0"/>
              <a:t>se</a:t>
            </a:r>
            <a:r>
              <a:rPr spc="-100" dirty="0"/>
              <a:t> </a:t>
            </a:r>
            <a:r>
              <a:rPr spc="-10" dirty="0"/>
              <a:t>reserva 	</a:t>
            </a:r>
            <a:r>
              <a:rPr dirty="0"/>
              <a:t>para</a:t>
            </a:r>
            <a:r>
              <a:rPr spc="-75" dirty="0"/>
              <a:t> </a:t>
            </a:r>
            <a:r>
              <a:rPr dirty="0"/>
              <a:t>pacientes</a:t>
            </a:r>
            <a:r>
              <a:rPr spc="-70" dirty="0"/>
              <a:t> </a:t>
            </a:r>
            <a:r>
              <a:rPr dirty="0"/>
              <a:t>con</a:t>
            </a:r>
            <a:r>
              <a:rPr spc="-80" dirty="0"/>
              <a:t> </a:t>
            </a:r>
            <a:r>
              <a:rPr dirty="0"/>
              <a:t>resistencia</a:t>
            </a:r>
            <a:r>
              <a:rPr spc="-70" dirty="0"/>
              <a:t> </a:t>
            </a:r>
            <a:r>
              <a:rPr dirty="0"/>
              <a:t>al</a:t>
            </a:r>
            <a:r>
              <a:rPr spc="-85" dirty="0"/>
              <a:t> </a:t>
            </a:r>
            <a:r>
              <a:rPr spc="-10" dirty="0"/>
              <a:t>tratamiento</a:t>
            </a:r>
            <a:r>
              <a:rPr spc="-100" dirty="0"/>
              <a:t> </a:t>
            </a:r>
            <a:r>
              <a:rPr dirty="0"/>
              <a:t>farmacológico</a:t>
            </a:r>
            <a:r>
              <a:rPr spc="-90" dirty="0"/>
              <a:t> </a:t>
            </a:r>
            <a:r>
              <a:rPr spc="-10" dirty="0"/>
              <a:t>previo</a:t>
            </a:r>
          </a:p>
          <a:p>
            <a:pPr>
              <a:lnSpc>
                <a:spcPct val="100000"/>
              </a:lnSpc>
              <a:spcBef>
                <a:spcPts val="2220"/>
              </a:spcBef>
              <a:buClr>
                <a:srgbClr val="FFFFFF"/>
              </a:buClr>
              <a:buFont typeface="Wingdings"/>
              <a:buChar char=""/>
            </a:pPr>
            <a:endParaRPr spc="-10" dirty="0"/>
          </a:p>
          <a:p>
            <a:pPr marL="296545" marR="5080" indent="-28448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/>
              <a:t>En</a:t>
            </a:r>
            <a:r>
              <a:rPr spc="-80" dirty="0"/>
              <a:t> </a:t>
            </a:r>
            <a:r>
              <a:rPr dirty="0"/>
              <a:t>los</a:t>
            </a:r>
            <a:r>
              <a:rPr spc="-90" dirty="0"/>
              <a:t> </a:t>
            </a:r>
            <a:r>
              <a:rPr spc="-20" dirty="0"/>
              <a:t>macroprolactinomas</a:t>
            </a:r>
            <a:r>
              <a:rPr spc="-30" dirty="0"/>
              <a:t> </a:t>
            </a:r>
            <a:r>
              <a:rPr dirty="0"/>
              <a:t>son</a:t>
            </a:r>
            <a:r>
              <a:rPr spc="-65" dirty="0"/>
              <a:t> </a:t>
            </a:r>
            <a:r>
              <a:rPr spc="-10" dirty="0"/>
              <a:t>frecuentes</a:t>
            </a:r>
            <a:r>
              <a:rPr spc="-55" dirty="0"/>
              <a:t> </a:t>
            </a:r>
            <a:r>
              <a:rPr dirty="0"/>
              <a:t>las</a:t>
            </a:r>
            <a:r>
              <a:rPr spc="-65" dirty="0"/>
              <a:t> </a:t>
            </a:r>
            <a:r>
              <a:rPr dirty="0"/>
              <a:t>recidivas</a:t>
            </a:r>
            <a:r>
              <a:rPr spc="-70" dirty="0"/>
              <a:t> </a:t>
            </a:r>
            <a:r>
              <a:rPr dirty="0"/>
              <a:t>que</a:t>
            </a:r>
            <a:r>
              <a:rPr spc="-75" dirty="0"/>
              <a:t> </a:t>
            </a:r>
            <a:r>
              <a:rPr spc="-10" dirty="0"/>
              <a:t>obligan 	</a:t>
            </a:r>
            <a:r>
              <a:rPr dirty="0"/>
              <a:t>reinstaurar</a:t>
            </a:r>
            <a:r>
              <a:rPr spc="-70" dirty="0"/>
              <a:t> </a:t>
            </a:r>
            <a:r>
              <a:rPr dirty="0"/>
              <a:t>la</a:t>
            </a:r>
            <a:r>
              <a:rPr spc="-100" dirty="0"/>
              <a:t> </a:t>
            </a:r>
            <a:r>
              <a:rPr dirty="0"/>
              <a:t>terapia</a:t>
            </a:r>
            <a:r>
              <a:rPr spc="-100" dirty="0"/>
              <a:t> </a:t>
            </a:r>
            <a:r>
              <a:rPr spc="-10" dirty="0"/>
              <a:t>farmacológica.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5344" y="3771900"/>
            <a:ext cx="4024884" cy="271729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2111" y="373126"/>
            <a:ext cx="7429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IHQ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093470"/>
            <a:ext cx="10299700" cy="72199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6545" marR="5080" indent="-284480">
              <a:lnSpc>
                <a:spcPts val="2600"/>
              </a:lnSpc>
              <a:spcBef>
                <a:spcPts val="420"/>
              </a:spcBef>
              <a:buFont typeface="Wingdings"/>
              <a:buChar char=""/>
              <a:tabLst>
                <a:tab pos="29908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subtipificación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AH,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anticuerpos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contra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PRL,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GH,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ACTH,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FSH,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LH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TSH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panel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IHQ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mínimo.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635" y="2329941"/>
            <a:ext cx="7148830" cy="1325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845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estos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añadirán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marcadores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pronóstico: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lr>
                <a:srgbClr val="FFFFFF"/>
              </a:buClr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marcador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proliferación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celular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Ki-</a:t>
            </a:r>
            <a:r>
              <a:rPr sz="2400" b="1" spc="-25" dirty="0">
                <a:latin typeface="Arial"/>
                <a:cs typeface="Arial"/>
              </a:rPr>
              <a:t>67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635" y="4161282"/>
            <a:ext cx="10222865" cy="15100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9085" marR="5080" indent="-287020">
              <a:lnSpc>
                <a:spcPts val="2600"/>
              </a:lnSpc>
              <a:spcBef>
                <a:spcPts val="420"/>
              </a:spcBef>
              <a:buClr>
                <a:srgbClr val="FFFFFF"/>
              </a:buClr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marcador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del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gen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supresor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tumoral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p53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(para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diagnóstico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diferencial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entre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AH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típicos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atípicos)</a:t>
            </a:r>
            <a:endParaRPr sz="2400">
              <a:latin typeface="Arial"/>
              <a:cs typeface="Arial"/>
            </a:endParaRPr>
          </a:p>
          <a:p>
            <a:pPr marL="299085" marR="369570" indent="-287020">
              <a:lnSpc>
                <a:spcPts val="2600"/>
              </a:lnSpc>
              <a:spcBef>
                <a:spcPts val="1005"/>
              </a:spcBef>
              <a:buClr>
                <a:srgbClr val="FFFFFF"/>
              </a:buClr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AH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atípicos: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conducta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agresiva,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invasivos,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alto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índice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mitótico,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un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índice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Ki-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67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&gt;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3%,</a:t>
            </a:r>
            <a:r>
              <a:rPr sz="24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tinción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p53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extensa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+++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2361" y="3320922"/>
            <a:ext cx="4250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dirty="0">
                <a:latin typeface="Arial"/>
                <a:cs typeface="Arial"/>
              </a:rPr>
              <a:t>MUCHAS</a:t>
            </a:r>
            <a:r>
              <a:rPr sz="3600" b="1" i="1" spc="-170" dirty="0">
                <a:latin typeface="Arial"/>
                <a:cs typeface="Arial"/>
              </a:rPr>
              <a:t> </a:t>
            </a:r>
            <a:r>
              <a:rPr sz="3600" b="1" i="1" spc="-10" dirty="0">
                <a:latin typeface="Arial"/>
                <a:cs typeface="Arial"/>
              </a:rPr>
              <a:t>GRACIAS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3955" y="1810512"/>
            <a:ext cx="3851147" cy="35859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790</Words>
  <Application>Microsoft Office PowerPoint</Application>
  <PresentationFormat>Panorámica</PresentationFormat>
  <Paragraphs>230</Paragraphs>
  <Slides>34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0" baseType="lpstr">
      <vt:lpstr>Arial</vt:lpstr>
      <vt:lpstr>Arial MT</vt:lpstr>
      <vt:lpstr>Calibri</vt:lpstr>
      <vt:lpstr>Times New Roman</vt:lpstr>
      <vt:lpstr>Wingdings</vt:lpstr>
      <vt:lpstr>Office Theme</vt:lpstr>
      <vt:lpstr>MEDICINA INTERNA III</vt:lpstr>
      <vt:lpstr>MICROADENOMAS PRODUCTORES DE PRL</vt:lpstr>
      <vt:lpstr>Presentación de PowerPoint</vt:lpstr>
      <vt:lpstr>MANIFESTACIONES CLÍNICAS ADENOMAS HIPOFISARIOS</vt:lpstr>
      <vt:lpstr>PROLACTINOMA</vt:lpstr>
      <vt:lpstr>Presentación de PowerPoint</vt:lpstr>
      <vt:lpstr>POU1F1</vt:lpstr>
      <vt:lpstr>ESTUDIO GENÉTICO</vt:lpstr>
      <vt:lpstr>PROLACTINOMA</vt:lpstr>
      <vt:lpstr>PROLACTINOMA</vt:lpstr>
      <vt:lpstr>CARACTERISTICAS SEGÚN EL SEXO</vt:lpstr>
      <vt:lpstr>MACROADENOMAS</vt:lpstr>
      <vt:lpstr>HIPÓFISIS NORMAL</vt:lpstr>
      <vt:lpstr>MICROADENOMA</vt:lpstr>
      <vt:lpstr>MACROADENOMA</vt:lpstr>
      <vt:lpstr>PROLACTINOMA GIGANTE</vt:lpstr>
      <vt:lpstr>CLÍNICA</vt:lpstr>
      <vt:lpstr>SÍNTOMAS NEUROLÓGICOS</vt:lpstr>
      <vt:lpstr>Presentación de PowerPoint</vt:lpstr>
      <vt:lpstr>CAMPO VISUAL</vt:lpstr>
      <vt:lpstr>SÍNTOMAS COMPRESIVOS</vt:lpstr>
      <vt:lpstr>SÍNTOMAS COMPRESIVOS</vt:lpstr>
      <vt:lpstr>SÍNTOMAS COMPRESIVOS</vt:lpstr>
      <vt:lpstr>DIAGNÓSTICO</vt:lpstr>
      <vt:lpstr>TRATAMIENTO</vt:lpstr>
      <vt:lpstr>TRATAMIENTO</vt:lpstr>
      <vt:lpstr>TRATAMIENTO</vt:lpstr>
      <vt:lpstr>TRATAMIENTO FARMACOLÓGICO</vt:lpstr>
      <vt:lpstr>AGONISTAS DOPAMINERGICOS</vt:lpstr>
      <vt:lpstr>CABERGOLINA</vt:lpstr>
      <vt:lpstr>NORMALIZACIÓN DE NIVELES DE PRL</vt:lpstr>
      <vt:lpstr>TRATAMIENTO QUIRÚRGICO</vt:lpstr>
      <vt:lpstr>IHQ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MEDICINA INTERNA III</dc:title>
  <dc:creator>roberto mario pelayes</dc:creator>
  <cp:lastModifiedBy>usuario</cp:lastModifiedBy>
  <cp:revision>1</cp:revision>
  <dcterms:created xsi:type="dcterms:W3CDTF">2025-07-28T00:43:03Z</dcterms:created>
  <dcterms:modified xsi:type="dcterms:W3CDTF">2026-07-17T19:41:08Z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2025-07-28T00:00:00Z</vt:filetime>
  </property>
  <property fmtid="{D5CDD505-2E9C-101B-9397-08002B2CF9AE}" pid="5" name="Producer">
    <vt:lpwstr>www.ilovepdf.com</vt:lpwstr>
  </property>
</Properties>
</file>