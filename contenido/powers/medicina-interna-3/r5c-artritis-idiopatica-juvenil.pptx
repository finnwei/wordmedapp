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6D57D-B756-4E47-A390-7284DA86107E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4C63D-7F93-9D42-9F46-9B80F9D268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574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.png" /><Relationship Id="rId4" Type="http://schemas.openxmlformats.org/officeDocument/2006/relationships/image" Target="../media/image8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8.png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E07A5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C1272D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3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Dra. Mariela Araujo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Reumatóloga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069080"/>
            <a:ext cx="5577840" cy="502920"/>
          </a:xfrm>
          <a:prstGeom prst="roundRect">
            <a:avLst>
              <a:gd name="adj" fmla="val 50909"/>
            </a:avLst>
          </a:prstGeom>
          <a:solidFill>
            <a:srgbClr val="E07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0690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Interna III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Mendoza (UM)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E07A5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C1272D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3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REUMATOLOGÍA PEDIÁTRICA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Artritis Idiopática Juvenil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 de una enfermedad heterogénea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069080"/>
            <a:ext cx="5577840" cy="502920"/>
          </a:xfrm>
          <a:prstGeom prst="roundRect">
            <a:avLst>
              <a:gd name="adj" fmla="val 50909"/>
            </a:avLst>
          </a:prstGeom>
          <a:solidFill>
            <a:srgbClr val="E07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0690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llamada "artritis reumatoide juvenil"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para alumnos avanzados de medicina  ·  30–45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CLASE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terminar, el alumno podrá: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artritis idiopática juvenil (AIJ) y reconocer su heterogeneidad fisiopatológica.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685800" cy="6858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880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cascada de inflamación sinovial: de la activación linfocitaria a la destrucción articular.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685800" cy="68580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 autoinmune (adaptativo) del autoinflamatorio (innato) según el subtipo.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685800" cy="6858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120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5074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síndrome de activación macrofágica (SAM) como complicación grave de la AIJ sistémica.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AIJ?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heterogéneo de artritis crónicas que </a:t>
            </a: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inician antes de los 16 años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duración mayor a 6 semanas, una vez excluidas otras causas de artritis.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sola enfermedad, sino un conjunto de fenotipos con mecanismos distintos (clasificación ILAR, 7 subtipos).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6126480" cy="1737360"/>
          </a:xfrm>
          <a:prstGeom prst="roundRect">
            <a:avLst>
              <a:gd name="adj" fmla="val 6316"/>
            </a:avLst>
          </a:prstGeom>
          <a:solidFill>
            <a:srgbClr val="FDF0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 DE LA CLASE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526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fisiopatología varía según el subtipo: va desde formas autoinmunes (adaptativas) hasta formas autoinflamatorias (innatas).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086600" y="182880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FDF0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0920" y="19385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16 años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606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de inicio de la artritis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86600" y="347472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FDF0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60920" y="35844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6 semanas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4251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duración mínima requerida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86600" y="512064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FDF0E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60920" y="52303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subtipos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5897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la clasificación ILAR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predisponentes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DF0E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6" name="Image 0" descr="/home/claude/aij_icons/genet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genéticos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con genes HLA de clase II; polimorfismos de PTPN22 y otros genes inmunorreguladores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1F3A5F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148840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1" name="Image 1" descr="/home/claude/aij_icons/ambie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258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ambientales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4747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Infecciones virales como posibles desencadenantes en individuos susceptibles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DF0E9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3920" y="214884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16" name="Image 2" descr="/home/claude/aij_icons/pediatri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22585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3920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y desarrollo inmune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34747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inmune inmaduro del niño responde de forma distinta al del adulto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GENERAL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 de la tolerancia inmunológica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F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Predisposición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204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de susceptibilidad + un desencadenante ambiental alteran la regulación inmune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00984" y="19202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E07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83864" y="2103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antigénica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83864" y="35204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Moléculas HLA de clase II presentan autoantígenos articulares (p. ej. colágeno tipo II)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19202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F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27648" y="2103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de linfocitos 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35204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linfocitos T CD4+ autorreactivos escapan a los mecanismos normales de tolerancia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88552" y="19202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E07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71432" y="2103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171432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Inflamación sinovial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71432" y="35204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inmune se perpetúa dentro de la articulación, dando inicio a la sinovitis crónica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Cascada de inflamación sinovial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activación linfocitaria desencadena una liberación de citocinas que amplifica la respuesta, activa a los sinoviocitos y forma el </a:t>
            </a: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pannus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tejido que invade y destruye el cartílago y el hueso.</a:t>
            </a:r>
            <a:endParaRPr lang="en-US" sz="1400" dirty="0"/>
          </a:p>
        </p:txBody>
      </p:sp>
      <p:pic>
        <p:nvPicPr>
          <p:cNvPr id="5" name="Image 0" descr="/home/claude/aij_icons/cascada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68880"/>
            <a:ext cx="9601200" cy="43251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MEDIADORES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Citocinas clave en la AIJ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0233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Citocina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TNF-α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Macrófagos, linfocitos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 sinoviocitos y células endoteliales; induce otras citocinas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IL-6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Sinoviocitos, macrófagos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Promueve la síntesis de reactantes de fase aguda; contribuye a la anemia y el retraso de crecimiento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IL-1β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Macrófagos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 condrocitos y osteoclastos; central en las formas sistémicas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IL-17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Linfocitos Th17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Recluta neutrófilos; amplifica la inflamación sinovial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espectro, no una sola enfermedad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distintos subtipos de AIJ se ubican en un espectro entre dos mecanismos inmunológicos: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454914" cy="640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Shape 4"/>
          <p:cNvSpPr/>
          <p:nvPr/>
        </p:nvSpPr>
        <p:spPr>
          <a:xfrm>
            <a:off x="1177290" y="2743200"/>
            <a:ext cx="454914" cy="640080"/>
          </a:xfrm>
          <a:prstGeom prst="rect">
            <a:avLst/>
          </a:prstGeom>
          <a:solidFill>
            <a:srgbClr val="273D5F"/>
          </a:solidFill>
          <a:ln/>
        </p:spPr>
      </p:sp>
      <p:sp>
        <p:nvSpPr>
          <p:cNvPr id="7" name="Shape 5"/>
          <p:cNvSpPr/>
          <p:nvPr/>
        </p:nvSpPr>
        <p:spPr>
          <a:xfrm>
            <a:off x="1623060" y="2743200"/>
            <a:ext cx="454914" cy="640080"/>
          </a:xfrm>
          <a:prstGeom prst="rect">
            <a:avLst/>
          </a:prstGeom>
          <a:solidFill>
            <a:srgbClr val="30405F"/>
          </a:solidFill>
          <a:ln/>
        </p:spPr>
      </p:sp>
      <p:sp>
        <p:nvSpPr>
          <p:cNvPr id="8" name="Shape 6"/>
          <p:cNvSpPr/>
          <p:nvPr/>
        </p:nvSpPr>
        <p:spPr>
          <a:xfrm>
            <a:off x="2068830" y="2743200"/>
            <a:ext cx="454914" cy="640080"/>
          </a:xfrm>
          <a:prstGeom prst="rect">
            <a:avLst/>
          </a:prstGeom>
          <a:solidFill>
            <a:srgbClr val="38425F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2743200"/>
            <a:ext cx="454914" cy="640080"/>
          </a:xfrm>
          <a:prstGeom prst="rect">
            <a:avLst/>
          </a:prstGeom>
          <a:solidFill>
            <a:srgbClr val="41455F"/>
          </a:solidFill>
          <a:ln/>
        </p:spPr>
      </p:sp>
      <p:sp>
        <p:nvSpPr>
          <p:cNvPr id="10" name="Shape 8"/>
          <p:cNvSpPr/>
          <p:nvPr/>
        </p:nvSpPr>
        <p:spPr>
          <a:xfrm>
            <a:off x="2960370" y="2743200"/>
            <a:ext cx="454914" cy="640080"/>
          </a:xfrm>
          <a:prstGeom prst="rect">
            <a:avLst/>
          </a:prstGeom>
          <a:solidFill>
            <a:srgbClr val="49485F"/>
          </a:solidFill>
          <a:ln/>
        </p:spPr>
      </p:sp>
      <p:sp>
        <p:nvSpPr>
          <p:cNvPr id="11" name="Shape 9"/>
          <p:cNvSpPr/>
          <p:nvPr/>
        </p:nvSpPr>
        <p:spPr>
          <a:xfrm>
            <a:off x="3406140" y="2743200"/>
            <a:ext cx="454914" cy="640080"/>
          </a:xfrm>
          <a:prstGeom prst="rect">
            <a:avLst/>
          </a:prstGeom>
          <a:solidFill>
            <a:srgbClr val="514B5F"/>
          </a:solidFill>
          <a:ln/>
        </p:spPr>
      </p:sp>
      <p:sp>
        <p:nvSpPr>
          <p:cNvPr id="12" name="Shape 10"/>
          <p:cNvSpPr/>
          <p:nvPr/>
        </p:nvSpPr>
        <p:spPr>
          <a:xfrm>
            <a:off x="3851910" y="2743200"/>
            <a:ext cx="454914" cy="640080"/>
          </a:xfrm>
          <a:prstGeom prst="rect">
            <a:avLst/>
          </a:prstGeom>
          <a:solidFill>
            <a:srgbClr val="5A4D5F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2743200"/>
            <a:ext cx="454914" cy="640080"/>
          </a:xfrm>
          <a:prstGeom prst="rect">
            <a:avLst/>
          </a:prstGeom>
          <a:solidFill>
            <a:srgbClr val="62505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43450" y="2743200"/>
            <a:ext cx="454914" cy="640080"/>
          </a:xfrm>
          <a:prstGeom prst="rect">
            <a:avLst/>
          </a:prstGeom>
          <a:solidFill>
            <a:srgbClr val="6B535F"/>
          </a:solidFill>
          <a:ln/>
        </p:spPr>
      </p:sp>
      <p:sp>
        <p:nvSpPr>
          <p:cNvPr id="15" name="Shape 13"/>
          <p:cNvSpPr/>
          <p:nvPr/>
        </p:nvSpPr>
        <p:spPr>
          <a:xfrm>
            <a:off x="5189220" y="2743200"/>
            <a:ext cx="454914" cy="640080"/>
          </a:xfrm>
          <a:prstGeom prst="rect">
            <a:avLst/>
          </a:prstGeom>
          <a:solidFill>
            <a:srgbClr val="73565F"/>
          </a:solidFill>
          <a:ln/>
        </p:spPr>
      </p:sp>
      <p:sp>
        <p:nvSpPr>
          <p:cNvPr id="16" name="Shape 14"/>
          <p:cNvSpPr/>
          <p:nvPr/>
        </p:nvSpPr>
        <p:spPr>
          <a:xfrm>
            <a:off x="5634990" y="2743200"/>
            <a:ext cx="454914" cy="640080"/>
          </a:xfrm>
          <a:prstGeom prst="rect">
            <a:avLst/>
          </a:prstGeom>
          <a:solidFill>
            <a:srgbClr val="7B595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2743200"/>
            <a:ext cx="454914" cy="640080"/>
          </a:xfrm>
          <a:prstGeom prst="rect">
            <a:avLst/>
          </a:prstGeom>
          <a:solidFill>
            <a:srgbClr val="845B5F"/>
          </a:solidFill>
          <a:ln/>
        </p:spPr>
      </p:sp>
      <p:sp>
        <p:nvSpPr>
          <p:cNvPr id="18" name="Shape 16"/>
          <p:cNvSpPr/>
          <p:nvPr/>
        </p:nvSpPr>
        <p:spPr>
          <a:xfrm>
            <a:off x="6526530" y="2743200"/>
            <a:ext cx="454914" cy="640080"/>
          </a:xfrm>
          <a:prstGeom prst="rect">
            <a:avLst/>
          </a:prstGeom>
          <a:solidFill>
            <a:srgbClr val="8C5E5F"/>
          </a:solidFill>
          <a:ln/>
        </p:spPr>
      </p:sp>
      <p:sp>
        <p:nvSpPr>
          <p:cNvPr id="19" name="Shape 17"/>
          <p:cNvSpPr/>
          <p:nvPr/>
        </p:nvSpPr>
        <p:spPr>
          <a:xfrm>
            <a:off x="6972300" y="2743200"/>
            <a:ext cx="454914" cy="640080"/>
          </a:xfrm>
          <a:prstGeom prst="rect">
            <a:avLst/>
          </a:prstGeom>
          <a:solidFill>
            <a:srgbClr val="94615F"/>
          </a:solidFill>
          <a:ln/>
        </p:spPr>
      </p:sp>
      <p:sp>
        <p:nvSpPr>
          <p:cNvPr id="20" name="Shape 18"/>
          <p:cNvSpPr/>
          <p:nvPr/>
        </p:nvSpPr>
        <p:spPr>
          <a:xfrm>
            <a:off x="7418070" y="2743200"/>
            <a:ext cx="454914" cy="640080"/>
          </a:xfrm>
          <a:prstGeom prst="rect">
            <a:avLst/>
          </a:prstGeom>
          <a:solidFill>
            <a:srgbClr val="9D645F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0" y="2743200"/>
            <a:ext cx="454914" cy="640080"/>
          </a:xfrm>
          <a:prstGeom prst="rect">
            <a:avLst/>
          </a:prstGeom>
          <a:solidFill>
            <a:srgbClr val="A5675F"/>
          </a:solidFill>
          <a:ln/>
        </p:spPr>
      </p:sp>
      <p:sp>
        <p:nvSpPr>
          <p:cNvPr id="22" name="Shape 20"/>
          <p:cNvSpPr/>
          <p:nvPr/>
        </p:nvSpPr>
        <p:spPr>
          <a:xfrm>
            <a:off x="8309610" y="2743200"/>
            <a:ext cx="454914" cy="640080"/>
          </a:xfrm>
          <a:prstGeom prst="rect">
            <a:avLst/>
          </a:prstGeom>
          <a:solidFill>
            <a:srgbClr val="AE695F"/>
          </a:solidFill>
          <a:ln/>
        </p:spPr>
      </p:sp>
      <p:sp>
        <p:nvSpPr>
          <p:cNvPr id="23" name="Shape 21"/>
          <p:cNvSpPr/>
          <p:nvPr/>
        </p:nvSpPr>
        <p:spPr>
          <a:xfrm>
            <a:off x="8755380" y="2743200"/>
            <a:ext cx="454914" cy="640080"/>
          </a:xfrm>
          <a:prstGeom prst="rect">
            <a:avLst/>
          </a:prstGeom>
          <a:solidFill>
            <a:srgbClr val="B66C5F"/>
          </a:solidFill>
          <a:ln/>
        </p:spPr>
      </p:sp>
      <p:sp>
        <p:nvSpPr>
          <p:cNvPr id="24" name="Shape 22"/>
          <p:cNvSpPr/>
          <p:nvPr/>
        </p:nvSpPr>
        <p:spPr>
          <a:xfrm>
            <a:off x="9201150" y="2743200"/>
            <a:ext cx="454914" cy="640080"/>
          </a:xfrm>
          <a:prstGeom prst="rect">
            <a:avLst/>
          </a:prstGeom>
          <a:solidFill>
            <a:srgbClr val="BE6F5F"/>
          </a:solidFill>
          <a:ln/>
        </p:spPr>
      </p:sp>
      <p:sp>
        <p:nvSpPr>
          <p:cNvPr id="25" name="Shape 23"/>
          <p:cNvSpPr/>
          <p:nvPr/>
        </p:nvSpPr>
        <p:spPr>
          <a:xfrm>
            <a:off x="9646920" y="2743200"/>
            <a:ext cx="454914" cy="640080"/>
          </a:xfrm>
          <a:prstGeom prst="rect">
            <a:avLst/>
          </a:prstGeom>
          <a:solidFill>
            <a:srgbClr val="C7725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92690" y="2743200"/>
            <a:ext cx="454914" cy="640080"/>
          </a:xfrm>
          <a:prstGeom prst="rect">
            <a:avLst/>
          </a:prstGeom>
          <a:solidFill>
            <a:srgbClr val="CF745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38460" y="2743200"/>
            <a:ext cx="454914" cy="640080"/>
          </a:xfrm>
          <a:prstGeom prst="rect">
            <a:avLst/>
          </a:prstGeom>
          <a:solidFill>
            <a:srgbClr val="D8775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84230" y="2743200"/>
            <a:ext cx="454914" cy="6400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AUTOINFLAMATORIA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(inmunidad innata)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AUTOINMUNE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(inmunidad adaptativa)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73429" y="3383280"/>
            <a:ext cx="0" cy="32004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0469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Sistémica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55034" y="3383280"/>
            <a:ext cx="0" cy="32004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32074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Oligoarticular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94730" y="3383280"/>
            <a:ext cx="0" cy="32004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7177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Entesitis-relacionada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6486" y="3383280"/>
            <a:ext cx="0" cy="32004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83526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Psoriásica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574122" y="3383280"/>
            <a:ext cx="0" cy="32004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51162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Poliarticular FR+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formas sistémicas comparten más mecanismos con las enfermedades autoinflamatorias que con la artritis reumatoide del adulto.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SISTÉMICA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AIJ sistémica: un mecanismo distinto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92640" y="1828800"/>
            <a:ext cx="1554480" cy="155448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5" name="Image 0" descr="/home/claude/aij_icons/autoinflamato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1488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202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las formas autoinmunes, la AIJ sistémica (enfermedad de Still) es una enfermedad </a:t>
            </a: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autoinflamatoria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activación es de la inmunidad innata (macrófagos), sin autoanticuerpos ni linfocitos T como protagonistas.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128016" cy="12801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31821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descontrolada de macrófagos e inflamosoma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128016" cy="12801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8679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Predominio de IL-1β e IL-18 como citocinas centrales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709160"/>
            <a:ext cx="128016" cy="12801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45537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Manifestaciones sistémicas: fiebre en agujas, exantema evanescente, serositis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3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COMPLICACIÓN GRAVE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Síndrome de activación macrofágica (SAM)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84080" y="1828800"/>
            <a:ext cx="1463040" cy="14630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5" name="Image 0" descr="/home/claude/aij_icons/aler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2121408"/>
            <a:ext cx="877824" cy="877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2024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Complicación potencialmente mortal de la AIJ sistémica, causada por una </a:t>
            </a: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hiperactivación descontrolada de macrófagos y linfocitos T citotóxicos</a:t>
            </a:r>
            <a:r>
              <a:rPr lang="en-US" sz="1550" dirty="0">
                <a:solidFill>
                  <a:srgbClr val="F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una tormenta de citocinas (IL-18 muy elevada).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338328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C1272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3832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Sospechar ante: fiebre persistente, caída súbita de la VSG, citopenias, hiperferritinemia marcada e hipofibrinogenemia.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434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D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reconocimiento y tratamiento urgentes: inmunosupresión intensiva (glucocorticoides en altas dosis, ciclosporina, anti-IL-1/IL-6).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Autoanticuerpos y marcadores inmunogenéticos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DF0E9"/>
          </a:solidFill>
          <a:ln w="12700">
            <a:solidFill>
              <a:srgbClr val="F0DC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6" name="Image 0" descr="/home/claude/aij_icons/anti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reumatoide (FR)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en la poliarticular FR+; comparte mecanismos con la artritis reumatoide del adulto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0DC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148840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1" name="Image 1" descr="/home/claude/aij_icons/oj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258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Anticuerpos antinucleares (ANA)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5661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Frecuentes en la oligoarticular; marcador de riesgo de uveítis crónica anterior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DF0E9"/>
          </a:solidFill>
          <a:ln w="12700">
            <a:solidFill>
              <a:srgbClr val="F0DC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03920" y="214884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16" name="Image 2" descr="/home/claude/aij_icons/geneti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22585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392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HLA-B27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35661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Asociado a la artritis relacionada con entesitis; mecanismo distinto, vinculado a inmunidad de mucosas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proceso inflamatorio al daño estructural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5" name="Image 0" descr="/home/claude/aij_icons/hue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75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articular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18745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Erosión de cartílago y hueso; con el tiempo, anquilosis articular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9" name="Image 1" descr="/home/claude/aij_icons/hue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644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063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Alteraciones del crecimiento óseo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937760" y="30632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inflamación crónica cerca de las placas de crecimiento puede acelerar o alterar el crecimiento local del hueso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13" name="Image 2" descr="/home/claude/aij_icons/oj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4531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4251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Uveítis crónica anterior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937760" y="42519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Inflamación ocular asintomática por mecanismos inmunes compartidos; requiere control oftalmológico periódico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3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clave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745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AIJ no es una enfermedad única, sino un grupo heterogéneo de artritis con inicio antes de los 16 años.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5603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 central en las formas autoinmunes es la activación de linfocitos T CD4+ autorreactivos.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461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cascada de citocinas (TNF-α, IL-6, IL-1β, IL-17) sostiene la inflamación sinovial y forma el pannus.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319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subtipos se distribuyen en un espectro entre lo autoinflamatorio (innato) y lo autoinmune (adaptativo).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177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AIJ sistémica tiene una fisiopatología autoinflamatoria distinta, con riesgo de síndrome de activación macrofágica.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292608" cy="29260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34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3035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inflamatorio crónico puede dañar el cartílago, alterar el crecimiento óseo y causar uveítis.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erre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E07A5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C1272D">
              <a:alpha val="40000"/>
            </a:srgbClr>
          </a:solidFill>
          <a:ln/>
        </p:spPr>
      </p:sp>
      <p:sp>
        <p:nvSpPr>
          <p:cNvPr id="10" name="Text Gracias"/>
          <p:cNvSpPr txBox="1"/>
          <p:nvPr/>
        </p:nvSpPr>
        <p:spPr>
          <a:xfrm>
            <a:off x="685800" y="2779395"/>
            <a:ext cx="10820400" cy="129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¡Muchas gracias por su atención!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15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Mariela Araujo</cp:lastModifiedBy>
  <cp:revision>4</cp:revision>
  <dcterms:created xsi:type="dcterms:W3CDTF">2026-08-31T09:39:15Z</dcterms:created>
  <dcterms:modified xsi:type="dcterms:W3CDTF">2026-09-09T13:18:19Z</dcterms:modified>
</cp:coreProperties>
</file>