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303" r:id="rId2"/>
    <p:sldId id="304" r:id="rId3"/>
    <p:sldId id="306" r:id="rId4"/>
    <p:sldId id="310" r:id="rId5"/>
    <p:sldId id="262" r:id="rId6"/>
    <p:sldId id="308" r:id="rId7"/>
    <p:sldId id="273" r:id="rId8"/>
    <p:sldId id="257" r:id="rId9"/>
    <p:sldId id="294" r:id="rId10"/>
    <p:sldId id="258" r:id="rId11"/>
    <p:sldId id="264" r:id="rId12"/>
    <p:sldId id="266" r:id="rId13"/>
    <p:sldId id="313" r:id="rId14"/>
    <p:sldId id="268" r:id="rId15"/>
    <p:sldId id="317" r:id="rId16"/>
    <p:sldId id="319" r:id="rId17"/>
    <p:sldId id="275" r:id="rId18"/>
    <p:sldId id="276" r:id="rId19"/>
    <p:sldId id="267" r:id="rId20"/>
    <p:sldId id="278" r:id="rId21"/>
    <p:sldId id="322" r:id="rId22"/>
    <p:sldId id="280" r:id="rId23"/>
    <p:sldId id="281" r:id="rId24"/>
    <p:sldId id="282" r:id="rId25"/>
    <p:sldId id="283" r:id="rId26"/>
    <p:sldId id="286" r:id="rId27"/>
    <p:sldId id="287" r:id="rId28"/>
    <p:sldId id="288" r:id="rId29"/>
    <p:sldId id="321" r:id="rId30"/>
    <p:sldId id="295" r:id="rId31"/>
    <p:sldId id="296" r:id="rId32"/>
    <p:sldId id="297" r:id="rId33"/>
    <p:sldId id="298" r:id="rId34"/>
    <p:sldId id="299" r:id="rId35"/>
    <p:sldId id="300" r:id="rId36"/>
    <p:sldId id="30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uario" initials="u" lastIdx="3" clrIdx="0">
    <p:extLst>
      <p:ext uri="{19B8F6BF-5375-455C-9EA6-DF929625EA0E}">
        <p15:presenceInfo xmlns:p15="http://schemas.microsoft.com/office/powerpoint/2012/main" userId="usuari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dirty="0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dirty="0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dirty="0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dirty="0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dirty="0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825625"/>
          </a:xfrm>
        </p:spPr>
        <p:txBody>
          <a:bodyPr>
            <a:normAutofit fontScale="90000"/>
          </a:bodyPr>
          <a:lstStyle/>
          <a:p>
            <a:pPr algn="ctr"/>
            <a:r>
              <a:rPr lang="es" sz="6000" dirty="0"/>
              <a:t> </a:t>
            </a:r>
            <a:r>
              <a:rPr lang="es" sz="6000" dirty="0" smtClean="0"/>
              <a:t/>
            </a:r>
            <a:br>
              <a:rPr lang="es" sz="6000" dirty="0" smtClean="0"/>
            </a:br>
            <a:r>
              <a:rPr lang="es" sz="6000" dirty="0"/>
              <a:t/>
            </a:r>
            <a:br>
              <a:rPr lang="es" sz="6000" dirty="0"/>
            </a:br>
            <a:r>
              <a:rPr lang="es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CÁTEDRA </a:t>
            </a:r>
            <a:r>
              <a:rPr lang="es" sz="3600" b="1" dirty="0">
                <a:latin typeface="Arial" panose="020B0604020202020204" pitchFamily="34" charset="0"/>
                <a:cs typeface="Arial" panose="020B0604020202020204" pitchFamily="34" charset="0"/>
              </a:rPr>
              <a:t>DE MEDICINA INTERNA III</a:t>
            </a:r>
            <a:br>
              <a:rPr lang="es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" sz="3600" b="1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s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AR" sz="36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32752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s" sz="5400" dirty="0"/>
              <a:t> </a:t>
            </a:r>
            <a:r>
              <a:rPr lang="es" sz="5400" b="1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s" sz="5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" sz="31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ENDOCRINOLOGÍA – DIABETOLOGÍA</a:t>
            </a:r>
          </a:p>
          <a:p>
            <a:pPr marL="0" indent="0" algn="ctr">
              <a:buNone/>
            </a:pPr>
            <a:r>
              <a:rPr lang="es" sz="3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s" sz="3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DOCENTES</a:t>
            </a:r>
            <a:r>
              <a:rPr lang="es" sz="2400" b="1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s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" sz="5400" b="1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s" sz="5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 Roberto Mario Pelayes -  Profesor Adjunto a cargo</a:t>
            </a:r>
            <a:r>
              <a:rPr lang="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 </a:t>
            </a:r>
            <a:r>
              <a:rPr lang="e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Jorge Federico Baldovino -  Jefe </a:t>
            </a:r>
            <a:r>
              <a:rPr lang="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Trabajos Prácticos</a:t>
            </a:r>
            <a:br>
              <a:rPr lang="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 Malco Rubín -  Jefe </a:t>
            </a:r>
            <a:r>
              <a:rPr lang="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Trabajos </a:t>
            </a:r>
            <a:r>
              <a:rPr lang="e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Prácticos</a:t>
            </a:r>
          </a:p>
          <a:p>
            <a:pPr marL="0" indent="0" algn="ctr">
              <a:buNone/>
            </a:pPr>
            <a:r>
              <a:rPr lang="e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 Franco Bellomo - Jefe de Trabajos P</a:t>
            </a:r>
            <a:r>
              <a:rPr lang="es-AR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rácticos</a:t>
            </a:r>
            <a:endParaRPr lang="es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AR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07" y="570086"/>
            <a:ext cx="1854558" cy="120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396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¿Qué es el Sistema Endocrino?</a:t>
            </a:r>
          </a:p>
          <a:p>
            <a:endParaRPr lang="es-MX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¿Qué estudia la Endocrinología?</a:t>
            </a:r>
          </a:p>
          <a:p>
            <a:pPr marL="0" indent="0">
              <a:buNone/>
            </a:pPr>
            <a:endParaRPr lang="es-MX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¿Qué es una Hormona?</a:t>
            </a:r>
            <a:endParaRPr lang="es-A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25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5641"/>
          </a:xfrm>
        </p:spPr>
        <p:txBody>
          <a:bodyPr>
            <a:normAutofit/>
          </a:bodyPr>
          <a:lstStyle/>
          <a:p>
            <a:pPr algn="ctr"/>
            <a:r>
              <a:rPr lang="es-AR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GLÁNDULAS </a:t>
            </a:r>
            <a:endParaRPr lang="es-AR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838200" y="1481070"/>
            <a:ext cx="10515600" cy="51129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altLang="es-AR" sz="2400" b="1" dirty="0" smtClean="0">
                <a:latin typeface="Arial" panose="020B0604020202020204" pitchFamily="34" charset="0"/>
              </a:rPr>
              <a:t>En </a:t>
            </a:r>
            <a:r>
              <a:rPr lang="es-ES" altLang="es-AR" sz="2400" b="1" dirty="0">
                <a:latin typeface="Arial" panose="020B0604020202020204" pitchFamily="34" charset="0"/>
              </a:rPr>
              <a:t>nuestro organismo existen </a:t>
            </a:r>
            <a:r>
              <a:rPr lang="es-ES" altLang="es-AR" sz="2400" b="1" dirty="0" smtClean="0">
                <a:latin typeface="Arial" panose="020B0604020202020204" pitchFamily="34" charset="0"/>
              </a:rPr>
              <a:t>tres </a:t>
            </a:r>
            <a:r>
              <a:rPr lang="es-ES" altLang="es-AR" sz="2400" b="1" dirty="0">
                <a:latin typeface="Arial" panose="020B0604020202020204" pitchFamily="34" charset="0"/>
              </a:rPr>
              <a:t>tipos de </a:t>
            </a:r>
            <a:r>
              <a:rPr lang="es-ES" altLang="es-AR" sz="2400" b="1" dirty="0" smtClean="0">
                <a:latin typeface="Arial" panose="020B0604020202020204" pitchFamily="34" charset="0"/>
              </a:rPr>
              <a:t>glándulas:</a:t>
            </a:r>
          </a:p>
          <a:p>
            <a:pPr marL="0" indent="0">
              <a:buNone/>
            </a:pPr>
            <a:endParaRPr lang="es-ES" altLang="es-AR" sz="2400" b="1" dirty="0">
              <a:latin typeface="Arial" panose="020B0604020202020204" pitchFamily="34" charset="0"/>
            </a:endParaRPr>
          </a:p>
          <a:p>
            <a:pPr algn="just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s-ES" altLang="es-AR" sz="2400" b="1" dirty="0" smtClean="0">
                <a:latin typeface="Arial" panose="020B0604020202020204" pitchFamily="34" charset="0"/>
              </a:rPr>
              <a:t> Glándulas </a:t>
            </a:r>
            <a:r>
              <a:rPr lang="es-ES" altLang="es-AR" sz="2400" b="1" dirty="0">
                <a:latin typeface="Arial" panose="020B0604020202020204" pitchFamily="34" charset="0"/>
              </a:rPr>
              <a:t>exocrinas: </a:t>
            </a:r>
            <a:endParaRPr lang="es-ES" altLang="es-AR" sz="2400" b="1" dirty="0" smtClean="0">
              <a:latin typeface="Arial" panose="020B0604020202020204" pitchFamily="34" charset="0"/>
            </a:endParaRPr>
          </a:p>
          <a:p>
            <a:pPr marL="0" indent="0" algn="just">
              <a:spcBef>
                <a:spcPct val="50000"/>
              </a:spcBef>
              <a:buNone/>
            </a:pPr>
            <a:r>
              <a:rPr lang="es-ES" altLang="es-AR" sz="2400" b="1" dirty="0" smtClean="0">
                <a:latin typeface="Arial" panose="020B0604020202020204" pitchFamily="34" charset="0"/>
              </a:rPr>
              <a:t>    Vierten </a:t>
            </a:r>
            <a:r>
              <a:rPr lang="es-ES" altLang="es-AR" sz="2400" b="1" dirty="0">
                <a:latin typeface="Arial" panose="020B0604020202020204" pitchFamily="34" charset="0"/>
              </a:rPr>
              <a:t>su contenido al exterior o al interior del tubo </a:t>
            </a:r>
            <a:r>
              <a:rPr lang="es-ES" altLang="es-AR" sz="2400" b="1" dirty="0" smtClean="0">
                <a:latin typeface="Arial" panose="020B0604020202020204" pitchFamily="34" charset="0"/>
              </a:rPr>
              <a:t>digestivo (sudoríparas</a:t>
            </a:r>
            <a:r>
              <a:rPr lang="es-ES" altLang="es-AR" sz="2400" b="1" dirty="0">
                <a:latin typeface="Arial" panose="020B0604020202020204" pitchFamily="34" charset="0"/>
              </a:rPr>
              <a:t>, sebáceas, </a:t>
            </a:r>
            <a:r>
              <a:rPr lang="es-ES" altLang="es-AR" sz="2400" b="1" dirty="0" smtClean="0">
                <a:latin typeface="Arial" panose="020B0604020202020204" pitchFamily="34" charset="0"/>
              </a:rPr>
              <a:t>salivares, páncreas)</a:t>
            </a:r>
            <a:endParaRPr lang="es-ES" altLang="es-AR" sz="2400" b="1" dirty="0">
              <a:latin typeface="Arial" panose="020B0604020202020204" pitchFamily="34" charset="0"/>
            </a:endParaRPr>
          </a:p>
          <a:p>
            <a:pPr algn="just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s-ES" altLang="es-AR" sz="2400" b="1" dirty="0" smtClean="0">
                <a:latin typeface="Arial" panose="020B0604020202020204" pitchFamily="34" charset="0"/>
              </a:rPr>
              <a:t> Glándulas endocrinas </a:t>
            </a:r>
            <a:r>
              <a:rPr lang="es-ES" altLang="es-AR" sz="2400" b="1" dirty="0">
                <a:latin typeface="Arial" panose="020B0604020202020204" pitchFamily="34" charset="0"/>
              </a:rPr>
              <a:t>o de secreción interna</a:t>
            </a:r>
            <a:r>
              <a:rPr lang="es-ES" altLang="es-AR" sz="2400" b="1" dirty="0" smtClean="0">
                <a:latin typeface="Arial" panose="020B0604020202020204" pitchFamily="34" charset="0"/>
              </a:rPr>
              <a:t>:</a:t>
            </a:r>
          </a:p>
          <a:p>
            <a:pPr marL="0" indent="0" algn="just">
              <a:spcBef>
                <a:spcPct val="50000"/>
              </a:spcBef>
              <a:buNone/>
            </a:pPr>
            <a:r>
              <a:rPr lang="es-ES" altLang="es-AR" sz="2400" b="1" dirty="0">
                <a:latin typeface="Arial" panose="020B0604020202020204" pitchFamily="34" charset="0"/>
              </a:rPr>
              <a:t>V</a:t>
            </a:r>
            <a:r>
              <a:rPr lang="es-ES" altLang="es-AR" sz="2400" b="1" dirty="0" smtClean="0">
                <a:latin typeface="Arial" panose="020B0604020202020204" pitchFamily="34" charset="0"/>
              </a:rPr>
              <a:t>ierten </a:t>
            </a:r>
            <a:r>
              <a:rPr lang="es-ES" altLang="es-AR" sz="2400" b="1" dirty="0">
                <a:latin typeface="Arial" panose="020B0604020202020204" pitchFamily="34" charset="0"/>
              </a:rPr>
              <a:t>su contenido a la sangre. Son las productoras de hormonas.</a:t>
            </a:r>
          </a:p>
          <a:p>
            <a:pPr algn="just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s-ES" altLang="es-AR" sz="2400" b="1" dirty="0" smtClean="0">
                <a:latin typeface="Arial" panose="020B0604020202020204" pitchFamily="34" charset="0"/>
              </a:rPr>
              <a:t> Glándulas mixtas:</a:t>
            </a:r>
          </a:p>
          <a:p>
            <a:pPr marL="0" indent="0" algn="just">
              <a:spcBef>
                <a:spcPct val="50000"/>
              </a:spcBef>
              <a:buNone/>
            </a:pPr>
            <a:r>
              <a:rPr lang="es-ES" altLang="es-AR" sz="2400" b="1" dirty="0">
                <a:latin typeface="Arial" panose="020B0604020202020204" pitchFamily="34" charset="0"/>
              </a:rPr>
              <a:t>P</a:t>
            </a:r>
            <a:r>
              <a:rPr lang="es-ES" altLang="es-AR" sz="2400" b="1" dirty="0" smtClean="0">
                <a:latin typeface="Arial" panose="020B0604020202020204" pitchFamily="34" charset="0"/>
              </a:rPr>
              <a:t>áncreas</a:t>
            </a:r>
            <a:r>
              <a:rPr lang="es-ES" altLang="es-AR" sz="2400" b="1" dirty="0">
                <a:latin typeface="Arial" panose="020B0604020202020204" pitchFamily="34" charset="0"/>
              </a:rPr>
              <a:t>, que expulsa al interior del intestino delgado el jugo pancreático y libera a la sangre dos hormonas: insulina y glucagón.</a:t>
            </a:r>
          </a:p>
          <a:p>
            <a:endParaRPr lang="es-AR" sz="2400" b="1" dirty="0"/>
          </a:p>
        </p:txBody>
      </p:sp>
    </p:spTree>
    <p:extLst>
      <p:ext uri="{BB962C8B-B14F-4D97-AF65-F5344CB8AC3E}">
        <p14:creationId xmlns:p14="http://schemas.microsoft.com/office/powerpoint/2010/main" val="38259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53036" y="365126"/>
            <a:ext cx="10400763" cy="510638"/>
          </a:xfrm>
        </p:spPr>
        <p:txBody>
          <a:bodyPr>
            <a:noAutofit/>
          </a:bodyPr>
          <a:lstStyle/>
          <a:p>
            <a:pPr algn="ctr"/>
            <a:r>
              <a:rPr lang="es-AR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HIPOTÁLAMO</a:t>
            </a:r>
            <a:endParaRPr lang="es-AR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004552"/>
            <a:ext cx="10515600" cy="2975020"/>
          </a:xfrm>
          <a:ln w="38100">
            <a:solidFill>
              <a:schemeClr val="tx1"/>
            </a:solidFill>
          </a:ln>
        </p:spPr>
        <p:txBody>
          <a:bodyPr>
            <a:normAutofit fontScale="40000" lnSpcReduction="20000"/>
          </a:bodyPr>
          <a:lstStyle/>
          <a:p>
            <a:pPr marL="0" indent="0" algn="just">
              <a:spcBef>
                <a:spcPct val="50000"/>
              </a:spcBef>
              <a:buNone/>
            </a:pPr>
            <a:r>
              <a:rPr lang="es-ES" altLang="es-AR" sz="2400" dirty="0" smtClean="0">
                <a:solidFill>
                  <a:srgbClr val="460046"/>
                </a:solidFill>
                <a:latin typeface="Arial" panose="020B0604020202020204" pitchFamily="34" charset="0"/>
              </a:rPr>
              <a:t> </a:t>
            </a:r>
          </a:p>
          <a:p>
            <a:pPr algn="just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s-ES" altLang="es-AR" sz="5100" b="1" dirty="0" smtClean="0">
                <a:latin typeface="Arial" panose="020B0604020202020204" pitchFamily="34" charset="0"/>
              </a:rPr>
              <a:t>La </a:t>
            </a:r>
            <a:r>
              <a:rPr lang="es-ES" altLang="es-AR" sz="5100" b="1" dirty="0">
                <a:latin typeface="Arial" panose="020B0604020202020204" pitchFamily="34" charset="0"/>
              </a:rPr>
              <a:t>secreción hipofisaria está controlada por el hipotálamo mediante</a:t>
            </a:r>
            <a:r>
              <a:rPr lang="es-ES" altLang="es-AR" sz="5100" b="1" dirty="0" smtClean="0">
                <a:latin typeface="Arial" panose="020B0604020202020204" pitchFamily="34" charset="0"/>
              </a:rPr>
              <a:t>:</a:t>
            </a:r>
          </a:p>
          <a:p>
            <a:pPr marL="0" indent="0" algn="just">
              <a:spcBef>
                <a:spcPct val="50000"/>
              </a:spcBef>
              <a:buNone/>
            </a:pPr>
            <a:endParaRPr lang="es-ES" altLang="es-AR" sz="5100" b="1" dirty="0">
              <a:latin typeface="Arial" panose="020B0604020202020204" pitchFamily="34" charset="0"/>
            </a:endParaRPr>
          </a:p>
          <a:p>
            <a:pPr algn="just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s-ES" altLang="es-AR" sz="5100" b="1" dirty="0" smtClean="0">
                <a:latin typeface="Arial" panose="020B0604020202020204" pitchFamily="34" charset="0"/>
              </a:rPr>
              <a:t>fibras </a:t>
            </a:r>
            <a:r>
              <a:rPr lang="es-ES" altLang="es-AR" sz="5100" b="1" dirty="0">
                <a:latin typeface="Arial" panose="020B0604020202020204" pitchFamily="34" charset="0"/>
              </a:rPr>
              <a:t>nerviosas que van a la </a:t>
            </a:r>
            <a:r>
              <a:rPr lang="es-ES" altLang="es-AR" sz="5100" b="1" u="sng" dirty="0" err="1">
                <a:solidFill>
                  <a:srgbClr val="FFFF00"/>
                </a:solidFill>
                <a:latin typeface="Arial" panose="020B0604020202020204" pitchFamily="34" charset="0"/>
              </a:rPr>
              <a:t>neurohipófisis</a:t>
            </a:r>
            <a:r>
              <a:rPr lang="es-ES" altLang="es-AR" sz="5100" b="1" u="sng" dirty="0" smtClean="0">
                <a:solidFill>
                  <a:srgbClr val="FFFF00"/>
                </a:solidFill>
                <a:latin typeface="Arial" panose="020B0604020202020204" pitchFamily="34" charset="0"/>
              </a:rPr>
              <a:t>.</a:t>
            </a:r>
          </a:p>
          <a:p>
            <a:pPr marL="0" indent="0" algn="just">
              <a:spcBef>
                <a:spcPct val="50000"/>
              </a:spcBef>
              <a:buNone/>
            </a:pPr>
            <a:endParaRPr lang="es-ES" altLang="es-AR" sz="5100" b="1" dirty="0">
              <a:latin typeface="Arial" panose="020B0604020202020204" pitchFamily="34" charset="0"/>
            </a:endParaRPr>
          </a:p>
          <a:p>
            <a:pPr algn="just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s-ES" altLang="es-AR" sz="5100" b="1" dirty="0" smtClean="0">
                <a:latin typeface="Arial" panose="020B0604020202020204" pitchFamily="34" charset="0"/>
              </a:rPr>
              <a:t>hormonas </a:t>
            </a:r>
            <a:r>
              <a:rPr lang="es-ES" altLang="es-AR" sz="5100" b="1" dirty="0">
                <a:latin typeface="Arial" panose="020B0604020202020204" pitchFamily="34" charset="0"/>
              </a:rPr>
              <a:t>conducidas hasta la </a:t>
            </a:r>
            <a:r>
              <a:rPr lang="es-ES" altLang="es-AR" sz="5100" b="1" u="sng" dirty="0">
                <a:solidFill>
                  <a:srgbClr val="FFFF00"/>
                </a:solidFill>
                <a:latin typeface="Arial" panose="020B0604020202020204" pitchFamily="34" charset="0"/>
              </a:rPr>
              <a:t>adenohipófisis</a:t>
            </a:r>
            <a:r>
              <a:rPr lang="es-ES" altLang="es-AR" sz="5100" b="1" dirty="0">
                <a:solidFill>
                  <a:srgbClr val="FFFF00"/>
                </a:solidFill>
                <a:latin typeface="Arial" panose="020B0604020202020204" pitchFamily="34" charset="0"/>
              </a:rPr>
              <a:t>.</a:t>
            </a:r>
            <a:r>
              <a:rPr lang="es-ES" altLang="es-AR" sz="5100" b="1" dirty="0">
                <a:latin typeface="Arial" panose="020B0604020202020204" pitchFamily="34" charset="0"/>
              </a:rPr>
              <a:t> Son factores liberadores o inhibidores de la secreción, regulados negativamente por las hormonas finales.</a:t>
            </a:r>
          </a:p>
          <a:p>
            <a:pPr marL="0" indent="0">
              <a:buNone/>
            </a:pPr>
            <a:endParaRPr lang="es-AR" b="1" dirty="0"/>
          </a:p>
        </p:txBody>
      </p:sp>
      <p:pic>
        <p:nvPicPr>
          <p:cNvPr id="4" name="Picture 2" descr="http://2.bp.blogspot.com/_GXSCc6LiUb0/S7JscEKNwqI/AAAAAAAAACk/LfRIXPysTNo/s1600/hipo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5634" y="4301544"/>
            <a:ext cx="3979572" cy="2305318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4061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1800" b="1" dirty="0">
                <a:latin typeface="Arial" panose="020B0604020202020204" pitchFamily="34" charset="0"/>
                <a:cs typeface="Arial" panose="020B0604020202020204" pitchFamily="34" charset="0"/>
              </a:rPr>
              <a:t>Las hormonas </a:t>
            </a:r>
            <a:r>
              <a:rPr lang="es-E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hipotalámicas:</a:t>
            </a:r>
          </a:p>
          <a:p>
            <a:pPr marL="0" indent="0">
              <a:buNone/>
            </a:pPr>
            <a:endParaRPr lang="es-E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s-E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No 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pasan primero a la circulación </a:t>
            </a:r>
            <a:r>
              <a:rPr lang="es-E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sistémica </a:t>
            </a:r>
          </a:p>
          <a:p>
            <a:pPr marL="0" indent="0">
              <a:buNone/>
            </a:pPr>
            <a:endParaRPr lang="es-E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s-E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llegan 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directamente a la </a:t>
            </a:r>
            <a:r>
              <a:rPr lang="es-ES" sz="1800" dirty="0" err="1">
                <a:latin typeface="Arial" panose="020B0604020202020204" pitchFamily="34" charset="0"/>
                <a:cs typeface="Arial" panose="020B0604020202020204" pitchFamily="34" charset="0"/>
              </a:rPr>
              <a:t>adenohipófisis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mediante el sistema porta</a:t>
            </a:r>
            <a:r>
              <a:rPr lang="es-E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marL="0" indent="0">
              <a:buNone/>
            </a:pPr>
            <a:endParaRPr lang="es-E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s-E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lo 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que permite una regulación muy eficiente incluso con concentraciones muy bajas.</a:t>
            </a:r>
          </a:p>
          <a:p>
            <a:pPr marL="0" indent="0">
              <a:buNone/>
            </a:pP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823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330" y="1847711"/>
            <a:ext cx="3103808" cy="4728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ángulo 6"/>
          <p:cNvSpPr/>
          <p:nvPr/>
        </p:nvSpPr>
        <p:spPr>
          <a:xfrm>
            <a:off x="5871847" y="1847711"/>
            <a:ext cx="5705340" cy="3139321"/>
          </a:xfrm>
          <a:prstGeom prst="rect">
            <a:avLst/>
          </a:prstGeom>
          <a:ln w="57150">
            <a:solidFill>
              <a:schemeClr val="tx1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s-ES" alt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s-ES" altLang="es-AR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hipófisis </a:t>
            </a:r>
            <a:r>
              <a:rPr lang="es-ES" alt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produce hormona estimulante (SH)</a:t>
            </a:r>
          </a:p>
          <a:p>
            <a:endParaRPr lang="es-ES" altLang="es-A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altLang="es-AR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altLang="es-A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Cuando </a:t>
            </a:r>
            <a:r>
              <a:rPr lang="es-ES" alt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s-ES" altLang="es-AR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glándula</a:t>
            </a:r>
            <a:r>
              <a:rPr lang="es-ES" alt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 empieza a recibir SH, comienza a producir </a:t>
            </a:r>
            <a:r>
              <a:rPr lang="es-ES" altLang="es-AR" sz="20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hormona</a:t>
            </a:r>
            <a:r>
              <a:rPr lang="es-ES" altLang="es-AR" sz="2000" b="1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alt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con </a:t>
            </a:r>
          </a:p>
          <a:p>
            <a:r>
              <a:rPr lang="es-ES" alt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acción específica</a:t>
            </a:r>
          </a:p>
          <a:p>
            <a:endParaRPr lang="es-ES" altLang="es-A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altLang="es-A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altLang="es-AR" dirty="0"/>
          </a:p>
        </p:txBody>
      </p:sp>
      <p:sp>
        <p:nvSpPr>
          <p:cNvPr id="5" name="Flecha derecha 4"/>
          <p:cNvSpPr/>
          <p:nvPr/>
        </p:nvSpPr>
        <p:spPr>
          <a:xfrm rot="736943">
            <a:off x="2789739" y="1991278"/>
            <a:ext cx="2285155" cy="472205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Flecha izquierda 8"/>
          <p:cNvSpPr/>
          <p:nvPr/>
        </p:nvSpPr>
        <p:spPr>
          <a:xfrm>
            <a:off x="3593206" y="3554568"/>
            <a:ext cx="2021983" cy="489397"/>
          </a:xfrm>
          <a:prstGeom prst="left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Flecha curvada hacia la izquierda 10"/>
          <p:cNvSpPr/>
          <p:nvPr/>
        </p:nvSpPr>
        <p:spPr>
          <a:xfrm rot="11014042">
            <a:off x="377805" y="3388570"/>
            <a:ext cx="744826" cy="1195413"/>
          </a:xfrm>
          <a:prstGeom prst="curvedLeft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12" name="Flecha curvada hacia la izquierda 11"/>
          <p:cNvSpPr/>
          <p:nvPr/>
        </p:nvSpPr>
        <p:spPr>
          <a:xfrm rot="11093016">
            <a:off x="258732" y="1887715"/>
            <a:ext cx="982971" cy="2957680"/>
          </a:xfrm>
          <a:prstGeom prst="curvedLeft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8" name="Flecha derecha 7"/>
          <p:cNvSpPr/>
          <p:nvPr/>
        </p:nvSpPr>
        <p:spPr>
          <a:xfrm flipH="1">
            <a:off x="3445627" y="-1489086"/>
            <a:ext cx="45719" cy="11381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Flecha abajo 9"/>
          <p:cNvSpPr/>
          <p:nvPr/>
        </p:nvSpPr>
        <p:spPr>
          <a:xfrm>
            <a:off x="1791856" y="1120075"/>
            <a:ext cx="314036" cy="491925"/>
          </a:xfrm>
          <a:prstGeom prst="down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Elipse 13"/>
          <p:cNvSpPr/>
          <p:nvPr/>
        </p:nvSpPr>
        <p:spPr>
          <a:xfrm>
            <a:off x="1075746" y="274626"/>
            <a:ext cx="1746256" cy="711200"/>
          </a:xfrm>
          <a:prstGeom prst="ellips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CuadroTexto 14"/>
          <p:cNvSpPr txBox="1"/>
          <p:nvPr/>
        </p:nvSpPr>
        <p:spPr>
          <a:xfrm>
            <a:off x="1365814" y="499421"/>
            <a:ext cx="11280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HIPOTÁLAMO</a:t>
            </a:r>
            <a:endParaRPr lang="es-E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399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6112" y="373205"/>
            <a:ext cx="9404723" cy="1400530"/>
          </a:xfrm>
        </p:spPr>
        <p:txBody>
          <a:bodyPr/>
          <a:lstStyle/>
          <a:p>
            <a:pPr algn="ctr"/>
            <a:r>
              <a:rPr lang="es-E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HORMONAS HIPOTALÁMICAS</a:t>
            </a:r>
            <a:endParaRPr lang="es-E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8834772"/>
              </p:ext>
            </p:extLst>
          </p:nvPr>
        </p:nvGraphicFramePr>
        <p:xfrm>
          <a:off x="1103313" y="2870359"/>
          <a:ext cx="8947150" cy="2834640"/>
        </p:xfrm>
        <a:graphic>
          <a:graphicData uri="http://schemas.openxmlformats.org/drawingml/2006/table">
            <a:tbl>
              <a:tblPr/>
              <a:tblGrid>
                <a:gridCol w="4470551"/>
                <a:gridCol w="4476599"/>
              </a:tblGrid>
              <a:tr h="0">
                <a:tc>
                  <a:txBody>
                    <a:bodyPr/>
                    <a:lstStyle/>
                    <a:p>
                      <a:r>
                        <a:rPr lang="es-ES" b="1" dirty="0" smtClean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Hormona</a:t>
                      </a:r>
                    </a:p>
                    <a:p>
                      <a:endParaRPr lang="es-ES" b="1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s-E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 TSH y prolactina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s-E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 ACTH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s-E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GnRH</a:t>
                      </a:r>
                      <a:endParaRPr lang="es-E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 FSH y LH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s-E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GHRH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 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s-E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Somatostatina</a:t>
                      </a:r>
                      <a:endParaRPr lang="es-E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↓ GH y ↓ TSH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s-E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Dopamina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↓ Prolactina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-79176"/>
            <a:ext cx="184731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979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ANATOMÍA DE LA HIPÓFISIS</a:t>
            </a: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3312" y="1073426"/>
            <a:ext cx="8946541" cy="51749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ES" b="1" dirty="0"/>
          </a:p>
          <a:p>
            <a:pPr marL="0" indent="0">
              <a:buNone/>
            </a:pPr>
            <a:r>
              <a:rPr lang="es-ES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s-ES" sz="18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hipófisis: </a:t>
            </a:r>
          </a:p>
          <a:p>
            <a:r>
              <a:rPr lang="es-E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es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una estructura </a:t>
            </a:r>
            <a:r>
              <a:rPr lang="es-E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pequeña</a:t>
            </a:r>
          </a:p>
          <a:p>
            <a:r>
              <a:rPr lang="es-E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Forma ovalada</a:t>
            </a:r>
          </a:p>
          <a:p>
            <a:r>
              <a:rPr lang="es-E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posee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un enorme impacto fisiológico. </a:t>
            </a:r>
          </a:p>
          <a:p>
            <a:r>
              <a:rPr lang="es-E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pesa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menos de un </a:t>
            </a:r>
            <a:r>
              <a:rPr lang="es-E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gramo</a:t>
            </a:r>
          </a:p>
          <a:p>
            <a:r>
              <a:rPr lang="es-E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regula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prácticamente todas las demás glándulas </a:t>
            </a:r>
            <a:r>
              <a:rPr lang="es-E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endocrinas.</a:t>
            </a:r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Dimensiones aproximadas: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10–13 mm transversal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6–8 mm anteroposterior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5–8 mm de altura </a:t>
            </a: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Ubicada en la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silla turca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del hueso esfenoides. </a:t>
            </a: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Conectada al hipotálamo mediante el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tallo hipofisario (infundíbulo)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0427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0497" y="2052638"/>
            <a:ext cx="5232782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183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52513"/>
          </a:xfrm>
        </p:spPr>
        <p:txBody>
          <a:bodyPr/>
          <a:lstStyle/>
          <a:p>
            <a:pPr algn="ctr"/>
            <a:r>
              <a:rPr lang="es-E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DIVISIÓN ANATÓMICA</a:t>
            </a:r>
            <a:endParaRPr lang="es-E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4293" y="1504278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es-ES" sz="1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ADENOHIPÓFISIS </a:t>
            </a: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(≈75</a:t>
            </a:r>
            <a:r>
              <a:rPr lang="es-ES" sz="1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%)</a:t>
            </a:r>
          </a:p>
          <a:p>
            <a:pPr marL="0" indent="0">
              <a:buNone/>
            </a:pPr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dirty="0" err="1">
                <a:latin typeface="Arial" panose="020B0604020202020204" pitchFamily="34" charset="0"/>
                <a:cs typeface="Arial" panose="020B0604020202020204" pitchFamily="34" charset="0"/>
              </a:rPr>
              <a:t>Pars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 err="1">
                <a:latin typeface="Arial" panose="020B0604020202020204" pitchFamily="34" charset="0"/>
                <a:cs typeface="Arial" panose="020B0604020202020204" pitchFamily="34" charset="0"/>
              </a:rPr>
              <a:t>distalis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s-ES" sz="1600" dirty="0" err="1">
                <a:latin typeface="Arial" panose="020B0604020202020204" pitchFamily="34" charset="0"/>
                <a:cs typeface="Arial" panose="020B0604020202020204" pitchFamily="34" charset="0"/>
              </a:rPr>
              <a:t>Pars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 err="1">
                <a:latin typeface="Arial" panose="020B0604020202020204" pitchFamily="34" charset="0"/>
                <a:cs typeface="Arial" panose="020B0604020202020204" pitchFamily="34" charset="0"/>
              </a:rPr>
              <a:t>tuberalis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s-ES" sz="1600" dirty="0" err="1">
                <a:latin typeface="Arial" panose="020B0604020202020204" pitchFamily="34" charset="0"/>
                <a:cs typeface="Arial" panose="020B0604020202020204" pitchFamily="34" charset="0"/>
              </a:rPr>
              <a:t>Pars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intermedia</a:t>
            </a:r>
          </a:p>
          <a:p>
            <a:pPr marL="0" indent="0">
              <a:buNone/>
            </a:pPr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1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NEUROHIPÓFISIS (</a:t>
            </a: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≈25%)</a:t>
            </a:r>
          </a:p>
          <a:p>
            <a:r>
              <a:rPr lang="es-ES" sz="1600" dirty="0" err="1">
                <a:latin typeface="Arial" panose="020B0604020202020204" pitchFamily="34" charset="0"/>
                <a:cs typeface="Arial" panose="020B0604020202020204" pitchFamily="34" charset="0"/>
              </a:rPr>
              <a:t>Pars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nervosa </a:t>
            </a: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Infundíbulo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42366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HISTOLOGIA</a:t>
            </a:r>
            <a:endParaRPr lang="es-E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6120860"/>
              </p:ext>
            </p:extLst>
          </p:nvPr>
        </p:nvGraphicFramePr>
        <p:xfrm>
          <a:off x="1103313" y="1796995"/>
          <a:ext cx="8947150" cy="3450804"/>
        </p:xfrm>
        <a:graphic>
          <a:graphicData uri="http://schemas.openxmlformats.org/drawingml/2006/table">
            <a:tbl>
              <a:tblPr/>
              <a:tblGrid>
                <a:gridCol w="4473575"/>
                <a:gridCol w="4473575"/>
              </a:tblGrid>
              <a:tr h="575134">
                <a:tc>
                  <a:txBody>
                    <a:bodyPr/>
                    <a:lstStyle/>
                    <a:p>
                      <a:r>
                        <a:rPr lang="es-ES" b="1" dirty="0" smtClean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Células</a:t>
                      </a:r>
                      <a:endParaRPr lang="es-ES" b="1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b="1" dirty="0" smtClean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Hormonas</a:t>
                      </a:r>
                      <a:endParaRPr lang="es-ES" b="1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75134">
                <a:tc>
                  <a:txBody>
                    <a:bodyPr/>
                    <a:lstStyle/>
                    <a:p>
                      <a:r>
                        <a:rPr lang="es-ES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Somatotropas</a:t>
                      </a:r>
                      <a:r>
                        <a:rPr lang="es-ES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45 – 50%</a:t>
                      </a:r>
                      <a:endParaRPr lang="es-E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75134">
                <a:tc>
                  <a:txBody>
                    <a:bodyPr/>
                    <a:lstStyle/>
                    <a:p>
                      <a:r>
                        <a:rPr lang="es-ES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Lactotropas</a:t>
                      </a:r>
                      <a:r>
                        <a:rPr lang="es-ES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15 – 20% </a:t>
                      </a:r>
                      <a:endParaRPr lang="es-E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Prolactina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75134">
                <a:tc>
                  <a:txBody>
                    <a:bodyPr/>
                    <a:lstStyle/>
                    <a:p>
                      <a:r>
                        <a:rPr lang="es-ES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Corticotropas</a:t>
                      </a:r>
                      <a:r>
                        <a:rPr lang="es-ES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es-ES" b="1" dirty="0" smtClean="0"/>
                        <a:t>       </a:t>
                      </a:r>
                      <a:r>
                        <a:rPr lang="es-ES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 – 20%</a:t>
                      </a:r>
                      <a:endParaRPr lang="es-E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75134">
                <a:tc>
                  <a:txBody>
                    <a:bodyPr/>
                    <a:lstStyle/>
                    <a:p>
                      <a:r>
                        <a:rPr lang="es-ES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Tirotropas                     5%</a:t>
                      </a:r>
                      <a:endParaRPr lang="es-E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75134">
                <a:tc>
                  <a:txBody>
                    <a:bodyPr/>
                    <a:lstStyle/>
                    <a:p>
                      <a:r>
                        <a:rPr lang="es-ES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Gonadotropas</a:t>
                      </a:r>
                      <a:r>
                        <a:rPr lang="es-ES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10 – 15%</a:t>
                      </a:r>
                      <a:endParaRPr lang="es-E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FSH y LH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-71562" y="-964383"/>
            <a:ext cx="102463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Tipos celulares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18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6599" y="2052638"/>
            <a:ext cx="6140578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367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8524"/>
          </a:xfrm>
        </p:spPr>
        <p:txBody>
          <a:bodyPr>
            <a:normAutofit/>
          </a:bodyPr>
          <a:lstStyle/>
          <a:p>
            <a:pPr algn="ctr"/>
            <a:r>
              <a:rPr lang="es-A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POMC: </a:t>
            </a:r>
            <a:r>
              <a:rPr lang="es-AR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Proopiomelanocortina</a:t>
            </a:r>
            <a:endParaRPr lang="es-A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1820" y="1940766"/>
            <a:ext cx="6260841" cy="3461657"/>
          </a:xfrm>
          <a:prstGeom prst="rect">
            <a:avLst/>
          </a:prstGeom>
          <a:ln>
            <a:solidFill>
              <a:srgbClr val="0070C0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  <a:innerShdw blurRad="63500" dist="508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526219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6111" y="476572"/>
            <a:ext cx="1850599" cy="533244"/>
          </a:xfr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/>
          <a:lstStyle/>
          <a:p>
            <a:r>
              <a:rPr lang="es-ES" sz="20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IMPORTANTE</a:t>
            </a:r>
            <a:endParaRPr lang="es-E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310046" y="2464904"/>
            <a:ext cx="9050504" cy="1971925"/>
          </a:xfrm>
          <a:ln w="38100">
            <a:solidFill>
              <a:srgbClr val="FFFF00"/>
            </a:solidFill>
          </a:ln>
        </p:spPr>
        <p:txBody>
          <a:bodyPr>
            <a:normAutofit/>
          </a:bodyPr>
          <a:lstStyle/>
          <a:p>
            <a:r>
              <a:rPr lang="es-E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s-ES" sz="1800" dirty="0" err="1">
                <a:latin typeface="Arial" panose="020B0604020202020204" pitchFamily="34" charset="0"/>
                <a:cs typeface="Arial" panose="020B0604020202020204" pitchFamily="34" charset="0"/>
              </a:rPr>
              <a:t>adenohipófisis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sintetiza sus propias </a:t>
            </a:r>
            <a:r>
              <a:rPr lang="es-E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hormonas,</a:t>
            </a:r>
          </a:p>
          <a:p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s-E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neurohipófisis</a:t>
            </a:r>
            <a:r>
              <a:rPr lang="es-E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actúa como órgano de almacenamiento y liberación de hormonas producidas por el hipotálamo.</a:t>
            </a:r>
          </a:p>
        </p:txBody>
      </p:sp>
    </p:spTree>
    <p:extLst>
      <p:ext uri="{BB962C8B-B14F-4D97-AF65-F5344CB8AC3E}">
        <p14:creationId xmlns:p14="http://schemas.microsoft.com/office/powerpoint/2010/main" val="2966024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965915"/>
            <a:ext cx="10439400" cy="788240"/>
          </a:xfrm>
        </p:spPr>
        <p:txBody>
          <a:bodyPr>
            <a:noAutofit/>
          </a:bodyPr>
          <a:lstStyle/>
          <a:p>
            <a:pPr algn="ctr"/>
            <a:r>
              <a:rPr lang="es-AR" sz="2400" b="1" dirty="0">
                <a:latin typeface="Arial" panose="020B0604020202020204" pitchFamily="34" charset="0"/>
                <a:cs typeface="Arial" panose="020B0604020202020204" pitchFamily="34" charset="0"/>
              </a:rPr>
              <a:t>HIPÓFISIS – GLÁNDULA </a:t>
            </a:r>
            <a:r>
              <a:rPr lang="es-A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PITUITARIA</a:t>
            </a:r>
            <a:br>
              <a:rPr lang="es-A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AR" sz="2400" b="1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s-AR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altLang="es-AR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sitúa en la base del cerebro y se divide en dos lóbulos:</a:t>
            </a:r>
            <a:r>
              <a:rPr lang="es-ES" altLang="es-AR" sz="2000" dirty="0">
                <a:solidFill>
                  <a:schemeClr val="tx1"/>
                </a:solidFill>
                <a:latin typeface="Arial" panose="020B0604020202020204" pitchFamily="34" charset="0"/>
              </a:rPr>
              <a:t/>
            </a:r>
            <a:br>
              <a:rPr lang="es-ES" altLang="es-AR" sz="20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s-AR" sz="2000" dirty="0">
              <a:solidFill>
                <a:schemeClr val="tx1"/>
              </a:solidFill>
            </a:endParaRP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369" y="2551587"/>
            <a:ext cx="10523462" cy="386879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/>
          <p:cNvSpPr/>
          <p:nvPr/>
        </p:nvSpPr>
        <p:spPr>
          <a:xfrm>
            <a:off x="7467512" y="2798854"/>
            <a:ext cx="3116688" cy="1687132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ADENOHIPÓFISIS</a:t>
            </a:r>
          </a:p>
        </p:txBody>
      </p:sp>
    </p:spTree>
    <p:extLst>
      <p:ext uri="{BB962C8B-B14F-4D97-AF65-F5344CB8AC3E}">
        <p14:creationId xmlns:p14="http://schemas.microsoft.com/office/powerpoint/2010/main" val="2526480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5764" y="2375294"/>
            <a:ext cx="10148552" cy="40899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" name="Rectángulo 2"/>
          <p:cNvSpPr/>
          <p:nvPr/>
        </p:nvSpPr>
        <p:spPr>
          <a:xfrm>
            <a:off x="875764" y="927279"/>
            <a:ext cx="10148552" cy="1081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EJE HIPOTÁLAMO HIPOFISARIO</a:t>
            </a:r>
            <a:endParaRPr lang="es-A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330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s-E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HORMONAS DE LA ADENOHIPÓFISIS</a:t>
            </a:r>
            <a:endParaRPr lang="es-E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651133"/>
              </p:ext>
            </p:extLst>
          </p:nvPr>
        </p:nvGraphicFramePr>
        <p:xfrm>
          <a:off x="1103313" y="2639836"/>
          <a:ext cx="8947149" cy="3588404"/>
        </p:xfrm>
        <a:graphic>
          <a:graphicData uri="http://schemas.openxmlformats.org/drawingml/2006/table">
            <a:tbl>
              <a:tblPr/>
              <a:tblGrid>
                <a:gridCol w="2982383"/>
                <a:gridCol w="2982383"/>
                <a:gridCol w="2982383"/>
              </a:tblGrid>
              <a:tr h="1101824">
                <a:tc>
                  <a:txBody>
                    <a:bodyPr/>
                    <a:lstStyle/>
                    <a:p>
                      <a:endParaRPr lang="es-ES" b="1" dirty="0" smtClean="0">
                        <a:solidFill>
                          <a:srgbClr val="FFFF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ES" b="1" dirty="0" smtClean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Hormona</a:t>
                      </a:r>
                    </a:p>
                    <a:p>
                      <a:endParaRPr lang="es-ES" b="1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Órgano blanco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4430">
                <a:tc>
                  <a:txBody>
                    <a:bodyPr/>
                    <a:lstStyle/>
                    <a:p>
                      <a:r>
                        <a:rPr lang="es-E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Hígado, hueso, músculo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Crecimiento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4430">
                <a:tc>
                  <a:txBody>
                    <a:bodyPr/>
                    <a:lstStyle/>
                    <a:p>
                      <a:r>
                        <a:rPr lang="es-E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Corteza suprarrenal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Cortisol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4430">
                <a:tc>
                  <a:txBody>
                    <a:bodyPr/>
                    <a:lstStyle/>
                    <a:p>
                      <a:r>
                        <a:rPr lang="es-E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Tiroides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T3 y T4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4430">
                <a:tc>
                  <a:txBody>
                    <a:bodyPr/>
                    <a:lstStyle/>
                    <a:p>
                      <a:r>
                        <a:rPr lang="es-E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Gónadas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Gametogénesis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4430">
                <a:tc>
                  <a:txBody>
                    <a:bodyPr/>
                    <a:lstStyle/>
                    <a:p>
                      <a:r>
                        <a:rPr lang="es-E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Gónadas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Ovulación y testosterona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4430">
                <a:tc>
                  <a:txBody>
                    <a:bodyPr/>
                    <a:lstStyle/>
                    <a:p>
                      <a:r>
                        <a:rPr lang="es-E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Prolactina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Lactancia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-79176"/>
            <a:ext cx="184731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385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Las hormonas hipofisarias son hormonas tróficas</a:t>
            </a: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Su función principal es estimular otras glándulas endocrinas</a:t>
            </a: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La prolactina constituye la principal excepción, ya que actúa directamente sobre la glándula mamaria.</a:t>
            </a:r>
          </a:p>
        </p:txBody>
      </p:sp>
    </p:spTree>
    <p:extLst>
      <p:ext uri="{BB962C8B-B14F-4D97-AF65-F5344CB8AC3E}">
        <p14:creationId xmlns:p14="http://schemas.microsoft.com/office/powerpoint/2010/main" val="3672298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NEUROHIPÓFISIS</a:t>
            </a:r>
            <a:endParaRPr lang="es-E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3312" y="1137038"/>
            <a:ext cx="8946541" cy="51113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ES" b="1" dirty="0"/>
          </a:p>
          <a:p>
            <a:pPr marL="0" indent="0">
              <a:buNone/>
            </a:pPr>
            <a:r>
              <a:rPr lang="es-ES" sz="1600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Composición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Axones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es-E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neuronas provenientes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de: </a:t>
            </a:r>
          </a:p>
          <a:p>
            <a:pPr lvl="1"/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núcleo </a:t>
            </a:r>
            <a:r>
              <a:rPr lang="es-ES" sz="1600" dirty="0" err="1">
                <a:latin typeface="Arial" panose="020B0604020202020204" pitchFamily="34" charset="0"/>
                <a:cs typeface="Arial" panose="020B0604020202020204" pitchFamily="34" charset="0"/>
              </a:rPr>
              <a:t>supraóptico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/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núcleo </a:t>
            </a:r>
            <a:r>
              <a:rPr lang="es-ES" sz="1600" dirty="0" err="1">
                <a:latin typeface="Arial" panose="020B0604020202020204" pitchFamily="34" charset="0"/>
                <a:cs typeface="Arial" panose="020B0604020202020204" pitchFamily="34" charset="0"/>
              </a:rPr>
              <a:t>paraventricular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600" dirty="0" err="1">
                <a:latin typeface="Arial" panose="020B0604020202020204" pitchFamily="34" charset="0"/>
                <a:cs typeface="Arial" panose="020B0604020202020204" pitchFamily="34" charset="0"/>
              </a:rPr>
              <a:t>Pituicitos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Cuerpos de </a:t>
            </a:r>
            <a:r>
              <a:rPr lang="es-ES" sz="1600" dirty="0" err="1">
                <a:latin typeface="Arial" panose="020B0604020202020204" pitchFamily="34" charset="0"/>
                <a:cs typeface="Arial" panose="020B0604020202020204" pitchFamily="34" charset="0"/>
              </a:rPr>
              <a:t>Herring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s-ES" sz="16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Hormonas almacenadas</a:t>
            </a:r>
          </a:p>
          <a:p>
            <a:r>
              <a:rPr lang="es-ES" sz="1600" dirty="0" err="1">
                <a:latin typeface="Arial" panose="020B0604020202020204" pitchFamily="34" charset="0"/>
                <a:cs typeface="Arial" panose="020B0604020202020204" pitchFamily="34" charset="0"/>
              </a:rPr>
              <a:t>Oxitocina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Vasopresina (ADH) </a:t>
            </a:r>
            <a:endParaRPr lang="es-E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16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Importante: estas hormonas se sintetizan en el hipotálamo y se almacenan y liberan desde la </a:t>
            </a:r>
            <a:r>
              <a:rPr lang="es-ES" sz="1600" b="1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neurohipófisis</a:t>
            </a:r>
            <a:r>
              <a:rPr lang="es-ES" sz="16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216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s-E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VASOPRESINA (ADH)</a:t>
            </a:r>
            <a:endParaRPr lang="es-E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ES" b="1" dirty="0"/>
          </a:p>
          <a:p>
            <a:pPr marL="0" indent="0">
              <a:buNone/>
            </a:pPr>
            <a:r>
              <a:rPr lang="es-ES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Funciones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Reabsorción renal de agua 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Regulación de la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osmolaridad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plasmática 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Vasoconstricción </a:t>
            </a:r>
          </a:p>
          <a:p>
            <a:pPr marL="0" indent="0">
              <a:buNone/>
            </a:pPr>
            <a:r>
              <a:rPr lang="es-ES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Estímulos</a:t>
            </a:r>
          </a:p>
          <a:p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Hiperosmolaridad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Hipovolemia 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Hipotensión</a:t>
            </a:r>
          </a:p>
        </p:txBody>
      </p:sp>
    </p:spTree>
    <p:extLst>
      <p:ext uri="{BB962C8B-B14F-4D97-AF65-F5344CB8AC3E}">
        <p14:creationId xmlns:p14="http://schemas.microsoft.com/office/powerpoint/2010/main" val="2871115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s-E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OXITOCINA</a:t>
            </a:r>
            <a:endParaRPr lang="es-E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Funciones</a:t>
            </a:r>
          </a:p>
          <a:p>
            <a:pPr marL="0" indent="0">
              <a:buNone/>
            </a:pPr>
            <a:endParaRPr lang="es-ES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Contracción uterina 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Eyección de leche 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Estímulos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Succión 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Distensión cervical </a:t>
            </a:r>
          </a:p>
        </p:txBody>
      </p:sp>
    </p:spTree>
    <p:extLst>
      <p:ext uri="{BB962C8B-B14F-4D97-AF65-F5344CB8AC3E}">
        <p14:creationId xmlns:p14="http://schemas.microsoft.com/office/powerpoint/2010/main" val="3297135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s-E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RETROALIMENTACIÓN HORMONAL</a:t>
            </a:r>
            <a:endParaRPr lang="es-E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3312" y="1463040"/>
            <a:ext cx="8946541" cy="502522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 sz="2300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Retroalimentación </a:t>
            </a:r>
            <a:r>
              <a:rPr lang="es-ES" sz="23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negativa</a:t>
            </a:r>
          </a:p>
          <a:p>
            <a:pPr marL="0" indent="0">
              <a:buNone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Es el principal mecanismo regulador endocrino.</a:t>
            </a:r>
          </a:p>
          <a:p>
            <a:pPr marL="0" indent="0">
              <a:buNone/>
            </a:pPr>
            <a:r>
              <a:rPr lang="es-ES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Ejemplo:</a:t>
            </a:r>
          </a:p>
          <a:p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Hipotálamo</a:t>
            </a:r>
          </a:p>
          <a:p>
            <a:pPr marL="0" indent="0">
              <a:buNone/>
            </a:pP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TRH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es-ES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endParaRPr lang="es-E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        TSH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↓</a:t>
            </a:r>
            <a:endParaRPr lang="es-E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      Tiroides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es-ES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endParaRPr lang="es-E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      T4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y T3</a:t>
            </a:r>
          </a:p>
          <a:p>
            <a:pPr marL="0" indent="0">
              <a:buNone/>
            </a:pP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es-ES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endParaRPr lang="es-E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Inhibición de TRH y TSH</a:t>
            </a:r>
          </a:p>
        </p:txBody>
      </p:sp>
      <p:sp>
        <p:nvSpPr>
          <p:cNvPr id="4" name="Flecha curvada hacia la izquierda 3"/>
          <p:cNvSpPr/>
          <p:nvPr/>
        </p:nvSpPr>
        <p:spPr>
          <a:xfrm>
            <a:off x="2480807" y="2863570"/>
            <a:ext cx="477077" cy="372610"/>
          </a:xfrm>
          <a:prstGeom prst="curvedLeftArrow">
            <a:avLst>
              <a:gd name="adj1" fmla="val 8239"/>
              <a:gd name="adj2" fmla="val 50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4436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Otros </a:t>
            </a:r>
            <a:r>
              <a:rPr lang="es-ES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ejemplos</a:t>
            </a:r>
          </a:p>
          <a:p>
            <a:pPr marL="0" indent="0">
              <a:buNone/>
            </a:pP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Cortisol inhibe CRH y ACTH. </a:t>
            </a:r>
            <a:endParaRPr lang="es-E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IGF-1 inhibe GHRH y GH. </a:t>
            </a:r>
            <a:endParaRPr lang="es-E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Testosterona inhibe </a:t>
            </a:r>
            <a:r>
              <a:rPr lang="es-ES" sz="1800" dirty="0" err="1">
                <a:latin typeface="Arial" panose="020B0604020202020204" pitchFamily="34" charset="0"/>
                <a:cs typeface="Arial" panose="020B0604020202020204" pitchFamily="34" charset="0"/>
              </a:rPr>
              <a:t>GnRH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y LH. </a:t>
            </a:r>
            <a:endParaRPr lang="es-E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Estradiol inhibe </a:t>
            </a:r>
            <a:r>
              <a:rPr lang="es-ES" sz="1800" dirty="0" err="1">
                <a:latin typeface="Arial" panose="020B0604020202020204" pitchFamily="34" charset="0"/>
                <a:cs typeface="Arial" panose="020B0604020202020204" pitchFamily="34" charset="0"/>
              </a:rPr>
              <a:t>GnRH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y gonadotrofinas en la mayor parte del ciclo menstrual.</a:t>
            </a: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038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1200" b="1" dirty="0"/>
              <a:t/>
            </a:r>
            <a:br>
              <a:rPr lang="es-ES" sz="1200" b="1" dirty="0"/>
            </a:br>
            <a:r>
              <a:rPr lang="es-E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LA RETROALIMENTACIÓN POSITIVA </a:t>
            </a:r>
            <a:br>
              <a:rPr lang="es-E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s-E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mplifica 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una respuesta fisiológica hasta que el estímulo desaparece.</a:t>
            </a:r>
            <a:b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4293" y="1853248"/>
            <a:ext cx="8946541" cy="4698627"/>
          </a:xfrm>
        </p:spPr>
        <p:txBody>
          <a:bodyPr>
            <a:norm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s-ES" sz="1800" b="1" dirty="0" smtClean="0">
                <a:latin typeface="Arial" panose="020B0604020202020204" pitchFamily="34" charset="0"/>
              </a:rPr>
              <a:t>Es </a:t>
            </a:r>
            <a:r>
              <a:rPr lang="es-ES" sz="1800" b="1" dirty="0">
                <a:latin typeface="Arial" panose="020B0604020202020204" pitchFamily="34" charset="0"/>
              </a:rPr>
              <a:t>un fenómeno poco </a:t>
            </a:r>
            <a:r>
              <a:rPr lang="es-ES" sz="1800" b="1" dirty="0" smtClean="0">
                <a:latin typeface="Arial" panose="020B0604020202020204" pitchFamily="34" charset="0"/>
              </a:rPr>
              <a:t>frecuente: ejemplos clásicos</a:t>
            </a:r>
            <a:endParaRPr lang="es-ES" sz="1800" b="1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s-ES" sz="1600" b="1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s-ES" sz="1800" b="1" dirty="0" smtClean="0">
                <a:solidFill>
                  <a:srgbClr val="FFFF00"/>
                </a:solidFill>
                <a:latin typeface="Arial" panose="020B0604020202020204" pitchFamily="34" charset="0"/>
              </a:rPr>
              <a:t>Ovulación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s-ES" sz="1800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s-ES" sz="1800" dirty="0">
                <a:latin typeface="Arial" panose="020B0604020202020204" pitchFamily="34" charset="0"/>
              </a:rPr>
              <a:t>Estradiol elevado y </a:t>
            </a:r>
            <a:r>
              <a:rPr lang="es-ES" sz="1800" dirty="0" smtClean="0">
                <a:latin typeface="Arial" panose="020B0604020202020204" pitchFamily="34" charset="0"/>
              </a:rPr>
              <a:t>sostenido</a:t>
            </a:r>
            <a:endParaRPr lang="es-ES" sz="1800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s-ES" sz="1800" dirty="0">
                <a:latin typeface="Arial" panose="020B0604020202020204" pitchFamily="34" charset="0"/>
              </a:rPr>
              <a:t>↓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s-ES" sz="1800" dirty="0">
                <a:latin typeface="Arial" panose="020B0604020202020204" pitchFamily="34" charset="0"/>
              </a:rPr>
              <a:t>Estimulación hipotalámica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s-ES" sz="1800" dirty="0">
                <a:latin typeface="Arial" panose="020B0604020202020204" pitchFamily="34" charset="0"/>
              </a:rPr>
              <a:t>↓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s-ES" sz="1800" dirty="0">
                <a:latin typeface="Arial" panose="020B0604020202020204" pitchFamily="34" charset="0"/>
              </a:rPr>
              <a:t>Pico de LH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s-ES" sz="1800" dirty="0">
                <a:latin typeface="Arial" panose="020B0604020202020204" pitchFamily="34" charset="0"/>
              </a:rPr>
              <a:t>↓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s-ES" sz="1800" dirty="0">
                <a:latin typeface="Arial" panose="020B0604020202020204" pitchFamily="34" charset="0"/>
              </a:rPr>
              <a:t>Ovulación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6096000" y="2319192"/>
            <a:ext cx="317266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b="1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Parto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Distensión cervical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Oxitocina</a:t>
            </a:r>
            <a:endParaRPr kumimoji="0" lang="es-E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Mayor contracción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Mayor liberación de </a:t>
            </a:r>
            <a:r>
              <a:rPr kumimoji="0" lang="es-E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oxitocina</a:t>
            </a:r>
            <a:endParaRPr kumimoji="0" lang="es-E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264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5130" y="508377"/>
            <a:ext cx="9404723" cy="1400530"/>
          </a:xfrm>
        </p:spPr>
        <p:txBody>
          <a:bodyPr/>
          <a:lstStyle/>
          <a:p>
            <a:pPr algn="ctr"/>
            <a:r>
              <a:rPr lang="es-E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RITMOS BIOLÓGICOS DE SECRECIÓN HORMONAL</a:t>
            </a:r>
            <a:endParaRPr lang="es-E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3312" y="1288112"/>
            <a:ext cx="8946541" cy="4960288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s-ES" b="1" dirty="0"/>
          </a:p>
          <a:p>
            <a:pPr marL="0" indent="0">
              <a:buNone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Las hormonas no se secretan de manera continua.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Presentan distintos patrones fisiológicos.</a:t>
            </a:r>
          </a:p>
          <a:p>
            <a:r>
              <a:rPr lang="es-ES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Ritmo circadiano</a:t>
            </a:r>
          </a:p>
          <a:p>
            <a:pPr marL="0" indent="0">
              <a:buNone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Ejemplos</a:t>
            </a:r>
          </a:p>
          <a:p>
            <a:r>
              <a:rPr lang="es-E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Cortisol </a:t>
            </a:r>
          </a:p>
          <a:p>
            <a:pPr marL="457200" lvl="1" indent="0">
              <a:buNone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Pico: 6–8 h </a:t>
            </a:r>
          </a:p>
          <a:p>
            <a:pPr marL="457200" lvl="1" indent="0">
              <a:buNone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Mínimo: medianoche </a:t>
            </a:r>
          </a:p>
          <a:p>
            <a:r>
              <a:rPr lang="es-E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TSH </a:t>
            </a:r>
          </a:p>
          <a:p>
            <a:pPr marL="457200" lvl="1" indent="0">
              <a:buNone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Pico nocturno </a:t>
            </a:r>
          </a:p>
          <a:p>
            <a:r>
              <a:rPr lang="es-E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Melatonina </a:t>
            </a:r>
          </a:p>
          <a:p>
            <a:pPr marL="457200" lvl="1" indent="0">
              <a:buNone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Pico durante la noche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98261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RITMO PULSÁTIL</a:t>
            </a:r>
            <a:endParaRPr lang="es-ES" sz="2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4293" y="1504278"/>
            <a:ext cx="8946541" cy="41954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Característico de</a:t>
            </a:r>
          </a:p>
          <a:p>
            <a:pPr marL="0" indent="0"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GH </a:t>
            </a:r>
          </a:p>
          <a:p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GnRH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LH 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ACTH </a:t>
            </a: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La secreción pulsátil es esencial para mantener la sensibilidad de los receptores</a:t>
            </a:r>
            <a:r>
              <a:rPr lang="es-E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s-E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102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8647" y="-1805453"/>
            <a:ext cx="9404723" cy="1400530"/>
          </a:xfrm>
        </p:spPr>
        <p:txBody>
          <a:bodyPr/>
          <a:lstStyle/>
          <a:p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16830" y="95414"/>
            <a:ext cx="7936340" cy="676258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E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</a:t>
            </a:r>
            <a:r>
              <a:rPr lang="es-ES" sz="1200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SNC</a:t>
            </a:r>
            <a:endParaRPr lang="es-ES" sz="12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s-E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</a:t>
            </a:r>
            <a:r>
              <a:rPr lang="es-ES" sz="1200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Hipotálamo</a:t>
            </a:r>
          </a:p>
          <a:p>
            <a:pPr marL="0" indent="0" algn="ctr">
              <a:buNone/>
            </a:pPr>
            <a:r>
              <a:rPr lang="es-E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   (</a:t>
            </a: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TRH - CRH - </a:t>
            </a:r>
            <a:r>
              <a:rPr lang="es-E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GnRH</a:t>
            </a: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– GHRH- </a:t>
            </a:r>
            <a:r>
              <a:rPr lang="es-ES" sz="1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Somatostatina</a:t>
            </a:r>
            <a:r>
              <a:rPr lang="es-E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- Dopamina) </a:t>
            </a:r>
          </a:p>
          <a:p>
            <a:pPr marL="0" indent="0" algn="ctr">
              <a:buNone/>
            </a:pP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↓</a:t>
            </a:r>
          </a:p>
          <a:p>
            <a:pPr marL="0" indent="0" algn="ctr">
              <a:buNone/>
            </a:pPr>
            <a:r>
              <a:rPr lang="es-E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</a:t>
            </a:r>
            <a:r>
              <a:rPr lang="es-ES" sz="1200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porta</a:t>
            </a:r>
          </a:p>
          <a:p>
            <a:pPr marL="0" indent="0" algn="ctr">
              <a:buNone/>
            </a:pPr>
            <a:r>
              <a:rPr lang="es-ES" sz="12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</a:t>
            </a:r>
            <a:r>
              <a:rPr lang="es-ES" sz="12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 marL="0" indent="0" algn="ctr">
              <a:buNone/>
            </a:pPr>
            <a:r>
              <a:rPr lang="es-ES" sz="12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</a:t>
            </a:r>
            <a:r>
              <a:rPr lang="es-ES" sz="1200" b="1" dirty="0" err="1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Adenohipófisis</a:t>
            </a:r>
            <a:endParaRPr lang="es-ES" sz="12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s-ES" sz="12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</a:t>
            </a:r>
            <a:r>
              <a:rPr lang="es-ES" sz="12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 marL="0" indent="0" algn="ctr">
              <a:buNone/>
            </a:pP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TSH   </a:t>
            </a: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ACTH   GH   FSH/LH   PRL</a:t>
            </a:r>
          </a:p>
          <a:p>
            <a:pPr marL="0" indent="0" algn="ctr">
              <a:buNone/>
            </a:pP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↓</a:t>
            </a:r>
          </a:p>
          <a:p>
            <a:pPr marL="0" indent="0" algn="ctr">
              <a:buNone/>
            </a:pPr>
            <a:r>
              <a:rPr lang="es-E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  <a:r>
              <a:rPr lang="es-ES" sz="1200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Tiroides</a:t>
            </a:r>
            <a:endParaRPr lang="es-ES" sz="12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s-ES" sz="1200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Suprarrenal</a:t>
            </a:r>
            <a:endParaRPr lang="es-ES" sz="12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s-ES" sz="1200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Hígado</a:t>
            </a:r>
            <a:endParaRPr lang="es-ES" sz="12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s-ES" sz="1200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Gónadas</a:t>
            </a:r>
            <a:endParaRPr lang="es-ES" sz="12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s-ES" sz="1200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Mama</a:t>
            </a:r>
            <a:endParaRPr lang="es-ES" sz="12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s-E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↓</a:t>
            </a:r>
          </a:p>
          <a:p>
            <a:pPr marL="0" indent="0" algn="ctr">
              <a:buNone/>
            </a:pP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Hormonas periféricas</a:t>
            </a:r>
          </a:p>
          <a:p>
            <a:pPr marL="0" indent="0" algn="ctr">
              <a:buNone/>
            </a:pPr>
            <a:r>
              <a:rPr lang="es-E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↑</a:t>
            </a:r>
          </a:p>
          <a:p>
            <a:pPr marL="0" indent="0" algn="ctr">
              <a:buNone/>
            </a:pPr>
            <a:r>
              <a:rPr lang="es-E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Retroalimentación </a:t>
            </a: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negativa</a:t>
            </a:r>
          </a:p>
        </p:txBody>
      </p:sp>
      <p:cxnSp>
        <p:nvCxnSpPr>
          <p:cNvPr id="5" name="Conector recto de flecha 4"/>
          <p:cNvCxnSpPr/>
          <p:nvPr/>
        </p:nvCxnSpPr>
        <p:spPr>
          <a:xfrm>
            <a:off x="5367130" y="357809"/>
            <a:ext cx="7952" cy="1351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/>
          <p:cNvCxnSpPr/>
          <p:nvPr/>
        </p:nvCxnSpPr>
        <p:spPr>
          <a:xfrm>
            <a:off x="5367130" y="628153"/>
            <a:ext cx="7952" cy="1510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lecha curvada hacia arriba 7"/>
          <p:cNvSpPr/>
          <p:nvPr/>
        </p:nvSpPr>
        <p:spPr>
          <a:xfrm>
            <a:off x="6941487" y="-292211"/>
            <a:ext cx="524787" cy="4571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9" name="Elipse 8"/>
          <p:cNvSpPr/>
          <p:nvPr/>
        </p:nvSpPr>
        <p:spPr>
          <a:xfrm>
            <a:off x="3307743" y="-218366"/>
            <a:ext cx="63610" cy="636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Elipse 9"/>
          <p:cNvSpPr/>
          <p:nvPr/>
        </p:nvSpPr>
        <p:spPr>
          <a:xfrm>
            <a:off x="-1972392" y="-385638"/>
            <a:ext cx="4572470" cy="934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Anillo 10"/>
          <p:cNvSpPr/>
          <p:nvPr/>
        </p:nvSpPr>
        <p:spPr>
          <a:xfrm>
            <a:off x="4625513" y="3124863"/>
            <a:ext cx="1377721" cy="1622065"/>
          </a:xfrm>
          <a:prstGeom prst="donut">
            <a:avLst>
              <a:gd name="adj" fmla="val 0"/>
            </a:avLst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891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461682"/>
          </a:xfrm>
        </p:spPr>
        <p:txBody>
          <a:bodyPr/>
          <a:lstStyle/>
          <a:p>
            <a:pPr algn="ctr"/>
            <a:r>
              <a:rPr lang="es-ES" sz="2000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CLAVE PARA RECORDAR</a:t>
            </a:r>
            <a:br>
              <a:rPr lang="es-ES" sz="2000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0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3312" y="978010"/>
            <a:ext cx="8946541" cy="5270389"/>
          </a:xfrm>
        </p:spPr>
        <p:txBody>
          <a:bodyPr/>
          <a:lstStyle/>
          <a:p>
            <a:pPr marL="0" indent="0">
              <a:buNone/>
            </a:pPr>
            <a:endParaRPr lang="es-ES" b="1" dirty="0"/>
          </a:p>
          <a:p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El hipotálamo es el principal regulador del sistema endocrino</a:t>
            </a:r>
            <a:r>
              <a:rPr lang="es-E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s-E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s-ES" sz="1800" dirty="0" err="1">
                <a:latin typeface="Arial" panose="020B0604020202020204" pitchFamily="34" charset="0"/>
                <a:cs typeface="Arial" panose="020B0604020202020204" pitchFamily="34" charset="0"/>
              </a:rPr>
              <a:t>adenohipófisis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sintetiza seis hormonas principales bajo control hipotalámico. </a:t>
            </a:r>
            <a:endParaRPr lang="es-E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s-ES" sz="1800" dirty="0" err="1">
                <a:latin typeface="Arial" panose="020B0604020202020204" pitchFamily="34" charset="0"/>
                <a:cs typeface="Arial" panose="020B0604020202020204" pitchFamily="34" charset="0"/>
              </a:rPr>
              <a:t>neurohipófisis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almacena y libera ADH y </a:t>
            </a:r>
            <a:r>
              <a:rPr lang="es-ES" sz="1800" dirty="0" err="1">
                <a:latin typeface="Arial" panose="020B0604020202020204" pitchFamily="34" charset="0"/>
                <a:cs typeface="Arial" panose="020B0604020202020204" pitchFamily="34" charset="0"/>
              </a:rPr>
              <a:t>oxitocina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sintetizadas en el hipotálamo</a:t>
            </a:r>
            <a:r>
              <a:rPr lang="es-E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s-E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La retroalimentación negativa mantiene la homeostasis endocrina. </a:t>
            </a:r>
            <a:endParaRPr lang="es-E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La secreción hormonal es dinámica, con ritmos circadianos y pulsátiles que tienen relevancia diagnóstica y terapéutica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4917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AR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RESUMEN</a:t>
            </a:r>
            <a:endParaRPr lang="es-AR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4989" y="205274"/>
            <a:ext cx="9853126" cy="646598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" name="Rectángulo 2"/>
          <p:cNvSpPr/>
          <p:nvPr/>
        </p:nvSpPr>
        <p:spPr>
          <a:xfrm>
            <a:off x="1282499" y="6045185"/>
            <a:ext cx="3369013" cy="519754"/>
          </a:xfrm>
          <a:prstGeom prst="rect">
            <a:avLst/>
          </a:prstGeom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CuadroTexto 5"/>
          <p:cNvSpPr txBox="1"/>
          <p:nvPr/>
        </p:nvSpPr>
        <p:spPr>
          <a:xfrm>
            <a:off x="1586204" y="6074230"/>
            <a:ext cx="2864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RESUMEN</a:t>
            </a:r>
            <a:endParaRPr lang="es-A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811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95637"/>
          </a:xfrm>
        </p:spPr>
        <p:txBody>
          <a:bodyPr/>
          <a:lstStyle/>
          <a:p>
            <a:pPr algn="ctr"/>
            <a:r>
              <a:rPr lang="es-E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ADENOMAS HIPOFISARIOS</a:t>
            </a:r>
            <a:r>
              <a:rPr lang="es-E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s-E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3312" y="1311966"/>
            <a:ext cx="8946541" cy="4936434"/>
          </a:xfrm>
        </p:spPr>
        <p:txBody>
          <a:bodyPr/>
          <a:lstStyle/>
          <a:p>
            <a:pPr marL="0" indent="0">
              <a:buNone/>
            </a:pPr>
            <a:endParaRPr lang="es-ES" b="1" dirty="0"/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Son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tumores benignos originados en la 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</a:rPr>
              <a:t>adenohipófisis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, derivados </a:t>
            </a: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</a:p>
          <a:p>
            <a:pPr marL="0" indent="0">
              <a:buNone/>
            </a:pP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células endocrinas que pueden producir o no hormonas</a:t>
            </a: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Representan la patología tumoral más frecuente de la hipófisis </a:t>
            </a:r>
            <a:endParaRPr lang="es-E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Generalmente de crecimiento lento</a:t>
            </a:r>
          </a:p>
          <a:p>
            <a:pPr marL="0" indent="0">
              <a:buNone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076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44562"/>
          </a:xfrm>
        </p:spPr>
        <p:txBody>
          <a:bodyPr/>
          <a:lstStyle/>
          <a:p>
            <a:pPr algn="ctr"/>
            <a:r>
              <a:rPr lang="es-E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CLASIFICACIÓN PRINCIPAL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15847" y="1337300"/>
            <a:ext cx="8946541" cy="419548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Clasificación </a:t>
            </a:r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principal</a:t>
            </a:r>
          </a:p>
          <a:p>
            <a:pPr marL="0" indent="0">
              <a:buNone/>
            </a:pP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A) Según tamaño</a:t>
            </a:r>
          </a:p>
          <a:p>
            <a:pPr marL="0" indent="0">
              <a:buNone/>
            </a:pP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</a:rPr>
              <a:t>Microadenomas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: &lt; 10 mm </a:t>
            </a:r>
            <a:endParaRPr lang="es-E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</a:rPr>
              <a:t>Macroadenomas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: ≥ 10 mm </a:t>
            </a:r>
            <a:endParaRPr lang="es-E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B) Según función hormonal</a:t>
            </a:r>
          </a:p>
          <a:p>
            <a:pPr marL="0" indent="0">
              <a:buNone/>
            </a:pP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</a:rPr>
              <a:t>Funcionantes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</a:rPr>
              <a:t>secretantes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s-ES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No 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</a:rPr>
              <a:t>funcionantes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</a:rPr>
              <a:t>incidentalomas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470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76367"/>
          </a:xfrm>
        </p:spPr>
        <p:txBody>
          <a:bodyPr/>
          <a:lstStyle/>
          <a:p>
            <a:r>
              <a:rPr lang="es-E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ADENOMAS FUNCIONANTES (MÁS FRECUENTES CLÍNICAMENTE)</a:t>
            </a:r>
            <a:endParaRPr lang="es-E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47652" y="1216551"/>
            <a:ext cx="8946541" cy="437984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s-ES" b="1" dirty="0"/>
          </a:p>
          <a:p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</a:rPr>
              <a:t>Prolactinoma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(más frecuente) </a:t>
            </a:r>
          </a:p>
          <a:p>
            <a:pPr marL="457200" lvl="1" indent="0">
              <a:buNone/>
            </a:pPr>
            <a:r>
              <a:rPr lang="es-ES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Galactorrea, amenorrea, </a:t>
            </a:r>
            <a:r>
              <a:rPr lang="es-ES" b="1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hipogonadismo</a:t>
            </a:r>
            <a:r>
              <a:rPr lang="es-ES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ES" b="1" dirty="0" smtClean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Adenoma productor de GH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lvl="1" indent="0">
              <a:buNone/>
            </a:pPr>
            <a:r>
              <a:rPr lang="es-ES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Acromegalia / gigantismo </a:t>
            </a:r>
            <a:endParaRPr lang="es-ES" b="1" dirty="0" smtClean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Adenoma productor de ACTH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lvl="1" indent="0">
              <a:buNone/>
            </a:pPr>
            <a:r>
              <a:rPr lang="es-ES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Enfermedad de Cushing </a:t>
            </a:r>
            <a:endParaRPr lang="es-ES" b="1" dirty="0" smtClean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</a:rPr>
              <a:t>TSHoma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 (raro)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lvl="1" indent="0">
              <a:buNone/>
            </a:pPr>
            <a:r>
              <a:rPr lang="es-ES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Hipertiroidismo central</a:t>
            </a:r>
          </a:p>
        </p:txBody>
      </p:sp>
    </p:spTree>
    <p:extLst>
      <p:ext uri="{BB962C8B-B14F-4D97-AF65-F5344CB8AC3E}">
        <p14:creationId xmlns:p14="http://schemas.microsoft.com/office/powerpoint/2010/main" val="2362623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MANIFESTACIONES CLÍNICAS GENERALES</a:t>
            </a:r>
            <a:endParaRPr lang="es-ES" sz="24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Cefalea </a:t>
            </a:r>
            <a:endParaRPr lang="es-E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Déficit visual (hemianopsia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bitemporal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por compresión del quiasma óptico) </a:t>
            </a:r>
            <a:endParaRPr lang="es-E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Hipopituitarismo por efecto masa </a:t>
            </a:r>
            <a:endParaRPr lang="es-E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Síntomas hormonales según secreción </a:t>
            </a:r>
          </a:p>
        </p:txBody>
      </p:sp>
    </p:spTree>
    <p:extLst>
      <p:ext uri="{BB962C8B-B14F-4D97-AF65-F5344CB8AC3E}">
        <p14:creationId xmlns:p14="http://schemas.microsoft.com/office/powerpoint/2010/main" val="1578738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DIAGNÓSTICO</a:t>
            </a:r>
            <a:br>
              <a:rPr lang="es-E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RMN de hipófisi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s con contraste (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</a:rPr>
              <a:t>gold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 standard)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E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Dosaje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hormonal basal </a:t>
            </a:r>
            <a:endParaRPr lang="es-E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Campimetría visual</a:t>
            </a: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951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TRATAMIENTO</a:t>
            </a:r>
            <a:br>
              <a:rPr lang="es-E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3312" y="1423284"/>
            <a:ext cx="8946541" cy="4825116"/>
          </a:xfrm>
        </p:spPr>
        <p:txBody>
          <a:bodyPr/>
          <a:lstStyle/>
          <a:p>
            <a:pPr marL="0" indent="0">
              <a:buNone/>
            </a:pPr>
            <a:endParaRPr lang="es-ES" b="1" dirty="0"/>
          </a:p>
          <a:p>
            <a:r>
              <a:rPr lang="es-ES" b="1" dirty="0" err="1"/>
              <a:t>Prolactinomas</a:t>
            </a:r>
            <a:r>
              <a:rPr lang="es-ES" dirty="0"/>
              <a:t>: agonistas </a:t>
            </a:r>
            <a:r>
              <a:rPr lang="es-ES" dirty="0" err="1"/>
              <a:t>dopaminérgicos</a:t>
            </a:r>
            <a:r>
              <a:rPr lang="es-ES" dirty="0"/>
              <a:t> (</a:t>
            </a:r>
            <a:r>
              <a:rPr lang="es-ES" dirty="0" err="1"/>
              <a:t>cabergolina</a:t>
            </a:r>
            <a:r>
              <a:rPr lang="es-ES" dirty="0" smtClean="0"/>
              <a:t>)</a:t>
            </a:r>
          </a:p>
          <a:p>
            <a:pPr marL="0" indent="0">
              <a:buNone/>
            </a:pPr>
            <a:r>
              <a:rPr lang="es-ES" dirty="0" smtClean="0"/>
              <a:t> </a:t>
            </a:r>
            <a:endParaRPr lang="es-ES" dirty="0"/>
          </a:p>
          <a:p>
            <a:r>
              <a:rPr lang="es-ES" b="1" dirty="0"/>
              <a:t>Resto de adenomas: </a:t>
            </a:r>
          </a:p>
          <a:p>
            <a:pPr lvl="1"/>
            <a:r>
              <a:rPr lang="es-ES" dirty="0"/>
              <a:t>Cirugía </a:t>
            </a:r>
            <a:r>
              <a:rPr lang="es-ES" dirty="0" err="1"/>
              <a:t>transesfenoidal</a:t>
            </a:r>
            <a:r>
              <a:rPr lang="es-ES" dirty="0"/>
              <a:t> </a:t>
            </a:r>
          </a:p>
          <a:p>
            <a:pPr lvl="1"/>
            <a:r>
              <a:rPr lang="es-ES" dirty="0"/>
              <a:t>Radioterapia en casos seleccionados </a:t>
            </a:r>
          </a:p>
          <a:p>
            <a:pPr lvl="1"/>
            <a:r>
              <a:rPr lang="es-ES" dirty="0"/>
              <a:t>Tratamiento médico según hormona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06731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7850" y="3036094"/>
            <a:ext cx="7458075" cy="2228850"/>
          </a:xfrm>
          <a:prstGeom prst="rect">
            <a:avLst/>
          </a:prstGeom>
        </p:spPr>
      </p:pic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46111" y="229655"/>
            <a:ext cx="7996100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Concepto clave clínico</a:t>
            </a:r>
            <a:r>
              <a:rPr kumimoji="0" lang="es-E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s-E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E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600" b="1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“No todos los adenomas hipofisarios son iguales: su comportamiento depende </a:t>
            </a:r>
            <a:br>
              <a:rPr kumimoji="0" lang="es-ES" sz="1600" b="1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</a:br>
            <a:r>
              <a:rPr lang="es-ES" sz="1600" b="1" dirty="0">
                <a:solidFill>
                  <a:srgbClr val="FFFF00"/>
                </a:solidFill>
                <a:latin typeface="Arial" panose="020B0604020202020204" pitchFamily="34" charset="0"/>
              </a:rPr>
              <a:t/>
            </a:r>
            <a:br>
              <a:rPr lang="es-ES" sz="1600" b="1" dirty="0">
                <a:solidFill>
                  <a:srgbClr val="FFFF00"/>
                </a:solidFill>
                <a:latin typeface="Arial" panose="020B0604020202020204" pitchFamily="34" charset="0"/>
              </a:rPr>
            </a:br>
            <a:r>
              <a:rPr kumimoji="0" lang="es-ES" sz="1600" b="1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de la hormona que secretan y </a:t>
            </a:r>
            <a:br>
              <a:rPr kumimoji="0" lang="es-ES" sz="1600" b="1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</a:br>
            <a:r>
              <a:rPr lang="es-ES" sz="1600" b="1" dirty="0">
                <a:solidFill>
                  <a:srgbClr val="FFFF00"/>
                </a:solidFill>
                <a:latin typeface="Arial" panose="020B0604020202020204" pitchFamily="34" charset="0"/>
              </a:rPr>
              <a:t/>
            </a:r>
            <a:br>
              <a:rPr lang="es-ES" sz="1600" b="1" dirty="0">
                <a:solidFill>
                  <a:srgbClr val="FFFF00"/>
                </a:solidFill>
                <a:latin typeface="Arial" panose="020B0604020202020204" pitchFamily="34" charset="0"/>
              </a:rPr>
            </a:br>
            <a:r>
              <a:rPr kumimoji="0" lang="es-ES" sz="1600" b="1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del efecto de masa.”</a:t>
            </a:r>
          </a:p>
        </p:txBody>
      </p:sp>
    </p:spTree>
    <p:extLst>
      <p:ext uri="{BB962C8B-B14F-4D97-AF65-F5344CB8AC3E}">
        <p14:creationId xmlns:p14="http://schemas.microsoft.com/office/powerpoint/2010/main" val="4176348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440</TotalTime>
  <Words>972</Words>
  <Application>Microsoft Office PowerPoint</Application>
  <PresentationFormat>Panorámica</PresentationFormat>
  <Paragraphs>353</Paragraphs>
  <Slides>36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1" baseType="lpstr">
      <vt:lpstr>Arial</vt:lpstr>
      <vt:lpstr>Century Gothic</vt:lpstr>
      <vt:lpstr>Wingdings</vt:lpstr>
      <vt:lpstr>Wingdings 3</vt:lpstr>
      <vt:lpstr>Ion</vt:lpstr>
      <vt:lpstr>   CÁTEDRA DE MEDICINA INTERNA III  </vt:lpstr>
      <vt:lpstr>Presentación de PowerPoint</vt:lpstr>
      <vt:lpstr>GLÁNDULAS </vt:lpstr>
      <vt:lpstr>HIPOTÁLAMO</vt:lpstr>
      <vt:lpstr>Presentación de PowerPoint</vt:lpstr>
      <vt:lpstr>Presentación de PowerPoint</vt:lpstr>
      <vt:lpstr>HORMONAS HIPOTALÁMICAS</vt:lpstr>
      <vt:lpstr>ANATOMÍA DE LA HIPÓFISIS </vt:lpstr>
      <vt:lpstr>Presentación de PowerPoint</vt:lpstr>
      <vt:lpstr>DIVISIÓN ANATÓMICA</vt:lpstr>
      <vt:lpstr>HISTOLOGIA</vt:lpstr>
      <vt:lpstr>Presentación de PowerPoint</vt:lpstr>
      <vt:lpstr>POMC: Proopiomelanocortina</vt:lpstr>
      <vt:lpstr>IMPORTANTE</vt:lpstr>
      <vt:lpstr>HIPÓFISIS – GLÁNDULA PITUITARIA  Se sitúa en la base del cerebro y se divide en dos lóbulos: </vt:lpstr>
      <vt:lpstr>Presentación de PowerPoint</vt:lpstr>
      <vt:lpstr> HORMONAS DE LA ADENOHIPÓFISIS</vt:lpstr>
      <vt:lpstr>Presentación de PowerPoint</vt:lpstr>
      <vt:lpstr>NEUROHIPÓFISIS</vt:lpstr>
      <vt:lpstr>  VASOPRESINA (ADH)</vt:lpstr>
      <vt:lpstr>  OXITOCINA</vt:lpstr>
      <vt:lpstr> RETROALIMENTACIÓN HORMONAL</vt:lpstr>
      <vt:lpstr>Presentación de PowerPoint</vt:lpstr>
      <vt:lpstr> LA RETROALIMENTACIÓN POSITIVA   Amplifica una respuesta fisiológica hasta que el estímulo desaparece. </vt:lpstr>
      <vt:lpstr>RITMOS BIOLÓGICOS DE SECRECIÓN HORMONAL</vt:lpstr>
      <vt:lpstr>RITMO PULSÁTIL</vt:lpstr>
      <vt:lpstr>Presentación de PowerPoint</vt:lpstr>
      <vt:lpstr>CLAVE PARA RECORDAR </vt:lpstr>
      <vt:lpstr>RESUMEN</vt:lpstr>
      <vt:lpstr>ADENOMAS HIPOFISARIOS </vt:lpstr>
      <vt:lpstr>CLASIFICACIÓN PRINCIPAL</vt:lpstr>
      <vt:lpstr>ADENOMAS FUNCIONANTES (MÁS FRECUENTES CLÍNICAMENTE)</vt:lpstr>
      <vt:lpstr>MANIFESTACIONES CLÍNICAS GENERALES</vt:lpstr>
      <vt:lpstr>DIAGNÓSTICO </vt:lpstr>
      <vt:lpstr>TRATAMIENTO </vt:lpstr>
      <vt:lpstr>Concepto clave clínico  “No todos los adenomas hipofisarios son iguales: su comportamiento depende   de la hormona que secretan y   del efecto de masa.”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usuario</cp:lastModifiedBy>
  <cp:revision>48</cp:revision>
  <dcterms:created xsi:type="dcterms:W3CDTF">2026-06-30T15:49:58Z</dcterms:created>
  <dcterms:modified xsi:type="dcterms:W3CDTF">2026-07-17T19:33:14Z</dcterms:modified>
</cp:coreProperties>
</file>