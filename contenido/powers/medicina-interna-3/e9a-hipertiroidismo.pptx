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37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1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2039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33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7426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6530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5348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7963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86169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1360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8F61E08-288A-4787-A2AC-4AB379058BBF}" type="datetimeFigureOut">
              <a:rPr lang="es-AR" smtClean="0"/>
              <a:t>20/8/2025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D082E-9CA4-4395-A7ED-208B6DF7F4B7}" type="slidenum">
              <a:rPr lang="es-AR" smtClean="0"/>
              <a:t>‹Nº›</a:t>
            </a:fld>
            <a:endParaRPr lang="es-AR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8948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E2D7B-A33A-4108-83A6-6BAF0A8976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Medicina Interna III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4C5AB-5FFD-49E1-9EF0-F4029274C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1224" y="1160440"/>
            <a:ext cx="6408650" cy="2268559"/>
          </a:xfrm>
        </p:spPr>
        <p:txBody>
          <a:bodyPr>
            <a:normAutofit fontScale="92500" lnSpcReduction="20000"/>
          </a:bodyPr>
          <a:lstStyle/>
          <a:p>
            <a:r>
              <a:rPr lang="es-MX" sz="1800" b="1" dirty="0">
                <a:latin typeface="Arial"/>
                <a:cs typeface="Arial"/>
              </a:rPr>
              <a:t>Dr.</a:t>
            </a:r>
            <a:r>
              <a:rPr lang="es-MX" sz="1800" b="1" spc="-5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Roberto</a:t>
            </a:r>
            <a:r>
              <a:rPr lang="es-MX" sz="1800" b="1" spc="-1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M.</a:t>
            </a:r>
            <a:r>
              <a:rPr lang="es-MX" sz="1800" b="1" spc="-8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Pelayes</a:t>
            </a:r>
            <a:r>
              <a:rPr lang="es-MX" sz="1800" b="1" spc="2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-</a:t>
            </a:r>
            <a:r>
              <a:rPr lang="es-MX" sz="1800" b="1" spc="-6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Profesor</a:t>
            </a:r>
            <a:r>
              <a:rPr lang="es-MX" sz="1800" b="1" spc="-10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Adjunto</a:t>
            </a:r>
            <a:r>
              <a:rPr lang="es-MX" sz="1800" b="1" spc="3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a</a:t>
            </a:r>
            <a:r>
              <a:rPr lang="es-MX" sz="1800" b="1" spc="-60" dirty="0">
                <a:latin typeface="Arial"/>
                <a:cs typeface="Arial"/>
              </a:rPr>
              <a:t> </a:t>
            </a:r>
            <a:r>
              <a:rPr lang="es-MX" sz="1800" b="1" spc="-10" dirty="0">
                <a:latin typeface="Arial"/>
                <a:cs typeface="Arial"/>
              </a:rPr>
              <a:t>Cargo.</a:t>
            </a:r>
            <a:br>
              <a:rPr lang="es-MX" sz="1800" dirty="0">
                <a:latin typeface="Arial"/>
                <a:cs typeface="Arial"/>
              </a:rPr>
            </a:br>
            <a:r>
              <a:rPr lang="es-MX" sz="1800" b="1" dirty="0">
                <a:latin typeface="Arial"/>
                <a:cs typeface="Arial"/>
              </a:rPr>
              <a:t>Especialista</a:t>
            </a:r>
            <a:r>
              <a:rPr lang="es-MX" sz="1800" b="1" spc="-2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en</a:t>
            </a:r>
            <a:r>
              <a:rPr lang="es-MX" sz="1800" b="1" spc="-6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Clínica</a:t>
            </a:r>
            <a:r>
              <a:rPr lang="es-MX" sz="1800" b="1" spc="-3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Médica</a:t>
            </a:r>
            <a:r>
              <a:rPr lang="es-MX" sz="1800" b="1" spc="-5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-</a:t>
            </a:r>
            <a:r>
              <a:rPr lang="es-MX" sz="1800" b="1" spc="-4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Endocrinología</a:t>
            </a:r>
            <a:r>
              <a:rPr lang="es-MX" sz="1800" b="1" spc="-1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-</a:t>
            </a:r>
            <a:r>
              <a:rPr lang="es-MX" sz="1800" b="1" spc="-45" dirty="0">
                <a:latin typeface="Arial"/>
                <a:cs typeface="Arial"/>
              </a:rPr>
              <a:t> </a:t>
            </a:r>
            <a:r>
              <a:rPr lang="es-MX" sz="1800" b="1" spc="-10" dirty="0">
                <a:latin typeface="Arial"/>
                <a:cs typeface="Arial"/>
              </a:rPr>
              <a:t>Diabetología </a:t>
            </a:r>
            <a:r>
              <a:rPr lang="es-MX" sz="1800" b="1" dirty="0">
                <a:latin typeface="Arial"/>
                <a:cs typeface="Arial"/>
              </a:rPr>
              <a:t>Jefe</a:t>
            </a:r>
            <a:r>
              <a:rPr lang="es-MX" sz="1800" b="1" spc="-4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Sección</a:t>
            </a:r>
            <a:r>
              <a:rPr lang="es-MX" sz="1800" b="1" spc="-50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de</a:t>
            </a:r>
            <a:r>
              <a:rPr lang="es-MX" sz="1800" b="1" spc="-4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Endocrinología</a:t>
            </a:r>
            <a:r>
              <a:rPr lang="es-MX" sz="1800" b="1" spc="-2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y</a:t>
            </a:r>
            <a:r>
              <a:rPr lang="es-MX" sz="1800" b="1" spc="-60" dirty="0">
                <a:latin typeface="Arial"/>
                <a:cs typeface="Arial"/>
              </a:rPr>
              <a:t> </a:t>
            </a:r>
            <a:r>
              <a:rPr lang="es-MX" sz="1800" b="1" spc="-10" dirty="0">
                <a:latin typeface="Arial"/>
                <a:cs typeface="Arial"/>
              </a:rPr>
              <a:t>Diabetes</a:t>
            </a:r>
            <a:br>
              <a:rPr lang="es-MX" sz="1800" dirty="0">
                <a:latin typeface="Arial"/>
                <a:cs typeface="Arial"/>
              </a:rPr>
            </a:br>
            <a:r>
              <a:rPr lang="es-MX" sz="1800" b="1" dirty="0">
                <a:latin typeface="Arial"/>
                <a:cs typeface="Arial"/>
              </a:rPr>
              <a:t>Prof.</a:t>
            </a:r>
            <a:r>
              <a:rPr lang="es-MX" sz="1800" b="1" spc="-6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de</a:t>
            </a:r>
            <a:r>
              <a:rPr lang="es-MX" sz="1800" b="1" spc="-3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Grado</a:t>
            </a:r>
            <a:r>
              <a:rPr lang="es-MX" sz="1800" b="1" spc="-45" dirty="0">
                <a:latin typeface="Arial"/>
                <a:cs typeface="Arial"/>
              </a:rPr>
              <a:t> </a:t>
            </a:r>
            <a:r>
              <a:rPr lang="es-MX" sz="1800" b="1" dirty="0">
                <a:latin typeface="Arial"/>
                <a:cs typeface="Arial"/>
              </a:rPr>
              <a:t>Universitario en</a:t>
            </a:r>
            <a:r>
              <a:rPr lang="es-MX" sz="1800" b="1" spc="-60" dirty="0">
                <a:latin typeface="Arial"/>
                <a:cs typeface="Arial"/>
              </a:rPr>
              <a:t> </a:t>
            </a:r>
            <a:r>
              <a:rPr lang="es-MX" sz="1800" b="1" spc="-10" dirty="0">
                <a:latin typeface="Arial"/>
                <a:cs typeface="Arial"/>
              </a:rPr>
              <a:t>Medicina</a:t>
            </a:r>
            <a:br>
              <a:rPr lang="es-MX" sz="1800" b="1" spc="-10" dirty="0">
                <a:solidFill>
                  <a:srgbClr val="404040"/>
                </a:solidFill>
                <a:latin typeface="Arial"/>
                <a:cs typeface="Arial"/>
              </a:rPr>
            </a:br>
            <a:r>
              <a:rPr lang="es-MX" sz="1800" b="1" spc="-10" dirty="0">
                <a:solidFill>
                  <a:srgbClr val="FFFFFF"/>
                </a:solidFill>
                <a:latin typeface="Arial"/>
                <a:cs typeface="Arial"/>
              </a:rPr>
              <a:t>Dr. Franco Bellomo – JTP</a:t>
            </a:r>
            <a:br>
              <a:rPr lang="es-MX" sz="1800" b="1" spc="-1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s-MX" sz="1800" b="1" spc="-10" dirty="0">
                <a:solidFill>
                  <a:schemeClr val="tx1"/>
                </a:solidFill>
                <a:latin typeface="Arial"/>
                <a:cs typeface="Arial"/>
              </a:rPr>
              <a:t>Especialista en Medicina Interna – Diabetología</a:t>
            </a:r>
            <a:br>
              <a:rPr lang="es-MX" sz="1800" b="1" spc="-10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s-MX" sz="1800" b="1" spc="-10" dirty="0">
                <a:solidFill>
                  <a:schemeClr val="tx1"/>
                </a:solidFill>
                <a:latin typeface="Arial"/>
                <a:cs typeface="Arial"/>
              </a:rPr>
              <a:t>Sección endocrinología y diabetes – Hospital T. J. Schestakow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655F63-966A-471D-8AFC-51657C6EC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511" y="4563277"/>
            <a:ext cx="1816765" cy="182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6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FA2CF-B6B2-4F68-A932-F404118C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Hipertiroidismo: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63BD16-97DA-42AD-B758-CA96BC19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Tirotoxicosis:</a:t>
            </a:r>
            <a:r>
              <a:rPr lang="es-MX" dirty="0"/>
              <a:t> cuadro clínico debido a un exceso de hormonas tiroideas. Hiperfunción glandular, destrucción de la glándulas, ingesta de hormonas tiroideas o derivados</a:t>
            </a:r>
          </a:p>
          <a:p>
            <a:r>
              <a:rPr lang="es-MX" b="1" dirty="0"/>
              <a:t>Hipertiroidismo: </a:t>
            </a:r>
            <a:r>
              <a:rPr lang="es-MX" dirty="0"/>
              <a:t>Cuadro clínico debido a la hiperfunción glandular</a:t>
            </a:r>
          </a:p>
          <a:p>
            <a:r>
              <a:rPr lang="es-MX" b="1" dirty="0"/>
              <a:t>Hiperfunción tiroidea: </a:t>
            </a:r>
            <a:r>
              <a:rPr lang="es-MX" dirty="0"/>
              <a:t>Exceso de actividad de la glándula que se puede demostrar por distintos recursos diagnósticos. Puede tener manifestaciones clínicas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080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AD9D0-6529-41CA-AFF8-895EFD24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Síndrome hipertiroideo: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47DD54-6B27-4498-B84C-961AFFF1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Aumento del metabolismo energético, con predominio del catabolismo, con excesiva producción de calor y necesidad de disiparlo</a:t>
            </a:r>
          </a:p>
          <a:p>
            <a:r>
              <a:rPr lang="es-MX" dirty="0"/>
              <a:t>Aumento de la cantidad y sensibilidad de los receptores beta adrenérgicos., con actividad aumentada de catecolaminas.</a:t>
            </a:r>
          </a:p>
          <a:p>
            <a:pPr marL="0" indent="0">
              <a:buNone/>
            </a:pPr>
            <a:r>
              <a:rPr lang="es-MX" dirty="0"/>
              <a:t>Se conocen cuadros de hipertiroidismo clínico e hipotiroidismo subclínico.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6844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17E33-EC72-4532-9ECD-ED456AC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Hipertiroidismo subclínico: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4E35CC-CADC-4095-A81D-96C2056CD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TSH subnormal, con T4 y T3 sin superar los máximos normales</a:t>
            </a:r>
            <a:r>
              <a:rPr lang="es-MX" dirty="0"/>
              <a:t>.</a:t>
            </a:r>
          </a:p>
          <a:p>
            <a:r>
              <a:rPr lang="es-MX" dirty="0"/>
              <a:t>Pocos enfermos con Hipertiroidismo subclínico evolucionan a la enfermedad.</a:t>
            </a:r>
          </a:p>
          <a:p>
            <a:r>
              <a:rPr lang="es-MX" dirty="0"/>
              <a:t>Puede complicar situaciones de enfermedad CV, FA, ICC, trastornos psiquiátricos, entre otros.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8753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25FE5-6CF0-4796-A9BB-95AFA104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Hipertiroidismo manifiesto: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E71389-AA6E-447E-B800-75E27312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Instauración lenta y progresiva</a:t>
            </a:r>
            <a:r>
              <a:rPr lang="es-AR" dirty="0"/>
              <a:t>, aunque puede coincidir con estrés psíquico y metabólico.</a:t>
            </a:r>
          </a:p>
          <a:p>
            <a:r>
              <a:rPr lang="es-AR" dirty="0"/>
              <a:t>Síntomas y signos</a:t>
            </a:r>
          </a:p>
          <a:p>
            <a:r>
              <a:rPr lang="es-AR" dirty="0"/>
              <a:t>Producción de calor, tolerancia al frio, sudoración, piel caliente</a:t>
            </a:r>
          </a:p>
          <a:p>
            <a:r>
              <a:rPr lang="es-AR" dirty="0"/>
              <a:t>Psíquicos y neuro: irritabilidad, nerviosismo, labilidad emocional. Temblor fino. emocional, insomnio, ansiedad.</a:t>
            </a:r>
          </a:p>
          <a:p>
            <a:r>
              <a:rPr lang="es-AR" dirty="0"/>
              <a:t>Piel y anexos: La piel es caliente, suave, humedad pro vasodilatación cutánea y aumento de las transpiración. Dermografismo. Puede haber vitíligo. Signo de Plummer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F867FF-307B-4CA5-BE2A-8BD80FB5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022" y="4617878"/>
            <a:ext cx="1810003" cy="216247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4FF73C-74AB-4033-9A0F-0AA6288A7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09" y="808056"/>
            <a:ext cx="2784628" cy="16137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CDE6D48-FC67-4169-A396-624F616B3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09" y="4436170"/>
            <a:ext cx="1836720" cy="226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B52B49-E4A3-4A55-BA17-7078DE60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6035" y="995082"/>
            <a:ext cx="8674104" cy="5054862"/>
          </a:xfrm>
        </p:spPr>
        <p:txBody>
          <a:bodyPr/>
          <a:lstStyle/>
          <a:p>
            <a:r>
              <a:rPr lang="es-MX" dirty="0"/>
              <a:t>Ojos: retracción y retardo del parpado superior. Aumento de la apertura palpebral.</a:t>
            </a:r>
          </a:p>
          <a:p>
            <a:r>
              <a:rPr lang="es-MX" dirty="0"/>
              <a:t>CV: estado circulatorio hiperdinámico: Volumen sistólico y FC aumentada, Resistencias periféricas disminuidas, taquicardia. Soplos sistólicos</a:t>
            </a:r>
          </a:p>
          <a:p>
            <a:r>
              <a:rPr lang="es-MX" dirty="0"/>
              <a:t>Digestivos: Aumento del apetito. Adelgazamiento</a:t>
            </a:r>
            <a:r>
              <a:rPr lang="es-AR" dirty="0"/>
              <a:t>. Anorexia en acianos.</a:t>
            </a:r>
          </a:p>
          <a:p>
            <a:r>
              <a:rPr lang="es-AR" dirty="0"/>
              <a:t>SOMA: debilidad y fatigabilidad muscular. Miopatía Tirotoxica. Parálisis hipocalemia. Osteopatía tirotoxica.</a:t>
            </a:r>
          </a:p>
          <a:p>
            <a:r>
              <a:rPr lang="es-AR" dirty="0"/>
              <a:t>Reproductor: Al comienzo, hay aumento de la libido en ambos sexos. hipomenorrea y amenorrea. Fertilidad disminuida.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123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A2BDC-067E-411A-9ECA-4E055474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Clasificación etiopatogénica: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2929FC-9CA9-40FC-9FBC-F78911AD7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es-MX" dirty="0"/>
              <a:t>Bocio difuso toxico (Enf. De Graves – Basedow)</a:t>
            </a:r>
          </a:p>
          <a:p>
            <a:pPr marL="457200" indent="-457200">
              <a:buFont typeface="+mj-lt"/>
              <a:buAutoNum type="alphaUcPeriod"/>
            </a:pPr>
            <a:r>
              <a:rPr lang="es-MX" dirty="0"/>
              <a:t>Bocio uninodular toxico (Enf. De Plummer)</a:t>
            </a:r>
          </a:p>
          <a:p>
            <a:pPr marL="457200" indent="-457200">
              <a:buFont typeface="+mj-lt"/>
              <a:buAutoNum type="alphaUcPeriod"/>
            </a:pPr>
            <a:r>
              <a:rPr lang="es-MX" dirty="0"/>
              <a:t>Bocio multinodular toxico</a:t>
            </a:r>
          </a:p>
          <a:p>
            <a:pPr marL="457200" indent="-457200">
              <a:buFont typeface="+mj-lt"/>
              <a:buAutoNum type="alphaUcPeriod"/>
            </a:pPr>
            <a:r>
              <a:rPr lang="es-MX" dirty="0"/>
              <a:t>Bocio con hipertiroidismo por yodo exógeno (Jod-Basedow)</a:t>
            </a:r>
          </a:p>
          <a:p>
            <a:pPr marL="457200" indent="-457200">
              <a:buFont typeface="+mj-lt"/>
              <a:buAutoNum type="alphaUcPeriod"/>
            </a:pPr>
            <a:r>
              <a:rPr lang="es-MX" dirty="0"/>
              <a:t>Exceso exógeno de hormona tiroidea</a:t>
            </a:r>
            <a:r>
              <a:rPr lang="es-AR" dirty="0"/>
              <a:t> (hipertiroidismo facticio)</a:t>
            </a:r>
          </a:p>
          <a:p>
            <a:pPr marL="457200" indent="-457200">
              <a:buFont typeface="+mj-lt"/>
              <a:buAutoNum type="alphaUcPeriod"/>
            </a:pPr>
            <a:r>
              <a:rPr lang="es-AR" dirty="0"/>
              <a:t>Tumores</a:t>
            </a:r>
          </a:p>
          <a:p>
            <a:pPr marL="457200" indent="-457200">
              <a:buFont typeface="+mj-lt"/>
              <a:buAutoNum type="alphaUcPeriod"/>
            </a:pPr>
            <a:r>
              <a:rPr lang="es-AR" dirty="0"/>
              <a:t>Tiroiditis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065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7AE75-7F3B-4E0C-B7DE-84B652BC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Bocio difuso toxico o Enf. de Graves Basedow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9B19A7-9147-49C8-AD07-A3455E49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Triada: Bocio, hipertiroidismo y exoftalmos</a:t>
            </a:r>
          </a:p>
          <a:p>
            <a:r>
              <a:rPr lang="es-MX" dirty="0"/>
              <a:t>Menos frecuencia se asocia a mixedema pretibial y acropaquías.</a:t>
            </a:r>
          </a:p>
          <a:p>
            <a:r>
              <a:rPr lang="es-MX" dirty="0"/>
              <a:t>Toda la glandular es hiperfuncionante</a:t>
            </a:r>
          </a:p>
          <a:p>
            <a:r>
              <a:rPr lang="es-MX" dirty="0"/>
              <a:t>Epidemio: 3ra y 5ta década de la vida. 5 a 10 veces mas en la mujer.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13B100-6747-4E8F-8728-09434D18D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3" y="3346081"/>
            <a:ext cx="2038635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1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835DA-9420-4AC0-9852-FCA85547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Enfermedad de Graves Basedow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033B21-A12B-4CED-B645-4B859BBA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Etiopatogenia: enfermedad autoinmune, órgano especifica, en la que el aumento de la hormona y el bocio se deverian a la acción de Ac estimulantes de tiroides (</a:t>
            </a:r>
            <a:r>
              <a:rPr lang="es-MX" dirty="0" err="1"/>
              <a:t>Trab</a:t>
            </a:r>
            <a:r>
              <a:rPr lang="es-MX" dirty="0"/>
              <a:t>) (IgG). No es especifica.</a:t>
            </a:r>
          </a:p>
          <a:p>
            <a:r>
              <a:rPr lang="es-MX" dirty="0"/>
              <a:t>AP: agrandamiento difuso de la glándula, simétrica, en goma de borrar. Alta celularidad.</a:t>
            </a:r>
          </a:p>
          <a:p>
            <a:r>
              <a:rPr lang="es-MX" dirty="0"/>
              <a:t>Clínica: Bocio, Exoftalmopatía, Mixedema pretribial, Acropaquia.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B89467-E56C-49F6-B3ED-36539F0C2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13" y="584999"/>
            <a:ext cx="2392566" cy="24943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84908C2-4836-4DD6-BF4F-2E00B9E3E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" y="3246208"/>
            <a:ext cx="3807556" cy="25383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BDF08AC-4AFC-49A4-AE4C-89E5CB646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591" y="164288"/>
            <a:ext cx="2857899" cy="388674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697C1EC-8886-40D7-9CB0-DBFFDCE3A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659" y="4649941"/>
            <a:ext cx="3958190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4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5B12-AFAA-4D61-B6FB-2223D865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Formas clínicas especiales: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9A7A51-FA54-4858-B2FC-B5887EECD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Enfermedad de Graves Basedow neonatal</a:t>
            </a:r>
          </a:p>
          <a:p>
            <a:r>
              <a:rPr lang="es-MX" dirty="0"/>
              <a:t>Hipertiroidismo apático: astenia, apatía y gran taquicardia, perdida de peso</a:t>
            </a:r>
          </a:p>
          <a:p>
            <a:r>
              <a:rPr lang="es-MX" dirty="0"/>
              <a:t>Hipertiroidismo en el anciano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7503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7A368-CF9D-4D5C-88DC-13D6414F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Diagnóstico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42780-241E-47ED-80DE-FFA230B9F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Clínica</a:t>
            </a:r>
          </a:p>
          <a:p>
            <a:r>
              <a:rPr lang="es-MX" dirty="0"/>
              <a:t>Perfil tiroideo séricos, captación de I131, centellograma tiroideo y Ac</a:t>
            </a:r>
            <a:endParaRPr lang="es-AR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F120B61-C813-4F9D-96A3-CA1A1010D9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7248" y="1385316"/>
            <a:ext cx="5937504" cy="408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7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5DC6-44FB-403E-99A4-336DCC027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Tratamiento: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B3D1B9-5932-4165-9B61-9DA7BCA0A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Médico</a:t>
            </a:r>
          </a:p>
          <a:p>
            <a:r>
              <a:rPr lang="es-MX" dirty="0"/>
              <a:t>Quirúrgico</a:t>
            </a:r>
          </a:p>
          <a:p>
            <a:r>
              <a:rPr lang="es-MX" dirty="0"/>
              <a:t>Tto con I131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76252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1DA08-E6CC-46C3-BF5B-91E58800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Tratamiento médico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C44AF-2681-4710-BC56-C2321C979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260109"/>
            <a:ext cx="7796540" cy="3997828"/>
          </a:xfrm>
        </p:spPr>
        <p:txBody>
          <a:bodyPr/>
          <a:lstStyle/>
          <a:p>
            <a:r>
              <a:rPr lang="es-MX" dirty="0"/>
              <a:t>Iodo: Exclusivamente para el preoperatorio inmediato. Puede presentarse el fenómeno de escape al efecto Wolff Chaikoff.</a:t>
            </a:r>
          </a:p>
          <a:p>
            <a:r>
              <a:rPr lang="es-MX" dirty="0"/>
              <a:t>BB: efecto sintomático, inhibiría el pasaje de T4 a T3.</a:t>
            </a:r>
          </a:p>
          <a:p>
            <a:r>
              <a:rPr lang="es-MX" dirty="0"/>
              <a:t>Tiocarbamidas: </a:t>
            </a:r>
            <a:r>
              <a:rPr lang="es-MX" dirty="0">
                <a:solidFill>
                  <a:srgbClr val="FFFF00"/>
                </a:solidFill>
              </a:rPr>
              <a:t>ATENCION</a:t>
            </a:r>
            <a:r>
              <a:rPr lang="es-MX" dirty="0"/>
              <a:t>: Agranulocitosis, leucopenia, exantema, artralgias, mialgia, trombocitopenia, hepatitis, adenomegalias, </a:t>
            </a:r>
            <a:r>
              <a:rPr lang="es-MX" dirty="0">
                <a:solidFill>
                  <a:srgbClr val="FFFF00"/>
                </a:solidFill>
              </a:rPr>
              <a:t>Alertar al paciente</a:t>
            </a:r>
            <a:endParaRPr lang="es-AR" dirty="0">
              <a:solidFill>
                <a:srgbClr val="FFFF00"/>
              </a:solidFill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5D82570-2525-4D0E-99BB-9DEF4F079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87357"/>
              </p:ext>
            </p:extLst>
          </p:nvPr>
        </p:nvGraphicFramePr>
        <p:xfrm>
          <a:off x="3807011" y="4644435"/>
          <a:ext cx="6096000" cy="213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6709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394022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3153974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MX" dirty="0"/>
                        <a:t>Tratamiento Médico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89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Inicial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Mantenimiento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337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Metilmercaptoimidazol (metimazol)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20 a 40 mg/día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15 a 30 mg/día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894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Propiltiouracilo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200 a 400 mg/día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150 a 300 mg/d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096290"/>
                  </a:ext>
                </a:extLst>
              </a:tr>
              <a:tr h="378510">
                <a:tc>
                  <a:txBody>
                    <a:bodyPr/>
                    <a:lstStyle/>
                    <a:p>
                      <a:r>
                        <a:rPr lang="es-MX" dirty="0"/>
                        <a:t>Propanolol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20 a 40 c/8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9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408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AF0F0-79C0-4DA4-9ADC-B3A2D178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Enfermedad de Plummer o Bocio nodular Tóxico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201C2-D210-4A57-A039-AC58DA95B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Nódulo tiroideo único, hipercaptante (caliente), con autonomía funcional que produce hormonas tiroideas, que suprime el parénquima glandular y la secreción de TSH.</a:t>
            </a:r>
          </a:p>
          <a:p>
            <a:r>
              <a:rPr lang="es-MX" dirty="0"/>
              <a:t>Epidemio: 40 y 50 años. Mas prevalente en mujeres</a:t>
            </a:r>
          </a:p>
          <a:p>
            <a:r>
              <a:rPr lang="es-MX" dirty="0"/>
              <a:t>Clínica: Bocio nodular con sme hipertiroideo habitual pero faltan las manifestaciones del GB. Manifestaciones CV mas notables (FA)</a:t>
            </a:r>
          </a:p>
          <a:p>
            <a:r>
              <a:rPr lang="es-MX" dirty="0"/>
              <a:t>Diagnostico: Ecografía, Centellograma “caliente”</a:t>
            </a:r>
          </a:p>
          <a:p>
            <a:r>
              <a:rPr lang="es-MX" dirty="0"/>
              <a:t>Tto: ablativo (cirugía 3 cm)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4FDA9E-4AD7-414C-8132-C0A92675B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59" y="621943"/>
            <a:ext cx="243874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0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0CA10-47B8-48BE-80B2-31A9D7F7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Bocio multinodular toxico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F85A14-ECB2-449F-9188-C56B5BE9E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Epidemio: edad avanzada, mujeres</a:t>
            </a:r>
          </a:p>
          <a:p>
            <a:r>
              <a:rPr lang="es-MX" dirty="0"/>
              <a:t>FP: 2 variantes: nódulos afuncionantes: Parénquima hiperfuncionante (bocio Basedowficado). Nódulos hiperfuncionantes, parénquima hipofuncionante (enf de Plummer).</a:t>
            </a:r>
          </a:p>
          <a:p>
            <a:r>
              <a:rPr lang="es-MX" dirty="0"/>
              <a:t>Clínica: sme hipertiroideo</a:t>
            </a:r>
          </a:p>
          <a:p>
            <a:r>
              <a:rPr lang="es-MX" dirty="0"/>
              <a:t>Dx: cetellografía, laboratorio.</a:t>
            </a:r>
          </a:p>
          <a:p>
            <a:r>
              <a:rPr lang="es-MX" dirty="0"/>
              <a:t>Tto: cx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6EA970-6F42-464C-91A2-17B9D3836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96" y="684590"/>
            <a:ext cx="181952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96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FE34E-BB3D-41B9-8CFA-CAF6A51D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Sme de Marine - Lenhart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4953C5-0181-4916-9A6A-041D76AB8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trata de Bocio difuso hiperfuncionante (Enf de Graves Basedow) con nódulos hiper funcionantes.</a:t>
            </a:r>
          </a:p>
          <a:p>
            <a:r>
              <a:rPr lang="es-MX" dirty="0"/>
              <a:t>Tratamiento: normalización del estado hormonal y tiroidectomía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6B5305-AAD3-4CF8-A39C-AE79A8F68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51" y="641225"/>
            <a:ext cx="3428114" cy="93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81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D88E9-769A-4538-8BC3-27DECF31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Bocio hipertiroideo inducido por Yodo (Jod – Basedow)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6F6EB3-E58B-41C7-BEE4-13B35FF4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Aparece en bocios nodulares o difusos de larga data, que presentan autonomía respecto a TSH</a:t>
            </a:r>
          </a:p>
          <a:p>
            <a:r>
              <a:rPr lang="es-MX" dirty="0"/>
              <a:t>Se lo ha observado con frecuencia en zonas carentes de yodo, luego de instaurar la profilaxis del bocio endémico.</a:t>
            </a:r>
          </a:p>
          <a:p>
            <a:r>
              <a:rPr lang="es-MX" dirty="0"/>
              <a:t>Enfermos añosos que reciben amiodarona.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79843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B1A29-D542-47DA-868C-892ADF06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Tumores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6387FA-1574-4563-ADDC-BCEA851A7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Adenoma folicular</a:t>
            </a:r>
          </a:p>
          <a:p>
            <a:r>
              <a:rPr lang="es-MX" dirty="0"/>
              <a:t>Carcinoma folicular</a:t>
            </a:r>
          </a:p>
          <a:p>
            <a:r>
              <a:rPr lang="es-MX" dirty="0"/>
              <a:t>Estruma ovárico</a:t>
            </a:r>
          </a:p>
          <a:p>
            <a:r>
              <a:rPr lang="es-MX" dirty="0"/>
              <a:t>Embarazo molar</a:t>
            </a:r>
          </a:p>
          <a:p>
            <a:r>
              <a:rPr lang="es-MX" dirty="0"/>
              <a:t>Tumores trofoblásticos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04368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E88ED-C55F-4314-9D12-60DC5E38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Tirotoxicosis facticia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4A4EE-E0DF-4536-9CB1-5ADAB34CF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debe a la ingestión, a sabiendas o no del enfermo de hormonas tiroideas.</a:t>
            </a:r>
          </a:p>
          <a:p>
            <a:r>
              <a:rPr lang="es-MX" dirty="0"/>
              <a:t>Atrofia glandular</a:t>
            </a:r>
          </a:p>
          <a:p>
            <a:r>
              <a:rPr lang="es-MX" dirty="0"/>
              <a:t>La captación de I131 esta muy disminuida, pero aumenta por la estimulación de la TSH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29826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1DAE1-86C0-4B59-8B3D-968D52B9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Tiroiditis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3D6AB-0D08-4DF1-A3F9-C994BEF9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observan cuadros de hipertiroidismo transitorio y poco manifiesto </a:t>
            </a:r>
          </a:p>
          <a:p>
            <a:r>
              <a:rPr lang="es-MX" dirty="0"/>
              <a:t>tiroiditis de De Quervain</a:t>
            </a:r>
          </a:p>
          <a:p>
            <a:r>
              <a:rPr lang="es-MX" dirty="0"/>
              <a:t>Sub aguda indolora</a:t>
            </a:r>
          </a:p>
          <a:p>
            <a:r>
              <a:rPr lang="es-MX" dirty="0"/>
              <a:t>Post parto</a:t>
            </a:r>
          </a:p>
          <a:p>
            <a:r>
              <a:rPr lang="es-MX" dirty="0"/>
              <a:t>Hashimoto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39878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8F6FE-025D-4D33-9308-4A253423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Orbitopatía tiroidea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1F9A3F-42BC-4452-9D33-5DD181A15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una manifestación de las enfermedades tiroideas autoinmunes</a:t>
            </a:r>
          </a:p>
          <a:p>
            <a:r>
              <a:rPr lang="es-MX" dirty="0"/>
              <a:t>Aumento del volumen del contenido orbitario retroocular, disfunción de los músculos externos del ojo y neuropatía óptica</a:t>
            </a:r>
          </a:p>
          <a:p>
            <a:r>
              <a:rPr lang="es-MX" dirty="0"/>
              <a:t>Clínica: retracción del parpado superior, aumento de la apertura palpebral, retraso del parpado superior al mirar hacia abajo. Inyección conjuntival, edema, edema palpebral y dolor. Ulceras corneales. Diplopía y convergencia.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EEFA36BA-E2A9-4357-9A41-4D309B36F0C9}"/>
              </a:ext>
            </a:extLst>
          </p:cNvPr>
          <p:cNvPicPr/>
          <p:nvPr/>
        </p:nvPicPr>
        <p:blipFill rotWithShape="1">
          <a:blip r:embed="rId2" cstate="print"/>
          <a:srcRect l="-841" t="931" r="510" b="6271"/>
          <a:stretch/>
        </p:blipFill>
        <p:spPr>
          <a:xfrm>
            <a:off x="3726963" y="968188"/>
            <a:ext cx="5889811" cy="492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B44A1-8FCB-48F1-9C16-F80C3A2A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Diagnostico y tto: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B7B00-5F9F-4D88-AE20-0EACE11C0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Exoftalmometria</a:t>
            </a:r>
          </a:p>
          <a:p>
            <a:r>
              <a:rPr lang="es-MX" dirty="0"/>
              <a:t>Ecografía orbitaria</a:t>
            </a:r>
          </a:p>
          <a:p>
            <a:r>
              <a:rPr lang="es-MX" dirty="0"/>
              <a:t>TAC</a:t>
            </a:r>
          </a:p>
          <a:p>
            <a:r>
              <a:rPr lang="es-MX" dirty="0"/>
              <a:t>RMN</a:t>
            </a:r>
          </a:p>
          <a:p>
            <a:r>
              <a:rPr lang="es-MX" dirty="0"/>
              <a:t>Tratamiento: Llevar al autiroidismo</a:t>
            </a:r>
            <a:r>
              <a:rPr lang="es-AR" dirty="0"/>
              <a:t>, suprimir el tbq, lubricante ocular, corticoterapia y radiación</a:t>
            </a:r>
            <a:endParaRPr lang="es-MX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3ACE655-2ADE-4FF8-8002-C2DA113A74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128" y="1872996"/>
            <a:ext cx="6333744" cy="311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14716-410B-44F9-A151-0F7CE273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Crisis o tormenta tirotóxica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3DCF43-0E3F-4067-A17A-D34352B0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la forma mas grave de las complicaciones del hipertiroidismo y una de las mayores emergencias endocrinas.</a:t>
            </a:r>
          </a:p>
          <a:p>
            <a:r>
              <a:rPr lang="es-MX" dirty="0"/>
              <a:t>Cualquier edad (3ra y 6ta década de la vida).</a:t>
            </a:r>
          </a:p>
          <a:p>
            <a:r>
              <a:rPr lang="es-MX" dirty="0"/>
              <a:t>Frecuencia menor del 10% y mortalidad entre el 10 y 75%.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36589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27F22-847B-47B9-B59E-80265E0B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Clínica y factores desencadenantes:</a:t>
            </a:r>
            <a:endParaRPr lang="es-AR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89443EF4-D65A-4736-B059-A3A0E355F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724742"/>
              </p:ext>
            </p:extLst>
          </p:nvPr>
        </p:nvGraphicFramePr>
        <p:xfrm>
          <a:off x="299104" y="2404625"/>
          <a:ext cx="653200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6001">
                  <a:extLst>
                    <a:ext uri="{9D8B030D-6E8A-4147-A177-3AD203B41FA5}">
                      <a16:colId xmlns:a16="http://schemas.microsoft.com/office/drawing/2014/main" val="2822470980"/>
                    </a:ext>
                  </a:extLst>
                </a:gridCol>
                <a:gridCol w="3266001">
                  <a:extLst>
                    <a:ext uri="{9D8B030D-6E8A-4147-A177-3AD203B41FA5}">
                      <a16:colId xmlns:a16="http://schemas.microsoft.com/office/drawing/2014/main" val="2004854892"/>
                    </a:ext>
                  </a:extLst>
                </a:gridCol>
              </a:tblGrid>
              <a:tr h="332351">
                <a:tc>
                  <a:txBody>
                    <a:bodyPr/>
                    <a:lstStyle/>
                    <a:p>
                      <a:r>
                        <a:rPr lang="es-MX" dirty="0"/>
                        <a:t>Tirotoxicosis no complicada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Crisis hipertiroidea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497938"/>
                  </a:ext>
                </a:extLst>
              </a:tr>
              <a:tr h="573647">
                <a:tc>
                  <a:txBody>
                    <a:bodyPr/>
                    <a:lstStyle/>
                    <a:p>
                      <a:r>
                        <a:rPr lang="es-MX" dirty="0"/>
                        <a:t>Intolerancia al calor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Hiperpirexia, temperatura superior a 41°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462937"/>
                  </a:ext>
                </a:extLst>
              </a:tr>
              <a:tr h="573647">
                <a:tc>
                  <a:txBody>
                    <a:bodyPr/>
                    <a:lstStyle/>
                    <a:p>
                      <a:r>
                        <a:rPr lang="es-MX" dirty="0"/>
                        <a:t>Taquicardia sinusal FC 10-140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Frecuencia cardiaca mayor a 140, hipotensión, arritmias, ICC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168702"/>
                  </a:ext>
                </a:extLst>
              </a:tr>
              <a:tr h="573647">
                <a:tc>
                  <a:txBody>
                    <a:bodyPr/>
                    <a:lstStyle/>
                    <a:p>
                      <a:r>
                        <a:rPr lang="es-MX" dirty="0"/>
                        <a:t>Diarrea, aumento del apetito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Nauseas, vómitos, disfunción hepática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905051"/>
                  </a:ext>
                </a:extLst>
              </a:tr>
              <a:tr h="573647">
                <a:tc>
                  <a:txBody>
                    <a:bodyPr/>
                    <a:lstStyle/>
                    <a:p>
                      <a:r>
                        <a:rPr lang="es-MX" dirty="0"/>
                        <a:t>Ansiedad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Confusión, agitación, delirio, psicosis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290450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FE676E4F-5A2F-44DC-BCF3-B8DE597E2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392903"/>
              </p:ext>
            </p:extLst>
          </p:nvPr>
        </p:nvGraphicFramePr>
        <p:xfrm>
          <a:off x="7086600" y="1346670"/>
          <a:ext cx="4646706" cy="5316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6706">
                  <a:extLst>
                    <a:ext uri="{9D8B030D-6E8A-4147-A177-3AD203B41FA5}">
                      <a16:colId xmlns:a16="http://schemas.microsoft.com/office/drawing/2014/main" val="3606024025"/>
                    </a:ext>
                  </a:extLst>
                </a:gridCol>
              </a:tblGrid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Factores desencadenantes</a:t>
                      </a:r>
                      <a:r>
                        <a:rPr lang="es-AR" dirty="0"/>
                        <a:t>: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8976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Infecciones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903354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Traumatismos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846555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Qx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84479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ACV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77839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TEP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395427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CAD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77457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Hipoglucemia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409624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Estrés físico o psíquico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68076"/>
                  </a:ext>
                </a:extLst>
              </a:tr>
              <a:tr h="531631">
                <a:tc>
                  <a:txBody>
                    <a:bodyPr/>
                    <a:lstStyle/>
                    <a:p>
                      <a:r>
                        <a:rPr lang="es-MX" dirty="0"/>
                        <a:t>IAM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21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810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06AFA-28C7-49C9-A5E6-C9026BE7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Tratamiento: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E17B83-A960-4ED7-AAA3-C4218DE22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Suprimir la actividad de las hormonas tiroideas</a:t>
            </a:r>
          </a:p>
          <a:p>
            <a:r>
              <a:rPr lang="es-MX" dirty="0"/>
              <a:t>Restituir la homeostasis multiorgánica</a:t>
            </a:r>
          </a:p>
          <a:p>
            <a:r>
              <a:rPr lang="es-MX" dirty="0"/>
              <a:t>Resolver o controla el trastorno precipitante</a:t>
            </a:r>
          </a:p>
          <a:p>
            <a:r>
              <a:rPr lang="es-MX" dirty="0"/>
              <a:t>Ablación tiroidea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51128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B49E1-260E-45AD-A2F1-A56EEA13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732ED3-8389-43BE-8334-D4FDAE562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Acciones sobre la HT: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Inhibir la síntesis : Metimazol 60 – 100 mg (dosis inicial), luego 20 a 40 mg c/6 a 8 hs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Popitltiouracilo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Yodo: Sol de Lugol débil. Litio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Inhibición de la conversión de T4 a T3: propanolol, dexametasona</a:t>
            </a:r>
          </a:p>
          <a:p>
            <a:r>
              <a:rPr lang="es-MX" dirty="0"/>
              <a:t>Soporte general</a:t>
            </a:r>
          </a:p>
          <a:p>
            <a:r>
              <a:rPr lang="es-MX" dirty="0"/>
              <a:t>Investigar y tratar la causa desencadenante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76150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2188F-E2DA-483D-9484-7DD97041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Muchas gracias por la atención…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14F41B-BFC3-4947-AD71-33020EB2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35213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213</TotalTime>
  <Words>1265</Words>
  <Application>Microsoft Office PowerPoint</Application>
  <PresentationFormat>Panorámica</PresentationFormat>
  <Paragraphs>151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MS Shell Dlg 2</vt:lpstr>
      <vt:lpstr>Wingdings</vt:lpstr>
      <vt:lpstr>Wingdings 3</vt:lpstr>
      <vt:lpstr>Madison</vt:lpstr>
      <vt:lpstr>Medicina Interna III</vt:lpstr>
      <vt:lpstr>Hipertiroidismo:</vt:lpstr>
      <vt:lpstr>Síndrome hipertiroideo:</vt:lpstr>
      <vt:lpstr>Hipertiroidismo subclínico:</vt:lpstr>
      <vt:lpstr>Hipertiroidismo manifiesto:</vt:lpstr>
      <vt:lpstr>Presentación de PowerPoint</vt:lpstr>
      <vt:lpstr>Clasificación etiopatogénica:</vt:lpstr>
      <vt:lpstr>Bocio difuso toxico o Enf. de Graves Basedow</vt:lpstr>
      <vt:lpstr>Enfermedad de Graves Basedow</vt:lpstr>
      <vt:lpstr>Formas clínicas especiales:</vt:lpstr>
      <vt:lpstr>Diagnóstico</vt:lpstr>
      <vt:lpstr>Tratamiento:</vt:lpstr>
      <vt:lpstr>Tratamiento médico</vt:lpstr>
      <vt:lpstr>Enfermedad de Plummer o Bocio nodular Tóxico</vt:lpstr>
      <vt:lpstr>Bocio multinodular toxico</vt:lpstr>
      <vt:lpstr>Sme de Marine - Lenhart</vt:lpstr>
      <vt:lpstr>Bocio hipertiroideo inducido por Yodo (Jod – Basedow)</vt:lpstr>
      <vt:lpstr>Tumores</vt:lpstr>
      <vt:lpstr>Tirotoxicosis facticia</vt:lpstr>
      <vt:lpstr>Tiroiditis</vt:lpstr>
      <vt:lpstr>Orbitopatía tiroidea</vt:lpstr>
      <vt:lpstr>Diagnostico y tto:</vt:lpstr>
      <vt:lpstr>Crisis o tormenta tirotóxica</vt:lpstr>
      <vt:lpstr>Clínica y factores desencadenantes:</vt:lpstr>
      <vt:lpstr>Tratamiento:</vt:lpstr>
      <vt:lpstr>Presentación de PowerPoint</vt:lpstr>
      <vt:lpstr>Muchas gracias por la atención…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 Interna III</dc:title>
  <dc:creator>Franco Bellomo</dc:creator>
  <cp:lastModifiedBy>Franco Bellomo</cp:lastModifiedBy>
  <cp:revision>19</cp:revision>
  <dcterms:created xsi:type="dcterms:W3CDTF">2025-08-20T01:12:23Z</dcterms:created>
  <dcterms:modified xsi:type="dcterms:W3CDTF">2025-08-21T01:52:46Z</dcterms:modified>
</cp:coreProperties>
</file>