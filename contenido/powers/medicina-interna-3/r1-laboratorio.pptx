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y="5143500" cx="9144000"/>
  <p:notesSz cx="6858000" cy="9144000"/>
  <p:embeddedFontLst>
    <p:embeddedFont>
      <p:font typeface="Figtree Medium"/>
      <p:regular r:id="rId51"/>
      <p:bold r:id="rId52"/>
      <p:italic r:id="rId53"/>
      <p:boldItalic r:id="rId54"/>
    </p:embeddedFont>
    <p:embeddedFont>
      <p:font typeface="Figtree"/>
      <p:regular r:id="rId55"/>
      <p:bold r:id="rId56"/>
      <p:italic r:id="rId57"/>
      <p:boldItalic r:id="rId58"/>
    </p:embeddedFont>
    <p:embeddedFont>
      <p:font typeface="Bebas Neue"/>
      <p:regular r:id="rId59"/>
    </p:embeddedFont>
    <p:embeddedFont>
      <p:font typeface="Kumbh Sans"/>
      <p:regular r:id="rId60"/>
      <p:bold r:id="rId61"/>
    </p:embeddedFont>
    <p:embeddedFont>
      <p:font typeface="Gill Sans"/>
      <p:regular r:id="rId62"/>
      <p:bold r:id="rId63"/>
    </p:embeddedFont>
    <p:embeddedFont>
      <p:font typeface="Kumbh Sans SemiBold"/>
      <p:regular r:id="rId64"/>
      <p:bold r:id="rId65"/>
    </p:embeddedFont>
    <p:embeddedFont>
      <p:font typeface="Kumbh Sans Medium"/>
      <p:regular r:id="rId66"/>
      <p:bold r:id="rId6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73720B0-C20C-4890-AE5A-15F954F96CD2}">
  <a:tblStyle styleId="{773720B0-C20C-4890-AE5A-15F954F96CD2}" styleName="Table_0">
    <a:wholeTbl>
      <a:tcTxStyle b="off" i="off">
        <a:font>
          <a:latin typeface="Gill Sans MT"/>
          <a:ea typeface="Gill Sans MT"/>
          <a:cs typeface="Gill Sans MT"/>
        </a:font>
        <a:srgbClr val="000000"/>
      </a:tcTxStyle>
      <a:tcStyle>
        <a:tcBdr>
          <a:left>
            <a:ln cap="flat" cmpd="sng" w="12700">
              <a:solidFill>
                <a:srgbClr val="F6A21D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6A21D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6A21D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6A21D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6A21D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6A21D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DF0E7"/>
          </a:solidFill>
        </a:fill>
      </a:tcStyle>
    </a:wholeTbl>
    <a:band1H>
      <a:tcTxStyle/>
      <a:tcStyle>
        <a:fill>
          <a:solidFill>
            <a:srgbClr val="FBDFCB"/>
          </a:solidFill>
        </a:fill>
      </a:tcStyle>
    </a:band1H>
    <a:band2H>
      <a:tcTxStyle/>
    </a:band2H>
    <a:band1V>
      <a:tcTxStyle/>
      <a:tcStyle>
        <a:fill>
          <a:solidFill>
            <a:srgbClr val="FBDFCB"/>
          </a:solidFill>
        </a:fill>
      </a:tcStyle>
    </a:band1V>
    <a:band2V>
      <a:tcTxStyle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25400">
              <a:solidFill>
                <a:srgbClr val="F6A21D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DF0E7"/>
          </a:solidFill>
        </a:fill>
      </a:tcStyle>
    </a:lastRow>
    <a:seCell>
      <a:tcTxStyle/>
    </a:seCell>
    <a:swCell>
      <a:tcTxStyle/>
    </a:swCell>
    <a:firstRow>
      <a:tcTxStyle b="on" i="off"/>
      <a:tcStyle>
        <a:fill>
          <a:solidFill>
            <a:srgbClr val="FDF0E7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GillSans-regular.fntdata"/><Relationship Id="rId61" Type="http://schemas.openxmlformats.org/officeDocument/2006/relationships/font" Target="fonts/KumbhSans-bold.fntdata"/><Relationship Id="rId20" Type="http://schemas.openxmlformats.org/officeDocument/2006/relationships/slide" Target="slides/slide14.xml"/><Relationship Id="rId64" Type="http://schemas.openxmlformats.org/officeDocument/2006/relationships/font" Target="fonts/KumbhSansSemiBold-regular.fntdata"/><Relationship Id="rId63" Type="http://schemas.openxmlformats.org/officeDocument/2006/relationships/font" Target="fonts/GillSans-bold.fntdata"/><Relationship Id="rId22" Type="http://schemas.openxmlformats.org/officeDocument/2006/relationships/slide" Target="slides/slide16.xml"/><Relationship Id="rId66" Type="http://schemas.openxmlformats.org/officeDocument/2006/relationships/font" Target="fonts/KumbhSansMedium-regular.fntdata"/><Relationship Id="rId21" Type="http://schemas.openxmlformats.org/officeDocument/2006/relationships/slide" Target="slides/slide15.xml"/><Relationship Id="rId65" Type="http://schemas.openxmlformats.org/officeDocument/2006/relationships/font" Target="fonts/KumbhSansSemiBold-bold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7" Type="http://schemas.openxmlformats.org/officeDocument/2006/relationships/font" Target="fonts/KumbhSansMedium-bold.fntdata"/><Relationship Id="rId60" Type="http://schemas.openxmlformats.org/officeDocument/2006/relationships/font" Target="fonts/KumbhSans-regular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FigtreeMedium-regular.fntdata"/><Relationship Id="rId50" Type="http://schemas.openxmlformats.org/officeDocument/2006/relationships/slide" Target="slides/slide44.xml"/><Relationship Id="rId53" Type="http://schemas.openxmlformats.org/officeDocument/2006/relationships/font" Target="fonts/FigtreeMedium-italic.fntdata"/><Relationship Id="rId52" Type="http://schemas.openxmlformats.org/officeDocument/2006/relationships/font" Target="fonts/FigtreeMedium-bold.fntdata"/><Relationship Id="rId11" Type="http://schemas.openxmlformats.org/officeDocument/2006/relationships/slide" Target="slides/slide5.xml"/><Relationship Id="rId55" Type="http://schemas.openxmlformats.org/officeDocument/2006/relationships/font" Target="fonts/Figtree-regular.fntdata"/><Relationship Id="rId10" Type="http://schemas.openxmlformats.org/officeDocument/2006/relationships/slide" Target="slides/slide4.xml"/><Relationship Id="rId54" Type="http://schemas.openxmlformats.org/officeDocument/2006/relationships/font" Target="fonts/FigtreeMedium-boldItalic.fntdata"/><Relationship Id="rId13" Type="http://schemas.openxmlformats.org/officeDocument/2006/relationships/slide" Target="slides/slide7.xml"/><Relationship Id="rId57" Type="http://schemas.openxmlformats.org/officeDocument/2006/relationships/font" Target="fonts/Figtree-italic.fntdata"/><Relationship Id="rId12" Type="http://schemas.openxmlformats.org/officeDocument/2006/relationships/slide" Target="slides/slide6.xml"/><Relationship Id="rId56" Type="http://schemas.openxmlformats.org/officeDocument/2006/relationships/font" Target="fonts/Figtree-bold.fntdata"/><Relationship Id="rId15" Type="http://schemas.openxmlformats.org/officeDocument/2006/relationships/slide" Target="slides/slide9.xml"/><Relationship Id="rId59" Type="http://schemas.openxmlformats.org/officeDocument/2006/relationships/font" Target="fonts/BebasNeue-regular.fntdata"/><Relationship Id="rId14" Type="http://schemas.openxmlformats.org/officeDocument/2006/relationships/slide" Target="slides/slide8.xml"/><Relationship Id="rId58" Type="http://schemas.openxmlformats.org/officeDocument/2006/relationships/font" Target="fonts/Figtree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2746c175164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2746c175164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746c175164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2746c175164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2746c175164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2746c175164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2746c175164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2746c175164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746c175164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2746c175164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2746c175164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2746c175164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746c175164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2746c175164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746c175164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2746c175164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2746c175164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2746c175164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2746c175164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2746c175164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2746c175164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2746c175164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2746c175164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2746c175164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2746c175164_0_4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2746c175164_0_4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2746c175164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2746c175164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2746c175164_0_5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2746c175164_0_5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2746c175164_0_5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2746c175164_0_5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2746c175164_0_5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2746c175164_0_5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2746c175164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2746c175164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2746c175164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2746c175164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2746c175164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2746c175164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2746c175164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2746c175164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2746c175164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2746c175164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2746c175164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2746c175164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2746c175164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2746c175164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2746c175164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2746c175164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2746c175164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2746c175164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2746c175164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2746c175164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2746c175164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2746c175164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2746c175164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2746c175164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2746c175164_0_5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2746c175164_0_5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2746c175164_0_5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2746c175164_0_5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2746c175164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2746c175164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2746c175164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2746c175164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2746c175164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g2746c175164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2746c175164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2746c175164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2746c175164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2746c175164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2746c175164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2746c175164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2746c175164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2746c175164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2746c175164_0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2746c175164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2746c175164_0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2746c175164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2746c175164_0_5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" name="Google Shape;514;g2746c175164_0_5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2746c175164_0_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7" name="Google Shape;527;g2746c175164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2746c175164_0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2746c175164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/>
          <p:nvPr>
            <p:ph type="ctrTitle"/>
          </p:nvPr>
        </p:nvSpPr>
        <p:spPr>
          <a:xfrm>
            <a:off x="3163675" y="844288"/>
            <a:ext cx="5267100" cy="181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63675" y="3629425"/>
            <a:ext cx="5980200" cy="487800"/>
          </a:xfrm>
          <a:prstGeom prst="rect">
            <a:avLst/>
          </a:prstGeom>
          <a:solidFill>
            <a:srgbClr val="FFFFFF">
              <a:alpha val="68990"/>
            </a:srgbClr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Figtree Medium"/>
                <a:ea typeface="Figtree Medium"/>
                <a:cs typeface="Figtree Medium"/>
                <a:sym typeface="Figtree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" name="Google Shape;12;p2"/>
          <p:cNvSpPr txBox="1"/>
          <p:nvPr>
            <p:ph idx="2" type="subTitle"/>
          </p:nvPr>
        </p:nvSpPr>
        <p:spPr>
          <a:xfrm rot="-5400000">
            <a:off x="-1258725" y="1430850"/>
            <a:ext cx="3207300" cy="345600"/>
          </a:xfrm>
          <a:prstGeom prst="rect">
            <a:avLst/>
          </a:prstGeom>
          <a:solidFill>
            <a:srgbClr val="FFFFFF">
              <a:alpha val="68990"/>
            </a:srgbClr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"/>
          <p:cNvSpPr txBox="1"/>
          <p:nvPr>
            <p:ph type="title"/>
          </p:nvPr>
        </p:nvSpPr>
        <p:spPr>
          <a:xfrm>
            <a:off x="2476200" y="2267950"/>
            <a:ext cx="50676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hasCustomPrompt="1" idx="2" type="title"/>
          </p:nvPr>
        </p:nvSpPr>
        <p:spPr>
          <a:xfrm>
            <a:off x="0" y="950850"/>
            <a:ext cx="2476200" cy="755100"/>
          </a:xfrm>
          <a:prstGeom prst="rect">
            <a:avLst/>
          </a:prstGeom>
          <a:solidFill>
            <a:srgbClr val="FFFFFF">
              <a:alpha val="6899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latin typeface="Figtree"/>
                <a:ea typeface="Figtree"/>
                <a:cs typeface="Figtree"/>
                <a:sym typeface="Figtre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2476200" y="3090500"/>
            <a:ext cx="6667800" cy="375000"/>
          </a:xfrm>
          <a:prstGeom prst="rect">
            <a:avLst/>
          </a:prstGeom>
          <a:solidFill>
            <a:srgbClr val="FFFFFF">
              <a:alpha val="6899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720000" y="1045650"/>
            <a:ext cx="7704000" cy="39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" y="1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subTitle"/>
          </p:nvPr>
        </p:nvSpPr>
        <p:spPr>
          <a:xfrm>
            <a:off x="5131484" y="3774405"/>
            <a:ext cx="250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6" name="Google Shape;26;p5"/>
          <p:cNvSpPr txBox="1"/>
          <p:nvPr>
            <p:ph idx="2" type="subTitle"/>
          </p:nvPr>
        </p:nvSpPr>
        <p:spPr>
          <a:xfrm>
            <a:off x="1507100" y="3774405"/>
            <a:ext cx="250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7" name="Google Shape;27;p5"/>
          <p:cNvSpPr txBox="1"/>
          <p:nvPr>
            <p:ph idx="3" type="subTitle"/>
          </p:nvPr>
        </p:nvSpPr>
        <p:spPr>
          <a:xfrm>
            <a:off x="5131475" y="3320700"/>
            <a:ext cx="2505600" cy="526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8" name="Google Shape;28;p5"/>
          <p:cNvSpPr txBox="1"/>
          <p:nvPr>
            <p:ph idx="4" type="subTitle"/>
          </p:nvPr>
        </p:nvSpPr>
        <p:spPr>
          <a:xfrm>
            <a:off x="1506875" y="3320700"/>
            <a:ext cx="2505600" cy="526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9" name="Google Shape;29;p5"/>
          <p:cNvSpPr/>
          <p:nvPr/>
        </p:nvSpPr>
        <p:spPr>
          <a:xfrm>
            <a:off x="-46400" y="4580100"/>
            <a:ext cx="9233100" cy="324900"/>
          </a:xfrm>
          <a:prstGeom prst="rect">
            <a:avLst/>
          </a:prstGeom>
          <a:solidFill>
            <a:srgbClr val="FFFFFF">
              <a:alpha val="689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7"/>
          <p:cNvSpPr txBox="1"/>
          <p:nvPr>
            <p:ph type="title"/>
          </p:nvPr>
        </p:nvSpPr>
        <p:spPr>
          <a:xfrm>
            <a:off x="4532750" y="997275"/>
            <a:ext cx="3788400" cy="109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" type="subTitle"/>
          </p:nvPr>
        </p:nvSpPr>
        <p:spPr>
          <a:xfrm>
            <a:off x="4548450" y="1971075"/>
            <a:ext cx="3788400" cy="22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37" name="Google Shape;37;p7"/>
          <p:cNvSpPr/>
          <p:nvPr>
            <p:ph idx="2" type="pic"/>
          </p:nvPr>
        </p:nvSpPr>
        <p:spPr>
          <a:xfrm>
            <a:off x="713225" y="539500"/>
            <a:ext cx="3005100" cy="4064400"/>
          </a:xfrm>
          <a:prstGeom prst="round2SameRect">
            <a:avLst>
              <a:gd fmla="val 50000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-16787" y="-9434"/>
            <a:ext cx="9177574" cy="5162371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8"/>
          <p:cNvSpPr txBox="1"/>
          <p:nvPr>
            <p:ph type="title"/>
          </p:nvPr>
        </p:nvSpPr>
        <p:spPr>
          <a:xfrm>
            <a:off x="1969350" y="1663650"/>
            <a:ext cx="5205300" cy="181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9"/>
          <p:cNvSpPr txBox="1"/>
          <p:nvPr>
            <p:ph type="title"/>
          </p:nvPr>
        </p:nvSpPr>
        <p:spPr>
          <a:xfrm>
            <a:off x="713225" y="0"/>
            <a:ext cx="3118800" cy="5143500"/>
          </a:xfrm>
          <a:prstGeom prst="rect">
            <a:avLst/>
          </a:prstGeom>
          <a:solidFill>
            <a:srgbClr val="FFFFFF">
              <a:alpha val="6899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1" type="subTitle"/>
          </p:nvPr>
        </p:nvSpPr>
        <p:spPr>
          <a:xfrm>
            <a:off x="5034700" y="3383575"/>
            <a:ext cx="3396000" cy="99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7" name="Google Shape;47;p10"/>
          <p:cNvSpPr txBox="1"/>
          <p:nvPr>
            <p:ph type="title"/>
          </p:nvPr>
        </p:nvSpPr>
        <p:spPr>
          <a:xfrm>
            <a:off x="-33150" y="4014450"/>
            <a:ext cx="9210300" cy="572700"/>
          </a:xfrm>
          <a:prstGeom prst="rect">
            <a:avLst/>
          </a:prstGeom>
          <a:solidFill>
            <a:srgbClr val="FFFFFF">
              <a:alpha val="68990"/>
            </a:srgbClr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11"/>
          <p:cNvSpPr/>
          <p:nvPr/>
        </p:nvSpPr>
        <p:spPr>
          <a:xfrm rot="5400000">
            <a:off x="4321800" y="200300"/>
            <a:ext cx="500400" cy="9160500"/>
          </a:xfrm>
          <a:prstGeom prst="rect">
            <a:avLst/>
          </a:prstGeom>
          <a:solidFill>
            <a:srgbClr val="FFFFFF">
              <a:alpha val="689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11"/>
          <p:cNvSpPr/>
          <p:nvPr/>
        </p:nvSpPr>
        <p:spPr>
          <a:xfrm rot="5400000">
            <a:off x="4450950" y="-4363150"/>
            <a:ext cx="242100" cy="9160500"/>
          </a:xfrm>
          <a:prstGeom prst="rect">
            <a:avLst/>
          </a:prstGeom>
          <a:solidFill>
            <a:srgbClr val="FFFFFF">
              <a:alpha val="689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1"/>
          <p:cNvSpPr txBox="1"/>
          <p:nvPr>
            <p:ph hasCustomPrompt="1" type="title"/>
          </p:nvPr>
        </p:nvSpPr>
        <p:spPr>
          <a:xfrm>
            <a:off x="1284000" y="1618400"/>
            <a:ext cx="6576000" cy="140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latin typeface="Figtree"/>
                <a:ea typeface="Figtree"/>
                <a:cs typeface="Figtree"/>
                <a:sym typeface="Figtre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53" name="Google Shape;53;p11"/>
          <p:cNvSpPr txBox="1"/>
          <p:nvPr>
            <p:ph idx="1" type="subTitle"/>
          </p:nvPr>
        </p:nvSpPr>
        <p:spPr>
          <a:xfrm>
            <a:off x="0" y="3028100"/>
            <a:ext cx="9144000" cy="497100"/>
          </a:xfrm>
          <a:prstGeom prst="rect">
            <a:avLst/>
          </a:prstGeom>
          <a:solidFill>
            <a:srgbClr val="FFFFFF">
              <a:alpha val="6899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5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25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1" type="subTitle"/>
          </p:nvPr>
        </p:nvSpPr>
        <p:spPr>
          <a:xfrm>
            <a:off x="720000" y="2220202"/>
            <a:ext cx="2305500" cy="52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2" type="subTitle"/>
          </p:nvPr>
        </p:nvSpPr>
        <p:spPr>
          <a:xfrm>
            <a:off x="3419271" y="2220202"/>
            <a:ext cx="2305500" cy="52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3" type="subTitle"/>
          </p:nvPr>
        </p:nvSpPr>
        <p:spPr>
          <a:xfrm>
            <a:off x="720000" y="3806002"/>
            <a:ext cx="2305500" cy="52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3"/>
          <p:cNvSpPr txBox="1"/>
          <p:nvPr>
            <p:ph idx="4" type="subTitle"/>
          </p:nvPr>
        </p:nvSpPr>
        <p:spPr>
          <a:xfrm>
            <a:off x="3419271" y="3806002"/>
            <a:ext cx="2305500" cy="52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3"/>
          <p:cNvSpPr txBox="1"/>
          <p:nvPr>
            <p:ph idx="5" type="subTitle"/>
          </p:nvPr>
        </p:nvSpPr>
        <p:spPr>
          <a:xfrm>
            <a:off x="6118549" y="2220202"/>
            <a:ext cx="2305500" cy="52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3"/>
          <p:cNvSpPr txBox="1"/>
          <p:nvPr>
            <p:ph idx="6" type="subTitle"/>
          </p:nvPr>
        </p:nvSpPr>
        <p:spPr>
          <a:xfrm>
            <a:off x="6118549" y="3806002"/>
            <a:ext cx="2305500" cy="52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3"/>
          <p:cNvSpPr txBox="1"/>
          <p:nvPr>
            <p:ph hasCustomPrompt="1" idx="7" type="title"/>
          </p:nvPr>
        </p:nvSpPr>
        <p:spPr>
          <a:xfrm>
            <a:off x="818402" y="1353758"/>
            <a:ext cx="734700" cy="447600"/>
          </a:xfrm>
          <a:prstGeom prst="rect">
            <a:avLst/>
          </a:prstGeom>
          <a:solidFill>
            <a:srgbClr val="FFFFFF">
              <a:alpha val="6899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>
                <a:latin typeface="Figtree"/>
                <a:ea typeface="Figtree"/>
                <a:cs typeface="Figtree"/>
                <a:sym typeface="Figtre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5" name="Google Shape;65;p13"/>
          <p:cNvSpPr txBox="1"/>
          <p:nvPr>
            <p:ph hasCustomPrompt="1" idx="8" type="title"/>
          </p:nvPr>
        </p:nvSpPr>
        <p:spPr>
          <a:xfrm>
            <a:off x="818402" y="2930591"/>
            <a:ext cx="734700" cy="447600"/>
          </a:xfrm>
          <a:prstGeom prst="rect">
            <a:avLst/>
          </a:prstGeom>
          <a:solidFill>
            <a:srgbClr val="FFFFFF">
              <a:alpha val="6899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>
                <a:latin typeface="Figtree"/>
                <a:ea typeface="Figtree"/>
                <a:cs typeface="Figtree"/>
                <a:sym typeface="Figtre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6" name="Google Shape;66;p13"/>
          <p:cNvSpPr txBox="1"/>
          <p:nvPr>
            <p:ph hasCustomPrompt="1" idx="9" type="title"/>
          </p:nvPr>
        </p:nvSpPr>
        <p:spPr>
          <a:xfrm>
            <a:off x="3517677" y="1344783"/>
            <a:ext cx="734700" cy="447600"/>
          </a:xfrm>
          <a:prstGeom prst="rect">
            <a:avLst/>
          </a:prstGeom>
          <a:solidFill>
            <a:srgbClr val="FFFFFF">
              <a:alpha val="6899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>
                <a:latin typeface="Figtree"/>
                <a:ea typeface="Figtree"/>
                <a:cs typeface="Figtree"/>
                <a:sym typeface="Figtre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7" name="Google Shape;67;p13"/>
          <p:cNvSpPr txBox="1"/>
          <p:nvPr>
            <p:ph hasCustomPrompt="1" idx="13" type="title"/>
          </p:nvPr>
        </p:nvSpPr>
        <p:spPr>
          <a:xfrm>
            <a:off x="3517677" y="2930591"/>
            <a:ext cx="734700" cy="447600"/>
          </a:xfrm>
          <a:prstGeom prst="rect">
            <a:avLst/>
          </a:prstGeom>
          <a:solidFill>
            <a:srgbClr val="FFFFFF">
              <a:alpha val="6899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>
                <a:latin typeface="Figtree"/>
                <a:ea typeface="Figtree"/>
                <a:cs typeface="Figtree"/>
                <a:sym typeface="Figtre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8" name="Google Shape;68;p13"/>
          <p:cNvSpPr txBox="1"/>
          <p:nvPr>
            <p:ph hasCustomPrompt="1" idx="14" type="title"/>
          </p:nvPr>
        </p:nvSpPr>
        <p:spPr>
          <a:xfrm>
            <a:off x="6216952" y="1344783"/>
            <a:ext cx="734700" cy="447600"/>
          </a:xfrm>
          <a:prstGeom prst="rect">
            <a:avLst/>
          </a:prstGeom>
          <a:solidFill>
            <a:srgbClr val="FFFFFF">
              <a:alpha val="6899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>
                <a:latin typeface="Figtree"/>
                <a:ea typeface="Figtree"/>
                <a:cs typeface="Figtree"/>
                <a:sym typeface="Figtre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9" name="Google Shape;69;p13"/>
          <p:cNvSpPr txBox="1"/>
          <p:nvPr>
            <p:ph hasCustomPrompt="1" idx="15" type="title"/>
          </p:nvPr>
        </p:nvSpPr>
        <p:spPr>
          <a:xfrm>
            <a:off x="6216952" y="2930591"/>
            <a:ext cx="734700" cy="447600"/>
          </a:xfrm>
          <a:prstGeom prst="rect">
            <a:avLst/>
          </a:prstGeom>
          <a:solidFill>
            <a:srgbClr val="FFFFFF">
              <a:alpha val="6899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>
                <a:latin typeface="Figtree"/>
                <a:ea typeface="Figtree"/>
                <a:cs typeface="Figtree"/>
                <a:sym typeface="Figtre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0" name="Google Shape;70;p13"/>
          <p:cNvSpPr txBox="1"/>
          <p:nvPr>
            <p:ph idx="16" type="subTitle"/>
          </p:nvPr>
        </p:nvSpPr>
        <p:spPr>
          <a:xfrm>
            <a:off x="720000" y="1813875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1" name="Google Shape;71;p13"/>
          <p:cNvSpPr txBox="1"/>
          <p:nvPr>
            <p:ph idx="17" type="subTitle"/>
          </p:nvPr>
        </p:nvSpPr>
        <p:spPr>
          <a:xfrm>
            <a:off x="3419275" y="1813875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2" name="Google Shape;72;p13"/>
          <p:cNvSpPr txBox="1"/>
          <p:nvPr>
            <p:ph idx="18" type="subTitle"/>
          </p:nvPr>
        </p:nvSpPr>
        <p:spPr>
          <a:xfrm>
            <a:off x="6118550" y="1813875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3" name="Google Shape;73;p13"/>
          <p:cNvSpPr txBox="1"/>
          <p:nvPr>
            <p:ph idx="19" type="subTitle"/>
          </p:nvPr>
        </p:nvSpPr>
        <p:spPr>
          <a:xfrm>
            <a:off x="720000" y="3399750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4" name="Google Shape;74;p13"/>
          <p:cNvSpPr txBox="1"/>
          <p:nvPr>
            <p:ph idx="20" type="subTitle"/>
          </p:nvPr>
        </p:nvSpPr>
        <p:spPr>
          <a:xfrm>
            <a:off x="3419275" y="3399750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5" name="Google Shape;75;p13"/>
          <p:cNvSpPr txBox="1"/>
          <p:nvPr>
            <p:ph idx="21" type="subTitle"/>
          </p:nvPr>
        </p:nvSpPr>
        <p:spPr>
          <a:xfrm>
            <a:off x="6118550" y="3399750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11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2" y="10"/>
            <a:ext cx="9143997" cy="5143493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4"/>
          <p:cNvSpPr txBox="1"/>
          <p:nvPr>
            <p:ph type="title"/>
          </p:nvPr>
        </p:nvSpPr>
        <p:spPr>
          <a:xfrm>
            <a:off x="713225" y="2539725"/>
            <a:ext cx="50676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9" name="Google Shape;79;p14"/>
          <p:cNvSpPr txBox="1"/>
          <p:nvPr>
            <p:ph hasCustomPrompt="1" idx="2" type="title"/>
          </p:nvPr>
        </p:nvSpPr>
        <p:spPr>
          <a:xfrm>
            <a:off x="7456750" y="0"/>
            <a:ext cx="974100" cy="2127600"/>
          </a:xfrm>
          <a:prstGeom prst="rect">
            <a:avLst/>
          </a:prstGeom>
          <a:solidFill>
            <a:srgbClr val="FFFFFF">
              <a:alpha val="68990"/>
            </a:srgbClr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latin typeface="Figtree"/>
                <a:ea typeface="Figtree"/>
                <a:cs typeface="Figtree"/>
                <a:sym typeface="Figtre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713225" y="3362275"/>
            <a:ext cx="8430900" cy="375000"/>
          </a:xfrm>
          <a:prstGeom prst="rect">
            <a:avLst/>
          </a:prstGeom>
          <a:solidFill>
            <a:srgbClr val="FFFFFF">
              <a:alpha val="6899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5"/>
          <p:cNvSpPr txBox="1"/>
          <p:nvPr>
            <p:ph type="title"/>
          </p:nvPr>
        </p:nvSpPr>
        <p:spPr>
          <a:xfrm>
            <a:off x="0" y="3193050"/>
            <a:ext cx="9144000" cy="531900"/>
          </a:xfrm>
          <a:prstGeom prst="rect">
            <a:avLst/>
          </a:prstGeom>
          <a:solidFill>
            <a:srgbClr val="FFFFFF">
              <a:alpha val="6266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4" name="Google Shape;84;p15"/>
          <p:cNvSpPr txBox="1"/>
          <p:nvPr>
            <p:ph idx="1" type="subTitle"/>
          </p:nvPr>
        </p:nvSpPr>
        <p:spPr>
          <a:xfrm>
            <a:off x="1455000" y="1418538"/>
            <a:ext cx="6234000" cy="147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6"/>
          <p:cNvSpPr txBox="1"/>
          <p:nvPr>
            <p:ph type="title"/>
          </p:nvPr>
        </p:nvSpPr>
        <p:spPr>
          <a:xfrm>
            <a:off x="2517300" y="1674150"/>
            <a:ext cx="4109400" cy="72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" type="subTitle"/>
          </p:nvPr>
        </p:nvSpPr>
        <p:spPr>
          <a:xfrm>
            <a:off x="2517300" y="2400751"/>
            <a:ext cx="4109400" cy="10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7"/>
          <p:cNvSpPr/>
          <p:nvPr>
            <p:ph idx="2" type="pic"/>
          </p:nvPr>
        </p:nvSpPr>
        <p:spPr>
          <a:xfrm>
            <a:off x="4745800" y="665875"/>
            <a:ext cx="3161700" cy="3817800"/>
          </a:xfrm>
          <a:prstGeom prst="rect">
            <a:avLst/>
          </a:prstGeom>
          <a:noFill/>
          <a:ln>
            <a:noFill/>
          </a:ln>
        </p:spPr>
      </p:sp>
      <p:sp>
        <p:nvSpPr>
          <p:cNvPr id="92" name="Google Shape;92;p17"/>
          <p:cNvSpPr txBox="1"/>
          <p:nvPr>
            <p:ph type="title"/>
          </p:nvPr>
        </p:nvSpPr>
        <p:spPr>
          <a:xfrm>
            <a:off x="713225" y="1252675"/>
            <a:ext cx="3233100" cy="164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3" name="Google Shape;93;p17"/>
          <p:cNvSpPr txBox="1"/>
          <p:nvPr>
            <p:ph idx="1" type="subTitle"/>
          </p:nvPr>
        </p:nvSpPr>
        <p:spPr>
          <a:xfrm>
            <a:off x="713225" y="2821625"/>
            <a:ext cx="3233100" cy="106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8"/>
          <p:cNvSpPr txBox="1"/>
          <p:nvPr>
            <p:ph idx="1" type="subTitle"/>
          </p:nvPr>
        </p:nvSpPr>
        <p:spPr>
          <a:xfrm>
            <a:off x="2015850" y="4031300"/>
            <a:ext cx="5112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8" name="Google Shape;98;p18"/>
          <p:cNvSpPr/>
          <p:nvPr/>
        </p:nvSpPr>
        <p:spPr>
          <a:xfrm>
            <a:off x="8644825" y="0"/>
            <a:ext cx="285000" cy="5143500"/>
          </a:xfrm>
          <a:prstGeom prst="rect">
            <a:avLst/>
          </a:prstGeom>
          <a:solidFill>
            <a:srgbClr val="FFFFFF">
              <a:alpha val="689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8"/>
          <p:cNvSpPr/>
          <p:nvPr/>
        </p:nvSpPr>
        <p:spPr>
          <a:xfrm>
            <a:off x="214175" y="0"/>
            <a:ext cx="285000" cy="5143500"/>
          </a:xfrm>
          <a:prstGeom prst="rect">
            <a:avLst/>
          </a:prstGeom>
          <a:solidFill>
            <a:srgbClr val="FFFFFF">
              <a:alpha val="689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4_1_1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 txBox="1"/>
          <p:nvPr>
            <p:ph type="title"/>
          </p:nvPr>
        </p:nvSpPr>
        <p:spPr>
          <a:xfrm>
            <a:off x="1337325" y="1783263"/>
            <a:ext cx="29628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3" name="Google Shape;103;p19"/>
          <p:cNvSpPr txBox="1"/>
          <p:nvPr>
            <p:ph idx="1" type="subTitle"/>
          </p:nvPr>
        </p:nvSpPr>
        <p:spPr>
          <a:xfrm>
            <a:off x="1337466" y="2279763"/>
            <a:ext cx="2962800" cy="108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4_1_1_1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0"/>
          <p:cNvSpPr txBox="1"/>
          <p:nvPr>
            <p:ph type="title"/>
          </p:nvPr>
        </p:nvSpPr>
        <p:spPr>
          <a:xfrm>
            <a:off x="4842525" y="1783263"/>
            <a:ext cx="29628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7" name="Google Shape;107;p20"/>
          <p:cNvSpPr txBox="1"/>
          <p:nvPr>
            <p:ph idx="1" type="subTitle"/>
          </p:nvPr>
        </p:nvSpPr>
        <p:spPr>
          <a:xfrm>
            <a:off x="4842666" y="2279763"/>
            <a:ext cx="2962800" cy="108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5">
  <p:cSld name="CUSTOM_13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1" name="Google Shape;111;p21"/>
          <p:cNvSpPr txBox="1"/>
          <p:nvPr>
            <p:ph idx="1" type="subTitle"/>
          </p:nvPr>
        </p:nvSpPr>
        <p:spPr>
          <a:xfrm>
            <a:off x="713225" y="1353700"/>
            <a:ext cx="7704000" cy="316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ctor"/>
              <a:buChar char="●"/>
              <a:defRPr b="0"/>
            </a:lvl1pPr>
            <a:lvl2pPr lvl="1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605338"/>
              </a:buClr>
              <a:buSzPts val="1400"/>
              <a:buFont typeface="Actor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5338"/>
              </a:buClr>
              <a:buSzPts val="1400"/>
              <a:buFont typeface="Actor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5338"/>
              </a:buClr>
              <a:buSzPts val="1400"/>
              <a:buFont typeface="Actor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5338"/>
              </a:buClr>
              <a:buSzPts val="1400"/>
              <a:buFont typeface="Actor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5338"/>
              </a:buClr>
              <a:buSzPts val="1400"/>
              <a:buFont typeface="Actor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5338"/>
              </a:buClr>
              <a:buSzPts val="1400"/>
              <a:buFont typeface="Actor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5338"/>
              </a:buClr>
              <a:buSzPts val="1400"/>
              <a:buFont typeface="Actor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5338"/>
              </a:buClr>
              <a:buSzPts val="1400"/>
              <a:buFont typeface="Actor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6">
  <p:cSld name="CUSTOM_15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5" name="Google Shape;115;p22"/>
          <p:cNvSpPr txBox="1"/>
          <p:nvPr>
            <p:ph idx="1" type="subTitle"/>
          </p:nvPr>
        </p:nvSpPr>
        <p:spPr>
          <a:xfrm>
            <a:off x="713225" y="1179825"/>
            <a:ext cx="7704000" cy="1510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/>
            </a:lvl1pPr>
            <a:lvl2pPr lvl="1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9" name="Google Shape;119;p23"/>
          <p:cNvSpPr txBox="1"/>
          <p:nvPr>
            <p:ph idx="1" type="subTitle"/>
          </p:nvPr>
        </p:nvSpPr>
        <p:spPr>
          <a:xfrm>
            <a:off x="5177763" y="3129423"/>
            <a:ext cx="2672400" cy="101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23"/>
          <p:cNvSpPr txBox="1"/>
          <p:nvPr>
            <p:ph idx="2" type="subTitle"/>
          </p:nvPr>
        </p:nvSpPr>
        <p:spPr>
          <a:xfrm>
            <a:off x="1293838" y="3129423"/>
            <a:ext cx="2672400" cy="101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3"/>
          <p:cNvSpPr txBox="1"/>
          <p:nvPr>
            <p:ph idx="3" type="subTitle"/>
          </p:nvPr>
        </p:nvSpPr>
        <p:spPr>
          <a:xfrm>
            <a:off x="1293838" y="2641800"/>
            <a:ext cx="26724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22" name="Google Shape;122;p23"/>
          <p:cNvSpPr txBox="1"/>
          <p:nvPr>
            <p:ph idx="4" type="subTitle"/>
          </p:nvPr>
        </p:nvSpPr>
        <p:spPr>
          <a:xfrm>
            <a:off x="5177766" y="2641800"/>
            <a:ext cx="26724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6" name="Google Shape;126;p24"/>
          <p:cNvSpPr txBox="1"/>
          <p:nvPr>
            <p:ph idx="1" type="subTitle"/>
          </p:nvPr>
        </p:nvSpPr>
        <p:spPr>
          <a:xfrm>
            <a:off x="4752853" y="1515225"/>
            <a:ext cx="3578100" cy="267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24"/>
          <p:cNvSpPr txBox="1"/>
          <p:nvPr>
            <p:ph idx="2" type="subTitle"/>
          </p:nvPr>
        </p:nvSpPr>
        <p:spPr>
          <a:xfrm>
            <a:off x="813122" y="1515225"/>
            <a:ext cx="3578100" cy="267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3">
  <p:cSld name="TITLE_AND_TWO_COLUMNS_1_1_1_1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1" name="Google Shape;131;p25"/>
          <p:cNvSpPr txBox="1"/>
          <p:nvPr>
            <p:ph idx="1" type="subTitle"/>
          </p:nvPr>
        </p:nvSpPr>
        <p:spPr>
          <a:xfrm>
            <a:off x="4630025" y="1113550"/>
            <a:ext cx="3794100" cy="3490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2" name="Google Shape;132;p25"/>
          <p:cNvSpPr txBox="1"/>
          <p:nvPr>
            <p:ph idx="2" type="subTitle"/>
          </p:nvPr>
        </p:nvSpPr>
        <p:spPr>
          <a:xfrm>
            <a:off x="713225" y="1113550"/>
            <a:ext cx="3794100" cy="3490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/>
            </a:lvl1pPr>
            <a:lvl2pPr lvl="1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6" name="Google Shape;136;p26"/>
          <p:cNvSpPr txBox="1"/>
          <p:nvPr>
            <p:ph idx="1" type="subTitle"/>
          </p:nvPr>
        </p:nvSpPr>
        <p:spPr>
          <a:xfrm>
            <a:off x="937626" y="3494528"/>
            <a:ext cx="2175300" cy="8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26"/>
          <p:cNvSpPr txBox="1"/>
          <p:nvPr>
            <p:ph idx="2" type="subTitle"/>
          </p:nvPr>
        </p:nvSpPr>
        <p:spPr>
          <a:xfrm>
            <a:off x="3484347" y="3494528"/>
            <a:ext cx="2175300" cy="8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26"/>
          <p:cNvSpPr txBox="1"/>
          <p:nvPr>
            <p:ph idx="3" type="subTitle"/>
          </p:nvPr>
        </p:nvSpPr>
        <p:spPr>
          <a:xfrm>
            <a:off x="6031074" y="3494528"/>
            <a:ext cx="2175300" cy="8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26"/>
          <p:cNvSpPr txBox="1"/>
          <p:nvPr>
            <p:ph idx="4" type="subTitle"/>
          </p:nvPr>
        </p:nvSpPr>
        <p:spPr>
          <a:xfrm>
            <a:off x="937625" y="3039951"/>
            <a:ext cx="21753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40" name="Google Shape;140;p26"/>
          <p:cNvSpPr txBox="1"/>
          <p:nvPr>
            <p:ph idx="5" type="subTitle"/>
          </p:nvPr>
        </p:nvSpPr>
        <p:spPr>
          <a:xfrm>
            <a:off x="3484350" y="3039951"/>
            <a:ext cx="21753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41" name="Google Shape;141;p26"/>
          <p:cNvSpPr txBox="1"/>
          <p:nvPr>
            <p:ph idx="6" type="subTitle"/>
          </p:nvPr>
        </p:nvSpPr>
        <p:spPr>
          <a:xfrm>
            <a:off x="6031075" y="3039951"/>
            <a:ext cx="21753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7"/>
          <p:cNvSpPr/>
          <p:nvPr/>
        </p:nvSpPr>
        <p:spPr>
          <a:xfrm rot="5400000">
            <a:off x="4416300" y="281475"/>
            <a:ext cx="311400" cy="9160500"/>
          </a:xfrm>
          <a:prstGeom prst="rect">
            <a:avLst/>
          </a:prstGeom>
          <a:solidFill>
            <a:srgbClr val="FFFFFF">
              <a:alpha val="689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6" name="Google Shape;146;p27"/>
          <p:cNvSpPr txBox="1"/>
          <p:nvPr>
            <p:ph idx="1" type="subTitle"/>
          </p:nvPr>
        </p:nvSpPr>
        <p:spPr>
          <a:xfrm>
            <a:off x="1365425" y="2085518"/>
            <a:ext cx="25053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27"/>
          <p:cNvSpPr txBox="1"/>
          <p:nvPr>
            <p:ph idx="2" type="subTitle"/>
          </p:nvPr>
        </p:nvSpPr>
        <p:spPr>
          <a:xfrm>
            <a:off x="5266503" y="2085518"/>
            <a:ext cx="25053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27"/>
          <p:cNvSpPr txBox="1"/>
          <p:nvPr>
            <p:ph idx="3" type="subTitle"/>
          </p:nvPr>
        </p:nvSpPr>
        <p:spPr>
          <a:xfrm>
            <a:off x="1365425" y="3518924"/>
            <a:ext cx="25053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27"/>
          <p:cNvSpPr txBox="1"/>
          <p:nvPr>
            <p:ph idx="4" type="subTitle"/>
          </p:nvPr>
        </p:nvSpPr>
        <p:spPr>
          <a:xfrm>
            <a:off x="5266503" y="3518924"/>
            <a:ext cx="25053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27"/>
          <p:cNvSpPr txBox="1"/>
          <p:nvPr>
            <p:ph idx="5" type="subTitle"/>
          </p:nvPr>
        </p:nvSpPr>
        <p:spPr>
          <a:xfrm>
            <a:off x="1365425" y="1657100"/>
            <a:ext cx="2505300" cy="48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Char char="-"/>
              <a:defRPr sz="24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Char char="-"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Char char="-"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Char char="-"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Char char="-"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Char char="-"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Char char="-"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Char char="-"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Char char="-"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51" name="Google Shape;151;p27"/>
          <p:cNvSpPr txBox="1"/>
          <p:nvPr>
            <p:ph idx="6" type="subTitle"/>
          </p:nvPr>
        </p:nvSpPr>
        <p:spPr>
          <a:xfrm>
            <a:off x="1365425" y="3090656"/>
            <a:ext cx="2505300" cy="48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Char char="-"/>
              <a:defRPr sz="24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Char char="-"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Char char="-"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Char char="-"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Char char="-"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Char char="-"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Char char="-"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Char char="-"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Char char="-"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52" name="Google Shape;152;p27"/>
          <p:cNvSpPr txBox="1"/>
          <p:nvPr>
            <p:ph idx="7" type="subTitle"/>
          </p:nvPr>
        </p:nvSpPr>
        <p:spPr>
          <a:xfrm>
            <a:off x="5266499" y="1657100"/>
            <a:ext cx="2505300" cy="48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Char char="-"/>
              <a:defRPr sz="24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Char char="-"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Char char="-"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Char char="-"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Char char="-"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Char char="-"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Char char="-"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Char char="-"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Char char="-"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53" name="Google Shape;153;p27"/>
          <p:cNvSpPr txBox="1"/>
          <p:nvPr>
            <p:ph idx="8" type="subTitle"/>
          </p:nvPr>
        </p:nvSpPr>
        <p:spPr>
          <a:xfrm>
            <a:off x="5266499" y="3090656"/>
            <a:ext cx="2505300" cy="48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Char char="-"/>
              <a:defRPr sz="24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Char char="-"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Char char="-"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Char char="-"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Char char="-"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Char char="-"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Char char="-"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Char char="-"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Char char="-"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CUSTOM_5_1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57" name="Google Shape;157;p28"/>
          <p:cNvSpPr txBox="1"/>
          <p:nvPr>
            <p:ph idx="1" type="subTitle"/>
          </p:nvPr>
        </p:nvSpPr>
        <p:spPr>
          <a:xfrm>
            <a:off x="2248450" y="2237916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28"/>
          <p:cNvSpPr txBox="1"/>
          <p:nvPr>
            <p:ph idx="2" type="subTitle"/>
          </p:nvPr>
        </p:nvSpPr>
        <p:spPr>
          <a:xfrm>
            <a:off x="5936153" y="2237916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28"/>
          <p:cNvSpPr txBox="1"/>
          <p:nvPr>
            <p:ph idx="3" type="subTitle"/>
          </p:nvPr>
        </p:nvSpPr>
        <p:spPr>
          <a:xfrm>
            <a:off x="2248450" y="3671316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28"/>
          <p:cNvSpPr txBox="1"/>
          <p:nvPr>
            <p:ph idx="4" type="subTitle"/>
          </p:nvPr>
        </p:nvSpPr>
        <p:spPr>
          <a:xfrm>
            <a:off x="5936153" y="3671316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28"/>
          <p:cNvSpPr txBox="1"/>
          <p:nvPr>
            <p:ph idx="5" type="subTitle"/>
          </p:nvPr>
        </p:nvSpPr>
        <p:spPr>
          <a:xfrm>
            <a:off x="2248450" y="1809500"/>
            <a:ext cx="1978200" cy="48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62" name="Google Shape;162;p28"/>
          <p:cNvSpPr txBox="1"/>
          <p:nvPr>
            <p:ph idx="6" type="subTitle"/>
          </p:nvPr>
        </p:nvSpPr>
        <p:spPr>
          <a:xfrm>
            <a:off x="2248450" y="3243050"/>
            <a:ext cx="1978200" cy="48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63" name="Google Shape;163;p28"/>
          <p:cNvSpPr txBox="1"/>
          <p:nvPr>
            <p:ph idx="7" type="subTitle"/>
          </p:nvPr>
        </p:nvSpPr>
        <p:spPr>
          <a:xfrm>
            <a:off x="5936150" y="1809500"/>
            <a:ext cx="1978200" cy="48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64" name="Google Shape;164;p28"/>
          <p:cNvSpPr txBox="1"/>
          <p:nvPr>
            <p:ph idx="8" type="subTitle"/>
          </p:nvPr>
        </p:nvSpPr>
        <p:spPr>
          <a:xfrm>
            <a:off x="5936150" y="3243050"/>
            <a:ext cx="1978200" cy="48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ive columns">
  <p:cSld name="CUSTOM_10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" y="9"/>
            <a:ext cx="9143997" cy="5143481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8" name="Google Shape;168;p29"/>
          <p:cNvSpPr txBox="1"/>
          <p:nvPr>
            <p:ph idx="1" type="subTitle"/>
          </p:nvPr>
        </p:nvSpPr>
        <p:spPr>
          <a:xfrm>
            <a:off x="1114550" y="2002076"/>
            <a:ext cx="197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29"/>
          <p:cNvSpPr txBox="1"/>
          <p:nvPr>
            <p:ph idx="2" type="subTitle"/>
          </p:nvPr>
        </p:nvSpPr>
        <p:spPr>
          <a:xfrm>
            <a:off x="3584398" y="2002076"/>
            <a:ext cx="197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29"/>
          <p:cNvSpPr txBox="1"/>
          <p:nvPr>
            <p:ph idx="3" type="subTitle"/>
          </p:nvPr>
        </p:nvSpPr>
        <p:spPr>
          <a:xfrm>
            <a:off x="2347006" y="3587876"/>
            <a:ext cx="197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29"/>
          <p:cNvSpPr txBox="1"/>
          <p:nvPr>
            <p:ph idx="4" type="subTitle"/>
          </p:nvPr>
        </p:nvSpPr>
        <p:spPr>
          <a:xfrm>
            <a:off x="4816855" y="3587876"/>
            <a:ext cx="197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29"/>
          <p:cNvSpPr txBox="1"/>
          <p:nvPr>
            <p:ph idx="5" type="subTitle"/>
          </p:nvPr>
        </p:nvSpPr>
        <p:spPr>
          <a:xfrm>
            <a:off x="6054247" y="2002076"/>
            <a:ext cx="197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29"/>
          <p:cNvSpPr txBox="1"/>
          <p:nvPr>
            <p:ph idx="6" type="subTitle"/>
          </p:nvPr>
        </p:nvSpPr>
        <p:spPr>
          <a:xfrm>
            <a:off x="1113050" y="1610703"/>
            <a:ext cx="1978200" cy="46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74" name="Google Shape;174;p29"/>
          <p:cNvSpPr txBox="1"/>
          <p:nvPr>
            <p:ph idx="7" type="subTitle"/>
          </p:nvPr>
        </p:nvSpPr>
        <p:spPr>
          <a:xfrm>
            <a:off x="3582898" y="1610703"/>
            <a:ext cx="1978200" cy="46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75" name="Google Shape;175;p29"/>
          <p:cNvSpPr txBox="1"/>
          <p:nvPr>
            <p:ph idx="8" type="subTitle"/>
          </p:nvPr>
        </p:nvSpPr>
        <p:spPr>
          <a:xfrm>
            <a:off x="6052747" y="1610703"/>
            <a:ext cx="1978200" cy="46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76" name="Google Shape;176;p29"/>
          <p:cNvSpPr txBox="1"/>
          <p:nvPr>
            <p:ph idx="9" type="subTitle"/>
          </p:nvPr>
        </p:nvSpPr>
        <p:spPr>
          <a:xfrm>
            <a:off x="2345506" y="3195200"/>
            <a:ext cx="1978200" cy="46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77" name="Google Shape;177;p29"/>
          <p:cNvSpPr txBox="1"/>
          <p:nvPr>
            <p:ph idx="13" type="subTitle"/>
          </p:nvPr>
        </p:nvSpPr>
        <p:spPr>
          <a:xfrm>
            <a:off x="4815355" y="3195200"/>
            <a:ext cx="1978200" cy="46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3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1" name="Google Shape;181;p30"/>
          <p:cNvSpPr txBox="1"/>
          <p:nvPr>
            <p:ph idx="1" type="subTitle"/>
          </p:nvPr>
        </p:nvSpPr>
        <p:spPr>
          <a:xfrm>
            <a:off x="1114550" y="2002076"/>
            <a:ext cx="197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30"/>
          <p:cNvSpPr txBox="1"/>
          <p:nvPr>
            <p:ph idx="2" type="subTitle"/>
          </p:nvPr>
        </p:nvSpPr>
        <p:spPr>
          <a:xfrm>
            <a:off x="3584398" y="2002076"/>
            <a:ext cx="197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30"/>
          <p:cNvSpPr txBox="1"/>
          <p:nvPr>
            <p:ph idx="3" type="subTitle"/>
          </p:nvPr>
        </p:nvSpPr>
        <p:spPr>
          <a:xfrm>
            <a:off x="1114550" y="3587876"/>
            <a:ext cx="197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30"/>
          <p:cNvSpPr txBox="1"/>
          <p:nvPr>
            <p:ph idx="4" type="subTitle"/>
          </p:nvPr>
        </p:nvSpPr>
        <p:spPr>
          <a:xfrm>
            <a:off x="3584398" y="3587876"/>
            <a:ext cx="197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p30"/>
          <p:cNvSpPr txBox="1"/>
          <p:nvPr>
            <p:ph idx="5" type="subTitle"/>
          </p:nvPr>
        </p:nvSpPr>
        <p:spPr>
          <a:xfrm>
            <a:off x="6054247" y="2002076"/>
            <a:ext cx="197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30"/>
          <p:cNvSpPr txBox="1"/>
          <p:nvPr>
            <p:ph idx="6" type="subTitle"/>
          </p:nvPr>
        </p:nvSpPr>
        <p:spPr>
          <a:xfrm>
            <a:off x="6054247" y="3587876"/>
            <a:ext cx="197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30"/>
          <p:cNvSpPr txBox="1"/>
          <p:nvPr>
            <p:ph idx="7" type="subTitle"/>
          </p:nvPr>
        </p:nvSpPr>
        <p:spPr>
          <a:xfrm>
            <a:off x="1113050" y="1610703"/>
            <a:ext cx="1978200" cy="46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88" name="Google Shape;188;p30"/>
          <p:cNvSpPr txBox="1"/>
          <p:nvPr>
            <p:ph idx="8" type="subTitle"/>
          </p:nvPr>
        </p:nvSpPr>
        <p:spPr>
          <a:xfrm>
            <a:off x="3582898" y="1610703"/>
            <a:ext cx="1978200" cy="46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89" name="Google Shape;189;p30"/>
          <p:cNvSpPr txBox="1"/>
          <p:nvPr>
            <p:ph idx="9" type="subTitle"/>
          </p:nvPr>
        </p:nvSpPr>
        <p:spPr>
          <a:xfrm>
            <a:off x="6052747" y="1610703"/>
            <a:ext cx="1978200" cy="46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90" name="Google Shape;190;p30"/>
          <p:cNvSpPr txBox="1"/>
          <p:nvPr>
            <p:ph idx="13" type="subTitle"/>
          </p:nvPr>
        </p:nvSpPr>
        <p:spPr>
          <a:xfrm>
            <a:off x="1113050" y="3195200"/>
            <a:ext cx="1978200" cy="46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91" name="Google Shape;191;p30"/>
          <p:cNvSpPr txBox="1"/>
          <p:nvPr>
            <p:ph idx="14" type="subTitle"/>
          </p:nvPr>
        </p:nvSpPr>
        <p:spPr>
          <a:xfrm>
            <a:off x="3582898" y="3195200"/>
            <a:ext cx="1978200" cy="46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92" name="Google Shape;192;p30"/>
          <p:cNvSpPr txBox="1"/>
          <p:nvPr>
            <p:ph idx="15" type="subTitle"/>
          </p:nvPr>
        </p:nvSpPr>
        <p:spPr>
          <a:xfrm>
            <a:off x="6052747" y="3195200"/>
            <a:ext cx="1978200" cy="46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93" name="Google Shape;193;p30"/>
          <p:cNvSpPr/>
          <p:nvPr/>
        </p:nvSpPr>
        <p:spPr>
          <a:xfrm>
            <a:off x="8669700" y="0"/>
            <a:ext cx="285000" cy="5143500"/>
          </a:xfrm>
          <a:prstGeom prst="rect">
            <a:avLst/>
          </a:prstGeom>
          <a:solidFill>
            <a:srgbClr val="FFFFFF">
              <a:alpha val="626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31"/>
          <p:cNvSpPr txBox="1"/>
          <p:nvPr>
            <p:ph hasCustomPrompt="1" type="title"/>
          </p:nvPr>
        </p:nvSpPr>
        <p:spPr>
          <a:xfrm>
            <a:off x="712856" y="670225"/>
            <a:ext cx="4696800" cy="768900"/>
          </a:xfrm>
          <a:prstGeom prst="rect">
            <a:avLst/>
          </a:prstGeom>
          <a:solidFill>
            <a:srgbClr val="FFFFFF">
              <a:alpha val="689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latin typeface="Figtree"/>
                <a:ea typeface="Figtree"/>
                <a:cs typeface="Figtree"/>
                <a:sym typeface="Figtre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7" name="Google Shape;197;p31"/>
          <p:cNvSpPr txBox="1"/>
          <p:nvPr>
            <p:ph idx="1" type="subTitle"/>
          </p:nvPr>
        </p:nvSpPr>
        <p:spPr>
          <a:xfrm>
            <a:off x="712856" y="1428226"/>
            <a:ext cx="4696800" cy="37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8" name="Google Shape;198;p31"/>
          <p:cNvSpPr txBox="1"/>
          <p:nvPr>
            <p:ph hasCustomPrompt="1" idx="2" type="title"/>
          </p:nvPr>
        </p:nvSpPr>
        <p:spPr>
          <a:xfrm>
            <a:off x="2223600" y="1967931"/>
            <a:ext cx="4696800" cy="768900"/>
          </a:xfrm>
          <a:prstGeom prst="rect">
            <a:avLst/>
          </a:prstGeom>
          <a:solidFill>
            <a:srgbClr val="FFFFFF">
              <a:alpha val="689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latin typeface="Figtree"/>
                <a:ea typeface="Figtree"/>
                <a:cs typeface="Figtree"/>
                <a:sym typeface="Figtre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9" name="Google Shape;199;p31"/>
          <p:cNvSpPr txBox="1"/>
          <p:nvPr>
            <p:ph idx="3" type="subTitle"/>
          </p:nvPr>
        </p:nvSpPr>
        <p:spPr>
          <a:xfrm>
            <a:off x="2223600" y="2728503"/>
            <a:ext cx="4696800" cy="37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0" name="Google Shape;200;p31"/>
          <p:cNvSpPr txBox="1"/>
          <p:nvPr>
            <p:ph hasCustomPrompt="1" idx="4" type="title"/>
          </p:nvPr>
        </p:nvSpPr>
        <p:spPr>
          <a:xfrm>
            <a:off x="3734344" y="3265638"/>
            <a:ext cx="4696800" cy="768900"/>
          </a:xfrm>
          <a:prstGeom prst="rect">
            <a:avLst/>
          </a:prstGeom>
          <a:solidFill>
            <a:srgbClr val="FFFFFF">
              <a:alpha val="689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latin typeface="Figtree"/>
                <a:ea typeface="Figtree"/>
                <a:cs typeface="Figtree"/>
                <a:sym typeface="Figtre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1" name="Google Shape;201;p31"/>
          <p:cNvSpPr txBox="1"/>
          <p:nvPr>
            <p:ph idx="5" type="subTitle"/>
          </p:nvPr>
        </p:nvSpPr>
        <p:spPr>
          <a:xfrm>
            <a:off x="3734344" y="4028781"/>
            <a:ext cx="4696800" cy="37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8_1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32"/>
          <p:cNvSpPr txBox="1"/>
          <p:nvPr>
            <p:ph hasCustomPrompt="1" type="title"/>
          </p:nvPr>
        </p:nvSpPr>
        <p:spPr>
          <a:xfrm>
            <a:off x="938500" y="2747375"/>
            <a:ext cx="927900" cy="406800"/>
          </a:xfrm>
          <a:prstGeom prst="rect">
            <a:avLst/>
          </a:prstGeom>
          <a:solidFill>
            <a:srgbClr val="FFFFFF">
              <a:alpha val="6899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2200">
                <a:latin typeface="Figtree"/>
                <a:ea typeface="Figtree"/>
                <a:cs typeface="Figtree"/>
                <a:sym typeface="Figtre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5" name="Google Shape;205;p32"/>
          <p:cNvSpPr txBox="1"/>
          <p:nvPr>
            <p:ph idx="1" type="subTitle"/>
          </p:nvPr>
        </p:nvSpPr>
        <p:spPr>
          <a:xfrm>
            <a:off x="938500" y="3703299"/>
            <a:ext cx="2173200" cy="7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06" name="Google Shape;206;p32"/>
          <p:cNvSpPr txBox="1"/>
          <p:nvPr>
            <p:ph idx="2" type="subTitle"/>
          </p:nvPr>
        </p:nvSpPr>
        <p:spPr>
          <a:xfrm>
            <a:off x="938500" y="3332954"/>
            <a:ext cx="2173200" cy="44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07" name="Google Shape;207;p32"/>
          <p:cNvSpPr txBox="1"/>
          <p:nvPr>
            <p:ph hasCustomPrompt="1" idx="3" type="title"/>
          </p:nvPr>
        </p:nvSpPr>
        <p:spPr>
          <a:xfrm>
            <a:off x="3485400" y="2747375"/>
            <a:ext cx="927900" cy="406800"/>
          </a:xfrm>
          <a:prstGeom prst="rect">
            <a:avLst/>
          </a:prstGeom>
          <a:solidFill>
            <a:srgbClr val="FFFFFF">
              <a:alpha val="6899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2200">
                <a:latin typeface="Figtree"/>
                <a:ea typeface="Figtree"/>
                <a:cs typeface="Figtree"/>
                <a:sym typeface="Figtre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8" name="Google Shape;208;p32"/>
          <p:cNvSpPr txBox="1"/>
          <p:nvPr>
            <p:ph idx="4" type="subTitle"/>
          </p:nvPr>
        </p:nvSpPr>
        <p:spPr>
          <a:xfrm>
            <a:off x="3485400" y="3703299"/>
            <a:ext cx="2173200" cy="7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09" name="Google Shape;209;p32"/>
          <p:cNvSpPr txBox="1"/>
          <p:nvPr>
            <p:ph idx="5" type="subTitle"/>
          </p:nvPr>
        </p:nvSpPr>
        <p:spPr>
          <a:xfrm>
            <a:off x="3485400" y="3332954"/>
            <a:ext cx="2173200" cy="44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10" name="Google Shape;210;p32"/>
          <p:cNvSpPr txBox="1"/>
          <p:nvPr>
            <p:ph hasCustomPrompt="1" idx="6" type="title"/>
          </p:nvPr>
        </p:nvSpPr>
        <p:spPr>
          <a:xfrm>
            <a:off x="6031100" y="2747375"/>
            <a:ext cx="927900" cy="406800"/>
          </a:xfrm>
          <a:prstGeom prst="rect">
            <a:avLst/>
          </a:prstGeom>
          <a:solidFill>
            <a:srgbClr val="FFFFFF">
              <a:alpha val="6899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2200">
                <a:latin typeface="Figtree"/>
                <a:ea typeface="Figtree"/>
                <a:cs typeface="Figtree"/>
                <a:sym typeface="Figtre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11" name="Google Shape;211;p32"/>
          <p:cNvSpPr txBox="1"/>
          <p:nvPr>
            <p:ph idx="7" type="subTitle"/>
          </p:nvPr>
        </p:nvSpPr>
        <p:spPr>
          <a:xfrm>
            <a:off x="6032300" y="3703299"/>
            <a:ext cx="2173200" cy="7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12" name="Google Shape;212;p32"/>
          <p:cNvSpPr txBox="1"/>
          <p:nvPr>
            <p:ph idx="8" type="subTitle"/>
          </p:nvPr>
        </p:nvSpPr>
        <p:spPr>
          <a:xfrm>
            <a:off x="6032300" y="3332954"/>
            <a:ext cx="2173200" cy="44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13" name="Google Shape;213;p32"/>
          <p:cNvSpPr txBox="1"/>
          <p:nvPr>
            <p:ph idx="9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2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4"/>
            <a:ext cx="9144003" cy="5143496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3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2_1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4"/>
            <a:ext cx="9144003" cy="5143496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3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2_1_1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4"/>
            <a:ext cx="9144003" cy="5143496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3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12_1_1_1"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3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5">
  <p:cSld name="CUSTOM_14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1" y="-12"/>
            <a:ext cx="9074099" cy="5104175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37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Figtree Medium"/>
                <a:ea typeface="Figtree Medium"/>
                <a:cs typeface="Figtree Medium"/>
                <a:sym typeface="Figtree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Figtree Medium"/>
                <a:ea typeface="Figtree Medium"/>
                <a:cs typeface="Figtree Medium"/>
                <a:sym typeface="Figtree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Figtree Medium"/>
                <a:ea typeface="Figtree Medium"/>
                <a:cs typeface="Figtree Medium"/>
                <a:sym typeface="Figtree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Figtree Medium"/>
                <a:ea typeface="Figtree Medium"/>
                <a:cs typeface="Figtree Medium"/>
                <a:sym typeface="Figtree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Figtree Medium"/>
                <a:ea typeface="Figtree Medium"/>
                <a:cs typeface="Figtree Medium"/>
                <a:sym typeface="Figtree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Figtree Medium"/>
                <a:ea typeface="Figtree Medium"/>
                <a:cs typeface="Figtree Medium"/>
                <a:sym typeface="Figtree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Figtree Medium"/>
                <a:ea typeface="Figtree Medium"/>
                <a:cs typeface="Figtree Medium"/>
                <a:sym typeface="Figtree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Figtree Medium"/>
                <a:ea typeface="Figtree Medium"/>
                <a:cs typeface="Figtree Medium"/>
                <a:sym typeface="Figtree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Figtree Medium"/>
                <a:ea typeface="Figtree Medium"/>
                <a:cs typeface="Figtree Medium"/>
                <a:sym typeface="Figtree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38"/>
          <p:cNvSpPr txBox="1"/>
          <p:nvPr>
            <p:ph type="title"/>
          </p:nvPr>
        </p:nvSpPr>
        <p:spPr>
          <a:xfrm>
            <a:off x="713225" y="539499"/>
            <a:ext cx="4448100" cy="1108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2" name="Google Shape;232;p38"/>
          <p:cNvSpPr txBox="1"/>
          <p:nvPr>
            <p:ph idx="1" type="subTitle"/>
          </p:nvPr>
        </p:nvSpPr>
        <p:spPr>
          <a:xfrm>
            <a:off x="713225" y="1565662"/>
            <a:ext cx="4448100" cy="1058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33" name="Google Shape;233;p38"/>
          <p:cNvSpPr txBox="1"/>
          <p:nvPr/>
        </p:nvSpPr>
        <p:spPr>
          <a:xfrm>
            <a:off x="3572300" y="3733100"/>
            <a:ext cx="48585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CREDITS: This presentation template was created by </a:t>
            </a:r>
            <a:r>
              <a:rPr b="1" lang="es" sz="1200" u="sng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s" sz="1200">
                <a:solidFill>
                  <a:schemeClr val="dk1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, and includes icons by </a:t>
            </a:r>
            <a:r>
              <a:rPr b="1" lang="es" sz="1200" u="sng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s" sz="1200">
                <a:solidFill>
                  <a:schemeClr val="dk1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, and infographics &amp; images by </a:t>
            </a:r>
            <a:r>
              <a:rPr b="1" lang="es" sz="1200" u="sng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s" sz="1200" u="sng">
                <a:solidFill>
                  <a:schemeClr val="dk1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 </a:t>
            </a:r>
            <a:endParaRPr sz="1200" u="sng">
              <a:solidFill>
                <a:schemeClr val="dk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234" name="Google Shape;234;p38"/>
          <p:cNvSpPr txBox="1"/>
          <p:nvPr>
            <p:ph idx="2" type="subTitle"/>
          </p:nvPr>
        </p:nvSpPr>
        <p:spPr>
          <a:xfrm rot="-5400000">
            <a:off x="7179200" y="1430850"/>
            <a:ext cx="3207300" cy="345600"/>
          </a:xfrm>
          <a:prstGeom prst="rect">
            <a:avLst/>
          </a:prstGeom>
          <a:solidFill>
            <a:srgbClr val="FFFFFF">
              <a:alpha val="68990"/>
            </a:srgbClr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39"/>
          <p:cNvSpPr/>
          <p:nvPr/>
        </p:nvSpPr>
        <p:spPr>
          <a:xfrm>
            <a:off x="8724575" y="0"/>
            <a:ext cx="153900" cy="5143500"/>
          </a:xfrm>
          <a:prstGeom prst="rect">
            <a:avLst/>
          </a:prstGeom>
          <a:solidFill>
            <a:srgbClr val="FFFFFF">
              <a:alpha val="689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39"/>
          <p:cNvSpPr/>
          <p:nvPr/>
        </p:nvSpPr>
        <p:spPr>
          <a:xfrm>
            <a:off x="251700" y="0"/>
            <a:ext cx="153900" cy="5143500"/>
          </a:xfrm>
          <a:prstGeom prst="rect">
            <a:avLst/>
          </a:prstGeom>
          <a:solidFill>
            <a:srgbClr val="FFFFFF">
              <a:alpha val="689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1" y="4"/>
            <a:ext cx="9144003" cy="5143496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40"/>
          <p:cNvSpPr/>
          <p:nvPr/>
        </p:nvSpPr>
        <p:spPr>
          <a:xfrm rot="5400000">
            <a:off x="4501975" y="-4307275"/>
            <a:ext cx="153900" cy="9158100"/>
          </a:xfrm>
          <a:prstGeom prst="rect">
            <a:avLst/>
          </a:prstGeom>
          <a:solidFill>
            <a:srgbClr val="FFFFFF">
              <a:alpha val="689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40"/>
          <p:cNvSpPr/>
          <p:nvPr/>
        </p:nvSpPr>
        <p:spPr>
          <a:xfrm rot="5400000">
            <a:off x="4501975" y="320675"/>
            <a:ext cx="153900" cy="9158100"/>
          </a:xfrm>
          <a:prstGeom prst="rect">
            <a:avLst/>
          </a:prstGeom>
          <a:solidFill>
            <a:srgbClr val="FFFFFF">
              <a:alpha val="689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con título 1">
  <p:cSld name="TITLE_1"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45" name="Google Shape;245;p4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46" name="Google Shape;246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1" Type="http://schemas.openxmlformats.org/officeDocument/2006/relationships/theme" Target="../theme/theme1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umbh Sans SemiBold"/>
              <a:buNone/>
              <a:defRPr sz="30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umbh Sans SemiBold"/>
              <a:buNone/>
              <a:defRPr sz="30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umbh Sans SemiBold"/>
              <a:buNone/>
              <a:defRPr sz="30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umbh Sans SemiBold"/>
              <a:buNone/>
              <a:defRPr sz="30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umbh Sans SemiBold"/>
              <a:buNone/>
              <a:defRPr sz="30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umbh Sans SemiBold"/>
              <a:buNone/>
              <a:defRPr sz="30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umbh Sans SemiBold"/>
              <a:buNone/>
              <a:defRPr sz="30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umbh Sans SemiBold"/>
              <a:buNone/>
              <a:defRPr sz="30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umbh Sans SemiBold"/>
              <a:buNone/>
              <a:defRPr sz="30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 Medium"/>
              <a:buChar char="●"/>
              <a:defRPr>
                <a:solidFill>
                  <a:schemeClr val="dk1"/>
                </a:solidFill>
                <a:latin typeface="Figtree Medium"/>
                <a:ea typeface="Figtree Medium"/>
                <a:cs typeface="Figtree Medium"/>
                <a:sym typeface="Figtree Medium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 Medium"/>
              <a:buChar char="○"/>
              <a:defRPr>
                <a:solidFill>
                  <a:schemeClr val="dk1"/>
                </a:solidFill>
                <a:latin typeface="Figtree Medium"/>
                <a:ea typeface="Figtree Medium"/>
                <a:cs typeface="Figtree Medium"/>
                <a:sym typeface="Figtree Medium"/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 Medium"/>
              <a:buChar char="■"/>
              <a:defRPr>
                <a:solidFill>
                  <a:schemeClr val="dk1"/>
                </a:solidFill>
                <a:latin typeface="Figtree Medium"/>
                <a:ea typeface="Figtree Medium"/>
                <a:cs typeface="Figtree Medium"/>
                <a:sym typeface="Figtree Medium"/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 Medium"/>
              <a:buChar char="●"/>
              <a:defRPr>
                <a:solidFill>
                  <a:schemeClr val="dk1"/>
                </a:solidFill>
                <a:latin typeface="Figtree Medium"/>
                <a:ea typeface="Figtree Medium"/>
                <a:cs typeface="Figtree Medium"/>
                <a:sym typeface="Figtree Medium"/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 Medium"/>
              <a:buChar char="○"/>
              <a:defRPr>
                <a:solidFill>
                  <a:schemeClr val="dk1"/>
                </a:solidFill>
                <a:latin typeface="Figtree Medium"/>
                <a:ea typeface="Figtree Medium"/>
                <a:cs typeface="Figtree Medium"/>
                <a:sym typeface="Figtree Medium"/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 Medium"/>
              <a:buChar char="■"/>
              <a:defRPr>
                <a:solidFill>
                  <a:schemeClr val="dk1"/>
                </a:solidFill>
                <a:latin typeface="Figtree Medium"/>
                <a:ea typeface="Figtree Medium"/>
                <a:cs typeface="Figtree Medium"/>
                <a:sym typeface="Figtree Medium"/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 Medium"/>
              <a:buChar char="●"/>
              <a:defRPr>
                <a:solidFill>
                  <a:schemeClr val="dk1"/>
                </a:solidFill>
                <a:latin typeface="Figtree Medium"/>
                <a:ea typeface="Figtree Medium"/>
                <a:cs typeface="Figtree Medium"/>
                <a:sym typeface="Figtree Medium"/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 Medium"/>
              <a:buChar char="○"/>
              <a:defRPr>
                <a:solidFill>
                  <a:schemeClr val="dk1"/>
                </a:solidFill>
                <a:latin typeface="Figtree Medium"/>
                <a:ea typeface="Figtree Medium"/>
                <a:cs typeface="Figtree Medium"/>
                <a:sym typeface="Figtree Medium"/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Figtree Medium"/>
              <a:buChar char="■"/>
              <a:defRPr>
                <a:solidFill>
                  <a:schemeClr val="dk1"/>
                </a:solidFill>
                <a:latin typeface="Figtree Medium"/>
                <a:ea typeface="Figtree Medium"/>
                <a:cs typeface="Figtree Medium"/>
                <a:sym typeface="Figtree Medium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6.png"/><Relationship Id="rId4" Type="http://schemas.openxmlformats.org/officeDocument/2006/relationships/image" Target="../media/image3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2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2"/>
          <p:cNvSpPr txBox="1"/>
          <p:nvPr>
            <p:ph type="ctrTitle"/>
          </p:nvPr>
        </p:nvSpPr>
        <p:spPr>
          <a:xfrm>
            <a:off x="1142400" y="2012975"/>
            <a:ext cx="6859200" cy="15261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4400">
                <a:latin typeface="Kumbh Sans"/>
                <a:ea typeface="Kumbh Sans"/>
                <a:cs typeface="Kumbh Sans"/>
                <a:sym typeface="Kumbh Sans"/>
              </a:rPr>
              <a:t>LABORATORIO </a:t>
            </a:r>
            <a:r>
              <a:rPr lang="es" sz="4400">
                <a:latin typeface="Kumbh Sans"/>
                <a:ea typeface="Kumbh Sans"/>
                <a:cs typeface="Kumbh Sans"/>
                <a:sym typeface="Kumbh Sans"/>
              </a:rPr>
              <a:t>INMUNOLÓGICO</a:t>
            </a:r>
            <a:endParaRPr/>
          </a:p>
        </p:txBody>
      </p:sp>
      <p:sp>
        <p:nvSpPr>
          <p:cNvPr id="252" name="Google Shape;252;p42"/>
          <p:cNvSpPr txBox="1"/>
          <p:nvPr/>
        </p:nvSpPr>
        <p:spPr>
          <a:xfrm>
            <a:off x="2958100" y="3983675"/>
            <a:ext cx="3416700" cy="10935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rgbClr val="5F6368"/>
                </a:solidFill>
                <a:latin typeface="Kumbh Sans Medium"/>
                <a:ea typeface="Kumbh Sans Medium"/>
                <a:cs typeface="Kumbh Sans Medium"/>
                <a:sym typeface="Kumbh Sans Medium"/>
              </a:rPr>
              <a:t>Dra Luciana Grassi</a:t>
            </a:r>
            <a:endParaRPr sz="1700">
              <a:solidFill>
                <a:srgbClr val="5F6368"/>
              </a:solidFill>
              <a:latin typeface="Kumbh Sans Medium"/>
              <a:ea typeface="Kumbh Sans Medium"/>
              <a:cs typeface="Kumbh Sans Medium"/>
              <a:sym typeface="Kumbh Sans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rgbClr val="5F6368"/>
                </a:solidFill>
                <a:latin typeface="Kumbh Sans Medium"/>
                <a:ea typeface="Kumbh Sans Medium"/>
                <a:cs typeface="Kumbh Sans Medium"/>
                <a:sym typeface="Kumbh Sans Medium"/>
              </a:rPr>
              <a:t>Medicina Interna III </a:t>
            </a:r>
            <a:endParaRPr sz="1700">
              <a:solidFill>
                <a:srgbClr val="5F6368"/>
              </a:solidFill>
              <a:latin typeface="Kumbh Sans Medium"/>
              <a:ea typeface="Kumbh Sans Medium"/>
              <a:cs typeface="Kumbh Sans Medium"/>
              <a:sym typeface="Kumbh Sans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rgbClr val="5F6368"/>
                </a:solidFill>
                <a:latin typeface="Kumbh Sans Medium"/>
                <a:ea typeface="Kumbh Sans Medium"/>
                <a:cs typeface="Kumbh Sans Medium"/>
                <a:sym typeface="Kumbh Sans Medium"/>
              </a:rPr>
              <a:t>2023</a:t>
            </a:r>
            <a:endParaRPr sz="1700">
              <a:solidFill>
                <a:srgbClr val="5F6368"/>
              </a:solidFill>
              <a:latin typeface="Kumbh Sans Medium"/>
              <a:ea typeface="Kumbh Sans Medium"/>
              <a:cs typeface="Kumbh Sans Medium"/>
              <a:sym typeface="Kumbh Sans Medium"/>
            </a:endParaRPr>
          </a:p>
        </p:txBody>
      </p:sp>
      <p:pic>
        <p:nvPicPr>
          <p:cNvPr id="253" name="Google Shape;253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3838" y="474775"/>
            <a:ext cx="1096325" cy="109360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600">
                <a:latin typeface="Kumbh Sans"/>
                <a:ea typeface="Kumbh Sans"/>
                <a:cs typeface="Kumbh Sans"/>
                <a:sym typeface="Kumbh Sans"/>
              </a:rPr>
              <a:t>INTRODUCCIÓN</a:t>
            </a:r>
            <a:endParaRPr/>
          </a:p>
        </p:txBody>
      </p:sp>
      <p:sp>
        <p:nvSpPr>
          <p:cNvPr id="259" name="Google Shape;259;p43"/>
          <p:cNvSpPr txBox="1"/>
          <p:nvPr>
            <p:ph idx="1" type="body"/>
          </p:nvPr>
        </p:nvSpPr>
        <p:spPr>
          <a:xfrm>
            <a:off x="720000" y="1775225"/>
            <a:ext cx="7704000" cy="39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400">
                <a:solidFill>
                  <a:schemeClr val="dk1"/>
                </a:solidFill>
                <a:latin typeface="Kumbh Sans Medium"/>
                <a:ea typeface="Kumbh Sans Medium"/>
                <a:cs typeface="Kumbh Sans Medium"/>
                <a:sym typeface="Kumbh Sans Medium"/>
              </a:rPr>
              <a:t>•</a:t>
            </a:r>
            <a:r>
              <a:rPr lang="es" sz="24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Los exámenes utilizados en el estudio de enfermedades reumáticas se utilizan para:</a:t>
            </a:r>
            <a:endParaRPr sz="2400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400">
                <a:solidFill>
                  <a:schemeClr val="dk1"/>
                </a:solidFill>
                <a:latin typeface="Kumbh Sans Medium"/>
                <a:ea typeface="Kumbh Sans Medium"/>
                <a:cs typeface="Kumbh Sans Medium"/>
                <a:sym typeface="Kumbh Sans Medium"/>
              </a:rPr>
              <a:t>-</a:t>
            </a:r>
            <a:r>
              <a:rPr lang="es" sz="24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confirmar o descartar un </a:t>
            </a:r>
            <a:r>
              <a:rPr b="1" lang="es" sz="2400">
                <a:solidFill>
                  <a:srgbClr val="4A86E8"/>
                </a:solidFill>
                <a:latin typeface="Kumbh Sans"/>
                <a:ea typeface="Kumbh Sans"/>
                <a:cs typeface="Kumbh Sans"/>
                <a:sym typeface="Kumbh Sans"/>
              </a:rPr>
              <a:t>diagnóstico</a:t>
            </a:r>
            <a:endParaRPr b="1" sz="2400">
              <a:solidFill>
                <a:srgbClr val="4A86E8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400">
                <a:solidFill>
                  <a:schemeClr val="dk1"/>
                </a:solidFill>
                <a:latin typeface="Kumbh Sans Medium"/>
                <a:ea typeface="Kumbh Sans Medium"/>
                <a:cs typeface="Kumbh Sans Medium"/>
                <a:sym typeface="Kumbh Sans Medium"/>
              </a:rPr>
              <a:t>-</a:t>
            </a:r>
            <a:r>
              <a:rPr b="1" lang="es" sz="2400">
                <a:solidFill>
                  <a:srgbClr val="4A86E8"/>
                </a:solidFill>
                <a:latin typeface="Kumbh Sans"/>
                <a:ea typeface="Kumbh Sans"/>
                <a:cs typeface="Kumbh Sans"/>
                <a:sym typeface="Kumbh Sans"/>
              </a:rPr>
              <a:t>Seguimientos</a:t>
            </a:r>
            <a:r>
              <a:rPr b="1" lang="es" sz="2400">
                <a:solidFill>
                  <a:srgbClr val="FF0000"/>
                </a:solidFill>
                <a:latin typeface="Kumbh Sans"/>
                <a:ea typeface="Kumbh Sans"/>
                <a:cs typeface="Kumbh Sans"/>
                <a:sym typeface="Kumbh Sans"/>
              </a:rPr>
              <a:t> </a:t>
            </a:r>
            <a:r>
              <a:rPr lang="es" sz="24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de pacientes</a:t>
            </a:r>
            <a:endParaRPr sz="2400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400">
                <a:solidFill>
                  <a:schemeClr val="dk1"/>
                </a:solidFill>
                <a:latin typeface="Kumbh Sans Medium"/>
                <a:ea typeface="Kumbh Sans Medium"/>
                <a:cs typeface="Kumbh Sans Medium"/>
                <a:sym typeface="Kumbh Sans Medium"/>
              </a:rPr>
              <a:t>-</a:t>
            </a:r>
            <a:r>
              <a:rPr lang="es" sz="24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Marcar </a:t>
            </a:r>
            <a:r>
              <a:rPr b="1" lang="es" sz="2400">
                <a:solidFill>
                  <a:srgbClr val="4A86E8"/>
                </a:solidFill>
                <a:latin typeface="Kumbh Sans"/>
                <a:ea typeface="Kumbh Sans"/>
                <a:cs typeface="Kumbh Sans"/>
                <a:sym typeface="Kumbh Sans"/>
              </a:rPr>
              <a:t>pronóstico </a:t>
            </a:r>
            <a:r>
              <a:rPr lang="es" sz="24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de una enfermedad</a:t>
            </a:r>
            <a:endParaRPr sz="2400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600">
                <a:latin typeface="Kumbh Sans"/>
                <a:ea typeface="Kumbh Sans"/>
                <a:cs typeface="Kumbh Sans"/>
                <a:sym typeface="Kumbh Sans"/>
              </a:rPr>
              <a:t>REACTANTES DE FASE AGUDA</a:t>
            </a:r>
            <a:endParaRPr/>
          </a:p>
        </p:txBody>
      </p:sp>
      <p:sp>
        <p:nvSpPr>
          <p:cNvPr id="265" name="Google Shape;265;p44"/>
          <p:cNvSpPr txBox="1"/>
          <p:nvPr>
            <p:ph idx="1" type="body"/>
          </p:nvPr>
        </p:nvSpPr>
        <p:spPr>
          <a:xfrm>
            <a:off x="720000" y="1045650"/>
            <a:ext cx="7704000" cy="39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400">
                <a:solidFill>
                  <a:schemeClr val="dk1"/>
                </a:solidFill>
              </a:rPr>
              <a:t>•</a:t>
            </a:r>
            <a:r>
              <a:rPr b="1" lang="es" u="sng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Definición:</a:t>
            </a:r>
            <a:r>
              <a:rPr b="1" lang="es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 </a:t>
            </a:r>
            <a:r>
              <a:rPr lang="es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son aquellas  cuya concentración plasmática se incrementa un 25% en la inflamación</a:t>
            </a:r>
            <a:endParaRPr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Kumbh Sans Medium"/>
                <a:ea typeface="Kumbh Sans Medium"/>
                <a:cs typeface="Kumbh Sans Medium"/>
                <a:sym typeface="Kumbh Sans Medium"/>
              </a:rPr>
              <a:t>•</a:t>
            </a:r>
            <a:r>
              <a:rPr b="1" lang="es" u="sng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Las principales son:</a:t>
            </a:r>
            <a:endParaRPr b="1" u="sng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3429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rgbClr val="FF0000"/>
                </a:solidFill>
                <a:latin typeface="Kumbh Sans"/>
                <a:ea typeface="Kumbh Sans"/>
                <a:cs typeface="Kumbh Sans"/>
                <a:sym typeface="Kumbh Sans"/>
              </a:rPr>
              <a:t>  </a:t>
            </a:r>
            <a:r>
              <a:rPr b="1" lang="es">
                <a:solidFill>
                  <a:srgbClr val="FF0000"/>
                </a:solidFill>
                <a:latin typeface="Kumbh Sans"/>
                <a:ea typeface="Kumbh Sans"/>
                <a:cs typeface="Kumbh Sans"/>
                <a:sym typeface="Kumbh Sans"/>
              </a:rPr>
              <a:t> </a:t>
            </a:r>
            <a:r>
              <a:rPr b="1" lang="es">
                <a:solidFill>
                  <a:srgbClr val="4A86E8"/>
                </a:solidFill>
                <a:latin typeface="Kumbh Sans"/>
                <a:ea typeface="Kumbh Sans"/>
                <a:cs typeface="Kumbh Sans"/>
                <a:sym typeface="Kumbh Sans"/>
              </a:rPr>
              <a:t>REACTANTES POSITIVOS                      	REACTANTES NEGATIVOS</a:t>
            </a:r>
            <a:endParaRPr b="1">
              <a:solidFill>
                <a:srgbClr val="4A86E8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Kumbh Sans Medium"/>
                <a:ea typeface="Kumbh Sans Medium"/>
                <a:cs typeface="Kumbh Sans Medium"/>
                <a:sym typeface="Kumbh Sans Medium"/>
              </a:rPr>
              <a:t>-</a:t>
            </a:r>
            <a:r>
              <a:rPr lang="es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PCR                                                               - Albúmina</a:t>
            </a:r>
            <a:endParaRPr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Kumbh Sans Medium"/>
                <a:ea typeface="Kumbh Sans Medium"/>
                <a:cs typeface="Kumbh Sans Medium"/>
                <a:sym typeface="Kumbh Sans Medium"/>
              </a:rPr>
              <a:t>-</a:t>
            </a:r>
            <a:r>
              <a:rPr lang="es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Algunos comp. del complemento    	- Transferrina</a:t>
            </a:r>
            <a:endParaRPr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Kumbh Sans Medium"/>
                <a:ea typeface="Kumbh Sans Medium"/>
                <a:cs typeface="Kumbh Sans Medium"/>
                <a:sym typeface="Kumbh Sans Medium"/>
              </a:rPr>
              <a:t>-</a:t>
            </a:r>
            <a:r>
              <a:rPr lang="es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Ferritina</a:t>
            </a:r>
            <a:endParaRPr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Kumbh Sans Medium"/>
                <a:ea typeface="Kumbh Sans Medium"/>
                <a:cs typeface="Kumbh Sans Medium"/>
                <a:sym typeface="Kumbh Sans Medium"/>
              </a:rPr>
              <a:t>-</a:t>
            </a:r>
            <a:r>
              <a:rPr lang="es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Fibrinógeno</a:t>
            </a:r>
            <a:endParaRPr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Kumbh Sans Medium"/>
                <a:ea typeface="Kumbh Sans Medium"/>
                <a:cs typeface="Kumbh Sans Medium"/>
                <a:sym typeface="Kumbh Sans Medium"/>
              </a:rPr>
              <a:t>-</a:t>
            </a:r>
            <a:r>
              <a:rPr lang="es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Amieloide sérico A</a:t>
            </a:r>
            <a:endParaRPr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Kumbh Sans Medium"/>
                <a:ea typeface="Kumbh Sans Medium"/>
                <a:cs typeface="Kumbh Sans Medium"/>
                <a:sym typeface="Kumbh Sans Medium"/>
              </a:rPr>
              <a:t>-</a:t>
            </a:r>
            <a:r>
              <a:rPr lang="es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Alfa 1 antitripsina</a:t>
            </a:r>
            <a:endParaRPr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Kumbh Sans Medium"/>
                <a:ea typeface="Kumbh Sans Medium"/>
                <a:cs typeface="Kumbh Sans Medium"/>
                <a:sym typeface="Kumbh Sans Medium"/>
              </a:rPr>
              <a:t>-</a:t>
            </a:r>
            <a:r>
              <a:rPr lang="es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Ceruloplasmina</a:t>
            </a:r>
            <a:endParaRPr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Kumbh Sans Medium"/>
                <a:ea typeface="Kumbh Sans Medium"/>
                <a:cs typeface="Kumbh Sans Medium"/>
                <a:sym typeface="Kumbh Sans Medium"/>
              </a:rPr>
              <a:t>-</a:t>
            </a:r>
            <a:r>
              <a:rPr lang="es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Haptoglobina</a:t>
            </a:r>
            <a:endParaRPr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">
              <a:latin typeface="Kumbh Sans Medium"/>
              <a:ea typeface="Kumbh Sans Medium"/>
              <a:cs typeface="Kumbh Sans Medium"/>
              <a:sym typeface="Kumbh Sans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2400" u="sng">
                <a:latin typeface="Kumbh Sans"/>
                <a:ea typeface="Kumbh Sans"/>
                <a:cs typeface="Kumbh Sans"/>
                <a:sym typeface="Kumbh Sans"/>
              </a:rPr>
              <a:t>Funciones:</a:t>
            </a:r>
            <a:endParaRPr b="1" sz="2400" u="sng"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45"/>
          <p:cNvSpPr txBox="1"/>
          <p:nvPr>
            <p:ph idx="1" type="body"/>
          </p:nvPr>
        </p:nvSpPr>
        <p:spPr>
          <a:xfrm>
            <a:off x="890250" y="1763050"/>
            <a:ext cx="7704000" cy="39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400">
                <a:solidFill>
                  <a:schemeClr val="dk1"/>
                </a:solidFill>
                <a:latin typeface="Kumbh Sans Medium"/>
                <a:ea typeface="Kumbh Sans Medium"/>
                <a:cs typeface="Kumbh Sans Medium"/>
                <a:sym typeface="Kumbh Sans Medium"/>
              </a:rPr>
              <a:t>-</a:t>
            </a:r>
            <a:r>
              <a:rPr lang="es" sz="24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Reconocimiento y eliminación de patógenos</a:t>
            </a:r>
            <a:endParaRPr sz="2400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400">
                <a:solidFill>
                  <a:schemeClr val="dk1"/>
                </a:solidFill>
                <a:latin typeface="Kumbh Sans Medium"/>
                <a:ea typeface="Kumbh Sans Medium"/>
                <a:cs typeface="Kumbh Sans Medium"/>
                <a:sym typeface="Kumbh Sans Medium"/>
              </a:rPr>
              <a:t>-</a:t>
            </a:r>
            <a:r>
              <a:rPr lang="es" sz="24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Limitan el daño de tejidos del huésped por enz proteolíticas y metabolitos de O2 producidos en la inflamación</a:t>
            </a:r>
            <a:endParaRPr sz="2400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400">
                <a:solidFill>
                  <a:schemeClr val="dk1"/>
                </a:solidFill>
                <a:latin typeface="Kumbh Sans Medium"/>
                <a:ea typeface="Kumbh Sans Medium"/>
                <a:cs typeface="Kumbh Sans Medium"/>
                <a:sym typeface="Kumbh Sans Medium"/>
              </a:rPr>
              <a:t>-</a:t>
            </a:r>
            <a:r>
              <a:rPr lang="es" sz="24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Reducen la reacción inflamatoria</a:t>
            </a:r>
            <a:endParaRPr sz="2400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200">
                <a:solidFill>
                  <a:srgbClr val="4A86E8"/>
                </a:solidFill>
                <a:latin typeface="Calibri"/>
                <a:ea typeface="Calibri"/>
                <a:cs typeface="Calibri"/>
                <a:sym typeface="Calibri"/>
              </a:rPr>
              <a:t>VSG (</a:t>
            </a:r>
            <a:r>
              <a:rPr b="1" lang="es" sz="3200">
                <a:solidFill>
                  <a:srgbClr val="4A86E8"/>
                </a:solidFill>
                <a:latin typeface="Calibri"/>
                <a:ea typeface="Calibri"/>
                <a:cs typeface="Calibri"/>
                <a:sym typeface="Calibri"/>
              </a:rPr>
              <a:t>eritrosedimentación</a:t>
            </a:r>
            <a:r>
              <a:rPr b="1" lang="es" sz="3200">
                <a:solidFill>
                  <a:srgbClr val="4A86E8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endParaRPr>
              <a:solidFill>
                <a:srgbClr val="4A86E8"/>
              </a:solidFill>
            </a:endParaRPr>
          </a:p>
        </p:txBody>
      </p:sp>
      <p:sp>
        <p:nvSpPr>
          <p:cNvPr id="277" name="Google Shape;277;p46"/>
          <p:cNvSpPr txBox="1"/>
          <p:nvPr>
            <p:ph idx="1" type="body"/>
          </p:nvPr>
        </p:nvSpPr>
        <p:spPr>
          <a:xfrm>
            <a:off x="720000" y="1045650"/>
            <a:ext cx="7704000" cy="39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2000" u="sng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Definición: </a:t>
            </a:r>
            <a:r>
              <a:rPr lang="es" sz="20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es la velocidad expresada en mm con la que los eritrocitos precipitan en 1 hora en una muestra de sangre no coagulada</a:t>
            </a:r>
            <a:endParaRPr sz="2000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000">
                <a:solidFill>
                  <a:schemeClr val="dk1"/>
                </a:solidFill>
                <a:latin typeface="Kumbh Sans Medium"/>
                <a:ea typeface="Kumbh Sans Medium"/>
                <a:cs typeface="Kumbh Sans Medium"/>
                <a:sym typeface="Kumbh Sans Medium"/>
              </a:rPr>
              <a:t>•</a:t>
            </a:r>
            <a:r>
              <a:rPr lang="es" sz="20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Es una medida indirecta de la concentración de proteínas en  la fase aguda</a:t>
            </a:r>
            <a:endParaRPr sz="2000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2000" u="sng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Se modifica por:</a:t>
            </a:r>
            <a:endParaRPr b="1" sz="2000" u="sng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000">
                <a:solidFill>
                  <a:schemeClr val="dk1"/>
                </a:solidFill>
                <a:latin typeface="Kumbh Sans Medium"/>
                <a:ea typeface="Kumbh Sans Medium"/>
                <a:cs typeface="Kumbh Sans Medium"/>
                <a:sym typeface="Kumbh Sans Medium"/>
              </a:rPr>
              <a:t>-</a:t>
            </a:r>
            <a:r>
              <a:rPr lang="es" sz="20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Viscosidad plasmática</a:t>
            </a:r>
            <a:endParaRPr sz="2000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000">
                <a:solidFill>
                  <a:schemeClr val="dk1"/>
                </a:solidFill>
                <a:latin typeface="Kumbh Sans Medium"/>
                <a:ea typeface="Kumbh Sans Medium"/>
                <a:cs typeface="Kumbh Sans Medium"/>
                <a:sym typeface="Kumbh Sans Medium"/>
              </a:rPr>
              <a:t>-</a:t>
            </a:r>
            <a:r>
              <a:rPr lang="es" sz="20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Tamaño, forma y número de eritrocitos</a:t>
            </a:r>
            <a:endParaRPr sz="2000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000">
                <a:solidFill>
                  <a:schemeClr val="dk1"/>
                </a:solidFill>
                <a:latin typeface="Kumbh Sans Medium"/>
                <a:ea typeface="Kumbh Sans Medium"/>
                <a:cs typeface="Kumbh Sans Medium"/>
                <a:sym typeface="Kumbh Sans Medium"/>
              </a:rPr>
              <a:t>-</a:t>
            </a:r>
            <a:r>
              <a:rPr lang="es" sz="20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Fuerzas de repulsión entre los eritrocitos</a:t>
            </a:r>
            <a:endParaRPr sz="2000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000">
                <a:solidFill>
                  <a:schemeClr val="dk1"/>
                </a:solidFill>
                <a:latin typeface="Kumbh Sans Medium"/>
                <a:ea typeface="Kumbh Sans Medium"/>
                <a:cs typeface="Kumbh Sans Medium"/>
                <a:sym typeface="Kumbh Sans Medium"/>
              </a:rPr>
              <a:t>•</a:t>
            </a:r>
            <a:r>
              <a:rPr lang="es" sz="20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Se realiza por el método de Westergren</a:t>
            </a:r>
            <a:endParaRPr sz="2000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Kumbh Sans Medium"/>
              <a:ea typeface="Kumbh Sans Medium"/>
              <a:cs typeface="Kumbh Sans Medium"/>
              <a:sym typeface="Kumbh Sans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7"/>
          <p:cNvSpPr txBox="1"/>
          <p:nvPr>
            <p:ph idx="1" type="body"/>
          </p:nvPr>
        </p:nvSpPr>
        <p:spPr>
          <a:xfrm>
            <a:off x="720000" y="364725"/>
            <a:ext cx="7704000" cy="39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200">
                <a:solidFill>
                  <a:schemeClr val="dk1"/>
                </a:solidFill>
                <a:latin typeface="Kumbh Sans Medium"/>
                <a:ea typeface="Kumbh Sans Medium"/>
                <a:cs typeface="Kumbh Sans Medium"/>
                <a:sym typeface="Kumbh Sans Medium"/>
              </a:rPr>
              <a:t>•</a:t>
            </a:r>
            <a:r>
              <a:rPr b="1" lang="es" sz="2200" u="sng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Valor normal: </a:t>
            </a:r>
            <a:r>
              <a:rPr lang="es" sz="22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- hombres              	0-15 mm</a:t>
            </a:r>
            <a:endParaRPr sz="2200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3429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2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                       - mujeres               	0-20 mm</a:t>
            </a:r>
            <a:endParaRPr sz="2200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200">
                <a:solidFill>
                  <a:schemeClr val="dk1"/>
                </a:solidFill>
                <a:latin typeface="Kumbh Sans Medium"/>
                <a:ea typeface="Kumbh Sans Medium"/>
                <a:cs typeface="Kumbh Sans Medium"/>
                <a:sym typeface="Kumbh Sans Medium"/>
              </a:rPr>
              <a:t>•</a:t>
            </a:r>
            <a:r>
              <a:rPr lang="es" sz="22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5% de los pacientes con AR tienen valores normales</a:t>
            </a:r>
            <a:endParaRPr sz="2200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200">
                <a:solidFill>
                  <a:schemeClr val="dk1"/>
                </a:solidFill>
                <a:latin typeface="Kumbh Sans Medium"/>
                <a:ea typeface="Kumbh Sans Medium"/>
                <a:cs typeface="Kumbh Sans Medium"/>
                <a:sym typeface="Kumbh Sans Medium"/>
              </a:rPr>
              <a:t>•</a:t>
            </a:r>
            <a:r>
              <a:rPr lang="es" sz="22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Se eleva 48 hs después del proceso inflamatorio</a:t>
            </a:r>
            <a:endParaRPr sz="2200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200">
                <a:solidFill>
                  <a:schemeClr val="dk1"/>
                </a:solidFill>
                <a:latin typeface="Kumbh Sans Medium"/>
                <a:ea typeface="Kumbh Sans Medium"/>
                <a:cs typeface="Kumbh Sans Medium"/>
                <a:sym typeface="Kumbh Sans Medium"/>
              </a:rPr>
              <a:t>•</a:t>
            </a:r>
            <a:r>
              <a:rPr lang="es" sz="22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Se normaliza 10 días después de haber terminado</a:t>
            </a:r>
            <a:endParaRPr sz="2200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200">
                <a:solidFill>
                  <a:schemeClr val="dk1"/>
                </a:solidFill>
                <a:latin typeface="Kumbh Sans Medium"/>
                <a:ea typeface="Kumbh Sans Medium"/>
                <a:cs typeface="Kumbh Sans Medium"/>
                <a:sym typeface="Kumbh Sans Medium"/>
              </a:rPr>
              <a:t>•</a:t>
            </a:r>
            <a:r>
              <a:rPr b="1" lang="es" sz="2200" u="sng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Utilidad:</a:t>
            </a:r>
            <a:endParaRPr b="1" sz="2200" u="sng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200">
                <a:solidFill>
                  <a:schemeClr val="dk1"/>
                </a:solidFill>
                <a:latin typeface="Kumbh Sans Medium"/>
                <a:ea typeface="Kumbh Sans Medium"/>
                <a:cs typeface="Kumbh Sans Medium"/>
                <a:sym typeface="Kumbh Sans Medium"/>
              </a:rPr>
              <a:t>-</a:t>
            </a:r>
            <a:r>
              <a:rPr lang="es" sz="22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Diferenciar procesos inflamatorios de no inflamatorios</a:t>
            </a:r>
            <a:endParaRPr sz="2200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200">
                <a:solidFill>
                  <a:schemeClr val="dk1"/>
                </a:solidFill>
                <a:latin typeface="Kumbh Sans Medium"/>
                <a:ea typeface="Kumbh Sans Medium"/>
                <a:cs typeface="Kumbh Sans Medium"/>
                <a:sym typeface="Kumbh Sans Medium"/>
              </a:rPr>
              <a:t>-</a:t>
            </a:r>
            <a:r>
              <a:rPr lang="es" sz="22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Evaluar extensión y gravedad de la inflamación</a:t>
            </a:r>
            <a:endParaRPr sz="2200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200">
                <a:solidFill>
                  <a:schemeClr val="dk1"/>
                </a:solidFill>
                <a:latin typeface="Kumbh Sans Medium"/>
                <a:ea typeface="Kumbh Sans Medium"/>
                <a:cs typeface="Kumbh Sans Medium"/>
                <a:sym typeface="Kumbh Sans Medium"/>
              </a:rPr>
              <a:t>-</a:t>
            </a:r>
            <a:r>
              <a:rPr lang="es" sz="22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Seguimiento de la enfermedad</a:t>
            </a:r>
            <a:endParaRPr sz="2200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200">
                <a:solidFill>
                  <a:schemeClr val="dk1"/>
                </a:solidFill>
                <a:latin typeface="Kumbh Sans Medium"/>
                <a:ea typeface="Kumbh Sans Medium"/>
                <a:cs typeface="Kumbh Sans Medium"/>
                <a:sym typeface="Kumbh Sans Medium"/>
              </a:rPr>
              <a:t>-</a:t>
            </a:r>
            <a:r>
              <a:rPr lang="es" sz="22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Pronóstico de pacientes con AR</a:t>
            </a:r>
            <a:endParaRPr sz="2200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8"/>
          <p:cNvSpPr txBox="1"/>
          <p:nvPr>
            <p:ph idx="1" type="body"/>
          </p:nvPr>
        </p:nvSpPr>
        <p:spPr>
          <a:xfrm>
            <a:off x="311700" y="14321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900">
                <a:solidFill>
                  <a:schemeClr val="dk1"/>
                </a:solidFill>
                <a:latin typeface="Kumbh Sans Medium"/>
                <a:ea typeface="Kumbh Sans Medium"/>
                <a:cs typeface="Kumbh Sans Medium"/>
                <a:sym typeface="Kumbh Sans Medium"/>
              </a:rPr>
              <a:t>•</a:t>
            </a:r>
            <a:r>
              <a:rPr b="1" lang="es" sz="19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Cambios morfológicos de GR:                	        Procesos reumáticos</a:t>
            </a:r>
            <a:r>
              <a:rPr lang="es" sz="19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 (act)</a:t>
            </a:r>
            <a:endParaRPr sz="1900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3429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9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Ej.: - Anemia de cél falciformes              	</a:t>
            </a:r>
            <a:r>
              <a:rPr b="1" lang="es" sz="1900">
                <a:latin typeface="Kumbh Sans"/>
                <a:ea typeface="Kumbh Sans"/>
                <a:cs typeface="Kumbh Sans"/>
                <a:sym typeface="Kumbh Sans"/>
              </a:rPr>
              <a:t>Obesidad</a:t>
            </a:r>
            <a:endParaRPr b="1" sz="1900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3429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9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       - Esferocitosis hereditaria                	</a:t>
            </a:r>
            <a:r>
              <a:rPr b="1" lang="es" sz="19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        Infección</a:t>
            </a:r>
            <a:endParaRPr b="1" sz="1900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3429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9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       - Hemoglobinopatías                         	</a:t>
            </a:r>
            <a:r>
              <a:rPr b="1" lang="es" sz="19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Neoplasias</a:t>
            </a:r>
            <a:endParaRPr b="1" sz="1900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3429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9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Alteración de proteínas plasmáticas:    	Vasculitis</a:t>
            </a:r>
            <a:endParaRPr b="1" sz="1900"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3429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9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Ej.: -Hipofibrinogenemia                          	</a:t>
            </a:r>
            <a:r>
              <a:rPr b="1" lang="es" sz="19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Enfermedad renal</a:t>
            </a:r>
            <a:endParaRPr b="1" sz="1900"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3429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      - Aumento de la viscosidad plasm.		</a:t>
            </a:r>
            <a:r>
              <a:rPr b="1" lang="es" sz="19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Ancianos</a:t>
            </a:r>
            <a:endParaRPr b="1" sz="1900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3429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900">
                <a:latin typeface="Kumbh Sans"/>
                <a:ea typeface="Kumbh Sans"/>
                <a:cs typeface="Kumbh Sans"/>
                <a:sym typeface="Kumbh Sans"/>
              </a:rPr>
              <a:t>											Embarazo</a:t>
            </a:r>
            <a:endParaRPr b="1" sz="1900"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288" name="Google Shape;288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2500" y="265175"/>
            <a:ext cx="5714975" cy="932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600">
                <a:solidFill>
                  <a:srgbClr val="4A86E8"/>
                </a:solidFill>
                <a:latin typeface="Calibri"/>
                <a:ea typeface="Calibri"/>
                <a:cs typeface="Calibri"/>
                <a:sym typeface="Calibri"/>
              </a:rPr>
              <a:t>PCR</a:t>
            </a:r>
            <a:endParaRPr>
              <a:solidFill>
                <a:srgbClr val="4A86E8"/>
              </a:solidFill>
            </a:endParaRPr>
          </a:p>
        </p:txBody>
      </p:sp>
      <p:sp>
        <p:nvSpPr>
          <p:cNvPr id="294" name="Google Shape;294;p49"/>
          <p:cNvSpPr txBox="1"/>
          <p:nvPr>
            <p:ph idx="1" type="body"/>
          </p:nvPr>
        </p:nvSpPr>
        <p:spPr>
          <a:xfrm>
            <a:off x="720000" y="1045650"/>
            <a:ext cx="7704000" cy="39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400">
                <a:solidFill>
                  <a:schemeClr val="dk1"/>
                </a:solidFill>
              </a:rPr>
              <a:t>•</a:t>
            </a:r>
            <a:r>
              <a:rPr b="1" lang="es" sz="1800" u="sng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Funciones:</a:t>
            </a:r>
            <a:endParaRPr b="1" sz="1800" u="sng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1"/>
                </a:solidFill>
                <a:latin typeface="Kumbh Sans Medium"/>
                <a:ea typeface="Kumbh Sans Medium"/>
                <a:cs typeface="Kumbh Sans Medium"/>
                <a:sym typeface="Kumbh Sans Medium"/>
              </a:rPr>
              <a:t>-</a:t>
            </a:r>
            <a:r>
              <a:rPr lang="es" sz="18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Modula la respuesta inflamatoria</a:t>
            </a:r>
            <a:endParaRPr sz="1800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1"/>
                </a:solidFill>
                <a:latin typeface="Kumbh Sans Medium"/>
                <a:ea typeface="Kumbh Sans Medium"/>
                <a:cs typeface="Kumbh Sans Medium"/>
                <a:sym typeface="Kumbh Sans Medium"/>
              </a:rPr>
              <a:t>-</a:t>
            </a:r>
            <a:r>
              <a:rPr lang="es" sz="18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Une patógenos microbianos con cél apoptóticas  e inicia su eliminación por reclutamiento del sistema de complemento y de cél fagocíticas</a:t>
            </a:r>
            <a:endParaRPr sz="1800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1"/>
                </a:solidFill>
                <a:latin typeface="Kumbh Sans Medium"/>
                <a:ea typeface="Kumbh Sans Medium"/>
                <a:cs typeface="Kumbh Sans Medium"/>
                <a:sym typeface="Kumbh Sans Medium"/>
              </a:rPr>
              <a:t>-</a:t>
            </a:r>
            <a:r>
              <a:rPr lang="es" sz="18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Regula la intensidad y extensión de la respuesta inflamatoria aguda</a:t>
            </a:r>
            <a:endParaRPr sz="1800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1"/>
                </a:solidFill>
                <a:latin typeface="Kumbh Sans Medium"/>
                <a:ea typeface="Kumbh Sans Medium"/>
                <a:cs typeface="Kumbh Sans Medium"/>
                <a:sym typeface="Kumbh Sans Medium"/>
              </a:rPr>
              <a:t>•</a:t>
            </a:r>
            <a:r>
              <a:rPr lang="es" sz="18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Aumenta 24- 72 hs después del proceso inflamatorio</a:t>
            </a:r>
            <a:endParaRPr sz="1800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1"/>
                </a:solidFill>
                <a:latin typeface="Kumbh Sans Medium"/>
                <a:ea typeface="Kumbh Sans Medium"/>
                <a:cs typeface="Kumbh Sans Medium"/>
                <a:sym typeface="Kumbh Sans Medium"/>
              </a:rPr>
              <a:t>•</a:t>
            </a:r>
            <a:r>
              <a:rPr lang="es" sz="18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Disminuye rápidamente cuando cede el proceso inflamatorio</a:t>
            </a:r>
            <a:endParaRPr sz="1800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1"/>
                </a:solidFill>
                <a:latin typeface="Kumbh Sans Medium"/>
                <a:ea typeface="Kumbh Sans Medium"/>
                <a:cs typeface="Kumbh Sans Medium"/>
                <a:sym typeface="Kumbh Sans Medium"/>
              </a:rPr>
              <a:t>•</a:t>
            </a:r>
            <a:r>
              <a:rPr lang="es" sz="18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En procesos crónicos permanece elevada</a:t>
            </a:r>
            <a:endParaRPr sz="1800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1"/>
                </a:solidFill>
                <a:latin typeface="Kumbh Sans Medium"/>
                <a:ea typeface="Kumbh Sans Medium"/>
                <a:cs typeface="Kumbh Sans Medium"/>
                <a:sym typeface="Kumbh Sans Medium"/>
              </a:rPr>
              <a:t>•</a:t>
            </a:r>
            <a:r>
              <a:rPr b="1" lang="es" sz="1800" u="sng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Valor normal</a:t>
            </a:r>
            <a:r>
              <a:rPr lang="es" sz="18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: hasta 0,6 mg/dl</a:t>
            </a:r>
            <a:endParaRPr sz="1800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Kumbh Sans Medium"/>
              <a:ea typeface="Kumbh Sans Medium"/>
              <a:cs typeface="Kumbh Sans Medium"/>
              <a:sym typeface="Kumbh Sans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Google Shape;299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6300" y="72676"/>
            <a:ext cx="7031401" cy="2605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84999" y="2744150"/>
            <a:ext cx="4174025" cy="2297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5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600">
                <a:latin typeface="Calibri"/>
                <a:ea typeface="Calibri"/>
                <a:cs typeface="Calibri"/>
                <a:sym typeface="Calibri"/>
              </a:rPr>
              <a:t>AUTOANTICUERPOS</a:t>
            </a:r>
            <a:endParaRPr/>
          </a:p>
        </p:txBody>
      </p:sp>
      <p:sp>
        <p:nvSpPr>
          <p:cNvPr id="306" name="Google Shape;306;p51"/>
          <p:cNvSpPr txBox="1"/>
          <p:nvPr>
            <p:ph idx="1" type="body"/>
          </p:nvPr>
        </p:nvSpPr>
        <p:spPr>
          <a:xfrm>
            <a:off x="720000" y="1045650"/>
            <a:ext cx="7704000" cy="39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2000" u="sng">
                <a:solidFill>
                  <a:srgbClr val="4A86E8"/>
                </a:solidFill>
                <a:latin typeface="Kumbh Sans"/>
                <a:ea typeface="Kumbh Sans"/>
                <a:cs typeface="Kumbh Sans"/>
                <a:sym typeface="Kumbh Sans"/>
              </a:rPr>
              <a:t>FACTOR REUMATOIDEO</a:t>
            </a:r>
            <a:endParaRPr b="1" sz="2000" u="sng">
              <a:solidFill>
                <a:srgbClr val="4A86E8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000">
                <a:solidFill>
                  <a:schemeClr val="dk1"/>
                </a:solidFill>
                <a:latin typeface="Kumbh Sans Medium"/>
                <a:ea typeface="Kumbh Sans Medium"/>
                <a:cs typeface="Kumbh Sans Medium"/>
                <a:sym typeface="Kumbh Sans Medium"/>
              </a:rPr>
              <a:t>•</a:t>
            </a:r>
            <a:r>
              <a:rPr lang="es" sz="20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Es un autoanticuerpo contra la fracción terminal  de la región constante de la cadena pesada de la IgG</a:t>
            </a:r>
            <a:endParaRPr sz="2000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000">
                <a:solidFill>
                  <a:schemeClr val="dk1"/>
                </a:solidFill>
                <a:latin typeface="Kumbh Sans Medium"/>
                <a:ea typeface="Kumbh Sans Medium"/>
                <a:cs typeface="Kumbh Sans Medium"/>
                <a:sym typeface="Kumbh Sans Medium"/>
              </a:rPr>
              <a:t>•</a:t>
            </a:r>
            <a:r>
              <a:rPr lang="es" sz="20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En la AR son específicos contra la IgG humana, de alta afinidad y pertenecen a todas las IgM, IgA, IgG e IgE</a:t>
            </a:r>
            <a:endParaRPr sz="2000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000">
                <a:solidFill>
                  <a:schemeClr val="dk1"/>
                </a:solidFill>
                <a:latin typeface="Kumbh Sans Medium"/>
                <a:ea typeface="Kumbh Sans Medium"/>
                <a:cs typeface="Kumbh Sans Medium"/>
                <a:sym typeface="Kumbh Sans Medium"/>
              </a:rPr>
              <a:t>•</a:t>
            </a:r>
            <a:r>
              <a:rPr lang="es" sz="20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El isotipo IgM es positivo en el 70-80% de los pacientes con AR</a:t>
            </a:r>
            <a:endParaRPr sz="2000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000">
                <a:solidFill>
                  <a:schemeClr val="dk1"/>
                </a:solidFill>
                <a:latin typeface="Kumbh Sans Medium"/>
                <a:ea typeface="Kumbh Sans Medium"/>
                <a:cs typeface="Kumbh Sans Medium"/>
                <a:sym typeface="Kumbh Sans Medium"/>
              </a:rPr>
              <a:t>•</a:t>
            </a:r>
            <a:r>
              <a:rPr lang="es" sz="20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Valores muy altos se encuentran en AR con manifestaciones sistémicas, erosiones articulares y nódulos subcutáneos; </a:t>
            </a:r>
            <a:r>
              <a:rPr lang="es" sz="2000">
                <a:latin typeface="Kumbh Sans"/>
                <a:ea typeface="Kumbh Sans"/>
                <a:cs typeface="Kumbh Sans"/>
                <a:sym typeface="Kumbh Sans"/>
              </a:rPr>
              <a:t>Síndrome</a:t>
            </a:r>
            <a:r>
              <a:rPr lang="es" sz="20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 de Sjögren y </a:t>
            </a:r>
            <a:r>
              <a:rPr lang="es" sz="2000">
                <a:latin typeface="Kumbh Sans"/>
                <a:ea typeface="Kumbh Sans"/>
                <a:cs typeface="Kumbh Sans"/>
                <a:sym typeface="Kumbh Sans"/>
              </a:rPr>
              <a:t>Crioglobulinemia</a:t>
            </a:r>
            <a:r>
              <a:rPr lang="es" sz="20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 mixta.</a:t>
            </a:r>
            <a:endParaRPr sz="2000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000">
                <a:solidFill>
                  <a:schemeClr val="dk1"/>
                </a:solidFill>
                <a:latin typeface="Kumbh Sans Medium"/>
                <a:ea typeface="Kumbh Sans Medium"/>
                <a:cs typeface="Kumbh Sans Medium"/>
                <a:sym typeface="Kumbh Sans Medium"/>
              </a:rPr>
              <a:t>•</a:t>
            </a:r>
            <a:r>
              <a:rPr lang="es" sz="20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Su positividad no significa siempre que el paciente tiene AR</a:t>
            </a:r>
            <a:endParaRPr sz="2000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Kumbh Sans Medium"/>
              <a:ea typeface="Kumbh Sans Medium"/>
              <a:cs typeface="Kumbh Sans Medium"/>
              <a:sym typeface="Kumbh Sans Mediu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5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52"/>
          <p:cNvSpPr txBox="1"/>
          <p:nvPr>
            <p:ph idx="1" type="body"/>
          </p:nvPr>
        </p:nvSpPr>
        <p:spPr>
          <a:xfrm>
            <a:off x="720000" y="1045650"/>
            <a:ext cx="7704000" cy="39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3" name="Google Shape;313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8063" y="155125"/>
            <a:ext cx="6607874" cy="483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5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42900" rtl="0" algn="ct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4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" sz="2400">
                <a:solidFill>
                  <a:srgbClr val="4A86E8"/>
                </a:solidFill>
                <a:latin typeface="Kumbh Sans"/>
                <a:ea typeface="Kumbh Sans"/>
                <a:cs typeface="Kumbh Sans"/>
                <a:sym typeface="Kumbh Sans"/>
              </a:rPr>
              <a:t>  </a:t>
            </a:r>
            <a:r>
              <a:rPr b="1" lang="es" sz="2400" u="sng">
                <a:solidFill>
                  <a:srgbClr val="4A86E8"/>
                </a:solidFill>
                <a:latin typeface="Kumbh Sans"/>
                <a:ea typeface="Kumbh Sans"/>
                <a:cs typeface="Kumbh Sans"/>
                <a:sym typeface="Kumbh Sans"/>
              </a:rPr>
              <a:t>ANTIPÉPTIDO CITRULINADO CÍCLICO</a:t>
            </a:r>
            <a:endParaRPr>
              <a:solidFill>
                <a:srgbClr val="4A86E8"/>
              </a:solidFill>
            </a:endParaRPr>
          </a:p>
        </p:txBody>
      </p:sp>
      <p:sp>
        <p:nvSpPr>
          <p:cNvPr id="319" name="Google Shape;319;p53"/>
          <p:cNvSpPr txBox="1"/>
          <p:nvPr>
            <p:ph idx="1" type="body"/>
          </p:nvPr>
        </p:nvSpPr>
        <p:spPr>
          <a:xfrm>
            <a:off x="720000" y="1045650"/>
            <a:ext cx="7704000" cy="39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2400" u="sng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s" sz="2400">
                <a:solidFill>
                  <a:schemeClr val="dk1"/>
                </a:solidFill>
              </a:rPr>
              <a:t>•</a:t>
            </a:r>
            <a:r>
              <a:rPr lang="es" sz="20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Es un autoanticuerpo dirigido contra una proteína que contiene citrulina, un aa formado por la deaminación de residuos de arginina por la acción de la enz peptidil arginina deaminasa.</a:t>
            </a:r>
            <a:endParaRPr sz="2000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1"/>
                </a:solidFill>
                <a:latin typeface="Kumbh Sans Medium"/>
                <a:ea typeface="Kumbh Sans Medium"/>
                <a:cs typeface="Kumbh Sans Medium"/>
                <a:sym typeface="Kumbh Sans Medium"/>
              </a:rPr>
              <a:t>•</a:t>
            </a:r>
            <a:r>
              <a:rPr lang="es" sz="20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Sensibilidad del 70-80% y especificidad 96%</a:t>
            </a:r>
            <a:endParaRPr sz="2000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1"/>
                </a:solidFill>
                <a:latin typeface="Kumbh Sans Medium"/>
                <a:ea typeface="Kumbh Sans Medium"/>
                <a:cs typeface="Kumbh Sans Medium"/>
                <a:sym typeface="Kumbh Sans Medium"/>
              </a:rPr>
              <a:t>•</a:t>
            </a:r>
            <a:r>
              <a:rPr lang="es" sz="20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Cuando se combina con el FR la sensibilidad aumenta a 99,5%</a:t>
            </a:r>
            <a:endParaRPr sz="2000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1"/>
                </a:solidFill>
                <a:latin typeface="Kumbh Sans Medium"/>
                <a:ea typeface="Kumbh Sans Medium"/>
                <a:cs typeface="Kumbh Sans Medium"/>
                <a:sym typeface="Kumbh Sans Medium"/>
              </a:rPr>
              <a:t>•</a:t>
            </a:r>
            <a:r>
              <a:rPr lang="es" sz="20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En la fase inicial de la AR se encuentra en el 50-70% de los casos</a:t>
            </a:r>
            <a:endParaRPr sz="2000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1"/>
                </a:solidFill>
                <a:latin typeface="Kumbh Sans Medium"/>
                <a:ea typeface="Kumbh Sans Medium"/>
                <a:cs typeface="Kumbh Sans Medium"/>
                <a:sym typeface="Kumbh Sans Medium"/>
              </a:rPr>
              <a:t>•</a:t>
            </a:r>
            <a:r>
              <a:rPr lang="es" sz="20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Permite hacer diagnostico temprano y predecir erosiones  </a:t>
            </a:r>
            <a:endParaRPr sz="2000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Kumbh Sans Medium"/>
              <a:ea typeface="Kumbh Sans Medium"/>
              <a:cs typeface="Kumbh Sans Medium"/>
              <a:sym typeface="Kumbh Sans Mediu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54"/>
          <p:cNvSpPr txBox="1"/>
          <p:nvPr>
            <p:ph type="title"/>
          </p:nvPr>
        </p:nvSpPr>
        <p:spPr>
          <a:xfrm>
            <a:off x="720000" y="177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429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400">
                <a:solidFill>
                  <a:srgbClr val="4A86E8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1" lang="es" sz="2400" u="sng">
                <a:solidFill>
                  <a:srgbClr val="4A86E8"/>
                </a:solidFill>
                <a:latin typeface="Calibri"/>
                <a:ea typeface="Calibri"/>
                <a:cs typeface="Calibri"/>
                <a:sym typeface="Calibri"/>
              </a:rPr>
              <a:t>ANTICUERPOS ANTINUCLEARES</a:t>
            </a:r>
            <a:endParaRPr>
              <a:solidFill>
                <a:srgbClr val="4A86E8"/>
              </a:solidFill>
            </a:endParaRPr>
          </a:p>
        </p:txBody>
      </p:sp>
      <p:sp>
        <p:nvSpPr>
          <p:cNvPr id="325" name="Google Shape;325;p54"/>
          <p:cNvSpPr txBox="1"/>
          <p:nvPr>
            <p:ph idx="1" type="body"/>
          </p:nvPr>
        </p:nvSpPr>
        <p:spPr>
          <a:xfrm>
            <a:off x="311700" y="909275"/>
            <a:ext cx="8520600" cy="38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63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Son Ac dirigidos contra componentes del núcleo celular</a:t>
            </a:r>
            <a:endParaRPr sz="1063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63">
                <a:solidFill>
                  <a:schemeClr val="dk1"/>
                </a:solidFill>
                <a:latin typeface="Kumbh Sans Medium"/>
                <a:ea typeface="Kumbh Sans Medium"/>
                <a:cs typeface="Kumbh Sans Medium"/>
                <a:sym typeface="Kumbh Sans Medium"/>
              </a:rPr>
              <a:t>•</a:t>
            </a:r>
            <a:r>
              <a:rPr lang="es" sz="1063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Son detectados por:</a:t>
            </a:r>
            <a:endParaRPr sz="1063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63" u="sng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1- IFI:</a:t>
            </a:r>
            <a:endParaRPr sz="1063" u="sng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s" sz="1063">
                <a:solidFill>
                  <a:schemeClr val="dk1"/>
                </a:solidFill>
                <a:latin typeface="Kumbh Sans Medium"/>
                <a:ea typeface="Kumbh Sans Medium"/>
                <a:cs typeface="Kumbh Sans Medium"/>
                <a:sym typeface="Kumbh Sans Medium"/>
              </a:rPr>
              <a:t>-</a:t>
            </a:r>
            <a:r>
              <a:rPr lang="es" sz="1063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Es muy sensible y simple</a:t>
            </a:r>
            <a:r>
              <a:rPr lang="es" sz="1063">
                <a:latin typeface="Kumbh Sans"/>
                <a:ea typeface="Kumbh Sans"/>
                <a:cs typeface="Kumbh Sans"/>
                <a:sym typeface="Kumbh Sans"/>
              </a:rPr>
              <a:t> pero</a:t>
            </a:r>
            <a:r>
              <a:rPr lang="es" sz="1100">
                <a:solidFill>
                  <a:srgbClr val="000000"/>
                </a:solidFill>
                <a:latin typeface="Kumbh Sans"/>
                <a:ea typeface="Kumbh Sans"/>
                <a:cs typeface="Kumbh Sans"/>
                <a:sym typeface="Kumbh Sans"/>
              </a:rPr>
              <a:t> inespecíficos </a:t>
            </a:r>
            <a:endParaRPr sz="1100">
              <a:solidFill>
                <a:srgbClr val="262626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262626"/>
                </a:solidFill>
                <a:latin typeface="Kumbh Sans"/>
                <a:ea typeface="Kumbh Sans"/>
                <a:cs typeface="Kumbh Sans"/>
                <a:sym typeface="Kumbh Sans"/>
              </a:rPr>
              <a:t>-</a:t>
            </a:r>
            <a:r>
              <a:rPr lang="es" sz="1063">
                <a:latin typeface="Kumbh Sans"/>
                <a:ea typeface="Kumbh Sans"/>
                <a:cs typeface="Kumbh Sans"/>
                <a:sym typeface="Kumbh Sans"/>
              </a:rPr>
              <a:t>Método de screening inicial </a:t>
            </a:r>
            <a:endParaRPr sz="1063"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063">
                <a:latin typeface="Kumbh Sans"/>
                <a:ea typeface="Kumbh Sans"/>
                <a:cs typeface="Kumbh Sans"/>
                <a:sym typeface="Kumbh Sans"/>
              </a:rPr>
              <a:t>-LOCALIZADOS:</a:t>
            </a:r>
            <a:endParaRPr sz="1063">
              <a:latin typeface="Kumbh Sans"/>
              <a:ea typeface="Kumbh Sans"/>
              <a:cs typeface="Kumbh Sans"/>
              <a:sym typeface="Kumbh Sans"/>
            </a:endParaRPr>
          </a:p>
          <a:p>
            <a:pPr indent="-285750" lvl="1" marL="9144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Kumbh Sans"/>
              <a:buChar char="○"/>
            </a:pPr>
            <a:r>
              <a:rPr lang="es" sz="1063">
                <a:latin typeface="Kumbh Sans"/>
                <a:ea typeface="Kumbh Sans"/>
                <a:cs typeface="Kumbh Sans"/>
                <a:sym typeface="Kumbh Sans"/>
              </a:rPr>
              <a:t>NÚCLEO</a:t>
            </a:r>
            <a:endParaRPr sz="1063">
              <a:latin typeface="Kumbh Sans"/>
              <a:ea typeface="Kumbh Sans"/>
              <a:cs typeface="Kumbh Sans"/>
              <a:sym typeface="Kumbh Sans"/>
            </a:endParaRPr>
          </a:p>
          <a:p>
            <a:pPr indent="-2857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Kumbh Sans"/>
              <a:buChar char="○"/>
            </a:pPr>
            <a:r>
              <a:rPr lang="es" sz="1063">
                <a:latin typeface="Kumbh Sans"/>
                <a:ea typeface="Kumbh Sans"/>
                <a:cs typeface="Kumbh Sans"/>
                <a:sym typeface="Kumbh Sans"/>
              </a:rPr>
              <a:t>CITOPLASMA</a:t>
            </a:r>
            <a:endParaRPr sz="1063">
              <a:latin typeface="Kumbh Sans"/>
              <a:ea typeface="Kumbh Sans"/>
              <a:cs typeface="Kumbh Sans"/>
              <a:sym typeface="Kumbh Sans"/>
            </a:endParaRPr>
          </a:p>
          <a:p>
            <a:pPr indent="-2857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Kumbh Sans"/>
              <a:buChar char="○"/>
            </a:pPr>
            <a:r>
              <a:rPr lang="es" sz="1063">
                <a:latin typeface="Kumbh Sans"/>
                <a:ea typeface="Kumbh Sans"/>
                <a:cs typeface="Kumbh Sans"/>
                <a:sym typeface="Kumbh Sans"/>
              </a:rPr>
              <a:t>APARATO MITÓTICO</a:t>
            </a:r>
            <a:endParaRPr sz="1063"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063">
                <a:latin typeface="Kumbh Sans"/>
                <a:ea typeface="Kumbh Sans"/>
                <a:cs typeface="Kumbh Sans"/>
                <a:sym typeface="Kumbh Sans"/>
              </a:rPr>
              <a:t>-POSITIVO/NEGATIVO</a:t>
            </a:r>
            <a:endParaRPr sz="1063"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063">
                <a:latin typeface="Kumbh Sans"/>
                <a:ea typeface="Kumbh Sans"/>
                <a:cs typeface="Kumbh Sans"/>
                <a:sym typeface="Kumbh Sans"/>
              </a:rPr>
              <a:t>-POSITIVO: TÍTULO/PATRÓN</a:t>
            </a:r>
            <a:endParaRPr sz="1063"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s" sz="1063">
                <a:latin typeface="Kumbh Sans"/>
                <a:ea typeface="Kumbh Sans"/>
                <a:cs typeface="Kumbh Sans"/>
                <a:sym typeface="Kumbh Sans"/>
              </a:rPr>
              <a:t>-Se utilizan las cél Hep-2 que son </a:t>
            </a:r>
            <a:r>
              <a:rPr lang="es" sz="1063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cél epiteliales humanas derivadas del carcinoma laríngeo. </a:t>
            </a:r>
            <a:endParaRPr sz="1063"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63">
                <a:solidFill>
                  <a:schemeClr val="dk1"/>
                </a:solidFill>
                <a:latin typeface="Kumbh Sans Medium"/>
                <a:ea typeface="Kumbh Sans Medium"/>
                <a:cs typeface="Kumbh Sans Medium"/>
                <a:sym typeface="Kumbh Sans Medium"/>
              </a:rPr>
              <a:t>-</a:t>
            </a:r>
            <a:r>
              <a:rPr lang="es" sz="1063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Se requiere un título de 1:80 o más para considerarla positiva</a:t>
            </a:r>
            <a:endParaRPr sz="1063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63">
                <a:solidFill>
                  <a:schemeClr val="dk1"/>
                </a:solidFill>
                <a:latin typeface="Kumbh Sans Medium"/>
                <a:ea typeface="Kumbh Sans Medium"/>
                <a:cs typeface="Kumbh Sans Medium"/>
                <a:sym typeface="Kumbh Sans Medium"/>
              </a:rPr>
              <a:t>-</a:t>
            </a:r>
            <a:r>
              <a:rPr lang="es" sz="1063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Un título mayor de 1:640 más clínica es muy sugestivo de LES</a:t>
            </a:r>
            <a:endParaRPr sz="1063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63" u="sng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2- ELISA</a:t>
            </a:r>
            <a:endParaRPr sz="1063" u="sng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3429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63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- Determina la especificidad del Ac</a:t>
            </a:r>
            <a:endParaRPr sz="1063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Kumbh Sans Medium"/>
              <a:ea typeface="Kumbh Sans Medium"/>
              <a:cs typeface="Kumbh Sans Medium"/>
              <a:sym typeface="Kumbh Sans Medium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5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55"/>
          <p:cNvSpPr txBox="1"/>
          <p:nvPr>
            <p:ph idx="1" type="body"/>
          </p:nvPr>
        </p:nvSpPr>
        <p:spPr>
          <a:xfrm>
            <a:off x="720000" y="1045650"/>
            <a:ext cx="7704000" cy="39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Gill Sans"/>
              <a:buChar char="●"/>
            </a:pPr>
            <a:r>
              <a:rPr lang="es" sz="1563">
                <a:latin typeface="Kumbh Sans"/>
                <a:ea typeface="Kumbh Sans"/>
                <a:cs typeface="Kumbh Sans"/>
                <a:sym typeface="Kumbh Sans"/>
              </a:rPr>
              <a:t>Título</a:t>
            </a:r>
            <a:r>
              <a:rPr lang="es" sz="1563">
                <a:latin typeface="Kumbh Sans"/>
                <a:ea typeface="Kumbh Sans"/>
                <a:cs typeface="Kumbh Sans"/>
                <a:sym typeface="Kumbh Sans"/>
              </a:rPr>
              <a:t> no indica actividad de la enfermedad</a:t>
            </a:r>
            <a:endParaRPr sz="1563">
              <a:latin typeface="Kumbh Sans"/>
              <a:ea typeface="Kumbh Sans"/>
              <a:cs typeface="Kumbh Sans"/>
              <a:sym typeface="Kumbh Sans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Gill Sans"/>
              <a:buChar char="●"/>
            </a:pPr>
            <a:r>
              <a:rPr lang="es" sz="1563">
                <a:latin typeface="Kumbh Sans"/>
                <a:ea typeface="Kumbh Sans"/>
                <a:cs typeface="Kumbh Sans"/>
                <a:sym typeface="Kumbh Sans"/>
              </a:rPr>
              <a:t>FAN negativo no descarta ETC.</a:t>
            </a:r>
            <a:endParaRPr sz="1563">
              <a:latin typeface="Kumbh Sans"/>
              <a:ea typeface="Kumbh Sans"/>
              <a:cs typeface="Kumbh Sans"/>
              <a:sym typeface="Kumbh Sans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300"/>
              <a:buFont typeface="Gill Sans"/>
              <a:buChar char="●"/>
            </a:pPr>
            <a:r>
              <a:rPr lang="es" sz="1563">
                <a:latin typeface="Kumbh Sans"/>
                <a:ea typeface="Kumbh Sans"/>
                <a:cs typeface="Kumbh Sans"/>
                <a:sym typeface="Kumbh Sans"/>
              </a:rPr>
              <a:t>Son útiles para el </a:t>
            </a:r>
            <a:r>
              <a:rPr lang="es" sz="1563">
                <a:latin typeface="Kumbh Sans"/>
                <a:ea typeface="Kumbh Sans"/>
                <a:cs typeface="Kumbh Sans"/>
                <a:sym typeface="Kumbh Sans"/>
              </a:rPr>
              <a:t>diagnóstico</a:t>
            </a:r>
            <a:r>
              <a:rPr lang="es" sz="1563">
                <a:latin typeface="Kumbh Sans"/>
                <a:ea typeface="Kumbh Sans"/>
                <a:cs typeface="Kumbh Sans"/>
                <a:sym typeface="Kumbh Sans"/>
              </a:rPr>
              <a:t>:</a:t>
            </a:r>
            <a:endParaRPr sz="1563">
              <a:latin typeface="Kumbh Sans"/>
              <a:ea typeface="Kumbh Sans"/>
              <a:cs typeface="Kumbh Sans"/>
              <a:sym typeface="Kumbh Sans"/>
            </a:endParaRPr>
          </a:p>
          <a:p>
            <a:pPr indent="-3619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100"/>
              <a:buFont typeface="Gill Sans"/>
              <a:buChar char="○"/>
            </a:pPr>
            <a:r>
              <a:rPr lang="es" sz="1563">
                <a:latin typeface="Kumbh Sans"/>
                <a:ea typeface="Kumbh Sans"/>
                <a:cs typeface="Kumbh Sans"/>
                <a:sym typeface="Kumbh Sans"/>
              </a:rPr>
              <a:t>LES (95-100%)</a:t>
            </a:r>
            <a:endParaRPr sz="1563">
              <a:latin typeface="Kumbh Sans"/>
              <a:ea typeface="Kumbh Sans"/>
              <a:cs typeface="Kumbh Sans"/>
              <a:sym typeface="Kumbh Sans"/>
            </a:endParaRPr>
          </a:p>
          <a:p>
            <a:pPr indent="-3619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100"/>
              <a:buFont typeface="Gill Sans"/>
              <a:buChar char="○"/>
            </a:pPr>
            <a:r>
              <a:rPr lang="es" sz="1563">
                <a:latin typeface="Kumbh Sans"/>
                <a:ea typeface="Kumbh Sans"/>
                <a:cs typeface="Kumbh Sans"/>
                <a:sym typeface="Kumbh Sans"/>
              </a:rPr>
              <a:t>ES (60-80%)</a:t>
            </a:r>
            <a:endParaRPr sz="1563">
              <a:latin typeface="Kumbh Sans"/>
              <a:ea typeface="Kumbh Sans"/>
              <a:cs typeface="Kumbh Sans"/>
              <a:sym typeface="Kumbh Sans"/>
            </a:endParaRPr>
          </a:p>
          <a:p>
            <a:pPr indent="-3619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100"/>
              <a:buFont typeface="Gill Sans"/>
              <a:buChar char="○"/>
            </a:pPr>
            <a:r>
              <a:rPr lang="es" sz="1563">
                <a:latin typeface="Kumbh Sans"/>
                <a:ea typeface="Kumbh Sans"/>
                <a:cs typeface="Kumbh Sans"/>
                <a:sym typeface="Kumbh Sans"/>
              </a:rPr>
              <a:t>SSJ (40-70%)</a:t>
            </a:r>
            <a:endParaRPr sz="1563">
              <a:latin typeface="Kumbh Sans"/>
              <a:ea typeface="Kumbh Sans"/>
              <a:cs typeface="Kumbh Sans"/>
              <a:sym typeface="Kumbh Sans"/>
            </a:endParaRPr>
          </a:p>
          <a:p>
            <a:pPr indent="-3619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100"/>
              <a:buFont typeface="Gill Sans"/>
              <a:buChar char="○"/>
            </a:pPr>
            <a:r>
              <a:rPr lang="es" sz="1563">
                <a:latin typeface="Kumbh Sans"/>
                <a:ea typeface="Kumbh Sans"/>
                <a:cs typeface="Kumbh Sans"/>
                <a:sym typeface="Kumbh Sans"/>
              </a:rPr>
              <a:t>DM-PM (30-80%)</a:t>
            </a:r>
            <a:endParaRPr sz="1563">
              <a:latin typeface="Kumbh Sans"/>
              <a:ea typeface="Kumbh Sans"/>
              <a:cs typeface="Kumbh Sans"/>
              <a:sym typeface="Kumbh Sans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300"/>
              <a:buFont typeface="Gill Sans"/>
              <a:buChar char="●"/>
            </a:pPr>
            <a:r>
              <a:rPr lang="es" sz="1563">
                <a:latin typeface="Kumbh Sans"/>
                <a:ea typeface="Kumbh Sans"/>
                <a:cs typeface="Kumbh Sans"/>
                <a:sym typeface="Kumbh Sans"/>
              </a:rPr>
              <a:t>No son útiles en el </a:t>
            </a:r>
            <a:r>
              <a:rPr lang="es" sz="1563">
                <a:latin typeface="Kumbh Sans"/>
                <a:ea typeface="Kumbh Sans"/>
                <a:cs typeface="Kumbh Sans"/>
                <a:sym typeface="Kumbh Sans"/>
              </a:rPr>
              <a:t>diagnóstico:</a:t>
            </a:r>
            <a:r>
              <a:rPr lang="es" sz="1563">
                <a:latin typeface="Kumbh Sans"/>
                <a:ea typeface="Kumbh Sans"/>
                <a:cs typeface="Kumbh Sans"/>
                <a:sym typeface="Kumbh Sans"/>
              </a:rPr>
              <a:t> </a:t>
            </a:r>
            <a:endParaRPr sz="1563">
              <a:latin typeface="Kumbh Sans"/>
              <a:ea typeface="Kumbh Sans"/>
              <a:cs typeface="Kumbh Sans"/>
              <a:sym typeface="Kumbh Sans"/>
            </a:endParaRPr>
          </a:p>
          <a:p>
            <a:pPr indent="-3619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100"/>
              <a:buFont typeface="Gill Sans"/>
              <a:buChar char="○"/>
            </a:pPr>
            <a:r>
              <a:rPr lang="es" sz="1563">
                <a:latin typeface="Kumbh Sans"/>
                <a:ea typeface="Kumbh Sans"/>
                <a:cs typeface="Kumbh Sans"/>
                <a:sym typeface="Kumbh Sans"/>
              </a:rPr>
              <a:t>AR (20-50%)</a:t>
            </a:r>
            <a:endParaRPr sz="2100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9144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Kumbh Sans"/>
              <a:ea typeface="Kumbh Sans"/>
              <a:cs typeface="Kumbh Sans"/>
              <a:sym typeface="Kumbh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6"/>
          <p:cNvSpPr txBox="1"/>
          <p:nvPr>
            <p:ph idx="1" type="body"/>
          </p:nvPr>
        </p:nvSpPr>
        <p:spPr>
          <a:xfrm>
            <a:off x="384650" y="144575"/>
            <a:ext cx="8520600" cy="16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1"/>
                </a:solidFill>
              </a:rPr>
              <a:t>•</a:t>
            </a:r>
            <a:r>
              <a:rPr lang="es" sz="13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Su sola presencia no es </a:t>
            </a:r>
            <a:r>
              <a:rPr lang="es" sz="13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diagnóstica</a:t>
            </a:r>
            <a:r>
              <a:rPr lang="es" sz="13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 y solo significa que existe una respuesta inmunológica:</a:t>
            </a:r>
            <a:endParaRPr sz="1300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SEGUIMIENTO</a:t>
            </a:r>
            <a:r>
              <a:rPr lang="es" sz="13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                   </a:t>
            </a:r>
            <a:endParaRPr sz="1300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00">
                <a:solidFill>
                  <a:schemeClr val="dk1"/>
                </a:solidFill>
                <a:latin typeface="Kumbh Sans Medium"/>
                <a:ea typeface="Kumbh Sans Medium"/>
                <a:cs typeface="Kumbh Sans Medium"/>
                <a:sym typeface="Kumbh Sans Medium"/>
              </a:rPr>
              <a:t>•</a:t>
            </a:r>
            <a:r>
              <a:rPr lang="es" sz="13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Su determinación es útil para el diagnóstico, seguimiento y pronóstico de enfermedades autoinmunes</a:t>
            </a:r>
            <a:endParaRPr sz="1300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1"/>
                </a:solidFill>
                <a:latin typeface="Kumbh Sans Medium"/>
                <a:ea typeface="Kumbh Sans Medium"/>
                <a:cs typeface="Kumbh Sans Medium"/>
                <a:sym typeface="Kumbh Sans Medium"/>
              </a:rPr>
              <a:t>•</a:t>
            </a:r>
            <a:r>
              <a:rPr lang="es" sz="13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3% de personas sanas pueden tener FAN +</a:t>
            </a:r>
            <a:endParaRPr sz="700">
              <a:latin typeface="Kumbh Sans Medium"/>
              <a:ea typeface="Kumbh Sans Medium"/>
              <a:cs typeface="Kumbh Sans Medium"/>
              <a:sym typeface="Kumbh Sans Medium"/>
            </a:endParaRPr>
          </a:p>
        </p:txBody>
      </p:sp>
      <p:pic>
        <p:nvPicPr>
          <p:cNvPr id="337" name="Google Shape;337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4175" y="1580774"/>
            <a:ext cx="4763376" cy="356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57"/>
          <p:cNvSpPr txBox="1"/>
          <p:nvPr>
            <p:ph idx="1" type="body"/>
          </p:nvPr>
        </p:nvSpPr>
        <p:spPr>
          <a:xfrm>
            <a:off x="720000" y="1045650"/>
            <a:ext cx="7704000" cy="39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44" name="Google Shape;344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125" y="517350"/>
            <a:ext cx="8633751" cy="4321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8"/>
          <p:cNvSpPr txBox="1"/>
          <p:nvPr>
            <p:ph idx="1" type="body"/>
          </p:nvPr>
        </p:nvSpPr>
        <p:spPr>
          <a:xfrm>
            <a:off x="720000" y="1045650"/>
            <a:ext cx="7704000" cy="39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58"/>
          <p:cNvSpPr txBox="1"/>
          <p:nvPr/>
        </p:nvSpPr>
        <p:spPr>
          <a:xfrm>
            <a:off x="479899" y="108051"/>
            <a:ext cx="1736400" cy="57270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 fontScale="62500" lnSpcReduction="2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8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NÚCLEO</a:t>
            </a:r>
            <a:endParaRPr sz="2800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aphicFrame>
        <p:nvGraphicFramePr>
          <p:cNvPr id="351" name="Google Shape;351;p58"/>
          <p:cNvGraphicFramePr/>
          <p:nvPr/>
        </p:nvGraphicFramePr>
        <p:xfrm>
          <a:off x="1062006" y="79721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{773720B0-C20C-4890-AE5A-15F954F96CD2}</a:tableStyleId>
              </a:tblPr>
              <a:tblGrid>
                <a:gridCol w="2577050"/>
                <a:gridCol w="2577050"/>
                <a:gridCol w="25770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 u="none" cap="none" strike="noStrike"/>
                        <a:t>PATRON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 u="none" cap="none" strike="noStrike"/>
                        <a:t>A. AC ASOCIADO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 u="none" cap="none" strike="noStrike"/>
                        <a:t>ENFERMEDAD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 u="none" cap="none" strike="noStrike"/>
                        <a:t>homogéneo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 u="none" cap="none" strike="noStrike"/>
                        <a:t>Anti DNA, Anti histonas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 u="none" cap="none" strike="noStrike"/>
                        <a:t>LES, AIJ, LIF, HAI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 u="none" cap="none" strike="noStrike"/>
                        <a:t>Granular fino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 u="none" cap="none" strike="noStrike"/>
                        <a:t>Ro, La, Mi2,Ku, TIF 1&amp; 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 u="none" cap="none" strike="noStrike"/>
                        <a:t>SSJ, LES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 u="none" cap="none" strike="noStrike"/>
                        <a:t>Granular grueso 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 u="none" cap="none" strike="noStrike"/>
                        <a:t>Sm, RNP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 u="none" cap="none" strike="noStrike"/>
                        <a:t>LES, EMTC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/>
                        <a:t>Centromérico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 u="none" cap="none" strike="noStrike"/>
                        <a:t>Anti centrómero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 u="none" cap="none" strike="noStrike"/>
                        <a:t>ESc limitada, CBP, raynaud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</a:tbl>
          </a:graphicData>
        </a:graphic>
      </p:graphicFrame>
      <p:sp>
        <p:nvSpPr>
          <p:cNvPr id="352" name="Google Shape;352;p58"/>
          <p:cNvSpPr txBox="1"/>
          <p:nvPr/>
        </p:nvSpPr>
        <p:spPr>
          <a:xfrm>
            <a:off x="347002" y="2767950"/>
            <a:ext cx="1869300" cy="57270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 fontScale="62500" lnSpcReduction="2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s" sz="2800" cap="non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NUCLEOLAR</a:t>
            </a:r>
            <a:endParaRPr sz="2800" cap="non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aphicFrame>
        <p:nvGraphicFramePr>
          <p:cNvPr id="353" name="Google Shape;353;p58"/>
          <p:cNvGraphicFramePr/>
          <p:nvPr/>
        </p:nvGraphicFramePr>
        <p:xfrm>
          <a:off x="1062006" y="345713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{773720B0-C20C-4890-AE5A-15F954F96CD2}</a:tableStyleId>
              </a:tblPr>
              <a:tblGrid>
                <a:gridCol w="2442975"/>
                <a:gridCol w="2442975"/>
                <a:gridCol w="2442975"/>
              </a:tblGrid>
              <a:tr h="334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600"/>
                        <a:t>PATRÓN</a:t>
                      </a:r>
                      <a:endParaRPr sz="16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600" u="none" cap="none" strike="noStrike"/>
                        <a:t>A. AC ASOCIADO</a:t>
                      </a:r>
                      <a:endParaRPr sz="16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600" u="none" cap="none" strike="noStrike"/>
                        <a:t>ENFERMEDAD</a:t>
                      </a:r>
                      <a:endParaRPr sz="16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  <a:tr h="334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600" u="none" cap="none" strike="noStrike"/>
                        <a:t>Moteado tipo scl 70</a:t>
                      </a:r>
                      <a:endParaRPr sz="16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600" u="none" cap="none" strike="noStrike"/>
                        <a:t>Antitopo I, scl 70</a:t>
                      </a:r>
                      <a:endParaRPr sz="16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600" u="none" cap="none" strike="noStrike"/>
                        <a:t>ES difusa</a:t>
                      </a:r>
                      <a:endParaRPr sz="16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  <a:tr h="835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600" u="none" cap="none" strike="noStrike"/>
                        <a:t>Moteado tipo Mi2</a:t>
                      </a:r>
                      <a:endParaRPr sz="16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Gill Sans"/>
                        <a:buNone/>
                      </a:pPr>
                      <a:r>
                        <a:rPr lang="es" sz="1600" u="none" cap="none" strike="noStrike"/>
                        <a:t>Ac contra enz de los nucleosomas</a:t>
                      </a:r>
                      <a:endParaRPr sz="16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600" u="none" cap="none" strike="noStrike"/>
                        <a:t>DM (15-35%) PM (5-10%)</a:t>
                      </a:r>
                      <a:endParaRPr sz="1200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8" name="Google Shape;358;p59"/>
          <p:cNvGraphicFramePr/>
          <p:nvPr/>
        </p:nvGraphicFramePr>
        <p:xfrm>
          <a:off x="1090345" y="100662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{773720B0-C20C-4890-AE5A-15F954F96CD2}</a:tableStyleId>
              </a:tblPr>
              <a:tblGrid>
                <a:gridCol w="2577050"/>
                <a:gridCol w="2577050"/>
                <a:gridCol w="25770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u="none" cap="none" strike="noStrike"/>
                        <a:t>PATRON</a:t>
                      </a:r>
                      <a:endParaRPr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u="none" cap="none" strike="noStrike"/>
                        <a:t>A. AC ASOCIADO</a:t>
                      </a:r>
                      <a:endParaRPr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u="none" cap="none" strike="noStrike"/>
                        <a:t>ENFERMEDAD</a:t>
                      </a:r>
                      <a:endParaRPr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u="none" cap="none" strike="noStrike"/>
                        <a:t>Granular fino</a:t>
                      </a:r>
                      <a:endParaRPr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u="none" cap="none" strike="noStrike"/>
                        <a:t>Anti JO1</a:t>
                      </a:r>
                      <a:endParaRPr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u="none" cap="none" strike="noStrike"/>
                        <a:t>Sind antisintetasa, PM/DM Es limitada</a:t>
                      </a:r>
                      <a:endParaRPr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u="none" cap="none" strike="noStrike"/>
                        <a:t>Granular fino denso</a:t>
                      </a:r>
                      <a:endParaRPr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u="none" cap="none" strike="noStrike"/>
                        <a:t>Anti P ribosomal</a:t>
                      </a:r>
                      <a:endParaRPr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u="none" cap="none" strike="noStrike"/>
                        <a:t>LES, LES juvenil, LES neuropsiquiatrico</a:t>
                      </a:r>
                      <a:endParaRPr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u="none" cap="none" strike="noStrike"/>
                        <a:t>Moteado reticular</a:t>
                      </a:r>
                      <a:endParaRPr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u="none" cap="none" strike="noStrike"/>
                        <a:t>AMA (M2)</a:t>
                      </a:r>
                      <a:endParaRPr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u="none" cap="none" strike="noStrike"/>
                        <a:t>CBP, SS</a:t>
                      </a:r>
                      <a:endParaRPr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</a:tbl>
          </a:graphicData>
        </a:graphic>
      </p:graphicFrame>
      <p:sp>
        <p:nvSpPr>
          <p:cNvPr id="359" name="Google Shape;359;p59"/>
          <p:cNvSpPr txBox="1"/>
          <p:nvPr/>
        </p:nvSpPr>
        <p:spPr>
          <a:xfrm>
            <a:off x="585222" y="411576"/>
            <a:ext cx="2202600" cy="53760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 fontScale="55000" lnSpcReduction="2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8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CITOPLASMATICO</a:t>
            </a:r>
            <a:endParaRPr sz="2800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60" name="Google Shape;360;p59"/>
          <p:cNvSpPr txBox="1"/>
          <p:nvPr/>
        </p:nvSpPr>
        <p:spPr>
          <a:xfrm>
            <a:off x="494325" y="2949251"/>
            <a:ext cx="2202600" cy="62640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 fontScale="85000" lnSpcReduction="2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s" sz="28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MITÓTICO</a:t>
            </a:r>
            <a:endParaRPr sz="2800" cap="non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aphicFrame>
        <p:nvGraphicFramePr>
          <p:cNvPr id="361" name="Google Shape;361;p59"/>
          <p:cNvGraphicFramePr/>
          <p:nvPr/>
        </p:nvGraphicFramePr>
        <p:xfrm>
          <a:off x="1244635" y="384040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{773720B0-C20C-4890-AE5A-15F954F96CD2}</a:tableStyleId>
              </a:tblPr>
              <a:tblGrid>
                <a:gridCol w="2577050"/>
                <a:gridCol w="2577050"/>
                <a:gridCol w="25770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800" u="none" cap="none" strike="noStrike"/>
                        <a:t>PATRON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800" u="none" cap="none" strike="noStrike"/>
                        <a:t>A. AC ASOCIADO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800" u="none" cap="none" strike="noStrike"/>
                        <a:t>ENFERMEDAD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800" u="none" cap="none" strike="noStrike"/>
                        <a:t>Tipo NUMA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800" u="none" cap="none" strike="noStrike"/>
                        <a:t>NUMA1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800" u="none" cap="none" strike="noStrike"/>
                        <a:t>LES, SS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6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60"/>
          <p:cNvSpPr txBox="1"/>
          <p:nvPr>
            <p:ph idx="1" type="body"/>
          </p:nvPr>
        </p:nvSpPr>
        <p:spPr>
          <a:xfrm>
            <a:off x="720000" y="1045650"/>
            <a:ext cx="7704000" cy="39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68" name="Google Shape;368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6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 u="sng">
                <a:latin typeface="Calibri"/>
                <a:ea typeface="Calibri"/>
                <a:cs typeface="Calibri"/>
                <a:sym typeface="Calibri"/>
              </a:rPr>
              <a:t>TIPOS DE PATRONES</a:t>
            </a:r>
            <a:endParaRPr/>
          </a:p>
        </p:txBody>
      </p:sp>
      <p:sp>
        <p:nvSpPr>
          <p:cNvPr id="374" name="Google Shape;374;p61"/>
          <p:cNvSpPr txBox="1"/>
          <p:nvPr>
            <p:ph idx="1" type="body"/>
          </p:nvPr>
        </p:nvSpPr>
        <p:spPr>
          <a:xfrm>
            <a:off x="720000" y="1045650"/>
            <a:ext cx="7704000" cy="39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400">
                <a:solidFill>
                  <a:srgbClr val="4A86E8"/>
                </a:solidFill>
              </a:rPr>
              <a:t>•</a:t>
            </a:r>
            <a:r>
              <a:rPr b="1" lang="es" sz="2400">
                <a:solidFill>
                  <a:srgbClr val="4A86E8"/>
                </a:solidFill>
                <a:latin typeface="Calibri"/>
                <a:ea typeface="Calibri"/>
                <a:cs typeface="Calibri"/>
                <a:sym typeface="Calibri"/>
              </a:rPr>
              <a:t>PATRÓN HOMOGÉNEO  O DIFUSO</a:t>
            </a:r>
            <a:endParaRPr b="1" sz="2400">
              <a:solidFill>
                <a:srgbClr val="4A86E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400">
                <a:solidFill>
                  <a:schemeClr val="dk1"/>
                </a:solidFill>
              </a:rPr>
              <a:t>-</a:t>
            </a:r>
            <a:r>
              <a:rPr lang="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Todo el núcleo se colorea y con más intensidad en la periferia. Las figuras mitóticas también se colorean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400">
                <a:solidFill>
                  <a:schemeClr val="dk1"/>
                </a:solidFill>
              </a:rPr>
              <a:t>-</a:t>
            </a:r>
            <a:r>
              <a:rPr lang="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 por Ac que reaccionan con el complejo ADN histona, ADN de doble cadena y de cadena sencilla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400">
                <a:solidFill>
                  <a:schemeClr val="dk1"/>
                </a:solidFill>
              </a:rPr>
              <a:t>-</a:t>
            </a:r>
            <a:r>
              <a:rPr lang="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título &gt; 1:640 es sugestivo de LES o Lupus inducido por medicamentos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6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62"/>
          <p:cNvSpPr txBox="1"/>
          <p:nvPr>
            <p:ph idx="1" type="body"/>
          </p:nvPr>
        </p:nvSpPr>
        <p:spPr>
          <a:xfrm>
            <a:off x="720000" y="1045650"/>
            <a:ext cx="7704000" cy="39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1" name="Google Shape;381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9216" y="0"/>
            <a:ext cx="7305566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6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63"/>
          <p:cNvSpPr txBox="1"/>
          <p:nvPr>
            <p:ph idx="1" type="body"/>
          </p:nvPr>
        </p:nvSpPr>
        <p:spPr>
          <a:xfrm>
            <a:off x="720000" y="1045650"/>
            <a:ext cx="7704000" cy="39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400">
                <a:solidFill>
                  <a:srgbClr val="4A86E8"/>
                </a:solidFill>
                <a:latin typeface="Kumbh Sans Medium"/>
                <a:ea typeface="Kumbh Sans Medium"/>
                <a:cs typeface="Kumbh Sans Medium"/>
                <a:sym typeface="Kumbh Sans Medium"/>
              </a:rPr>
              <a:t>•</a:t>
            </a:r>
            <a:r>
              <a:rPr b="1" lang="es" sz="2400">
                <a:solidFill>
                  <a:srgbClr val="4A86E8"/>
                </a:solidFill>
                <a:latin typeface="Kumbh Sans"/>
                <a:ea typeface="Kumbh Sans"/>
                <a:cs typeface="Kumbh Sans"/>
                <a:sym typeface="Kumbh Sans"/>
              </a:rPr>
              <a:t>PATRÓN PERIFÉRICO O EN ANILLO</a:t>
            </a:r>
            <a:endParaRPr b="1" sz="2400">
              <a:solidFill>
                <a:srgbClr val="4A86E8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400">
                <a:solidFill>
                  <a:schemeClr val="dk1"/>
                </a:solidFill>
                <a:latin typeface="Kumbh Sans Medium"/>
                <a:ea typeface="Kumbh Sans Medium"/>
                <a:cs typeface="Kumbh Sans Medium"/>
                <a:sym typeface="Kumbh Sans Medium"/>
              </a:rPr>
              <a:t>-</a:t>
            </a:r>
            <a:r>
              <a:rPr lang="es" sz="24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El núcleo se colorea principalmente en la periferia</a:t>
            </a:r>
            <a:endParaRPr sz="2400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400">
                <a:solidFill>
                  <a:schemeClr val="dk1"/>
                </a:solidFill>
                <a:latin typeface="Kumbh Sans Medium"/>
                <a:ea typeface="Kumbh Sans Medium"/>
                <a:cs typeface="Kumbh Sans Medium"/>
                <a:sym typeface="Kumbh Sans Medium"/>
              </a:rPr>
              <a:t>-</a:t>
            </a:r>
            <a:r>
              <a:rPr lang="es" sz="24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Se produce por AC que reaccionen con al ADN nativo o de cadena doble</a:t>
            </a:r>
            <a:endParaRPr sz="2400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400">
                <a:solidFill>
                  <a:schemeClr val="dk1"/>
                </a:solidFill>
                <a:latin typeface="Kumbh Sans Medium"/>
                <a:ea typeface="Kumbh Sans Medium"/>
                <a:cs typeface="Kumbh Sans Medium"/>
                <a:sym typeface="Kumbh Sans Medium"/>
              </a:rPr>
              <a:t>-</a:t>
            </a:r>
            <a:r>
              <a:rPr lang="es" sz="24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Es títulos altos es casi exclusivo de LES</a:t>
            </a:r>
            <a:endParaRPr sz="2400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6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64"/>
          <p:cNvSpPr txBox="1"/>
          <p:nvPr>
            <p:ph idx="1" type="body"/>
          </p:nvPr>
        </p:nvSpPr>
        <p:spPr>
          <a:xfrm>
            <a:off x="720000" y="1045650"/>
            <a:ext cx="7704000" cy="39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94" name="Google Shape;394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0" y="0"/>
            <a:ext cx="685800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6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65"/>
          <p:cNvSpPr txBox="1"/>
          <p:nvPr>
            <p:ph idx="1" type="body"/>
          </p:nvPr>
        </p:nvSpPr>
        <p:spPr>
          <a:xfrm>
            <a:off x="720000" y="1045650"/>
            <a:ext cx="7704000" cy="39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s" sz="2400">
                <a:solidFill>
                  <a:srgbClr val="4A86E8"/>
                </a:solidFill>
                <a:latin typeface="Kumbh Sans Medium"/>
                <a:ea typeface="Kumbh Sans Medium"/>
                <a:cs typeface="Kumbh Sans Medium"/>
                <a:sym typeface="Kumbh Sans Medium"/>
              </a:rPr>
              <a:t>•</a:t>
            </a:r>
            <a:r>
              <a:rPr b="1" lang="es" sz="2400">
                <a:solidFill>
                  <a:srgbClr val="4A86E8"/>
                </a:solidFill>
                <a:latin typeface="Kumbh Sans"/>
                <a:ea typeface="Kumbh Sans"/>
                <a:cs typeface="Kumbh Sans"/>
                <a:sym typeface="Kumbh Sans"/>
              </a:rPr>
              <a:t>PATRÓN MOTEADO</a:t>
            </a:r>
            <a:endParaRPr b="1" sz="2400">
              <a:solidFill>
                <a:srgbClr val="4A86E8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s" sz="2400">
                <a:solidFill>
                  <a:schemeClr val="dk1"/>
                </a:solidFill>
                <a:latin typeface="Kumbh Sans Medium"/>
                <a:ea typeface="Kumbh Sans Medium"/>
                <a:cs typeface="Kumbh Sans Medium"/>
                <a:sym typeface="Kumbh Sans Medium"/>
              </a:rPr>
              <a:t>-</a:t>
            </a:r>
            <a:r>
              <a:rPr lang="es" sz="24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La coloración del núcleo es reticular o moteada</a:t>
            </a:r>
            <a:endParaRPr sz="2400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s" sz="2400">
                <a:solidFill>
                  <a:schemeClr val="dk1"/>
                </a:solidFill>
                <a:latin typeface="Kumbh Sans Medium"/>
                <a:ea typeface="Kumbh Sans Medium"/>
                <a:cs typeface="Kumbh Sans Medium"/>
                <a:sym typeface="Kumbh Sans Medium"/>
              </a:rPr>
              <a:t>-</a:t>
            </a:r>
            <a:r>
              <a:rPr lang="es" sz="24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Es el menos específico de los patrones porque denota la presencia de Ac contra una gran variedad de Ag citoplasmáticos y nucleares</a:t>
            </a:r>
            <a:endParaRPr sz="2400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s" sz="2400">
                <a:solidFill>
                  <a:schemeClr val="dk1"/>
                </a:solidFill>
                <a:latin typeface="Kumbh Sans Medium"/>
                <a:ea typeface="Kumbh Sans Medium"/>
                <a:cs typeface="Kumbh Sans Medium"/>
                <a:sym typeface="Kumbh Sans Medium"/>
              </a:rPr>
              <a:t>-</a:t>
            </a:r>
            <a:r>
              <a:rPr lang="es" sz="24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Son Ac que reaccionan contra proteínas no histonas (Sm, U1 RNP, La, Ro, Scl 70, ARN polimerasas I y II.</a:t>
            </a:r>
            <a:endParaRPr sz="2400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s" sz="2400">
                <a:solidFill>
                  <a:schemeClr val="dk1"/>
                </a:solidFill>
                <a:latin typeface="Kumbh Sans Medium"/>
                <a:ea typeface="Kumbh Sans Medium"/>
                <a:cs typeface="Kumbh Sans Medium"/>
                <a:sym typeface="Kumbh Sans Medium"/>
              </a:rPr>
              <a:t>-</a:t>
            </a:r>
            <a:r>
              <a:rPr lang="es" sz="24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Se encuentra en LES, EMTC, Esclerosis sistémica, AR y SS</a:t>
            </a:r>
            <a:endParaRPr sz="2400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6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66"/>
          <p:cNvSpPr txBox="1"/>
          <p:nvPr>
            <p:ph idx="1" type="body"/>
          </p:nvPr>
        </p:nvSpPr>
        <p:spPr>
          <a:xfrm>
            <a:off x="720000" y="1045650"/>
            <a:ext cx="7704000" cy="39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07" name="Google Shape;407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3328" y="0"/>
            <a:ext cx="6837345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67"/>
          <p:cNvSpPr txBox="1"/>
          <p:nvPr>
            <p:ph idx="1" type="body"/>
          </p:nvPr>
        </p:nvSpPr>
        <p:spPr>
          <a:xfrm>
            <a:off x="720000" y="1045650"/>
            <a:ext cx="7704000" cy="39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s" sz="2400">
                <a:solidFill>
                  <a:srgbClr val="4A86E8"/>
                </a:solidFill>
              </a:rPr>
              <a:t>•</a:t>
            </a:r>
            <a:r>
              <a:rPr b="1" lang="es" sz="2400">
                <a:solidFill>
                  <a:srgbClr val="4A86E8"/>
                </a:solidFill>
                <a:latin typeface="Kumbh Sans"/>
                <a:ea typeface="Kumbh Sans"/>
                <a:cs typeface="Kumbh Sans"/>
                <a:sym typeface="Kumbh Sans"/>
              </a:rPr>
              <a:t>PATRÓN NUCLEOLAR</a:t>
            </a:r>
            <a:endParaRPr b="1" sz="2400">
              <a:solidFill>
                <a:srgbClr val="4A86E8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s" sz="2400">
                <a:solidFill>
                  <a:schemeClr val="dk1"/>
                </a:solidFill>
                <a:latin typeface="Kumbh Sans Medium"/>
                <a:ea typeface="Kumbh Sans Medium"/>
                <a:cs typeface="Kumbh Sans Medium"/>
                <a:sym typeface="Kumbh Sans Medium"/>
              </a:rPr>
              <a:t>-</a:t>
            </a:r>
            <a:r>
              <a:rPr lang="es" sz="24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Únicamente se colorean los nucleólos</a:t>
            </a:r>
            <a:endParaRPr sz="2400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s" sz="2400">
                <a:solidFill>
                  <a:schemeClr val="dk1"/>
                </a:solidFill>
                <a:latin typeface="Kumbh Sans Medium"/>
                <a:ea typeface="Kumbh Sans Medium"/>
                <a:cs typeface="Kumbh Sans Medium"/>
                <a:sym typeface="Kumbh Sans Medium"/>
              </a:rPr>
              <a:t>-</a:t>
            </a:r>
            <a:r>
              <a:rPr lang="es" sz="24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Son Ac que reaccionan con el ARN nucleolar</a:t>
            </a:r>
            <a:endParaRPr sz="2400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s" sz="2400">
                <a:solidFill>
                  <a:schemeClr val="dk1"/>
                </a:solidFill>
                <a:latin typeface="Kumbh Sans Medium"/>
                <a:ea typeface="Kumbh Sans Medium"/>
                <a:cs typeface="Kumbh Sans Medium"/>
                <a:sym typeface="Kumbh Sans Medium"/>
              </a:rPr>
              <a:t>-</a:t>
            </a:r>
            <a:r>
              <a:rPr lang="es" sz="24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En títulos altos es común en Esclerosis sistémica</a:t>
            </a:r>
            <a:endParaRPr sz="2400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6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68"/>
          <p:cNvSpPr txBox="1"/>
          <p:nvPr>
            <p:ph idx="1" type="body"/>
          </p:nvPr>
        </p:nvSpPr>
        <p:spPr>
          <a:xfrm>
            <a:off x="720000" y="1045650"/>
            <a:ext cx="7704000" cy="39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19" name="Google Shape;419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1358" y="0"/>
            <a:ext cx="6961284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69"/>
          <p:cNvSpPr txBox="1"/>
          <p:nvPr>
            <p:ph idx="1" type="body"/>
          </p:nvPr>
        </p:nvSpPr>
        <p:spPr>
          <a:xfrm>
            <a:off x="720000" y="1045650"/>
            <a:ext cx="7704000" cy="39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400">
                <a:solidFill>
                  <a:srgbClr val="4A86E8"/>
                </a:solidFill>
              </a:rPr>
              <a:t>•</a:t>
            </a:r>
            <a:r>
              <a:rPr b="1" lang="es" sz="2400">
                <a:solidFill>
                  <a:srgbClr val="4A86E8"/>
                </a:solidFill>
                <a:latin typeface="Kumbh Sans"/>
                <a:ea typeface="Kumbh Sans"/>
                <a:cs typeface="Kumbh Sans"/>
                <a:sym typeface="Kumbh Sans"/>
              </a:rPr>
              <a:t>PATRÓN CENTROMÉRICO</a:t>
            </a:r>
            <a:endParaRPr b="1" sz="2400">
              <a:solidFill>
                <a:srgbClr val="4A86E8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400">
                <a:solidFill>
                  <a:schemeClr val="dk1"/>
                </a:solidFill>
                <a:latin typeface="Kumbh Sans Medium"/>
                <a:ea typeface="Kumbh Sans Medium"/>
                <a:cs typeface="Kumbh Sans Medium"/>
                <a:sym typeface="Kumbh Sans Medium"/>
              </a:rPr>
              <a:t>-</a:t>
            </a:r>
            <a:r>
              <a:rPr lang="es" sz="24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Es similar al patrón moteado pero con características especiales: los puntos de fluorescencia nuclear son uniformes, más grandes y fáciles de contar ( 40- 60 por núcleo)</a:t>
            </a:r>
            <a:endParaRPr sz="2400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400">
                <a:solidFill>
                  <a:schemeClr val="dk1"/>
                </a:solidFill>
                <a:latin typeface="Kumbh Sans Medium"/>
                <a:ea typeface="Kumbh Sans Medium"/>
                <a:cs typeface="Kumbh Sans Medium"/>
                <a:sym typeface="Kumbh Sans Medium"/>
              </a:rPr>
              <a:t>-</a:t>
            </a:r>
            <a:r>
              <a:rPr lang="es" sz="24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Se ve con alta frecuencia en el Síndrome de CREST (ESCLEROSIS SISTEMICA LIMITADA)</a:t>
            </a:r>
            <a:endParaRPr sz="2400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400">
                <a:solidFill>
                  <a:schemeClr val="dk1"/>
                </a:solidFill>
                <a:latin typeface="Kumbh Sans Medium"/>
                <a:ea typeface="Kumbh Sans Medium"/>
                <a:cs typeface="Kumbh Sans Medium"/>
                <a:sym typeface="Kumbh Sans Medium"/>
              </a:rPr>
              <a:t>-</a:t>
            </a:r>
            <a:r>
              <a:rPr lang="es" sz="24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Con menor frecuencia en enfermedad de Raynauld, Esclerodermia difusa, CBP, LES y AR</a:t>
            </a:r>
            <a:endParaRPr sz="2400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Kumbh Sans Medium"/>
              <a:ea typeface="Kumbh Sans Medium"/>
              <a:cs typeface="Kumbh Sans Medium"/>
              <a:sym typeface="Kumbh Sans Medium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7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70"/>
          <p:cNvSpPr txBox="1"/>
          <p:nvPr>
            <p:ph idx="1" type="body"/>
          </p:nvPr>
        </p:nvSpPr>
        <p:spPr>
          <a:xfrm>
            <a:off x="720000" y="1045650"/>
            <a:ext cx="7704000" cy="39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31" name="Google Shape;431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3256" y="0"/>
            <a:ext cx="679748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7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71"/>
          <p:cNvSpPr txBox="1"/>
          <p:nvPr>
            <p:ph idx="1" type="body"/>
          </p:nvPr>
        </p:nvSpPr>
        <p:spPr>
          <a:xfrm>
            <a:off x="720000" y="1045650"/>
            <a:ext cx="7704000" cy="39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2400">
                <a:solidFill>
                  <a:srgbClr val="4A86E8"/>
                </a:solidFill>
                <a:latin typeface="Kumbh Sans"/>
                <a:ea typeface="Kumbh Sans"/>
                <a:cs typeface="Kumbh Sans"/>
                <a:sym typeface="Kumbh Sans"/>
              </a:rPr>
              <a:t>PATRÓN</a:t>
            </a:r>
            <a:r>
              <a:rPr b="1" lang="es" sz="2400">
                <a:solidFill>
                  <a:srgbClr val="4A86E8"/>
                </a:solidFill>
                <a:latin typeface="Kumbh Sans"/>
                <a:ea typeface="Kumbh Sans"/>
                <a:cs typeface="Kumbh Sans"/>
                <a:sym typeface="Kumbh Sans"/>
              </a:rPr>
              <a:t> CITOPLASMÁTICO</a:t>
            </a:r>
            <a:endParaRPr b="1" sz="2400">
              <a:solidFill>
                <a:srgbClr val="4A86E8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400">
                <a:solidFill>
                  <a:schemeClr val="dk1"/>
                </a:solidFill>
                <a:latin typeface="Kumbh Sans Medium"/>
                <a:ea typeface="Kumbh Sans Medium"/>
                <a:cs typeface="Kumbh Sans Medium"/>
                <a:sym typeface="Kumbh Sans Medium"/>
              </a:rPr>
              <a:t>-</a:t>
            </a:r>
            <a:r>
              <a:rPr lang="es" sz="24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Se ocasionan por Ac contra componentes del citoplasma</a:t>
            </a:r>
            <a:endParaRPr sz="2400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400">
                <a:solidFill>
                  <a:schemeClr val="dk1"/>
                </a:solidFill>
                <a:latin typeface="Kumbh Sans Medium"/>
                <a:ea typeface="Kumbh Sans Medium"/>
                <a:cs typeface="Kumbh Sans Medium"/>
                <a:sym typeface="Kumbh Sans Medium"/>
              </a:rPr>
              <a:t>-</a:t>
            </a:r>
            <a:r>
              <a:rPr lang="es" sz="24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Se encuentran en enfermedades inflamatorias del músculo, entidades hepáticas y LES</a:t>
            </a:r>
            <a:endParaRPr sz="2400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7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72"/>
          <p:cNvSpPr txBox="1"/>
          <p:nvPr>
            <p:ph idx="1" type="body"/>
          </p:nvPr>
        </p:nvSpPr>
        <p:spPr>
          <a:xfrm>
            <a:off x="720000" y="1045650"/>
            <a:ext cx="7704000" cy="39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72"/>
          <p:cNvSpPr txBox="1"/>
          <p:nvPr/>
        </p:nvSpPr>
        <p:spPr>
          <a:xfrm>
            <a:off x="234351" y="1303446"/>
            <a:ext cx="3073800" cy="66480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700">
                <a:solidFill>
                  <a:srgbClr val="262626"/>
                </a:solidFill>
                <a:latin typeface="Kumbh Sans"/>
                <a:ea typeface="Kumbh Sans"/>
                <a:cs typeface="Kumbh Sans"/>
                <a:sym typeface="Kumbh Sans"/>
              </a:rPr>
              <a:t>AC ANTI SM</a:t>
            </a:r>
            <a:endParaRPr sz="2700">
              <a:solidFill>
                <a:srgbClr val="262626"/>
              </a:solidFill>
              <a:latin typeface="Kumbh Sans"/>
              <a:ea typeface="Kumbh Sans"/>
              <a:cs typeface="Kumbh Sans"/>
              <a:sym typeface="Kumbh Sans"/>
            </a:endParaRPr>
          </a:p>
        </p:txBody>
      </p:sp>
      <p:sp>
        <p:nvSpPr>
          <p:cNvPr id="445" name="Google Shape;445;p72"/>
          <p:cNvSpPr txBox="1"/>
          <p:nvPr/>
        </p:nvSpPr>
        <p:spPr>
          <a:xfrm>
            <a:off x="234351" y="2470468"/>
            <a:ext cx="3679200" cy="20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13677" lvl="0" marL="2286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6A21D"/>
              </a:buClr>
              <a:buSzPts val="1565"/>
              <a:buFont typeface="Kumbh Sans"/>
              <a:buChar char="•"/>
            </a:pPr>
            <a:r>
              <a:rPr lang="es" sz="1565">
                <a:solidFill>
                  <a:srgbClr val="262626"/>
                </a:solidFill>
                <a:latin typeface="Kumbh Sans"/>
                <a:ea typeface="Kumbh Sans"/>
                <a:cs typeface="Kumbh Sans"/>
                <a:sym typeface="Kumbh Sans"/>
              </a:rPr>
              <a:t>Sensibilidad 25-30% LES</a:t>
            </a:r>
            <a:endParaRPr sz="1565">
              <a:solidFill>
                <a:srgbClr val="262626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-213677" lvl="0" marL="2286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F6A21D"/>
              </a:buClr>
              <a:buSzPts val="1565"/>
              <a:buFont typeface="Kumbh Sans"/>
              <a:buChar char="•"/>
            </a:pPr>
            <a:r>
              <a:rPr lang="es" sz="1565">
                <a:solidFill>
                  <a:srgbClr val="262626"/>
                </a:solidFill>
                <a:latin typeface="Kumbh Sans"/>
                <a:ea typeface="Kumbh Sans"/>
                <a:cs typeface="Kumbh Sans"/>
                <a:sym typeface="Kumbh Sans"/>
              </a:rPr>
              <a:t>Especificidad 99% LES</a:t>
            </a:r>
            <a:endParaRPr sz="1565">
              <a:solidFill>
                <a:srgbClr val="262626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-213677" lvl="0" marL="2286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F6A21D"/>
              </a:buClr>
              <a:buSzPts val="1565"/>
              <a:buFont typeface="Kumbh Sans"/>
              <a:buChar char="•"/>
            </a:pPr>
            <a:r>
              <a:rPr lang="es" sz="1565">
                <a:solidFill>
                  <a:srgbClr val="262626"/>
                </a:solidFill>
                <a:latin typeface="Kumbh Sans"/>
                <a:ea typeface="Kumbh Sans"/>
                <a:cs typeface="Kumbh Sans"/>
                <a:sym typeface="Kumbh Sans"/>
              </a:rPr>
              <a:t>ASOCIACIONES CLINICAS:</a:t>
            </a:r>
            <a:endParaRPr sz="1565">
              <a:solidFill>
                <a:srgbClr val="262626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-214630" lvl="1" marL="4572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F6A21D"/>
              </a:buClr>
              <a:buSzPts val="1380"/>
              <a:buFont typeface="Kumbh Sans"/>
              <a:buChar char="•"/>
            </a:pPr>
            <a:r>
              <a:rPr lang="es" sz="1380">
                <a:solidFill>
                  <a:srgbClr val="262626"/>
                </a:solidFill>
                <a:latin typeface="Kumbh Sans"/>
                <a:ea typeface="Kumbh Sans"/>
                <a:cs typeface="Kumbh Sans"/>
                <a:sym typeface="Kumbh Sans"/>
              </a:rPr>
              <a:t>Convulsiones, psicosis, nefropatía vasculitis, fiebre, linfopénia.</a:t>
            </a:r>
            <a:endParaRPr sz="1380">
              <a:solidFill>
                <a:srgbClr val="262626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-213677" lvl="0" marL="2286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F6A21D"/>
              </a:buClr>
              <a:buSzPts val="1565"/>
              <a:buFont typeface="Kumbh Sans"/>
              <a:buChar char="•"/>
            </a:pPr>
            <a:r>
              <a:rPr lang="es" sz="1565">
                <a:solidFill>
                  <a:srgbClr val="262626"/>
                </a:solidFill>
                <a:latin typeface="Kumbh Sans"/>
                <a:ea typeface="Kumbh Sans"/>
                <a:cs typeface="Kumbh Sans"/>
                <a:sym typeface="Kumbh Sans"/>
              </a:rPr>
              <a:t>El titulo fluctúa en la actividad inflamatoria.</a:t>
            </a:r>
            <a:endParaRPr sz="1565">
              <a:solidFill>
                <a:srgbClr val="262626"/>
              </a:solidFill>
              <a:latin typeface="Kumbh Sans"/>
              <a:ea typeface="Kumbh Sans"/>
              <a:cs typeface="Kumbh Sans"/>
              <a:sym typeface="Kumbh Sans"/>
            </a:endParaRPr>
          </a:p>
        </p:txBody>
      </p:sp>
      <p:sp>
        <p:nvSpPr>
          <p:cNvPr id="446" name="Google Shape;446;p72"/>
          <p:cNvSpPr txBox="1"/>
          <p:nvPr/>
        </p:nvSpPr>
        <p:spPr>
          <a:xfrm>
            <a:off x="5248575" y="1303445"/>
            <a:ext cx="3073800" cy="66480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ill Sans"/>
              <a:buNone/>
            </a:pPr>
            <a:r>
              <a:rPr lang="es" sz="2700" cap="none">
                <a:solidFill>
                  <a:srgbClr val="262626"/>
                </a:solidFill>
                <a:latin typeface="Kumbh Sans"/>
                <a:ea typeface="Kumbh Sans"/>
                <a:cs typeface="Kumbh Sans"/>
                <a:sym typeface="Kumbh Sans"/>
              </a:rPr>
              <a:t>AC ANTI RNP</a:t>
            </a:r>
            <a:endParaRPr sz="2700" cap="none">
              <a:solidFill>
                <a:srgbClr val="262626"/>
              </a:solidFill>
              <a:latin typeface="Kumbh Sans"/>
              <a:ea typeface="Kumbh Sans"/>
              <a:cs typeface="Kumbh Sans"/>
              <a:sym typeface="Kumbh Sans"/>
            </a:endParaRPr>
          </a:p>
        </p:txBody>
      </p:sp>
      <p:sp>
        <p:nvSpPr>
          <p:cNvPr id="447" name="Google Shape;447;p72"/>
          <p:cNvSpPr txBox="1"/>
          <p:nvPr/>
        </p:nvSpPr>
        <p:spPr>
          <a:xfrm>
            <a:off x="4945828" y="2470468"/>
            <a:ext cx="3679200" cy="18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13677" lvl="0" marL="2286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6A21D"/>
              </a:buClr>
              <a:buSzPts val="1565"/>
              <a:buFont typeface="Kumbh Sans"/>
              <a:buChar char="•"/>
            </a:pPr>
            <a:r>
              <a:rPr lang="es" sz="1565">
                <a:solidFill>
                  <a:srgbClr val="262626"/>
                </a:solidFill>
                <a:latin typeface="Kumbh Sans"/>
                <a:ea typeface="Kumbh Sans"/>
                <a:cs typeface="Kumbh Sans"/>
                <a:sym typeface="Kumbh Sans"/>
              </a:rPr>
              <a:t>30-40% LES</a:t>
            </a:r>
            <a:endParaRPr sz="1565">
              <a:solidFill>
                <a:srgbClr val="262626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-213677" lvl="0" marL="2286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F6A21D"/>
              </a:buClr>
              <a:buSzPts val="1565"/>
              <a:buFont typeface="Kumbh Sans"/>
              <a:buChar char="•"/>
            </a:pPr>
            <a:r>
              <a:rPr lang="es" sz="1565">
                <a:solidFill>
                  <a:srgbClr val="262626"/>
                </a:solidFill>
                <a:latin typeface="Kumbh Sans"/>
                <a:ea typeface="Kumbh Sans"/>
                <a:cs typeface="Kumbh Sans"/>
                <a:sym typeface="Kumbh Sans"/>
              </a:rPr>
              <a:t>100% EMTC</a:t>
            </a:r>
            <a:endParaRPr sz="1565">
              <a:solidFill>
                <a:srgbClr val="262626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-213677" lvl="0" marL="2286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F6A21D"/>
              </a:buClr>
              <a:buSzPts val="1565"/>
              <a:buFont typeface="Kumbh Sans"/>
              <a:buChar char="•"/>
            </a:pPr>
            <a:r>
              <a:rPr lang="es" sz="1565">
                <a:solidFill>
                  <a:srgbClr val="262626"/>
                </a:solidFill>
                <a:latin typeface="Kumbh Sans"/>
                <a:ea typeface="Kumbh Sans"/>
                <a:cs typeface="Kumbh Sans"/>
                <a:sym typeface="Kumbh Sans"/>
              </a:rPr>
              <a:t>10% ES</a:t>
            </a:r>
            <a:endParaRPr sz="1565">
              <a:solidFill>
                <a:srgbClr val="262626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-213677" lvl="0" marL="2286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F6A21D"/>
              </a:buClr>
              <a:buSzPts val="1565"/>
              <a:buFont typeface="Kumbh Sans"/>
              <a:buChar char="•"/>
            </a:pPr>
            <a:r>
              <a:rPr lang="es" sz="1565">
                <a:solidFill>
                  <a:srgbClr val="262626"/>
                </a:solidFill>
                <a:latin typeface="Kumbh Sans"/>
                <a:ea typeface="Kumbh Sans"/>
                <a:cs typeface="Kumbh Sans"/>
                <a:sym typeface="Kumbh Sans"/>
              </a:rPr>
              <a:t>ASOCIACIONES CLINICAS:</a:t>
            </a:r>
            <a:endParaRPr sz="1565">
              <a:solidFill>
                <a:srgbClr val="262626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-214630" lvl="1" marL="4572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F6A21D"/>
              </a:buClr>
              <a:buSzPts val="1380"/>
              <a:buFont typeface="Kumbh Sans"/>
              <a:buChar char="•"/>
            </a:pPr>
            <a:r>
              <a:rPr lang="es" sz="1380">
                <a:solidFill>
                  <a:srgbClr val="262626"/>
                </a:solidFill>
                <a:latin typeface="Kumbh Sans"/>
                <a:ea typeface="Kumbh Sans"/>
                <a:cs typeface="Kumbh Sans"/>
                <a:sym typeface="Kumbh Sans"/>
              </a:rPr>
              <a:t>HTP, raynaud, miositis, alopecia cicatrizal, Fibrosis pulmonar</a:t>
            </a:r>
            <a:endParaRPr sz="1380">
              <a:solidFill>
                <a:srgbClr val="262626"/>
              </a:solidFill>
              <a:latin typeface="Kumbh Sans"/>
              <a:ea typeface="Kumbh Sans"/>
              <a:cs typeface="Kumbh Sans"/>
              <a:sym typeface="Kumbh Sans"/>
            </a:endParaRPr>
          </a:p>
        </p:txBody>
      </p:sp>
      <p:sp>
        <p:nvSpPr>
          <p:cNvPr id="448" name="Google Shape;448;p72"/>
          <p:cNvSpPr txBox="1"/>
          <p:nvPr/>
        </p:nvSpPr>
        <p:spPr>
          <a:xfrm>
            <a:off x="2728338" y="347102"/>
            <a:ext cx="3714900" cy="692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900">
                <a:solidFill>
                  <a:srgbClr val="000000"/>
                </a:solidFill>
                <a:latin typeface="Kumbh Sans"/>
                <a:ea typeface="Kumbh Sans"/>
                <a:cs typeface="Kumbh Sans"/>
                <a:sym typeface="Kumbh Sans"/>
              </a:rPr>
              <a:t>AC ANTI ENAS</a:t>
            </a:r>
            <a:endParaRPr sz="3900">
              <a:solidFill>
                <a:srgbClr val="000000"/>
              </a:solidFill>
              <a:latin typeface="Kumbh Sans"/>
              <a:ea typeface="Kumbh Sans"/>
              <a:cs typeface="Kumbh Sans"/>
              <a:sym typeface="Kumbh San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7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73"/>
          <p:cNvSpPr txBox="1"/>
          <p:nvPr>
            <p:ph idx="1" type="body"/>
          </p:nvPr>
        </p:nvSpPr>
        <p:spPr>
          <a:xfrm>
            <a:off x="720000" y="1045650"/>
            <a:ext cx="7704000" cy="39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73"/>
          <p:cNvSpPr txBox="1"/>
          <p:nvPr/>
        </p:nvSpPr>
        <p:spPr>
          <a:xfrm>
            <a:off x="1440113" y="923725"/>
            <a:ext cx="6393300" cy="93720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800">
                <a:solidFill>
                  <a:srgbClr val="262626"/>
                </a:solidFill>
                <a:latin typeface="Kumbh Sans"/>
                <a:ea typeface="Kumbh Sans"/>
                <a:cs typeface="Kumbh Sans"/>
                <a:sym typeface="Kumbh Sans"/>
              </a:rPr>
              <a:t>AC ANT RO/SSA-ANTI LA/SSB</a:t>
            </a:r>
            <a:endParaRPr sz="2800">
              <a:solidFill>
                <a:srgbClr val="262626"/>
              </a:solidFill>
              <a:latin typeface="Kumbh Sans"/>
              <a:ea typeface="Kumbh Sans"/>
              <a:cs typeface="Kumbh Sans"/>
              <a:sym typeface="Kumbh Sans"/>
            </a:endParaRPr>
          </a:p>
        </p:txBody>
      </p:sp>
      <p:sp>
        <p:nvSpPr>
          <p:cNvPr id="456" name="Google Shape;456;p73"/>
          <p:cNvSpPr txBox="1"/>
          <p:nvPr/>
        </p:nvSpPr>
        <p:spPr>
          <a:xfrm>
            <a:off x="903125" y="2242775"/>
            <a:ext cx="3533100" cy="24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11455" lvl="0" marL="228600" rtl="0" algn="l">
              <a:spcBef>
                <a:spcPts val="0"/>
              </a:spcBef>
              <a:spcAft>
                <a:spcPts val="0"/>
              </a:spcAft>
              <a:buClr>
                <a:srgbClr val="F6A21D"/>
              </a:buClr>
              <a:buSzPct val="100000"/>
              <a:buFont typeface="Kumbh Sans"/>
              <a:buChar char="•"/>
            </a:pPr>
            <a:r>
              <a:rPr lang="es" sz="1800">
                <a:solidFill>
                  <a:srgbClr val="262626"/>
                </a:solidFill>
                <a:latin typeface="Kumbh Sans"/>
                <a:ea typeface="Kumbh Sans"/>
                <a:cs typeface="Kumbh Sans"/>
                <a:sym typeface="Kumbh Sans"/>
              </a:rPr>
              <a:t>LES:</a:t>
            </a:r>
            <a:endParaRPr sz="1800">
              <a:solidFill>
                <a:srgbClr val="262626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-213359" lvl="1" marL="457200" rtl="0" algn="l">
              <a:spcBef>
                <a:spcPts val="1000"/>
              </a:spcBef>
              <a:spcAft>
                <a:spcPts val="0"/>
              </a:spcAft>
              <a:buClr>
                <a:srgbClr val="F6A21D"/>
              </a:buClr>
              <a:buSzPct val="100000"/>
              <a:buFont typeface="Kumbh Sans"/>
              <a:buChar char="•"/>
            </a:pPr>
            <a:r>
              <a:rPr lang="es" sz="1600">
                <a:solidFill>
                  <a:srgbClr val="262626"/>
                </a:solidFill>
                <a:latin typeface="Kumbh Sans"/>
                <a:ea typeface="Kumbh Sans"/>
                <a:cs typeface="Kumbh Sans"/>
                <a:sym typeface="Kumbh Sans"/>
              </a:rPr>
              <a:t>RO 25-60%</a:t>
            </a:r>
            <a:endParaRPr sz="1600">
              <a:solidFill>
                <a:srgbClr val="262626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-213359" lvl="1" marL="457200" rtl="0" algn="l">
              <a:spcBef>
                <a:spcPts val="1000"/>
              </a:spcBef>
              <a:spcAft>
                <a:spcPts val="0"/>
              </a:spcAft>
              <a:buClr>
                <a:srgbClr val="F6A21D"/>
              </a:buClr>
              <a:buSzPct val="100000"/>
              <a:buFont typeface="Kumbh Sans"/>
              <a:buChar char="•"/>
            </a:pPr>
            <a:r>
              <a:rPr lang="es" sz="1600">
                <a:solidFill>
                  <a:srgbClr val="262626"/>
                </a:solidFill>
                <a:latin typeface="Kumbh Sans"/>
                <a:ea typeface="Kumbh Sans"/>
                <a:cs typeface="Kumbh Sans"/>
                <a:sym typeface="Kumbh Sans"/>
              </a:rPr>
              <a:t>LA 10-35%</a:t>
            </a:r>
            <a:endParaRPr sz="1600">
              <a:solidFill>
                <a:srgbClr val="262626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-211455" lvl="0" marL="228600" rtl="0" algn="l">
              <a:spcBef>
                <a:spcPts val="1000"/>
              </a:spcBef>
              <a:spcAft>
                <a:spcPts val="0"/>
              </a:spcAft>
              <a:buClr>
                <a:srgbClr val="F6A21D"/>
              </a:buClr>
              <a:buSzPct val="100000"/>
              <a:buFont typeface="Kumbh Sans"/>
              <a:buChar char="•"/>
            </a:pPr>
            <a:r>
              <a:rPr lang="es" sz="1800">
                <a:solidFill>
                  <a:srgbClr val="262626"/>
                </a:solidFill>
                <a:latin typeface="Kumbh Sans"/>
                <a:ea typeface="Kumbh Sans"/>
                <a:cs typeface="Kumbh Sans"/>
                <a:sym typeface="Kumbh Sans"/>
              </a:rPr>
              <a:t>ASOCIACIONES CLINICAS:</a:t>
            </a:r>
            <a:endParaRPr sz="1800">
              <a:solidFill>
                <a:srgbClr val="262626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-213359" lvl="1" marL="457200" rtl="0" algn="l">
              <a:spcBef>
                <a:spcPts val="1000"/>
              </a:spcBef>
              <a:spcAft>
                <a:spcPts val="0"/>
              </a:spcAft>
              <a:buClr>
                <a:srgbClr val="F6A21D"/>
              </a:buClr>
              <a:buSzPct val="100000"/>
              <a:buFont typeface="Kumbh Sans"/>
              <a:buChar char="•"/>
            </a:pPr>
            <a:r>
              <a:rPr lang="es" sz="1600">
                <a:solidFill>
                  <a:srgbClr val="262626"/>
                </a:solidFill>
                <a:latin typeface="Kumbh Sans"/>
                <a:ea typeface="Kumbh Sans"/>
                <a:cs typeface="Kumbh Sans"/>
                <a:sym typeface="Kumbh Sans"/>
              </a:rPr>
              <a:t>Fotosensiblidad, SSJ, intersticiopatias, leucopenia y linfopénia.</a:t>
            </a:r>
            <a:endParaRPr sz="1600">
              <a:solidFill>
                <a:srgbClr val="262626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-213359" lvl="1" marL="457200" rtl="0" algn="l">
              <a:spcBef>
                <a:spcPts val="1000"/>
              </a:spcBef>
              <a:spcAft>
                <a:spcPts val="0"/>
              </a:spcAft>
              <a:buClr>
                <a:srgbClr val="F6A21D"/>
              </a:buClr>
              <a:buSzPct val="100000"/>
              <a:buFont typeface="Kumbh Sans"/>
              <a:buChar char="•"/>
            </a:pPr>
            <a:r>
              <a:rPr lang="es" sz="1600">
                <a:solidFill>
                  <a:srgbClr val="262626"/>
                </a:solidFill>
                <a:latin typeface="Kumbh Sans"/>
                <a:ea typeface="Kumbh Sans"/>
                <a:cs typeface="Kumbh Sans"/>
                <a:sym typeface="Kumbh Sans"/>
              </a:rPr>
              <a:t>&gt;90% LES neonatal</a:t>
            </a:r>
            <a:endParaRPr sz="1600">
              <a:solidFill>
                <a:srgbClr val="262626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-213359" lvl="1" marL="457200" rtl="0" algn="l">
              <a:spcBef>
                <a:spcPts val="1000"/>
              </a:spcBef>
              <a:spcAft>
                <a:spcPts val="0"/>
              </a:spcAft>
              <a:buClr>
                <a:srgbClr val="F6A21D"/>
              </a:buClr>
              <a:buSzPct val="100000"/>
              <a:buFont typeface="Kumbh Sans"/>
              <a:buChar char="•"/>
            </a:pPr>
            <a:r>
              <a:rPr lang="es" sz="1600">
                <a:solidFill>
                  <a:srgbClr val="262626"/>
                </a:solidFill>
                <a:latin typeface="Kumbh Sans"/>
                <a:ea typeface="Kumbh Sans"/>
                <a:cs typeface="Kumbh Sans"/>
                <a:sym typeface="Kumbh Sans"/>
              </a:rPr>
              <a:t>LES cutáneo subagudo 70-90%</a:t>
            </a:r>
            <a:endParaRPr sz="1600">
              <a:solidFill>
                <a:srgbClr val="262626"/>
              </a:solidFill>
              <a:latin typeface="Kumbh Sans"/>
              <a:ea typeface="Kumbh Sans"/>
              <a:cs typeface="Kumbh Sans"/>
              <a:sym typeface="Kumbh Sans"/>
            </a:endParaRPr>
          </a:p>
        </p:txBody>
      </p:sp>
      <p:sp>
        <p:nvSpPr>
          <p:cNvPr id="457" name="Google Shape;457;p73"/>
          <p:cNvSpPr txBox="1"/>
          <p:nvPr/>
        </p:nvSpPr>
        <p:spPr>
          <a:xfrm>
            <a:off x="4837256" y="2242775"/>
            <a:ext cx="3531900" cy="24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spcBef>
                <a:spcPts val="0"/>
              </a:spcBef>
              <a:spcAft>
                <a:spcPts val="0"/>
              </a:spcAft>
              <a:buClr>
                <a:srgbClr val="F6A21D"/>
              </a:buClr>
              <a:buSzPts val="1800"/>
              <a:buFont typeface="Kumbh Sans"/>
              <a:buChar char="•"/>
            </a:pPr>
            <a:r>
              <a:rPr lang="es" sz="1800">
                <a:solidFill>
                  <a:srgbClr val="262626"/>
                </a:solidFill>
                <a:latin typeface="Kumbh Sans"/>
                <a:ea typeface="Kumbh Sans"/>
                <a:cs typeface="Kumbh Sans"/>
                <a:sym typeface="Kumbh Sans"/>
              </a:rPr>
              <a:t>SIN SJOGREN:</a:t>
            </a:r>
            <a:endParaRPr sz="1800">
              <a:solidFill>
                <a:srgbClr val="262626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-228600" lvl="1" marL="457200" rtl="0" algn="l">
              <a:spcBef>
                <a:spcPts val="1000"/>
              </a:spcBef>
              <a:spcAft>
                <a:spcPts val="0"/>
              </a:spcAft>
              <a:buClr>
                <a:srgbClr val="F6A21D"/>
              </a:buClr>
              <a:buSzPts val="1600"/>
              <a:buFont typeface="Kumbh Sans"/>
              <a:buChar char="•"/>
            </a:pPr>
            <a:r>
              <a:rPr lang="es" sz="1600">
                <a:solidFill>
                  <a:srgbClr val="262626"/>
                </a:solidFill>
                <a:latin typeface="Kumbh Sans"/>
                <a:ea typeface="Kumbh Sans"/>
                <a:cs typeface="Kumbh Sans"/>
                <a:sym typeface="Kumbh Sans"/>
              </a:rPr>
              <a:t>RO: 60-95%</a:t>
            </a:r>
            <a:endParaRPr sz="1600">
              <a:solidFill>
                <a:srgbClr val="262626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-228600" lvl="1" marL="457200" rtl="0" algn="l">
              <a:spcBef>
                <a:spcPts val="1000"/>
              </a:spcBef>
              <a:spcAft>
                <a:spcPts val="0"/>
              </a:spcAft>
              <a:buClr>
                <a:srgbClr val="F6A21D"/>
              </a:buClr>
              <a:buSzPts val="1600"/>
              <a:buFont typeface="Kumbh Sans"/>
              <a:buChar char="•"/>
            </a:pPr>
            <a:r>
              <a:rPr lang="es" sz="1600">
                <a:solidFill>
                  <a:srgbClr val="262626"/>
                </a:solidFill>
                <a:latin typeface="Kumbh Sans"/>
                <a:ea typeface="Kumbh Sans"/>
                <a:cs typeface="Kumbh Sans"/>
                <a:sym typeface="Kumbh Sans"/>
              </a:rPr>
              <a:t>LA: 40-85%</a:t>
            </a:r>
            <a:endParaRPr sz="1600">
              <a:solidFill>
                <a:srgbClr val="262626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-228600" lvl="0" marL="228600" rtl="0" algn="l">
              <a:spcBef>
                <a:spcPts val="1000"/>
              </a:spcBef>
              <a:spcAft>
                <a:spcPts val="0"/>
              </a:spcAft>
              <a:buClr>
                <a:srgbClr val="F6A21D"/>
              </a:buClr>
              <a:buSzPts val="1800"/>
              <a:buFont typeface="Kumbh Sans"/>
              <a:buChar char="•"/>
            </a:pPr>
            <a:r>
              <a:rPr lang="es" sz="1800">
                <a:solidFill>
                  <a:srgbClr val="262626"/>
                </a:solidFill>
                <a:latin typeface="Kumbh Sans"/>
                <a:ea typeface="Kumbh Sans"/>
                <a:cs typeface="Kumbh Sans"/>
                <a:sym typeface="Kumbh Sans"/>
              </a:rPr>
              <a:t>ASOCIACIONES CLINICAS:</a:t>
            </a:r>
            <a:endParaRPr sz="1800">
              <a:solidFill>
                <a:srgbClr val="262626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-228600" lvl="1" marL="457200" rtl="0" algn="l">
              <a:spcBef>
                <a:spcPts val="1000"/>
              </a:spcBef>
              <a:spcAft>
                <a:spcPts val="0"/>
              </a:spcAft>
              <a:buClr>
                <a:srgbClr val="F6A21D"/>
              </a:buClr>
              <a:buSzPts val="1600"/>
              <a:buFont typeface="Kumbh Sans"/>
              <a:buChar char="•"/>
            </a:pPr>
            <a:r>
              <a:rPr lang="es" sz="1600">
                <a:solidFill>
                  <a:srgbClr val="262626"/>
                </a:solidFill>
                <a:latin typeface="Kumbh Sans"/>
                <a:ea typeface="Kumbh Sans"/>
                <a:cs typeface="Kumbh Sans"/>
                <a:sym typeface="Kumbh Sans"/>
              </a:rPr>
              <a:t>Vasculitis, hipergammaglobulinemia, leucopenia. Linfopenia.</a:t>
            </a:r>
            <a:endParaRPr sz="1600">
              <a:solidFill>
                <a:srgbClr val="262626"/>
              </a:solidFill>
              <a:latin typeface="Kumbh Sans"/>
              <a:ea typeface="Kumbh Sans"/>
              <a:cs typeface="Kumbh Sans"/>
              <a:sym typeface="Kumbh San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74"/>
          <p:cNvSpPr txBox="1"/>
          <p:nvPr>
            <p:ph type="title"/>
          </p:nvPr>
        </p:nvSpPr>
        <p:spPr>
          <a:xfrm>
            <a:off x="372500" y="153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 u="sng">
                <a:solidFill>
                  <a:srgbClr val="4A86E8"/>
                </a:solidFill>
                <a:latin typeface="Kumbh Sans"/>
                <a:ea typeface="Kumbh Sans"/>
                <a:cs typeface="Kumbh Sans"/>
                <a:sym typeface="Kumbh Sans"/>
              </a:rPr>
              <a:t>ANTICUERPOS EN LES</a:t>
            </a:r>
            <a:endParaRPr>
              <a:solidFill>
                <a:srgbClr val="4A86E8"/>
              </a:solidFill>
            </a:endParaRPr>
          </a:p>
        </p:txBody>
      </p:sp>
      <p:sp>
        <p:nvSpPr>
          <p:cNvPr id="463" name="Google Shape;463;p74"/>
          <p:cNvSpPr txBox="1"/>
          <p:nvPr>
            <p:ph idx="1" type="body"/>
          </p:nvPr>
        </p:nvSpPr>
        <p:spPr>
          <a:xfrm>
            <a:off x="457600" y="1395650"/>
            <a:ext cx="8520600" cy="259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400">
                <a:solidFill>
                  <a:schemeClr val="dk1"/>
                </a:solidFill>
                <a:latin typeface="Kumbh Sans Medium"/>
                <a:ea typeface="Kumbh Sans Medium"/>
                <a:cs typeface="Kumbh Sans Medium"/>
                <a:sym typeface="Kumbh Sans Medium"/>
              </a:rPr>
              <a:t>•</a:t>
            </a:r>
            <a:r>
              <a:rPr lang="es" sz="24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Enfermedad que se caracteriza por producción de Ac antinucleares (ANA O FAN) que se unen a macromoléculas (ADN,ARN y proteínas, complejos de proteínas y ác. Nucleares)</a:t>
            </a:r>
            <a:endParaRPr sz="2400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400">
                <a:solidFill>
                  <a:schemeClr val="dk1"/>
                </a:solidFill>
                <a:latin typeface="Kumbh Sans Medium"/>
                <a:ea typeface="Kumbh Sans Medium"/>
                <a:cs typeface="Kumbh Sans Medium"/>
                <a:sym typeface="Kumbh Sans Medium"/>
              </a:rPr>
              <a:t>•</a:t>
            </a:r>
            <a:r>
              <a:rPr lang="es" sz="24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Se encuentran en el 98-100% de los pacientes</a:t>
            </a:r>
            <a:endParaRPr sz="2400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s" sz="2400">
                <a:solidFill>
                  <a:schemeClr val="dk1"/>
                </a:solidFill>
                <a:latin typeface="Kumbh Sans Medium"/>
                <a:ea typeface="Kumbh Sans Medium"/>
                <a:cs typeface="Kumbh Sans Medium"/>
                <a:sym typeface="Kumbh Sans Medium"/>
              </a:rPr>
              <a:t>•</a:t>
            </a:r>
            <a:r>
              <a:rPr lang="es" sz="24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Pueden preceder por años a las manifestaciones </a:t>
            </a:r>
            <a:r>
              <a:rPr lang="es" sz="24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clínicas</a:t>
            </a:r>
            <a:endParaRPr>
              <a:latin typeface="Kumbh Sans Medium"/>
              <a:ea typeface="Kumbh Sans Medium"/>
              <a:cs typeface="Kumbh Sans Medium"/>
              <a:sym typeface="Kumbh Sans Medium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7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75"/>
          <p:cNvSpPr txBox="1"/>
          <p:nvPr>
            <p:ph idx="1" type="body"/>
          </p:nvPr>
        </p:nvSpPr>
        <p:spPr>
          <a:xfrm>
            <a:off x="720000" y="1045650"/>
            <a:ext cx="7704000" cy="39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70" name="Google Shape;470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7323" y="445025"/>
            <a:ext cx="6860251" cy="3947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7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76"/>
          <p:cNvSpPr txBox="1"/>
          <p:nvPr>
            <p:ph idx="1" type="body"/>
          </p:nvPr>
        </p:nvSpPr>
        <p:spPr>
          <a:xfrm>
            <a:off x="720000" y="1045650"/>
            <a:ext cx="7704000" cy="39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429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4A86E8"/>
                </a:solidFill>
                <a:latin typeface="Kumbh Sans"/>
                <a:ea typeface="Kumbh Sans"/>
                <a:cs typeface="Kumbh Sans"/>
                <a:sym typeface="Kumbh Sans"/>
              </a:rPr>
              <a:t>ANTI-ADN</a:t>
            </a:r>
            <a:endParaRPr b="1" sz="2400">
              <a:solidFill>
                <a:srgbClr val="4A86E8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s" sz="2400">
                <a:solidFill>
                  <a:schemeClr val="dk1"/>
                </a:solidFill>
                <a:latin typeface="Kumbh Sans Medium"/>
                <a:ea typeface="Kumbh Sans Medium"/>
                <a:cs typeface="Kumbh Sans Medium"/>
                <a:sym typeface="Kumbh Sans Medium"/>
              </a:rPr>
              <a:t>•</a:t>
            </a:r>
            <a:r>
              <a:rPr lang="es" sz="24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Ac. Dirigido contra el ADN</a:t>
            </a:r>
            <a:endParaRPr sz="2400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s" sz="2400">
                <a:solidFill>
                  <a:schemeClr val="dk1"/>
                </a:solidFill>
                <a:latin typeface="Kumbh Sans Medium"/>
                <a:ea typeface="Kumbh Sans Medium"/>
                <a:cs typeface="Kumbh Sans Medium"/>
                <a:sym typeface="Kumbh Sans Medium"/>
              </a:rPr>
              <a:t>•</a:t>
            </a:r>
            <a:r>
              <a:rPr lang="es" sz="24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Se encuentra en el 40-70% de los pacientes con LES activo, principalmente cuando hay compromiso renal, asociado a hipocomplementemia</a:t>
            </a:r>
            <a:endParaRPr sz="2400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s" sz="2400">
                <a:solidFill>
                  <a:schemeClr val="dk1"/>
                </a:solidFill>
                <a:latin typeface="Kumbh Sans Medium"/>
                <a:ea typeface="Kumbh Sans Medium"/>
                <a:cs typeface="Kumbh Sans Medium"/>
                <a:sym typeface="Kumbh Sans Medium"/>
              </a:rPr>
              <a:t>•</a:t>
            </a:r>
            <a:r>
              <a:rPr lang="es" sz="24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Desaparece con la terapia</a:t>
            </a:r>
            <a:endParaRPr sz="2400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s" sz="2400">
                <a:solidFill>
                  <a:schemeClr val="dk1"/>
                </a:solidFill>
                <a:latin typeface="Kumbh Sans Medium"/>
                <a:ea typeface="Kumbh Sans Medium"/>
                <a:cs typeface="Kumbh Sans Medium"/>
                <a:sym typeface="Kumbh Sans Medium"/>
              </a:rPr>
              <a:t>•</a:t>
            </a:r>
            <a:r>
              <a:rPr lang="es" sz="24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Se sospecha cuando el patrón de IFI es homogéneo o periférico</a:t>
            </a:r>
            <a:endParaRPr sz="2400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77"/>
          <p:cNvSpPr txBox="1"/>
          <p:nvPr>
            <p:ph type="title"/>
          </p:nvPr>
        </p:nvSpPr>
        <p:spPr>
          <a:xfrm>
            <a:off x="311700" y="2869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77"/>
          <p:cNvSpPr txBox="1"/>
          <p:nvPr>
            <p:ph idx="1" type="body"/>
          </p:nvPr>
        </p:nvSpPr>
        <p:spPr>
          <a:xfrm>
            <a:off x="311700" y="699725"/>
            <a:ext cx="8520600" cy="386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429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s" sz="2300">
                <a:solidFill>
                  <a:srgbClr val="4A86E8"/>
                </a:solidFill>
                <a:latin typeface="Kumbh Sans"/>
                <a:ea typeface="Kumbh Sans"/>
                <a:cs typeface="Kumbh Sans"/>
                <a:sym typeface="Kumbh Sans"/>
              </a:rPr>
              <a:t>ANTI-Sm Y ANTI-RNP</a:t>
            </a:r>
            <a:endParaRPr b="1" sz="2300">
              <a:solidFill>
                <a:srgbClr val="4A86E8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s" sz="2300">
                <a:solidFill>
                  <a:schemeClr val="dk1"/>
                </a:solidFill>
                <a:latin typeface="Kumbh Sans Medium"/>
                <a:ea typeface="Kumbh Sans Medium"/>
                <a:cs typeface="Kumbh Sans Medium"/>
                <a:sym typeface="Kumbh Sans Medium"/>
              </a:rPr>
              <a:t>•</a:t>
            </a:r>
            <a:r>
              <a:rPr lang="es" sz="23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Son Ac que reaccionan frente a diferentes subgrupos de proteínas nucleares no histona</a:t>
            </a:r>
            <a:endParaRPr sz="2300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s" sz="2300">
                <a:solidFill>
                  <a:schemeClr val="dk1"/>
                </a:solidFill>
                <a:latin typeface="Kumbh Sans Medium"/>
                <a:ea typeface="Kumbh Sans Medium"/>
                <a:cs typeface="Kumbh Sans Medium"/>
                <a:sym typeface="Kumbh Sans Medium"/>
              </a:rPr>
              <a:t>•</a:t>
            </a:r>
            <a:r>
              <a:rPr b="1" lang="es" sz="23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Sm</a:t>
            </a:r>
            <a:r>
              <a:rPr lang="es" sz="23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: - es específico de LES</a:t>
            </a:r>
            <a:endParaRPr sz="2300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3429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s" sz="23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     - se encuentra en el 15-30%</a:t>
            </a:r>
            <a:endParaRPr sz="2300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s" sz="2300">
                <a:solidFill>
                  <a:schemeClr val="dk1"/>
                </a:solidFill>
                <a:latin typeface="Kumbh Sans Medium"/>
                <a:ea typeface="Kumbh Sans Medium"/>
                <a:cs typeface="Kumbh Sans Medium"/>
                <a:sym typeface="Kumbh Sans Medium"/>
              </a:rPr>
              <a:t>•</a:t>
            </a:r>
            <a:r>
              <a:rPr b="1" lang="es" sz="23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ANTI-RNP:</a:t>
            </a:r>
            <a:r>
              <a:rPr lang="es" sz="23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 - aparece en títulos altos en EMTC</a:t>
            </a:r>
            <a:endParaRPr sz="2300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3429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s" sz="23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                   - 30-40% en LES</a:t>
            </a:r>
            <a:endParaRPr sz="2300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3429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s" sz="23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                    - también puede aparecer en miositis, f. de Raynauld, hipofunción esofágica y artralgias</a:t>
            </a:r>
            <a:endParaRPr sz="2300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s" sz="2300">
                <a:solidFill>
                  <a:schemeClr val="dk1"/>
                </a:solidFill>
                <a:latin typeface="Kumbh Sans Medium"/>
                <a:ea typeface="Kumbh Sans Medium"/>
                <a:cs typeface="Kumbh Sans Medium"/>
                <a:sym typeface="Kumbh Sans Medium"/>
              </a:rPr>
              <a:t>•</a:t>
            </a:r>
            <a:r>
              <a:rPr lang="es" sz="23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No desaparecen durante periodos de inactividad</a:t>
            </a:r>
            <a:endParaRPr sz="2300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78"/>
          <p:cNvSpPr txBox="1"/>
          <p:nvPr>
            <p:ph idx="1" type="body"/>
          </p:nvPr>
        </p:nvSpPr>
        <p:spPr>
          <a:xfrm>
            <a:off x="445475" y="274150"/>
            <a:ext cx="8520600" cy="460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429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600">
                <a:solidFill>
                  <a:srgbClr val="4A86E8"/>
                </a:solidFill>
                <a:latin typeface="Kumbh Sans"/>
                <a:ea typeface="Kumbh Sans"/>
                <a:cs typeface="Kumbh Sans"/>
                <a:sym typeface="Kumbh Sans"/>
              </a:rPr>
              <a:t>AC ANTI-RO Y ANTI-LA</a:t>
            </a:r>
            <a:endParaRPr b="1" sz="1600">
              <a:solidFill>
                <a:srgbClr val="4A86E8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chemeClr val="dk1"/>
                </a:solidFill>
                <a:latin typeface="Kumbh Sans Medium"/>
                <a:ea typeface="Kumbh Sans Medium"/>
                <a:cs typeface="Kumbh Sans Medium"/>
                <a:sym typeface="Kumbh Sans Medium"/>
              </a:rPr>
              <a:t>•</a:t>
            </a:r>
            <a:r>
              <a:rPr lang="es" sz="16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Son Ac que reaccionan con complejos ribonucleoproteícos</a:t>
            </a:r>
            <a:endParaRPr sz="1600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chemeClr val="dk1"/>
                </a:solidFill>
                <a:latin typeface="Kumbh Sans Medium"/>
                <a:ea typeface="Kumbh Sans Medium"/>
                <a:cs typeface="Kumbh Sans Medium"/>
                <a:sym typeface="Kumbh Sans Medium"/>
              </a:rPr>
              <a:t>•</a:t>
            </a:r>
            <a:r>
              <a:rPr b="1" lang="es" sz="16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ANTI-RO: </a:t>
            </a:r>
            <a:r>
              <a:rPr lang="es" sz="16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- 60-80% de los pacientes con S. Sjören primario</a:t>
            </a:r>
            <a:endParaRPr sz="1600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3429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                   	- identifica manifestaciones extraglandulares</a:t>
            </a:r>
            <a:endParaRPr sz="1600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3429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                   	- 25-40% aparece en Lupus cutáneo subagudo,  Lupus neonatal y Lupus asociado con </a:t>
            </a:r>
            <a:r>
              <a:rPr lang="es" sz="1600">
                <a:latin typeface="Kumbh Sans"/>
                <a:ea typeface="Kumbh Sans"/>
                <a:cs typeface="Kumbh Sans"/>
                <a:sym typeface="Kumbh Sans"/>
              </a:rPr>
              <a:t>alteraciones </a:t>
            </a:r>
            <a:r>
              <a:rPr lang="es" sz="16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congénitas</a:t>
            </a:r>
            <a:endParaRPr sz="1600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3429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                    	- la mitad de los LES tienen anti-Ro, pero es muy</a:t>
            </a:r>
            <a:r>
              <a:rPr lang="es" sz="1600">
                <a:latin typeface="Kumbh Sans"/>
                <a:ea typeface="Kumbh Sans"/>
                <a:cs typeface="Kumbh Sans"/>
                <a:sym typeface="Kumbh Sans"/>
              </a:rPr>
              <a:t> </a:t>
            </a:r>
            <a:r>
              <a:rPr lang="es" sz="16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raro encontrar anti-La sin anti-Ro</a:t>
            </a:r>
            <a:endParaRPr sz="1600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chemeClr val="dk1"/>
                </a:solidFill>
                <a:latin typeface="Kumbh Sans Medium"/>
                <a:ea typeface="Kumbh Sans Medium"/>
                <a:cs typeface="Kumbh Sans Medium"/>
                <a:sym typeface="Kumbh Sans Medium"/>
              </a:rPr>
              <a:t>•</a:t>
            </a:r>
            <a:r>
              <a:rPr b="1" lang="es" sz="16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ANTI-LA: </a:t>
            </a:r>
            <a:r>
              <a:rPr lang="es" sz="16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- se encuentra en la mitad de los pacientes con SS</a:t>
            </a:r>
            <a:endParaRPr sz="1600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3429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              - 10-15% de pacientes con LES</a:t>
            </a:r>
            <a:endParaRPr sz="1600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3429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              - también en CBP y hepatitis autoinmune</a:t>
            </a:r>
            <a:endParaRPr sz="1600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Kumbh Sans Medium"/>
                <a:ea typeface="Kumbh Sans Medium"/>
                <a:cs typeface="Kumbh Sans Medium"/>
                <a:sym typeface="Kumbh Sans Medium"/>
              </a:rPr>
              <a:t>•</a:t>
            </a:r>
            <a:r>
              <a:rPr lang="es" sz="16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La </a:t>
            </a:r>
            <a:r>
              <a:rPr lang="es" sz="1600">
                <a:latin typeface="Kumbh Sans"/>
                <a:ea typeface="Kumbh Sans"/>
                <a:cs typeface="Kumbh Sans"/>
                <a:sym typeface="Kumbh Sans"/>
              </a:rPr>
              <a:t>determinación</a:t>
            </a:r>
            <a:r>
              <a:rPr lang="es" sz="16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 de estos AC </a:t>
            </a:r>
            <a:r>
              <a:rPr lang="es" sz="1600">
                <a:latin typeface="Kumbh Sans"/>
                <a:ea typeface="Kumbh Sans"/>
                <a:cs typeface="Kumbh Sans"/>
                <a:sym typeface="Kumbh Sans"/>
              </a:rPr>
              <a:t>está</a:t>
            </a:r>
            <a:r>
              <a:rPr lang="es" sz="16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 indicada en mujeres con LES que </a:t>
            </a:r>
            <a:r>
              <a:rPr lang="es" sz="1600">
                <a:latin typeface="Kumbh Sans"/>
                <a:ea typeface="Kumbh Sans"/>
                <a:cs typeface="Kumbh Sans"/>
                <a:sym typeface="Kumbh Sans"/>
              </a:rPr>
              <a:t>estén</a:t>
            </a:r>
            <a:r>
              <a:rPr lang="es" sz="16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 embarazadas o</a:t>
            </a:r>
            <a:r>
              <a:rPr lang="es" sz="1600">
                <a:latin typeface="Kumbh Sans"/>
                <a:ea typeface="Kumbh Sans"/>
                <a:cs typeface="Kumbh Sans"/>
                <a:sym typeface="Kumbh Sans"/>
              </a:rPr>
              <a:t> busquen embarazo</a:t>
            </a:r>
            <a:endParaRPr sz="600">
              <a:latin typeface="Kumbh Sans Medium"/>
              <a:ea typeface="Kumbh Sans Medium"/>
              <a:cs typeface="Kumbh Sans Medium"/>
              <a:sym typeface="Kumbh Sans Medium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7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79"/>
          <p:cNvSpPr txBox="1"/>
          <p:nvPr>
            <p:ph idx="1" type="body"/>
          </p:nvPr>
        </p:nvSpPr>
        <p:spPr>
          <a:xfrm>
            <a:off x="720000" y="1045650"/>
            <a:ext cx="7704000" cy="39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429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2000">
                <a:solidFill>
                  <a:srgbClr val="4A86E8"/>
                </a:solidFill>
                <a:latin typeface="Kumbh Sans"/>
                <a:ea typeface="Kumbh Sans"/>
                <a:cs typeface="Kumbh Sans"/>
                <a:sym typeface="Kumbh Sans"/>
              </a:rPr>
              <a:t>ANTI-HISTONA</a:t>
            </a:r>
            <a:endParaRPr b="1" sz="2000">
              <a:solidFill>
                <a:srgbClr val="4A86E8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000">
                <a:solidFill>
                  <a:schemeClr val="dk1"/>
                </a:solidFill>
                <a:latin typeface="Kumbh Sans Medium"/>
                <a:ea typeface="Kumbh Sans Medium"/>
                <a:cs typeface="Kumbh Sans Medium"/>
                <a:sym typeface="Kumbh Sans Medium"/>
              </a:rPr>
              <a:t>•</a:t>
            </a:r>
            <a:r>
              <a:rPr lang="es" sz="20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Se encuentra en el 50-70% de pacientes con LES</a:t>
            </a:r>
            <a:endParaRPr sz="2000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000">
                <a:solidFill>
                  <a:schemeClr val="dk1"/>
                </a:solidFill>
                <a:latin typeface="Kumbh Sans Medium"/>
                <a:ea typeface="Kumbh Sans Medium"/>
                <a:cs typeface="Kumbh Sans Medium"/>
                <a:sym typeface="Kumbh Sans Medium"/>
              </a:rPr>
              <a:t>•</a:t>
            </a:r>
            <a:r>
              <a:rPr lang="es" sz="20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Esta relacionado con actividad</a:t>
            </a:r>
            <a:endParaRPr sz="2000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000">
                <a:solidFill>
                  <a:schemeClr val="dk1"/>
                </a:solidFill>
                <a:latin typeface="Kumbh Sans Medium"/>
                <a:ea typeface="Kumbh Sans Medium"/>
                <a:cs typeface="Kumbh Sans Medium"/>
                <a:sym typeface="Kumbh Sans Medium"/>
              </a:rPr>
              <a:t>•</a:t>
            </a:r>
            <a:r>
              <a:rPr lang="es" sz="20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Pricipalmente en LES inducido pro medicamentos</a:t>
            </a:r>
            <a:endParaRPr sz="2000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3429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0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( Procainamida, Hidralazina, Clorpromazina o Quinidina)</a:t>
            </a:r>
            <a:endParaRPr sz="2000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45720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2000">
                <a:solidFill>
                  <a:srgbClr val="4A86E8"/>
                </a:solidFill>
                <a:latin typeface="Kumbh Sans"/>
                <a:ea typeface="Kumbh Sans"/>
                <a:cs typeface="Kumbh Sans"/>
                <a:sym typeface="Kumbh Sans"/>
              </a:rPr>
              <a:t>ANTI-RIBOSOMA</a:t>
            </a:r>
            <a:endParaRPr b="1" sz="2000">
              <a:solidFill>
                <a:srgbClr val="4A86E8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000">
                <a:solidFill>
                  <a:schemeClr val="dk1"/>
                </a:solidFill>
                <a:latin typeface="Kumbh Sans Medium"/>
                <a:ea typeface="Kumbh Sans Medium"/>
                <a:cs typeface="Kumbh Sans Medium"/>
                <a:sym typeface="Kumbh Sans Medium"/>
              </a:rPr>
              <a:t>•</a:t>
            </a:r>
            <a:r>
              <a:rPr lang="es" sz="20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Es específico de LES</a:t>
            </a:r>
            <a:endParaRPr sz="2000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000">
                <a:solidFill>
                  <a:schemeClr val="dk1"/>
                </a:solidFill>
                <a:latin typeface="Kumbh Sans Medium"/>
                <a:ea typeface="Kumbh Sans Medium"/>
                <a:cs typeface="Kumbh Sans Medium"/>
                <a:sym typeface="Kumbh Sans Medium"/>
              </a:rPr>
              <a:t>•</a:t>
            </a:r>
            <a:r>
              <a:rPr lang="es" sz="20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Se encuentra en el 10-20%</a:t>
            </a:r>
            <a:endParaRPr sz="2000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000">
                <a:solidFill>
                  <a:schemeClr val="dk1"/>
                </a:solidFill>
                <a:latin typeface="Kumbh Sans Medium"/>
                <a:ea typeface="Kumbh Sans Medium"/>
                <a:cs typeface="Kumbh Sans Medium"/>
                <a:sym typeface="Kumbh Sans Medium"/>
              </a:rPr>
              <a:t>•</a:t>
            </a:r>
            <a:r>
              <a:rPr lang="es" sz="20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Relacionado con psicosis y depresión</a:t>
            </a:r>
            <a:endParaRPr sz="2000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Kumbh Sans Medium"/>
              <a:ea typeface="Kumbh Sans Medium"/>
              <a:cs typeface="Kumbh Sans Medium"/>
              <a:sym typeface="Kumbh Sans Medium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80"/>
          <p:cNvSpPr txBox="1"/>
          <p:nvPr>
            <p:ph type="title"/>
          </p:nvPr>
        </p:nvSpPr>
        <p:spPr>
          <a:xfrm>
            <a:off x="311700" y="201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 u="sng">
                <a:solidFill>
                  <a:srgbClr val="4A86E8"/>
                </a:solidFill>
                <a:latin typeface="Kumbh Sans"/>
                <a:ea typeface="Kumbh Sans"/>
                <a:cs typeface="Kumbh Sans"/>
                <a:sym typeface="Kumbh Sans"/>
              </a:rPr>
              <a:t>AC ANTINUCLEARES EN LA ESCLERODERMIA (ESCLEROSIS SISTEMICA)</a:t>
            </a:r>
            <a:endParaRPr>
              <a:solidFill>
                <a:srgbClr val="4A86E8"/>
              </a:solidFill>
            </a:endParaRPr>
          </a:p>
        </p:txBody>
      </p:sp>
      <p:sp>
        <p:nvSpPr>
          <p:cNvPr id="499" name="Google Shape;499;p80"/>
          <p:cNvSpPr txBox="1"/>
          <p:nvPr>
            <p:ph idx="1" type="body"/>
          </p:nvPr>
        </p:nvSpPr>
        <p:spPr>
          <a:xfrm>
            <a:off x="311700" y="847475"/>
            <a:ext cx="8520600" cy="211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200">
                <a:solidFill>
                  <a:schemeClr val="dk1"/>
                </a:solidFill>
                <a:latin typeface="Kumbh Sans Medium"/>
                <a:ea typeface="Kumbh Sans Medium"/>
                <a:cs typeface="Kumbh Sans Medium"/>
                <a:sym typeface="Kumbh Sans Medium"/>
              </a:rPr>
              <a:t>•</a:t>
            </a:r>
            <a:r>
              <a:rPr lang="es" sz="18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Son positivos en el 60-90% de los casos</a:t>
            </a:r>
            <a:endParaRPr sz="1800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1"/>
                </a:solidFill>
                <a:latin typeface="Kumbh Sans Medium"/>
                <a:ea typeface="Kumbh Sans Medium"/>
                <a:cs typeface="Kumbh Sans Medium"/>
                <a:sym typeface="Kumbh Sans Medium"/>
              </a:rPr>
              <a:t>•</a:t>
            </a:r>
            <a:r>
              <a:rPr lang="es" sz="18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Son Ac dirigidos contra Ag nucleolares</a:t>
            </a:r>
            <a:endParaRPr sz="1800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1"/>
                </a:solidFill>
                <a:latin typeface="Kumbh Sans Medium"/>
                <a:ea typeface="Kumbh Sans Medium"/>
                <a:cs typeface="Kumbh Sans Medium"/>
                <a:sym typeface="Kumbh Sans Medium"/>
              </a:rPr>
              <a:t>•</a:t>
            </a:r>
            <a:r>
              <a:rPr lang="es" sz="18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Son marcadores diagnósticos de la enfermedad</a:t>
            </a:r>
            <a:endParaRPr sz="1800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Kumbh Sans Medium"/>
                <a:ea typeface="Kumbh Sans Medium"/>
                <a:cs typeface="Kumbh Sans Medium"/>
                <a:sym typeface="Kumbh Sans Medium"/>
              </a:rPr>
              <a:t>•</a:t>
            </a:r>
            <a:r>
              <a:rPr lang="es" sz="18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Rara vez se encuentran más de un Ac en el mismo paciente</a:t>
            </a:r>
            <a:endParaRPr sz="1200">
              <a:latin typeface="Kumbh Sans Medium"/>
              <a:ea typeface="Kumbh Sans Medium"/>
              <a:cs typeface="Kumbh Sans Medium"/>
              <a:sym typeface="Kumbh Sans Medium"/>
            </a:endParaRPr>
          </a:p>
        </p:txBody>
      </p:sp>
      <p:pic>
        <p:nvPicPr>
          <p:cNvPr id="500" name="Google Shape;500;p80"/>
          <p:cNvPicPr preferRelativeResize="0"/>
          <p:nvPr/>
        </p:nvPicPr>
        <p:blipFill rotWithShape="1">
          <a:blip r:embed="rId3">
            <a:alphaModFix/>
          </a:blip>
          <a:srcRect b="10586" l="0" r="0" t="0"/>
          <a:stretch/>
        </p:blipFill>
        <p:spPr>
          <a:xfrm>
            <a:off x="3456650" y="2523100"/>
            <a:ext cx="5082699" cy="2511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81"/>
          <p:cNvSpPr txBox="1"/>
          <p:nvPr>
            <p:ph idx="1" type="body"/>
          </p:nvPr>
        </p:nvSpPr>
        <p:spPr>
          <a:xfrm>
            <a:off x="720000" y="303925"/>
            <a:ext cx="7704000" cy="39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429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2200">
                <a:solidFill>
                  <a:srgbClr val="4A86E8"/>
                </a:solidFill>
                <a:latin typeface="Kumbh Sans"/>
                <a:ea typeface="Kumbh Sans"/>
                <a:cs typeface="Kumbh Sans"/>
                <a:sym typeface="Kumbh Sans"/>
              </a:rPr>
              <a:t>ANTI-CENTRÓMERO</a:t>
            </a:r>
            <a:endParaRPr b="1" sz="2200">
              <a:solidFill>
                <a:srgbClr val="4A86E8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200">
                <a:solidFill>
                  <a:schemeClr val="dk1"/>
                </a:solidFill>
                <a:latin typeface="Kumbh Sans Medium"/>
                <a:ea typeface="Kumbh Sans Medium"/>
                <a:cs typeface="Kumbh Sans Medium"/>
                <a:sym typeface="Kumbh Sans Medium"/>
              </a:rPr>
              <a:t>•</a:t>
            </a:r>
            <a:r>
              <a:rPr lang="es" sz="19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Es específico de CREST (ES limitada) mejor </a:t>
            </a:r>
            <a:r>
              <a:rPr lang="es" sz="19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pronóstico</a:t>
            </a:r>
            <a:endParaRPr sz="1900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-209550" lvl="0" marL="22860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•"/>
            </a:pPr>
            <a:r>
              <a:rPr lang="es" sz="1900">
                <a:latin typeface="Kumbh Sans"/>
                <a:ea typeface="Kumbh Sans"/>
                <a:cs typeface="Kumbh Sans"/>
                <a:sym typeface="Kumbh Sans"/>
              </a:rPr>
              <a:t>ES LIMITADA: 57-82%</a:t>
            </a:r>
            <a:endParaRPr sz="1900">
              <a:latin typeface="Kumbh Sans"/>
              <a:ea typeface="Kumbh Sans"/>
              <a:cs typeface="Kumbh Sans"/>
              <a:sym typeface="Kumbh Sans"/>
            </a:endParaRPr>
          </a:p>
          <a:p>
            <a:pPr indent="-209550" lvl="0" marL="228600" rtl="0" algn="l">
              <a:spcBef>
                <a:spcPts val="1000"/>
              </a:spcBef>
              <a:spcAft>
                <a:spcPts val="0"/>
              </a:spcAft>
              <a:buSzPts val="1500"/>
              <a:buFont typeface="Arial"/>
              <a:buChar char="•"/>
            </a:pPr>
            <a:r>
              <a:rPr lang="es" sz="1900">
                <a:latin typeface="Kumbh Sans"/>
                <a:ea typeface="Kumbh Sans"/>
                <a:cs typeface="Kumbh Sans"/>
                <a:sym typeface="Kumbh Sans"/>
              </a:rPr>
              <a:t>ES DIFUSA 3-12%</a:t>
            </a:r>
            <a:endParaRPr sz="1900"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900">
                <a:latin typeface="Kumbh Sans"/>
                <a:ea typeface="Kumbh Sans"/>
                <a:cs typeface="Kumbh Sans"/>
                <a:sym typeface="Kumbh Sans"/>
              </a:rPr>
              <a:t>•También se pued</a:t>
            </a:r>
            <a:r>
              <a:rPr lang="es" sz="19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e encontrar en: LES, Enfermedad de Raynauld, AR y CBP</a:t>
            </a:r>
            <a:endParaRPr sz="1900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3429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2200">
                <a:solidFill>
                  <a:srgbClr val="4A86E8"/>
                </a:solidFill>
                <a:latin typeface="Kumbh Sans"/>
                <a:ea typeface="Kumbh Sans"/>
                <a:cs typeface="Kumbh Sans"/>
                <a:sym typeface="Kumbh Sans"/>
              </a:rPr>
              <a:t>ANTI-TOPOISOMERASA 1 (Scl-70)</a:t>
            </a:r>
            <a:endParaRPr b="1" sz="2200">
              <a:solidFill>
                <a:srgbClr val="4A86E8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1"/>
                </a:solidFill>
                <a:latin typeface="Kumbh Sans Medium"/>
                <a:ea typeface="Kumbh Sans Medium"/>
                <a:cs typeface="Kumbh Sans Medium"/>
                <a:sym typeface="Kumbh Sans Medium"/>
              </a:rPr>
              <a:t>•</a:t>
            </a:r>
            <a:r>
              <a:rPr lang="es" sz="2000">
                <a:latin typeface="Kumbh Sans"/>
                <a:ea typeface="Kumbh Sans"/>
                <a:cs typeface="Kumbh Sans"/>
                <a:sym typeface="Kumbh Sans"/>
              </a:rPr>
              <a:t>ES DIFUSA: 90%</a:t>
            </a:r>
            <a:endParaRPr sz="2000">
              <a:latin typeface="Kumbh Sans"/>
              <a:ea typeface="Kumbh Sans"/>
              <a:cs typeface="Kumbh Sans"/>
              <a:sym typeface="Kumbh Sans"/>
            </a:endParaRPr>
          </a:p>
          <a:p>
            <a:pPr indent="-215900" lvl="0" marL="228600" rtl="0" algn="l">
              <a:spcBef>
                <a:spcPts val="100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s" sz="2000">
                <a:latin typeface="Kumbh Sans"/>
                <a:ea typeface="Kumbh Sans"/>
                <a:cs typeface="Kumbh Sans"/>
                <a:sym typeface="Kumbh Sans"/>
              </a:rPr>
              <a:t>ES LIMITADA 10-20%</a:t>
            </a:r>
            <a:endParaRPr sz="2000"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1"/>
                </a:solidFill>
                <a:latin typeface="Kumbh Sans Medium"/>
                <a:ea typeface="Kumbh Sans Medium"/>
                <a:cs typeface="Kumbh Sans Medium"/>
                <a:sym typeface="Kumbh Sans Medium"/>
              </a:rPr>
              <a:t>•</a:t>
            </a:r>
            <a:r>
              <a:rPr lang="es" sz="20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Generalmente asociado con fibrosis pulmonar, compromiso cardiaco y renal </a:t>
            </a:r>
            <a:endParaRPr sz="2000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000">
                <a:solidFill>
                  <a:schemeClr val="dk1"/>
                </a:solidFill>
                <a:latin typeface="Kumbh Sans Medium"/>
                <a:ea typeface="Kumbh Sans Medium"/>
                <a:cs typeface="Kumbh Sans Medium"/>
                <a:sym typeface="Kumbh Sans Medium"/>
              </a:rPr>
              <a:t>•</a:t>
            </a:r>
            <a:r>
              <a:rPr lang="es" sz="20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También en actividad del LES</a:t>
            </a:r>
            <a:endParaRPr sz="2000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82"/>
          <p:cNvSpPr txBox="1"/>
          <p:nvPr>
            <p:ph type="title"/>
          </p:nvPr>
        </p:nvSpPr>
        <p:spPr>
          <a:xfrm>
            <a:off x="720000" y="28695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 u="sng">
                <a:solidFill>
                  <a:srgbClr val="4A86E8"/>
                </a:solidFill>
                <a:latin typeface="Kumbh Sans"/>
                <a:ea typeface="Kumbh Sans"/>
                <a:cs typeface="Kumbh Sans"/>
                <a:sym typeface="Kumbh Sans"/>
              </a:rPr>
              <a:t>AC ANTINUCLEARES EN ENFERMEDAD MUSCULAR INFLAMATORIA</a:t>
            </a:r>
            <a:endParaRPr>
              <a:solidFill>
                <a:srgbClr val="4A86E8"/>
              </a:solidFill>
            </a:endParaRPr>
          </a:p>
        </p:txBody>
      </p:sp>
      <p:sp>
        <p:nvSpPr>
          <p:cNvPr id="511" name="Google Shape;511;p82"/>
          <p:cNvSpPr txBox="1"/>
          <p:nvPr>
            <p:ph idx="1" type="body"/>
          </p:nvPr>
        </p:nvSpPr>
        <p:spPr>
          <a:xfrm>
            <a:off x="720000" y="1045650"/>
            <a:ext cx="7704000" cy="39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400">
                <a:solidFill>
                  <a:schemeClr val="dk1"/>
                </a:solidFill>
              </a:rPr>
              <a:t>•</a:t>
            </a:r>
            <a:r>
              <a:rPr lang="es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Son Ac dirigidos contra Ag citoplasmáticos</a:t>
            </a:r>
            <a:endParaRPr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Kumbh Sans Medium"/>
                <a:ea typeface="Kumbh Sans Medium"/>
                <a:cs typeface="Kumbh Sans Medium"/>
                <a:sym typeface="Kumbh Sans Medium"/>
              </a:rPr>
              <a:t>•</a:t>
            </a:r>
            <a:r>
              <a:rPr lang="es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Son positivos en el 80% de los casos</a:t>
            </a:r>
            <a:endParaRPr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Kumbh Sans Medium"/>
                <a:ea typeface="Kumbh Sans Medium"/>
                <a:cs typeface="Kumbh Sans Medium"/>
                <a:sym typeface="Kumbh Sans Medium"/>
              </a:rPr>
              <a:t>•</a:t>
            </a:r>
            <a:r>
              <a:rPr lang="es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Tres categorías de Ac: </a:t>
            </a:r>
            <a:endParaRPr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127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Kumbh Sans Medium"/>
                <a:ea typeface="Kumbh Sans Medium"/>
                <a:cs typeface="Kumbh Sans Medium"/>
                <a:sym typeface="Kumbh Sans Medium"/>
              </a:rPr>
              <a:t>1)</a:t>
            </a:r>
            <a:r>
              <a:rPr b="1" lang="es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 Ac específicos de miositis</a:t>
            </a:r>
            <a:r>
              <a:rPr lang="es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 </a:t>
            </a:r>
            <a:endParaRPr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-3175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b="1" lang="es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Anti-Jo1:</a:t>
            </a:r>
            <a:r>
              <a:rPr lang="es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 anti-sintetasa (manos de </a:t>
            </a:r>
            <a:r>
              <a:rPr lang="es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mecánico</a:t>
            </a:r>
            <a:r>
              <a:rPr lang="es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, compromiso pulmonar intersticial, </a:t>
            </a:r>
            <a:r>
              <a:rPr lang="es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miopatía</a:t>
            </a:r>
            <a:r>
              <a:rPr lang="es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 inflamatoria, F. Raynauld)</a:t>
            </a:r>
            <a:endParaRPr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-3175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umbh Sans"/>
              <a:buChar char="●"/>
            </a:pPr>
            <a:r>
              <a:rPr lang="es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anti-SRP (polimiositis)</a:t>
            </a:r>
            <a:endParaRPr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-3175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umbh Sans"/>
              <a:buChar char="●"/>
            </a:pPr>
            <a:r>
              <a:rPr lang="es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anti-Mi2 (dermatomiositis)</a:t>
            </a:r>
            <a:endParaRPr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2)    </a:t>
            </a:r>
            <a:r>
              <a:rPr b="1" lang="es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Ac asociados con miositis </a:t>
            </a:r>
            <a:endParaRPr b="1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-3175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b="1" lang="es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Anti-U1RNP </a:t>
            </a:r>
            <a:r>
              <a:rPr lang="es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            </a:t>
            </a:r>
            <a:endParaRPr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-3175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s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 anti-snRNP </a:t>
            </a:r>
            <a:r>
              <a:rPr lang="es">
                <a:solidFill>
                  <a:schemeClr val="dk1"/>
                </a:solidFill>
                <a:latin typeface="Kumbh Sans Medium"/>
                <a:ea typeface="Kumbh Sans Medium"/>
                <a:cs typeface="Kumbh Sans Medium"/>
                <a:sym typeface="Kumbh Sans Medium"/>
              </a:rPr>
              <a:t>(</a:t>
            </a:r>
            <a:r>
              <a:rPr lang="es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Aparece en EMTC y LES asociado a miositis)</a:t>
            </a:r>
            <a:endParaRPr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-3175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umbh Sans"/>
              <a:buChar char="●"/>
            </a:pPr>
            <a:r>
              <a:rPr lang="es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 anti-PM-Scl (10% de pacientes con polimiositis asociada a esclerodermia)</a:t>
            </a:r>
            <a:endParaRPr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3)    </a:t>
            </a:r>
            <a:r>
              <a:rPr b="1" lang="es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Ac dirigidos contra Ag musculares o endoteliales</a:t>
            </a:r>
            <a:endParaRPr b="1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">
              <a:latin typeface="Kumbh Sans Medium"/>
              <a:ea typeface="Kumbh Sans Medium"/>
              <a:cs typeface="Kumbh Sans Medium"/>
              <a:sym typeface="Kumbh Sans Medium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8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83"/>
          <p:cNvSpPr txBox="1"/>
          <p:nvPr>
            <p:ph idx="1" type="body"/>
          </p:nvPr>
        </p:nvSpPr>
        <p:spPr>
          <a:xfrm>
            <a:off x="720000" y="1045650"/>
            <a:ext cx="7704000" cy="39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83"/>
          <p:cNvSpPr txBox="1"/>
          <p:nvPr/>
        </p:nvSpPr>
        <p:spPr>
          <a:xfrm>
            <a:off x="1780283" y="878824"/>
            <a:ext cx="5592600" cy="7515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800">
                <a:solidFill>
                  <a:srgbClr val="4A86E8"/>
                </a:solidFill>
                <a:latin typeface="Kumbh Sans"/>
                <a:ea typeface="Kumbh Sans"/>
                <a:cs typeface="Kumbh Sans"/>
                <a:sym typeface="Kumbh Sans"/>
              </a:rPr>
              <a:t>AC ANTI FOSFOLIPIDOS</a:t>
            </a:r>
            <a:endParaRPr sz="2800">
              <a:solidFill>
                <a:srgbClr val="4A86E8"/>
              </a:solidFill>
              <a:latin typeface="Kumbh Sans"/>
              <a:ea typeface="Kumbh Sans"/>
              <a:cs typeface="Kumbh Sans"/>
              <a:sym typeface="Kumbh Sans"/>
            </a:endParaRPr>
          </a:p>
        </p:txBody>
      </p:sp>
      <p:sp>
        <p:nvSpPr>
          <p:cNvPr id="519" name="Google Shape;519;p83"/>
          <p:cNvSpPr txBox="1"/>
          <p:nvPr/>
        </p:nvSpPr>
        <p:spPr>
          <a:xfrm>
            <a:off x="346509" y="2565801"/>
            <a:ext cx="2730600" cy="12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20027" lvl="0" marL="228600" rtl="0" algn="l">
              <a:spcBef>
                <a:spcPts val="0"/>
              </a:spcBef>
              <a:spcAft>
                <a:spcPts val="0"/>
              </a:spcAft>
              <a:buClr>
                <a:srgbClr val="F6A21D"/>
              </a:buClr>
              <a:buSzPct val="100000"/>
              <a:buFont typeface="Kumbh Sans"/>
              <a:buChar char="•"/>
            </a:pPr>
            <a:r>
              <a:rPr lang="es" sz="1800">
                <a:solidFill>
                  <a:srgbClr val="262626"/>
                </a:solidFill>
                <a:latin typeface="Kumbh Sans"/>
                <a:ea typeface="Kumbh Sans"/>
                <a:cs typeface="Kumbh Sans"/>
                <a:sym typeface="Kumbh Sans"/>
              </a:rPr>
              <a:t>Títulos moderados/altos al menos 2 ocasiones separadas de 12 sem.</a:t>
            </a:r>
            <a:endParaRPr sz="1800">
              <a:solidFill>
                <a:srgbClr val="262626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-220027" lvl="0" marL="228600" rtl="0" algn="l">
              <a:spcBef>
                <a:spcPts val="1000"/>
              </a:spcBef>
              <a:spcAft>
                <a:spcPts val="0"/>
              </a:spcAft>
              <a:buClr>
                <a:srgbClr val="F6A21D"/>
              </a:buClr>
              <a:buSzPct val="100000"/>
              <a:buFont typeface="Kumbh Sans"/>
              <a:buChar char="•"/>
            </a:pPr>
            <a:r>
              <a:rPr lang="es" sz="1800">
                <a:solidFill>
                  <a:srgbClr val="262626"/>
                </a:solidFill>
                <a:latin typeface="Kumbh Sans"/>
                <a:ea typeface="Kumbh Sans"/>
                <a:cs typeface="Kumbh Sans"/>
                <a:sym typeface="Kumbh Sans"/>
              </a:rPr>
              <a:t>IGG: trombosis</a:t>
            </a:r>
            <a:endParaRPr sz="1800">
              <a:solidFill>
                <a:srgbClr val="262626"/>
              </a:solidFill>
              <a:latin typeface="Kumbh Sans"/>
              <a:ea typeface="Kumbh Sans"/>
              <a:cs typeface="Kumbh Sans"/>
              <a:sym typeface="Kumbh Sans"/>
            </a:endParaRPr>
          </a:p>
        </p:txBody>
      </p:sp>
      <p:sp>
        <p:nvSpPr>
          <p:cNvPr id="520" name="Google Shape;520;p83"/>
          <p:cNvSpPr txBox="1"/>
          <p:nvPr/>
        </p:nvSpPr>
        <p:spPr>
          <a:xfrm>
            <a:off x="3302111" y="2685981"/>
            <a:ext cx="2747700" cy="9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spcBef>
                <a:spcPts val="0"/>
              </a:spcBef>
              <a:spcAft>
                <a:spcPts val="0"/>
              </a:spcAft>
              <a:buClr>
                <a:srgbClr val="F6A21D"/>
              </a:buClr>
              <a:buSzPts val="1800"/>
              <a:buFont typeface="Kumbh Sans"/>
              <a:buChar char="•"/>
            </a:pPr>
            <a:r>
              <a:rPr lang="es" sz="1800">
                <a:solidFill>
                  <a:srgbClr val="262626"/>
                </a:solidFill>
                <a:latin typeface="Kumbh Sans"/>
                <a:ea typeface="Kumbh Sans"/>
                <a:cs typeface="Kumbh Sans"/>
                <a:sym typeface="Kumbh Sans"/>
              </a:rPr>
              <a:t>Son los mas específicos del diagnostico de SAF.</a:t>
            </a:r>
            <a:endParaRPr sz="1800">
              <a:solidFill>
                <a:srgbClr val="262626"/>
              </a:solidFill>
              <a:latin typeface="Kumbh Sans"/>
              <a:ea typeface="Kumbh Sans"/>
              <a:cs typeface="Kumbh Sans"/>
              <a:sym typeface="Kumbh Sans"/>
            </a:endParaRPr>
          </a:p>
        </p:txBody>
      </p:sp>
      <p:sp>
        <p:nvSpPr>
          <p:cNvPr id="521" name="Google Shape;521;p83"/>
          <p:cNvSpPr txBox="1"/>
          <p:nvPr/>
        </p:nvSpPr>
        <p:spPr>
          <a:xfrm>
            <a:off x="577437" y="1783638"/>
            <a:ext cx="2405700" cy="62910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 fontScale="85000" lnSpcReduction="2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s" sz="2800" cap="none">
                <a:solidFill>
                  <a:srgbClr val="262626"/>
                </a:solidFill>
                <a:latin typeface="Kumbh Sans"/>
                <a:ea typeface="Kumbh Sans"/>
                <a:cs typeface="Kumbh Sans"/>
                <a:sym typeface="Kumbh Sans"/>
              </a:rPr>
              <a:t>ACL IGG-IGM</a:t>
            </a:r>
            <a:endParaRPr sz="2800" cap="none">
              <a:solidFill>
                <a:srgbClr val="262626"/>
              </a:solidFill>
              <a:latin typeface="Kumbh Sans"/>
              <a:ea typeface="Kumbh Sans"/>
              <a:cs typeface="Kumbh Sans"/>
              <a:sym typeface="Kumbh Sans"/>
            </a:endParaRPr>
          </a:p>
        </p:txBody>
      </p:sp>
      <p:sp>
        <p:nvSpPr>
          <p:cNvPr id="522" name="Google Shape;522;p83"/>
          <p:cNvSpPr txBox="1"/>
          <p:nvPr/>
        </p:nvSpPr>
        <p:spPr>
          <a:xfrm>
            <a:off x="3373784" y="1783638"/>
            <a:ext cx="2405700" cy="62910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 fontScale="70000" lnSpcReduction="1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s" sz="2800" cap="none">
                <a:solidFill>
                  <a:srgbClr val="262626"/>
                </a:solidFill>
                <a:latin typeface="Kumbh Sans"/>
                <a:ea typeface="Kumbh Sans"/>
                <a:cs typeface="Kumbh Sans"/>
                <a:sym typeface="Kumbh Sans"/>
              </a:rPr>
              <a:t>B2 GP IGG-IGM</a:t>
            </a:r>
            <a:endParaRPr sz="2800" cap="none">
              <a:solidFill>
                <a:srgbClr val="262626"/>
              </a:solidFill>
              <a:latin typeface="Kumbh Sans"/>
              <a:ea typeface="Kumbh Sans"/>
              <a:cs typeface="Kumbh Sans"/>
              <a:sym typeface="Kumbh Sans"/>
            </a:endParaRPr>
          </a:p>
        </p:txBody>
      </p:sp>
      <p:sp>
        <p:nvSpPr>
          <p:cNvPr id="523" name="Google Shape;523;p83"/>
          <p:cNvSpPr txBox="1"/>
          <p:nvPr/>
        </p:nvSpPr>
        <p:spPr>
          <a:xfrm>
            <a:off x="6170130" y="1783638"/>
            <a:ext cx="2405700" cy="62910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 fontScale="85000" lnSpcReduction="2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s" sz="2800" cap="none">
                <a:solidFill>
                  <a:srgbClr val="262626"/>
                </a:solidFill>
                <a:latin typeface="Kumbh Sans"/>
                <a:ea typeface="Kumbh Sans"/>
                <a:cs typeface="Kumbh Sans"/>
                <a:sym typeface="Kumbh Sans"/>
              </a:rPr>
              <a:t>IL</a:t>
            </a:r>
            <a:endParaRPr sz="2800" cap="none">
              <a:solidFill>
                <a:srgbClr val="262626"/>
              </a:solidFill>
              <a:latin typeface="Kumbh Sans"/>
              <a:ea typeface="Kumbh Sans"/>
              <a:cs typeface="Kumbh Sans"/>
              <a:sym typeface="Kumbh Sans"/>
            </a:endParaRPr>
          </a:p>
        </p:txBody>
      </p:sp>
      <p:sp>
        <p:nvSpPr>
          <p:cNvPr id="524" name="Google Shape;524;p83"/>
          <p:cNvSpPr txBox="1"/>
          <p:nvPr/>
        </p:nvSpPr>
        <p:spPr>
          <a:xfrm>
            <a:off x="6049783" y="2685980"/>
            <a:ext cx="2747700" cy="9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20027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6A21D"/>
              </a:buClr>
              <a:buSzPct val="100000"/>
              <a:buFont typeface="Kumbh Sans"/>
              <a:buChar char="•"/>
            </a:pPr>
            <a:r>
              <a:rPr lang="es" sz="1800">
                <a:solidFill>
                  <a:srgbClr val="262626"/>
                </a:solidFill>
                <a:latin typeface="Kumbh Sans"/>
                <a:ea typeface="Kumbh Sans"/>
                <a:cs typeface="Kumbh Sans"/>
                <a:sym typeface="Kumbh Sans"/>
              </a:rPr>
              <a:t>Su presencia es un factor de riesgo para trombosis arterial venosa.</a:t>
            </a:r>
            <a:endParaRPr sz="1800">
              <a:solidFill>
                <a:srgbClr val="262626"/>
              </a:solidFill>
              <a:latin typeface="Kumbh Sans"/>
              <a:ea typeface="Kumbh Sans"/>
              <a:cs typeface="Kumbh Sans"/>
              <a:sym typeface="Kumbh San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84"/>
          <p:cNvSpPr txBox="1"/>
          <p:nvPr>
            <p:ph type="title"/>
          </p:nvPr>
        </p:nvSpPr>
        <p:spPr>
          <a:xfrm>
            <a:off x="2244900" y="310650"/>
            <a:ext cx="4654200" cy="735000"/>
          </a:xfrm>
          <a:prstGeom prst="rect">
            <a:avLst/>
          </a:prstGeom>
          <a:solidFill>
            <a:schemeClr val="dk2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4400">
                <a:solidFill>
                  <a:srgbClr val="4A86E8"/>
                </a:solidFill>
                <a:latin typeface="Kumbh Sans"/>
                <a:ea typeface="Kumbh Sans"/>
                <a:cs typeface="Kumbh Sans"/>
                <a:sym typeface="Kumbh Sans"/>
              </a:rPr>
              <a:t>ANCA</a:t>
            </a:r>
            <a:endParaRPr>
              <a:solidFill>
                <a:srgbClr val="4A86E8"/>
              </a:solidFill>
            </a:endParaRPr>
          </a:p>
        </p:txBody>
      </p:sp>
      <p:sp>
        <p:nvSpPr>
          <p:cNvPr id="530" name="Google Shape;530;p84"/>
          <p:cNvSpPr txBox="1"/>
          <p:nvPr>
            <p:ph idx="1" type="body"/>
          </p:nvPr>
        </p:nvSpPr>
        <p:spPr>
          <a:xfrm>
            <a:off x="720000" y="1045650"/>
            <a:ext cx="7704000" cy="39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400">
                <a:solidFill>
                  <a:srgbClr val="4A86E8"/>
                </a:solidFill>
                <a:latin typeface="Kumbh Sans Medium"/>
                <a:ea typeface="Kumbh Sans Medium"/>
                <a:cs typeface="Kumbh Sans Medium"/>
                <a:sym typeface="Kumbh Sans Medium"/>
              </a:rPr>
              <a:t>•</a:t>
            </a:r>
            <a:r>
              <a:rPr b="1" lang="es" sz="2400">
                <a:solidFill>
                  <a:srgbClr val="4A86E8"/>
                </a:solidFill>
                <a:latin typeface="Kumbh Sans"/>
                <a:ea typeface="Kumbh Sans"/>
                <a:cs typeface="Kumbh Sans"/>
                <a:sym typeface="Kumbh Sans"/>
              </a:rPr>
              <a:t>ANCA P - MPO (perinuclear) Vasculitis de Churg-Strauss</a:t>
            </a:r>
            <a:endParaRPr b="1" sz="2400">
              <a:solidFill>
                <a:srgbClr val="4A86E8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400">
                <a:solidFill>
                  <a:schemeClr val="dk1"/>
                </a:solidFill>
                <a:latin typeface="Kumbh Sans Medium"/>
                <a:ea typeface="Kumbh Sans Medium"/>
                <a:cs typeface="Kumbh Sans Medium"/>
                <a:sym typeface="Kumbh Sans Medium"/>
              </a:rPr>
              <a:t>-</a:t>
            </a:r>
            <a:r>
              <a:rPr lang="es" sz="24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Poliangeitis microscopica</a:t>
            </a:r>
            <a:endParaRPr sz="2400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400">
                <a:solidFill>
                  <a:schemeClr val="dk1"/>
                </a:solidFill>
                <a:latin typeface="Kumbh Sans Medium"/>
                <a:ea typeface="Kumbh Sans Medium"/>
                <a:cs typeface="Kumbh Sans Medium"/>
                <a:sym typeface="Kumbh Sans Medium"/>
              </a:rPr>
              <a:t>-</a:t>
            </a:r>
            <a:r>
              <a:rPr lang="es" sz="24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Poliangeitis granulomatosa eosinofilica</a:t>
            </a:r>
            <a:endParaRPr sz="2400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s" sz="2400">
                <a:solidFill>
                  <a:schemeClr val="dk1"/>
                </a:solidFill>
                <a:latin typeface="Kumbh Sans Medium"/>
                <a:ea typeface="Kumbh Sans Medium"/>
                <a:cs typeface="Kumbh Sans Medium"/>
                <a:sym typeface="Kumbh Sans Medium"/>
              </a:rPr>
              <a:t>•</a:t>
            </a:r>
            <a:r>
              <a:rPr b="1" lang="es" sz="2400">
                <a:solidFill>
                  <a:srgbClr val="4A86E8"/>
                </a:solidFill>
                <a:latin typeface="Kumbh Sans"/>
                <a:ea typeface="Kumbh Sans"/>
                <a:cs typeface="Kumbh Sans"/>
                <a:sym typeface="Kumbh Sans"/>
              </a:rPr>
              <a:t>ANCA C – PR3 (citoplasmatico) </a:t>
            </a:r>
            <a:r>
              <a:rPr b="1" lang="es" sz="2400">
                <a:solidFill>
                  <a:srgbClr val="4A86E8"/>
                </a:solidFill>
                <a:latin typeface="Kumbh Sans"/>
                <a:ea typeface="Kumbh Sans"/>
                <a:cs typeface="Kumbh Sans"/>
                <a:sym typeface="Kumbh Sans"/>
              </a:rPr>
              <a:t>Vasculitis de Wegener</a:t>
            </a:r>
            <a:endParaRPr b="1" sz="2400">
              <a:solidFill>
                <a:srgbClr val="4A86E8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400">
                <a:solidFill>
                  <a:schemeClr val="dk1"/>
                </a:solidFill>
                <a:latin typeface="Kumbh Sans Medium"/>
                <a:ea typeface="Kumbh Sans Medium"/>
                <a:cs typeface="Kumbh Sans Medium"/>
                <a:sym typeface="Kumbh Sans Medium"/>
              </a:rPr>
              <a:t>-</a:t>
            </a:r>
            <a:r>
              <a:rPr lang="es" sz="24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Poliangeitis microscopica</a:t>
            </a:r>
            <a:endParaRPr b="1" sz="2400">
              <a:solidFill>
                <a:srgbClr val="FF0000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s" sz="24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- Granulomatosis con poliangeitis</a:t>
            </a:r>
            <a:endParaRPr>
              <a:latin typeface="Kumbh Sans Medium"/>
              <a:ea typeface="Kumbh Sans Medium"/>
              <a:cs typeface="Kumbh Sans Medium"/>
              <a:sym typeface="Kumbh Sans Medium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85"/>
          <p:cNvSpPr txBox="1"/>
          <p:nvPr>
            <p:ph type="title"/>
          </p:nvPr>
        </p:nvSpPr>
        <p:spPr>
          <a:xfrm>
            <a:off x="311700" y="249825"/>
            <a:ext cx="85206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3133">
                <a:solidFill>
                  <a:srgbClr val="9900FF"/>
                </a:solidFill>
              </a:rPr>
              <a:t>Muchas Gracias!</a:t>
            </a:r>
            <a:endParaRPr sz="4133">
              <a:solidFill>
                <a:srgbClr val="9900FF"/>
              </a:solidFill>
            </a:endParaRPr>
          </a:p>
        </p:txBody>
      </p:sp>
      <p:sp>
        <p:nvSpPr>
          <p:cNvPr id="536" name="Google Shape;536;p85"/>
          <p:cNvSpPr txBox="1"/>
          <p:nvPr>
            <p:ph idx="1" type="body"/>
          </p:nvPr>
        </p:nvSpPr>
        <p:spPr>
          <a:xfrm>
            <a:off x="720000" y="1045650"/>
            <a:ext cx="7704000" cy="39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37" name="Google Shape;537;p85"/>
          <p:cNvPicPr preferRelativeResize="0"/>
          <p:nvPr/>
        </p:nvPicPr>
        <p:blipFill rotWithShape="1">
          <a:blip r:embed="rId3">
            <a:alphaModFix/>
          </a:blip>
          <a:srcRect b="0" l="0" r="0" t="25606"/>
          <a:stretch/>
        </p:blipFill>
        <p:spPr>
          <a:xfrm>
            <a:off x="3125" y="947488"/>
            <a:ext cx="9137751" cy="3826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antasy Cloud Sky Theme by Slidesg">
  <a:themeElements>
    <a:clrScheme name="Simple Light">
      <a:dk1>
        <a:srgbClr val="383838"/>
      </a:dk1>
      <a:lt1>
        <a:srgbClr val="FFFAFA"/>
      </a:lt1>
      <a:dk2>
        <a:srgbClr val="C1ABEC"/>
      </a:dk2>
      <a:lt2>
        <a:srgbClr val="FF84A9"/>
      </a:lt2>
      <a:accent1>
        <a:srgbClr val="FFCFDE"/>
      </a:accent1>
      <a:accent2>
        <a:srgbClr val="9EEFFF"/>
      </a:accent2>
      <a:accent3>
        <a:srgbClr val="C0D9EF"/>
      </a:accent3>
      <a:accent4>
        <a:srgbClr val="F5F5BE"/>
      </a:accent4>
      <a:accent5>
        <a:srgbClr val="FFFFFF"/>
      </a:accent5>
      <a:accent6>
        <a:srgbClr val="FFFFFF"/>
      </a:accent6>
      <a:hlink>
        <a:srgbClr val="3838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