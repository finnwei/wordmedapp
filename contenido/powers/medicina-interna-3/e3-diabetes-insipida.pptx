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Libre Franklin"/>
      <p:regular r:id="rId47"/>
      <p:bold r:id="rId48"/>
      <p:italic r:id="rId49"/>
      <p:boldItalic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ibreFranklin-bold.fntdata"/><Relationship Id="rId47" Type="http://schemas.openxmlformats.org/officeDocument/2006/relationships/font" Target="fonts/LibreFranklin-regular.fntdata"/><Relationship Id="rId49" Type="http://schemas.openxmlformats.org/officeDocument/2006/relationships/font" Target="fonts/LibreFrankl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illSans-regular.fntdata"/><Relationship Id="rId50" Type="http://schemas.openxmlformats.org/officeDocument/2006/relationships/font" Target="fonts/LibreFranklin-boldItalic.fntdata"/><Relationship Id="rId52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0f309c4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0f309c4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0f309c4c9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0f309c4c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0f309c4c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0f309c4c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60f309c4c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60f309c4c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0f309c4c9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0f309c4c9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60f309c4c9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60f309c4c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60f309c4c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60f309c4c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0f309c4c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0f309c4c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0f309c4c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0f309c4c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0f309c4c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0f309c4c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0f309c4c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0f309c4c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0f309c4c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0f309c4c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0f309c4c9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0f309c4c9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0f309c4c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0f309c4c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0f309c4c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0f309c4c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0f309c4c9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0f309c4c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0f309c4c9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0f309c4c9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0f309c4c9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0f309c4c9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0f309c4c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0f309c4c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0f309c4c9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0f309c4c9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0f309c4c9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0f309c4c9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0f309c4c9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0f309c4c9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0f309c4c9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0f309c4c9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60f309c4c9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60f309c4c9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0f309c4c9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0f309c4c9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60f309c4c9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60f309c4c9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0f309c4c9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60f309c4c9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0f309c4c9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0f309c4c9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0f309c4c9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60f309c4c9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0f309c4c9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60f309c4c9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0f309c4c9_2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60f309c4c9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0f309c4c9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60f309c4c9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0f309c4c9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60f309c4c9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60f309c4c9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60f309c4c9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0f309c4c9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60f309c4c9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60f309c4c9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60f309c4c9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60f309c4c9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60f309c4c9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0f309c4c9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60f309c4c9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60f309c4c9_2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60f309c4c9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60f309c4c9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60f309c4c9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</a:rPr>
              <a:t>DIABETES </a:t>
            </a:r>
            <a:r>
              <a:rPr b="1" lang="es">
                <a:solidFill>
                  <a:srgbClr val="0000FF"/>
                </a:solidFill>
              </a:rPr>
              <a:t>INSÍPIDA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262626"/>
                </a:solidFill>
              </a:rPr>
              <a:t>CÁTEDRA</a:t>
            </a:r>
            <a:r>
              <a:rPr b="1" lang="es">
                <a:solidFill>
                  <a:srgbClr val="262626"/>
                </a:solidFill>
              </a:rPr>
              <a:t> MEDICINA INTERNA III</a:t>
            </a:r>
            <a:endParaRPr b="1">
              <a:solidFill>
                <a:srgbClr val="26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262626"/>
                </a:solidFill>
              </a:rPr>
              <a:t>DR MALCO RUBIN</a:t>
            </a:r>
            <a:endParaRPr b="1">
              <a:solidFill>
                <a:srgbClr val="26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262626"/>
                </a:solidFill>
              </a:rPr>
              <a:t>2026</a:t>
            </a:r>
            <a:endParaRPr b="1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04800"/>
            <a:ext cx="8520600" cy="3164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262626"/>
                </a:solidFill>
              </a:rPr>
              <a:t>Del latin </a:t>
            </a:r>
            <a:r>
              <a:rPr b="1" i="1" lang="es">
                <a:solidFill>
                  <a:srgbClr val="262626"/>
                </a:solidFill>
              </a:rPr>
              <a:t>Diabêtes</a:t>
            </a:r>
            <a:r>
              <a:rPr lang="es">
                <a:solidFill>
                  <a:srgbClr val="262626"/>
                </a:solidFill>
              </a:rPr>
              <a:t>, que deriva de un vocablo griego que significa </a:t>
            </a:r>
            <a:r>
              <a:rPr b="1" lang="es">
                <a:solidFill>
                  <a:srgbClr val="262626"/>
                </a:solidFill>
              </a:rPr>
              <a:t>“atravesar”</a:t>
            </a:r>
            <a:r>
              <a:rPr lang="es">
                <a:solidFill>
                  <a:srgbClr val="262626"/>
                </a:solidFill>
              </a:rPr>
              <a:t>, la </a:t>
            </a:r>
            <a:r>
              <a:rPr b="1" lang="es">
                <a:solidFill>
                  <a:srgbClr val="262626"/>
                </a:solidFill>
              </a:rPr>
              <a:t>diabetes es una enfermedad </a:t>
            </a:r>
            <a:r>
              <a:rPr b="1" lang="es">
                <a:solidFill>
                  <a:srgbClr val="262626"/>
                </a:solidFill>
              </a:rPr>
              <a:t>metabólica</a:t>
            </a:r>
            <a:r>
              <a:rPr lang="es">
                <a:solidFill>
                  <a:srgbClr val="262626"/>
                </a:solidFill>
              </a:rPr>
              <a:t> que </a:t>
            </a:r>
            <a:r>
              <a:rPr lang="es">
                <a:solidFill>
                  <a:srgbClr val="262626"/>
                </a:solidFill>
              </a:rPr>
              <a:t>ocasiona</a:t>
            </a:r>
            <a:r>
              <a:rPr lang="es">
                <a:solidFill>
                  <a:srgbClr val="262626"/>
                </a:solidFill>
              </a:rPr>
              <a:t> diversos trastornos, </a:t>
            </a:r>
            <a:r>
              <a:rPr lang="es">
                <a:solidFill>
                  <a:srgbClr val="262626"/>
                </a:solidFill>
              </a:rPr>
              <a:t>como</a:t>
            </a:r>
            <a:r>
              <a:rPr lang="es">
                <a:solidFill>
                  <a:srgbClr val="262626"/>
                </a:solidFill>
              </a:rPr>
              <a:t> la </a:t>
            </a:r>
            <a:r>
              <a:rPr lang="es">
                <a:solidFill>
                  <a:srgbClr val="262626"/>
                </a:solidFill>
              </a:rPr>
              <a:t>eliminación</a:t>
            </a:r>
            <a:r>
              <a:rPr lang="es">
                <a:solidFill>
                  <a:srgbClr val="262626"/>
                </a:solidFill>
              </a:rPr>
              <a:t> de </a:t>
            </a:r>
            <a:r>
              <a:rPr b="1" lang="es">
                <a:solidFill>
                  <a:srgbClr val="262626"/>
                </a:solidFill>
              </a:rPr>
              <a:t>orina en exceso</a:t>
            </a:r>
            <a:r>
              <a:rPr lang="es">
                <a:solidFill>
                  <a:srgbClr val="262626"/>
                </a:solidFill>
              </a:rPr>
              <a:t>, la </a:t>
            </a:r>
            <a:r>
              <a:rPr b="1" lang="es">
                <a:solidFill>
                  <a:srgbClr val="262626"/>
                </a:solidFill>
              </a:rPr>
              <a:t>sed intensa</a:t>
            </a:r>
            <a:r>
              <a:rPr lang="es">
                <a:solidFill>
                  <a:srgbClr val="262626"/>
                </a:solidFill>
              </a:rPr>
              <a:t> y el </a:t>
            </a:r>
            <a:r>
              <a:rPr b="1" lang="es">
                <a:solidFill>
                  <a:srgbClr val="262626"/>
                </a:solidFill>
              </a:rPr>
              <a:t>adelgazamiento</a:t>
            </a:r>
            <a:r>
              <a:rPr lang="es">
                <a:solidFill>
                  <a:srgbClr val="262626"/>
                </a:solidFill>
              </a:rPr>
              <a:t>. Existen dos tipos de diabetes que no tienen </a:t>
            </a:r>
            <a:r>
              <a:rPr lang="es">
                <a:solidFill>
                  <a:srgbClr val="262626"/>
                </a:solidFill>
              </a:rPr>
              <a:t>ningún</a:t>
            </a:r>
            <a:r>
              <a:rPr lang="es">
                <a:solidFill>
                  <a:srgbClr val="262626"/>
                </a:solidFill>
              </a:rPr>
              <a:t> tipo de </a:t>
            </a:r>
            <a:r>
              <a:rPr lang="es">
                <a:solidFill>
                  <a:srgbClr val="262626"/>
                </a:solidFill>
              </a:rPr>
              <a:t>relación</a:t>
            </a:r>
            <a:r>
              <a:rPr lang="es">
                <a:solidFill>
                  <a:srgbClr val="262626"/>
                </a:solidFill>
              </a:rPr>
              <a:t> </a:t>
            </a:r>
            <a:r>
              <a:rPr lang="es">
                <a:solidFill>
                  <a:srgbClr val="262626"/>
                </a:solidFill>
              </a:rPr>
              <a:t>patológica</a:t>
            </a:r>
            <a:r>
              <a:rPr lang="es">
                <a:solidFill>
                  <a:srgbClr val="262626"/>
                </a:solidFill>
              </a:rPr>
              <a:t> pero que </a:t>
            </a:r>
            <a:r>
              <a:rPr lang="es">
                <a:solidFill>
                  <a:srgbClr val="262626"/>
                </a:solidFill>
              </a:rPr>
              <a:t>comparten</a:t>
            </a:r>
            <a:r>
              <a:rPr lang="es">
                <a:solidFill>
                  <a:srgbClr val="262626"/>
                </a:solidFill>
              </a:rPr>
              <a:t> las manifestaciones </a:t>
            </a:r>
            <a:r>
              <a:rPr lang="es">
                <a:solidFill>
                  <a:srgbClr val="262626"/>
                </a:solidFill>
              </a:rPr>
              <a:t>clínicas</a:t>
            </a:r>
            <a:r>
              <a:rPr lang="es">
                <a:solidFill>
                  <a:srgbClr val="262626"/>
                </a:solidFill>
              </a:rPr>
              <a:t> mencionadas: la Diabetes mellitus (el tipo de diabetes </a:t>
            </a:r>
            <a:r>
              <a:rPr lang="es">
                <a:solidFill>
                  <a:srgbClr val="262626"/>
                </a:solidFill>
              </a:rPr>
              <a:t>más</a:t>
            </a:r>
            <a:r>
              <a:rPr lang="es">
                <a:solidFill>
                  <a:srgbClr val="262626"/>
                </a:solidFill>
              </a:rPr>
              <a:t> usual) y la </a:t>
            </a:r>
            <a:r>
              <a:rPr b="1" lang="es">
                <a:solidFill>
                  <a:srgbClr val="262626"/>
                </a:solidFill>
              </a:rPr>
              <a:t>D</a:t>
            </a:r>
            <a:r>
              <a:rPr b="1" lang="es">
                <a:solidFill>
                  <a:srgbClr val="262626"/>
                </a:solidFill>
              </a:rPr>
              <a:t>iabetes </a:t>
            </a:r>
            <a:r>
              <a:rPr b="1" lang="es">
                <a:solidFill>
                  <a:srgbClr val="262626"/>
                </a:solidFill>
              </a:rPr>
              <a:t>insípida</a:t>
            </a:r>
            <a:r>
              <a:rPr lang="es">
                <a:solidFill>
                  <a:srgbClr val="262626"/>
                </a:solidFill>
              </a:rPr>
              <a:t>.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SÍNTESIS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Se genera oxitocina y ADH en las </a:t>
            </a:r>
            <a:r>
              <a:rPr lang="es">
                <a:solidFill>
                  <a:srgbClr val="000000"/>
                </a:solidFill>
              </a:rPr>
              <a:t>células</a:t>
            </a:r>
            <a:r>
              <a:rPr lang="es">
                <a:solidFill>
                  <a:srgbClr val="000000"/>
                </a:solidFill>
              </a:rPr>
              <a:t> magno celulares de los </a:t>
            </a:r>
            <a:r>
              <a:rPr lang="es">
                <a:solidFill>
                  <a:srgbClr val="000000"/>
                </a:solidFill>
              </a:rPr>
              <a:t>núcleos</a:t>
            </a:r>
            <a:r>
              <a:rPr lang="es">
                <a:solidFill>
                  <a:srgbClr val="000000"/>
                </a:solidFill>
              </a:rPr>
              <a:t> Paraventricular y </a:t>
            </a:r>
            <a:r>
              <a:rPr lang="es">
                <a:solidFill>
                  <a:srgbClr val="000000"/>
                </a:solidFill>
              </a:rPr>
              <a:t>Supraóptico</a:t>
            </a:r>
            <a:r>
              <a:rPr lang="e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Estas preprohormonas se introducen en los </a:t>
            </a:r>
            <a:r>
              <a:rPr lang="es">
                <a:solidFill>
                  <a:srgbClr val="000000"/>
                </a:solidFill>
              </a:rPr>
              <a:t>gránulos</a:t>
            </a:r>
            <a:r>
              <a:rPr lang="es">
                <a:solidFill>
                  <a:srgbClr val="000000"/>
                </a:solidFill>
              </a:rPr>
              <a:t> de </a:t>
            </a:r>
            <a:r>
              <a:rPr lang="es">
                <a:solidFill>
                  <a:srgbClr val="000000"/>
                </a:solidFill>
              </a:rPr>
              <a:t>secreción</a:t>
            </a:r>
            <a:r>
              <a:rPr lang="es">
                <a:solidFill>
                  <a:srgbClr val="000000"/>
                </a:solidFill>
              </a:rPr>
              <a:t> y viajan por mecanismo microtubular.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Se almacenan en los Cuerpos de Hearing.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</a:t>
            </a:r>
            <a:r>
              <a:rPr lang="es">
                <a:solidFill>
                  <a:srgbClr val="000000"/>
                </a:solidFill>
              </a:rPr>
              <a:t>liberación</a:t>
            </a:r>
            <a:r>
              <a:rPr lang="es">
                <a:solidFill>
                  <a:srgbClr val="000000"/>
                </a:solidFill>
              </a:rPr>
              <a:t> de ADH es desencadenada por: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-Osmolaridad </a:t>
            </a:r>
            <a:r>
              <a:rPr lang="es">
                <a:solidFill>
                  <a:srgbClr val="000000"/>
                </a:solidFill>
              </a:rPr>
              <a:t>plasmática</a:t>
            </a:r>
            <a:r>
              <a:rPr lang="e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	- volumen circulante efectivo.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	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463" y="2903725"/>
            <a:ext cx="31718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68200"/>
            <a:ext cx="8520600" cy="612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RECUERDO </a:t>
            </a:r>
            <a:r>
              <a:rPr lang="es"/>
              <a:t>ANATÓMICO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875" y="1017725"/>
            <a:ext cx="7402374" cy="40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VASOPRESINA (ADH)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51357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Hormona </a:t>
            </a:r>
            <a:r>
              <a:rPr lang="es">
                <a:solidFill>
                  <a:srgbClr val="000000"/>
                </a:solidFill>
              </a:rPr>
              <a:t>peptídica</a:t>
            </a:r>
            <a:r>
              <a:rPr lang="es">
                <a:solidFill>
                  <a:srgbClr val="000000"/>
                </a:solidFill>
              </a:rPr>
              <a:t> de 9 AA que tiene como </a:t>
            </a:r>
            <a:r>
              <a:rPr lang="es">
                <a:solidFill>
                  <a:srgbClr val="000000"/>
                </a:solidFill>
              </a:rPr>
              <a:t>función</a:t>
            </a:r>
            <a:r>
              <a:rPr lang="es">
                <a:solidFill>
                  <a:srgbClr val="000000"/>
                </a:solidFill>
              </a:rPr>
              <a:t> principal, concentrar la orina.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Implicada en el control de la osmolalidad </a:t>
            </a:r>
            <a:r>
              <a:rPr lang="es">
                <a:solidFill>
                  <a:srgbClr val="000000"/>
                </a:solidFill>
              </a:rPr>
              <a:t>plasmática</a:t>
            </a:r>
            <a:r>
              <a:rPr lang="es">
                <a:solidFill>
                  <a:srgbClr val="000000"/>
                </a:solidFill>
              </a:rPr>
              <a:t> , el volumen </a:t>
            </a:r>
            <a:r>
              <a:rPr lang="es">
                <a:solidFill>
                  <a:srgbClr val="000000"/>
                </a:solidFill>
              </a:rPr>
              <a:t>plasmático</a:t>
            </a:r>
            <a:r>
              <a:rPr lang="es">
                <a:solidFill>
                  <a:srgbClr val="000000"/>
                </a:solidFill>
              </a:rPr>
              <a:t> y la </a:t>
            </a:r>
            <a:r>
              <a:rPr lang="es">
                <a:solidFill>
                  <a:srgbClr val="000000"/>
                </a:solidFill>
              </a:rPr>
              <a:t>tensión</a:t>
            </a:r>
            <a:r>
              <a:rPr lang="es">
                <a:solidFill>
                  <a:srgbClr val="000000"/>
                </a:solidFill>
              </a:rPr>
              <a:t> arterial.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313" y="1228175"/>
            <a:ext cx="324802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75" y="363475"/>
            <a:ext cx="8865250" cy="44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MECANISMO DE </a:t>
            </a:r>
            <a:r>
              <a:rPr lang="es">
                <a:solidFill>
                  <a:srgbClr val="0000FF"/>
                </a:solidFill>
              </a:rPr>
              <a:t>ACCIÓN</a:t>
            </a:r>
            <a:r>
              <a:rPr lang="es"/>
              <a:t>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761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Actúa</a:t>
            </a:r>
            <a:r>
              <a:rPr lang="es">
                <a:solidFill>
                  <a:srgbClr val="000000"/>
                </a:solidFill>
              </a:rPr>
              <a:t> sobre tres subtipos de receptores de </a:t>
            </a:r>
            <a:r>
              <a:rPr lang="es">
                <a:solidFill>
                  <a:srgbClr val="000000"/>
                </a:solidFill>
              </a:rPr>
              <a:t>membrana</a:t>
            </a:r>
            <a:r>
              <a:rPr lang="es">
                <a:solidFill>
                  <a:srgbClr val="000000"/>
                </a:solidFill>
              </a:rPr>
              <a:t> tipo </a:t>
            </a:r>
            <a:r>
              <a:rPr lang="es">
                <a:solidFill>
                  <a:srgbClr val="000000"/>
                </a:solidFill>
              </a:rPr>
              <a:t>proteína</a:t>
            </a:r>
            <a:r>
              <a:rPr lang="es">
                <a:solidFill>
                  <a:srgbClr val="000000"/>
                </a:solidFill>
              </a:rPr>
              <a:t> G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V1r: Vascular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V2r;Renal: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		</a:t>
            </a:r>
            <a:r>
              <a:rPr lang="es">
                <a:solidFill>
                  <a:srgbClr val="000000"/>
                </a:solidFill>
              </a:rPr>
              <a:t>Túbulo</a:t>
            </a:r>
            <a:r>
              <a:rPr lang="es">
                <a:solidFill>
                  <a:srgbClr val="000000"/>
                </a:solidFill>
              </a:rPr>
              <a:t> distal y </a:t>
            </a:r>
            <a:r>
              <a:rPr lang="es">
                <a:solidFill>
                  <a:srgbClr val="000000"/>
                </a:solidFill>
              </a:rPr>
              <a:t>colector</a:t>
            </a:r>
            <a:r>
              <a:rPr lang="es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V3r:hipofisario.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Aquaporinas (AQP)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1: TP, cerebro, ojos.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2: </a:t>
            </a:r>
            <a:r>
              <a:rPr lang="es">
                <a:solidFill>
                  <a:srgbClr val="000000"/>
                </a:solidFill>
              </a:rPr>
              <a:t>Túbulo</a:t>
            </a:r>
            <a:r>
              <a:rPr lang="es">
                <a:solidFill>
                  <a:srgbClr val="000000"/>
                </a:solidFill>
              </a:rPr>
              <a:t> colector.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s">
                <a:solidFill>
                  <a:srgbClr val="000000"/>
                </a:solidFill>
              </a:rPr>
              <a:t>3: </a:t>
            </a:r>
            <a:r>
              <a:rPr lang="es">
                <a:solidFill>
                  <a:srgbClr val="000000"/>
                </a:solidFill>
              </a:rPr>
              <a:t>Estómago</a:t>
            </a:r>
            <a:r>
              <a:rPr lang="es">
                <a:solidFill>
                  <a:srgbClr val="000000"/>
                </a:solidFill>
              </a:rPr>
              <a:t>, intestino y vejiga.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V2r:. La interacción da lugar al desplazamiento a la membrana apical de la acuaporina 2 preformada en el citoplasma y a la reabsorción pasiva de agua.</a:t>
            </a:r>
            <a:endParaRPr b="1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975" y="1579925"/>
            <a:ext cx="3073000" cy="24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571500"/>
            <a:ext cx="8520600" cy="4270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243015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lang="es" sz="5068">
                <a:solidFill>
                  <a:srgbClr val="262626"/>
                </a:solidFill>
              </a:rPr>
              <a:t>La AVP se halla regulada principalmente por la osmolalidad plasmática y el volumen circulante efectivo. </a:t>
            </a:r>
            <a:endParaRPr sz="5068">
              <a:solidFill>
                <a:srgbClr val="262626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5520"/>
              <a:buFont typeface="Arial"/>
              <a:buNone/>
            </a:pPr>
            <a:r>
              <a:t/>
            </a:r>
            <a:endParaRPr sz="5068">
              <a:solidFill>
                <a:srgbClr val="262626"/>
              </a:solidFill>
            </a:endParaRPr>
          </a:p>
          <a:p>
            <a:pPr indent="-24301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lang="es" sz="5068">
                <a:solidFill>
                  <a:srgbClr val="262626"/>
                </a:solidFill>
              </a:rPr>
              <a:t>El sodio es el catión predominante en el compartimento extracelular, y por tanto el principal determinante de la osmolalidad plasmática.</a:t>
            </a:r>
            <a:endParaRPr sz="5068">
              <a:solidFill>
                <a:srgbClr val="262626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5520"/>
              <a:buFont typeface="Arial"/>
              <a:buNone/>
            </a:pPr>
            <a:r>
              <a:t/>
            </a:r>
            <a:endParaRPr sz="5068">
              <a:solidFill>
                <a:srgbClr val="262626"/>
              </a:solidFill>
            </a:endParaRPr>
          </a:p>
          <a:p>
            <a:pPr indent="-243015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lang="es" sz="5068">
                <a:solidFill>
                  <a:srgbClr val="262626"/>
                </a:solidFill>
              </a:rPr>
              <a:t>Los osmorreceptores hipotalámicos </a:t>
            </a:r>
            <a:r>
              <a:rPr lang="es" sz="5068">
                <a:solidFill>
                  <a:srgbClr val="FF0000"/>
                </a:solidFill>
              </a:rPr>
              <a:t>mantienen la Osmp en un rango entre 280 y 290 mOsm/kg</a:t>
            </a:r>
            <a:r>
              <a:rPr lang="es" sz="5068">
                <a:solidFill>
                  <a:srgbClr val="262626"/>
                </a:solidFill>
              </a:rPr>
              <a:t> al modificar la secreción de AVP, que se halla </a:t>
            </a:r>
            <a:r>
              <a:rPr lang="es" sz="5068">
                <a:solidFill>
                  <a:srgbClr val="FF0000"/>
                </a:solidFill>
              </a:rPr>
              <a:t>máximamente inhibida por debajo de 280 mOs/kg</a:t>
            </a:r>
            <a:r>
              <a:rPr lang="es" sz="5068">
                <a:solidFill>
                  <a:srgbClr val="262626"/>
                </a:solidFill>
              </a:rPr>
              <a:t>; por encima de </a:t>
            </a:r>
            <a:r>
              <a:rPr lang="es" sz="5068">
                <a:solidFill>
                  <a:srgbClr val="FF0000"/>
                </a:solidFill>
              </a:rPr>
              <a:t>290 mOsm/kg se estimula la secreción de AVP al máximo</a:t>
            </a:r>
            <a:r>
              <a:rPr lang="es" sz="5068">
                <a:solidFill>
                  <a:srgbClr val="262626"/>
                </a:solidFill>
              </a:rPr>
              <a:t>, así como los osmorreceptores de la sed.</a:t>
            </a:r>
            <a:endParaRPr sz="5068">
              <a:solidFill>
                <a:srgbClr val="262626"/>
              </a:solidFill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797"/>
              <a:buFont typeface="Arial"/>
              <a:buNone/>
            </a:pPr>
            <a:r>
              <a:t/>
            </a:r>
            <a:endParaRPr sz="2375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2375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i="1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936" y="243713"/>
            <a:ext cx="5990125" cy="46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859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>
                <a:solidFill>
                  <a:srgbClr val="0000FF"/>
                </a:solidFill>
              </a:rPr>
              <a:t>DIABETES </a:t>
            </a:r>
            <a:r>
              <a:rPr lang="es" sz="3100">
                <a:solidFill>
                  <a:srgbClr val="0000FF"/>
                </a:solidFill>
              </a:rPr>
              <a:t>INSÍPIDA</a:t>
            </a:r>
            <a:endParaRPr sz="3100">
              <a:solidFill>
                <a:srgbClr val="0000FF"/>
              </a:solidFill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149075" y="1152475"/>
            <a:ext cx="8870700" cy="3767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FF0000"/>
                </a:solidFill>
              </a:rPr>
              <a:t>Enfermedad caracterizada por incapacidad total o parcial de concentrar orina</a:t>
            </a:r>
            <a:r>
              <a:rPr lang="es" sz="2500">
                <a:solidFill>
                  <a:srgbClr val="FF0000"/>
                </a:solidFill>
              </a:rPr>
              <a:t>.</a:t>
            </a:r>
            <a:endParaRPr sz="25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FF0000"/>
                </a:solidFill>
              </a:rPr>
              <a:t>Presenta grandes </a:t>
            </a:r>
            <a:r>
              <a:rPr lang="es" sz="2500">
                <a:solidFill>
                  <a:srgbClr val="FF0000"/>
                </a:solidFill>
              </a:rPr>
              <a:t>volúmenes</a:t>
            </a:r>
            <a:r>
              <a:rPr lang="es" sz="2500">
                <a:solidFill>
                  <a:srgbClr val="FF0000"/>
                </a:solidFill>
              </a:rPr>
              <a:t> de orina diluida, con polidipsia compensatoria.</a:t>
            </a:r>
            <a:endParaRPr sz="2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</a:rPr>
              <a:t>       -</a:t>
            </a:r>
            <a:r>
              <a:rPr b="1" lang="es" sz="1900">
                <a:solidFill>
                  <a:srgbClr val="000000"/>
                </a:solidFill>
              </a:rPr>
              <a:t>Es un estado de poliuria </a:t>
            </a:r>
            <a:r>
              <a:rPr b="1" lang="es" sz="1900">
                <a:solidFill>
                  <a:srgbClr val="000000"/>
                </a:solidFill>
              </a:rPr>
              <a:t>hipotónica</a:t>
            </a:r>
            <a:r>
              <a:rPr b="1" lang="es" sz="1900">
                <a:solidFill>
                  <a:srgbClr val="000000"/>
                </a:solidFill>
              </a:rPr>
              <a:t>.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</a:rPr>
              <a:t>	-Volumen urinario &gt;50-60 ml/kg/dia.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900">
                <a:solidFill>
                  <a:srgbClr val="000000"/>
                </a:solidFill>
              </a:rPr>
              <a:t>	-Osmolaridad urinaria &lt;300.</a:t>
            </a:r>
            <a:endParaRPr b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CLASIFICACIÓN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24250" y="1152475"/>
            <a:ext cx="87081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-"/>
            </a:pPr>
            <a:r>
              <a:rPr lang="es" sz="2300">
                <a:solidFill>
                  <a:srgbClr val="000000"/>
                </a:solidFill>
              </a:rPr>
              <a:t>Diabetes </a:t>
            </a:r>
            <a:r>
              <a:rPr lang="es" sz="2300">
                <a:solidFill>
                  <a:srgbClr val="000000"/>
                </a:solidFill>
              </a:rPr>
              <a:t>insípida</a:t>
            </a:r>
            <a:r>
              <a:rPr lang="es" sz="2300">
                <a:solidFill>
                  <a:srgbClr val="000000"/>
                </a:solidFill>
              </a:rPr>
              <a:t> central. 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-"/>
            </a:pPr>
            <a:r>
              <a:rPr lang="es" sz="2300">
                <a:solidFill>
                  <a:srgbClr val="000000"/>
                </a:solidFill>
              </a:rPr>
              <a:t>Diabetes </a:t>
            </a:r>
            <a:r>
              <a:rPr lang="es" sz="2300">
                <a:solidFill>
                  <a:srgbClr val="000000"/>
                </a:solidFill>
              </a:rPr>
              <a:t>insípida</a:t>
            </a:r>
            <a:r>
              <a:rPr lang="es" sz="2300">
                <a:solidFill>
                  <a:srgbClr val="000000"/>
                </a:solidFill>
              </a:rPr>
              <a:t> </a:t>
            </a:r>
            <a:r>
              <a:rPr lang="es" sz="2300">
                <a:solidFill>
                  <a:srgbClr val="000000"/>
                </a:solidFill>
              </a:rPr>
              <a:t>nefrogénica</a:t>
            </a:r>
            <a:r>
              <a:rPr lang="es" sz="2300">
                <a:solidFill>
                  <a:srgbClr val="000000"/>
                </a:solidFill>
              </a:rPr>
              <a:t>. 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-"/>
            </a:pPr>
            <a:r>
              <a:rPr lang="es" sz="2300">
                <a:solidFill>
                  <a:srgbClr val="000000"/>
                </a:solidFill>
              </a:rPr>
              <a:t>Diabetes </a:t>
            </a:r>
            <a:r>
              <a:rPr lang="es" sz="2300">
                <a:solidFill>
                  <a:srgbClr val="000000"/>
                </a:solidFill>
              </a:rPr>
              <a:t>insípida</a:t>
            </a:r>
            <a:r>
              <a:rPr lang="es" sz="2300">
                <a:solidFill>
                  <a:srgbClr val="000000"/>
                </a:solidFill>
              </a:rPr>
              <a:t> gestacional.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-"/>
            </a:pPr>
            <a:r>
              <a:rPr i="1" lang="es" sz="2300">
                <a:solidFill>
                  <a:srgbClr val="000000"/>
                </a:solidFill>
              </a:rPr>
              <a:t>Polidipsia primaria.</a:t>
            </a:r>
            <a:endParaRPr i="1" sz="2300">
              <a:solidFill>
                <a:srgbClr val="000000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550" y="260900"/>
            <a:ext cx="4273825" cy="46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DIABETES </a:t>
            </a:r>
            <a:r>
              <a:rPr lang="es">
                <a:solidFill>
                  <a:srgbClr val="0000FF"/>
                </a:solidFill>
              </a:rPr>
              <a:t>INSÍPIDA</a:t>
            </a:r>
            <a:r>
              <a:rPr lang="es">
                <a:solidFill>
                  <a:srgbClr val="0000FF"/>
                </a:solidFill>
              </a:rPr>
              <a:t> CENTRAL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49065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-</a:t>
            </a:r>
            <a:r>
              <a:rPr lang="es" sz="2000">
                <a:solidFill>
                  <a:srgbClr val="000000"/>
                </a:solidFill>
              </a:rPr>
              <a:t>Causado por la incapacidad de </a:t>
            </a:r>
            <a:r>
              <a:rPr lang="es" sz="2000">
                <a:solidFill>
                  <a:srgbClr val="000000"/>
                </a:solidFill>
              </a:rPr>
              <a:t>secretar</a:t>
            </a:r>
            <a:r>
              <a:rPr lang="es" sz="2000">
                <a:solidFill>
                  <a:srgbClr val="000000"/>
                </a:solidFill>
              </a:rPr>
              <a:t> (sintetizar) ADH.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-Daño en </a:t>
            </a:r>
            <a:r>
              <a:rPr lang="es" sz="2000">
                <a:solidFill>
                  <a:srgbClr val="000000"/>
                </a:solidFill>
              </a:rPr>
              <a:t>células</a:t>
            </a:r>
            <a:r>
              <a:rPr lang="es" sz="2000">
                <a:solidFill>
                  <a:srgbClr val="000000"/>
                </a:solidFill>
              </a:rPr>
              <a:t> magnocelulares (80-90%)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-Daño en osmostatos en tercer </a:t>
            </a:r>
            <a:r>
              <a:rPr lang="es" sz="2000">
                <a:solidFill>
                  <a:srgbClr val="000000"/>
                </a:solidFill>
              </a:rPr>
              <a:t>ventrículo</a:t>
            </a:r>
            <a:r>
              <a:rPr lang="e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000000"/>
                </a:solidFill>
              </a:rPr>
              <a:t>-De </a:t>
            </a:r>
            <a:r>
              <a:rPr lang="es" sz="2000">
                <a:solidFill>
                  <a:srgbClr val="000000"/>
                </a:solidFill>
              </a:rPr>
              <a:t>instalación</a:t>
            </a:r>
            <a:r>
              <a:rPr lang="es" sz="2000">
                <a:solidFill>
                  <a:srgbClr val="000000"/>
                </a:solidFill>
              </a:rPr>
              <a:t> </a:t>
            </a:r>
            <a:r>
              <a:rPr lang="es" sz="2000">
                <a:solidFill>
                  <a:srgbClr val="000000"/>
                </a:solidFill>
              </a:rPr>
              <a:t>más</a:t>
            </a:r>
            <a:r>
              <a:rPr lang="es" sz="2000">
                <a:solidFill>
                  <a:srgbClr val="000000"/>
                </a:solidFill>
              </a:rPr>
              <a:t> brusca.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4425" y="534225"/>
            <a:ext cx="3904600" cy="41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3977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ETIOLOGÍA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812475"/>
            <a:ext cx="8520600" cy="4132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Idiopática</a:t>
            </a:r>
            <a:r>
              <a:rPr b="1" lang="es"/>
              <a:t> (25-30%)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Trauma </a:t>
            </a:r>
            <a:r>
              <a:rPr b="1" lang="es"/>
              <a:t>craneoencefálico</a:t>
            </a:r>
            <a:r>
              <a:rPr b="1" lang="es"/>
              <a:t> (20-25%)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Tumores hipofisarios o cerebrales(15-20%)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Cirugía</a:t>
            </a:r>
            <a:r>
              <a:rPr b="1" lang="es"/>
              <a:t> </a:t>
            </a:r>
            <a:r>
              <a:rPr b="1" lang="es"/>
              <a:t>transcraneal</a:t>
            </a:r>
            <a:r>
              <a:rPr b="1" lang="es"/>
              <a:t> (15-20%)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Enfermedades infiltrativas.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	Sarcoidosis.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	Amiloidosis.</a:t>
            </a:r>
            <a:endParaRPr b="1"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Lesiones vasculares.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Encefalopatía</a:t>
            </a:r>
            <a:r>
              <a:rPr b="1" lang="es"/>
              <a:t> </a:t>
            </a:r>
            <a:r>
              <a:rPr b="1" lang="es"/>
              <a:t>Hipóxica</a:t>
            </a:r>
            <a:r>
              <a:rPr b="1" lang="es"/>
              <a:t>.</a:t>
            </a: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Congénitas</a:t>
            </a:r>
            <a:r>
              <a:rPr b="1" lang="es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Diabetes </a:t>
            </a:r>
            <a:r>
              <a:rPr b="1" lang="es"/>
              <a:t>insípida</a:t>
            </a:r>
            <a:r>
              <a:rPr b="1" lang="es"/>
              <a:t> familiar (</a:t>
            </a:r>
            <a:r>
              <a:rPr b="1" lang="es"/>
              <a:t>autosómica</a:t>
            </a:r>
            <a:r>
              <a:rPr b="1" lang="es"/>
              <a:t> dominante, </a:t>
            </a:r>
            <a:r>
              <a:rPr b="1" lang="es"/>
              <a:t>mutación</a:t>
            </a:r>
            <a:r>
              <a:rPr b="1" lang="es"/>
              <a:t> en prohormona)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	</a:t>
            </a:r>
            <a:r>
              <a:rPr b="1" lang="es"/>
              <a:t>Síndrome</a:t>
            </a:r>
            <a:r>
              <a:rPr b="1" lang="es"/>
              <a:t> de Wolfman (</a:t>
            </a:r>
            <a:r>
              <a:rPr b="1" lang="es"/>
              <a:t>autosómica</a:t>
            </a:r>
            <a:r>
              <a:rPr b="1" lang="es"/>
              <a:t> </a:t>
            </a:r>
            <a:r>
              <a:rPr b="1" lang="es"/>
              <a:t>recesiva</a:t>
            </a:r>
            <a:r>
              <a:rPr b="1" lang="es"/>
              <a:t>)</a:t>
            </a:r>
            <a:endParaRPr b="1"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075" y="408775"/>
            <a:ext cx="4012924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s" u="sng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PATRONES SEGÚN EL CURSO EVOLUTIVO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Diabetes </a:t>
            </a:r>
            <a:r>
              <a:rPr lang="es" sz="3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insípida</a:t>
            </a:r>
            <a:r>
              <a:rPr lang="es" sz="3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transitoria</a:t>
            </a:r>
            <a:endParaRPr sz="30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32575"/>
            <a:ext cx="6438900" cy="2533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6350" y="2198675"/>
            <a:ext cx="18859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s" u="sng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PATRONES SEGÚN EL CURSO EVOLUTIVO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" sz="300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Diabetes insípida permanente</a:t>
            </a:r>
            <a:endParaRPr sz="2400"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700" y="2042450"/>
            <a:ext cx="2306511" cy="1979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2507" y="2042450"/>
            <a:ext cx="3021991" cy="19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2534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s" u="sng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PATRONES SEGÚN EL CURSO EVOLUTIVO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9736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3000"/>
              <a:t>Diabetes </a:t>
            </a:r>
            <a:r>
              <a:rPr lang="es" sz="3000"/>
              <a:t>insípida</a:t>
            </a:r>
            <a:r>
              <a:rPr lang="es" sz="3000"/>
              <a:t> </a:t>
            </a:r>
            <a:r>
              <a:rPr lang="es" sz="3000"/>
              <a:t>trifásico</a:t>
            </a:r>
            <a:r>
              <a:rPr lang="es" sz="3000"/>
              <a:t>.</a:t>
            </a:r>
            <a:endParaRPr sz="3000"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25" y="1704800"/>
            <a:ext cx="5129401" cy="3148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8299" y="1936860"/>
            <a:ext cx="2904000" cy="2248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DIABETES </a:t>
            </a:r>
            <a:r>
              <a:rPr lang="es" sz="3020">
                <a:solidFill>
                  <a:srgbClr val="0000FF"/>
                </a:solidFill>
              </a:rPr>
              <a:t>INSÍPIDA</a:t>
            </a:r>
            <a:r>
              <a:rPr lang="es" sz="3020">
                <a:solidFill>
                  <a:srgbClr val="0000FF"/>
                </a:solidFill>
              </a:rPr>
              <a:t> </a:t>
            </a:r>
            <a:r>
              <a:rPr lang="es" sz="3020">
                <a:solidFill>
                  <a:srgbClr val="0000FF"/>
                </a:solidFill>
              </a:rPr>
              <a:t>NEFROGÉNICA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78135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000000"/>
                </a:solidFill>
              </a:rPr>
              <a:t>-</a:t>
            </a:r>
            <a:r>
              <a:rPr lang="es" sz="2600">
                <a:solidFill>
                  <a:srgbClr val="000000"/>
                </a:solidFill>
              </a:rPr>
              <a:t>Incapacidad de las </a:t>
            </a:r>
            <a:r>
              <a:rPr lang="es" sz="2600">
                <a:solidFill>
                  <a:srgbClr val="000000"/>
                </a:solidFill>
              </a:rPr>
              <a:t>células</a:t>
            </a:r>
            <a:r>
              <a:rPr lang="es" sz="2600">
                <a:solidFill>
                  <a:srgbClr val="000000"/>
                </a:solidFill>
              </a:rPr>
              <a:t> del </a:t>
            </a:r>
            <a:r>
              <a:rPr lang="es" sz="2600">
                <a:solidFill>
                  <a:srgbClr val="000000"/>
                </a:solidFill>
              </a:rPr>
              <a:t>túbulo</a:t>
            </a:r>
            <a:r>
              <a:rPr lang="es" sz="2600">
                <a:solidFill>
                  <a:srgbClr val="000000"/>
                </a:solidFill>
              </a:rPr>
              <a:t> </a:t>
            </a:r>
            <a:r>
              <a:rPr lang="es" sz="2600">
                <a:solidFill>
                  <a:srgbClr val="000000"/>
                </a:solidFill>
              </a:rPr>
              <a:t>colector</a:t>
            </a:r>
            <a:r>
              <a:rPr lang="es" sz="2600">
                <a:solidFill>
                  <a:srgbClr val="000000"/>
                </a:solidFill>
              </a:rPr>
              <a:t> para responder a la ADH.(</a:t>
            </a:r>
            <a:r>
              <a:rPr i="1" lang="es" sz="2600">
                <a:solidFill>
                  <a:srgbClr val="000000"/>
                </a:solidFill>
              </a:rPr>
              <a:t>parcial o total)</a:t>
            </a:r>
            <a:endParaRPr i="1" sz="2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000000"/>
                </a:solidFill>
              </a:rPr>
              <a:t>-Cambios en la osmolaridad en la </a:t>
            </a:r>
            <a:r>
              <a:rPr lang="es" sz="2600">
                <a:solidFill>
                  <a:srgbClr val="000000"/>
                </a:solidFill>
              </a:rPr>
              <a:t>médula</a:t>
            </a:r>
            <a:r>
              <a:rPr lang="es" sz="2600">
                <a:solidFill>
                  <a:srgbClr val="000000"/>
                </a:solidFill>
              </a:rPr>
              <a:t> renal.</a:t>
            </a:r>
            <a:endParaRPr sz="2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000000"/>
                </a:solidFill>
              </a:rPr>
              <a:t>-Alteracion de  receptor V2.</a:t>
            </a:r>
            <a:endParaRPr sz="2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600">
                <a:solidFill>
                  <a:srgbClr val="000000"/>
                </a:solidFill>
              </a:rPr>
              <a:t>-De </a:t>
            </a:r>
            <a:r>
              <a:rPr lang="es" sz="2600">
                <a:solidFill>
                  <a:srgbClr val="000000"/>
                </a:solidFill>
              </a:rPr>
              <a:t>instalación</a:t>
            </a:r>
            <a:r>
              <a:rPr lang="es" sz="2600">
                <a:solidFill>
                  <a:srgbClr val="000000"/>
                </a:solidFill>
              </a:rPr>
              <a:t> </a:t>
            </a:r>
            <a:r>
              <a:rPr lang="es" sz="2600">
                <a:solidFill>
                  <a:srgbClr val="000000"/>
                </a:solidFill>
              </a:rPr>
              <a:t>más</a:t>
            </a:r>
            <a:r>
              <a:rPr lang="es" sz="2600">
                <a:solidFill>
                  <a:srgbClr val="000000"/>
                </a:solidFill>
              </a:rPr>
              <a:t> lenta.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155250"/>
            <a:ext cx="8520600" cy="70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ETIOLOGÍA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400" y="720575"/>
            <a:ext cx="6460425" cy="43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280950"/>
            <a:ext cx="8520600" cy="7368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DIABETES </a:t>
            </a:r>
            <a:r>
              <a:rPr lang="es">
                <a:solidFill>
                  <a:srgbClr val="0000FF"/>
                </a:solidFill>
              </a:rPr>
              <a:t>INSÍPIDA</a:t>
            </a:r>
            <a:r>
              <a:rPr lang="es">
                <a:solidFill>
                  <a:srgbClr val="0000FF"/>
                </a:solidFill>
              </a:rPr>
              <a:t> GESTACIONAL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39510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s" sz="2300">
                <a:solidFill>
                  <a:srgbClr val="000000"/>
                </a:solidFill>
              </a:rPr>
              <a:t>Aquella que se desarrolla en el embarazo.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s" sz="2300">
                <a:solidFill>
                  <a:srgbClr val="000000"/>
                </a:solidFill>
              </a:rPr>
              <a:t>Causada por aumento en el metabolismo de ADH.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s" sz="2300">
                <a:solidFill>
                  <a:srgbClr val="000000"/>
                </a:solidFill>
              </a:rPr>
              <a:t>Revierte a las pocas semanas culminando el embarazo.</a:t>
            </a:r>
            <a:endParaRPr sz="2300">
              <a:solidFill>
                <a:srgbClr val="000000"/>
              </a:solidFill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100" y="1170125"/>
            <a:ext cx="4576500" cy="2974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POLIDIPSIA</a:t>
            </a:r>
            <a:r>
              <a:rPr lang="es">
                <a:solidFill>
                  <a:srgbClr val="0000FF"/>
                </a:solidFill>
              </a:rPr>
              <a:t> PRIMARIA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50553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Char char="●"/>
            </a:pPr>
            <a:r>
              <a:rPr lang="es" sz="2500">
                <a:solidFill>
                  <a:srgbClr val="262626"/>
                </a:solidFill>
              </a:rPr>
              <a:t>Generada por la ingesta excesiva de </a:t>
            </a:r>
            <a:r>
              <a:rPr lang="es" sz="2500">
                <a:solidFill>
                  <a:srgbClr val="262626"/>
                </a:solidFill>
              </a:rPr>
              <a:t>líquidos</a:t>
            </a:r>
            <a:r>
              <a:rPr lang="es" sz="2500">
                <a:solidFill>
                  <a:srgbClr val="262626"/>
                </a:solidFill>
              </a:rPr>
              <a:t>, superando a la </a:t>
            </a:r>
            <a:r>
              <a:rPr lang="es" sz="2500">
                <a:solidFill>
                  <a:srgbClr val="262626"/>
                </a:solidFill>
              </a:rPr>
              <a:t>acción</a:t>
            </a:r>
            <a:r>
              <a:rPr lang="es" sz="2500">
                <a:solidFill>
                  <a:srgbClr val="262626"/>
                </a:solidFill>
              </a:rPr>
              <a:t> de la ADH.</a:t>
            </a:r>
            <a:endParaRPr sz="2500">
              <a:solidFill>
                <a:srgbClr val="262626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Char char="●"/>
            </a:pPr>
            <a:r>
              <a:rPr lang="es" sz="2500">
                <a:solidFill>
                  <a:srgbClr val="262626"/>
                </a:solidFill>
              </a:rPr>
              <a:t>P</a:t>
            </a:r>
            <a:r>
              <a:rPr lang="es" sz="2500">
                <a:solidFill>
                  <a:srgbClr val="262626"/>
                </a:solidFill>
              </a:rPr>
              <a:t>roducción</a:t>
            </a:r>
            <a:r>
              <a:rPr lang="es" sz="2500">
                <a:solidFill>
                  <a:srgbClr val="262626"/>
                </a:solidFill>
              </a:rPr>
              <a:t> suprimida de ADH y </a:t>
            </a:r>
            <a:r>
              <a:rPr lang="es" sz="2500">
                <a:solidFill>
                  <a:srgbClr val="262626"/>
                </a:solidFill>
              </a:rPr>
              <a:t>supresión</a:t>
            </a:r>
            <a:r>
              <a:rPr lang="es" sz="2500">
                <a:solidFill>
                  <a:srgbClr val="262626"/>
                </a:solidFill>
              </a:rPr>
              <a:t> de AQP2.</a:t>
            </a:r>
            <a:endParaRPr sz="250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950" y="1078363"/>
            <a:ext cx="2853600" cy="2986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00" y="229875"/>
            <a:ext cx="8863050" cy="48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>
            <p:ph type="title"/>
          </p:nvPr>
        </p:nvSpPr>
        <p:spPr>
          <a:xfrm>
            <a:off x="401075" y="421425"/>
            <a:ext cx="2881200" cy="817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000FF"/>
                </a:solidFill>
              </a:rPr>
              <a:t>ETIOLOGÍA</a:t>
            </a:r>
            <a:endParaRPr sz="3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11297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FISIOPATOLOGÍA DE LA DIABETES INSÍPIDA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744" y="685675"/>
            <a:ext cx="5449132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260600" y="151300"/>
            <a:ext cx="8520600" cy="855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0000FF"/>
                </a:solidFill>
              </a:rPr>
              <a:t>MANIFESTACIONES </a:t>
            </a:r>
            <a:r>
              <a:rPr lang="es" sz="3000">
                <a:solidFill>
                  <a:srgbClr val="0000FF"/>
                </a:solidFill>
              </a:rPr>
              <a:t>CLÍNICAS</a:t>
            </a:r>
            <a:endParaRPr sz="3000">
              <a:solidFill>
                <a:srgbClr val="0000FF"/>
              </a:solidFill>
            </a:endParaRPr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Poliuria (3L-18L)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Sed excesiva (ausente en pacientes con daño en osmostatos)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Polidipsia.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Nicturia.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Hipernatremia (pacientes con PP pueden tener incluso hiponatremia)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hiperuricemia</a:t>
            </a:r>
            <a:r>
              <a:rPr b="1" lang="es" sz="2100">
                <a:solidFill>
                  <a:srgbClr val="262626"/>
                </a:solidFill>
              </a:rPr>
              <a:t>.</a:t>
            </a:r>
            <a:endParaRPr b="1" sz="2100"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b="1" lang="es" sz="2100">
                <a:solidFill>
                  <a:srgbClr val="262626"/>
                </a:solidFill>
              </a:rPr>
              <a:t>L</a:t>
            </a:r>
            <a:r>
              <a:rPr b="1" lang="es" sz="2100">
                <a:solidFill>
                  <a:srgbClr val="262626"/>
                </a:solidFill>
              </a:rPr>
              <a:t>esión</a:t>
            </a:r>
            <a:r>
              <a:rPr b="1" lang="es" sz="2100">
                <a:solidFill>
                  <a:srgbClr val="262626"/>
                </a:solidFill>
              </a:rPr>
              <a:t> renal aguda.</a:t>
            </a:r>
            <a:endParaRPr b="1" sz="210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223625"/>
            <a:ext cx="8520600" cy="794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>
                <a:solidFill>
                  <a:srgbClr val="0000FF"/>
                </a:solidFill>
              </a:rPr>
              <a:t>DIAGNÓSTICO</a:t>
            </a:r>
            <a:endParaRPr sz="3120">
              <a:solidFill>
                <a:srgbClr val="0000FF"/>
              </a:solidFill>
            </a:endParaRPr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625" y="1017725"/>
            <a:ext cx="8520600" cy="3993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9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rgbClr val="FF0000"/>
                </a:solidFill>
              </a:rPr>
              <a:t>Clínico</a:t>
            </a:r>
            <a:r>
              <a:rPr b="1" i="1" lang="es" sz="2400">
                <a:solidFill>
                  <a:srgbClr val="FF0000"/>
                </a:solidFill>
              </a:rPr>
              <a:t>:</a:t>
            </a:r>
            <a:endParaRPr b="1" i="1" sz="24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Pensar en DI en todos los pacientes con poliuria significativa (&gt;50ml/kg/</a:t>
            </a:r>
            <a:r>
              <a:rPr lang="es" sz="2000">
                <a:solidFill>
                  <a:srgbClr val="000000"/>
                </a:solidFill>
              </a:rPr>
              <a:t>día</a:t>
            </a:r>
            <a:r>
              <a:rPr lang="es" sz="2000">
                <a:solidFill>
                  <a:srgbClr val="000000"/>
                </a:solidFill>
              </a:rPr>
              <a:t>).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presencia </a:t>
            </a:r>
            <a:r>
              <a:rPr lang="es" sz="2000">
                <a:solidFill>
                  <a:srgbClr val="000000"/>
                </a:solidFill>
              </a:rPr>
              <a:t>de nicturia</a:t>
            </a:r>
            <a:r>
              <a:rPr lang="e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Ingesta de agua y porque motivo lo realiza.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Antecedente de Qx intracraneana.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Pérdida</a:t>
            </a:r>
            <a:r>
              <a:rPr lang="es" sz="2000">
                <a:solidFill>
                  <a:srgbClr val="000000"/>
                </a:solidFill>
              </a:rPr>
              <a:t> de campos visuales.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Traumatismos </a:t>
            </a:r>
            <a:r>
              <a:rPr lang="es" sz="2000">
                <a:solidFill>
                  <a:srgbClr val="000000"/>
                </a:solidFill>
              </a:rPr>
              <a:t>craneoencefálicos</a:t>
            </a:r>
            <a:r>
              <a:rPr lang="e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Enfermedades concomitantes.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Uso de medicamentos.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" sz="2000">
                <a:solidFill>
                  <a:srgbClr val="000000"/>
                </a:solidFill>
              </a:rPr>
              <a:t>Antecedentes heredofamiliares.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136675"/>
            <a:ext cx="8520600" cy="571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DIAGNÓSTICO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917625"/>
            <a:ext cx="6123600" cy="414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2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389">
                <a:solidFill>
                  <a:srgbClr val="FF0000"/>
                </a:solidFill>
              </a:rPr>
              <a:t>Laboratorio:</a:t>
            </a:r>
            <a:endParaRPr b="1" i="1" sz="2389">
              <a:solidFill>
                <a:srgbClr val="FF0000"/>
              </a:solidFill>
            </a:endParaRPr>
          </a:p>
          <a:p>
            <a:pPr indent="-231848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s" sz="2389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Diuresis elevada, generalmente &gt; 40-50 ml/kg de peso/día en adultos (normalmente 3-3,5 l/día) </a:t>
            </a:r>
            <a:endParaRPr sz="2389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84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s" sz="2389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Un volumen de orina superior a 200-300 ml por hora durante 2-3 h consecutivas es un indicador razonable para sospechar el diagnóstico</a:t>
            </a:r>
            <a:endParaRPr sz="2389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84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s" sz="2389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Osmolalidad urinaria &lt; 300 mOsm/kg o inapropiadamente baja en relación con la plasmática.</a:t>
            </a:r>
            <a:endParaRPr sz="2389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848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s" sz="2389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Hiperosmolaridad sérica, hipernatremia. </a:t>
            </a:r>
            <a:endParaRPr i="1" sz="2389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389">
              <a:solidFill>
                <a:srgbClr val="000000"/>
              </a:solidFill>
            </a:endParaRPr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Osm urinaria: (NaU + KU) 2 x Glu/18 + BUN/2.8</a:t>
            </a:r>
            <a:endParaRPr b="1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rgbClr val="040C28"/>
                </a:solidFill>
              </a:rPr>
              <a:t>OsmU=2×[sodio en orina (mmol/l)+potasio en orina (mmol/l)]+urea en orina (mg/dl)/5,8</a:t>
            </a:r>
            <a:endParaRPr b="1"/>
          </a:p>
        </p:txBody>
      </p:sp>
      <p:pic>
        <p:nvPicPr>
          <p:cNvPr id="219" name="Google Shape;2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125" y="784800"/>
            <a:ext cx="2303025" cy="32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691863"/>
            <a:ext cx="8906301" cy="3759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>
                <a:solidFill>
                  <a:srgbClr val="0000FF"/>
                </a:solidFill>
              </a:rPr>
              <a:t>DIAGNÓSTICO</a:t>
            </a:r>
            <a:r>
              <a:rPr lang="es" sz="3120">
                <a:solidFill>
                  <a:srgbClr val="0000FF"/>
                </a:solidFill>
              </a:rPr>
              <a:t> DIFERENCIAL</a:t>
            </a:r>
            <a:endParaRPr sz="3120">
              <a:solidFill>
                <a:srgbClr val="0000FF"/>
              </a:solidFill>
            </a:endParaRPr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7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61626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b="1" lang="es" sz="2730">
                <a:solidFill>
                  <a:srgbClr val="262626"/>
                </a:solidFill>
              </a:rPr>
              <a:t>Poliuria osmótica</a:t>
            </a:r>
            <a:r>
              <a:rPr lang="es" sz="2730">
                <a:solidFill>
                  <a:srgbClr val="262626"/>
                </a:solidFill>
              </a:rPr>
              <a:t>: debida a la presencia de glucosuria en pacientes con hiperglucemia, la Osm urinaria puede resultar falsamente incrementada por la glucosuria, y la natremia estar  más baja en presencia de hiperglucemia.</a:t>
            </a:r>
            <a:endParaRPr sz="2730">
              <a:solidFill>
                <a:srgbClr val="262626"/>
              </a:solidFill>
            </a:endParaRPr>
          </a:p>
          <a:p>
            <a:pPr indent="-261626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b="1" lang="es" sz="2730">
                <a:solidFill>
                  <a:srgbClr val="262626"/>
                </a:solidFill>
              </a:rPr>
              <a:t>Excreción durante el postoperatorio </a:t>
            </a:r>
            <a:r>
              <a:rPr lang="es" sz="2730">
                <a:solidFill>
                  <a:srgbClr val="262626"/>
                </a:solidFill>
              </a:rPr>
              <a:t>de una administración excesiva de líquidos endovenosos durante el periodo perioperatorio: </a:t>
            </a:r>
            <a:r>
              <a:rPr lang="es" sz="2730">
                <a:solidFill>
                  <a:srgbClr val="FF0000"/>
                </a:solidFill>
              </a:rPr>
              <a:t>es muy frecuente.</a:t>
            </a:r>
            <a:r>
              <a:rPr lang="es" sz="2730">
                <a:solidFill>
                  <a:srgbClr val="262626"/>
                </a:solidFill>
              </a:rPr>
              <a:t> </a:t>
            </a:r>
            <a:endParaRPr sz="2730">
              <a:solidFill>
                <a:srgbClr val="262626"/>
              </a:solidFill>
            </a:endParaRPr>
          </a:p>
          <a:p>
            <a:pPr indent="-261626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b="1" lang="es" sz="2730">
                <a:solidFill>
                  <a:srgbClr val="262626"/>
                </a:solidFill>
              </a:rPr>
              <a:t>Acromegalia</a:t>
            </a:r>
            <a:r>
              <a:rPr lang="es" sz="2730">
                <a:solidFill>
                  <a:srgbClr val="262626"/>
                </a:solidFill>
              </a:rPr>
              <a:t>: se puede producir incremento de la diuresis tras la resección del adenoma. </a:t>
            </a:r>
            <a:endParaRPr sz="2730">
              <a:solidFill>
                <a:srgbClr val="26262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25" y="445025"/>
            <a:ext cx="8520600" cy="4233094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311700" y="12200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PRUEBA DE </a:t>
            </a:r>
            <a:r>
              <a:rPr lang="es">
                <a:solidFill>
                  <a:srgbClr val="0000FF"/>
                </a:solidFill>
              </a:rPr>
              <a:t>DESHIDRATACIÓN</a:t>
            </a:r>
            <a:r>
              <a:rPr lang="es">
                <a:solidFill>
                  <a:srgbClr val="0000FF"/>
                </a:solidFill>
              </a:rPr>
              <a:t> (TEST DE MILLER)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33"/>
            <a:ext cx="9144000" cy="344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566738"/>
            <a:ext cx="90297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FF0000"/>
                </a:solidFill>
              </a:rPr>
              <a:t>PRUEBA CON DESMOPRESINA</a:t>
            </a:r>
            <a:endParaRPr sz="3020">
              <a:solidFill>
                <a:srgbClr val="FF0000"/>
              </a:solidFill>
            </a:endParaRPr>
          </a:p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50" y="1366625"/>
            <a:ext cx="8808575" cy="27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22140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DIAGNÓSTICO</a:t>
            </a:r>
            <a:r>
              <a:rPr lang="es" sz="3020">
                <a:solidFill>
                  <a:srgbClr val="0000FF"/>
                </a:solidFill>
              </a:rPr>
              <a:t> </a:t>
            </a:r>
            <a:r>
              <a:rPr lang="es" sz="3020">
                <a:solidFill>
                  <a:srgbClr val="0000FF"/>
                </a:solidFill>
              </a:rPr>
              <a:t>ETIOLÓGICO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956800"/>
            <a:ext cx="8520600" cy="3807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2959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TRATAMIENTO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5"/>
          <p:cNvSpPr txBox="1"/>
          <p:nvPr/>
        </p:nvSpPr>
        <p:spPr>
          <a:xfrm>
            <a:off x="362225" y="1127350"/>
            <a:ext cx="8319000" cy="3263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objetivo del tratamiento es asegurar la restauración y/o mantenimiento de la homeostasis osmótica</a:t>
            </a:r>
            <a:endParaRPr sz="2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El tratamiento farmacológico se reserva para aquellos casos en que la poliuria es excesiva e incomoda al paciente, o si aparece hipernatremia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311700" y="1965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TRATAMIENTO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311700" y="996125"/>
            <a:ext cx="7753800" cy="3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27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 desmopresina un análogo de AVP que interacciona exclusivamente con los receptores V2 </a:t>
            </a:r>
            <a:endParaRPr sz="1700">
              <a:solidFill>
                <a:schemeClr val="dk1"/>
              </a:solidFill>
            </a:endParaRPr>
          </a:p>
          <a:p>
            <a:pPr indent="0" lvl="0" marL="228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 administración consigue una rápida reducción de la diuresis, con una duración de su efecto de 6-12 h. Puede administrarse por vía subcutánea (dosis de 1-2g), muy usada en el postoperatorio inmediato, intranasal (10g) u oral (0,1-0.2mg)</a:t>
            </a:r>
            <a:endParaRPr sz="2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177" y="3225650"/>
            <a:ext cx="2285350" cy="18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343350" y="10957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20">
                <a:solidFill>
                  <a:srgbClr val="0000FF"/>
                </a:solidFill>
              </a:rPr>
              <a:t>TRATAMIENTO DI </a:t>
            </a:r>
            <a:r>
              <a:rPr lang="es" sz="3020">
                <a:solidFill>
                  <a:srgbClr val="0000FF"/>
                </a:solidFill>
              </a:rPr>
              <a:t>NEFROGÉNICA</a:t>
            </a:r>
            <a:endParaRPr sz="3020">
              <a:solidFill>
                <a:srgbClr val="0000FF"/>
              </a:solidFill>
            </a:endParaRPr>
          </a:p>
        </p:txBody>
      </p:sp>
      <p:sp>
        <p:nvSpPr>
          <p:cNvPr id="287" name="Google Shape;287;p47"/>
          <p:cNvSpPr txBox="1"/>
          <p:nvPr>
            <p:ph idx="1" type="body"/>
          </p:nvPr>
        </p:nvSpPr>
        <p:spPr>
          <a:xfrm>
            <a:off x="311700" y="682275"/>
            <a:ext cx="8583900" cy="43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Quitar factor desencadenante.</a:t>
            </a:r>
            <a:endParaRPr b="1" sz="2584">
              <a:solidFill>
                <a:srgbClr val="26262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Restricción</a:t>
            </a:r>
            <a:r>
              <a:rPr b="1" lang="es" sz="2584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 sal y </a:t>
            </a:r>
            <a:r>
              <a:rPr b="1" lang="es" sz="2584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proteínas</a:t>
            </a:r>
            <a:r>
              <a:rPr b="1" lang="es" sz="2584">
                <a:solidFill>
                  <a:srgbClr val="26262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endParaRPr b="1" sz="2584">
              <a:solidFill>
                <a:srgbClr val="26262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2567"/>
              <a:buFont typeface="Arial"/>
              <a:buNone/>
            </a:pPr>
            <a:r>
              <a:rPr b="1" lang="es" sz="2584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Tiazidas (Ej. hidroclorotiazida)</a:t>
            </a:r>
            <a:endParaRPr b="1" sz="2584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Mecanismo: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Provocan una ligera depleción de volumen, lo que paradójicamente </a:t>
            </a: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aumenta la reabsorción de sodio y agua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 el túbulo proximal, reduciendo así la cantidad de agua que llega al túbulo colector.</a:t>
            </a:r>
            <a:b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Efecto neto: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Disminuye el volumen de orina.</a:t>
            </a:r>
            <a:endParaRPr sz="2584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Amilorida</a:t>
            </a:r>
            <a:endParaRPr b="1" sz="2584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Mecanismo: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Diurético ahorrador de potasio que bloquea los canales de sodio en el túbulo colector.</a:t>
            </a:r>
            <a:b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Indicaciones especiales: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Útil especialmente en casos de </a:t>
            </a: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 nefrogénica inducida por litio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ya que protege contra la entrada de litio a las células renales.</a:t>
            </a:r>
            <a:endParaRPr sz="2584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2567"/>
              <a:buFont typeface="Arial"/>
              <a:buNone/>
            </a:pP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AINEs (Ej. indometacina o ibuprofeno)</a:t>
            </a:r>
            <a:endParaRPr b="1" sz="2584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Mecanismo: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Inhiben la síntesis de prostaglandinas, que normalmente antagonizan la acción de la ADH. Al reducir las prostaglandinas, se mejora parcialmente la acción residual de ADH.</a:t>
            </a:r>
            <a:b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Uso: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Se utilizan como tratamiento </a:t>
            </a:r>
            <a:r>
              <a:rPr b="1"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adjunto</a:t>
            </a:r>
            <a:r>
              <a:rPr lang="es" sz="2584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 casos refractarios</a:t>
            </a:r>
            <a:endParaRPr sz="2584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01" cy="2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58282"/>
            <a:ext cx="4260300" cy="1158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9144001" cy="22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571750"/>
            <a:ext cx="4409200" cy="105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25" y="507100"/>
            <a:ext cx="8886399" cy="34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22026"/>
            <a:ext cx="7701950" cy="26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75" y="1098750"/>
            <a:ext cx="8803676" cy="23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311700" y="20629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6720">
                <a:solidFill>
                  <a:srgbClr val="0000FF"/>
                </a:solidFill>
              </a:rPr>
              <a:t>MUCHAS GRACIAS</a:t>
            </a:r>
            <a:endParaRPr sz="672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