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7BC3CF-0943-4C15-A707-C5ECBC362E6E}">
  <a:tblStyle styleId="{197BC3CF-0943-4C15-A707-C5ECBC362E6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7a2834d2d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7a2834d2d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7a2834d2d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7a2834d2d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7a2834d2d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7a2834d2d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7a2834d2d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7a2834d2d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a2834d2d0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7a2834d2d0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7a2834d2d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7a2834d2d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7a2834d2d0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7a2834d2d0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7a2834d2d0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7a2834d2d0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7a2834d2d0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7a2834d2d0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7a2834d2d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7a2834d2d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7a2834d2d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7a2834d2d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7a397bbb8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7a397bbb8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7a397bbb8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7a397bbb8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7a397bbb8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7a397bbb8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7a397bbb8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7a397bbb8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a397bbb8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a397bbb8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7a397bbb8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7a397bbb8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7a397bbb8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7a397bbb8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7a397bbb8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7a397bbb8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7a397bbb89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7a397bbb89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7a397bbb8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7a397bbb8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7a397bbb89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7a397bbb89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7a397bbb8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7a397bbb8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7a397bbb8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7a397bbb8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7a397bbb89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7a397bbb89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7a397bbb89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7a397bbb89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7a397bbb89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7a397bbb8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7a397bbb89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7a397bbb89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7a397bbb89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7a397bbb89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7a397bbb89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7a397bbb89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7a397bbb89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7a397bbb89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7a397bbb89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7a397bbb89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243fd326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243fd326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243fd326f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243fd326f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243fd326f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243fd326f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243fd326f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243fd326f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243fd326f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243fd326f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243fd326f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243fd326f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63d6e8ba4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63d6e8ba4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63d6e8ba4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63d6e8ba4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63d6e8ba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63d6e8ba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63d6e8ba4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63d6e8ba4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63d6e8ba4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63d6e8ba4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63d6e8ba49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63d6e8ba49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63d6e8ba49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63d6e8ba4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63d6e8ba4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63d6e8ba4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74cbfc3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f74cbfc3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63d6e8ba4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63d6e8ba4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7a397bbb89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7a397bbb89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es.wikipedia.org/wiki/Gl%C3%A1ndulas_suprarrenales" TargetMode="External"/><Relationship Id="rId4" Type="http://schemas.openxmlformats.org/officeDocument/2006/relationships/hyperlink" Target="https://es.wikipedia.org/wiki/S%C3%ADndrome_de_Cushing" TargetMode="External"/><Relationship Id="rId5" Type="http://schemas.openxmlformats.org/officeDocument/2006/relationships/hyperlink" Target="https://es.wikipedia.org/wiki/Cortisol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84000"/>
              </a:srgbClr>
            </a:outerShdw>
          </a:effectLst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1524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s" sz="6139">
                <a:solidFill>
                  <a:srgbClr val="0000FF"/>
                </a:solidFill>
                <a:highlight>
                  <a:srgbClr val="F5F5F5"/>
                </a:highlight>
              </a:rPr>
              <a:t>Síndrome de Cushing</a:t>
            </a:r>
            <a:endParaRPr b="1" sz="6539">
              <a:solidFill>
                <a:srgbClr val="0000FF"/>
              </a:solidFill>
              <a:highlight>
                <a:srgbClr val="F5F5F5"/>
              </a:highlight>
            </a:endParaRPr>
          </a:p>
          <a:p>
            <a:pPr indent="0" lvl="0" marL="152400" marR="152400" rtl="0" algn="ctr">
              <a:spcBef>
                <a:spcPts val="1100"/>
              </a:spcBef>
              <a:spcAft>
                <a:spcPts val="1100"/>
              </a:spcAft>
              <a:buNone/>
            </a:pPr>
            <a:r>
              <a:t/>
            </a:r>
            <a:endParaRPr b="1" sz="1150">
              <a:highlight>
                <a:srgbClr val="F5F5F5"/>
              </a:highlight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023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61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</a:rPr>
              <a:t>MEDICINA INTERNA III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</a:rPr>
              <a:t>DR: MALCO RUBIN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</a:rPr>
              <a:t>2026</a:t>
            </a:r>
            <a:endParaRPr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93175"/>
            <a:ext cx="8520600" cy="824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66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solidFill>
                  <a:srgbClr val="0000FF"/>
                </a:solidFill>
              </a:rPr>
              <a:t>Definición</a:t>
            </a:r>
            <a:endParaRPr b="1" sz="3200">
              <a:solidFill>
                <a:srgbClr val="0000FF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2592">
                <a:solidFill>
                  <a:schemeClr val="dk1"/>
                </a:solidFill>
              </a:rPr>
              <a:t>Conjunto de signos y </a:t>
            </a:r>
            <a:r>
              <a:rPr lang="es" sz="2592">
                <a:solidFill>
                  <a:schemeClr val="dk1"/>
                </a:solidFill>
              </a:rPr>
              <a:t>síntomas</a:t>
            </a:r>
            <a:r>
              <a:rPr lang="es" sz="2592">
                <a:solidFill>
                  <a:schemeClr val="dk1"/>
                </a:solidFill>
              </a:rPr>
              <a:t> de diverso origen</a:t>
            </a:r>
            <a:r>
              <a:rPr lang="es" sz="2592">
                <a:solidFill>
                  <a:schemeClr val="dk1"/>
                </a:solidFill>
              </a:rPr>
              <a:t>  como resultado de la exposición crónica al exceso de glucocorticoides</a:t>
            </a:r>
            <a:endParaRPr sz="2592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D</a:t>
            </a:r>
            <a:r>
              <a:rPr lang="es">
                <a:solidFill>
                  <a:schemeClr val="dk1"/>
                </a:solidFill>
              </a:rPr>
              <a:t>escrito por primera vez en 1932 por Harvey W. Cushing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9475" y="2212775"/>
            <a:ext cx="1882275" cy="2846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63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66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FF"/>
                </a:solidFill>
              </a:rPr>
              <a:t>INTRODUCCIÓN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169025" y="1152475"/>
            <a:ext cx="87657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es" sz="2000">
                <a:solidFill>
                  <a:srgbClr val="000000"/>
                </a:solidFill>
              </a:rPr>
              <a:t>El consumo de glucocorticoides terapéuticos en dosis altas (causa +frec)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es" sz="2000">
                <a:solidFill>
                  <a:srgbClr val="000000"/>
                </a:solidFill>
              </a:rPr>
              <a:t>Menor proporción las lesiones tumorales hipofisarias, adrenales o en otras localizaciones ectópicas. 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es" sz="2000">
                <a:solidFill>
                  <a:srgbClr val="000000"/>
                </a:solidFill>
              </a:rPr>
              <a:t>Poco frecuente (0,7 a 2,4 por un millón de personas por año)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es" sz="2000">
                <a:solidFill>
                  <a:srgbClr val="000000"/>
                </a:solidFill>
              </a:rPr>
              <a:t>Morbimortalidad asociada con ella es importante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es" sz="2000">
                <a:solidFill>
                  <a:srgbClr val="000000"/>
                </a:solidFill>
              </a:rPr>
              <a:t>El estudio </a:t>
            </a:r>
            <a:r>
              <a:rPr lang="es" sz="2000">
                <a:solidFill>
                  <a:srgbClr val="000000"/>
                </a:solidFill>
              </a:rPr>
              <a:t>de diagnóstico</a:t>
            </a:r>
            <a:r>
              <a:rPr lang="es" sz="2000">
                <a:solidFill>
                  <a:srgbClr val="000000"/>
                </a:solidFill>
              </a:rPr>
              <a:t> puede llegar a ser un gran dilema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7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</a:t>
            </a:r>
            <a:r>
              <a:rPr b="1" lang="es">
                <a:solidFill>
                  <a:srgbClr val="0000FF"/>
                </a:solidFill>
              </a:rPr>
              <a:t>Tipos de síndrome de Cushing (</a:t>
            </a:r>
            <a:r>
              <a:rPr b="1" lang="es">
                <a:solidFill>
                  <a:srgbClr val="0000FF"/>
                </a:solidFill>
              </a:rPr>
              <a:t>clasificación</a:t>
            </a:r>
            <a:r>
              <a:rPr b="1" lang="es">
                <a:solidFill>
                  <a:srgbClr val="0000FF"/>
                </a:solidFill>
              </a:rPr>
              <a:t>)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A- E</a:t>
            </a:r>
            <a:r>
              <a:rPr b="1" lang="es" sz="1900">
                <a:solidFill>
                  <a:schemeClr val="dk1"/>
                </a:solidFill>
              </a:rPr>
              <a:t>xógeno:</a:t>
            </a:r>
            <a:r>
              <a:rPr lang="es" sz="1900">
                <a:solidFill>
                  <a:schemeClr val="dk1"/>
                </a:solidFill>
              </a:rPr>
              <a:t> consecuencia de un factor externo al organismo, usualmente el consumo de esteroides con función análoga a la del cortisol.</a:t>
            </a:r>
            <a:endParaRPr sz="19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</a:rPr>
              <a:t>Es temporal y cede una vez se suspende la terapia con esteroides.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900">
                <a:solidFill>
                  <a:schemeClr val="dk1"/>
                </a:solidFill>
              </a:rPr>
              <a:t>B- E</a:t>
            </a:r>
            <a:r>
              <a:rPr b="1" lang="es" sz="1900">
                <a:solidFill>
                  <a:schemeClr val="dk1"/>
                </a:solidFill>
              </a:rPr>
              <a:t>ndógeno:</a:t>
            </a:r>
            <a:r>
              <a:rPr lang="es" sz="1900">
                <a:solidFill>
                  <a:schemeClr val="dk1"/>
                </a:solidFill>
              </a:rPr>
              <a:t>  producción de cortisol en exceso dentro del organismo: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</a:rPr>
              <a:t>	</a:t>
            </a:r>
            <a:r>
              <a:rPr b="1" lang="es" sz="1900">
                <a:solidFill>
                  <a:schemeClr val="dk1"/>
                </a:solidFill>
              </a:rPr>
              <a:t>1) la forma dependiente de (ACTH) 80-85%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chemeClr val="dk1"/>
                </a:solidFill>
              </a:rPr>
              <a:t>	</a:t>
            </a:r>
            <a:r>
              <a:rPr b="1" lang="es" sz="1900">
                <a:solidFill>
                  <a:schemeClr val="dk1"/>
                </a:solidFill>
              </a:rPr>
              <a:t>2) la forma independiente de (ACTH) 15% a 20%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8225" y="76625"/>
            <a:ext cx="5807550" cy="499344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1664800"/>
            <a:ext cx="8520600" cy="2331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7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7300">
                <a:solidFill>
                  <a:srgbClr val="FF0000"/>
                </a:solidFill>
              </a:rPr>
              <a:t>Fisiopatología</a:t>
            </a:r>
            <a:endParaRPr b="1" sz="7300">
              <a:solidFill>
                <a:srgbClr val="FF0000"/>
              </a:solidFill>
            </a:endParaRP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4137800"/>
            <a:ext cx="85206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0E0E3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7775" y="0"/>
            <a:ext cx="647162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/>
        </p:nvSpPr>
        <p:spPr>
          <a:xfrm>
            <a:off x="5332500" y="4703625"/>
            <a:ext cx="381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 </a:t>
            </a:r>
            <a:r>
              <a:rPr lang="es" sz="1200">
                <a:solidFill>
                  <a:schemeClr val="dk1"/>
                </a:solidFill>
              </a:rPr>
              <a:t>Función del eje hipotálamo-hipófisis-adrenal normal</a:t>
            </a:r>
            <a:endParaRPr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551" y="178126"/>
            <a:ext cx="7552900" cy="467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7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FF"/>
                </a:solidFill>
              </a:rPr>
              <a:t>Epidemiología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725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6055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" sz="2445">
                <a:solidFill>
                  <a:schemeClr val="dk1"/>
                </a:solidFill>
              </a:rPr>
              <a:t>M</a:t>
            </a:r>
            <a:r>
              <a:rPr lang="es" sz="2445">
                <a:solidFill>
                  <a:schemeClr val="dk1"/>
                </a:solidFill>
              </a:rPr>
              <a:t>ás frecuente en mujeres. </a:t>
            </a:r>
            <a:endParaRPr sz="2445">
              <a:solidFill>
                <a:schemeClr val="dk1"/>
              </a:solidFill>
            </a:endParaRPr>
          </a:p>
          <a:p>
            <a:pPr indent="-36055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" sz="2445">
                <a:solidFill>
                  <a:schemeClr val="dk1"/>
                </a:solidFill>
              </a:rPr>
              <a:t>Incidencia  0,7 a 2,4 casos por millón de habitantes/año.</a:t>
            </a:r>
            <a:endParaRPr sz="2445">
              <a:solidFill>
                <a:schemeClr val="dk1"/>
              </a:solidFill>
            </a:endParaRPr>
          </a:p>
          <a:p>
            <a:pPr indent="-36055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" sz="2445">
                <a:solidFill>
                  <a:schemeClr val="dk1"/>
                </a:solidFill>
              </a:rPr>
              <a:t>La </a:t>
            </a:r>
            <a:r>
              <a:rPr lang="es" sz="2445">
                <a:solidFill>
                  <a:srgbClr val="FF0000"/>
                </a:solidFill>
              </a:rPr>
              <a:t>Enfermedad de Cushing</a:t>
            </a:r>
            <a:r>
              <a:rPr lang="es" sz="2445">
                <a:solidFill>
                  <a:schemeClr val="dk1"/>
                </a:solidFill>
              </a:rPr>
              <a:t>, forma más común </a:t>
            </a:r>
            <a:r>
              <a:rPr i="1" lang="es" sz="2445">
                <a:solidFill>
                  <a:schemeClr val="dk1"/>
                </a:solidFill>
              </a:rPr>
              <a:t>(</a:t>
            </a:r>
            <a:r>
              <a:rPr i="1" lang="es" sz="2445">
                <a:solidFill>
                  <a:schemeClr val="dk1"/>
                </a:solidFill>
              </a:rPr>
              <a:t>endógena</a:t>
            </a:r>
            <a:r>
              <a:rPr i="1" lang="es" sz="2445">
                <a:solidFill>
                  <a:schemeClr val="dk1"/>
                </a:solidFill>
              </a:rPr>
              <a:t>)</a:t>
            </a:r>
            <a:r>
              <a:rPr lang="es" sz="2445">
                <a:solidFill>
                  <a:schemeClr val="dk1"/>
                </a:solidFill>
              </a:rPr>
              <a:t> (incidencia 5 y 25 casos por millón).</a:t>
            </a:r>
            <a:endParaRPr sz="2445">
              <a:solidFill>
                <a:schemeClr val="dk1"/>
              </a:solidFill>
            </a:endParaRPr>
          </a:p>
          <a:p>
            <a:pPr indent="-36055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" sz="2445">
                <a:solidFill>
                  <a:srgbClr val="FF0000"/>
                </a:solidFill>
              </a:rPr>
              <a:t>Tumores adrenales que causan síndrome de Cushing</a:t>
            </a:r>
            <a:r>
              <a:rPr lang="es" sz="2445">
                <a:solidFill>
                  <a:schemeClr val="dk1"/>
                </a:solidFill>
              </a:rPr>
              <a:t> son menos del 1%.</a:t>
            </a:r>
            <a:endParaRPr sz="2445">
              <a:solidFill>
                <a:schemeClr val="dk1"/>
              </a:solidFill>
            </a:endParaRPr>
          </a:p>
          <a:p>
            <a:pPr indent="-36055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" sz="2445">
                <a:solidFill>
                  <a:schemeClr val="dk1"/>
                </a:solidFill>
              </a:rPr>
              <a:t>Incidencia del carcinoma adrenal no se conoce.</a:t>
            </a:r>
            <a:endParaRPr sz="2445">
              <a:solidFill>
                <a:schemeClr val="dk1"/>
              </a:solidFill>
            </a:endParaRPr>
          </a:p>
          <a:p>
            <a:pPr indent="-36055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" sz="2445">
                <a:solidFill>
                  <a:schemeClr val="dk1"/>
                </a:solidFill>
              </a:rPr>
              <a:t>Adenomas/carcinomas  adrenal: se presentan luego de los 40 años.</a:t>
            </a:r>
            <a:endParaRPr sz="2445">
              <a:solidFill>
                <a:schemeClr val="dk1"/>
              </a:solidFill>
            </a:endParaRPr>
          </a:p>
          <a:p>
            <a:pPr indent="-36055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-"/>
            </a:pPr>
            <a:r>
              <a:rPr lang="es" sz="2445">
                <a:solidFill>
                  <a:schemeClr val="dk1"/>
                </a:solidFill>
              </a:rPr>
              <a:t>Enfermedad de Cushing ocurre principalmente en mujeres entre 25 y 45 años.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7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FF"/>
                </a:solidFill>
              </a:rPr>
              <a:t>Manifestaciones clínicas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FF0000"/>
                </a:solidFill>
              </a:rPr>
              <a:t>Ninguno de los signos o síntomas asociados con el síndrome de Cushing es patognomónico de esta entidad.</a:t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000000"/>
                </a:solidFill>
              </a:rPr>
              <a:t>La intensidad de los síntomas está determinada por los siguientes factores: </a:t>
            </a:r>
            <a:endParaRPr sz="19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s">
                <a:solidFill>
                  <a:srgbClr val="000000"/>
                </a:solidFill>
              </a:rPr>
              <a:t>la magnitud y la duración del hipercortisolismo;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s">
                <a:solidFill>
                  <a:srgbClr val="000000"/>
                </a:solidFill>
              </a:rPr>
              <a:t>presencia o ausencia de exceso de andrógenos (hirsutismo, acné);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s">
                <a:solidFill>
                  <a:srgbClr val="000000"/>
                </a:solidFill>
              </a:rPr>
              <a:t>la causa del hipercortisolismo;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s">
                <a:solidFill>
                  <a:srgbClr val="000000"/>
                </a:solidFill>
              </a:rPr>
              <a:t>la edad (síntomas menos severos en mayores de 50 años).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850" y="63850"/>
            <a:ext cx="3769150" cy="50062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70000"/>
              </a:srgbClr>
            </a:outerShdw>
          </a:effectLst>
        </p:spPr>
      </p:pic>
      <p:pic>
        <p:nvPicPr>
          <p:cNvPr id="122" name="Google Shape;12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4275" y="63850"/>
            <a:ext cx="3361700" cy="50062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445028"/>
            <a:ext cx="3710550" cy="232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30" name="Google Shape;13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2251" y="847700"/>
            <a:ext cx="4810050" cy="372118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131" name="Google Shape;13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89051" y="2769826"/>
            <a:ext cx="2480435" cy="232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1605825"/>
            <a:ext cx="8520600" cy="12678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7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5620">
                <a:solidFill>
                  <a:srgbClr val="FF0000"/>
                </a:solidFill>
              </a:rPr>
              <a:t>DIAGNÓSTICO</a:t>
            </a:r>
            <a:r>
              <a:rPr b="1" lang="es" sz="5620">
                <a:solidFill>
                  <a:srgbClr val="FF0000"/>
                </a:solidFill>
              </a:rPr>
              <a:t>:</a:t>
            </a:r>
            <a:endParaRPr b="1" sz="5620">
              <a:solidFill>
                <a:srgbClr val="FF0000"/>
              </a:solidFill>
            </a:endParaRPr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4129300"/>
            <a:ext cx="8520600" cy="43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44595"/>
              <a:buFont typeface="Arial"/>
              <a:buNone/>
            </a:pPr>
            <a:r>
              <a:rPr b="1" lang="es" sz="2467">
                <a:solidFill>
                  <a:srgbClr val="0000FF"/>
                </a:solidFill>
              </a:rPr>
              <a:t>H</a:t>
            </a:r>
            <a:r>
              <a:rPr b="1" lang="es" sz="2467">
                <a:solidFill>
                  <a:srgbClr val="0000FF"/>
                </a:solidFill>
              </a:rPr>
              <a:t>istoria farmacológica para descartar un Cushing iatrogénico</a:t>
            </a:r>
            <a:endParaRPr b="1" sz="3467">
              <a:solidFill>
                <a:srgbClr val="0000FF"/>
              </a:solidFill>
            </a:endParaRPr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-"/>
            </a:pPr>
            <a:r>
              <a:rPr lang="es" sz="2200">
                <a:solidFill>
                  <a:srgbClr val="000000"/>
                </a:solidFill>
              </a:rPr>
              <a:t>A</a:t>
            </a:r>
            <a:r>
              <a:rPr lang="es" sz="2200">
                <a:solidFill>
                  <a:srgbClr val="000000"/>
                </a:solidFill>
              </a:rPr>
              <a:t>dministración de esteroides por cualquier vía: </a:t>
            </a:r>
            <a:endParaRPr sz="2200">
              <a:solidFill>
                <a:srgbClr val="000000"/>
              </a:solidFill>
            </a:endParaRPr>
          </a:p>
          <a:p>
            <a:pPr indent="457200" lvl="0" marL="4572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(oral, intravenosa,inhalación, tópica e inyecciones de depósito, entre otras) o de otros medicamentos como acetato de megestrol o medroxiprogesterona.</a:t>
            </a:r>
            <a:endParaRPr>
              <a:solidFill>
                <a:srgbClr val="000000"/>
              </a:solidFill>
            </a:endParaRPr>
          </a:p>
          <a:p>
            <a:pPr indent="-361950" lvl="0" marL="457200" rtl="0" algn="ctr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100"/>
              <a:buChar char="-"/>
            </a:pPr>
            <a:r>
              <a:rPr lang="es" sz="2100">
                <a:solidFill>
                  <a:srgbClr val="FF0000"/>
                </a:solidFill>
              </a:rPr>
              <a:t>En estos casos, el cortisol sérico se encuentra suprimido, excepto si el fármaco utilizado es cortisona o </a:t>
            </a:r>
            <a:r>
              <a:rPr lang="es" sz="2100">
                <a:solidFill>
                  <a:srgbClr val="FF0000"/>
                </a:solidFill>
              </a:rPr>
              <a:t>hidrocortisona</a:t>
            </a:r>
            <a:r>
              <a:rPr lang="es" sz="2100">
                <a:solidFill>
                  <a:srgbClr val="FF0000"/>
                </a:solidFill>
              </a:rPr>
              <a:t>, situación en que el cortisol plasmático estará elevado.</a:t>
            </a:r>
            <a:endParaRPr sz="2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500" y="102175"/>
            <a:ext cx="7842299" cy="49551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7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120">
                <a:solidFill>
                  <a:srgbClr val="0000FF"/>
                </a:solidFill>
              </a:rPr>
              <a:t>A quienes estudiamos</a:t>
            </a:r>
            <a:endParaRPr b="1" sz="3120">
              <a:solidFill>
                <a:srgbClr val="0000FF"/>
              </a:solidFill>
            </a:endParaRPr>
          </a:p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311700" y="1152475"/>
            <a:ext cx="8520600" cy="3725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FF0000"/>
                </a:solidFill>
              </a:rPr>
              <a:t>P</a:t>
            </a:r>
            <a:r>
              <a:rPr b="1" lang="es" sz="2200">
                <a:solidFill>
                  <a:srgbClr val="FF0000"/>
                </a:solidFill>
              </a:rPr>
              <a:t>aciente con una enfermedad poco frecuente para su edad: </a:t>
            </a:r>
            <a:r>
              <a:rPr lang="es" sz="2200">
                <a:solidFill>
                  <a:srgbClr val="FF0000"/>
                </a:solidFill>
              </a:rPr>
              <a:t> </a:t>
            </a:r>
            <a:endParaRPr sz="2200">
              <a:solidFill>
                <a:srgbClr val="FF0000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s" sz="2000">
                <a:solidFill>
                  <a:schemeClr val="dk1"/>
                </a:solidFill>
              </a:rPr>
              <a:t>Osteoporosis;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s" sz="2000">
                <a:solidFill>
                  <a:schemeClr val="dk1"/>
                </a:solidFill>
              </a:rPr>
              <a:t>Hipertensión arterial en adultos jóvenes;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s" sz="2000">
                <a:solidFill>
                  <a:schemeClr val="dk1"/>
                </a:solidFill>
              </a:rPr>
              <a:t>Talla baja y sobrepeso en niños;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s" sz="2000">
                <a:solidFill>
                  <a:schemeClr val="dk1"/>
                </a:solidFill>
              </a:rPr>
              <a:t>Incidentaloma adrenal;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s" sz="2000">
                <a:solidFill>
                  <a:schemeClr val="dk1"/>
                </a:solidFill>
              </a:rPr>
              <a:t>En pacientes con hallazgos múltiples y progresivos muy sugestivos de Cushing.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7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rgbClr val="0000FF"/>
                </a:solidFill>
              </a:rPr>
              <a:t>Diagnóstico por el laboratorio</a:t>
            </a:r>
            <a:endParaRPr b="1" sz="3500">
              <a:solidFill>
                <a:srgbClr val="0000FF"/>
              </a:solidFill>
            </a:endParaRPr>
          </a:p>
        </p:txBody>
      </p:sp>
      <p:sp>
        <p:nvSpPr>
          <p:cNvPr id="162" name="Google Shape;16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1ª </a:t>
            </a:r>
            <a:r>
              <a:rPr lang="es">
                <a:solidFill>
                  <a:schemeClr val="dk1"/>
                </a:solidFill>
              </a:rPr>
              <a:t>diagnosticar un estado de hipercortisolismo autónomo.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2ª </a:t>
            </a:r>
            <a:r>
              <a:rPr lang="es">
                <a:solidFill>
                  <a:schemeClr val="dk1"/>
                </a:solidFill>
              </a:rPr>
              <a:t>intentar determinar su causa.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3ª </a:t>
            </a:r>
            <a:r>
              <a:rPr lang="es">
                <a:solidFill>
                  <a:schemeClr val="dk1"/>
                </a:solidFill>
              </a:rPr>
              <a:t>evitar un diagnóstico errado y un tratamiento inapropiado.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2300">
                <a:solidFill>
                  <a:schemeClr val="dk1"/>
                </a:solidFill>
              </a:rPr>
              <a:t> </a:t>
            </a:r>
            <a:r>
              <a:rPr b="1" lang="es" sz="2300">
                <a:solidFill>
                  <a:srgbClr val="FF0000"/>
                </a:solidFill>
              </a:rPr>
              <a:t>“Ninguna de las pruebas por sí solas son diagnósticas”</a:t>
            </a:r>
            <a:endParaRPr b="1" sz="2300">
              <a:solidFill>
                <a:srgbClr val="FF0000"/>
              </a:solidFill>
            </a:endParaRPr>
          </a:p>
          <a:p>
            <a:pPr indent="-342900" lvl="0" marL="45720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PRUEBAS DE </a:t>
            </a:r>
            <a:r>
              <a:rPr lang="es">
                <a:solidFill>
                  <a:schemeClr val="dk1"/>
                </a:solidFill>
              </a:rPr>
              <a:t>TAMIZACIÓN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PRUEBAS CONFIRMATORIAS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"/>
              <a:t> </a:t>
            </a:r>
            <a:r>
              <a:rPr b="1" lang="es">
                <a:solidFill>
                  <a:srgbClr val="0000FF"/>
                </a:solidFill>
              </a:rPr>
              <a:t>Diagnóstico de hipercortisolismo endógeno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0"/>
          <p:cNvSpPr txBox="1"/>
          <p:nvPr>
            <p:ph idx="1" type="body"/>
          </p:nvPr>
        </p:nvSpPr>
        <p:spPr>
          <a:xfrm>
            <a:off x="153250" y="1267250"/>
            <a:ext cx="8850300" cy="33015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chemeClr val="dk1"/>
                </a:solidFill>
              </a:rPr>
              <a:t>Pruebas de tamización: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200"/>
              <a:buChar char="-"/>
            </a:pPr>
            <a:r>
              <a:rPr b="1" lang="es" sz="2200">
                <a:solidFill>
                  <a:srgbClr val="FF0000"/>
                </a:solidFill>
              </a:rPr>
              <a:t>Cortisol libre urinario (al menos 2 muestras), </a:t>
            </a:r>
            <a:endParaRPr b="1" sz="2200">
              <a:solidFill>
                <a:srgbClr val="FF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Char char="-"/>
            </a:pPr>
            <a:r>
              <a:rPr b="1" lang="es" sz="2200">
                <a:solidFill>
                  <a:srgbClr val="FF0000"/>
                </a:solidFill>
              </a:rPr>
              <a:t>Cortisol salival 11 PM,</a:t>
            </a:r>
            <a:endParaRPr b="1" sz="2200">
              <a:solidFill>
                <a:srgbClr val="FF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Char char="-"/>
            </a:pPr>
            <a:r>
              <a:rPr b="1" lang="es" sz="2200">
                <a:solidFill>
                  <a:srgbClr val="FF0000"/>
                </a:solidFill>
              </a:rPr>
              <a:t>Prueba de supresión con 1 mg dexametasona 11PM.(Nugent)</a:t>
            </a:r>
            <a:endParaRPr b="1" sz="2200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7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>
                <a:solidFill>
                  <a:srgbClr val="0000FF"/>
                </a:solidFill>
              </a:rPr>
              <a:t>Cortisol Libre Urinario</a:t>
            </a:r>
            <a:endParaRPr b="1" sz="3020">
              <a:solidFill>
                <a:srgbClr val="0000FF"/>
              </a:solidFill>
            </a:endParaRPr>
          </a:p>
        </p:txBody>
      </p:sp>
      <p:sp>
        <p:nvSpPr>
          <p:cNvPr id="174" name="Google Shape;174;p31"/>
          <p:cNvSpPr txBox="1"/>
          <p:nvPr>
            <p:ph idx="1" type="body"/>
          </p:nvPr>
        </p:nvSpPr>
        <p:spPr>
          <a:xfrm>
            <a:off x="149075" y="1392025"/>
            <a:ext cx="8845800" cy="3528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4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es" sz="2000">
                <a:solidFill>
                  <a:srgbClr val="000000"/>
                </a:solidFill>
              </a:rPr>
              <a:t>C</a:t>
            </a:r>
            <a:r>
              <a:rPr lang="es" sz="2000">
                <a:solidFill>
                  <a:srgbClr val="000000"/>
                </a:solidFill>
              </a:rPr>
              <a:t>ortisol en </a:t>
            </a:r>
            <a:r>
              <a:rPr lang="es" sz="2000">
                <a:solidFill>
                  <a:srgbClr val="000000"/>
                </a:solidFill>
              </a:rPr>
              <a:t>circulación</a:t>
            </a:r>
            <a:r>
              <a:rPr lang="es" sz="2000">
                <a:solidFill>
                  <a:srgbClr val="000000"/>
                </a:solidFill>
              </a:rPr>
              <a:t>  90% unido a </a:t>
            </a:r>
            <a:r>
              <a:rPr lang="es" sz="2000">
                <a:solidFill>
                  <a:srgbClr val="000000"/>
                </a:solidFill>
              </a:rPr>
              <a:t>proteínas</a:t>
            </a:r>
            <a:r>
              <a:rPr lang="es" sz="2000">
                <a:solidFill>
                  <a:srgbClr val="000000"/>
                </a:solidFill>
              </a:rPr>
              <a:t>.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es" sz="2000">
                <a:solidFill>
                  <a:srgbClr val="000000"/>
                </a:solidFill>
              </a:rPr>
              <a:t>10% libre. 9% se </a:t>
            </a:r>
            <a:r>
              <a:rPr lang="es" sz="2000">
                <a:solidFill>
                  <a:srgbClr val="000000"/>
                </a:solidFill>
              </a:rPr>
              <a:t>reabsorbe. 1% se elimina.</a:t>
            </a:r>
            <a:endParaRPr sz="20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-"/>
            </a:pPr>
            <a:r>
              <a:rPr lang="es" sz="2000">
                <a:solidFill>
                  <a:srgbClr val="000000"/>
                </a:solidFill>
              </a:rPr>
              <a:t>Recolección de orina en 24 hrs.</a:t>
            </a:r>
            <a:r>
              <a:rPr lang="es" sz="2000">
                <a:solidFill>
                  <a:srgbClr val="000000"/>
                </a:solidFill>
              </a:rPr>
              <a:t> 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FF0000"/>
                </a:solidFill>
              </a:rPr>
              <a:t>Rango:  3 a 4 veces el valor superior de referencia (vn:entre 10 µg y 50 µg/día)</a:t>
            </a:r>
            <a:endParaRPr sz="19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000">
                <a:solidFill>
                  <a:schemeClr val="dk1"/>
                </a:solidFill>
              </a:rPr>
              <a:t>Tener en cuenta niveles elevados en mujeres gestantes, en el síndrome de ovario androgénico poliquístico y en otros estados de pseudo-Cushing.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820">
                <a:solidFill>
                  <a:srgbClr val="0000FF"/>
                </a:solidFill>
              </a:rPr>
              <a:t>Supresión con dosis bajas de dexametasona</a:t>
            </a:r>
            <a:endParaRPr b="1" sz="282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820">
                <a:solidFill>
                  <a:srgbClr val="0000FF"/>
                </a:solidFill>
              </a:rPr>
              <a:t>(Test de Nugent)</a:t>
            </a:r>
            <a:endParaRPr b="1" sz="2820">
              <a:solidFill>
                <a:srgbClr val="0000FF"/>
              </a:solidFill>
            </a:endParaRPr>
          </a:p>
        </p:txBody>
      </p:sp>
      <p:sp>
        <p:nvSpPr>
          <p:cNvPr id="180" name="Google Shape;180;p32"/>
          <p:cNvSpPr txBox="1"/>
          <p:nvPr>
            <p:ph idx="1" type="body"/>
          </p:nvPr>
        </p:nvSpPr>
        <p:spPr>
          <a:xfrm>
            <a:off x="76625" y="1673000"/>
            <a:ext cx="9003600" cy="3371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3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A</a:t>
            </a:r>
            <a:r>
              <a:rPr lang="es">
                <a:solidFill>
                  <a:schemeClr val="dk1"/>
                </a:solidFill>
              </a:rPr>
              <a:t>dministración oral de 1 mg de dexametasona  11 PM, seguida de la medición del cortisol sérico a la mañana siguiente entre las 8 AM y las 9 AM.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En condiciones normales habrá supresión en la síntesis de ACTH y cortisol.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Sensibilidad del 88% al 100%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Especificidad del 80%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Falsos positivos: síndromes de malabsorción, pacientes con metabolismo basal acelerado o que usan medicamentos que inducen las enzimas hepáticas, y en estados de hiperestrogenismo.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5350" y="2640000"/>
            <a:ext cx="3583274" cy="239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120">
                <a:solidFill>
                  <a:srgbClr val="0000FF"/>
                </a:solidFill>
              </a:rPr>
              <a:t>Cortisol sérico a las 11 PM</a:t>
            </a:r>
            <a:endParaRPr b="1" sz="3120">
              <a:solidFill>
                <a:srgbClr val="0000FF"/>
              </a:solidFill>
            </a:endParaRPr>
          </a:p>
        </p:txBody>
      </p:sp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311700" y="117662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prueba valora la normalidad del ritmo circadiano del cortisol, ya que en los pacientes con síndrome de Cushing éste se pierde a las 11 PM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aumento del cortisol por encima de 1,8 µg/dL (50 nmol/L)dormido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sensibilidad cercana al 100% para el diagnóstico de Cushing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8,3 µg/dL (229 nmol/L) paciente despierto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sensibilidad del 92% y una especificidad del 96,4%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7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120">
                <a:solidFill>
                  <a:srgbClr val="0000FF"/>
                </a:solidFill>
              </a:rPr>
              <a:t>Cortisol salival a las 11 PM</a:t>
            </a:r>
            <a:endParaRPr b="1" sz="3120">
              <a:solidFill>
                <a:srgbClr val="0000FF"/>
              </a:solidFill>
            </a:endParaRPr>
          </a:p>
        </p:txBody>
      </p:sp>
      <p:sp>
        <p:nvSpPr>
          <p:cNvPr id="193" name="Google Shape;193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A</a:t>
            </a:r>
            <a:r>
              <a:rPr lang="es">
                <a:solidFill>
                  <a:schemeClr val="dk1"/>
                </a:solidFill>
              </a:rPr>
              <a:t>lternativa a la medición sérica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Gran utilidad para el estudio de un Cushing cíclico y en los niños.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Recolección de la saliva en un tubo plástico o una almohadilla de algodón.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Valor mayor a 145 ng/dL (4 nmo/L; 0,144 µg/dL) hace el diagnóstico de Cushing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Sensibilidad del 90%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s">
                <a:solidFill>
                  <a:schemeClr val="dk1"/>
                </a:solidFill>
              </a:rPr>
              <a:t>Una especificidad del 95%.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Falsos positivos: derivados del regaliz o exposición a cigarrillo en los días previos a la prueba.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575" y="36225"/>
            <a:ext cx="6791800" cy="50710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/>
          <p:nvPr>
            <p:ph type="title"/>
          </p:nvPr>
        </p:nvSpPr>
        <p:spPr>
          <a:xfrm>
            <a:off x="177150" y="1254900"/>
            <a:ext cx="8789700" cy="263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5089">
                <a:solidFill>
                  <a:srgbClr val="0000FF"/>
                </a:solidFill>
              </a:rPr>
              <a:t>Pruebas dinámicas en el diagnóstico del síndrome de Cushing</a:t>
            </a:r>
            <a:endParaRPr b="1" sz="5089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00"/>
          </a:p>
        </p:txBody>
      </p:sp>
      <p:sp>
        <p:nvSpPr>
          <p:cNvPr id="206" name="Google Shape;206;p36"/>
          <p:cNvSpPr txBox="1"/>
          <p:nvPr>
            <p:ph idx="1" type="body"/>
          </p:nvPr>
        </p:nvSpPr>
        <p:spPr>
          <a:xfrm>
            <a:off x="311700" y="4214425"/>
            <a:ext cx="8520600" cy="66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>
            <p:ph type="title"/>
          </p:nvPr>
        </p:nvSpPr>
        <p:spPr>
          <a:xfrm>
            <a:off x="311700" y="275875"/>
            <a:ext cx="8520600" cy="10281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">
                <a:solidFill>
                  <a:srgbClr val="0000FF"/>
                </a:solidFill>
              </a:rPr>
              <a:t>Prueba de supresión con dosis bajas de dexametasona</a:t>
            </a:r>
            <a:endParaRPr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">
                <a:solidFill>
                  <a:srgbClr val="0000FF"/>
                </a:solidFill>
              </a:rPr>
              <a:t>Test de Liddle</a:t>
            </a:r>
            <a:endParaRPr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7"/>
          <p:cNvSpPr txBox="1"/>
          <p:nvPr>
            <p:ph idx="1" type="body"/>
          </p:nvPr>
        </p:nvSpPr>
        <p:spPr>
          <a:xfrm>
            <a:off x="311700" y="1174925"/>
            <a:ext cx="8520600" cy="3968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0000"/>
                </a:solidFill>
              </a:rPr>
              <a:t>Medir CLU pre y durante prueba.</a:t>
            </a:r>
            <a:r>
              <a:rPr lang="es">
                <a:solidFill>
                  <a:srgbClr val="FF0000"/>
                </a:solidFill>
              </a:rPr>
              <a:t>S</a:t>
            </a:r>
            <a:r>
              <a:rPr lang="es">
                <a:solidFill>
                  <a:srgbClr val="FF0000"/>
                </a:solidFill>
              </a:rPr>
              <a:t>e administran 8 dosis bajas de dexametasona (0,5 mg), durante 2 días comenzando el día 1 a las 12 del día, y dos horas después de la última dosis se mide cortisolemia.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s">
                <a:solidFill>
                  <a:srgbClr val="000000"/>
                </a:solidFill>
              </a:rPr>
              <a:t>Sensibilidad de 98% a 100%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s">
                <a:solidFill>
                  <a:srgbClr val="000000"/>
                </a:solidFill>
              </a:rPr>
              <a:t>Especificidad de 96% a 100%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es">
                <a:solidFill>
                  <a:srgbClr val="000000"/>
                </a:solidFill>
              </a:rPr>
              <a:t>Utilizado para cushing leve.</a:t>
            </a:r>
            <a:endParaRPr/>
          </a:p>
        </p:txBody>
      </p:sp>
      <p:graphicFrame>
        <p:nvGraphicFramePr>
          <p:cNvPr id="213" name="Google Shape;213;p37"/>
          <p:cNvGraphicFramePr/>
          <p:nvPr/>
        </p:nvGraphicFramePr>
        <p:xfrm>
          <a:off x="311700" y="2131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{197BC3CF-0943-4C15-A707-C5ECBC362E6E}</a:tableStyleId>
              </a:tblPr>
              <a:tblGrid>
                <a:gridCol w="4972375"/>
                <a:gridCol w="65947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700"/>
                        <a:t>Cortisol &lt; </a:t>
                      </a:r>
                      <a:r>
                        <a:rPr b="1" lang="es" sz="1700"/>
                        <a:t>1.8 µg/dL</a:t>
                      </a:r>
                      <a:r>
                        <a:rPr lang="es" sz="1700"/>
                        <a:t> → </a:t>
                      </a:r>
                      <a:r>
                        <a:rPr b="1" lang="es" sz="1700"/>
                        <a:t>Normal</a:t>
                      </a:r>
                      <a:r>
                        <a:rPr lang="es" sz="1700"/>
                        <a:t> (eje suprimido)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14" name="Google Shape;214;p37"/>
          <p:cNvGraphicFramePr/>
          <p:nvPr/>
        </p:nvGraphicFramePr>
        <p:xfrm>
          <a:off x="311700" y="2777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{197BC3CF-0943-4C15-A707-C5ECBC362E6E}</a:tableStyleId>
              </a:tblPr>
              <a:tblGrid>
                <a:gridCol w="4832625"/>
                <a:gridCol w="3828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700"/>
                        <a:t>Cortisol ≥ </a:t>
                      </a:r>
                      <a:r>
                        <a:rPr b="1" lang="es" sz="1700"/>
                        <a:t>1.8-5 µg/dL</a:t>
                      </a:r>
                      <a:r>
                        <a:rPr lang="es" sz="1700"/>
                        <a:t> → Sospechoso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15" name="Google Shape;215;p37"/>
          <p:cNvGraphicFramePr/>
          <p:nvPr/>
        </p:nvGraphicFramePr>
        <p:xfrm>
          <a:off x="311700" y="244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{197BC3CF-0943-4C15-A707-C5ECBC362E6E}</a:tableStyleId>
              </a:tblPr>
              <a:tblGrid>
                <a:gridCol w="50409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700"/>
                        <a:t>Cortisol &gt; </a:t>
                      </a:r>
                      <a:r>
                        <a:rPr b="1" lang="es" sz="1700"/>
                        <a:t>5 µg/dL</a:t>
                      </a:r>
                      <a:r>
                        <a:rPr lang="es" sz="1700"/>
                        <a:t> → Alto riesgo de Cushing</a:t>
                      </a:r>
                      <a:endParaRPr sz="17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16" name="Google Shape;216;p37"/>
          <p:cNvGraphicFramePr/>
          <p:nvPr/>
        </p:nvGraphicFramePr>
        <p:xfrm>
          <a:off x="311688" y="3113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{197BC3CF-0943-4C15-A707-C5ECBC362E6E}</a:tableStyleId>
              </a:tblPr>
              <a:tblGrid>
                <a:gridCol w="3912375"/>
                <a:gridCol w="46082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700">
                          <a:solidFill>
                            <a:srgbClr val="FF0000"/>
                          </a:solidFill>
                        </a:rPr>
                        <a:t>Cortisol urinario libre basal (CURL)</a:t>
                      </a:r>
                      <a:endParaRPr b="1" sz="17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700">
                          <a:solidFill>
                            <a:srgbClr val="FF0000"/>
                          </a:solidFill>
                        </a:rPr>
                        <a:t>&lt; 100 µg/24h (puede variar según laboratorio)</a:t>
                      </a:r>
                      <a:endParaRPr sz="17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17" name="Google Shape;217;p37"/>
          <p:cNvGraphicFramePr/>
          <p:nvPr/>
        </p:nvGraphicFramePr>
        <p:xfrm>
          <a:off x="311688" y="3423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{197BC3CF-0943-4C15-A707-C5ECBC362E6E}</a:tableStyleId>
              </a:tblPr>
              <a:tblGrid>
                <a:gridCol w="2893250"/>
                <a:gridCol w="51850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700">
                          <a:solidFill>
                            <a:srgbClr val="FF0000"/>
                          </a:solidFill>
                        </a:rPr>
                        <a:t>CURL tras dexametasona</a:t>
                      </a:r>
                      <a:endParaRPr b="1" sz="17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700">
                          <a:solidFill>
                            <a:srgbClr val="FF0000"/>
                          </a:solidFill>
                        </a:rPr>
                        <a:t>&lt; 50 µg/24h</a:t>
                      </a:r>
                      <a:r>
                        <a:rPr lang="es" sz="1700">
                          <a:solidFill>
                            <a:srgbClr val="FF0000"/>
                          </a:solidFill>
                        </a:rPr>
                        <a:t> o </a:t>
                      </a:r>
                      <a:r>
                        <a:rPr b="1" lang="es" sz="1700">
                          <a:solidFill>
                            <a:srgbClr val="FF0000"/>
                          </a:solidFill>
                        </a:rPr>
                        <a:t>descenso ≥50% respecto al basal</a:t>
                      </a:r>
                      <a:endParaRPr b="1" sz="17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type="title"/>
          </p:nvPr>
        </p:nvSpPr>
        <p:spPr>
          <a:xfrm>
            <a:off x="311700" y="82825"/>
            <a:ext cx="86712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" u="sng">
                <a:solidFill>
                  <a:srgbClr val="0000FF"/>
                </a:solidFill>
              </a:rPr>
              <a:t>Pruebas para establecer la causa del síndrome de Cushing</a:t>
            </a:r>
            <a:endParaRPr u="sng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8"/>
          <p:cNvSpPr txBox="1"/>
          <p:nvPr>
            <p:ph idx="1" type="body"/>
          </p:nvPr>
        </p:nvSpPr>
        <p:spPr>
          <a:xfrm>
            <a:off x="311700" y="752100"/>
            <a:ext cx="8520600" cy="42465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D</a:t>
            </a:r>
            <a:r>
              <a:rPr lang="es">
                <a:solidFill>
                  <a:schemeClr val="dk1"/>
                </a:solidFill>
              </a:rPr>
              <a:t>eterminar la causa de la hiperproducción autónoma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</a:rPr>
              <a:t>Medición de la </a:t>
            </a:r>
            <a:r>
              <a:rPr b="1" lang="es">
                <a:solidFill>
                  <a:srgbClr val="0000FF"/>
                </a:solidFill>
              </a:rPr>
              <a:t>ACTH</a:t>
            </a:r>
            <a:r>
              <a:rPr lang="es">
                <a:solidFill>
                  <a:schemeClr val="dk1"/>
                </a:solidFill>
              </a:rPr>
              <a:t>, permite clasificar el síndrome de Cushing en 3 categorías: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1. Independiente de la ACTH: </a:t>
            </a:r>
            <a:endParaRPr b="1">
              <a:solidFill>
                <a:srgbClr val="FF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/>
              <a:t>Por debajo de 5 pg/mL, (adenoma adrenal, hiperplasia adrenal micro o macronodular, o en casos raros carcinoma).(15% al 20%)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2. Dependiente de la ACTH: </a:t>
            </a:r>
            <a:endParaRPr b="1">
              <a:solidFill>
                <a:srgbClr val="FF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s"/>
              <a:t>ACTH por encima de 20 pg/mL. (adenomas hipofisarios (60% a 80% de los casos, denominados como enfermedad de Cushing) y los tumores ectópicos productores de ACTH: ACTH mayor de 200), y en menor proporción, de CRH.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3. ACTH entre 5 y 20 pg/mL: </a:t>
            </a:r>
            <a:endParaRPr b="1">
              <a:solidFill>
                <a:srgbClr val="FF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s"/>
              <a:t>En esta categoría se pueden encontrar tanto pacientes con tumores hipofisarios, algunos ectópicos, como con lesiones adrenales.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 txBox="1"/>
          <p:nvPr>
            <p:ph type="title"/>
          </p:nvPr>
        </p:nvSpPr>
        <p:spPr>
          <a:xfrm>
            <a:off x="241475" y="445025"/>
            <a:ext cx="87657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s" sz="2520">
                <a:solidFill>
                  <a:srgbClr val="0000FF"/>
                </a:solidFill>
              </a:rPr>
              <a:t>Prueba de supresión con dosis altas de dexametasona</a:t>
            </a:r>
            <a:endParaRPr b="1" sz="3420">
              <a:solidFill>
                <a:srgbClr val="0000FF"/>
              </a:solidFill>
            </a:endParaRPr>
          </a:p>
        </p:txBody>
      </p:sp>
      <p:sp>
        <p:nvSpPr>
          <p:cNvPr id="229" name="Google Shape;229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Los t</a:t>
            </a:r>
            <a:r>
              <a:rPr lang="es">
                <a:solidFill>
                  <a:srgbClr val="000000"/>
                </a:solidFill>
              </a:rPr>
              <a:t>umores hipofisarios son los menos autónomos de los tumores causantes del síndrome de Cushing. 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</a:rPr>
              <a:t>Esto explica el por qué las dosis altas de esteroides suprimen la secreción en tumores hipofisarios, mientras que en la mayoría de los tumores ectópicos (90%) no se dejan suprimir. 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0000"/>
                </a:solidFill>
              </a:rPr>
              <a:t>Administración oral de 2 mg dexametasona cada 6 horas, por 8 dosis, seguidas de la medición del cortisol plasmático o urinario antes, durante y luego de la administración del medicamento.</a:t>
            </a:r>
            <a:endParaRPr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rgbClr val="FF0000"/>
                </a:solidFill>
              </a:rPr>
              <a:t>Disminución</a:t>
            </a:r>
            <a:r>
              <a:rPr b="1" lang="es">
                <a:solidFill>
                  <a:srgbClr val="FF0000"/>
                </a:solidFill>
              </a:rPr>
              <a:t>  &gt;50%: causa hipofisaria.</a:t>
            </a:r>
            <a:endParaRPr b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 txBox="1"/>
          <p:nvPr>
            <p:ph type="title"/>
          </p:nvPr>
        </p:nvSpPr>
        <p:spPr>
          <a:xfrm>
            <a:off x="311700" y="445025"/>
            <a:ext cx="8520600" cy="774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100">
                <a:solidFill>
                  <a:srgbClr val="0000FF"/>
                </a:solidFill>
              </a:rPr>
              <a:t>Prueba de estímulo con CRH</a:t>
            </a:r>
            <a:endParaRPr b="1" sz="3100">
              <a:solidFill>
                <a:srgbClr val="0000FF"/>
              </a:solidFill>
            </a:endParaRPr>
          </a:p>
        </p:txBody>
      </p:sp>
      <p:sp>
        <p:nvSpPr>
          <p:cNvPr id="235" name="Google Shape;23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 </a:t>
            </a:r>
            <a:r>
              <a:rPr lang="es">
                <a:solidFill>
                  <a:schemeClr val="dk1"/>
                </a:solidFill>
              </a:rPr>
              <a:t>Los tumores ectópicos productores de ACTH no expresan receptores para CRH, por lo cual el uso de una prueba de estímulo con esta hormona puede ayudar a diferenciar una enfermedad de Cushing de un tumor ectópico.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000">
                <a:solidFill>
                  <a:srgbClr val="FF0000"/>
                </a:solidFill>
              </a:rPr>
              <a:t>El aumento de la ACTH mayor al 35% a los 15 a 30 minutos tras la aplicación de CRH: causa hipofisaria.</a:t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000">
                <a:solidFill>
                  <a:srgbClr val="FF0000"/>
                </a:solidFill>
              </a:rPr>
              <a:t>No disponible en argentina</a:t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>
                <a:solidFill>
                  <a:srgbClr val="0000FF"/>
                </a:solidFill>
              </a:rPr>
              <a:t>Estudios de imágenes</a:t>
            </a:r>
            <a:endParaRPr b="1" sz="3020">
              <a:solidFill>
                <a:srgbClr val="0000FF"/>
              </a:solidFill>
            </a:endParaRPr>
          </a:p>
        </p:txBody>
      </p:sp>
      <p:sp>
        <p:nvSpPr>
          <p:cNvPr id="241" name="Google Shape;24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Resonancia magnética:</a:t>
            </a:r>
            <a:endParaRPr b="1">
              <a:solidFill>
                <a:srgbClr val="FF0000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Permite la detección de estas lesiones en el 60% de los pacientes.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Microadenomas son hipointensos en T1 de la RMN y por lo general no captan el medio de contraste.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Tomografía axial computarizada (TAC):</a:t>
            </a:r>
            <a:endParaRPr b="1">
              <a:solidFill>
                <a:srgbClr val="FF0000"/>
              </a:solidFill>
            </a:endParaRPr>
          </a:p>
          <a:p>
            <a:pPr indent="45720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La mayoría de las lesiones adrenales causantes del síndrome de Cushing son adenomas y se caracterizan por tener un tamaño menor a 4 cm, con un realce inferior a 10 Unidades Hounsfield (UH) en la tomografía simple, que indica un alto contenido lipídico.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FF0000"/>
                </a:solidFill>
              </a:rPr>
              <a:t>Estudios de medicina nuclear:</a:t>
            </a:r>
            <a:r>
              <a:rPr lang="es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	</a:t>
            </a:r>
            <a:r>
              <a:rPr lang="es">
                <a:solidFill>
                  <a:srgbClr val="434343"/>
                </a:solidFill>
              </a:rPr>
              <a:t>Imágenes de las adrenales con [131I] 6-yodometilnorcolesterol (NP-59), [131I]-19-yodocolesterol o [75Se]-seleniometil-norcolesterol.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434343"/>
                </a:solidFill>
              </a:rPr>
              <a:t> 	Tomografía con emisión de positrones (PET) con 18-fluorodeoxiglucosa</a:t>
            </a:r>
            <a:endParaRPr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FF"/>
                </a:solidFill>
              </a:rPr>
              <a:t>Cateterismo del seno petroso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53" name="Google Shape;253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Este es el método disponible en la actualidad con mayor capacidad de diferenciar entre un tumor hipofisario y uno ectópico, con una eficacia cercana al 100%</a:t>
            </a:r>
            <a:r>
              <a:rPr lang="e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4" name="Google Shape;25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9037" y="2119125"/>
            <a:ext cx="4765926" cy="294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8080" y="25450"/>
            <a:ext cx="4334795" cy="511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0000" y="0"/>
            <a:ext cx="390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FF"/>
                </a:solidFill>
              </a:rPr>
              <a:t>TRATAMIENTO DEL SÍNDROME DE CUSHING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74" name="Google Shape;274;p46"/>
          <p:cNvSpPr txBox="1"/>
          <p:nvPr>
            <p:ph idx="1" type="body"/>
          </p:nvPr>
        </p:nvSpPr>
        <p:spPr>
          <a:xfrm>
            <a:off x="311700" y="1481425"/>
            <a:ext cx="8520600" cy="3087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El trastorno metabólico y la miopatía esteroidea predisponen a complicaciones.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Es de gran importancia el control de la hipertensión arterial, diabetes, dislipidemia, hipokalemia, eliminación de focos de infección (boca, urinarios, pulmonares, cutáneos)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Tratamiento preventivo de la osteoporosis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FF"/>
                </a:solidFill>
              </a:rPr>
              <a:t>Tratamiento Quirúrgico: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80" name="Google Shape;280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" sz="2000">
                <a:solidFill>
                  <a:schemeClr val="dk1"/>
                </a:solidFill>
              </a:rPr>
              <a:t>C</a:t>
            </a:r>
            <a:r>
              <a:rPr lang="es" sz="2000">
                <a:solidFill>
                  <a:schemeClr val="dk1"/>
                </a:solidFill>
              </a:rPr>
              <a:t>irugía hipofisaria transesfenoidal (TSE)</a:t>
            </a:r>
            <a:endParaRPr sz="20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s" sz="1600">
                <a:solidFill>
                  <a:schemeClr val="dk1"/>
                </a:solidFill>
              </a:rPr>
              <a:t>tasa de remisión (oscila entre 42 y 86%)</a:t>
            </a:r>
            <a:endParaRPr sz="16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" sz="2000">
                <a:solidFill>
                  <a:schemeClr val="dk1"/>
                </a:solidFill>
              </a:rPr>
              <a:t>Cirugía adrenal por vía laparoscópica.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" sz="2000">
                <a:solidFill>
                  <a:schemeClr val="dk1"/>
                </a:solidFill>
              </a:rPr>
              <a:t>El caso de los SCE, el tipo de cirugía dependerá de la localización del tumor y su pronóstico.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s" sz="2000">
                <a:solidFill>
                  <a:schemeClr val="dk1"/>
                </a:solidFill>
              </a:rPr>
              <a:t>Adrenalectomía bilateral total: reservada para pacientes con EC luego de fracaso y/o contraindicación del resto de modalidades terapéuticas.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FF"/>
                </a:solidFill>
              </a:rPr>
              <a:t>Radioterapia: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86" name="Google Shape;28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s" sz="2300">
                <a:solidFill>
                  <a:schemeClr val="dk1"/>
                </a:solidFill>
              </a:rPr>
              <a:t>R</a:t>
            </a:r>
            <a:r>
              <a:rPr lang="es" sz="2300">
                <a:solidFill>
                  <a:schemeClr val="dk1"/>
                </a:solidFill>
              </a:rPr>
              <a:t>adiante convencional o Radiocirugía estereotáctica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s" sz="2300">
                <a:solidFill>
                  <a:schemeClr val="dk1"/>
                </a:solidFill>
              </a:rPr>
              <a:t>Cuando el hipercortisolismo no ha sido completamente controlado por cirugía hipofisiaria. 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s" sz="2300">
                <a:solidFill>
                  <a:schemeClr val="dk1"/>
                </a:solidFill>
              </a:rPr>
              <a:t>Las tasas de remisión reportadas varían de 53 a 100% con las técnicas convencionales y son del orden de 76% con “gamma knife”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FF"/>
                </a:solidFill>
              </a:rPr>
              <a:t>Tratamiento farmacológico: diversas estrategias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92" name="Google Shape;292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dk1"/>
                </a:solidFill>
              </a:rPr>
              <a:t>M</a:t>
            </a:r>
            <a:r>
              <a:rPr lang="es" u="sng">
                <a:solidFill>
                  <a:schemeClr val="dk1"/>
                </a:solidFill>
              </a:rPr>
              <a:t>odulación de receptores en la EC: </a:t>
            </a:r>
            <a:endParaRPr u="sng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Uso de inhibidores de receptores dopaminérgicos, Cabergolina ( control del hipercortisolismo en aproximadamente 25-30%)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>
                <a:solidFill>
                  <a:schemeClr val="dk1"/>
                </a:solidFill>
              </a:rPr>
              <a:t>Análogo de la somatostatina: Pasireotida con efecto sobre los receptores somatostatinérgicos 1, 2, 3 y especialmente 5 que se expresa abundantemente en los corticotropinomas.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50"/>
          <p:cNvSpPr txBox="1"/>
          <p:nvPr>
            <p:ph idx="1" type="body"/>
          </p:nvPr>
        </p:nvSpPr>
        <p:spPr>
          <a:xfrm>
            <a:off x="311700" y="1152475"/>
            <a:ext cx="8520600" cy="37521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88" u="sng">
                <a:solidFill>
                  <a:schemeClr val="dk1"/>
                </a:solidFill>
              </a:rPr>
              <a:t>I</a:t>
            </a:r>
            <a:r>
              <a:rPr lang="es" sz="2388" u="sng">
                <a:solidFill>
                  <a:schemeClr val="dk1"/>
                </a:solidFill>
              </a:rPr>
              <a:t>nhibidoras de la esteroidogénesis: </a:t>
            </a:r>
            <a:endParaRPr sz="2388" u="sng">
              <a:solidFill>
                <a:schemeClr val="dk1"/>
              </a:solidFill>
            </a:endParaRPr>
          </a:p>
          <a:p>
            <a:pPr indent="-33210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18">
                <a:solidFill>
                  <a:schemeClr val="dk1"/>
                </a:solidFill>
              </a:rPr>
              <a:t>ketoconazol: buena eficacia y fácil disponibilidad.Indicado principalmente: </a:t>
            </a:r>
            <a:endParaRPr sz="1918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918">
                <a:solidFill>
                  <a:schemeClr val="dk1"/>
                </a:solidFill>
              </a:rPr>
              <a:t>a) para obtener eucortisolismo como preparación antes de cirugía.</a:t>
            </a:r>
            <a:endParaRPr sz="1918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918">
                <a:solidFill>
                  <a:schemeClr val="dk1"/>
                </a:solidFill>
              </a:rPr>
              <a:t>b) en pacientes que rechazan o son considerados de alto riesgo para cirugía.</a:t>
            </a:r>
            <a:endParaRPr sz="1918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918">
                <a:solidFill>
                  <a:schemeClr val="dk1"/>
                </a:solidFill>
              </a:rPr>
              <a:t>c) como complementario para control de hipercortisolismo persistente luego de cirugía o en espera del efecto de la radioterapia pituitaria</a:t>
            </a:r>
            <a:endParaRPr sz="1918">
              <a:solidFill>
                <a:schemeClr val="dk1"/>
              </a:solidFill>
            </a:endParaRPr>
          </a:p>
          <a:p>
            <a:pPr indent="-33210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18">
                <a:solidFill>
                  <a:schemeClr val="dk1"/>
                </a:solidFill>
              </a:rPr>
              <a:t>Metopirona como el Mitotane: son caros e inexistentes en nuestro medio.</a:t>
            </a:r>
            <a:endParaRPr sz="1918"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3865"/>
              <a:buChar char="●"/>
            </a:pPr>
            <a:r>
              <a:rPr lang="es" sz="1918">
                <a:solidFill>
                  <a:schemeClr val="dk1"/>
                </a:solidFill>
              </a:rPr>
              <a:t>Osilodrostat: </a:t>
            </a:r>
            <a:r>
              <a:rPr lang="es" sz="1942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es" sz="1942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nhibe la 11-beta hidroxilasa. Aprobado 2020.</a:t>
            </a:r>
            <a:endParaRPr i="1" sz="1942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341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42">
                <a:solidFill>
                  <a:schemeClr val="dk1"/>
                </a:solidFill>
                <a:highlight>
                  <a:srgbClr val="FFFFFF"/>
                </a:highlight>
              </a:rPr>
              <a:t>Mifepristona (Korlym®, USA): ha demostrado ser de utilidad en casos de SC graves</a:t>
            </a:r>
            <a:endParaRPr sz="1942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341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1942">
                <a:solidFill>
                  <a:schemeClr val="dk1"/>
                </a:solidFill>
                <a:highlight>
                  <a:srgbClr val="FFFFFF"/>
                </a:highlight>
              </a:rPr>
              <a:t>Temozolomida</a:t>
            </a:r>
            <a:endParaRPr sz="1942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200">
                <a:solidFill>
                  <a:srgbClr val="0000FF"/>
                </a:solidFill>
              </a:rPr>
              <a:t>Síndrome de Nelson:</a:t>
            </a:r>
            <a:endParaRPr sz="4200">
              <a:solidFill>
                <a:srgbClr val="0000FF"/>
              </a:solidFill>
            </a:endParaRPr>
          </a:p>
        </p:txBody>
      </p:sp>
      <p:sp>
        <p:nvSpPr>
          <p:cNvPr id="304" name="Google Shape;304;p51"/>
          <p:cNvSpPr txBox="1"/>
          <p:nvPr>
            <p:ph idx="1" type="body"/>
          </p:nvPr>
        </p:nvSpPr>
        <p:spPr>
          <a:xfrm>
            <a:off x="311700" y="1540575"/>
            <a:ext cx="8520600" cy="30282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900">
                <a:solidFill>
                  <a:srgbClr val="000000"/>
                </a:solidFill>
                <a:highlight>
                  <a:srgbClr val="FFFFFF"/>
                </a:highlight>
              </a:rPr>
              <a:t>Al extirpar las </a:t>
            </a:r>
            <a:r>
              <a:rPr lang="es" sz="1900">
                <a:solidFill>
                  <a:srgbClr val="000000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glándulas suprarrenales</a:t>
            </a:r>
            <a:r>
              <a:rPr lang="es" sz="1900">
                <a:solidFill>
                  <a:srgbClr val="000000"/>
                </a:solidFill>
                <a:highlight>
                  <a:srgbClr val="FFFFFF"/>
                </a:highlight>
              </a:rPr>
              <a:t>​ (a causa de un </a:t>
            </a:r>
            <a:r>
              <a:rPr lang="es" sz="1900">
                <a:solidFill>
                  <a:srgbClr val="000000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síndrome de Cushing</a:t>
            </a:r>
            <a:r>
              <a:rPr lang="es" sz="1900">
                <a:solidFill>
                  <a:srgbClr val="000000"/>
                </a:solidFill>
                <a:highlight>
                  <a:srgbClr val="FFFFFF"/>
                </a:highlight>
              </a:rPr>
              <a:t> u otras causas) se crea una importante depleción de </a:t>
            </a:r>
            <a:r>
              <a:rPr lang="es" sz="1900">
                <a:solidFill>
                  <a:srgbClr val="000000"/>
                </a:solidFill>
                <a:highlight>
                  <a:srgbClr val="FFFFFF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cortisol</a:t>
            </a:r>
            <a:r>
              <a:rPr lang="es" sz="1900">
                <a:solidFill>
                  <a:srgbClr val="000000"/>
                </a:solidFill>
                <a:highlight>
                  <a:srgbClr val="FFFFFF"/>
                </a:highlight>
              </a:rPr>
              <a:t> en sangre, por lo que se elimina el mecanismo que inhibe las células productoras de ACTH de la hipófisis, que a su vez proliferan y crecen, llegando a formar un verdadero tumor productor de ACTH. Aunque son tumores benignos, su crecimiento es rápido y pueden alcanzar un gran tamaño.</a:t>
            </a:r>
            <a:endParaRPr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2"/>
          <p:cNvSpPr txBox="1"/>
          <p:nvPr>
            <p:ph type="title"/>
          </p:nvPr>
        </p:nvSpPr>
        <p:spPr>
          <a:xfrm>
            <a:off x="311700" y="1344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0000"/>
                </a:solidFill>
              </a:rPr>
              <a:t>CASOS </a:t>
            </a:r>
            <a:r>
              <a:rPr lang="es">
                <a:solidFill>
                  <a:srgbClr val="FF0000"/>
                </a:solidFill>
              </a:rPr>
              <a:t>CLÍNICOS Nº1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10" name="Google Shape;310;p52"/>
          <p:cNvSpPr txBox="1"/>
          <p:nvPr>
            <p:ph idx="1" type="body"/>
          </p:nvPr>
        </p:nvSpPr>
        <p:spPr>
          <a:xfrm>
            <a:off x="161500" y="707125"/>
            <a:ext cx="8833500" cy="426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chemeClr val="dk1"/>
                </a:solidFill>
              </a:rPr>
              <a:t>Paciente:</a:t>
            </a:r>
            <a:r>
              <a:rPr lang="es" sz="1600">
                <a:solidFill>
                  <a:schemeClr val="dk1"/>
                </a:solidFill>
              </a:rPr>
              <a:t> Mujer de 52 años</a:t>
            </a:r>
            <a:br>
              <a:rPr lang="es" sz="1600">
                <a:solidFill>
                  <a:schemeClr val="dk1"/>
                </a:solidFill>
              </a:rPr>
            </a:br>
            <a:r>
              <a:rPr lang="es" sz="1600">
                <a:solidFill>
                  <a:schemeClr val="dk1"/>
                </a:solidFill>
              </a:rPr>
              <a:t> </a:t>
            </a:r>
            <a:r>
              <a:rPr b="1" lang="es" sz="1600">
                <a:solidFill>
                  <a:schemeClr val="dk1"/>
                </a:solidFill>
              </a:rPr>
              <a:t>Motivo de consulta:</a:t>
            </a:r>
            <a:r>
              <a:rPr lang="es" sz="1600">
                <a:solidFill>
                  <a:schemeClr val="dk1"/>
                </a:solidFill>
              </a:rPr>
              <a:t> Aumento de peso progresivo y debilidad muscular.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🩺 Historia clínica:</a:t>
            </a:r>
            <a:endParaRPr b="1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Antecedentes: Artritis reumatoidea tratada con </a:t>
            </a:r>
            <a:r>
              <a:rPr b="1" lang="es" sz="1600">
                <a:solidFill>
                  <a:schemeClr val="dk1"/>
                </a:solidFill>
              </a:rPr>
              <a:t>prednisona 10 mg/día</a:t>
            </a:r>
            <a:r>
              <a:rPr lang="es" sz="1600">
                <a:solidFill>
                  <a:schemeClr val="dk1"/>
                </a:solidFill>
              </a:rPr>
              <a:t> por más de 1 año.</a:t>
            </a:r>
            <a:br>
              <a:rPr lang="e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Refiere aumento de peso, especialmente en abdomen y rostro, en los últimos 6 meses.</a:t>
            </a:r>
            <a:br>
              <a:rPr lang="e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Amenorrea desde hace 8 meses.</a:t>
            </a:r>
            <a:br>
              <a:rPr lang="e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Debilidad proximal en brazos y muslos.</a:t>
            </a:r>
            <a:br>
              <a:rPr lang="e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Glucemias elevadas en controles recientes.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3"/>
          <p:cNvSpPr txBox="1"/>
          <p:nvPr>
            <p:ph idx="1" type="body"/>
          </p:nvPr>
        </p:nvSpPr>
        <p:spPr>
          <a:xfrm>
            <a:off x="311700" y="894525"/>
            <a:ext cx="123000" cy="41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1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665"/>
          </a:p>
        </p:txBody>
      </p:sp>
      <p:sp>
        <p:nvSpPr>
          <p:cNvPr id="316" name="Google Shape;316;p53"/>
          <p:cNvSpPr txBox="1"/>
          <p:nvPr/>
        </p:nvSpPr>
        <p:spPr>
          <a:xfrm>
            <a:off x="211200" y="823650"/>
            <a:ext cx="4286400" cy="3496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chemeClr val="dk1"/>
                </a:solidFill>
              </a:rPr>
              <a:t>🧍‍♀️</a:t>
            </a:r>
            <a:r>
              <a:rPr b="1" lang="es" sz="1800">
                <a:solidFill>
                  <a:schemeClr val="dk1"/>
                </a:solidFill>
              </a:rPr>
              <a:t> </a:t>
            </a:r>
            <a:r>
              <a:rPr b="1" lang="es" sz="1800">
                <a:solidFill>
                  <a:srgbClr val="FF0000"/>
                </a:solidFill>
              </a:rPr>
              <a:t>Examen físico:</a:t>
            </a:r>
            <a:endParaRPr b="1" sz="1800">
              <a:solidFill>
                <a:srgbClr val="FF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Obesidad central</a:t>
            </a:r>
            <a:br>
              <a:rPr b="1" lang="es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Cara redonda (cara de luna llena)</a:t>
            </a:r>
            <a:br>
              <a:rPr b="1" lang="es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Giba dorsocervical</a:t>
            </a:r>
            <a:br>
              <a:rPr b="1" lang="es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Estrías violáceas en abdomen</a:t>
            </a:r>
            <a:br>
              <a:rPr b="1" lang="es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Hipertensión (145/90 mmHg)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317" name="Google Shape;317;p53"/>
          <p:cNvSpPr txBox="1"/>
          <p:nvPr/>
        </p:nvSpPr>
        <p:spPr>
          <a:xfrm>
            <a:off x="4422925" y="894525"/>
            <a:ext cx="4565100" cy="2859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🧪</a:t>
            </a:r>
            <a:r>
              <a:rPr b="1" lang="es" sz="1800">
                <a:solidFill>
                  <a:srgbClr val="FF0000"/>
                </a:solidFill>
              </a:rPr>
              <a:t> Estudios:</a:t>
            </a:r>
            <a:endParaRPr b="1" sz="1800">
              <a:solidFill>
                <a:srgbClr val="FF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Glucemia en ayunas: 132 mg/dL</a:t>
            </a:r>
            <a:br>
              <a:rPr b="1" lang="es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TSH normal</a:t>
            </a:r>
            <a:br>
              <a:rPr b="1" lang="es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Cortisol plasmático matutino: bajo</a:t>
            </a:r>
            <a:br>
              <a:rPr b="1" lang="es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ACTH: bajo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4"/>
          <p:cNvSpPr txBox="1"/>
          <p:nvPr>
            <p:ph type="title"/>
          </p:nvPr>
        </p:nvSpPr>
        <p:spPr>
          <a:xfrm>
            <a:off x="311700" y="184125"/>
            <a:ext cx="8520600" cy="2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54"/>
          <p:cNvSpPr txBox="1"/>
          <p:nvPr>
            <p:ph idx="1" type="body"/>
          </p:nvPr>
        </p:nvSpPr>
        <p:spPr>
          <a:xfrm>
            <a:off x="311700" y="782700"/>
            <a:ext cx="8520600" cy="37863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900">
                <a:solidFill>
                  <a:schemeClr val="dk1"/>
                </a:solidFill>
              </a:rPr>
              <a:t>❓ Preguntas para discusión: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s" sz="1900">
                <a:solidFill>
                  <a:schemeClr val="dk1"/>
                </a:solidFill>
              </a:rPr>
              <a:t>¿Cuál es la causa más probable del síndrome de Cushing en este caso?</a:t>
            </a:r>
            <a:br>
              <a:rPr lang="e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s" sz="1900">
                <a:solidFill>
                  <a:schemeClr val="dk1"/>
                </a:solidFill>
              </a:rPr>
              <a:t>¿Qué estudios confirman el diagnóstico de Cushing iatrogénico?</a:t>
            </a:r>
            <a:br>
              <a:rPr lang="e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s" sz="1900">
                <a:solidFill>
                  <a:schemeClr val="dk1"/>
                </a:solidFill>
              </a:rPr>
              <a:t>¿Cuál es la conducta terapéutica?</a:t>
            </a:r>
            <a:br>
              <a:rPr lang="e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s" sz="1900">
                <a:solidFill>
                  <a:schemeClr val="dk1"/>
                </a:solidFill>
              </a:rPr>
              <a:t>¿Por qué el cortisol está bajo si tiene signos clínicos de hipercortisolismo?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5"/>
          <p:cNvSpPr txBox="1"/>
          <p:nvPr>
            <p:ph type="title"/>
          </p:nvPr>
        </p:nvSpPr>
        <p:spPr>
          <a:xfrm>
            <a:off x="311700" y="140425"/>
            <a:ext cx="8520600" cy="4215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0000"/>
                </a:solidFill>
              </a:rPr>
              <a:t>CASO </a:t>
            </a:r>
            <a:r>
              <a:rPr lang="es">
                <a:solidFill>
                  <a:srgbClr val="FF0000"/>
                </a:solidFill>
              </a:rPr>
              <a:t>CLÍNICO</a:t>
            </a:r>
            <a:r>
              <a:rPr lang="es">
                <a:solidFill>
                  <a:srgbClr val="FF0000"/>
                </a:solidFill>
              </a:rPr>
              <a:t> Nº2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29" name="Google Shape;329;p55"/>
          <p:cNvSpPr txBox="1"/>
          <p:nvPr/>
        </p:nvSpPr>
        <p:spPr>
          <a:xfrm>
            <a:off x="242650" y="638550"/>
            <a:ext cx="8589600" cy="4463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Paciente:</a:t>
            </a:r>
            <a:r>
              <a:rPr lang="es" sz="1800">
                <a:solidFill>
                  <a:schemeClr val="dk1"/>
                </a:solidFill>
              </a:rPr>
              <a:t> Hombre de 28 años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 </a:t>
            </a:r>
            <a:r>
              <a:rPr b="1" lang="es" sz="1800">
                <a:solidFill>
                  <a:schemeClr val="dk1"/>
                </a:solidFill>
              </a:rPr>
              <a:t>Motivo de consulta:</a:t>
            </a:r>
            <a:r>
              <a:rPr lang="es" sz="1800">
                <a:solidFill>
                  <a:schemeClr val="dk1"/>
                </a:solidFill>
              </a:rPr>
              <a:t> Cefaleas frecuentes y acné severo.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</a:rPr>
              <a:t>🩺 Historia clínica:</a:t>
            </a:r>
            <a:endParaRPr b="1" sz="20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Notó aumento de peso en tronco y cara.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Se siente irritable y deprimido.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Cefaleas diarias, no responde a analgésicos.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Debilidad muscular al subir escaleras.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Estrías en abdomen y piel fina.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6"/>
          <p:cNvSpPr txBox="1"/>
          <p:nvPr/>
        </p:nvSpPr>
        <p:spPr>
          <a:xfrm>
            <a:off x="2385400" y="614550"/>
            <a:ext cx="4161900" cy="3914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</a:rPr>
              <a:t>🧍 Examen físico:</a:t>
            </a:r>
            <a:endParaRPr b="1" sz="20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IMC: 31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Cara de luna llena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Giba de búfalo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Estrías violáceas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Hipertensión arterial (150/95 mmHg)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57"/>
          <p:cNvSpPr txBox="1"/>
          <p:nvPr/>
        </p:nvSpPr>
        <p:spPr>
          <a:xfrm>
            <a:off x="1962950" y="1062925"/>
            <a:ext cx="4932300" cy="3595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</a:rPr>
              <a:t>🧪 Estudios:</a:t>
            </a:r>
            <a:endParaRPr b="1" sz="20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Cortisol libre urinario 24h: </a:t>
            </a:r>
            <a:r>
              <a:rPr b="1" lang="es" sz="1800">
                <a:solidFill>
                  <a:schemeClr val="dk1"/>
                </a:solidFill>
              </a:rPr>
              <a:t>elevado x3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Prueba de supresión con dexametasona 1 mg: </a:t>
            </a:r>
            <a:r>
              <a:rPr b="1" lang="es" sz="1800">
                <a:solidFill>
                  <a:schemeClr val="dk1"/>
                </a:solidFill>
              </a:rPr>
              <a:t>no suprime</a:t>
            </a:r>
            <a:br>
              <a:rPr b="1" lang="es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ACTH: </a:t>
            </a:r>
            <a:r>
              <a:rPr b="1" lang="es" sz="1800">
                <a:solidFill>
                  <a:schemeClr val="dk1"/>
                </a:solidFill>
              </a:rPr>
              <a:t>elevado</a:t>
            </a:r>
            <a:br>
              <a:rPr b="1" lang="es" sz="1800">
                <a:solidFill>
                  <a:schemeClr val="dk1"/>
                </a:solidFill>
              </a:rPr>
            </a:b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RMN de hipófisis: microadenoma de 6 mm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100">
                <a:solidFill>
                  <a:schemeClr val="dk1"/>
                </a:solidFill>
              </a:rPr>
              <a:t>❓ Preguntas para discusión:</a:t>
            </a:r>
            <a:endParaRPr b="1" sz="21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s" sz="1900">
                <a:solidFill>
                  <a:schemeClr val="dk1"/>
                </a:solidFill>
              </a:rPr>
              <a:t>¿Cuál es el diagnóstico más probable?</a:t>
            </a:r>
            <a:br>
              <a:rPr lang="e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s" sz="1900">
                <a:solidFill>
                  <a:schemeClr val="dk1"/>
                </a:solidFill>
              </a:rPr>
              <a:t>¿Qué diferencia a la enfermedad de Cushing del Cushing ectópico?</a:t>
            </a:r>
            <a:br>
              <a:rPr lang="e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s" sz="1900">
                <a:solidFill>
                  <a:schemeClr val="dk1"/>
                </a:solidFill>
              </a:rPr>
              <a:t>¿Cuál es el siguiente paso en el tratamiento?</a:t>
            </a:r>
            <a:br>
              <a:rPr lang="e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s" sz="1900">
                <a:solidFill>
                  <a:schemeClr val="dk1"/>
                </a:solidFill>
              </a:rPr>
              <a:t>¿Qué complicaciones endocrinas podrían esperarse si no se trata?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9"/>
          <p:cNvSpPr txBox="1"/>
          <p:nvPr>
            <p:ph type="title"/>
          </p:nvPr>
        </p:nvSpPr>
        <p:spPr>
          <a:xfrm>
            <a:off x="311700" y="134425"/>
            <a:ext cx="8520600" cy="5727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FF0000"/>
                </a:solidFill>
              </a:rPr>
              <a:t>CASO </a:t>
            </a:r>
            <a:r>
              <a:rPr lang="es">
                <a:solidFill>
                  <a:srgbClr val="FF0000"/>
                </a:solidFill>
              </a:rPr>
              <a:t>CLÍNICO</a:t>
            </a:r>
            <a:r>
              <a:rPr lang="es">
                <a:solidFill>
                  <a:srgbClr val="FF0000"/>
                </a:solidFill>
              </a:rPr>
              <a:t> Nº3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52" name="Google Shape;352;p59"/>
          <p:cNvSpPr txBox="1"/>
          <p:nvPr/>
        </p:nvSpPr>
        <p:spPr>
          <a:xfrm>
            <a:off x="136650" y="591775"/>
            <a:ext cx="5516100" cy="4463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Paciente:</a:t>
            </a:r>
            <a:r>
              <a:rPr lang="es" sz="1800">
                <a:solidFill>
                  <a:schemeClr val="dk1"/>
                </a:solidFill>
              </a:rPr>
              <a:t> Mujer de 44 años</a:t>
            </a:r>
            <a:br>
              <a:rPr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 </a:t>
            </a:r>
            <a:r>
              <a:rPr b="1" lang="es" sz="1800">
                <a:solidFill>
                  <a:schemeClr val="dk1"/>
                </a:solidFill>
              </a:rPr>
              <a:t>Motivo de consulta:</a:t>
            </a:r>
            <a:r>
              <a:rPr lang="es" sz="1800">
                <a:solidFill>
                  <a:schemeClr val="dk1"/>
                </a:solidFill>
              </a:rPr>
              <a:t> Hipertensión arterial de difícil manejo.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</a:rPr>
              <a:t>🩺 Historia clínica:</a:t>
            </a:r>
            <a:endParaRPr b="1" sz="20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Antecedentes de HTA y diabetes diagnosticadas hace 1 año.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Gana peso sin cambiar alimentación.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Refiere fatiga, insomnio y cambios de humor.</a:t>
            </a:r>
            <a:br>
              <a:rPr lang="e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No usa corticoides.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53" name="Google Shape;353;p59"/>
          <p:cNvSpPr txBox="1"/>
          <p:nvPr/>
        </p:nvSpPr>
        <p:spPr>
          <a:xfrm>
            <a:off x="5652750" y="1377475"/>
            <a:ext cx="3198900" cy="356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🧍 Examen físico:</a:t>
            </a:r>
            <a:endParaRPr b="1" sz="17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Cara de luna llena</a:t>
            </a:r>
            <a:br>
              <a:rPr lang="e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Obesidad troncular</a:t>
            </a:r>
            <a:br>
              <a:rPr lang="e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Estrías abdominales anchas</a:t>
            </a:r>
            <a:br>
              <a:rPr lang="e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Hipertensión: 160/100 mmHg</a:t>
            </a:r>
            <a:br>
              <a:rPr lang="es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" sz="1500">
                <a:solidFill>
                  <a:schemeClr val="dk1"/>
                </a:solidFill>
              </a:rPr>
              <a:t>Hirsutismo leve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b="1" lang="es" sz="1500">
                <a:solidFill>
                  <a:schemeClr val="dk1"/>
                </a:solidFill>
              </a:rPr>
              <a:t>Lab:</a:t>
            </a:r>
            <a:r>
              <a:rPr lang="es" sz="1500">
                <a:solidFill>
                  <a:schemeClr val="dk1"/>
                </a:solidFill>
              </a:rPr>
              <a:t> Cortisol alto,ACTH baja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2300">
                <a:solidFill>
                  <a:schemeClr val="dk1"/>
                </a:solidFill>
              </a:rPr>
              <a:t>❓ Preguntas para discusión:</a:t>
            </a:r>
            <a:endParaRPr b="1" sz="23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s" sz="2100">
                <a:solidFill>
                  <a:schemeClr val="dk1"/>
                </a:solidFill>
              </a:rPr>
              <a:t>¿Cuál es la causa más probable del hipercortisolismo?</a:t>
            </a:r>
            <a:br>
              <a:rPr lang="es" sz="2100">
                <a:solidFill>
                  <a:schemeClr val="dk1"/>
                </a:solidFill>
              </a:rPr>
            </a:b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s" sz="2100">
                <a:solidFill>
                  <a:schemeClr val="dk1"/>
                </a:solidFill>
              </a:rPr>
              <a:t>¿Por qué el ACTH está suprimido?</a:t>
            </a:r>
            <a:br>
              <a:rPr lang="es" sz="2100">
                <a:solidFill>
                  <a:schemeClr val="dk1"/>
                </a:solidFill>
              </a:rPr>
            </a:b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s" sz="2100">
                <a:solidFill>
                  <a:schemeClr val="dk1"/>
                </a:solidFill>
              </a:rPr>
              <a:t>¿Cuál es el tratamiento indicado?</a:t>
            </a:r>
            <a:br>
              <a:rPr lang="es" sz="2100">
                <a:solidFill>
                  <a:schemeClr val="dk1"/>
                </a:solidFill>
              </a:rPr>
            </a:b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s" sz="2100">
                <a:solidFill>
                  <a:schemeClr val="dk1"/>
                </a:solidFill>
              </a:rPr>
              <a:t>¿Cómo se confirma que el adenoma es funcional?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2"/>
          <p:cNvSpPr txBox="1"/>
          <p:nvPr>
            <p:ph type="title"/>
          </p:nvPr>
        </p:nvSpPr>
        <p:spPr>
          <a:xfrm>
            <a:off x="311700" y="1436800"/>
            <a:ext cx="8520600" cy="1944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9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700">
                <a:solidFill>
                  <a:srgbClr val="0000FF"/>
                </a:solidFill>
              </a:rPr>
              <a:t>MUCHAS GRACIAS</a:t>
            </a:r>
            <a:endParaRPr b="1" sz="5700">
              <a:solidFill>
                <a:srgbClr val="0000FF"/>
              </a:solidFill>
            </a:endParaRPr>
          </a:p>
        </p:txBody>
      </p:sp>
      <p:sp>
        <p:nvSpPr>
          <p:cNvPr id="371" name="Google Shape;371;p62"/>
          <p:cNvSpPr txBox="1"/>
          <p:nvPr>
            <p:ph idx="1" type="body"/>
          </p:nvPr>
        </p:nvSpPr>
        <p:spPr>
          <a:xfrm>
            <a:off x="311700" y="3118400"/>
            <a:ext cx="8520600" cy="14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