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 (%)</c:v>
                </c:pt>
              </c:strCache>
            </c:strRef>
          </c:tx>
          <c:spPr>
            <a:solidFill>
              <a:srgbClr val="1B4B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D1B45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Anetoderma</c:v>
                </c:pt>
                <c:pt idx="1">
                  <c:v>Necrosis cutánea extensa</c:v>
                </c:pt>
                <c:pt idx="2">
                  <c:v>Pseudovasculitis</c:v>
                </c:pt>
                <c:pt idx="3">
                  <c:v>Púrpura trombocitopénica</c:v>
                </c:pt>
                <c:pt idx="4">
                  <c:v>Necrosis cutánea circunscripta</c:v>
                </c:pt>
                <c:pt idx="5">
                  <c:v>Úlceras post-flebíticas</c:v>
                </c:pt>
                <c:pt idx="6">
                  <c:v>Trombosis venosa superficial</c:v>
                </c:pt>
                <c:pt idx="7">
                  <c:v>Hemorragias en astilla</c:v>
                </c:pt>
                <c:pt idx="8">
                  <c:v>Necrosis digital</c:v>
                </c:pt>
                <c:pt idx="9">
                  <c:v>Livedo reticularis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8</c:v>
                </c:pt>
                <c:pt idx="9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61-2941-8E5C-1996DE08D9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167CB-A9C3-4548-BA00-76CE0F2764A0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E775E-9BC9-554D-9F69-F44D9B3463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34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1B4B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A6192E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7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Mariela Araujo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Reumatóloga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4846320" cy="502920"/>
          </a:xfrm>
          <a:prstGeom prst="roundRect">
            <a:avLst>
              <a:gd name="adj" fmla="val 50909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III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Mendoza (UM)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1B4B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A6192E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7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· REUMATOLOGÍA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Síndrome de Anticuerpos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Antifosfolípidos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Trombosis, morbilidad obstétrica y autoinmunidad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4846320" cy="502920"/>
          </a:xfrm>
          <a:prstGeom prst="roundRect">
            <a:avLst>
              <a:gd name="adj" fmla="val 50909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anticuerpo, dos escenarios: trombosis o pérdida fetal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para alumnos avanzados de medicina  ·  45–60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el alumno podrá: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síndrome de anticuerpos antifosfolípidos (SAF) y reconocer sus criterios clínicos y de laboratorio.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trombogénico mediado por anticuerpos antifosfolípidos.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manifestaciones clínicas criterio y no-criterio (cutáneas, neurológicas y de otros órganos), incluyendo el SAF catastrófico.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anticoagulante y la profilaxis según el escenario clínico y obstétrico.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SAF?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autoinmune sistémica caracterizada por </a:t>
            </a:r>
            <a:r>
              <a:rPr lang="en-US" sz="16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(venosa y/o arterial) y/o morbilidad obstétrica recurrente</a:t>
            </a:r>
            <a:r>
              <a:rPr lang="en-US" sz="16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presencia persistente de anticuerpos antifosfolípidos.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llamado síndrome de Hughes.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6126480" cy="192024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 VS. SECUNDARIO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presentarse de forma aislada (SAF primario) o asociado a otra enfermedad autoinmune, con mayor frecuencia lupus eritematoso sistémico (SAF secundario).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EDEA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semanas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intervalo mínimo para confirmar la persistencia del anticuerpo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347472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EDEA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35844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positividad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4206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 + aCL + anti-β2GPI) = mayor riesgo trombótico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86600" y="51206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EDEA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5230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~30-40%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852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pacientes con LES presentan anticuerpos antifosfolípidos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trombogénico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anticuerpo se une a proteínas plasmáticas ligadas a fosfolípidos —principalmente </a:t>
            </a: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β2-glicoproteína I</a:t>
            </a:r>
            <a:r>
              <a:rPr lang="en-US" sz="14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 la superficie de plaquetas y células endoteliales, generando un estado protrombótico.</a:t>
            </a:r>
            <a:endParaRPr lang="en-US" sz="1450" dirty="0"/>
          </a:p>
        </p:txBody>
      </p:sp>
      <p:pic>
        <p:nvPicPr>
          <p:cNvPr id="5" name="Image 0" descr="/home/claude/aps_icons/aps_diagram.png"/>
          <p:cNvPicPr>
            <a:picLocks noChangeAspect="1"/>
          </p:cNvPicPr>
          <p:nvPr/>
        </p:nvPicPr>
        <p:blipFill>
          <a:blip r:embed="rId3"/>
          <a:srcRect l="-69355" r="-69355"/>
          <a:stretch/>
        </p:blipFill>
        <p:spPr>
          <a:xfrm>
            <a:off x="1005840" y="2331720"/>
            <a:ext cx="1014984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clínicas del SAF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primario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enfermedad autoinmune subyacente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secundario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LES u otra enfermedad autoinmune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obstétrico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Manifestaciones exclusivamente gestacionales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catastrófico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891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multiorgánica de instalación rápida (&lt; 1%, alta mortalidad)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Manifestaciones clínicas criterio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B4B66"/>
          </a:solidFill>
          <a:ln/>
        </p:spPr>
      </p:sp>
      <p:pic>
        <p:nvPicPr>
          <p:cNvPr id="6" name="Image 0" descr="/home/claude/aps_icons/trombosis_ven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venosa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TVP, TEP — la manifestación más frecuente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2D1B45"/>
          </a:solidFill>
          <a:ln/>
        </p:spPr>
      </p:sp>
      <p:pic>
        <p:nvPicPr>
          <p:cNvPr id="11" name="Image 1" descr="/home/claude/aps_icons/trombosis_arte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212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arterial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isquémico, IAM, isquemia de miembros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B4B66"/>
          </a:solidFill>
          <a:ln/>
        </p:spPr>
      </p:sp>
      <p:pic>
        <p:nvPicPr>
          <p:cNvPr id="16" name="Image 2" descr="/home/claude/aps_icons/obstetr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Morbilidad obstétrica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92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fetales recurrentes, preeclampsia, RCIU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2D1B45"/>
          </a:solidFill>
          <a:ln/>
        </p:spPr>
      </p:sp>
      <p:pic>
        <p:nvPicPr>
          <p:cNvPr id="21" name="Image 3" descr="/home/claude/aps_icons/no_criter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315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Manifestaciones no-criterio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892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Livedo reticularis, trombocitopenia, valvulopatía, nefropatía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de trombosis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frecuentes las venosas que las arteriales. </a:t>
            </a:r>
            <a:r>
              <a:rPr lang="en-US" sz="14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a la recurrencia.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1B4B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Venosas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inferiores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937760" cy="457200"/>
          </a:xfrm>
          <a:prstGeom prst="rect">
            <a:avLst/>
          </a:prstGeom>
          <a:solidFill>
            <a:srgbClr val="EDEAF5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Hepáticas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4937760" cy="457200"/>
          </a:xfrm>
          <a:prstGeom prst="rect">
            <a:avLst/>
          </a:prstGeom>
          <a:solidFill>
            <a:srgbClr val="EDEAF5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Senos venosos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166360"/>
            <a:ext cx="4937760" cy="457200"/>
          </a:xfrm>
          <a:prstGeom prst="rect">
            <a:avLst/>
          </a:prstGeom>
          <a:solidFill>
            <a:srgbClr val="EDEAF5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23317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2D1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8803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Cerebrales (ACV)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3337560"/>
            <a:ext cx="4937760" cy="457200"/>
          </a:xfrm>
          <a:prstGeom prst="rect">
            <a:avLst/>
          </a:prstGeom>
          <a:solidFill>
            <a:srgbClr val="EDEAF5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Coronarias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46520" y="4251960"/>
            <a:ext cx="4937760" cy="457200"/>
          </a:xfrm>
          <a:prstGeom prst="rect">
            <a:avLst/>
          </a:prstGeom>
          <a:solidFill>
            <a:srgbClr val="EDEAF5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Mesentéricas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3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A619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Sospechar SAF ante eventos trombóticos en pacientes jóvenes, sin factores de riesgo o en sitios inusuales.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Otras manifestaciones clínicas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manifestaciones del SAF se explican por trombosis: también hay activación plaquetaria, del complemento y mecanismos inmunomediados.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46304" cy="14630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13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Hematológicas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91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Trombocitopenia · anemia hemolítica · microangiopatía trombótica · sangrado (anti-protrombina)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46304" cy="14630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02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679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Hipertensión pulmonar, hemorragia alveolar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46304" cy="14630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690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566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Isquemia / IAM · valvulopatía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468880"/>
            <a:ext cx="146304" cy="146304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313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79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Isquemia mesentérica, infarto esplénico o hepático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364992"/>
            <a:ext cx="146304" cy="146304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209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Oculares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575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Oclusión vascular retiniana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261104"/>
            <a:ext cx="146304" cy="146304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05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Óseas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471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Osteonecrosis avascular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5157216"/>
            <a:ext cx="146304" cy="146304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3675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Insuficiencia suprarrenal por infarto adrenal bilateral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6053328"/>
            <a:ext cx="146304" cy="146304"/>
          </a:xfrm>
          <a:prstGeom prst="ellipse">
            <a:avLst/>
          </a:prstGeom>
          <a:solidFill>
            <a:srgbClr val="2D1B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6263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Nefropatía asociada al SAF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Manifestaciones cutáneas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frecuente es el livedo reticularis; su presencia obliga a descartar SAF, sobre todo si es persistente y generalizado.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286000"/>
          <a:ext cx="11064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Manifestaciones neurológicas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1828800"/>
            <a:ext cx="1554480" cy="1554480"/>
          </a:xfrm>
          <a:prstGeom prst="ellipse">
            <a:avLst/>
          </a:prstGeom>
          <a:solidFill>
            <a:srgbClr val="2D1B45"/>
          </a:solidFill>
          <a:ln/>
        </p:spPr>
      </p:sp>
      <p:pic>
        <p:nvPicPr>
          <p:cNvPr id="5" name="Image 0" descr="/home/claude/aps_icons/ne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148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20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Mediadas por anticuerpos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más allá del ACV isquémico ya mencionado entre las trombosis arteriales.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063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Manifestaciones psicológicas y psiquiátricas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30632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3063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Migraña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069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Cefalea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40690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4069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074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Mielitis transversa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50749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5074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Deterioro cognitivo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clasificación (Sydney revisados)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al menos 1 criterio clínico + 1 criterio de laboratorio.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EDEA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clínicos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28016" cy="128016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8346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 más episodios de trombosis vascular (venosa, arterial o de pequeño vaso)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28016" cy="128016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297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Morbilidad obstétrica: pérdidas fetales recurrentes, muerte fetal o parto prematuro por preeclampsia/insuficiencia placentaria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2D1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laboratorio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971800"/>
            <a:ext cx="128016" cy="128016"/>
          </a:xfrm>
          <a:prstGeom prst="ellipse">
            <a:avLst/>
          </a:prstGeom>
          <a:solidFill>
            <a:srgbClr val="C9BE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Anticoagulante lúpico (AL) positivo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931920"/>
            <a:ext cx="128016" cy="128016"/>
          </a:xfrm>
          <a:prstGeom prst="ellipse">
            <a:avLst/>
          </a:prstGeom>
          <a:solidFill>
            <a:srgbClr val="C9BE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794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Anticuerpos anticardiolipina (aCL) IgG o IgM, en título moderado-alto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4892040"/>
            <a:ext cx="128016" cy="128016"/>
          </a:xfrm>
          <a:prstGeom prst="ellipse">
            <a:avLst/>
          </a:prstGeom>
          <a:solidFill>
            <a:srgbClr val="C9BED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Anticuerpos anti-β2-glicoproteína I IgG o IgM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5321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D8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Positividad confirmada en 2 ocasiones, con al menos 12 semanas de diferencia.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laboratorio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371600" cy="1371600"/>
          </a:xfrm>
          <a:prstGeom prst="ellipse">
            <a:avLst/>
          </a:prstGeom>
          <a:solidFill>
            <a:srgbClr val="EDEAF5"/>
          </a:solidFill>
          <a:ln/>
        </p:spPr>
      </p:sp>
      <p:pic>
        <p:nvPicPr>
          <p:cNvPr id="5" name="Image 0" descr="/home/claude/aps_icons/labora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77240"/>
            <a:ext cx="822960" cy="8229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29260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Anticardiolipinas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 · IgG o 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Anti-β2 glicoproteína 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 · IgG o 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Anticoagulante lúpico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Prolongación de pruebas de coagulación in vitro (TTPK) · no revierte con plasma 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anticuerpos reconocen proteínas plasmáticas (como la β2-glicoproteína I) unidas a fosfolípidos de membrana, no a los fosfolípidos aislados.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toda trombofilia es un SAF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Trombofilias hereditarias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V Leiden, mutación de protrombina, déficit de proteína C/S o antitrombina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Púrpura trombocitopénica trombótica / SHU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06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hemolítica microangiopática con trombocitopenia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sistémicas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simular trombosis de pequeño vaso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coagulopatías adquiridas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4805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Neoplasias, síndrome nefrótico, fármacos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GRAVE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 catastrófico (CAPS)</a:t>
            </a:r>
            <a:endParaRPr lang="en-US" sz="3200" dirty="0"/>
          </a:p>
        </p:txBody>
      </p:sp>
      <p:pic>
        <p:nvPicPr>
          <p:cNvPr id="4" name="Image 0" descr="/home/claude/aps_icons/catastro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8288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Trombosis simultánea de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 más órganos o sistemas</a:t>
            </a:r>
            <a:r>
              <a:rPr lang="en-US" sz="16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menos de una semana, con confirmación histológica de oclusión de pequeño vaso.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0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trombótica generalizada con fallo multiorgánico.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3375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A619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337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reportada &gt; 30-50% — requiere manejo en unidad de cuidados intensivos.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Frecuentemente desencadenado por: infecciones, cirugía, suspensión de anticoagulación o neoplasias.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anticoagulación + glucocorticoides + plasmaféresis y/o inmunoglobulina IV.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Profilaxis primaria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371600" cy="1371600"/>
          </a:xfrm>
          <a:prstGeom prst="ellipse">
            <a:avLst/>
          </a:prstGeom>
          <a:solidFill>
            <a:srgbClr val="EDEAF5"/>
          </a:solidFill>
          <a:ln/>
        </p:spPr>
      </p:sp>
      <p:pic>
        <p:nvPicPr>
          <p:cNvPr id="5" name="Image 0" descr="/home/claude/aps_icons/anticoagu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79552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tratamiento para </a:t>
            </a: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un primer evento trombótico</a:t>
            </a:r>
            <a:r>
              <a:rPr lang="en-US" sz="15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personas con anticuerpos antifosfolípidos que aún no tuvieron clínica de SAF.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128016" cy="128016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0358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del tejido conectivo + anticuerpos aPL positivos (cualquier título)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4041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alto riesgo trombótico sin clínica de SAF: anticoagulante lúpico, doble o triple positividad para aPL, o títulos persistentemente elevados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D1B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realiza con: </a:t>
            </a:r>
            <a:r>
              <a:rPr lang="en-US" sz="145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en bajas dosis (100 mg/día VO) ± hidroxicloroquina (200 mg/12 h VO)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del evento trombótico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es el mismo para SAF primario y secundario.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017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agudo (trombosis)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Heparina (de bajo peso molecular o no fraccionada)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Anticoagulantes orales convencionales: warfarina o acenocumarol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Trombosis arterial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objetivo 2.0-3.0 (algunos grupos prefieren 3.0-4.0) ± antiagregación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positividad / recurrencia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prefiere warfarina sobre anticoagulantes de acción directa (DOAC)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Hidroxicloroquina: </a:t>
            </a:r>
            <a:r>
              <a:rPr lang="en-US" sz="13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tamaño y la persistencia del trombo y revierte la activación plaquetaria inducida por los aPL.  Por la alta tasa de recurrencia (11% por año), </a:t>
            </a: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anticoagulación por tiempo indeterminado.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 obstétrico: tratamiento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371600" cy="1371600"/>
          </a:xfrm>
          <a:prstGeom prst="ellipse">
            <a:avLst/>
          </a:prstGeom>
          <a:solidFill>
            <a:srgbClr val="EDEAF5"/>
          </a:solidFill>
          <a:ln/>
        </p:spPr>
      </p:sp>
      <p:pic>
        <p:nvPicPr>
          <p:cNvPr id="5" name="Image 0" descr="/home/claude/aps_icons/obstet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772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EDEA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167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obstétrico compatible + embarazo actual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100 mg/día + heparina de bajo peso molecular 40 mg/día SC (dosis profiláctica), hasta 6 semanas post-parto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D1B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178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de trombosis vascular + embarazo actual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Heparina de bajo peso molecular (dosis de anticoagulación)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warfarina está contraindicada durante el embarazo por teratogenicidad; se sustituye por heparina.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adecuado, hasta el 70-80% de los embarazos en SAF llegan a buen término.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4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y pronóstico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tratamiento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Anticoagulación indefinida tras un evento trombótico confirmado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recurrencia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 triple positividad, LES asociado o suspensión del tratamiento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DEAF5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adicionales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Tabaquismo, anticonceptivos con estrógenos e inmovilización prolongada deben evitarse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D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clínica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periódico de perfil de anticuerpos y aparición de nuevas manifestaciones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SAF es la trombofilia adquirida más frecuente; combina trombosis y/o morbilidad obstétrica con anticuerpos antifosfolípidos persistentes.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60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sus manifestaciones son trombóticas: también existen mecanismos inmunomediados (cutáneos, neurológicos, hematológicos).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37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positividad confirmada en 2 ocasiones, con 12 semanas de diferencia.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14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SAF catastrófico es una urgencia con alta mortalidad — requiere manejo en terapia intensiva.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warfarina sigue siendo de elección en SAF de alto riesgo; los DOAC no se recomiendan en ese contexto.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292608" cy="292608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715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669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embarazo, la combinación aspirina + heparina mejora significativamente el pronóstico gestacional.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erre">
    <p:bg>
      <p:bgPr>
        <a:solidFill>
          <a:srgbClr val="2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1B4B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A6192E">
              <a:alpha val="45000"/>
            </a:srgbClr>
          </a:solidFill>
          <a:ln/>
        </p:spPr>
      </p:sp>
      <p:sp>
        <p:nvSpPr>
          <p:cNvPr id="10" name="Text Gracias"/>
          <p:cNvSpPr txBox="1"/>
          <p:nvPr/>
        </p:nvSpPr>
        <p:spPr>
          <a:xfrm>
            <a:off x="685800" y="2779395"/>
            <a:ext cx="10820400" cy="129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 por su atención!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21</Slides>
  <Notes>19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Mariela Araujo</cp:lastModifiedBy>
  <cp:revision>5</cp:revision>
  <dcterms:created xsi:type="dcterms:W3CDTF">2026-08-31T20:14:20Z</dcterms:created>
  <dcterms:modified xsi:type="dcterms:W3CDTF">2026-09-09T13:18:51Z</dcterms:modified>
</cp:coreProperties>
</file>