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303" r:id="rId7"/>
    <p:sldId id="298" r:id="rId8"/>
    <p:sldId id="261" r:id="rId9"/>
    <p:sldId id="262" r:id="rId10"/>
    <p:sldId id="263" r:id="rId11"/>
    <p:sldId id="271" r:id="rId12"/>
    <p:sldId id="264" r:id="rId13"/>
    <p:sldId id="265" r:id="rId14"/>
    <p:sldId id="266" r:id="rId15"/>
    <p:sldId id="267" r:id="rId16"/>
    <p:sldId id="270" r:id="rId17"/>
    <p:sldId id="268" r:id="rId18"/>
    <p:sldId id="272" r:id="rId19"/>
    <p:sldId id="273" r:id="rId20"/>
    <p:sldId id="274" r:id="rId21"/>
    <p:sldId id="275" r:id="rId22"/>
    <p:sldId id="276" r:id="rId23"/>
    <p:sldId id="277" r:id="rId24"/>
    <p:sldId id="308" r:id="rId25"/>
    <p:sldId id="309" r:id="rId26"/>
    <p:sldId id="279" r:id="rId27"/>
    <p:sldId id="280" r:id="rId28"/>
    <p:sldId id="304" r:id="rId29"/>
    <p:sldId id="305" r:id="rId30"/>
    <p:sldId id="306" r:id="rId31"/>
    <p:sldId id="307" r:id="rId32"/>
    <p:sldId id="310" r:id="rId33"/>
    <p:sldId id="311" r:id="rId34"/>
    <p:sldId id="283" r:id="rId35"/>
    <p:sldId id="285" r:id="rId36"/>
    <p:sldId id="286" r:id="rId37"/>
    <p:sldId id="287" r:id="rId38"/>
    <p:sldId id="288" r:id="rId39"/>
    <p:sldId id="289" r:id="rId40"/>
    <p:sldId id="290" r:id="rId41"/>
    <p:sldId id="292" r:id="rId42"/>
    <p:sldId id="313" r:id="rId43"/>
    <p:sldId id="314" r:id="rId44"/>
    <p:sldId id="295" r:id="rId45"/>
    <p:sldId id="296" r:id="rId46"/>
    <p:sldId id="312" r:id="rId47"/>
    <p:sldId id="284" r:id="rId48"/>
    <p:sldId id="316" r:id="rId49"/>
    <p:sldId id="317" r:id="rId50"/>
    <p:sldId id="318" r:id="rId51"/>
    <p:sldId id="319" r:id="rId52"/>
    <p:sldId id="320" r:id="rId53"/>
  </p:sldIdLst>
  <p:sldSz cx="12192000" cy="6858000"/>
  <p:notesSz cx="6858000" cy="9144000"/>
  <p:embeddedFontLst>
    <p:embeddedFont>
      <p:font typeface="Century Gothic" panose="020B0502020202020204" pitchFamily="34"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jHEnkX+/hoLPdDlx8tZu6w1V9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12" autoAdjust="0"/>
    <p:restoredTop sz="94660"/>
  </p:normalViewPr>
  <p:slideViewPr>
    <p:cSldViewPr snapToGrid="0">
      <p:cViewPr varScale="1">
        <p:scale>
          <a:sx n="93" d="100"/>
          <a:sy n="93" d="100"/>
        </p:scale>
        <p:origin x="96"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1084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8"/>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8"/>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0" name="Google Shape;20;p4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3"/>
        <p:cNvGrpSpPr/>
        <p:nvPr/>
      </p:nvGrpSpPr>
      <p:grpSpPr>
        <a:xfrm>
          <a:off x="0" y="0"/>
          <a:ext cx="0" cy="0"/>
          <a:chOff x="0" y="0"/>
          <a:chExt cx="0" cy="0"/>
        </a:xfrm>
      </p:grpSpPr>
      <p:sp>
        <p:nvSpPr>
          <p:cNvPr id="24" name="Google Shape;24;p49"/>
          <p:cNvSpPr txBox="1">
            <a:spLocks noGrp="1"/>
          </p:cNvSpPr>
          <p:nvPr>
            <p:ph type="ctrTitle"/>
          </p:nvPr>
        </p:nvSpPr>
        <p:spPr>
          <a:xfrm>
            <a:off x="1154955" y="1447800"/>
            <a:ext cx="8825658" cy="332958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9"/>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600"/>
              <a:buNone/>
              <a:defRPr cap="none">
                <a:solidFill>
                  <a:schemeClr val="accent1"/>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a:endParaRPr/>
          </a:p>
        </p:txBody>
      </p:sp>
      <p:sp>
        <p:nvSpPr>
          <p:cNvPr id="26" name="Google Shape;26;p4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9"/>
        <p:cNvGrpSpPr/>
        <p:nvPr/>
      </p:nvGrpSpPr>
      <p:grpSpPr>
        <a:xfrm>
          <a:off x="0" y="0"/>
          <a:ext cx="0" cy="0"/>
          <a:chOff x="0" y="0"/>
          <a:chExt cx="0" cy="0"/>
        </a:xfrm>
      </p:grpSpPr>
      <p:sp>
        <p:nvSpPr>
          <p:cNvPr id="30" name="Google Shape;30;p50"/>
          <p:cNvSpPr txBox="1">
            <a:spLocks noGrp="1"/>
          </p:cNvSpPr>
          <p:nvPr>
            <p:ph type="title"/>
          </p:nvPr>
        </p:nvSpPr>
        <p:spPr>
          <a:xfrm>
            <a:off x="1154956" y="2861733"/>
            <a:ext cx="8825657" cy="191564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0"/>
          <p:cNvSpPr txBox="1">
            <a:spLocks noGrp="1"/>
          </p:cNvSpPr>
          <p:nvPr>
            <p:ph type="body" idx="1"/>
          </p:nvPr>
        </p:nvSpPr>
        <p:spPr>
          <a:xfrm>
            <a:off x="1154955" y="4777381"/>
            <a:ext cx="882565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chemeClr val="accent1"/>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32" name="Google Shape;32;p5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1"/>
          <p:cNvSpPr txBox="1">
            <a:spLocks noGrp="1"/>
          </p:cNvSpPr>
          <p:nvPr>
            <p:ph type="body" idx="1"/>
          </p:nvPr>
        </p:nvSpPr>
        <p:spPr>
          <a:xfrm>
            <a:off x="1103312" y="2060575"/>
            <a:ext cx="4396339" cy="419576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38" name="Google Shape;38;p51"/>
          <p:cNvSpPr txBox="1">
            <a:spLocks noGrp="1"/>
          </p:cNvSpPr>
          <p:nvPr>
            <p:ph type="body" idx="2"/>
          </p:nvPr>
        </p:nvSpPr>
        <p:spPr>
          <a:xfrm>
            <a:off x="5654493" y="2056092"/>
            <a:ext cx="4396341" cy="420024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39" name="Google Shape;39;p5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2"/>
        <p:cNvGrpSpPr/>
        <p:nvPr/>
      </p:nvGrpSpPr>
      <p:grpSpPr>
        <a:xfrm>
          <a:off x="0" y="0"/>
          <a:ext cx="0" cy="0"/>
          <a:chOff x="0" y="0"/>
          <a:chExt cx="0" cy="0"/>
        </a:xfrm>
      </p:grpSpPr>
      <p:sp>
        <p:nvSpPr>
          <p:cNvPr id="43" name="Google Shape;43;p52"/>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2"/>
          <p:cNvSpPr txBox="1">
            <a:spLocks noGrp="1"/>
          </p:cNvSpPr>
          <p:nvPr>
            <p:ph type="body" idx="1"/>
          </p:nvPr>
        </p:nvSpPr>
        <p:spPr>
          <a:xfrm>
            <a:off x="1103313" y="1905000"/>
            <a:ext cx="43963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5" name="Google Shape;45;p52"/>
          <p:cNvSpPr txBox="1">
            <a:spLocks noGrp="1"/>
          </p:cNvSpPr>
          <p:nvPr>
            <p:ph type="body" idx="2"/>
          </p:nvPr>
        </p:nvSpPr>
        <p:spPr>
          <a:xfrm>
            <a:off x="1103312"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6" name="Google Shape;46;p52"/>
          <p:cNvSpPr txBox="1">
            <a:spLocks noGrp="1"/>
          </p:cNvSpPr>
          <p:nvPr>
            <p:ph type="body" idx="3"/>
          </p:nvPr>
        </p:nvSpPr>
        <p:spPr>
          <a:xfrm>
            <a:off x="5654495" y="1905000"/>
            <a:ext cx="439633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7" name="Google Shape;47;p52"/>
          <p:cNvSpPr txBox="1">
            <a:spLocks noGrp="1"/>
          </p:cNvSpPr>
          <p:nvPr>
            <p:ph type="body" idx="4"/>
          </p:nvPr>
        </p:nvSpPr>
        <p:spPr>
          <a:xfrm>
            <a:off x="5654495"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8" name="Google Shape;48;p5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5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1"/>
        <p:cNvGrpSpPr/>
        <p:nvPr/>
      </p:nvGrpSpPr>
      <p:grpSpPr>
        <a:xfrm>
          <a:off x="0" y="0"/>
          <a:ext cx="0" cy="0"/>
          <a:chOff x="0" y="0"/>
          <a:chExt cx="0" cy="0"/>
        </a:xfrm>
      </p:grpSpPr>
      <p:sp>
        <p:nvSpPr>
          <p:cNvPr id="52" name="Google Shape;52;p5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5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6"/>
        <p:cNvGrpSpPr/>
        <p:nvPr/>
      </p:nvGrpSpPr>
      <p:grpSpPr>
        <a:xfrm>
          <a:off x="0" y="0"/>
          <a:ext cx="0" cy="0"/>
          <a:chOff x="0" y="0"/>
          <a:chExt cx="0" cy="0"/>
        </a:xfrm>
      </p:grpSpPr>
      <p:sp>
        <p:nvSpPr>
          <p:cNvPr id="57" name="Google Shape;57;p5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0"/>
        <p:cNvGrpSpPr/>
        <p:nvPr/>
      </p:nvGrpSpPr>
      <p:grpSpPr>
        <a:xfrm>
          <a:off x="0" y="0"/>
          <a:ext cx="0" cy="0"/>
          <a:chOff x="0" y="0"/>
          <a:chExt cx="0" cy="0"/>
        </a:xfrm>
      </p:grpSpPr>
      <p:sp>
        <p:nvSpPr>
          <p:cNvPr id="61" name="Google Shape;61;p55"/>
          <p:cNvSpPr txBox="1">
            <a:spLocks noGrp="1"/>
          </p:cNvSpPr>
          <p:nvPr>
            <p:ph type="title"/>
          </p:nvPr>
        </p:nvSpPr>
        <p:spPr>
          <a:xfrm>
            <a:off x="1154954" y="1447800"/>
            <a:ext cx="3401064" cy="1447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5"/>
          <p:cNvSpPr txBox="1">
            <a:spLocks noGrp="1"/>
          </p:cNvSpPr>
          <p:nvPr>
            <p:ph type="body" idx="1"/>
          </p:nvPr>
        </p:nvSpPr>
        <p:spPr>
          <a:xfrm>
            <a:off x="4784616" y="1447800"/>
            <a:ext cx="5195997" cy="4572000"/>
          </a:xfrm>
          <a:prstGeom prst="rect">
            <a:avLst/>
          </a:prstGeom>
          <a:noFill/>
          <a:ln>
            <a:noFill/>
          </a:ln>
        </p:spPr>
        <p:txBody>
          <a:bodyPr spcFirstLastPara="1" wrap="square" lIns="91425" tIns="45700" rIns="91425" bIns="45700" anchor="ctr" anchorCtr="0">
            <a:normAutofit/>
          </a:bodyPr>
          <a:lstStyle>
            <a:lvl1pPr marL="457200" lvl="0" indent="-330200" algn="l">
              <a:spcBef>
                <a:spcPts val="1000"/>
              </a:spcBef>
              <a:spcAft>
                <a:spcPts val="0"/>
              </a:spcAft>
              <a:buSzPts val="1600"/>
              <a:buChar char="►"/>
              <a:defRPr sz="2000"/>
            </a:lvl1pPr>
            <a:lvl2pPr marL="914400" lvl="1" indent="-320040" algn="l">
              <a:spcBef>
                <a:spcPts val="1000"/>
              </a:spcBef>
              <a:spcAft>
                <a:spcPts val="0"/>
              </a:spcAft>
              <a:buSzPts val="1440"/>
              <a:buChar char="►"/>
              <a:defRPr sz="1800"/>
            </a:lvl2pPr>
            <a:lvl3pPr marL="1371600" lvl="2" indent="-309880" algn="l">
              <a:spcBef>
                <a:spcPts val="1000"/>
              </a:spcBef>
              <a:spcAft>
                <a:spcPts val="0"/>
              </a:spcAft>
              <a:buSzPts val="1280"/>
              <a:buChar char="►"/>
              <a:defRPr sz="1600"/>
            </a:lvl3pPr>
            <a:lvl4pPr marL="1828800" lvl="3" indent="-299719" algn="l">
              <a:spcBef>
                <a:spcPts val="1000"/>
              </a:spcBef>
              <a:spcAft>
                <a:spcPts val="0"/>
              </a:spcAft>
              <a:buSzPts val="1120"/>
              <a:buChar char="►"/>
              <a:defRPr sz="1400"/>
            </a:lvl4pPr>
            <a:lvl5pPr marL="2286000" lvl="4" indent="-299720" algn="l">
              <a:spcBef>
                <a:spcPts val="1000"/>
              </a:spcBef>
              <a:spcAft>
                <a:spcPts val="0"/>
              </a:spcAft>
              <a:buSzPts val="1120"/>
              <a:buChar char="►"/>
              <a:defRPr sz="1400"/>
            </a:lvl5pPr>
            <a:lvl6pPr marL="2743200" lvl="5" indent="-299720" algn="l">
              <a:spcBef>
                <a:spcPts val="1000"/>
              </a:spcBef>
              <a:spcAft>
                <a:spcPts val="0"/>
              </a:spcAft>
              <a:buSzPts val="1120"/>
              <a:buChar char="►"/>
              <a:defRPr sz="1400"/>
            </a:lvl6pPr>
            <a:lvl7pPr marL="3200400" lvl="6" indent="-299720" algn="l">
              <a:spcBef>
                <a:spcPts val="1000"/>
              </a:spcBef>
              <a:spcAft>
                <a:spcPts val="0"/>
              </a:spcAft>
              <a:buSzPts val="1120"/>
              <a:buChar char="►"/>
              <a:defRPr sz="1400"/>
            </a:lvl7pPr>
            <a:lvl8pPr marL="3657600" lvl="7" indent="-299720" algn="l">
              <a:spcBef>
                <a:spcPts val="1000"/>
              </a:spcBef>
              <a:spcAft>
                <a:spcPts val="0"/>
              </a:spcAft>
              <a:buSzPts val="1120"/>
              <a:buChar char="►"/>
              <a:defRPr sz="1400"/>
            </a:lvl8pPr>
            <a:lvl9pPr marL="4114800" lvl="8" indent="-299720" algn="l">
              <a:spcBef>
                <a:spcPts val="1000"/>
              </a:spcBef>
              <a:spcAft>
                <a:spcPts val="0"/>
              </a:spcAft>
              <a:buSzPts val="1120"/>
              <a:buChar char="►"/>
              <a:defRPr sz="1400"/>
            </a:lvl9pPr>
          </a:lstStyle>
          <a:p>
            <a:endParaRPr/>
          </a:p>
        </p:txBody>
      </p:sp>
      <p:sp>
        <p:nvSpPr>
          <p:cNvPr id="63" name="Google Shape;63;p55"/>
          <p:cNvSpPr txBox="1">
            <a:spLocks noGrp="1"/>
          </p:cNvSpPr>
          <p:nvPr>
            <p:ph type="body" idx="2"/>
          </p:nvPr>
        </p:nvSpPr>
        <p:spPr>
          <a:xfrm>
            <a:off x="1154954" y="3129280"/>
            <a:ext cx="3401063"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64" name="Google Shape;64;p5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7"/>
        <p:cNvGrpSpPr/>
        <p:nvPr/>
      </p:nvGrpSpPr>
      <p:grpSpPr>
        <a:xfrm>
          <a:off x="0" y="0"/>
          <a:ext cx="0" cy="0"/>
          <a:chOff x="0" y="0"/>
          <a:chExt cx="0" cy="0"/>
        </a:xfrm>
      </p:grpSpPr>
      <p:sp>
        <p:nvSpPr>
          <p:cNvPr id="68" name="Google Shape;68;p56"/>
          <p:cNvSpPr txBox="1">
            <a:spLocks noGrp="1"/>
          </p:cNvSpPr>
          <p:nvPr>
            <p:ph type="title"/>
          </p:nvPr>
        </p:nvSpPr>
        <p:spPr>
          <a:xfrm>
            <a:off x="1153907" y="1854192"/>
            <a:ext cx="5092906" cy="157480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6"/>
          <p:cNvSpPr>
            <a:spLocks noGrp="1"/>
          </p:cNvSpPr>
          <p:nvPr>
            <p:ph type="pic" idx="2"/>
          </p:nvPr>
        </p:nvSpPr>
        <p:spPr>
          <a:xfrm>
            <a:off x="6949546" y="1143000"/>
            <a:ext cx="3200400"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0" name="Google Shape;70;p56"/>
          <p:cNvSpPr txBox="1">
            <a:spLocks noGrp="1"/>
          </p:cNvSpPr>
          <p:nvPr>
            <p:ph type="body" idx="1"/>
          </p:nvPr>
        </p:nvSpPr>
        <p:spPr>
          <a:xfrm>
            <a:off x="1154954" y="3657600"/>
            <a:ext cx="5084979"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1" name="Google Shape;71;p5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panorámica con descripción">
  <p:cSld name="Imagen panorámica con descripción">
    <p:spTree>
      <p:nvGrpSpPr>
        <p:cNvPr id="1" name="Shape 74"/>
        <p:cNvGrpSpPr/>
        <p:nvPr/>
      </p:nvGrpSpPr>
      <p:grpSpPr>
        <a:xfrm>
          <a:off x="0" y="0"/>
          <a:ext cx="0" cy="0"/>
          <a:chOff x="0" y="0"/>
          <a:chExt cx="0" cy="0"/>
        </a:xfrm>
      </p:grpSpPr>
      <p:sp>
        <p:nvSpPr>
          <p:cNvPr id="75" name="Google Shape;75;p57"/>
          <p:cNvSpPr txBox="1">
            <a:spLocks noGrp="1"/>
          </p:cNvSpPr>
          <p:nvPr>
            <p:ph type="title"/>
          </p:nvPr>
        </p:nvSpPr>
        <p:spPr>
          <a:xfrm>
            <a:off x="1154956" y="4800587"/>
            <a:ext cx="882565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7"/>
          <p:cNvSpPr>
            <a:spLocks noGrp="1"/>
          </p:cNvSpPr>
          <p:nvPr>
            <p:ph type="pic" idx="2"/>
          </p:nvPr>
        </p:nvSpPr>
        <p:spPr>
          <a:xfrm>
            <a:off x="1154955" y="685800"/>
            <a:ext cx="8825658" cy="3640666"/>
          </a:xfrm>
          <a:prstGeom prst="roundRect">
            <a:avLst>
              <a:gd name="adj" fmla="val 1858"/>
            </a:avLst>
          </a:prstGeom>
          <a:noFill/>
          <a:ln>
            <a:noFill/>
          </a:ln>
          <a:effectLst>
            <a:outerShdw blurRad="50800" dist="50800" dir="5400000" algn="tl" rotWithShape="0">
              <a:srgbClr val="000000">
                <a:alpha val="42745"/>
              </a:srgbClr>
            </a:outerShdw>
          </a:effectLst>
        </p:spPr>
      </p:sp>
      <p:sp>
        <p:nvSpPr>
          <p:cNvPr id="77" name="Google Shape;77;p57"/>
          <p:cNvSpPr txBox="1">
            <a:spLocks noGrp="1"/>
          </p:cNvSpPr>
          <p:nvPr>
            <p:ph type="body" idx="1"/>
          </p:nvPr>
        </p:nvSpPr>
        <p:spPr>
          <a:xfrm>
            <a:off x="1154956" y="5367325"/>
            <a:ext cx="8825656"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8" name="Google Shape;78;p5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descripción">
  <p:cSld name="Título y descripción">
    <p:spTree>
      <p:nvGrpSpPr>
        <p:cNvPr id="1" name="Shape 81"/>
        <p:cNvGrpSpPr/>
        <p:nvPr/>
      </p:nvGrpSpPr>
      <p:grpSpPr>
        <a:xfrm>
          <a:off x="0" y="0"/>
          <a:ext cx="0" cy="0"/>
          <a:chOff x="0" y="0"/>
          <a:chExt cx="0" cy="0"/>
        </a:xfrm>
      </p:grpSpPr>
      <p:sp>
        <p:nvSpPr>
          <p:cNvPr id="82" name="Google Shape;82;p58"/>
          <p:cNvSpPr txBox="1">
            <a:spLocks noGrp="1"/>
          </p:cNvSpPr>
          <p:nvPr>
            <p:ph type="title"/>
          </p:nvPr>
        </p:nvSpPr>
        <p:spPr>
          <a:xfrm>
            <a:off x="1154954" y="1447800"/>
            <a:ext cx="8825659" cy="1981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8"/>
          <p:cNvSpPr txBox="1">
            <a:spLocks noGrp="1"/>
          </p:cNvSpPr>
          <p:nvPr>
            <p:ph type="body" idx="1"/>
          </p:nvPr>
        </p:nvSpPr>
        <p:spPr>
          <a:xfrm>
            <a:off x="1154954" y="3657600"/>
            <a:ext cx="8825659" cy="23622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4" name="Google Shape;84;p5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ita con descripción">
  <p:cSld name="Cita con descripción">
    <p:spTree>
      <p:nvGrpSpPr>
        <p:cNvPr id="1" name="Shape 87"/>
        <p:cNvGrpSpPr/>
        <p:nvPr/>
      </p:nvGrpSpPr>
      <p:grpSpPr>
        <a:xfrm>
          <a:off x="0" y="0"/>
          <a:ext cx="0" cy="0"/>
          <a:chOff x="0" y="0"/>
          <a:chExt cx="0" cy="0"/>
        </a:xfrm>
      </p:grpSpPr>
      <p:sp>
        <p:nvSpPr>
          <p:cNvPr id="88" name="Google Shape;88;p59"/>
          <p:cNvSpPr txBox="1">
            <a:spLocks noGrp="1"/>
          </p:cNvSpPr>
          <p:nvPr>
            <p:ph type="title"/>
          </p:nvPr>
        </p:nvSpPr>
        <p:spPr>
          <a:xfrm>
            <a:off x="1574801" y="1447800"/>
            <a:ext cx="7999315" cy="2323374"/>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59"/>
          <p:cNvSpPr txBox="1">
            <a:spLocks noGrp="1"/>
          </p:cNvSpPr>
          <p:nvPr>
            <p:ph type="body" idx="1"/>
          </p:nvPr>
        </p:nvSpPr>
        <p:spPr>
          <a:xfrm>
            <a:off x="1930400" y="3771174"/>
            <a:ext cx="7279649"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chemeClr val="accent1"/>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0" name="Google Shape;90;p59"/>
          <p:cNvSpPr txBox="1">
            <a:spLocks noGrp="1"/>
          </p:cNvSpPr>
          <p:nvPr>
            <p:ph type="body" idx="2"/>
          </p:nvPr>
        </p:nvSpPr>
        <p:spPr>
          <a:xfrm>
            <a:off x="1154954" y="4350657"/>
            <a:ext cx="8825659" cy="16764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5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5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
        <p:nvSpPr>
          <p:cNvPr id="94" name="Google Shape;94;p59"/>
          <p:cNvSpPr txBox="1"/>
          <p:nvPr/>
        </p:nvSpPr>
        <p:spPr>
          <a:xfrm>
            <a:off x="898295" y="971253"/>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u="none" strike="noStrike" cap="none">
                <a:solidFill>
                  <a:schemeClr val="accent1"/>
                </a:solidFill>
                <a:latin typeface="Arial"/>
                <a:ea typeface="Arial"/>
                <a:cs typeface="Arial"/>
                <a:sym typeface="Arial"/>
              </a:rPr>
              <a:t>“</a:t>
            </a:r>
            <a:endParaRPr/>
          </a:p>
        </p:txBody>
      </p:sp>
      <p:sp>
        <p:nvSpPr>
          <p:cNvPr id="95" name="Google Shape;95;p59"/>
          <p:cNvSpPr txBox="1"/>
          <p:nvPr/>
        </p:nvSpPr>
        <p:spPr>
          <a:xfrm>
            <a:off x="9330490" y="2613787"/>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u="none" strike="noStrike" cap="none">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96"/>
        <p:cNvGrpSpPr/>
        <p:nvPr/>
      </p:nvGrpSpPr>
      <p:grpSpPr>
        <a:xfrm>
          <a:off x="0" y="0"/>
          <a:ext cx="0" cy="0"/>
          <a:chOff x="0" y="0"/>
          <a:chExt cx="0" cy="0"/>
        </a:xfrm>
      </p:grpSpPr>
      <p:sp>
        <p:nvSpPr>
          <p:cNvPr id="97" name="Google Shape;97;p60"/>
          <p:cNvSpPr txBox="1">
            <a:spLocks noGrp="1"/>
          </p:cNvSpPr>
          <p:nvPr>
            <p:ph type="title"/>
          </p:nvPr>
        </p:nvSpPr>
        <p:spPr>
          <a:xfrm>
            <a:off x="1154954" y="3124201"/>
            <a:ext cx="8825660" cy="165318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60"/>
          <p:cNvSpPr txBox="1">
            <a:spLocks noGrp="1"/>
          </p:cNvSpPr>
          <p:nvPr>
            <p:ph type="body" idx="1"/>
          </p:nvPr>
        </p:nvSpPr>
        <p:spPr>
          <a:xfrm>
            <a:off x="1154954" y="4777381"/>
            <a:ext cx="882565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chemeClr val="accent1"/>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99" name="Google Shape;99;p6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6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6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lumna 3">
  <p:cSld name="Columna 3">
    <p:spTree>
      <p:nvGrpSpPr>
        <p:cNvPr id="1" name="Shape 102"/>
        <p:cNvGrpSpPr/>
        <p:nvPr/>
      </p:nvGrpSpPr>
      <p:grpSpPr>
        <a:xfrm>
          <a:off x="0" y="0"/>
          <a:ext cx="0" cy="0"/>
          <a:chOff x="0" y="0"/>
          <a:chExt cx="0" cy="0"/>
        </a:xfrm>
      </p:grpSpPr>
      <p:sp>
        <p:nvSpPr>
          <p:cNvPr id="103" name="Google Shape;103;p6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61"/>
          <p:cNvSpPr txBox="1">
            <a:spLocks noGrp="1"/>
          </p:cNvSpPr>
          <p:nvPr>
            <p:ph type="body" idx="1"/>
          </p:nvPr>
        </p:nvSpPr>
        <p:spPr>
          <a:xfrm>
            <a:off x="632947" y="1981200"/>
            <a:ext cx="2946866"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5" name="Google Shape;105;p61"/>
          <p:cNvSpPr txBox="1">
            <a:spLocks noGrp="1"/>
          </p:cNvSpPr>
          <p:nvPr>
            <p:ph type="body" idx="2"/>
          </p:nvPr>
        </p:nvSpPr>
        <p:spPr>
          <a:xfrm>
            <a:off x="652463" y="2667000"/>
            <a:ext cx="2927350"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06" name="Google Shape;106;p61"/>
          <p:cNvSpPr txBox="1">
            <a:spLocks noGrp="1"/>
          </p:cNvSpPr>
          <p:nvPr>
            <p:ph type="body" idx="3"/>
          </p:nvPr>
        </p:nvSpPr>
        <p:spPr>
          <a:xfrm>
            <a:off x="3883659" y="1981200"/>
            <a:ext cx="293624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7" name="Google Shape;107;p61"/>
          <p:cNvSpPr txBox="1">
            <a:spLocks noGrp="1"/>
          </p:cNvSpPr>
          <p:nvPr>
            <p:ph type="body" idx="4"/>
          </p:nvPr>
        </p:nvSpPr>
        <p:spPr>
          <a:xfrm>
            <a:off x="3873106" y="2667000"/>
            <a:ext cx="2946794"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08" name="Google Shape;108;p61"/>
          <p:cNvSpPr txBox="1">
            <a:spLocks noGrp="1"/>
          </p:cNvSpPr>
          <p:nvPr>
            <p:ph type="body" idx="5"/>
          </p:nvPr>
        </p:nvSpPr>
        <p:spPr>
          <a:xfrm>
            <a:off x="7124700" y="1981200"/>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9" name="Google Shape;109;p61"/>
          <p:cNvSpPr txBox="1">
            <a:spLocks noGrp="1"/>
          </p:cNvSpPr>
          <p:nvPr>
            <p:ph type="body" idx="6"/>
          </p:nvPr>
        </p:nvSpPr>
        <p:spPr>
          <a:xfrm>
            <a:off x="7124700" y="2667000"/>
            <a:ext cx="2932113"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10" name="Google Shape;110;p61"/>
          <p:cNvCxnSpPr/>
          <p:nvPr/>
        </p:nvCxnSpPr>
        <p:spPr>
          <a:xfrm>
            <a:off x="3726142" y="2133600"/>
            <a:ext cx="0" cy="3962400"/>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111" name="Google Shape;111;p61"/>
          <p:cNvCxnSpPr/>
          <p:nvPr/>
        </p:nvCxnSpPr>
        <p:spPr>
          <a:xfrm>
            <a:off x="6962227" y="2133600"/>
            <a:ext cx="0" cy="3966882"/>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112" name="Google Shape;112;p6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6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6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lumna de imagen 3">
  <p:cSld name="Columna de imagen 3">
    <p:spTree>
      <p:nvGrpSpPr>
        <p:cNvPr id="1" name="Shape 115"/>
        <p:cNvGrpSpPr/>
        <p:nvPr/>
      </p:nvGrpSpPr>
      <p:grpSpPr>
        <a:xfrm>
          <a:off x="0" y="0"/>
          <a:ext cx="0" cy="0"/>
          <a:chOff x="0" y="0"/>
          <a:chExt cx="0" cy="0"/>
        </a:xfrm>
      </p:grpSpPr>
      <p:sp>
        <p:nvSpPr>
          <p:cNvPr id="116" name="Google Shape;116;p62"/>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62"/>
          <p:cNvSpPr txBox="1">
            <a:spLocks noGrp="1"/>
          </p:cNvSpPr>
          <p:nvPr>
            <p:ph type="body" idx="1"/>
          </p:nvPr>
        </p:nvSpPr>
        <p:spPr>
          <a:xfrm>
            <a:off x="652463" y="4250949"/>
            <a:ext cx="294005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8" name="Google Shape;118;p62"/>
          <p:cNvSpPr>
            <a:spLocks noGrp="1"/>
          </p:cNvSpPr>
          <p:nvPr>
            <p:ph type="pic" idx="2"/>
          </p:nvPr>
        </p:nvSpPr>
        <p:spPr>
          <a:xfrm>
            <a:off x="652463" y="2209800"/>
            <a:ext cx="2940050"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9" name="Google Shape;119;p62"/>
          <p:cNvSpPr txBox="1">
            <a:spLocks noGrp="1"/>
          </p:cNvSpPr>
          <p:nvPr>
            <p:ph type="body" idx="3"/>
          </p:nvPr>
        </p:nvSpPr>
        <p:spPr>
          <a:xfrm>
            <a:off x="652463" y="4827211"/>
            <a:ext cx="2940050"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0" name="Google Shape;120;p62"/>
          <p:cNvSpPr txBox="1">
            <a:spLocks noGrp="1"/>
          </p:cNvSpPr>
          <p:nvPr>
            <p:ph type="body" idx="4"/>
          </p:nvPr>
        </p:nvSpPr>
        <p:spPr>
          <a:xfrm>
            <a:off x="3889375" y="4250949"/>
            <a:ext cx="293052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1" name="Google Shape;121;p62"/>
          <p:cNvSpPr>
            <a:spLocks noGrp="1"/>
          </p:cNvSpPr>
          <p:nvPr>
            <p:ph type="pic" idx="5"/>
          </p:nvPr>
        </p:nvSpPr>
        <p:spPr>
          <a:xfrm>
            <a:off x="3889374" y="2209800"/>
            <a:ext cx="2930525"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2" name="Google Shape;122;p62"/>
          <p:cNvSpPr txBox="1">
            <a:spLocks noGrp="1"/>
          </p:cNvSpPr>
          <p:nvPr>
            <p:ph type="body" idx="6"/>
          </p:nvPr>
        </p:nvSpPr>
        <p:spPr>
          <a:xfrm>
            <a:off x="3888022" y="4827210"/>
            <a:ext cx="2934406"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3" name="Google Shape;123;p62"/>
          <p:cNvSpPr txBox="1">
            <a:spLocks noGrp="1"/>
          </p:cNvSpPr>
          <p:nvPr>
            <p:ph type="body" idx="7"/>
          </p:nvPr>
        </p:nvSpPr>
        <p:spPr>
          <a:xfrm>
            <a:off x="7124700" y="4250949"/>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4" name="Google Shape;124;p62"/>
          <p:cNvSpPr>
            <a:spLocks noGrp="1"/>
          </p:cNvSpPr>
          <p:nvPr>
            <p:ph type="pic" idx="8"/>
          </p:nvPr>
        </p:nvSpPr>
        <p:spPr>
          <a:xfrm>
            <a:off x="7124699" y="2209800"/>
            <a:ext cx="2932113"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5" name="Google Shape;125;p62"/>
          <p:cNvSpPr txBox="1">
            <a:spLocks noGrp="1"/>
          </p:cNvSpPr>
          <p:nvPr>
            <p:ph type="body" idx="9"/>
          </p:nvPr>
        </p:nvSpPr>
        <p:spPr>
          <a:xfrm>
            <a:off x="7124575" y="4827208"/>
            <a:ext cx="2935997"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26" name="Google Shape;126;p62"/>
          <p:cNvCxnSpPr/>
          <p:nvPr/>
        </p:nvCxnSpPr>
        <p:spPr>
          <a:xfrm>
            <a:off x="3726142" y="2133600"/>
            <a:ext cx="0" cy="3962400"/>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127" name="Google Shape;127;p62"/>
          <p:cNvCxnSpPr/>
          <p:nvPr/>
        </p:nvCxnSpPr>
        <p:spPr>
          <a:xfrm>
            <a:off x="6962227" y="2133600"/>
            <a:ext cx="0" cy="3966882"/>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128" name="Google Shape;128;p6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6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6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31"/>
        <p:cNvGrpSpPr/>
        <p:nvPr/>
      </p:nvGrpSpPr>
      <p:grpSpPr>
        <a:xfrm>
          <a:off x="0" y="0"/>
          <a:ext cx="0" cy="0"/>
          <a:chOff x="0" y="0"/>
          <a:chExt cx="0" cy="0"/>
        </a:xfrm>
      </p:grpSpPr>
      <p:sp>
        <p:nvSpPr>
          <p:cNvPr id="132" name="Google Shape;132;p6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63"/>
          <p:cNvSpPr txBox="1">
            <a:spLocks noGrp="1"/>
          </p:cNvSpPr>
          <p:nvPr>
            <p:ph type="body" idx="1"/>
          </p:nvPr>
        </p:nvSpPr>
        <p:spPr>
          <a:xfrm rot="5400000">
            <a:off x="3478842" y="-322612"/>
            <a:ext cx="4195481" cy="894654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6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6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6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37"/>
        <p:cNvGrpSpPr/>
        <p:nvPr/>
      </p:nvGrpSpPr>
      <p:grpSpPr>
        <a:xfrm>
          <a:off x="0" y="0"/>
          <a:ext cx="0" cy="0"/>
          <a:chOff x="0" y="0"/>
          <a:chExt cx="0" cy="0"/>
        </a:xfrm>
      </p:grpSpPr>
      <p:sp>
        <p:nvSpPr>
          <p:cNvPr id="138" name="Google Shape;138;p64"/>
          <p:cNvSpPr txBox="1">
            <a:spLocks noGrp="1"/>
          </p:cNvSpPr>
          <p:nvPr>
            <p:ph type="title"/>
          </p:nvPr>
        </p:nvSpPr>
        <p:spPr>
          <a:xfrm rot="5400000">
            <a:off x="6267450" y="2466975"/>
            <a:ext cx="5826125" cy="17526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64"/>
          <p:cNvSpPr txBox="1">
            <a:spLocks noGrp="1"/>
          </p:cNvSpPr>
          <p:nvPr>
            <p:ph type="body" idx="1"/>
          </p:nvPr>
        </p:nvSpPr>
        <p:spPr>
          <a:xfrm rot="5400000">
            <a:off x="1679576" y="-139699"/>
            <a:ext cx="5368924" cy="742314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6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6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6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pic>
        <p:nvPicPr>
          <p:cNvPr id="6" name="Google Shape;6;p47"/>
          <p:cNvPicPr preferRelativeResize="0"/>
          <p:nvPr/>
        </p:nvPicPr>
        <p:blipFill rotWithShape="1">
          <a:blip r:embed="rId20">
            <a:alphaModFix/>
          </a:blip>
          <a:srcRect l="3613"/>
          <a:stretch/>
        </p:blipFill>
        <p:spPr>
          <a:xfrm>
            <a:off x="0" y="2669685"/>
            <a:ext cx="4037012" cy="4188315"/>
          </a:xfrm>
          <a:prstGeom prst="rect">
            <a:avLst/>
          </a:prstGeom>
          <a:noFill/>
          <a:ln>
            <a:noFill/>
          </a:ln>
        </p:spPr>
      </p:pic>
      <p:pic>
        <p:nvPicPr>
          <p:cNvPr id="7" name="Google Shape;7;p47"/>
          <p:cNvPicPr preferRelativeResize="0"/>
          <p:nvPr/>
        </p:nvPicPr>
        <p:blipFill rotWithShape="1">
          <a:blip r:embed="rId21">
            <a:alphaModFix/>
          </a:blip>
          <a:srcRect l="35640"/>
          <a:stretch/>
        </p:blipFill>
        <p:spPr>
          <a:xfrm>
            <a:off x="0" y="2892347"/>
            <a:ext cx="1522412" cy="2365453"/>
          </a:xfrm>
          <a:prstGeom prst="rect">
            <a:avLst/>
          </a:prstGeom>
          <a:noFill/>
          <a:ln>
            <a:noFill/>
          </a:ln>
        </p:spPr>
      </p:pic>
      <p:sp>
        <p:nvSpPr>
          <p:cNvPr id="8" name="Google Shape;8;p47"/>
          <p:cNvSpPr/>
          <p:nvPr/>
        </p:nvSpPr>
        <p:spPr>
          <a:xfrm>
            <a:off x="8609012" y="1676400"/>
            <a:ext cx="2819400" cy="2819400"/>
          </a:xfrm>
          <a:prstGeom prst="ellipse">
            <a:avLst/>
          </a:prstGeom>
          <a:gradFill>
            <a:gsLst>
              <a:gs pos="0">
                <a:srgbClr val="78C4F1">
                  <a:alpha val="6666"/>
                </a:srgbClr>
              </a:gs>
              <a:gs pos="36000">
                <a:srgbClr val="78C4F1">
                  <a:alpha val="5882"/>
                </a:srgbClr>
              </a:gs>
              <a:gs pos="69000">
                <a:srgbClr val="78C4F1">
                  <a:alpha val="0"/>
                </a:srgbClr>
              </a:gs>
              <a:gs pos="100000">
                <a:srgbClr val="78C4F1">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47"/>
          <p:cNvPicPr preferRelativeResize="0"/>
          <p:nvPr/>
        </p:nvPicPr>
        <p:blipFill rotWithShape="1">
          <a:blip r:embed="rId22">
            <a:alphaModFix/>
          </a:blip>
          <a:srcRect t="28812"/>
          <a:stretch/>
        </p:blipFill>
        <p:spPr>
          <a:xfrm>
            <a:off x="7999412" y="0"/>
            <a:ext cx="1603387" cy="1141407"/>
          </a:xfrm>
          <a:prstGeom prst="rect">
            <a:avLst/>
          </a:prstGeom>
          <a:noFill/>
          <a:ln>
            <a:noFill/>
          </a:ln>
        </p:spPr>
      </p:pic>
      <p:pic>
        <p:nvPicPr>
          <p:cNvPr id="10" name="Google Shape;10;p47"/>
          <p:cNvPicPr preferRelativeResize="0"/>
          <p:nvPr/>
        </p:nvPicPr>
        <p:blipFill rotWithShape="1">
          <a:blip r:embed="rId23">
            <a:alphaModFix/>
          </a:blip>
          <a:srcRect b="23320"/>
          <a:stretch/>
        </p:blipFill>
        <p:spPr>
          <a:xfrm>
            <a:off x="8609012" y="6096000"/>
            <a:ext cx="993734" cy="762000"/>
          </a:xfrm>
          <a:prstGeom prst="rect">
            <a:avLst/>
          </a:prstGeom>
          <a:noFill/>
          <a:ln>
            <a:noFill/>
          </a:ln>
        </p:spPr>
      </p:pic>
      <p:sp>
        <p:nvSpPr>
          <p:cNvPr id="11" name="Google Shape;11;p47"/>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4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2"/>
              </a:buClr>
              <a:buSzPts val="4200"/>
              <a:buFont typeface="Century Gothic"/>
              <a:buNone/>
              <a:defRPr sz="42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3" name="Google Shape;13;p47"/>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marR="0" lvl="0" indent="-330200" algn="l" rtl="0">
              <a:spcBef>
                <a:spcPts val="1000"/>
              </a:spcBef>
              <a:spcAft>
                <a:spcPts val="0"/>
              </a:spcAft>
              <a:buClr>
                <a:schemeClr val="accent1"/>
              </a:buClr>
              <a:buSzPts val="160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spcBef>
                <a:spcPts val="1000"/>
              </a:spcBef>
              <a:spcAft>
                <a:spcPts val="0"/>
              </a:spcAft>
              <a:buClr>
                <a:schemeClr val="accent1"/>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09880" algn="l" rtl="0">
              <a:spcBef>
                <a:spcPts val="1000"/>
              </a:spcBef>
              <a:spcAft>
                <a:spcPts val="0"/>
              </a:spcAft>
              <a:buClr>
                <a:schemeClr val="accent1"/>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299719"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4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5" name="Google Shape;15;p4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6" name="Google Shape;16;p4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5.jp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
          <p:cNvSpPr txBox="1">
            <a:spLocks noGrp="1"/>
          </p:cNvSpPr>
          <p:nvPr>
            <p:ph type="title"/>
          </p:nvPr>
        </p:nvSpPr>
        <p:spPr>
          <a:xfrm>
            <a:off x="680321" y="888022"/>
            <a:ext cx="9613861" cy="946143"/>
          </a:xfrm>
          <a:prstGeom prst="rect">
            <a:avLst/>
          </a:prstGeom>
          <a:noFill/>
          <a:ln>
            <a:noFill/>
          </a:ln>
        </p:spPr>
        <p:txBody>
          <a:bodyPr spcFirstLastPara="1" wrap="square" lIns="91425" tIns="45700" rIns="91425" bIns="45700" anchor="t" anchorCtr="0">
            <a:normAutofit fontScale="90000"/>
          </a:bodyPr>
          <a:lstStyle/>
          <a:p>
            <a:pPr marL="0" lvl="0" indent="0" algn="ctr" rtl="0">
              <a:spcBef>
                <a:spcPts val="0"/>
              </a:spcBef>
              <a:spcAft>
                <a:spcPts val="0"/>
              </a:spcAft>
              <a:buClr>
                <a:schemeClr val="dk1"/>
              </a:buClr>
              <a:buSzPct val="100000"/>
              <a:buFont typeface="Arial"/>
              <a:buNone/>
            </a:pPr>
            <a:r>
              <a:rPr lang="en-US" b="1" dirty="0">
                <a:solidFill>
                  <a:schemeClr val="accent1"/>
                </a:solidFill>
                <a:latin typeface="Arial"/>
                <a:ea typeface="Arial"/>
                <a:cs typeface="Arial"/>
                <a:sym typeface="Arial"/>
              </a:rPr>
              <a:t>MEDICINA INTERNA III</a:t>
            </a:r>
            <a:br>
              <a:rPr lang="en-US" b="1" dirty="0">
                <a:solidFill>
                  <a:schemeClr val="accent1"/>
                </a:solidFill>
                <a:latin typeface="Arial"/>
                <a:ea typeface="Arial"/>
                <a:cs typeface="Arial"/>
                <a:sym typeface="Arial"/>
              </a:rPr>
            </a:br>
            <a:endParaRPr b="1" dirty="0">
              <a:solidFill>
                <a:schemeClr val="accent1"/>
              </a:solidFill>
            </a:endParaRPr>
          </a:p>
        </p:txBody>
      </p:sp>
      <p:sp>
        <p:nvSpPr>
          <p:cNvPr id="148" name="Google Shape;148;p1"/>
          <p:cNvSpPr txBox="1">
            <a:spLocks noGrp="1"/>
          </p:cNvSpPr>
          <p:nvPr>
            <p:ph type="body" idx="1"/>
          </p:nvPr>
        </p:nvSpPr>
        <p:spPr>
          <a:xfrm>
            <a:off x="680321" y="1858017"/>
            <a:ext cx="10085745" cy="4395354"/>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spcBef>
                <a:spcPts val="0"/>
              </a:spcBef>
              <a:spcAft>
                <a:spcPts val="0"/>
              </a:spcAft>
              <a:buSzPct val="80000"/>
              <a:buNone/>
            </a:pPr>
            <a:r>
              <a:rPr lang="en-US" sz="2600" b="1" dirty="0" err="1">
                <a:latin typeface="Arial"/>
                <a:ea typeface="Arial"/>
                <a:cs typeface="Arial"/>
                <a:sym typeface="Arial"/>
              </a:rPr>
              <a:t>Facultad</a:t>
            </a:r>
            <a:r>
              <a:rPr lang="en-US" sz="2600" b="1" dirty="0">
                <a:latin typeface="Arial"/>
                <a:ea typeface="Arial"/>
                <a:cs typeface="Arial"/>
                <a:sym typeface="Arial"/>
              </a:rPr>
              <a:t> de </a:t>
            </a:r>
            <a:r>
              <a:rPr lang="en-US" sz="2600" b="1" dirty="0" err="1">
                <a:latin typeface="Arial"/>
                <a:ea typeface="Arial"/>
                <a:cs typeface="Arial"/>
                <a:sym typeface="Arial"/>
              </a:rPr>
              <a:t>Ciencias</a:t>
            </a:r>
            <a:r>
              <a:rPr lang="en-US" sz="2600" b="1" dirty="0">
                <a:latin typeface="Arial"/>
                <a:ea typeface="Arial"/>
                <a:cs typeface="Arial"/>
                <a:sym typeface="Arial"/>
              </a:rPr>
              <a:t> </a:t>
            </a:r>
            <a:r>
              <a:rPr lang="en-US" sz="2600" b="1" dirty="0" err="1">
                <a:latin typeface="Arial"/>
                <a:ea typeface="Arial"/>
                <a:cs typeface="Arial"/>
                <a:sym typeface="Arial"/>
              </a:rPr>
              <a:t>Médicas</a:t>
            </a:r>
            <a:endParaRPr sz="1600" dirty="0"/>
          </a:p>
          <a:p>
            <a:pPr marL="0" lvl="0" indent="0" algn="ctr" rtl="0">
              <a:spcBef>
                <a:spcPts val="1000"/>
              </a:spcBef>
              <a:spcAft>
                <a:spcPts val="0"/>
              </a:spcAft>
              <a:buSzPct val="80000"/>
              <a:buNone/>
            </a:pPr>
            <a:r>
              <a:rPr lang="en-US" sz="2100" b="1" dirty="0">
                <a:latin typeface="Arial"/>
                <a:ea typeface="Arial"/>
                <a:cs typeface="Arial"/>
                <a:sym typeface="Arial"/>
              </a:rPr>
              <a:t>Universidad de Mendoza</a:t>
            </a:r>
            <a:endParaRPr sz="1600" dirty="0"/>
          </a:p>
          <a:p>
            <a:pPr marL="0" lvl="0" indent="0" algn="ctr" rtl="0">
              <a:spcBef>
                <a:spcPts val="1000"/>
              </a:spcBef>
              <a:spcAft>
                <a:spcPts val="0"/>
              </a:spcAft>
              <a:buSzPct val="80000"/>
              <a:buNone/>
            </a:pPr>
            <a:r>
              <a:rPr lang="en-US" sz="2100" b="1" dirty="0">
                <a:latin typeface="Arial"/>
                <a:ea typeface="Arial"/>
                <a:cs typeface="Arial"/>
                <a:sym typeface="Arial"/>
              </a:rPr>
              <a:t>SEDE SAN RAFAEL</a:t>
            </a:r>
            <a:endParaRPr sz="1600" dirty="0"/>
          </a:p>
          <a:p>
            <a:pPr marL="0" lvl="0" indent="0" algn="ctr" rtl="0">
              <a:spcBef>
                <a:spcPts val="1000"/>
              </a:spcBef>
              <a:spcAft>
                <a:spcPts val="0"/>
              </a:spcAft>
              <a:buSzPct val="80000"/>
              <a:buNone/>
            </a:pPr>
            <a:r>
              <a:rPr lang="en-US" sz="1500" b="1" dirty="0" smtClean="0">
                <a:latin typeface="Arial"/>
                <a:ea typeface="Arial"/>
                <a:cs typeface="Arial"/>
                <a:sym typeface="Arial"/>
              </a:rPr>
              <a:t>ENDOCRINOLOGÍA </a:t>
            </a:r>
            <a:r>
              <a:rPr lang="en-US" sz="1500" b="1" dirty="0">
                <a:latin typeface="Arial"/>
                <a:ea typeface="Arial"/>
                <a:cs typeface="Arial"/>
                <a:sym typeface="Arial"/>
              </a:rPr>
              <a:t>-  DIABETOLOGÍA</a:t>
            </a:r>
            <a:endParaRPr sz="1500" dirty="0"/>
          </a:p>
          <a:p>
            <a:pPr marL="0" lvl="0" indent="0" algn="ctr" rtl="0">
              <a:spcBef>
                <a:spcPts val="1000"/>
              </a:spcBef>
              <a:spcAft>
                <a:spcPts val="0"/>
              </a:spcAft>
              <a:buSzPct val="80000"/>
              <a:buNone/>
            </a:pPr>
            <a:endParaRPr b="1" dirty="0" smtClean="0">
              <a:latin typeface="Arial"/>
              <a:ea typeface="Arial"/>
              <a:cs typeface="Arial"/>
              <a:sym typeface="Arial"/>
            </a:endParaRPr>
          </a:p>
          <a:p>
            <a:pPr marL="0" lvl="0" indent="0" algn="ctr" rtl="0">
              <a:spcBef>
                <a:spcPts val="1000"/>
              </a:spcBef>
              <a:spcAft>
                <a:spcPts val="0"/>
              </a:spcAft>
              <a:buSzPct val="80000"/>
              <a:buNone/>
            </a:pPr>
            <a:r>
              <a:rPr lang="en-US" sz="2000" b="1" dirty="0" err="1" smtClean="0">
                <a:latin typeface="Arial"/>
                <a:ea typeface="Arial"/>
                <a:cs typeface="Arial"/>
                <a:sym typeface="Arial"/>
              </a:rPr>
              <a:t>Dr</a:t>
            </a:r>
            <a:r>
              <a:rPr lang="en-US" sz="2000" b="1" dirty="0" smtClean="0">
                <a:latin typeface="Arial"/>
                <a:ea typeface="Arial"/>
                <a:cs typeface="Arial"/>
                <a:sym typeface="Arial"/>
              </a:rPr>
              <a:t> </a:t>
            </a:r>
            <a:r>
              <a:rPr lang="en-US" sz="2000" b="1" dirty="0">
                <a:latin typeface="Arial"/>
                <a:ea typeface="Arial"/>
                <a:cs typeface="Arial"/>
                <a:sym typeface="Arial"/>
              </a:rPr>
              <a:t>Roberto M. Pelayes - </a:t>
            </a:r>
            <a:r>
              <a:rPr lang="en-US" sz="2000" b="1" dirty="0" err="1">
                <a:latin typeface="Arial"/>
                <a:ea typeface="Arial"/>
                <a:cs typeface="Arial"/>
                <a:sym typeface="Arial"/>
              </a:rPr>
              <a:t>Profesor</a:t>
            </a:r>
            <a:r>
              <a:rPr lang="en-US" sz="2000" b="1" dirty="0">
                <a:latin typeface="Arial"/>
                <a:ea typeface="Arial"/>
                <a:cs typeface="Arial"/>
                <a:sym typeface="Arial"/>
              </a:rPr>
              <a:t> </a:t>
            </a:r>
            <a:r>
              <a:rPr lang="en-US" sz="2000" b="1" dirty="0" err="1">
                <a:latin typeface="Arial"/>
                <a:ea typeface="Arial"/>
                <a:cs typeface="Arial"/>
                <a:sym typeface="Arial"/>
              </a:rPr>
              <a:t>Adjunto</a:t>
            </a:r>
            <a:r>
              <a:rPr lang="en-US" sz="2000" b="1" dirty="0">
                <a:latin typeface="Arial"/>
                <a:ea typeface="Arial"/>
                <a:cs typeface="Arial"/>
                <a:sym typeface="Arial"/>
              </a:rPr>
              <a:t> a Cargo.</a:t>
            </a:r>
            <a:endParaRPr dirty="0"/>
          </a:p>
          <a:p>
            <a:pPr marL="0" lvl="0" indent="0" algn="ctr" rtl="0">
              <a:spcBef>
                <a:spcPts val="1000"/>
              </a:spcBef>
              <a:spcAft>
                <a:spcPts val="0"/>
              </a:spcAft>
              <a:buSzPct val="80000"/>
              <a:buNone/>
            </a:pPr>
            <a:r>
              <a:rPr lang="en-US" sz="2000" b="1" dirty="0" err="1">
                <a:latin typeface="Arial"/>
                <a:ea typeface="Arial"/>
                <a:cs typeface="Arial"/>
                <a:sym typeface="Arial"/>
              </a:rPr>
              <a:t>Especialista</a:t>
            </a:r>
            <a:r>
              <a:rPr lang="en-US" sz="2000" b="1" dirty="0">
                <a:latin typeface="Arial"/>
                <a:ea typeface="Arial"/>
                <a:cs typeface="Arial"/>
                <a:sym typeface="Arial"/>
              </a:rPr>
              <a:t> en </a:t>
            </a:r>
            <a:r>
              <a:rPr lang="en-US" sz="2000" b="1" dirty="0" err="1">
                <a:latin typeface="Arial"/>
                <a:ea typeface="Arial"/>
                <a:cs typeface="Arial"/>
                <a:sym typeface="Arial"/>
              </a:rPr>
              <a:t>Medicina</a:t>
            </a:r>
            <a:r>
              <a:rPr lang="en-US" sz="2000" b="1" dirty="0">
                <a:latin typeface="Arial"/>
                <a:ea typeface="Arial"/>
                <a:cs typeface="Arial"/>
                <a:sym typeface="Arial"/>
              </a:rPr>
              <a:t> </a:t>
            </a:r>
            <a:r>
              <a:rPr lang="en-US" sz="2000" b="1" dirty="0" err="1">
                <a:latin typeface="Arial"/>
                <a:ea typeface="Arial"/>
                <a:cs typeface="Arial"/>
                <a:sym typeface="Arial"/>
              </a:rPr>
              <a:t>Interna</a:t>
            </a:r>
            <a:r>
              <a:rPr lang="en-US" sz="2000" b="1" dirty="0">
                <a:latin typeface="Arial"/>
                <a:ea typeface="Arial"/>
                <a:cs typeface="Arial"/>
                <a:sym typeface="Arial"/>
              </a:rPr>
              <a:t> - </a:t>
            </a:r>
            <a:r>
              <a:rPr lang="en-US" sz="2000" b="1" dirty="0" err="1">
                <a:latin typeface="Arial"/>
                <a:ea typeface="Arial"/>
                <a:cs typeface="Arial"/>
                <a:sym typeface="Arial"/>
              </a:rPr>
              <a:t>Endocrinología</a:t>
            </a:r>
            <a:r>
              <a:rPr lang="en-US" sz="2000" b="1" dirty="0">
                <a:latin typeface="Arial"/>
                <a:ea typeface="Arial"/>
                <a:cs typeface="Arial"/>
                <a:sym typeface="Arial"/>
              </a:rPr>
              <a:t> - </a:t>
            </a:r>
            <a:r>
              <a:rPr lang="en-US" sz="2000" b="1" dirty="0" err="1">
                <a:latin typeface="Arial"/>
                <a:ea typeface="Arial"/>
                <a:cs typeface="Arial"/>
                <a:sym typeface="Arial"/>
              </a:rPr>
              <a:t>Diabetología</a:t>
            </a:r>
            <a:endParaRPr dirty="0"/>
          </a:p>
          <a:p>
            <a:pPr marL="0" lvl="0" indent="0" algn="ctr" rtl="0">
              <a:spcBef>
                <a:spcPts val="1000"/>
              </a:spcBef>
              <a:spcAft>
                <a:spcPts val="0"/>
              </a:spcAft>
              <a:buSzPct val="80000"/>
              <a:buNone/>
            </a:pPr>
            <a:r>
              <a:rPr lang="en-US" sz="2000" b="1" dirty="0">
                <a:latin typeface="Arial"/>
                <a:ea typeface="Arial"/>
                <a:cs typeface="Arial"/>
                <a:sym typeface="Arial"/>
              </a:rPr>
              <a:t>Jefe </a:t>
            </a:r>
            <a:r>
              <a:rPr lang="en-US" sz="2000" b="1" dirty="0" err="1">
                <a:latin typeface="Arial"/>
                <a:ea typeface="Arial"/>
                <a:cs typeface="Arial"/>
                <a:sym typeface="Arial"/>
              </a:rPr>
              <a:t>Sección</a:t>
            </a:r>
            <a:r>
              <a:rPr lang="en-US" sz="2000" b="1" dirty="0">
                <a:latin typeface="Arial"/>
                <a:ea typeface="Arial"/>
                <a:cs typeface="Arial"/>
                <a:sym typeface="Arial"/>
              </a:rPr>
              <a:t> </a:t>
            </a:r>
            <a:r>
              <a:rPr lang="en-US" sz="2000" b="1" dirty="0" err="1">
                <a:latin typeface="Arial"/>
                <a:ea typeface="Arial"/>
                <a:cs typeface="Arial"/>
                <a:sym typeface="Arial"/>
              </a:rPr>
              <a:t>Endocrinología</a:t>
            </a:r>
            <a:r>
              <a:rPr lang="en-US" sz="2000" b="1" dirty="0">
                <a:latin typeface="Arial"/>
                <a:ea typeface="Arial"/>
                <a:cs typeface="Arial"/>
                <a:sym typeface="Arial"/>
              </a:rPr>
              <a:t> y Diabetes. Hospital T. J. </a:t>
            </a:r>
            <a:r>
              <a:rPr lang="en-US" sz="2000" b="1" dirty="0" err="1">
                <a:latin typeface="Arial"/>
                <a:ea typeface="Arial"/>
                <a:cs typeface="Arial"/>
                <a:sym typeface="Arial"/>
              </a:rPr>
              <a:t>Schestakow</a:t>
            </a:r>
            <a:endParaRPr dirty="0"/>
          </a:p>
          <a:p>
            <a:pPr marL="0" lvl="0" indent="0" algn="ctr" rtl="0">
              <a:spcBef>
                <a:spcPts val="1000"/>
              </a:spcBef>
              <a:spcAft>
                <a:spcPts val="0"/>
              </a:spcAft>
              <a:buSzPct val="80000"/>
              <a:buNone/>
            </a:pPr>
            <a:r>
              <a:rPr lang="en-US" sz="2000" b="1" dirty="0">
                <a:latin typeface="Arial"/>
                <a:ea typeface="Arial"/>
                <a:cs typeface="Arial"/>
                <a:sym typeface="Arial"/>
              </a:rPr>
              <a:t>Prof. de Grado </a:t>
            </a:r>
            <a:r>
              <a:rPr lang="en-US" sz="2000" b="1" dirty="0" err="1">
                <a:latin typeface="Arial"/>
                <a:ea typeface="Arial"/>
                <a:cs typeface="Arial"/>
                <a:sym typeface="Arial"/>
              </a:rPr>
              <a:t>Universitario</a:t>
            </a:r>
            <a:r>
              <a:rPr lang="en-US" sz="2000" b="1" dirty="0">
                <a:latin typeface="Arial"/>
                <a:ea typeface="Arial"/>
                <a:cs typeface="Arial"/>
                <a:sym typeface="Arial"/>
              </a:rPr>
              <a:t> </a:t>
            </a:r>
            <a:r>
              <a:rPr lang="en-US" sz="2000" b="1" dirty="0" err="1">
                <a:latin typeface="Arial"/>
                <a:ea typeface="Arial"/>
                <a:cs typeface="Arial"/>
                <a:sym typeface="Arial"/>
              </a:rPr>
              <a:t>en</a:t>
            </a:r>
            <a:r>
              <a:rPr lang="en-US" sz="2000" b="1" dirty="0">
                <a:latin typeface="Arial"/>
                <a:ea typeface="Arial"/>
                <a:cs typeface="Arial"/>
                <a:sym typeface="Arial"/>
              </a:rPr>
              <a:t> </a:t>
            </a:r>
            <a:r>
              <a:rPr lang="en-US" sz="2000" b="1" dirty="0" err="1" smtClean="0">
                <a:latin typeface="Arial"/>
                <a:ea typeface="Arial"/>
                <a:cs typeface="Arial"/>
                <a:sym typeface="Arial"/>
              </a:rPr>
              <a:t>Medicina</a:t>
            </a:r>
            <a:endParaRPr lang="en-US" sz="2000" b="1" dirty="0" smtClean="0">
              <a:latin typeface="Arial"/>
              <a:ea typeface="Arial"/>
              <a:cs typeface="Arial"/>
              <a:sym typeface="Arial"/>
            </a:endParaRPr>
          </a:p>
          <a:p>
            <a:pPr marL="0" lvl="0" indent="0" algn="ctr" rtl="0">
              <a:spcBef>
                <a:spcPts val="1000"/>
              </a:spcBef>
              <a:spcAft>
                <a:spcPts val="0"/>
              </a:spcAft>
              <a:buSzPct val="80000"/>
              <a:buNone/>
            </a:pPr>
            <a:endParaRPr lang="en-US" sz="2000" b="1" dirty="0" smtClean="0">
              <a:latin typeface="Arial"/>
              <a:ea typeface="Arial"/>
              <a:cs typeface="Arial"/>
              <a:sym typeface="Arial"/>
            </a:endParaRPr>
          </a:p>
          <a:p>
            <a:pPr marL="0" lvl="0" indent="0" algn="ctr" rtl="0">
              <a:spcBef>
                <a:spcPts val="1000"/>
              </a:spcBef>
              <a:spcAft>
                <a:spcPts val="0"/>
              </a:spcAft>
              <a:buSzPct val="80000"/>
              <a:buNone/>
            </a:pPr>
            <a:r>
              <a:rPr lang="en-US" b="1" dirty="0" smtClean="0">
                <a:latin typeface="Arial"/>
                <a:cs typeface="Arial"/>
                <a:sym typeface="Arial"/>
              </a:rPr>
              <a:t>Dr. Franco </a:t>
            </a:r>
            <a:r>
              <a:rPr lang="en-US" b="1" dirty="0" err="1" smtClean="0">
                <a:latin typeface="Arial"/>
                <a:cs typeface="Arial"/>
                <a:sym typeface="Arial"/>
              </a:rPr>
              <a:t>Bellomo</a:t>
            </a:r>
            <a:r>
              <a:rPr lang="en-US" b="1" dirty="0" smtClean="0">
                <a:latin typeface="Arial"/>
                <a:cs typeface="Arial"/>
                <a:sym typeface="Arial"/>
              </a:rPr>
              <a:t> – JTP </a:t>
            </a:r>
          </a:p>
          <a:p>
            <a:pPr marL="0" lvl="0" indent="0" algn="ctr" rtl="0">
              <a:spcBef>
                <a:spcPts val="1000"/>
              </a:spcBef>
              <a:spcAft>
                <a:spcPts val="0"/>
              </a:spcAft>
              <a:buSzPct val="80000"/>
              <a:buNone/>
            </a:pPr>
            <a:r>
              <a:rPr lang="en-US" b="1" dirty="0" err="1" smtClean="0">
                <a:latin typeface="Arial"/>
                <a:cs typeface="Arial"/>
                <a:sym typeface="Arial"/>
              </a:rPr>
              <a:t>Especialista</a:t>
            </a:r>
            <a:r>
              <a:rPr lang="en-US" b="1" dirty="0" smtClean="0">
                <a:latin typeface="Arial"/>
                <a:cs typeface="Arial"/>
                <a:sym typeface="Arial"/>
              </a:rPr>
              <a:t> </a:t>
            </a:r>
            <a:r>
              <a:rPr lang="en-US" b="1" dirty="0" err="1" smtClean="0">
                <a:latin typeface="Arial"/>
                <a:cs typeface="Arial"/>
                <a:sym typeface="Arial"/>
              </a:rPr>
              <a:t>Clinica</a:t>
            </a:r>
            <a:r>
              <a:rPr lang="en-US" b="1" dirty="0" smtClean="0">
                <a:latin typeface="Arial"/>
                <a:cs typeface="Arial"/>
                <a:sym typeface="Arial"/>
              </a:rPr>
              <a:t> </a:t>
            </a:r>
            <a:r>
              <a:rPr lang="en-US" b="1" dirty="0" err="1" smtClean="0">
                <a:latin typeface="Arial"/>
                <a:cs typeface="Arial"/>
                <a:sym typeface="Arial"/>
              </a:rPr>
              <a:t>Médica</a:t>
            </a:r>
            <a:r>
              <a:rPr lang="en-US" b="1" dirty="0" smtClean="0">
                <a:latin typeface="Arial"/>
                <a:cs typeface="Arial"/>
                <a:sym typeface="Arial"/>
              </a:rPr>
              <a:t> y </a:t>
            </a:r>
            <a:r>
              <a:rPr lang="en-US" b="1" dirty="0" err="1" smtClean="0">
                <a:latin typeface="Arial"/>
                <a:cs typeface="Arial"/>
                <a:sym typeface="Arial"/>
              </a:rPr>
              <a:t>diabetología</a:t>
            </a:r>
            <a:endParaRPr dirty="0"/>
          </a:p>
          <a:p>
            <a:pPr marL="0" lvl="0" indent="0" algn="ctr" rtl="0">
              <a:spcBef>
                <a:spcPts val="1000"/>
              </a:spcBef>
              <a:spcAft>
                <a:spcPts val="0"/>
              </a:spcAft>
              <a:buSzPct val="80000"/>
              <a:buNone/>
            </a:pPr>
            <a:endParaRPr b="1" dirty="0">
              <a:latin typeface="Arial"/>
              <a:ea typeface="Arial"/>
              <a:cs typeface="Arial"/>
              <a:sym typeface="Arial"/>
            </a:endParaRPr>
          </a:p>
        </p:txBody>
      </p:sp>
      <p:pic>
        <p:nvPicPr>
          <p:cNvPr id="149" name="Google Shape;149;p1"/>
          <p:cNvPicPr preferRelativeResize="0"/>
          <p:nvPr/>
        </p:nvPicPr>
        <p:blipFill>
          <a:blip r:embed="rId3">
            <a:alphaModFix/>
          </a:blip>
          <a:stretch>
            <a:fillRect/>
          </a:stretch>
        </p:blipFill>
        <p:spPr>
          <a:xfrm>
            <a:off x="439151" y="369901"/>
            <a:ext cx="1397888" cy="1252954"/>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
          <p:cNvSpPr txBox="1">
            <a:spLocks noGrp="1"/>
          </p:cNvSpPr>
          <p:nvPr>
            <p:ph type="body" idx="1"/>
          </p:nvPr>
        </p:nvSpPr>
        <p:spPr>
          <a:xfrm>
            <a:off x="1622700" y="2158314"/>
            <a:ext cx="8946600" cy="3006809"/>
          </a:xfrm>
          <a:prstGeom prst="rect">
            <a:avLst/>
          </a:prstGeom>
          <a:noFill/>
          <a:ln>
            <a:noFill/>
          </a:ln>
          <a:effectLst>
            <a:glow rad="139700">
              <a:schemeClr val="accent4">
                <a:satMod val="175000"/>
                <a:alpha val="40000"/>
              </a:schemeClr>
            </a:glow>
          </a:effectLst>
        </p:spPr>
        <p:txBody>
          <a:bodyPr spcFirstLastPara="1" wrap="square" lIns="91425" tIns="45700" rIns="91425" bIns="45700" anchor="t" anchorCtr="0">
            <a:normAutofit/>
          </a:bodyPr>
          <a:lstStyle/>
          <a:p>
            <a:pPr marL="342900" lvl="0" indent="-342900" algn="ctr" rtl="0">
              <a:spcBef>
                <a:spcPts val="0"/>
              </a:spcBef>
              <a:spcAft>
                <a:spcPts val="0"/>
              </a:spcAft>
              <a:buSzPts val="3520"/>
              <a:buFont typeface="Century Gothic"/>
              <a:buNone/>
            </a:pPr>
            <a:endParaRPr sz="4400" b="1" dirty="0">
              <a:latin typeface="Arial"/>
              <a:ea typeface="Arial"/>
              <a:cs typeface="Arial"/>
              <a:sym typeface="Arial"/>
            </a:endParaRPr>
          </a:p>
          <a:p>
            <a:pPr marL="342900" lvl="0" indent="-342900" algn="ctr" rtl="0">
              <a:spcBef>
                <a:spcPts val="1000"/>
              </a:spcBef>
              <a:spcAft>
                <a:spcPts val="0"/>
              </a:spcAft>
              <a:buSzPts val="3520"/>
              <a:buFont typeface="Arial"/>
              <a:buNone/>
            </a:pPr>
            <a:r>
              <a:rPr lang="en-US" sz="4400" b="1" dirty="0">
                <a:solidFill>
                  <a:schemeClr val="accent1"/>
                </a:solidFill>
                <a:latin typeface="Arial"/>
                <a:ea typeface="Arial"/>
                <a:cs typeface="Arial"/>
                <a:sym typeface="Arial"/>
              </a:rPr>
              <a:t>HIPOTIROIDISMO</a:t>
            </a:r>
            <a:endParaRPr sz="4400" b="1" dirty="0">
              <a:solidFill>
                <a:schemeClr val="accent1"/>
              </a:solidFill>
              <a:latin typeface="Arial"/>
              <a:ea typeface="Arial"/>
              <a:cs typeface="Arial"/>
              <a:sym typeface="Arial"/>
            </a:endParaRPr>
          </a:p>
        </p:txBody>
      </p:sp>
      <p:pic>
        <p:nvPicPr>
          <p:cNvPr id="155" name="Google Shape;155;p2"/>
          <p:cNvPicPr preferRelativeResize="0"/>
          <p:nvPr/>
        </p:nvPicPr>
        <p:blipFill>
          <a:blip r:embed="rId3">
            <a:alphaModFix/>
          </a:blip>
          <a:stretch>
            <a:fillRect/>
          </a:stretch>
        </p:blipFill>
        <p:spPr>
          <a:xfrm>
            <a:off x="782400" y="676359"/>
            <a:ext cx="2102342" cy="1748118"/>
          </a:xfrm>
          <a:prstGeom prst="rect">
            <a:avLst/>
          </a:prstGeom>
          <a:noFill/>
          <a:ln>
            <a:noFill/>
          </a:ln>
          <a:effectLst>
            <a:outerShdw blurRad="50800" dist="38100" dir="2700000" algn="tl" rotWithShape="0">
              <a:prstClr val="black">
                <a:alpha val="40000"/>
              </a:prstClr>
            </a:outerShdw>
            <a:reflection endPos="65000" dist="50800" dir="5400000" sy="-100000" algn="bl" rotWithShape="0"/>
            <a:softEdge rad="254000"/>
          </a:effectLst>
        </p:spPr>
      </p:pic>
    </p:spTree>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
          <p:cNvSpPr txBox="1">
            <a:spLocks noGrp="1"/>
          </p:cNvSpPr>
          <p:nvPr>
            <p:ph type="title"/>
          </p:nvPr>
        </p:nvSpPr>
        <p:spPr>
          <a:xfrm>
            <a:off x="838200" y="365126"/>
            <a:ext cx="10515600" cy="676496"/>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DEFINICIÓN</a:t>
            </a:r>
            <a:endParaRPr sz="3600" b="1" dirty="0">
              <a:solidFill>
                <a:schemeClr val="accent1"/>
              </a:solidFill>
              <a:latin typeface="Arial"/>
              <a:ea typeface="Arial"/>
              <a:cs typeface="Arial"/>
              <a:sym typeface="Arial"/>
            </a:endParaRPr>
          </a:p>
        </p:txBody>
      </p:sp>
      <p:sp>
        <p:nvSpPr>
          <p:cNvPr id="161" name="Google Shape;161;p3"/>
          <p:cNvSpPr txBox="1">
            <a:spLocks noGrp="1"/>
          </p:cNvSpPr>
          <p:nvPr>
            <p:ph type="body" idx="1"/>
          </p:nvPr>
        </p:nvSpPr>
        <p:spPr>
          <a:xfrm>
            <a:off x="518983" y="1524049"/>
            <a:ext cx="10915135" cy="51849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None/>
            </a:pPr>
            <a:r>
              <a:rPr lang="en-US" sz="2400" b="1" dirty="0" err="1" smtClean="0">
                <a:latin typeface="Arial"/>
                <a:ea typeface="Arial"/>
                <a:cs typeface="Arial"/>
                <a:sym typeface="Arial"/>
              </a:rPr>
              <a:t>Entidad</a:t>
            </a:r>
            <a:r>
              <a:rPr lang="en-US" sz="2400" b="1" dirty="0" smtClean="0">
                <a:latin typeface="Arial"/>
                <a:ea typeface="Arial"/>
                <a:cs typeface="Arial"/>
                <a:sym typeface="Arial"/>
              </a:rPr>
              <a:t> clínica </a:t>
            </a:r>
            <a:r>
              <a:rPr lang="en-US" sz="2400" b="1" dirty="0">
                <a:latin typeface="Arial"/>
                <a:ea typeface="Arial"/>
                <a:cs typeface="Arial"/>
                <a:sym typeface="Arial"/>
              </a:rPr>
              <a:t>caracterizada por la existencia de concentraciones séricas insuficientes de </a:t>
            </a:r>
            <a:r>
              <a:rPr lang="en-US" sz="2400" b="1" dirty="0" err="1">
                <a:latin typeface="Arial"/>
                <a:ea typeface="Arial"/>
                <a:cs typeface="Arial"/>
                <a:sym typeface="Arial"/>
              </a:rPr>
              <a:t>hormonas</a:t>
            </a:r>
            <a:r>
              <a:rPr lang="en-US" sz="2400" b="1" dirty="0">
                <a:latin typeface="Arial"/>
                <a:ea typeface="Arial"/>
                <a:cs typeface="Arial"/>
                <a:sym typeface="Arial"/>
              </a:rPr>
              <a:t> tiroideas o de su efecto en relación a los requerimientos biológicos.</a:t>
            </a:r>
            <a:endParaRPr sz="2400" b="1" dirty="0">
              <a:latin typeface="Arial"/>
              <a:ea typeface="Arial"/>
              <a:cs typeface="Arial"/>
              <a:sym typeface="Arial"/>
            </a:endParaRPr>
          </a:p>
          <a:p>
            <a:pPr marL="342900" lvl="0" indent="-342900" algn="just" rtl="0">
              <a:lnSpc>
                <a:spcPct val="90000"/>
              </a:lnSpc>
              <a:spcBef>
                <a:spcPts val="1000"/>
              </a:spcBef>
              <a:spcAft>
                <a:spcPts val="0"/>
              </a:spcAft>
              <a:buSzPts val="1920"/>
              <a:buFont typeface="Century Gothic"/>
              <a:buNone/>
            </a:pPr>
            <a:endParaRPr sz="2400" b="1" dirty="0">
              <a:latin typeface="Arial"/>
              <a:ea typeface="Arial"/>
              <a:cs typeface="Arial"/>
              <a:sym typeface="Arial"/>
            </a:endParaRPr>
          </a:p>
          <a:p>
            <a:pPr marL="0" lvl="0" indent="0" algn="just" rtl="0">
              <a:lnSpc>
                <a:spcPct val="90000"/>
              </a:lnSpc>
              <a:spcBef>
                <a:spcPts val="1000"/>
              </a:spcBef>
              <a:spcAft>
                <a:spcPts val="0"/>
              </a:spcAft>
              <a:buNone/>
            </a:pPr>
            <a:r>
              <a:rPr lang="en-US" sz="2400" b="1" dirty="0" err="1" smtClean="0">
                <a:latin typeface="Arial"/>
                <a:ea typeface="Arial"/>
                <a:cs typeface="Arial"/>
                <a:sym typeface="Arial"/>
              </a:rPr>
              <a:t>Puede</a:t>
            </a:r>
            <a:r>
              <a:rPr lang="en-US" sz="2400" b="1" dirty="0" smtClean="0">
                <a:latin typeface="Arial"/>
                <a:ea typeface="Arial"/>
                <a:cs typeface="Arial"/>
                <a:sym typeface="Arial"/>
              </a:rPr>
              <a:t> </a:t>
            </a:r>
            <a:r>
              <a:rPr lang="en-US" sz="2400" b="1" dirty="0">
                <a:latin typeface="Arial"/>
                <a:ea typeface="Arial"/>
                <a:cs typeface="Arial"/>
                <a:sym typeface="Arial"/>
              </a:rPr>
              <a:t>ser debida a </a:t>
            </a:r>
            <a:r>
              <a:rPr lang="en-US" sz="2400" b="1" dirty="0" err="1">
                <a:latin typeface="Arial"/>
                <a:ea typeface="Arial"/>
                <a:cs typeface="Arial"/>
                <a:sym typeface="Arial"/>
              </a:rPr>
              <a:t>disminución</a:t>
            </a:r>
            <a:r>
              <a:rPr lang="en-US" sz="2400" b="1" dirty="0">
                <a:latin typeface="Arial"/>
                <a:ea typeface="Arial"/>
                <a:cs typeface="Arial"/>
                <a:sym typeface="Arial"/>
              </a:rPr>
              <a:t> en la síntesis, secreción o en la acción de éstas.</a:t>
            </a:r>
            <a:endParaRPr sz="2400" b="1" dirty="0">
              <a:latin typeface="Arial"/>
              <a:ea typeface="Arial"/>
              <a:cs typeface="Arial"/>
              <a:sym typeface="Arial"/>
            </a:endParaRPr>
          </a:p>
          <a:p>
            <a:pPr marL="342900" lvl="0" indent="-342900" algn="just" rtl="0">
              <a:lnSpc>
                <a:spcPct val="90000"/>
              </a:lnSpc>
              <a:spcBef>
                <a:spcPts val="1000"/>
              </a:spcBef>
              <a:spcAft>
                <a:spcPts val="0"/>
              </a:spcAft>
              <a:buSzPts val="1920"/>
              <a:buFont typeface="Century Gothic"/>
              <a:buNone/>
            </a:pPr>
            <a:endParaRPr sz="2400" b="1" dirty="0">
              <a:latin typeface="Arial"/>
              <a:ea typeface="Arial"/>
              <a:cs typeface="Arial"/>
              <a:sym typeface="Arial"/>
            </a:endParaRPr>
          </a:p>
          <a:p>
            <a:pPr marL="0" lvl="0" indent="0" algn="just" rtl="0">
              <a:lnSpc>
                <a:spcPct val="90000"/>
              </a:lnSpc>
              <a:spcBef>
                <a:spcPts val="1000"/>
              </a:spcBef>
              <a:spcAft>
                <a:spcPts val="0"/>
              </a:spcAft>
              <a:buNone/>
            </a:pPr>
            <a:r>
              <a:rPr lang="en-US" sz="2400" b="1" dirty="0" err="1" smtClean="0">
                <a:latin typeface="Arial"/>
                <a:ea typeface="Arial"/>
                <a:cs typeface="Arial"/>
                <a:sym typeface="Arial"/>
              </a:rPr>
              <a:t>Puede</a:t>
            </a:r>
            <a:r>
              <a:rPr lang="en-US" sz="2400" b="1" dirty="0" smtClean="0">
                <a:latin typeface="Arial"/>
                <a:ea typeface="Arial"/>
                <a:cs typeface="Arial"/>
                <a:sym typeface="Arial"/>
              </a:rPr>
              <a:t> </a:t>
            </a:r>
            <a:r>
              <a:rPr lang="en-US" sz="2400" b="1" dirty="0">
                <a:latin typeface="Arial"/>
                <a:ea typeface="Arial"/>
                <a:cs typeface="Arial"/>
                <a:sym typeface="Arial"/>
              </a:rPr>
              <a:t>presentarse en cualquier etapa de </a:t>
            </a:r>
            <a:r>
              <a:rPr lang="en-US" sz="2400" b="1" dirty="0" smtClean="0">
                <a:latin typeface="Arial"/>
                <a:ea typeface="Arial"/>
                <a:cs typeface="Arial"/>
                <a:sym typeface="Arial"/>
              </a:rPr>
              <a:t>vida, y </a:t>
            </a:r>
            <a:r>
              <a:rPr lang="en-US" sz="2400" b="1" dirty="0">
                <a:latin typeface="Arial"/>
                <a:ea typeface="Arial"/>
                <a:cs typeface="Arial"/>
                <a:sym typeface="Arial"/>
              </a:rPr>
              <a:t>tendrá características propias según la edad en que acontece.</a:t>
            </a:r>
            <a:endParaRPr sz="2400" b="1" dirty="0">
              <a:latin typeface="Arial"/>
              <a:ea typeface="Arial"/>
              <a:cs typeface="Arial"/>
              <a:sym typeface="Arial"/>
            </a:endParaRP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8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xEl>
                                              <p:pRg st="0" end="0"/>
                                            </p:txEl>
                                          </p:spTgt>
                                        </p:tgtEl>
                                        <p:attrNameLst>
                                          <p:attrName>style.visibility</p:attrName>
                                        </p:attrNameLst>
                                      </p:cBhvr>
                                      <p:to>
                                        <p:strVal val="visible"/>
                                      </p:to>
                                    </p:set>
                                    <p:animEffect transition="in" filter="fade">
                                      <p:cBhvr>
                                        <p:cTn id="12" dur="1000"/>
                                        <p:tgtEl>
                                          <p:spTgt spid="16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1">
                                            <p:txEl>
                                              <p:pRg st="2" end="2"/>
                                            </p:txEl>
                                          </p:spTgt>
                                        </p:tgtEl>
                                        <p:attrNameLst>
                                          <p:attrName>style.visibility</p:attrName>
                                        </p:attrNameLst>
                                      </p:cBhvr>
                                      <p:to>
                                        <p:strVal val="visible"/>
                                      </p:to>
                                    </p:set>
                                    <p:animEffect transition="in" filter="fade">
                                      <p:cBhvr>
                                        <p:cTn id="17" dur="1000"/>
                                        <p:tgtEl>
                                          <p:spTgt spid="1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1">
                                            <p:txEl>
                                              <p:pRg st="4" end="4"/>
                                            </p:txEl>
                                          </p:spTgt>
                                        </p:tgtEl>
                                        <p:attrNameLst>
                                          <p:attrName>style.visibility</p:attrName>
                                        </p:attrNameLst>
                                      </p:cBhvr>
                                      <p:to>
                                        <p:strVal val="visible"/>
                                      </p:to>
                                    </p:set>
                                    <p:animEffect transition="in" filter="fade">
                                      <p:cBhvr>
                                        <p:cTn id="22" dur="1000"/>
                                        <p:tgtEl>
                                          <p:spTgt spid="16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
          <p:cNvSpPr txBox="1">
            <a:spLocks noGrp="1"/>
          </p:cNvSpPr>
          <p:nvPr>
            <p:ph type="title"/>
          </p:nvPr>
        </p:nvSpPr>
        <p:spPr>
          <a:xfrm>
            <a:off x="646111" y="452718"/>
            <a:ext cx="9404700" cy="91476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2"/>
              </a:buClr>
              <a:buSzPts val="4200"/>
              <a:buFont typeface="Century Gothic"/>
              <a:buNone/>
            </a:pPr>
            <a:r>
              <a:rPr lang="en-US" sz="3600" b="1" dirty="0">
                <a:solidFill>
                  <a:schemeClr val="accent1"/>
                </a:solidFill>
                <a:latin typeface="Arial"/>
                <a:ea typeface="Arial"/>
                <a:cs typeface="Arial"/>
                <a:sym typeface="Arial"/>
              </a:rPr>
              <a:t>GENERALIDADES</a:t>
            </a:r>
            <a:endParaRPr sz="3600" b="1" dirty="0">
              <a:solidFill>
                <a:schemeClr val="accent1"/>
              </a:solidFill>
              <a:latin typeface="Arial"/>
              <a:ea typeface="Arial"/>
              <a:cs typeface="Arial"/>
              <a:sym typeface="Arial"/>
            </a:endParaRPr>
          </a:p>
        </p:txBody>
      </p:sp>
      <p:sp>
        <p:nvSpPr>
          <p:cNvPr id="167" name="Google Shape;167;p4"/>
          <p:cNvSpPr txBox="1">
            <a:spLocks noGrp="1"/>
          </p:cNvSpPr>
          <p:nvPr>
            <p:ph type="body" idx="1"/>
          </p:nvPr>
        </p:nvSpPr>
        <p:spPr>
          <a:xfrm>
            <a:off x="1293340" y="1779373"/>
            <a:ext cx="9580606" cy="428367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b="1" dirty="0" err="1" smtClean="0">
                <a:latin typeface="Arial"/>
                <a:ea typeface="Arial"/>
                <a:cs typeface="Arial"/>
                <a:sym typeface="Arial"/>
              </a:rPr>
              <a:t>Deficiencia</a:t>
            </a:r>
            <a:r>
              <a:rPr lang="en-US" sz="2400" b="1" dirty="0" smtClean="0">
                <a:latin typeface="Arial"/>
                <a:ea typeface="Arial"/>
                <a:cs typeface="Arial"/>
                <a:sym typeface="Arial"/>
              </a:rPr>
              <a:t> </a:t>
            </a:r>
            <a:r>
              <a:rPr lang="en-US" sz="2400" b="1" dirty="0">
                <a:latin typeface="Arial"/>
                <a:ea typeface="Arial"/>
                <a:cs typeface="Arial"/>
                <a:sym typeface="Arial"/>
              </a:rPr>
              <a:t>hormonal más </a:t>
            </a:r>
            <a:r>
              <a:rPr lang="en-US" sz="2400" b="1" dirty="0" smtClean="0">
                <a:latin typeface="Arial"/>
                <a:ea typeface="Arial"/>
                <a:cs typeface="Arial"/>
                <a:sym typeface="Arial"/>
              </a:rPr>
              <a:t>común</a:t>
            </a:r>
            <a:r>
              <a:rPr lang="en-US" sz="2400" b="1" dirty="0">
                <a:latin typeface="Arial"/>
                <a:ea typeface="Arial"/>
                <a:cs typeface="Arial"/>
                <a:sym typeface="Arial"/>
              </a:rPr>
              <a:t>.</a:t>
            </a:r>
            <a:endParaRPr sz="2400" b="1" dirty="0">
              <a:latin typeface="Arial"/>
              <a:ea typeface="Arial"/>
              <a:cs typeface="Arial"/>
              <a:sym typeface="Arial"/>
            </a:endParaRPr>
          </a:p>
          <a:p>
            <a:pPr marL="342900" lvl="0" indent="-241300" algn="l" rtl="0">
              <a:spcBef>
                <a:spcPts val="1000"/>
              </a:spcBef>
              <a:spcAft>
                <a:spcPts val="0"/>
              </a:spcAft>
              <a:buSzPts val="1600"/>
              <a:buNone/>
            </a:pPr>
            <a:endParaRPr sz="2400" b="1" dirty="0">
              <a:latin typeface="Arial"/>
              <a:ea typeface="Arial"/>
              <a:cs typeface="Arial"/>
              <a:sym typeface="Arial"/>
            </a:endParaRPr>
          </a:p>
          <a:p>
            <a:pPr marL="0" lvl="0" indent="0" algn="l" rtl="0">
              <a:spcBef>
                <a:spcPts val="1000"/>
              </a:spcBef>
              <a:spcAft>
                <a:spcPts val="0"/>
              </a:spcAft>
              <a:buNone/>
            </a:pPr>
            <a:r>
              <a:rPr lang="en-US" sz="2400" b="1" dirty="0" err="1" smtClean="0">
                <a:latin typeface="Arial"/>
                <a:ea typeface="Arial"/>
                <a:cs typeface="Arial"/>
                <a:sym typeface="Arial"/>
              </a:rPr>
              <a:t>Diagnóstico</a:t>
            </a:r>
            <a:r>
              <a:rPr lang="en-US" sz="2400" b="1" dirty="0" smtClean="0">
                <a:latin typeface="Arial"/>
                <a:ea typeface="Arial"/>
                <a:cs typeface="Arial"/>
                <a:sym typeface="Arial"/>
              </a:rPr>
              <a:t> </a:t>
            </a:r>
            <a:r>
              <a:rPr lang="en-US" sz="2400" b="1" dirty="0">
                <a:latin typeface="Arial"/>
                <a:ea typeface="Arial"/>
                <a:cs typeface="Arial"/>
                <a:sym typeface="Arial"/>
              </a:rPr>
              <a:t>rápido.</a:t>
            </a:r>
            <a:endParaRPr sz="2400" b="1" dirty="0">
              <a:latin typeface="Arial"/>
              <a:ea typeface="Arial"/>
              <a:cs typeface="Arial"/>
              <a:sym typeface="Arial"/>
            </a:endParaRPr>
          </a:p>
          <a:p>
            <a:pPr marL="342900" lvl="0" indent="-241300" algn="l" rtl="0">
              <a:spcBef>
                <a:spcPts val="1000"/>
              </a:spcBef>
              <a:spcAft>
                <a:spcPts val="0"/>
              </a:spcAft>
              <a:buSzPts val="1600"/>
              <a:buNone/>
            </a:pPr>
            <a:endParaRPr sz="2400" b="1" dirty="0">
              <a:latin typeface="Arial"/>
              <a:ea typeface="Arial"/>
              <a:cs typeface="Arial"/>
              <a:sym typeface="Arial"/>
            </a:endParaRPr>
          </a:p>
          <a:p>
            <a:pPr marL="0" lvl="0" indent="0" algn="l" rtl="0">
              <a:spcBef>
                <a:spcPts val="1000"/>
              </a:spcBef>
              <a:spcAft>
                <a:spcPts val="0"/>
              </a:spcAft>
              <a:buNone/>
            </a:pPr>
            <a:r>
              <a:rPr lang="en-US" sz="2400" b="1" dirty="0" smtClean="0">
                <a:latin typeface="Arial"/>
                <a:ea typeface="Arial"/>
                <a:cs typeface="Arial"/>
                <a:sym typeface="Arial"/>
              </a:rPr>
              <a:t>Buena </a:t>
            </a:r>
            <a:r>
              <a:rPr lang="en-US" sz="2400" b="1" dirty="0">
                <a:latin typeface="Arial"/>
                <a:ea typeface="Arial"/>
                <a:cs typeface="Arial"/>
                <a:sym typeface="Arial"/>
              </a:rPr>
              <a:t>evolución.</a:t>
            </a:r>
            <a:endParaRPr sz="2400" b="1" dirty="0">
              <a:latin typeface="Arial"/>
              <a:ea typeface="Arial"/>
              <a:cs typeface="Arial"/>
              <a:sym typeface="Arial"/>
            </a:endParaRPr>
          </a:p>
          <a:p>
            <a:pPr marL="342900" lvl="0" indent="-241300" algn="l" rtl="0">
              <a:spcBef>
                <a:spcPts val="1000"/>
              </a:spcBef>
              <a:spcAft>
                <a:spcPts val="0"/>
              </a:spcAft>
              <a:buSzPts val="1600"/>
              <a:buNone/>
            </a:pPr>
            <a:endParaRPr sz="2400" b="1" dirty="0"/>
          </a:p>
          <a:p>
            <a:pPr marL="342900" lvl="0" indent="-241300" algn="l" rtl="0">
              <a:spcBef>
                <a:spcPts val="1000"/>
              </a:spcBef>
              <a:spcAft>
                <a:spcPts val="0"/>
              </a:spcAft>
              <a:buSzPts val="1600"/>
              <a:buNone/>
            </a:pP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6"/>
          <p:cNvSpPr txBox="1">
            <a:spLocks noGrp="1"/>
          </p:cNvSpPr>
          <p:nvPr>
            <p:ph type="title"/>
          </p:nvPr>
        </p:nvSpPr>
        <p:spPr>
          <a:xfrm>
            <a:off x="838200" y="628153"/>
            <a:ext cx="10515600" cy="1109741"/>
          </a:xfrm>
          <a:prstGeom prst="rect">
            <a:avLst/>
          </a:prstGeom>
          <a:noFill/>
          <a:ln>
            <a:noFill/>
          </a:ln>
        </p:spPr>
        <p:txBody>
          <a:bodyPr spcFirstLastPara="1" wrap="square" lIns="91425" tIns="45700" rIns="91425" bIns="45700" anchor="t" anchorCtr="0">
            <a:noAutofit/>
          </a:bodyPr>
          <a:lstStyle/>
          <a:p>
            <a:pPr marL="25400" lvl="0" algn="ctr" rtl="0">
              <a:spcBef>
                <a:spcPts val="0"/>
              </a:spcBef>
              <a:spcAft>
                <a:spcPts val="0"/>
              </a:spcAft>
              <a:buSzPts val="3200"/>
            </a:pPr>
            <a:r>
              <a:rPr lang="en-US" sz="3600" b="1" dirty="0">
                <a:solidFill>
                  <a:schemeClr val="accent1"/>
                </a:solidFill>
                <a:latin typeface="Arial"/>
                <a:ea typeface="Arial"/>
                <a:cs typeface="Arial"/>
                <a:sym typeface="Arial"/>
              </a:rPr>
              <a:t>EPIDEMIOLOGÍA</a:t>
            </a:r>
            <a:br>
              <a:rPr lang="en-US" sz="3600" b="1" dirty="0">
                <a:solidFill>
                  <a:schemeClr val="accent1"/>
                </a:solidFill>
                <a:latin typeface="Arial"/>
                <a:ea typeface="Arial"/>
                <a:cs typeface="Arial"/>
                <a:sym typeface="Arial"/>
              </a:rPr>
            </a:br>
            <a:r>
              <a:rPr lang="en-US" sz="3600" b="1" dirty="0">
                <a:solidFill>
                  <a:schemeClr val="accent1"/>
                </a:solidFill>
              </a:rPr>
              <a:t>               </a:t>
            </a:r>
            <a:endParaRPr sz="3600" dirty="0">
              <a:solidFill>
                <a:schemeClr val="accent1"/>
              </a:solidFill>
            </a:endParaRPr>
          </a:p>
        </p:txBody>
      </p:sp>
      <p:sp>
        <p:nvSpPr>
          <p:cNvPr id="173" name="Google Shape;173;p6"/>
          <p:cNvSpPr txBox="1">
            <a:spLocks noGrp="1"/>
          </p:cNvSpPr>
          <p:nvPr>
            <p:ph type="title" idx="4294967295"/>
          </p:nvPr>
        </p:nvSpPr>
        <p:spPr>
          <a:xfrm>
            <a:off x="626076" y="1433383"/>
            <a:ext cx="10931610" cy="4810897"/>
          </a:xfrm>
          <a:prstGeom prst="rect">
            <a:avLst/>
          </a:prstGeom>
          <a:noFill/>
          <a:ln>
            <a:noFill/>
          </a:ln>
        </p:spPr>
        <p:txBody>
          <a:bodyPr spcFirstLastPara="1" wrap="square" lIns="91425" tIns="45700" rIns="91425" bIns="45700" anchor="t" anchorCtr="0">
            <a:normAutofit/>
          </a:bodyPr>
          <a:lstStyle/>
          <a:p>
            <a:r>
              <a:rPr lang="es-AR" sz="2400" b="1" dirty="0" smtClean="0">
                <a:latin typeface="+mj-lt"/>
              </a:rPr>
              <a:t>Es más frecuente en mujeres que en hombres.</a:t>
            </a:r>
            <a:br>
              <a:rPr lang="es-AR" sz="2400" b="1" dirty="0" smtClean="0">
                <a:latin typeface="+mj-lt"/>
              </a:rPr>
            </a:br>
            <a:r>
              <a:rPr lang="es-AR" sz="2400" b="1" dirty="0" smtClean="0">
                <a:latin typeface="+mj-lt"/>
              </a:rPr>
              <a:t/>
            </a:r>
            <a:br>
              <a:rPr lang="es-AR" sz="2400" b="1" dirty="0" smtClean="0">
                <a:latin typeface="+mj-lt"/>
              </a:rPr>
            </a:br>
            <a:r>
              <a:rPr lang="es-AR" sz="2400" b="1" dirty="0" smtClean="0">
                <a:latin typeface="+mj-lt"/>
              </a:rPr>
              <a:t>Más frecuente la presentación subclínica vs la clínica.</a:t>
            </a:r>
            <a:br>
              <a:rPr lang="es-AR" sz="2400" b="1" dirty="0" smtClean="0">
                <a:latin typeface="+mj-lt"/>
              </a:rPr>
            </a:br>
            <a:r>
              <a:rPr lang="es-AR" sz="2400" b="1" dirty="0" smtClean="0">
                <a:latin typeface="+mj-lt"/>
              </a:rPr>
              <a:t/>
            </a:r>
            <a:br>
              <a:rPr lang="es-AR" sz="2400" b="1" dirty="0" smtClean="0">
                <a:latin typeface="+mj-lt"/>
              </a:rPr>
            </a:br>
            <a:r>
              <a:rPr lang="en-US" sz="2400" b="1" dirty="0" err="1" smtClean="0">
                <a:latin typeface="+mj-lt"/>
                <a:ea typeface="Arial"/>
                <a:cs typeface="Arial"/>
                <a:sym typeface="Arial"/>
              </a:rPr>
              <a:t>Aumento</a:t>
            </a:r>
            <a:r>
              <a:rPr lang="en-US" sz="2400" b="1" dirty="0" smtClean="0">
                <a:latin typeface="+mj-lt"/>
                <a:ea typeface="Arial"/>
                <a:cs typeface="Arial"/>
                <a:sym typeface="Arial"/>
              </a:rPr>
              <a:t> de </a:t>
            </a:r>
            <a:r>
              <a:rPr lang="en-US" sz="2400" b="1" dirty="0" err="1" smtClean="0">
                <a:latin typeface="+mj-lt"/>
                <a:ea typeface="Arial"/>
                <a:cs typeface="Arial"/>
                <a:sym typeface="Arial"/>
              </a:rPr>
              <a:t>incidencia</a:t>
            </a:r>
            <a:r>
              <a:rPr lang="en-US" sz="2400" b="1" dirty="0" smtClean="0">
                <a:latin typeface="+mj-lt"/>
                <a:ea typeface="Arial"/>
                <a:cs typeface="Arial"/>
                <a:sym typeface="Arial"/>
              </a:rPr>
              <a:t> con la </a:t>
            </a:r>
            <a:r>
              <a:rPr lang="en-US" sz="2400" b="1" dirty="0" err="1" smtClean="0">
                <a:latin typeface="+mj-lt"/>
                <a:ea typeface="Arial"/>
                <a:cs typeface="Arial"/>
                <a:sym typeface="Arial"/>
              </a:rPr>
              <a:t>edad</a:t>
            </a:r>
            <a:r>
              <a:rPr lang="en-US" sz="2400" b="1" dirty="0" smtClean="0">
                <a:latin typeface="+mj-lt"/>
                <a:ea typeface="Arial"/>
                <a:cs typeface="Arial"/>
                <a:sym typeface="Arial"/>
              </a:rPr>
              <a:t>. (m</a:t>
            </a:r>
            <a:r>
              <a:rPr lang="es-AR" sz="2400" b="1" dirty="0" smtClean="0">
                <a:latin typeface="+mj-lt"/>
                <a:ea typeface="Arial"/>
                <a:cs typeface="Arial"/>
                <a:sym typeface="Arial"/>
              </a:rPr>
              <a:t>á</a:t>
            </a:r>
            <a:r>
              <a:rPr lang="en-US" sz="2400" b="1" dirty="0" smtClean="0">
                <a:latin typeface="+mj-lt"/>
                <a:ea typeface="Arial"/>
                <a:cs typeface="Arial"/>
                <a:sym typeface="Arial"/>
              </a:rPr>
              <a:t>s </a:t>
            </a:r>
            <a:r>
              <a:rPr lang="en-US" sz="2400" b="1" dirty="0" err="1" smtClean="0">
                <a:latin typeface="+mj-lt"/>
                <a:ea typeface="Arial"/>
                <a:cs typeface="Arial"/>
                <a:sym typeface="Arial"/>
              </a:rPr>
              <a:t>frecuente</a:t>
            </a:r>
            <a:r>
              <a:rPr lang="en-US" sz="2400" b="1" dirty="0" smtClean="0">
                <a:latin typeface="+mj-lt"/>
                <a:ea typeface="Arial"/>
                <a:cs typeface="Arial"/>
                <a:sym typeface="Arial"/>
              </a:rPr>
              <a:t> </a:t>
            </a:r>
            <a:r>
              <a:rPr lang="en-US" sz="2400" b="1" dirty="0" err="1" smtClean="0">
                <a:latin typeface="+mj-lt"/>
                <a:ea typeface="Arial"/>
                <a:cs typeface="Arial"/>
                <a:sym typeface="Arial"/>
              </a:rPr>
              <a:t>luego</a:t>
            </a:r>
            <a:r>
              <a:rPr lang="en-US" sz="2400" b="1" dirty="0" smtClean="0">
                <a:latin typeface="+mj-lt"/>
                <a:ea typeface="Arial"/>
                <a:cs typeface="Arial"/>
                <a:sym typeface="Arial"/>
              </a:rPr>
              <a:t> de </a:t>
            </a:r>
            <a:r>
              <a:rPr lang="en-US" sz="2400" b="1" dirty="0" err="1" smtClean="0">
                <a:latin typeface="+mj-lt"/>
                <a:ea typeface="Arial"/>
                <a:cs typeface="Arial"/>
                <a:sym typeface="Arial"/>
              </a:rPr>
              <a:t>los</a:t>
            </a:r>
            <a:r>
              <a:rPr lang="en-US" sz="2400" b="1" dirty="0" smtClean="0">
                <a:latin typeface="+mj-lt"/>
                <a:ea typeface="Arial"/>
                <a:cs typeface="Arial"/>
                <a:sym typeface="Arial"/>
              </a:rPr>
              <a:t> 60  </a:t>
            </a:r>
            <a:r>
              <a:rPr lang="en-US" sz="2400" b="1" dirty="0" err="1" smtClean="0">
                <a:latin typeface="+mj-lt"/>
                <a:ea typeface="Arial"/>
                <a:cs typeface="Arial"/>
                <a:sym typeface="Arial"/>
              </a:rPr>
              <a:t>años</a:t>
            </a:r>
            <a:r>
              <a:rPr lang="en-US" sz="2400" b="1" dirty="0" smtClean="0">
                <a:latin typeface="+mj-lt"/>
                <a:ea typeface="Arial"/>
                <a:cs typeface="Arial"/>
                <a:sym typeface="Arial"/>
              </a:rPr>
              <a:t>)</a:t>
            </a:r>
            <a:br>
              <a:rPr lang="en-US" sz="2400" b="1" dirty="0" smtClean="0">
                <a:latin typeface="+mj-lt"/>
                <a:ea typeface="Arial"/>
                <a:cs typeface="Arial"/>
                <a:sym typeface="Arial"/>
              </a:rPr>
            </a:br>
            <a:endParaRPr sz="2400" b="1" dirty="0" smtClean="0">
              <a:latin typeface="+mj-lt"/>
              <a:ea typeface="Arial"/>
              <a:cs typeface="Arial"/>
              <a:sym typeface="Arial"/>
            </a:endParaRPr>
          </a:p>
          <a:p>
            <a:pPr marL="0" lvl="0" indent="0" rtl="0">
              <a:spcBef>
                <a:spcPts val="0"/>
              </a:spcBef>
              <a:spcAft>
                <a:spcPts val="0"/>
              </a:spcAft>
              <a:buClr>
                <a:schemeClr val="lt2"/>
              </a:buClr>
              <a:buSzPts val="3200"/>
              <a:buFont typeface="Arial"/>
              <a:buNone/>
            </a:pPr>
            <a:r>
              <a:rPr lang="en-US" sz="2400" b="1" dirty="0" err="1" smtClean="0">
                <a:latin typeface="+mj-lt"/>
                <a:ea typeface="Arial"/>
                <a:cs typeface="Arial"/>
                <a:sym typeface="Arial"/>
              </a:rPr>
              <a:t>Relación</a:t>
            </a:r>
            <a:r>
              <a:rPr lang="en-US" sz="2400" b="1" dirty="0" smtClean="0">
                <a:latin typeface="+mj-lt"/>
                <a:ea typeface="Arial"/>
                <a:cs typeface="Arial"/>
                <a:sym typeface="Arial"/>
              </a:rPr>
              <a:t> </a:t>
            </a:r>
            <a:r>
              <a:rPr lang="en-US" sz="2400" b="1" dirty="0" err="1" smtClean="0">
                <a:latin typeface="+mj-lt"/>
                <a:ea typeface="Arial"/>
                <a:cs typeface="Arial"/>
                <a:sym typeface="Arial"/>
              </a:rPr>
              <a:t>primario</a:t>
            </a:r>
            <a:r>
              <a:rPr lang="en-US" sz="2400" b="1" dirty="0" smtClean="0">
                <a:latin typeface="+mj-lt"/>
                <a:ea typeface="Arial"/>
                <a:cs typeface="Arial"/>
                <a:sym typeface="Arial"/>
              </a:rPr>
              <a:t> - </a:t>
            </a:r>
            <a:r>
              <a:rPr lang="en-US" sz="2400" b="1" dirty="0" err="1" smtClean="0">
                <a:latin typeface="+mj-lt"/>
                <a:ea typeface="Arial"/>
                <a:cs typeface="Arial"/>
                <a:sym typeface="Arial"/>
              </a:rPr>
              <a:t>secundario</a:t>
            </a:r>
            <a:r>
              <a:rPr lang="en-US" sz="2400" b="1" dirty="0" smtClean="0">
                <a:latin typeface="+mj-lt"/>
                <a:ea typeface="Arial"/>
                <a:cs typeface="Arial"/>
                <a:sym typeface="Arial"/>
              </a:rPr>
              <a:t> 1000:1</a:t>
            </a:r>
            <a:br>
              <a:rPr lang="en-US" sz="2400" b="1" dirty="0" smtClean="0">
                <a:latin typeface="+mj-lt"/>
                <a:ea typeface="Arial"/>
                <a:cs typeface="Arial"/>
                <a:sym typeface="Arial"/>
              </a:rPr>
            </a:br>
            <a:r>
              <a:rPr lang="en-US" sz="2400" b="1" dirty="0" smtClean="0">
                <a:latin typeface="+mj-lt"/>
                <a:ea typeface="Arial"/>
                <a:cs typeface="Arial"/>
                <a:sym typeface="Arial"/>
              </a:rPr>
              <a:t/>
            </a:r>
            <a:br>
              <a:rPr lang="en-US" sz="2400" b="1" dirty="0" smtClean="0">
                <a:latin typeface="+mj-lt"/>
                <a:ea typeface="Arial"/>
                <a:cs typeface="Arial"/>
                <a:sym typeface="Arial"/>
              </a:rPr>
            </a:br>
            <a:r>
              <a:rPr lang="en-US" sz="2400" b="1" dirty="0" err="1" smtClean="0">
                <a:latin typeface="+mj-lt"/>
                <a:ea typeface="Arial"/>
                <a:cs typeface="Arial"/>
                <a:sym typeface="Arial"/>
              </a:rPr>
              <a:t>Prevalencia</a:t>
            </a:r>
            <a:r>
              <a:rPr lang="en-US" sz="2400" b="1" dirty="0" smtClean="0">
                <a:latin typeface="+mj-lt"/>
                <a:ea typeface="Arial"/>
                <a:cs typeface="Arial"/>
                <a:sym typeface="Arial"/>
              </a:rPr>
              <a:t> 0,1 a 2%</a:t>
            </a:r>
            <a:br>
              <a:rPr lang="en-US" sz="2400" b="1" dirty="0" smtClean="0">
                <a:latin typeface="+mj-lt"/>
                <a:ea typeface="Arial"/>
                <a:cs typeface="Arial"/>
                <a:sym typeface="Arial"/>
              </a:rPr>
            </a:br>
            <a:endParaRPr sz="2400" b="1" dirty="0" smtClean="0">
              <a:latin typeface="+mj-lt"/>
              <a:ea typeface="Arial"/>
              <a:cs typeface="Arial"/>
              <a:sym typeface="Arial"/>
            </a:endParaRPr>
          </a:p>
          <a:p>
            <a:pPr marL="0" lvl="0" indent="0" rtl="0">
              <a:spcBef>
                <a:spcPts val="0"/>
              </a:spcBef>
              <a:spcAft>
                <a:spcPts val="0"/>
              </a:spcAft>
              <a:buClr>
                <a:schemeClr val="lt2"/>
              </a:buClr>
              <a:buSzPts val="3200"/>
              <a:buFont typeface="Arial"/>
              <a:buNone/>
            </a:pPr>
            <a:r>
              <a:rPr lang="en-US" sz="2400" b="1" dirty="0" err="1" smtClean="0">
                <a:latin typeface="+mj-lt"/>
                <a:ea typeface="Arial"/>
                <a:cs typeface="Arial"/>
                <a:sym typeface="Arial"/>
              </a:rPr>
              <a:t>Subclínico</a:t>
            </a:r>
            <a:r>
              <a:rPr lang="en-US" sz="2400" b="1" dirty="0" smtClean="0">
                <a:latin typeface="+mj-lt"/>
                <a:ea typeface="Arial"/>
                <a:cs typeface="Arial"/>
                <a:sym typeface="Arial"/>
              </a:rPr>
              <a:t>: hasta </a:t>
            </a:r>
            <a:r>
              <a:rPr lang="en-US" sz="2400" b="1" dirty="0">
                <a:latin typeface="+mj-lt"/>
                <a:ea typeface="Arial"/>
                <a:cs typeface="Arial"/>
                <a:sym typeface="Arial"/>
              </a:rPr>
              <a:t>15% en mujeres ancianas.</a:t>
            </a:r>
            <a:br>
              <a:rPr lang="en-US" sz="2400" b="1" dirty="0">
                <a:latin typeface="+mj-lt"/>
                <a:ea typeface="Arial"/>
                <a:cs typeface="Arial"/>
                <a:sym typeface="Arial"/>
              </a:rPr>
            </a:br>
            <a:r>
              <a:rPr lang="en-US" sz="2400" b="1" dirty="0">
                <a:latin typeface="+mj-lt"/>
              </a:rPr>
              <a:t>               </a:t>
            </a:r>
            <a:endParaRPr sz="2400" b="1" dirty="0">
              <a:latin typeface="+mj-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p:cNvSpPr>
            <a:spLocks noGrp="1"/>
          </p:cNvSpPr>
          <p:nvPr>
            <p:ph type="body" idx="1"/>
          </p:nvPr>
        </p:nvSpPr>
        <p:spPr>
          <a:xfrm>
            <a:off x="646111" y="1688757"/>
            <a:ext cx="10549111" cy="4852086"/>
          </a:xfrm>
        </p:spPr>
        <p:txBody>
          <a:bodyPr>
            <a:normAutofit/>
          </a:bodyPr>
          <a:lstStyle/>
          <a:p>
            <a:pPr marL="137160" indent="0">
              <a:buNone/>
            </a:pPr>
            <a:r>
              <a:rPr lang="es-ES" sz="2400" b="1" dirty="0">
                <a:latin typeface="+mj-lt"/>
                <a:cs typeface="Arial" pitchFamily="34" charset="0"/>
              </a:rPr>
              <a:t>Estudio </a:t>
            </a:r>
            <a:r>
              <a:rPr lang="es-ES" sz="2400" b="1" dirty="0" err="1">
                <a:latin typeface="+mj-lt"/>
                <a:cs typeface="Arial" pitchFamily="34" charset="0"/>
              </a:rPr>
              <a:t>Wickham</a:t>
            </a:r>
            <a:r>
              <a:rPr lang="es-ES" sz="2400" b="1" dirty="0">
                <a:latin typeface="+mj-lt"/>
                <a:cs typeface="Arial" pitchFamily="34" charset="0"/>
              </a:rPr>
              <a:t> (n=2779) prevalencia 1-2%, relación ♀:♂ de 10:1, prevalencia HSC 7,5% ♀ y 2,8% ♂</a:t>
            </a:r>
          </a:p>
          <a:p>
            <a:pPr>
              <a:buFont typeface="Arial" pitchFamily="34" charset="0"/>
              <a:buChar char="•"/>
            </a:pPr>
            <a:endParaRPr lang="es-ES" sz="2400" b="1" dirty="0">
              <a:latin typeface="+mj-lt"/>
              <a:cs typeface="Arial" pitchFamily="34" charset="0"/>
            </a:endParaRPr>
          </a:p>
          <a:p>
            <a:pPr marL="137160" indent="0">
              <a:buNone/>
            </a:pPr>
            <a:r>
              <a:rPr lang="es-ES" sz="2400" b="1" dirty="0">
                <a:latin typeface="+mj-lt"/>
                <a:cs typeface="Arial" pitchFamily="34" charset="0"/>
              </a:rPr>
              <a:t>NHANES III (n=16353) prevalencia 4,1% (90% HSC), mayor prevalencia en mujeres y con la edad. TPO+ relacionados con enfermedad</a:t>
            </a:r>
          </a:p>
          <a:p>
            <a:pPr>
              <a:buFont typeface="Arial" pitchFamily="34" charset="0"/>
              <a:buChar char="•"/>
            </a:pPr>
            <a:endParaRPr lang="es-ES" sz="2400" b="1" dirty="0">
              <a:latin typeface="+mj-lt"/>
              <a:cs typeface="Arial" pitchFamily="34" charset="0"/>
            </a:endParaRPr>
          </a:p>
          <a:p>
            <a:pPr marL="137160" indent="0">
              <a:buNone/>
            </a:pPr>
            <a:r>
              <a:rPr lang="es-ES" sz="2400" b="1" dirty="0" smtClean="0">
                <a:latin typeface="+mj-lt"/>
                <a:cs typeface="Arial" pitchFamily="34" charset="0"/>
              </a:rPr>
              <a:t>Estudio </a:t>
            </a:r>
            <a:r>
              <a:rPr lang="es-ES" sz="2400" b="1" dirty="0">
                <a:latin typeface="+mj-lt"/>
                <a:cs typeface="Arial" pitchFamily="34" charset="0"/>
              </a:rPr>
              <a:t>de Colorado (n=25000) prevalencia de 9,5% (1% HC)</a:t>
            </a:r>
          </a:p>
          <a:p>
            <a:pPr marL="137160" indent="0">
              <a:buNone/>
            </a:pPr>
            <a:endParaRPr lang="es-AR" sz="2400" b="1" dirty="0" smtClean="0">
              <a:latin typeface="+mj-lt"/>
            </a:endParaRPr>
          </a:p>
          <a:p>
            <a:pPr marL="137160" indent="0">
              <a:buNone/>
            </a:pPr>
            <a:endParaRPr lang="es-AR" sz="2400" b="1" dirty="0">
              <a:latin typeface="+mj-lt"/>
            </a:endParaRPr>
          </a:p>
          <a:p>
            <a:pPr marL="137160" indent="0">
              <a:buNone/>
            </a:pPr>
            <a:r>
              <a:rPr lang="en-US" sz="1100" dirty="0" smtClean="0">
                <a:solidFill>
                  <a:schemeClr val="bg1"/>
                </a:solidFill>
                <a:latin typeface="Arial" panose="020B0604020202020204" pitchFamily="34" charset="0"/>
                <a:cs typeface="Arial" panose="020B0604020202020204" pitchFamily="34" charset="0"/>
              </a:rPr>
              <a:t>                                                                        Salvai </a:t>
            </a:r>
            <a:r>
              <a:rPr lang="en-US" sz="1100" dirty="0">
                <a:solidFill>
                  <a:schemeClr val="bg1"/>
                </a:solidFill>
                <a:latin typeface="Arial" panose="020B0604020202020204" pitchFamily="34" charset="0"/>
                <a:cs typeface="Arial" panose="020B0604020202020204" pitchFamily="34" charset="0"/>
              </a:rPr>
              <a:t>ME, Niepomniszcze H. Definicion, clasificacion y Diagnostico del Hipotiroidismo. Tratado Argentino de Tiroides</a:t>
            </a:r>
            <a:endParaRPr lang="es-ES" sz="1100" dirty="0">
              <a:solidFill>
                <a:schemeClr val="bg1"/>
              </a:solidFill>
              <a:latin typeface="Arial" panose="020B0604020202020204" pitchFamily="34" charset="0"/>
              <a:cs typeface="Arial" panose="020B0604020202020204" pitchFamily="34" charset="0"/>
            </a:endParaRPr>
          </a:p>
          <a:p>
            <a:pPr marL="137160" indent="0">
              <a:buNone/>
            </a:pPr>
            <a:endParaRPr lang="es-AR" sz="1100" b="1" dirty="0"/>
          </a:p>
        </p:txBody>
      </p:sp>
    </p:spTree>
    <p:extLst>
      <p:ext uri="{BB962C8B-B14F-4D97-AF65-F5344CB8AC3E}">
        <p14:creationId xmlns:p14="http://schemas.microsoft.com/office/powerpoint/2010/main" val="3429606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413792"/>
            <a:ext cx="8229600" cy="1143000"/>
          </a:xfrm>
        </p:spPr>
        <p:txBody>
          <a:bodyPr anchor="ctr">
            <a:normAutofit/>
          </a:bodyPr>
          <a:lstStyle/>
          <a:p>
            <a:pPr algn="ctr"/>
            <a:r>
              <a:rPr lang="es-ES" sz="3600" b="1" dirty="0">
                <a:latin typeface="Arial" pitchFamily="34" charset="0"/>
                <a:cs typeface="Arial" pitchFamily="34" charset="0"/>
              </a:rPr>
              <a:t>CAUSAS</a:t>
            </a:r>
          </a:p>
        </p:txBody>
      </p:sp>
      <p:sp>
        <p:nvSpPr>
          <p:cNvPr id="5" name="TextBox 4"/>
          <p:cNvSpPr txBox="1"/>
          <p:nvPr/>
        </p:nvSpPr>
        <p:spPr>
          <a:xfrm>
            <a:off x="2186731" y="6427113"/>
            <a:ext cx="9766371" cy="261610"/>
          </a:xfrm>
          <a:prstGeom prst="rect">
            <a:avLst/>
          </a:prstGeom>
          <a:noFill/>
        </p:spPr>
        <p:txBody>
          <a:bodyPr wrap="square" rtlCol="0">
            <a:spAutoFit/>
          </a:bodyPr>
          <a:lstStyle/>
          <a:p>
            <a:r>
              <a:rPr lang="en-US" sz="1100" dirty="0" smtClean="0">
                <a:solidFill>
                  <a:schemeClr val="bg1"/>
                </a:solidFill>
              </a:rPr>
              <a:t>                                                Salvai </a:t>
            </a:r>
            <a:r>
              <a:rPr lang="en-US" sz="1100" dirty="0">
                <a:solidFill>
                  <a:schemeClr val="bg1"/>
                </a:solidFill>
              </a:rPr>
              <a:t>ME, Niepomniszcze H. Definicion, clasificacion y Diagnostico del Hipotiroidismo. Tratado Argentino de Tiroides</a:t>
            </a:r>
            <a:endParaRPr lang="es-ES" sz="1100" dirty="0">
              <a:solidFill>
                <a:schemeClr val="bg1"/>
              </a:solidFill>
            </a:endParaRPr>
          </a:p>
        </p:txBody>
      </p:sp>
      <p:graphicFrame>
        <p:nvGraphicFramePr>
          <p:cNvPr id="6" name="5 Tabla"/>
          <p:cNvGraphicFramePr>
            <a:graphicFrameLocks noGrp="1"/>
          </p:cNvGraphicFramePr>
          <p:nvPr>
            <p:extLst>
              <p:ext uri="{D42A27DB-BD31-4B8C-83A1-F6EECF244321}">
                <p14:modId xmlns:p14="http://schemas.microsoft.com/office/powerpoint/2010/main" val="2433469211"/>
              </p:ext>
            </p:extLst>
          </p:nvPr>
        </p:nvGraphicFramePr>
        <p:xfrm>
          <a:off x="1869989" y="222423"/>
          <a:ext cx="8237623" cy="6005382"/>
        </p:xfrm>
        <a:graphic>
          <a:graphicData uri="http://schemas.openxmlformats.org/drawingml/2006/table">
            <a:tbl>
              <a:tblPr firstRow="1" bandRow="1">
                <a:tableStyleId>{5C22544A-7EE6-4342-B048-85BDC9FD1C3A}</a:tableStyleId>
              </a:tblPr>
              <a:tblGrid>
                <a:gridCol w="3465457">
                  <a:extLst>
                    <a:ext uri="{9D8B030D-6E8A-4147-A177-3AD203B41FA5}">
                      <a16:colId xmlns:a16="http://schemas.microsoft.com/office/drawing/2014/main" val="20000"/>
                    </a:ext>
                  </a:extLst>
                </a:gridCol>
                <a:gridCol w="4772166">
                  <a:extLst>
                    <a:ext uri="{9D8B030D-6E8A-4147-A177-3AD203B41FA5}">
                      <a16:colId xmlns:a16="http://schemas.microsoft.com/office/drawing/2014/main" val="20001"/>
                    </a:ext>
                  </a:extLst>
                </a:gridCol>
              </a:tblGrid>
              <a:tr h="656842">
                <a:tc gridSpan="2">
                  <a:txBody>
                    <a:bodyPr/>
                    <a:lstStyle/>
                    <a:p>
                      <a:pPr algn="ctr"/>
                      <a:r>
                        <a:rPr lang="es-MX" sz="3200" b="1" dirty="0" smtClean="0"/>
                        <a:t>CAUSAS</a:t>
                      </a:r>
                      <a:endParaRPr lang="es-AR" sz="3200" b="1" dirty="0"/>
                    </a:p>
                  </a:txBody>
                  <a:tcPr/>
                </a:tc>
                <a:tc hMerge="1">
                  <a:txBody>
                    <a:bodyPr/>
                    <a:lstStyle/>
                    <a:p>
                      <a:endParaRPr lang="es-AR" dirty="0"/>
                    </a:p>
                  </a:txBody>
                  <a:tcPr/>
                </a:tc>
                <a:extLst>
                  <a:ext uri="{0D108BD9-81ED-4DB2-BD59-A6C34878D82A}">
                    <a16:rowId xmlns:a16="http://schemas.microsoft.com/office/drawing/2014/main" val="10000"/>
                  </a:ext>
                </a:extLst>
              </a:tr>
              <a:tr h="3626128">
                <a:tc>
                  <a:txBody>
                    <a:bodyPr/>
                    <a:lstStyle/>
                    <a:p>
                      <a:r>
                        <a:rPr lang="es-AR" dirty="0" smtClean="0"/>
                        <a:t>HIPOTIROIDISMO</a:t>
                      </a:r>
                      <a:r>
                        <a:rPr lang="es-AR" baseline="0" dirty="0" smtClean="0"/>
                        <a:t> PRIMARIO</a:t>
                      </a:r>
                      <a:endParaRPr lang="es-AR" dirty="0"/>
                    </a:p>
                  </a:txBody>
                  <a:tcPr/>
                </a:tc>
                <a:tc>
                  <a:txBody>
                    <a:bodyPr/>
                    <a:lstStyle/>
                    <a:p>
                      <a:pPr marL="0" indent="0">
                        <a:buFont typeface="Arial" pitchFamily="34" charset="0"/>
                        <a:buNone/>
                      </a:pPr>
                      <a:r>
                        <a:rPr lang="es-AR" b="1" i="0" dirty="0" smtClean="0"/>
                        <a:t>Tiroiditis crónica autoinmune o enfermedad</a:t>
                      </a:r>
                      <a:r>
                        <a:rPr lang="es-AR" b="1" i="0" baseline="0" dirty="0" smtClean="0"/>
                        <a:t> de Hashimoto ( 90%)</a:t>
                      </a:r>
                    </a:p>
                    <a:p>
                      <a:pPr marL="0" indent="0">
                        <a:buFont typeface="Arial" pitchFamily="34" charset="0"/>
                        <a:buNone/>
                      </a:pPr>
                      <a:endParaRPr lang="es-AR" b="1" i="0" baseline="0" dirty="0" smtClean="0"/>
                    </a:p>
                    <a:p>
                      <a:pPr marL="0" indent="0">
                        <a:buFont typeface="Arial" pitchFamily="34" charset="0"/>
                        <a:buNone/>
                      </a:pPr>
                      <a:r>
                        <a:rPr lang="es-AR" i="0" baseline="0" dirty="0" smtClean="0"/>
                        <a:t>Déficit de Iodo ( bocio endémico)</a:t>
                      </a:r>
                    </a:p>
                    <a:p>
                      <a:pPr marL="0" indent="0">
                        <a:buFont typeface="Arial" pitchFamily="34" charset="0"/>
                        <a:buNone/>
                      </a:pPr>
                      <a:endParaRPr lang="es-AR" i="0" baseline="0" dirty="0" smtClean="0"/>
                    </a:p>
                    <a:p>
                      <a:pPr marL="0" indent="0">
                        <a:buFont typeface="Arial" pitchFamily="34" charset="0"/>
                        <a:buNone/>
                      </a:pPr>
                      <a:r>
                        <a:rPr lang="es-AR" i="0" baseline="0" dirty="0" smtClean="0"/>
                        <a:t>Pos ablativo ( tiroidectomía, I 131, radiación)</a:t>
                      </a:r>
                    </a:p>
                    <a:p>
                      <a:pPr marL="0" indent="0">
                        <a:buFont typeface="Arial" pitchFamily="34" charset="0"/>
                        <a:buNone/>
                      </a:pPr>
                      <a:endParaRPr lang="es-AR" i="0" baseline="0" dirty="0" smtClean="0"/>
                    </a:p>
                    <a:p>
                      <a:pPr marL="0" indent="0">
                        <a:buFont typeface="Arial" pitchFamily="34" charset="0"/>
                        <a:buNone/>
                      </a:pPr>
                      <a:r>
                        <a:rPr lang="es-AR" i="0" baseline="0" dirty="0" smtClean="0"/>
                        <a:t>Por Fármacos (</a:t>
                      </a:r>
                      <a:r>
                        <a:rPr lang="es-AR" b="1" i="0" baseline="0" dirty="0" smtClean="0">
                          <a:solidFill>
                            <a:srgbClr val="FF0000"/>
                          </a:solidFill>
                        </a:rPr>
                        <a:t>Amiodarona</a:t>
                      </a:r>
                      <a:r>
                        <a:rPr lang="es-AR" b="1" i="0" baseline="0" dirty="0" smtClean="0"/>
                        <a:t>,</a:t>
                      </a:r>
                      <a:r>
                        <a:rPr lang="es-AR" i="0" baseline="0" dirty="0" smtClean="0"/>
                        <a:t> litio, interferón alfa)</a:t>
                      </a:r>
                    </a:p>
                    <a:p>
                      <a:pPr marL="0" indent="0">
                        <a:buFont typeface="Arial" pitchFamily="34" charset="0"/>
                        <a:buNone/>
                      </a:pPr>
                      <a:endParaRPr lang="es-AR" i="0" baseline="0" dirty="0" smtClean="0"/>
                    </a:p>
                    <a:p>
                      <a:pPr marL="0" indent="0">
                        <a:buFont typeface="Arial" pitchFamily="34" charset="0"/>
                        <a:buNone/>
                      </a:pPr>
                      <a:r>
                        <a:rPr lang="es-AR" i="0" baseline="0" dirty="0" smtClean="0"/>
                        <a:t>Congénito ( disgenesia, dishormonogénesis)</a:t>
                      </a:r>
                    </a:p>
                    <a:p>
                      <a:pPr marL="0" indent="0">
                        <a:buFont typeface="Arial" pitchFamily="34" charset="0"/>
                        <a:buNone/>
                      </a:pPr>
                      <a:endParaRPr lang="es-AR" i="0" baseline="0" dirty="0" smtClean="0"/>
                    </a:p>
                    <a:p>
                      <a:pPr marL="0" indent="0">
                        <a:buFont typeface="Arial" pitchFamily="34" charset="0"/>
                        <a:buNone/>
                      </a:pPr>
                      <a:r>
                        <a:rPr lang="es-AR" i="0" baseline="0" dirty="0" smtClean="0"/>
                        <a:t>Infiltrativas ( riedel, hemocromatosis, sarcoidosis, amiloidosis)</a:t>
                      </a:r>
                    </a:p>
                    <a:p>
                      <a:pPr marL="0" indent="0">
                        <a:buFont typeface="Arial" pitchFamily="34" charset="0"/>
                        <a:buNone/>
                      </a:pPr>
                      <a:endParaRPr lang="es-AR" i="0" baseline="0" dirty="0" smtClean="0"/>
                    </a:p>
                    <a:p>
                      <a:pPr marL="0" indent="0">
                        <a:buFont typeface="Arial" pitchFamily="34" charset="0"/>
                        <a:buNone/>
                      </a:pPr>
                      <a:r>
                        <a:rPr lang="es-AR" i="0" baseline="0" dirty="0" smtClean="0"/>
                        <a:t>Tiroiditis ( silente indolora, postparto o subaguda)</a:t>
                      </a:r>
                      <a:endParaRPr lang="es-AR" i="0" dirty="0"/>
                    </a:p>
                  </a:txBody>
                  <a:tcPr/>
                </a:tc>
                <a:extLst>
                  <a:ext uri="{0D108BD9-81ED-4DB2-BD59-A6C34878D82A}">
                    <a16:rowId xmlns:a16="http://schemas.microsoft.com/office/drawing/2014/main" val="10001"/>
                  </a:ext>
                </a:extLst>
              </a:tr>
              <a:tr h="1722412">
                <a:tc>
                  <a:txBody>
                    <a:bodyPr/>
                    <a:lstStyle/>
                    <a:p>
                      <a:r>
                        <a:rPr lang="es-AR" dirty="0" smtClean="0"/>
                        <a:t>HIPOTIROIDISMO SECUNDARIO</a:t>
                      </a:r>
                      <a:endParaRPr lang="es-AR" dirty="0"/>
                    </a:p>
                  </a:txBody>
                  <a:tcPr/>
                </a:tc>
                <a:tc>
                  <a:txBody>
                    <a:bodyPr/>
                    <a:lstStyle/>
                    <a:p>
                      <a:pPr marL="0" indent="0">
                        <a:buFont typeface="Arial" pitchFamily="34" charset="0"/>
                        <a:buNone/>
                      </a:pPr>
                      <a:r>
                        <a:rPr lang="es-AR" b="1" i="0" dirty="0" smtClean="0"/>
                        <a:t>Adenoma</a:t>
                      </a:r>
                      <a:r>
                        <a:rPr lang="es-AR" b="1" i="0" baseline="0" dirty="0" smtClean="0"/>
                        <a:t> hipofisario y otros tumores</a:t>
                      </a:r>
                    </a:p>
                    <a:p>
                      <a:pPr marL="0" indent="0">
                        <a:buFont typeface="Arial" pitchFamily="34" charset="0"/>
                        <a:buNone/>
                      </a:pPr>
                      <a:r>
                        <a:rPr lang="es-AR" i="0" baseline="0" dirty="0" smtClean="0"/>
                        <a:t>Radioterapia, necrosis</a:t>
                      </a:r>
                    </a:p>
                    <a:p>
                      <a:pPr marL="0" indent="0">
                        <a:buFont typeface="Arial" pitchFamily="34" charset="0"/>
                        <a:buNone/>
                      </a:pPr>
                      <a:endParaRPr lang="es-AR" i="0" baseline="0" dirty="0" smtClean="0"/>
                    </a:p>
                    <a:p>
                      <a:pPr marL="0" indent="0">
                        <a:buFont typeface="Arial" pitchFamily="34" charset="0"/>
                        <a:buNone/>
                      </a:pPr>
                      <a:r>
                        <a:rPr lang="es-AR" i="0" baseline="0" dirty="0" smtClean="0"/>
                        <a:t>Hipofisitis, causas infiltrativas ( hemocromatosis, </a:t>
                      </a:r>
                      <a:r>
                        <a:rPr lang="es-AR" i="0" baseline="0" dirty="0" err="1" smtClean="0"/>
                        <a:t>sarcoidosis</a:t>
                      </a:r>
                      <a:r>
                        <a:rPr lang="es-AR" i="0" baseline="0" dirty="0" smtClean="0"/>
                        <a:t>)</a:t>
                      </a:r>
                    </a:p>
                    <a:p>
                      <a:pPr marL="0" indent="0">
                        <a:buFont typeface="Arial" pitchFamily="34" charset="0"/>
                        <a:buNone/>
                      </a:pPr>
                      <a:endParaRPr lang="es-AR" i="0" baseline="0" dirty="0" smtClean="0"/>
                    </a:p>
                    <a:p>
                      <a:pPr marL="0" indent="0">
                        <a:buFont typeface="Arial" pitchFamily="34" charset="0"/>
                        <a:buNone/>
                      </a:pPr>
                      <a:r>
                        <a:rPr lang="es-AR" i="0" baseline="0" dirty="0" smtClean="0"/>
                        <a:t>Congénito</a:t>
                      </a:r>
                      <a:endParaRPr lang="es-AR" i="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35239171"/>
      </p:ext>
    </p:extLst>
  </p:cSld>
  <p:clrMapOvr>
    <a:masterClrMapping/>
  </p:clrMapOvr>
  <p:transition spd="slow" advTm="135654">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7"/>
          <p:cNvSpPr/>
          <p:nvPr/>
        </p:nvSpPr>
        <p:spPr>
          <a:xfrm>
            <a:off x="2021848" y="567418"/>
            <a:ext cx="8148300" cy="542400"/>
          </a:xfrm>
          <a:prstGeom prst="rect">
            <a:avLst/>
          </a:prstGeom>
          <a:solidFill>
            <a:schemeClr val="accent1"/>
          </a:solidFill>
          <a:ln>
            <a:noFill/>
          </a:ln>
          <a:effectLst>
            <a:outerShdw blurRad="149987" dist="250190" dir="8460000" algn="ctr">
              <a:srgbClr val="000000">
                <a:alpha val="2784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i="0" u="none" strike="noStrike" cap="none" dirty="0">
                <a:solidFill>
                  <a:schemeClr val="lt1"/>
                </a:solidFill>
                <a:latin typeface="Arial"/>
                <a:ea typeface="Arial"/>
                <a:cs typeface="Arial"/>
                <a:sym typeface="Arial"/>
              </a:rPr>
              <a:t>GRUPOS DE RIESGO</a:t>
            </a:r>
            <a:endParaRPr sz="3200" b="1" i="0" u="none" strike="noStrike" cap="none" dirty="0">
              <a:solidFill>
                <a:schemeClr val="lt1"/>
              </a:solidFill>
              <a:latin typeface="Arial"/>
              <a:ea typeface="Arial"/>
              <a:cs typeface="Arial"/>
              <a:sym typeface="Arial"/>
            </a:endParaRPr>
          </a:p>
        </p:txBody>
      </p:sp>
      <p:sp>
        <p:nvSpPr>
          <p:cNvPr id="179" name="Google Shape;179;p7"/>
          <p:cNvSpPr txBox="1">
            <a:spLocks noGrp="1"/>
          </p:cNvSpPr>
          <p:nvPr>
            <p:ph type="title"/>
          </p:nvPr>
        </p:nvSpPr>
        <p:spPr>
          <a:xfrm>
            <a:off x="594500" y="1367481"/>
            <a:ext cx="10515600" cy="5140411"/>
          </a:xfrm>
          <a:prstGeom prst="rect">
            <a:avLst/>
          </a:prstGeom>
          <a:noFill/>
          <a:ln>
            <a:noFill/>
          </a:ln>
        </p:spPr>
        <p:txBody>
          <a:bodyPr spcFirstLastPara="1" wrap="square" lIns="91425" tIns="45700" rIns="91425" bIns="45700" anchor="t" anchorCtr="0">
            <a:normAutofit fontScale="90000"/>
          </a:bodyPr>
          <a:lstStyle/>
          <a:p>
            <a:pPr marL="137160"/>
            <a:r>
              <a:rPr lang="es-ES" sz="2800" b="1" dirty="0">
                <a:latin typeface="Arial" pitchFamily="34" charset="0"/>
                <a:cs typeface="Arial" pitchFamily="34" charset="0"/>
              </a:rPr>
              <a:t>Mujeres postparto</a:t>
            </a:r>
            <a:br>
              <a:rPr lang="es-ES" sz="2800" b="1" dirty="0">
                <a:latin typeface="Arial" pitchFamily="34" charset="0"/>
                <a:cs typeface="Arial" pitchFamily="34" charset="0"/>
              </a:rPr>
            </a:br>
            <a:r>
              <a:rPr lang="es-ES" sz="2800" b="1" dirty="0" smtClean="0">
                <a:latin typeface="Arial" pitchFamily="34" charset="0"/>
                <a:cs typeface="Arial" pitchFamily="34" charset="0"/>
              </a:rPr>
              <a:t>Antecedentes </a:t>
            </a:r>
            <a:r>
              <a:rPr lang="es-ES" sz="2800" b="1" dirty="0">
                <a:latin typeface="Arial" pitchFamily="34" charset="0"/>
                <a:cs typeface="Arial" pitchFamily="34" charset="0"/>
              </a:rPr>
              <a:t>heredofamiliares de enfermedad tiroidea autoinmune (ETA)</a:t>
            </a:r>
            <a:br>
              <a:rPr lang="es-ES" sz="2800" b="1" dirty="0">
                <a:latin typeface="Arial" pitchFamily="34" charset="0"/>
                <a:cs typeface="Arial" pitchFamily="34" charset="0"/>
              </a:rPr>
            </a:br>
            <a:r>
              <a:rPr lang="es-ES" sz="2800" b="1" dirty="0" smtClean="0">
                <a:latin typeface="Arial" pitchFamily="34" charset="0"/>
                <a:cs typeface="Arial" pitchFamily="34" charset="0"/>
              </a:rPr>
              <a:t>Antecedentes </a:t>
            </a:r>
            <a:r>
              <a:rPr lang="es-ES" sz="2800" b="1" dirty="0">
                <a:latin typeface="Arial" pitchFamily="34" charset="0"/>
                <a:cs typeface="Arial" pitchFamily="34" charset="0"/>
              </a:rPr>
              <a:t>de radiación en cabeza o cuello</a:t>
            </a:r>
            <a:br>
              <a:rPr lang="es-ES" sz="2800" b="1" dirty="0">
                <a:latin typeface="Arial" pitchFamily="34" charset="0"/>
                <a:cs typeface="Arial" pitchFamily="34" charset="0"/>
              </a:rPr>
            </a:br>
            <a:r>
              <a:rPr lang="es-ES" sz="2800" b="1" dirty="0" smtClean="0">
                <a:latin typeface="Arial" pitchFamily="34" charset="0"/>
                <a:cs typeface="Arial" pitchFamily="34" charset="0"/>
              </a:rPr>
              <a:t>Antecedentes </a:t>
            </a:r>
            <a:r>
              <a:rPr lang="es-ES" sz="2800" b="1" dirty="0">
                <a:latin typeface="Arial" pitchFamily="34" charset="0"/>
                <a:cs typeface="Arial" pitchFamily="34" charset="0"/>
              </a:rPr>
              <a:t>de cirugía tiroidea</a:t>
            </a:r>
            <a:br>
              <a:rPr lang="es-ES" sz="2800" b="1" dirty="0">
                <a:latin typeface="Arial" pitchFamily="34" charset="0"/>
                <a:cs typeface="Arial" pitchFamily="34" charset="0"/>
              </a:rPr>
            </a:br>
            <a:r>
              <a:rPr lang="es-ES" sz="2800" b="1" dirty="0" smtClean="0">
                <a:latin typeface="Arial" pitchFamily="34" charset="0"/>
                <a:cs typeface="Arial" pitchFamily="34" charset="0"/>
              </a:rPr>
              <a:t>Endocrinopatías </a:t>
            </a:r>
            <a:r>
              <a:rPr lang="es-ES" sz="2800" b="1" dirty="0">
                <a:latin typeface="Arial" pitchFamily="34" charset="0"/>
                <a:cs typeface="Arial" pitchFamily="34" charset="0"/>
              </a:rPr>
              <a:t>autoinmunes (DM1, Addison, falla ovárica prematura)</a:t>
            </a:r>
            <a:br>
              <a:rPr lang="es-ES" sz="2800" b="1" dirty="0">
                <a:latin typeface="Arial" pitchFamily="34" charset="0"/>
                <a:cs typeface="Arial" pitchFamily="34" charset="0"/>
              </a:rPr>
            </a:br>
            <a:r>
              <a:rPr lang="es-ES" sz="2800" b="1" dirty="0" smtClean="0">
                <a:latin typeface="Arial" pitchFamily="34" charset="0"/>
                <a:cs typeface="Arial" pitchFamily="34" charset="0"/>
              </a:rPr>
              <a:t>Enfermedades </a:t>
            </a:r>
            <a:r>
              <a:rPr lang="es-ES" sz="2800" b="1" dirty="0">
                <a:latin typeface="Arial" pitchFamily="34" charset="0"/>
                <a:cs typeface="Arial" pitchFamily="34" charset="0"/>
              </a:rPr>
              <a:t>autoinmunes no endocrinas (vitíligo, celiaquía, anemia perniciosa,  </a:t>
            </a:r>
            <a:r>
              <a:rPr lang="es-ES" sz="2800" b="1" dirty="0" err="1">
                <a:latin typeface="Arial" pitchFamily="34" charset="0"/>
                <a:cs typeface="Arial" pitchFamily="34" charset="0"/>
              </a:rPr>
              <a:t>Sjorgren</a:t>
            </a:r>
            <a:r>
              <a:rPr lang="es-ES" sz="2800" b="1" dirty="0">
                <a:latin typeface="Arial" pitchFamily="34" charset="0"/>
                <a:cs typeface="Arial" pitchFamily="34" charset="0"/>
              </a:rPr>
              <a:t>, esclerosis múltiple)</a:t>
            </a:r>
            <a:br>
              <a:rPr lang="es-ES" sz="2800" b="1" dirty="0">
                <a:latin typeface="Arial" pitchFamily="34" charset="0"/>
                <a:cs typeface="Arial" pitchFamily="34" charset="0"/>
              </a:rPr>
            </a:br>
            <a:r>
              <a:rPr lang="es-ES" sz="2800" b="1" dirty="0" smtClean="0">
                <a:latin typeface="Arial" pitchFamily="34" charset="0"/>
                <a:cs typeface="Arial" pitchFamily="34" charset="0"/>
              </a:rPr>
              <a:t>Síndrome </a:t>
            </a:r>
            <a:r>
              <a:rPr lang="es-ES" sz="2800" b="1" dirty="0">
                <a:latin typeface="Arial" pitchFamily="34" charset="0"/>
                <a:cs typeface="Arial" pitchFamily="34" charset="0"/>
              </a:rPr>
              <a:t>de Down</a:t>
            </a:r>
            <a:br>
              <a:rPr lang="es-ES" sz="2800" b="1" dirty="0">
                <a:latin typeface="Arial" pitchFamily="34" charset="0"/>
                <a:cs typeface="Arial" pitchFamily="34" charset="0"/>
              </a:rPr>
            </a:br>
            <a:r>
              <a:rPr lang="es-ES" sz="2800" b="1" dirty="0" smtClean="0">
                <a:latin typeface="Arial" pitchFamily="34" charset="0"/>
                <a:cs typeface="Arial" pitchFamily="34" charset="0"/>
              </a:rPr>
              <a:t>Síndrome </a:t>
            </a:r>
            <a:r>
              <a:rPr lang="es-ES" sz="2800" b="1" dirty="0">
                <a:latin typeface="Arial" pitchFamily="34" charset="0"/>
                <a:cs typeface="Arial" pitchFamily="34" charset="0"/>
              </a:rPr>
              <a:t>de </a:t>
            </a:r>
            <a:r>
              <a:rPr lang="es-ES" sz="2800" b="1" dirty="0" smtClean="0">
                <a:latin typeface="Arial" pitchFamily="34" charset="0"/>
                <a:cs typeface="Arial" pitchFamily="34" charset="0"/>
              </a:rPr>
              <a:t>Turner</a:t>
            </a:r>
            <a:br>
              <a:rPr lang="es-ES" sz="2800" b="1" dirty="0" smtClean="0">
                <a:latin typeface="Arial" pitchFamily="34" charset="0"/>
                <a:cs typeface="Arial" pitchFamily="34" charset="0"/>
              </a:rPr>
            </a:br>
            <a:r>
              <a:rPr lang="es-ES" sz="2800" b="1" dirty="0">
                <a:latin typeface="Arial" pitchFamily="34" charset="0"/>
                <a:cs typeface="Arial" pitchFamily="34" charset="0"/>
              </a:rPr>
              <a:t/>
            </a:r>
            <a:br>
              <a:rPr lang="es-ES" sz="2800" b="1" dirty="0">
                <a:latin typeface="Arial" pitchFamily="34" charset="0"/>
                <a:cs typeface="Arial" pitchFamily="34" charset="0"/>
              </a:rPr>
            </a:br>
            <a:r>
              <a:rPr lang="es-ES" sz="2800" b="1" dirty="0" smtClean="0">
                <a:latin typeface="Arial" pitchFamily="34" charset="0"/>
                <a:cs typeface="Arial" pitchFamily="34" charset="0"/>
              </a:rPr>
              <a:t>                             </a:t>
            </a:r>
            <a:r>
              <a:rPr lang="en-US" sz="1200" dirty="0" smtClean="0">
                <a:solidFill>
                  <a:schemeClr val="bg1"/>
                </a:solidFill>
                <a:latin typeface="+mn-lt"/>
              </a:rPr>
              <a:t>Salvai </a:t>
            </a:r>
            <a:r>
              <a:rPr lang="en-US" sz="1200" dirty="0">
                <a:solidFill>
                  <a:schemeClr val="bg1"/>
                </a:solidFill>
                <a:latin typeface="+mn-lt"/>
              </a:rPr>
              <a:t>ME, Niepomniszcze H. Definicion, clasificacion y Diagnostico del Hipotiroidismo. Tratado Argentino de Tiroides</a:t>
            </a:r>
            <a:r>
              <a:rPr lang="es-ES" sz="1200" dirty="0">
                <a:solidFill>
                  <a:schemeClr val="bg1"/>
                </a:solidFill>
                <a:latin typeface="+mn-lt"/>
              </a:rPr>
              <a:t/>
            </a:r>
            <a:br>
              <a:rPr lang="es-ES" sz="1200" dirty="0">
                <a:solidFill>
                  <a:schemeClr val="bg1"/>
                </a:solidFill>
                <a:latin typeface="+mn-lt"/>
              </a:rPr>
            </a:br>
            <a:endParaRPr sz="1200" b="1" dirty="0">
              <a:latin typeface="+mn-lt"/>
              <a:ea typeface="Arial"/>
              <a:cs typeface="Arial"/>
              <a:sym typeface="Arial"/>
            </a:endParaRPr>
          </a:p>
          <a:p>
            <a:pPr marL="0" lvl="0" indent="0" algn="ctr" rtl="0">
              <a:spcBef>
                <a:spcPts val="0"/>
              </a:spcBef>
              <a:spcAft>
                <a:spcPts val="0"/>
              </a:spcAft>
              <a:buClr>
                <a:schemeClr val="lt2"/>
              </a:buClr>
              <a:buSzPct val="100000"/>
              <a:buFont typeface="Arial"/>
              <a:buNone/>
            </a:pPr>
            <a:r>
              <a:rPr lang="en-US" sz="1200" b="1" dirty="0">
                <a:latin typeface="+mn-lt"/>
                <a:ea typeface="Arial"/>
                <a:cs typeface="Arial"/>
                <a:sym typeface="Arial"/>
              </a:rPr>
              <a:t/>
            </a:r>
            <a:br>
              <a:rPr lang="en-US" sz="1200" b="1" dirty="0">
                <a:latin typeface="+mn-lt"/>
                <a:ea typeface="Arial"/>
                <a:cs typeface="Arial"/>
                <a:sym typeface="Arial"/>
              </a:rPr>
            </a:br>
            <a:r>
              <a:rPr lang="en-US" sz="1200" b="1" dirty="0">
                <a:latin typeface="+mn-lt"/>
              </a:rPr>
              <a:t>               </a:t>
            </a:r>
            <a:endParaRPr sz="1200" dirty="0">
              <a:latin typeface="+mn-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a:spLocks noGrp="1"/>
          </p:cNvSpPr>
          <p:nvPr>
            <p:ph type="title"/>
          </p:nvPr>
        </p:nvSpPr>
        <p:spPr>
          <a:xfrm>
            <a:off x="838200" y="365125"/>
            <a:ext cx="10515600" cy="1060021"/>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2"/>
              </a:buClr>
              <a:buSzPts val="3600"/>
              <a:buFont typeface="Arial"/>
              <a:buNone/>
            </a:pPr>
            <a:r>
              <a:rPr lang="en-US" sz="3600" b="1" dirty="0">
                <a:solidFill>
                  <a:schemeClr val="accent1"/>
                </a:solidFill>
                <a:latin typeface="Arial"/>
                <a:ea typeface="Arial"/>
                <a:cs typeface="Arial"/>
                <a:sym typeface="Arial"/>
              </a:rPr>
              <a:t>CLASIFICACIÓN</a:t>
            </a:r>
            <a:br>
              <a:rPr lang="en-US" sz="3600" b="1" dirty="0">
                <a:solidFill>
                  <a:schemeClr val="accent1"/>
                </a:solidFill>
                <a:latin typeface="Arial"/>
                <a:ea typeface="Arial"/>
                <a:cs typeface="Arial"/>
                <a:sym typeface="Arial"/>
              </a:rPr>
            </a:br>
            <a:r>
              <a:rPr lang="en-US" sz="3600" b="1" dirty="0">
                <a:solidFill>
                  <a:schemeClr val="accent1"/>
                </a:solidFill>
              </a:rPr>
              <a:t>               </a:t>
            </a:r>
            <a:endParaRPr sz="3600" dirty="0">
              <a:solidFill>
                <a:schemeClr val="accent1"/>
              </a:solidFill>
            </a:endParaRPr>
          </a:p>
        </p:txBody>
      </p:sp>
      <p:sp>
        <p:nvSpPr>
          <p:cNvPr id="185" name="Google Shape;185;p9"/>
          <p:cNvSpPr txBox="1">
            <a:spLocks noGrp="1"/>
          </p:cNvSpPr>
          <p:nvPr>
            <p:ph type="title" idx="4294967295"/>
          </p:nvPr>
        </p:nvSpPr>
        <p:spPr>
          <a:xfrm>
            <a:off x="1676400" y="1819275"/>
            <a:ext cx="10515600" cy="4054475"/>
          </a:xfrm>
          <a:prstGeom prst="rect">
            <a:avLst/>
          </a:prstGeom>
          <a:noFill/>
          <a:ln>
            <a:noFill/>
          </a:ln>
        </p:spPr>
        <p:txBody>
          <a:bodyPr spcFirstLastPara="1" wrap="square" lIns="91425" tIns="45700" rIns="91425" bIns="45700" anchor="t" anchorCtr="0">
            <a:normAutofit fontScale="90000"/>
          </a:bodyPr>
          <a:lstStyle/>
          <a:p>
            <a:pPr marL="91440" lvl="0" algn="l" rtl="0">
              <a:lnSpc>
                <a:spcPct val="200000"/>
              </a:lnSpc>
              <a:spcBef>
                <a:spcPts val="0"/>
              </a:spcBef>
              <a:spcAft>
                <a:spcPts val="0"/>
              </a:spcAft>
              <a:buSzPct val="100000"/>
            </a:pPr>
            <a:r>
              <a:rPr lang="en-US" sz="2700" b="1" dirty="0" err="1" smtClean="0">
                <a:latin typeface="Arial" panose="020B0604020202020204" pitchFamily="34" charset="0"/>
                <a:ea typeface="Arial"/>
                <a:cs typeface="Arial" panose="020B0604020202020204" pitchFamily="34" charset="0"/>
                <a:sym typeface="Arial"/>
              </a:rPr>
              <a:t>Congénito</a:t>
            </a:r>
            <a:r>
              <a:rPr lang="en-US" sz="2700" b="1" dirty="0" smtClean="0">
                <a:latin typeface="Arial" panose="020B0604020202020204" pitchFamily="34" charset="0"/>
                <a:ea typeface="Arial"/>
                <a:cs typeface="Arial" panose="020B0604020202020204" pitchFamily="34" charset="0"/>
                <a:sym typeface="Arial"/>
              </a:rPr>
              <a:t> </a:t>
            </a:r>
            <a:r>
              <a:rPr lang="en-US" sz="2700" b="1" dirty="0">
                <a:latin typeface="Arial" panose="020B0604020202020204" pitchFamily="34" charset="0"/>
                <a:ea typeface="Arial"/>
                <a:cs typeface="Arial" panose="020B0604020202020204" pitchFamily="34" charset="0"/>
                <a:sym typeface="Arial"/>
              </a:rPr>
              <a:t>o </a:t>
            </a:r>
            <a:r>
              <a:rPr lang="en-US" sz="2700" b="1" dirty="0" smtClean="0">
                <a:latin typeface="Arial" panose="020B0604020202020204" pitchFamily="34" charset="0"/>
                <a:ea typeface="Arial"/>
                <a:cs typeface="Arial" panose="020B0604020202020204" pitchFamily="34" charset="0"/>
                <a:sym typeface="Arial"/>
              </a:rPr>
              <a:t>adquirido.</a:t>
            </a:r>
            <a:endParaRPr sz="2700" b="1" dirty="0">
              <a:latin typeface="Arial" panose="020B0604020202020204" pitchFamily="34" charset="0"/>
              <a:ea typeface="Arial"/>
              <a:cs typeface="Arial" panose="020B0604020202020204" pitchFamily="34" charset="0"/>
              <a:sym typeface="Arial"/>
            </a:endParaRPr>
          </a:p>
          <a:p>
            <a:pPr marL="91440" lvl="0" algn="l" rtl="0">
              <a:lnSpc>
                <a:spcPct val="200000"/>
              </a:lnSpc>
              <a:spcBef>
                <a:spcPts val="0"/>
              </a:spcBef>
              <a:spcAft>
                <a:spcPts val="0"/>
              </a:spcAft>
              <a:buSzPct val="100000"/>
            </a:pPr>
            <a:r>
              <a:rPr lang="en-US" sz="2700" b="1" dirty="0" err="1" smtClean="0">
                <a:latin typeface="Arial" panose="020B0604020202020204" pitchFamily="34" charset="0"/>
                <a:ea typeface="Arial"/>
                <a:cs typeface="Arial" panose="020B0604020202020204" pitchFamily="34" charset="0"/>
                <a:sym typeface="Arial"/>
              </a:rPr>
              <a:t>Primario</a:t>
            </a:r>
            <a:r>
              <a:rPr lang="en-US" sz="2700" b="1" dirty="0" smtClean="0">
                <a:latin typeface="Arial" panose="020B0604020202020204" pitchFamily="34" charset="0"/>
                <a:ea typeface="Arial"/>
                <a:cs typeface="Arial" panose="020B0604020202020204" pitchFamily="34" charset="0"/>
                <a:sym typeface="Arial"/>
              </a:rPr>
              <a:t> </a:t>
            </a:r>
            <a:r>
              <a:rPr lang="en-US" sz="2700" b="1" dirty="0">
                <a:latin typeface="Arial" panose="020B0604020202020204" pitchFamily="34" charset="0"/>
                <a:ea typeface="Arial"/>
                <a:cs typeface="Arial" panose="020B0604020202020204" pitchFamily="34" charset="0"/>
                <a:sym typeface="Arial"/>
              </a:rPr>
              <a:t>o </a:t>
            </a:r>
            <a:r>
              <a:rPr lang="en-US" sz="2700" b="1" dirty="0" smtClean="0">
                <a:latin typeface="Arial" panose="020B0604020202020204" pitchFamily="34" charset="0"/>
                <a:ea typeface="Arial"/>
                <a:cs typeface="Arial" panose="020B0604020202020204" pitchFamily="34" charset="0"/>
                <a:sym typeface="Arial"/>
              </a:rPr>
              <a:t>Central.</a:t>
            </a:r>
            <a:endParaRPr sz="2700" b="1" dirty="0">
              <a:latin typeface="Arial" panose="020B0604020202020204" pitchFamily="34" charset="0"/>
              <a:ea typeface="Arial"/>
              <a:cs typeface="Arial" panose="020B0604020202020204" pitchFamily="34" charset="0"/>
              <a:sym typeface="Arial"/>
            </a:endParaRPr>
          </a:p>
          <a:p>
            <a:pPr marL="91440" lvl="0" algn="l" rtl="0">
              <a:lnSpc>
                <a:spcPct val="200000"/>
              </a:lnSpc>
              <a:spcBef>
                <a:spcPts val="0"/>
              </a:spcBef>
              <a:spcAft>
                <a:spcPts val="0"/>
              </a:spcAft>
              <a:buSzPct val="100000"/>
            </a:pPr>
            <a:r>
              <a:rPr lang="en-US" sz="2700" b="1" dirty="0" smtClean="0">
                <a:latin typeface="Arial" panose="020B0604020202020204" pitchFamily="34" charset="0"/>
                <a:ea typeface="Arial"/>
                <a:cs typeface="Arial" panose="020B0604020202020204" pitchFamily="34" charset="0"/>
                <a:sym typeface="Arial"/>
              </a:rPr>
              <a:t>Franco </a:t>
            </a:r>
            <a:r>
              <a:rPr lang="en-US" sz="2700" b="1" dirty="0">
                <a:latin typeface="Arial" panose="020B0604020202020204" pitchFamily="34" charset="0"/>
                <a:ea typeface="Arial"/>
                <a:cs typeface="Arial" panose="020B0604020202020204" pitchFamily="34" charset="0"/>
                <a:sym typeface="Arial"/>
              </a:rPr>
              <a:t>o </a:t>
            </a:r>
            <a:r>
              <a:rPr lang="en-US" sz="2700" b="1" dirty="0" smtClean="0">
                <a:latin typeface="Arial" panose="020B0604020202020204" pitchFamily="34" charset="0"/>
                <a:ea typeface="Arial"/>
                <a:cs typeface="Arial" panose="020B0604020202020204" pitchFamily="34" charset="0"/>
                <a:sym typeface="Arial"/>
              </a:rPr>
              <a:t>subclínico.</a:t>
            </a:r>
            <a:endParaRPr sz="2700" b="1" dirty="0">
              <a:latin typeface="Arial" panose="020B0604020202020204" pitchFamily="34" charset="0"/>
              <a:ea typeface="Arial"/>
              <a:cs typeface="Arial" panose="020B0604020202020204" pitchFamily="34" charset="0"/>
              <a:sym typeface="Arial"/>
            </a:endParaRPr>
          </a:p>
          <a:p>
            <a:pPr marL="91440" lvl="0" algn="l" rtl="0">
              <a:lnSpc>
                <a:spcPct val="200000"/>
              </a:lnSpc>
              <a:spcBef>
                <a:spcPts val="0"/>
              </a:spcBef>
              <a:spcAft>
                <a:spcPts val="0"/>
              </a:spcAft>
              <a:buSzPct val="100000"/>
            </a:pPr>
            <a:r>
              <a:rPr lang="en-US" sz="2700" b="1" dirty="0" err="1" smtClean="0">
                <a:latin typeface="Arial" panose="020B0604020202020204" pitchFamily="34" charset="0"/>
                <a:ea typeface="Arial"/>
                <a:cs typeface="Arial" panose="020B0604020202020204" pitchFamily="34" charset="0"/>
                <a:sym typeface="Arial"/>
              </a:rPr>
              <a:t>Mixedema</a:t>
            </a:r>
            <a:r>
              <a:rPr lang="en-US" sz="2700" b="1" dirty="0" smtClean="0">
                <a:latin typeface="Arial" panose="020B0604020202020204" pitchFamily="34" charset="0"/>
                <a:ea typeface="Arial"/>
                <a:cs typeface="Arial" panose="020B0604020202020204" pitchFamily="34" charset="0"/>
                <a:sym typeface="Arial"/>
              </a:rPr>
              <a:t>.</a:t>
            </a:r>
            <a:endParaRPr sz="2700" b="1" dirty="0">
              <a:latin typeface="Arial" panose="020B0604020202020204" pitchFamily="34" charset="0"/>
              <a:ea typeface="Arial"/>
              <a:cs typeface="Arial" panose="020B0604020202020204" pitchFamily="34" charset="0"/>
              <a:sym typeface="Arial"/>
            </a:endParaRPr>
          </a:p>
          <a:p>
            <a:pPr marL="45720" lvl="0" algn="l" rtl="0">
              <a:lnSpc>
                <a:spcPct val="200000"/>
              </a:lnSpc>
              <a:spcBef>
                <a:spcPts val="0"/>
              </a:spcBef>
              <a:spcAft>
                <a:spcPts val="0"/>
              </a:spcAft>
              <a:buSzPct val="133333"/>
            </a:pPr>
            <a:r>
              <a:rPr lang="en-US" sz="2700" b="1" dirty="0" err="1" smtClean="0">
                <a:latin typeface="Arial" panose="020B0604020202020204" pitchFamily="34" charset="0"/>
                <a:ea typeface="Arial"/>
                <a:cs typeface="Arial" panose="020B0604020202020204" pitchFamily="34" charset="0"/>
                <a:sym typeface="Arial"/>
              </a:rPr>
              <a:t>Cretinismo</a:t>
            </a:r>
            <a:r>
              <a:rPr lang="en-US" sz="2700" b="1" dirty="0" smtClean="0">
                <a:latin typeface="Arial" panose="020B0604020202020204" pitchFamily="34" charset="0"/>
                <a:ea typeface="Arial"/>
                <a:cs typeface="Arial" panose="020B0604020202020204" pitchFamily="34" charset="0"/>
                <a:sym typeface="Arial"/>
              </a:rPr>
              <a:t>.  </a:t>
            </a:r>
            <a:r>
              <a:rPr lang="en-US" sz="2700" b="1" dirty="0" smtClean="0">
                <a:latin typeface="Arial" panose="020B0604020202020204" pitchFamily="34" charset="0"/>
                <a:cs typeface="Arial" panose="020B0604020202020204" pitchFamily="34" charset="0"/>
              </a:rPr>
              <a:t>         </a:t>
            </a:r>
            <a:r>
              <a:rPr lang="en-US" sz="3200" b="1" dirty="0" smtClean="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title"/>
          </p:nvPr>
        </p:nvSpPr>
        <p:spPr>
          <a:xfrm>
            <a:off x="646111" y="452718"/>
            <a:ext cx="9404723" cy="1252514"/>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FORMAS TOPOGRÁFICAS</a:t>
            </a:r>
            <a:endParaRPr sz="3600" dirty="0">
              <a:solidFill>
                <a:schemeClr val="accent1"/>
              </a:solidFill>
            </a:endParaRPr>
          </a:p>
        </p:txBody>
      </p:sp>
      <p:pic>
        <p:nvPicPr>
          <p:cNvPr id="191" name="Google Shape;191;p10"/>
          <p:cNvPicPr preferRelativeResize="0">
            <a:picLocks noGrp="1"/>
          </p:cNvPicPr>
          <p:nvPr>
            <p:ph type="body" idx="1"/>
          </p:nvPr>
        </p:nvPicPr>
        <p:blipFill rotWithShape="1">
          <a:blip r:embed="rId3">
            <a:alphaModFix/>
          </a:blip>
          <a:srcRect/>
          <a:stretch/>
        </p:blipFill>
        <p:spPr>
          <a:xfrm>
            <a:off x="3641124" y="2052638"/>
            <a:ext cx="3361039" cy="4195762"/>
          </a:xfrm>
          <a:prstGeom prst="rect">
            <a:avLst/>
          </a:prstGeom>
          <a:solidFill>
            <a:schemeClr val="accent4"/>
          </a:solidFill>
          <a:ln w="76200">
            <a:solidFill>
              <a:srgbClr val="0070C0"/>
            </a:solidFill>
          </a:ln>
          <a:effectLst>
            <a:glow rad="101600">
              <a:schemeClr val="accent4">
                <a:satMod val="175000"/>
                <a:alpha val="40000"/>
              </a:schemeClr>
            </a:glo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8"/>
          <p:cNvSpPr txBox="1">
            <a:spLocks noGrp="1"/>
          </p:cNvSpPr>
          <p:nvPr>
            <p:ph type="title"/>
          </p:nvPr>
        </p:nvSpPr>
        <p:spPr>
          <a:xfrm>
            <a:off x="838200" y="365125"/>
            <a:ext cx="10515600" cy="67284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HIPOTIROIDISMO</a:t>
            </a:r>
            <a:endParaRPr sz="3600" b="1" dirty="0">
              <a:solidFill>
                <a:schemeClr val="accent1"/>
              </a:solidFill>
            </a:endParaRPr>
          </a:p>
        </p:txBody>
      </p:sp>
      <p:pic>
        <p:nvPicPr>
          <p:cNvPr id="238" name="Google Shape;238;p18"/>
          <p:cNvPicPr preferRelativeResize="0">
            <a:picLocks noGrp="1"/>
          </p:cNvPicPr>
          <p:nvPr>
            <p:ph type="body" idx="1"/>
          </p:nvPr>
        </p:nvPicPr>
        <p:blipFill rotWithShape="1">
          <a:blip r:embed="rId3">
            <a:alphaModFix/>
          </a:blip>
          <a:srcRect/>
          <a:stretch/>
        </p:blipFill>
        <p:spPr>
          <a:xfrm>
            <a:off x="2531268" y="1235463"/>
            <a:ext cx="7129463" cy="5184775"/>
          </a:xfrm>
          <a:prstGeom prst="rect">
            <a:avLst/>
          </a:prstGeom>
          <a:noFill/>
          <a:ln w="76200">
            <a:solidFill>
              <a:srgbClr val="0070C0"/>
            </a:solidFill>
          </a:ln>
          <a:effectLst>
            <a:glow rad="139700">
              <a:schemeClr val="accent4">
                <a:satMod val="175000"/>
                <a:alpha val="40000"/>
              </a:schemeClr>
            </a:glow>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1"/>
          <p:cNvSpPr txBox="1">
            <a:spLocks noGrp="1"/>
          </p:cNvSpPr>
          <p:nvPr>
            <p:ph type="title"/>
          </p:nvPr>
        </p:nvSpPr>
        <p:spPr>
          <a:xfrm>
            <a:off x="838200" y="628152"/>
            <a:ext cx="10515600" cy="607800"/>
          </a:xfrm>
          <a:prstGeom prst="rect">
            <a:avLst/>
          </a:prstGeom>
          <a:noFill/>
          <a:ln>
            <a:noFill/>
          </a:ln>
        </p:spPr>
        <p:txBody>
          <a:bodyPr spcFirstLastPara="1" wrap="square" lIns="91425" tIns="45700" rIns="91425" bIns="45700" anchor="t" anchorCtr="0">
            <a:normAutofit fontScale="90000"/>
          </a:bodyPr>
          <a:lstStyle/>
          <a:p>
            <a:pPr marL="0" lvl="0" indent="0" algn="ctr" rtl="0">
              <a:spcBef>
                <a:spcPts val="0"/>
              </a:spcBef>
              <a:spcAft>
                <a:spcPts val="0"/>
              </a:spcAft>
              <a:buClr>
                <a:schemeClr val="lt2"/>
              </a:buClr>
              <a:buSzPct val="100000"/>
              <a:buFont typeface="Arial"/>
              <a:buNone/>
            </a:pPr>
            <a:r>
              <a:rPr lang="en-US" sz="3600" b="1" dirty="0">
                <a:solidFill>
                  <a:schemeClr val="accent1"/>
                </a:solidFill>
                <a:latin typeface="Arial"/>
                <a:ea typeface="Arial"/>
                <a:cs typeface="Arial"/>
                <a:sym typeface="Arial"/>
              </a:rPr>
              <a:t>FORMAS ETIOLÓGICAS </a:t>
            </a:r>
            <a:r>
              <a:rPr lang="en-US" sz="3600" b="1" dirty="0" smtClean="0">
                <a:solidFill>
                  <a:schemeClr val="accent1"/>
                </a:solidFill>
                <a:latin typeface="Arial"/>
                <a:ea typeface="Arial"/>
                <a:cs typeface="Arial"/>
                <a:sym typeface="Arial"/>
              </a:rPr>
              <a:t>- </a:t>
            </a:r>
            <a:r>
              <a:rPr lang="en-US" sz="3600" b="1" dirty="0">
                <a:solidFill>
                  <a:schemeClr val="accent1"/>
                </a:solidFill>
                <a:latin typeface="Arial"/>
                <a:ea typeface="Arial"/>
                <a:cs typeface="Arial"/>
                <a:sym typeface="Arial"/>
              </a:rPr>
              <a:t>EVOLUTIVAS</a:t>
            </a:r>
            <a:endParaRPr sz="3600" b="1" dirty="0">
              <a:solidFill>
                <a:schemeClr val="accent1"/>
              </a:solidFill>
              <a:latin typeface="Arial"/>
              <a:ea typeface="Arial"/>
              <a:cs typeface="Arial"/>
              <a:sym typeface="Arial"/>
            </a:endParaRPr>
          </a:p>
          <a:p>
            <a:pPr marL="0" lvl="0" indent="0" algn="ctr" rtl="0">
              <a:spcBef>
                <a:spcPts val="0"/>
              </a:spcBef>
              <a:spcAft>
                <a:spcPts val="0"/>
              </a:spcAft>
              <a:buClr>
                <a:schemeClr val="lt2"/>
              </a:buClr>
              <a:buSzPct val="100000"/>
              <a:buFont typeface="Arial"/>
              <a:buNone/>
            </a:pPr>
            <a:endParaRPr sz="3600" b="1" dirty="0">
              <a:solidFill>
                <a:schemeClr val="accent1"/>
              </a:solidFill>
              <a:latin typeface="Arial"/>
              <a:ea typeface="Arial"/>
              <a:cs typeface="Arial"/>
              <a:sym typeface="Arial"/>
            </a:endParaRPr>
          </a:p>
          <a:p>
            <a:pPr marL="0" lvl="0" indent="0" algn="ctr" rtl="0">
              <a:spcBef>
                <a:spcPts val="0"/>
              </a:spcBef>
              <a:spcAft>
                <a:spcPts val="0"/>
              </a:spcAft>
              <a:buClr>
                <a:schemeClr val="lt2"/>
              </a:buClr>
              <a:buSzPct val="100000"/>
              <a:buFont typeface="Arial"/>
              <a:buNone/>
            </a:pP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20754"/>
              <a:buFont typeface="Arial"/>
              <a:buNone/>
            </a:pPr>
            <a:endParaRPr sz="2650" b="1" dirty="0">
              <a:latin typeface="Arial"/>
              <a:ea typeface="Arial"/>
              <a:cs typeface="Arial"/>
              <a:sym typeface="Arial"/>
            </a:endParaRPr>
          </a:p>
          <a:p>
            <a:pPr marL="0" lvl="0" indent="0" algn="l" rtl="0">
              <a:lnSpc>
                <a:spcPct val="200000"/>
              </a:lnSpc>
              <a:spcBef>
                <a:spcPts val="0"/>
              </a:spcBef>
              <a:spcAft>
                <a:spcPts val="0"/>
              </a:spcAft>
              <a:buClr>
                <a:schemeClr val="lt2"/>
              </a:buClr>
              <a:buSzPct val="120754"/>
              <a:buFont typeface="Arial"/>
              <a:buNone/>
            </a:pPr>
            <a:r>
              <a:rPr lang="en-US" sz="2650" b="1" dirty="0" err="1" smtClean="0">
                <a:latin typeface="Arial"/>
                <a:ea typeface="Arial"/>
                <a:cs typeface="Arial"/>
                <a:sym typeface="Arial"/>
              </a:rPr>
              <a:t>Esporádico</a:t>
            </a:r>
            <a:r>
              <a:rPr lang="en-US" sz="2650" b="1" dirty="0" smtClean="0">
                <a:latin typeface="Arial"/>
                <a:ea typeface="Arial"/>
                <a:cs typeface="Arial"/>
                <a:sym typeface="Arial"/>
              </a:rPr>
              <a:t> </a:t>
            </a:r>
            <a:r>
              <a:rPr lang="en-US" sz="2650" b="1" dirty="0">
                <a:latin typeface="Arial"/>
                <a:ea typeface="Arial"/>
                <a:cs typeface="Arial"/>
                <a:sym typeface="Arial"/>
              </a:rPr>
              <a:t/>
            </a:r>
            <a:br>
              <a:rPr lang="en-US" sz="2650" b="1" dirty="0">
                <a:latin typeface="Arial"/>
                <a:ea typeface="Arial"/>
                <a:cs typeface="Arial"/>
                <a:sym typeface="Arial"/>
              </a:rPr>
            </a:br>
            <a:r>
              <a:rPr lang="en-US" sz="2650" b="1" dirty="0">
                <a:latin typeface="Arial"/>
                <a:ea typeface="Arial"/>
                <a:cs typeface="Arial"/>
                <a:sym typeface="Arial"/>
              </a:rPr>
              <a:t/>
            </a:r>
            <a:br>
              <a:rPr lang="en-US" sz="2650" b="1" dirty="0">
                <a:latin typeface="Arial"/>
                <a:ea typeface="Arial"/>
                <a:cs typeface="Arial"/>
                <a:sym typeface="Arial"/>
              </a:rPr>
            </a:br>
            <a:r>
              <a:rPr lang="en-US" sz="2650" b="1" dirty="0" smtClean="0">
                <a:latin typeface="Arial"/>
                <a:ea typeface="Arial"/>
                <a:cs typeface="Arial"/>
                <a:sym typeface="Arial"/>
              </a:rPr>
              <a:t>Permanente </a:t>
            </a:r>
            <a:endParaRP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2"/>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2"/>
              </a:buClr>
              <a:buSzPts val="4200"/>
              <a:buFont typeface="Arial"/>
              <a:buNone/>
            </a:pPr>
            <a:r>
              <a:rPr lang="en-US" sz="3600" b="1" dirty="0">
                <a:solidFill>
                  <a:schemeClr val="accent1"/>
                </a:solidFill>
                <a:latin typeface="Arial"/>
                <a:ea typeface="Arial"/>
                <a:cs typeface="Arial"/>
                <a:sym typeface="Arial"/>
              </a:rPr>
              <a:t>CAUSAS</a:t>
            </a:r>
            <a:endParaRPr sz="3600" dirty="0">
              <a:solidFill>
                <a:schemeClr val="accent1"/>
              </a:solidFill>
            </a:endParaRPr>
          </a:p>
        </p:txBody>
      </p:sp>
      <p:sp>
        <p:nvSpPr>
          <p:cNvPr id="202" name="Google Shape;202;p12"/>
          <p:cNvSpPr txBox="1">
            <a:spLocks noGrp="1"/>
          </p:cNvSpPr>
          <p:nvPr>
            <p:ph type="title" idx="4294967295"/>
          </p:nvPr>
        </p:nvSpPr>
        <p:spPr>
          <a:xfrm>
            <a:off x="0" y="1616075"/>
            <a:ext cx="10515600" cy="4513263"/>
          </a:xfrm>
          <a:prstGeom prst="rect">
            <a:avLst/>
          </a:prstGeom>
          <a:noFill/>
          <a:ln>
            <a:noFill/>
          </a:ln>
        </p:spPr>
        <p:txBody>
          <a:bodyPr spcFirstLastPara="1" wrap="square" lIns="91425" tIns="45700" rIns="91425" bIns="45700" anchor="t" anchorCtr="0">
            <a:normAutofit fontScale="90000"/>
          </a:bodyPr>
          <a:lstStyle/>
          <a:p>
            <a:pPr marL="457200" lvl="0" indent="-365760" algn="l" rtl="0">
              <a:lnSpc>
                <a:spcPct val="200000"/>
              </a:lnSpc>
              <a:spcBef>
                <a:spcPts val="0"/>
              </a:spcBef>
              <a:spcAft>
                <a:spcPts val="0"/>
              </a:spcAft>
              <a:buSzPct val="100000"/>
              <a:buFont typeface="Arial"/>
              <a:buAutoNum type="alphaUcPeriod"/>
            </a:pPr>
            <a:r>
              <a:rPr lang="en-US" sz="2400" b="1" dirty="0">
                <a:solidFill>
                  <a:schemeClr val="accent1"/>
                </a:solidFill>
                <a:latin typeface="Arial"/>
                <a:ea typeface="Arial"/>
                <a:cs typeface="Arial"/>
                <a:sym typeface="Arial"/>
              </a:rPr>
              <a:t>CONGÉNITO</a:t>
            </a:r>
            <a:endParaRPr sz="2400" b="1" dirty="0">
              <a:solidFill>
                <a:schemeClr val="accent1"/>
              </a:solidFill>
              <a:latin typeface="Arial"/>
              <a:ea typeface="Arial"/>
              <a:cs typeface="Arial"/>
              <a:sym typeface="Arial"/>
            </a:endParaRPr>
          </a:p>
          <a:p>
            <a:pPr marL="457200" lvl="0" indent="0" algn="l" rtl="0">
              <a:lnSpc>
                <a:spcPct val="200000"/>
              </a:lnSpc>
              <a:spcBef>
                <a:spcPts val="0"/>
              </a:spcBef>
              <a:spcAft>
                <a:spcPts val="0"/>
              </a:spcAft>
              <a:buNone/>
            </a:pPr>
            <a:r>
              <a:rPr lang="en-US" sz="2400" b="1" dirty="0" smtClean="0">
                <a:latin typeface="Arial"/>
                <a:ea typeface="Arial"/>
                <a:cs typeface="Arial"/>
                <a:sym typeface="Arial"/>
              </a:rPr>
              <a:t>Aplasia </a:t>
            </a:r>
            <a:r>
              <a:rPr lang="en-US" sz="2400" b="1" dirty="0">
                <a:latin typeface="Arial"/>
                <a:ea typeface="Arial"/>
                <a:cs typeface="Arial"/>
                <a:sym typeface="Arial"/>
              </a:rPr>
              <a:t>o hipoplasia de glándula </a:t>
            </a:r>
            <a:r>
              <a:rPr lang="en-US" sz="2400" b="1" dirty="0" smtClean="0">
                <a:latin typeface="Arial"/>
                <a:ea typeface="Arial"/>
                <a:cs typeface="Arial"/>
                <a:sym typeface="Arial"/>
              </a:rPr>
              <a:t>tiroidea.</a:t>
            </a:r>
            <a:endParaRPr sz="2400" b="1" dirty="0">
              <a:latin typeface="Arial"/>
              <a:ea typeface="Arial"/>
              <a:cs typeface="Arial"/>
              <a:sym typeface="Arial"/>
            </a:endParaRPr>
          </a:p>
          <a:p>
            <a:pPr marL="457200" lvl="0" indent="0" algn="l" rtl="0">
              <a:lnSpc>
                <a:spcPct val="200000"/>
              </a:lnSpc>
              <a:spcBef>
                <a:spcPts val="0"/>
              </a:spcBef>
              <a:spcAft>
                <a:spcPts val="0"/>
              </a:spcAft>
              <a:buNone/>
            </a:pPr>
            <a:r>
              <a:rPr lang="en-US" sz="2400" b="1" dirty="0" err="1" smtClean="0">
                <a:latin typeface="Arial"/>
                <a:ea typeface="Arial"/>
                <a:cs typeface="Arial"/>
                <a:sym typeface="Arial"/>
              </a:rPr>
              <a:t>Defectos</a:t>
            </a:r>
            <a:r>
              <a:rPr lang="en-US" sz="2400" b="1" dirty="0" smtClean="0">
                <a:latin typeface="Arial"/>
                <a:ea typeface="Arial"/>
                <a:cs typeface="Arial"/>
                <a:sym typeface="Arial"/>
              </a:rPr>
              <a:t> </a:t>
            </a:r>
            <a:r>
              <a:rPr lang="en-US" sz="2400" b="1" dirty="0">
                <a:latin typeface="Arial"/>
                <a:ea typeface="Arial"/>
                <a:cs typeface="Arial"/>
                <a:sym typeface="Arial"/>
              </a:rPr>
              <a:t>en la síntesis de </a:t>
            </a:r>
            <a:r>
              <a:rPr lang="en-US" sz="2400" b="1" dirty="0" err="1">
                <a:latin typeface="Arial"/>
                <a:ea typeface="Arial"/>
                <a:cs typeface="Arial"/>
                <a:sym typeface="Arial"/>
              </a:rPr>
              <a:t>hormonas</a:t>
            </a:r>
            <a:r>
              <a:rPr lang="en-US" sz="2400" b="1" dirty="0">
                <a:latin typeface="Arial"/>
                <a:ea typeface="Arial"/>
                <a:cs typeface="Arial"/>
                <a:sym typeface="Arial"/>
              </a:rPr>
              <a:t> tiroideas.</a:t>
            </a:r>
            <a:endParaRPr sz="2400" b="1" dirty="0">
              <a:latin typeface="Arial"/>
              <a:ea typeface="Arial"/>
              <a:cs typeface="Arial"/>
              <a:sym typeface="Arial"/>
            </a:endParaRPr>
          </a:p>
          <a:p>
            <a:pPr marL="457200" lvl="0" indent="0" algn="l" rtl="0">
              <a:lnSpc>
                <a:spcPct val="200000"/>
              </a:lnSpc>
              <a:spcBef>
                <a:spcPts val="0"/>
              </a:spcBef>
              <a:spcAft>
                <a:spcPts val="0"/>
              </a:spcAft>
              <a:buNone/>
            </a:pPr>
            <a:endParaRPr sz="2400" b="1" dirty="0">
              <a:latin typeface="Arial"/>
              <a:ea typeface="Arial"/>
              <a:cs typeface="Arial"/>
              <a:sym typeface="Arial"/>
            </a:endParaRPr>
          </a:p>
          <a:p>
            <a:pPr marL="91440" lvl="0" algn="l" rtl="0">
              <a:lnSpc>
                <a:spcPct val="200000"/>
              </a:lnSpc>
              <a:spcBef>
                <a:spcPts val="0"/>
              </a:spcBef>
              <a:spcAft>
                <a:spcPts val="0"/>
              </a:spcAft>
              <a:buSzPct val="100000"/>
            </a:pPr>
            <a:r>
              <a:rPr lang="en-US" sz="2400" b="1" dirty="0" smtClean="0">
                <a:latin typeface="Arial"/>
                <a:ea typeface="Arial"/>
                <a:cs typeface="Arial"/>
                <a:sym typeface="Arial"/>
              </a:rPr>
              <a:t>B. </a:t>
            </a:r>
            <a:r>
              <a:rPr lang="en-US" sz="2400" b="1" dirty="0" smtClean="0">
                <a:solidFill>
                  <a:schemeClr val="accent1"/>
                </a:solidFill>
                <a:latin typeface="Arial"/>
                <a:ea typeface="Arial"/>
                <a:cs typeface="Arial"/>
                <a:sym typeface="Arial"/>
              </a:rPr>
              <a:t>ADQUIRIDO</a:t>
            </a:r>
            <a:endParaRPr sz="2400" b="1" dirty="0" smtClean="0">
              <a:solidFill>
                <a:schemeClr val="accent1"/>
              </a:solidFill>
              <a:latin typeface="Arial"/>
              <a:ea typeface="Arial"/>
              <a:cs typeface="Arial"/>
              <a:sym typeface="Arial"/>
            </a:endParaRPr>
          </a:p>
          <a:p>
            <a:pPr marL="91440" lvl="0" algn="l" rtl="0">
              <a:lnSpc>
                <a:spcPct val="200000"/>
              </a:lnSpc>
              <a:spcBef>
                <a:spcPts val="0"/>
              </a:spcBef>
              <a:spcAft>
                <a:spcPts val="0"/>
              </a:spcAft>
              <a:buSzPct val="100000"/>
            </a:pPr>
            <a:r>
              <a:rPr lang="en-US" sz="2400" b="1" dirty="0" smtClean="0">
                <a:latin typeface="Arial"/>
                <a:ea typeface="Arial"/>
                <a:cs typeface="Arial"/>
                <a:sym typeface="Arial"/>
              </a:rPr>
              <a:t>     </a:t>
            </a:r>
            <a:r>
              <a:rPr lang="en-US" sz="2400" b="1" dirty="0" err="1" smtClean="0">
                <a:latin typeface="Arial"/>
                <a:ea typeface="Arial"/>
                <a:cs typeface="Arial"/>
                <a:sym typeface="Arial"/>
              </a:rPr>
              <a:t>Destrucción</a:t>
            </a:r>
            <a:r>
              <a:rPr lang="en-US" sz="2400" b="1" dirty="0" smtClean="0">
                <a:latin typeface="Arial"/>
                <a:ea typeface="Arial"/>
                <a:cs typeface="Arial"/>
                <a:sym typeface="Arial"/>
              </a:rPr>
              <a:t> </a:t>
            </a:r>
            <a:r>
              <a:rPr lang="en-US" sz="2400" b="1" dirty="0">
                <a:latin typeface="Arial"/>
                <a:ea typeface="Arial"/>
                <a:cs typeface="Arial"/>
                <a:sym typeface="Arial"/>
              </a:rPr>
              <a:t>autoinmune. Tiroiditis de hashimoto</a:t>
            </a:r>
            <a:endParaRPr sz="2400" b="1" dirty="0">
              <a:latin typeface="Arial"/>
              <a:ea typeface="Arial"/>
              <a:cs typeface="Arial"/>
              <a:sym typeface="Arial"/>
            </a:endParaRPr>
          </a:p>
          <a:p>
            <a:pPr marL="914400" lvl="0" indent="0" algn="l" rtl="0">
              <a:lnSpc>
                <a:spcPct val="200000"/>
              </a:lnSpc>
              <a:spcBef>
                <a:spcPts val="0"/>
              </a:spcBef>
              <a:spcAft>
                <a:spcPts val="0"/>
              </a:spcAft>
              <a:buNone/>
            </a:pPr>
            <a:r>
              <a:rPr lang="en-US" sz="2400" b="1" dirty="0">
                <a:latin typeface="Arial"/>
                <a:ea typeface="Arial"/>
                <a:cs typeface="Arial"/>
                <a:sym typeface="Arial"/>
              </a:rPr>
              <a:t> </a:t>
            </a:r>
            <a:br>
              <a:rPr lang="en-US" sz="2400" b="1" dirty="0">
                <a:latin typeface="Arial"/>
                <a:ea typeface="Arial"/>
                <a:cs typeface="Arial"/>
                <a:sym typeface="Arial"/>
              </a:rPr>
            </a:br>
            <a:r>
              <a:rPr lang="en-US" sz="2400" dirty="0"/>
              <a:t>               </a:t>
            </a:r>
            <a:endParaRPr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3"/>
          <p:cNvSpPr txBox="1">
            <a:spLocks noGrp="1"/>
          </p:cNvSpPr>
          <p:nvPr>
            <p:ph type="title"/>
          </p:nvPr>
        </p:nvSpPr>
        <p:spPr>
          <a:xfrm>
            <a:off x="646111" y="452718"/>
            <a:ext cx="9404723" cy="972428"/>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600"/>
              <a:buFont typeface="Arial"/>
              <a:buNone/>
            </a:pPr>
            <a:r>
              <a:rPr lang="en-US" sz="3600" b="1" dirty="0">
                <a:solidFill>
                  <a:schemeClr val="accent1"/>
                </a:solidFill>
                <a:latin typeface="Arial"/>
                <a:ea typeface="Arial"/>
                <a:cs typeface="Arial"/>
                <a:sym typeface="Arial"/>
              </a:rPr>
              <a:t>CAUSAS</a:t>
            </a:r>
            <a:endParaRPr sz="3600" dirty="0">
              <a:solidFill>
                <a:schemeClr val="accent1"/>
              </a:solidFill>
            </a:endParaRPr>
          </a:p>
        </p:txBody>
      </p:sp>
      <p:sp>
        <p:nvSpPr>
          <p:cNvPr id="208" name="Google Shape;208;p13"/>
          <p:cNvSpPr txBox="1">
            <a:spLocks noGrp="1"/>
          </p:cNvSpPr>
          <p:nvPr>
            <p:ph type="title" idx="4294967295"/>
          </p:nvPr>
        </p:nvSpPr>
        <p:spPr>
          <a:xfrm>
            <a:off x="0" y="1358900"/>
            <a:ext cx="10515600" cy="873125"/>
          </a:xfrm>
          <a:prstGeom prst="rect">
            <a:avLst/>
          </a:prstGeom>
          <a:noFill/>
          <a:ln>
            <a:noFill/>
          </a:ln>
        </p:spPr>
        <p:txBody>
          <a:bodyPr spcFirstLastPara="1" wrap="square" lIns="91425" tIns="45700" rIns="91425" bIns="45700" anchor="t" anchorCtr="0">
            <a:normAutofit fontScale="90000"/>
          </a:bodyPr>
          <a:lstStyle/>
          <a:p>
            <a:pPr marL="77153" lvl="0" algn="ctr" rtl="0">
              <a:lnSpc>
                <a:spcPct val="200000"/>
              </a:lnSpc>
              <a:spcBef>
                <a:spcPts val="0"/>
              </a:spcBef>
              <a:spcAft>
                <a:spcPts val="0"/>
              </a:spcAft>
              <a:buSzPct val="100000"/>
            </a:pPr>
            <a:r>
              <a:rPr lang="en-US" sz="2650" b="1" dirty="0" smtClean="0">
                <a:solidFill>
                  <a:schemeClr val="accent1"/>
                </a:solidFill>
                <a:latin typeface="Arial"/>
                <a:ea typeface="Arial"/>
                <a:cs typeface="Arial"/>
                <a:sym typeface="Arial"/>
              </a:rPr>
              <a:t>DISMINUCIÓN DE LA SÍNTESIS DE HORMONAS: </a:t>
            </a:r>
            <a:endParaRPr sz="2650" b="1" dirty="0">
              <a:solidFill>
                <a:schemeClr val="accent1"/>
              </a:solidFill>
              <a:latin typeface="Arial"/>
              <a:ea typeface="Arial"/>
              <a:cs typeface="Arial"/>
              <a:sym typeface="Arial"/>
            </a:endParaRPr>
          </a:p>
          <a:p>
            <a:pPr marL="77153" lvl="0" algn="l" rtl="0">
              <a:lnSpc>
                <a:spcPct val="200000"/>
              </a:lnSpc>
              <a:spcBef>
                <a:spcPts val="0"/>
              </a:spcBef>
              <a:spcAft>
                <a:spcPts val="0"/>
              </a:spcAft>
              <a:buSzPct val="100000"/>
            </a:pPr>
            <a:r>
              <a:rPr lang="en-US" sz="2650" b="1" dirty="0" err="1" smtClean="0">
                <a:latin typeface="Arial"/>
                <a:ea typeface="Arial"/>
                <a:cs typeface="Arial"/>
                <a:sym typeface="Arial"/>
              </a:rPr>
              <a:t>Déficit</a:t>
            </a:r>
            <a:r>
              <a:rPr lang="en-US" sz="2650" b="1" dirty="0" smtClean="0">
                <a:latin typeface="Arial"/>
                <a:ea typeface="Arial"/>
                <a:cs typeface="Arial"/>
                <a:sym typeface="Arial"/>
              </a:rPr>
              <a:t> </a:t>
            </a:r>
            <a:r>
              <a:rPr lang="en-US" sz="2650" b="1" dirty="0">
                <a:latin typeface="Arial"/>
                <a:ea typeface="Arial"/>
                <a:cs typeface="Arial"/>
                <a:sym typeface="Arial"/>
              </a:rPr>
              <a:t>de Yodo severo.</a:t>
            </a:r>
            <a:endParaRPr sz="2650" b="1" dirty="0">
              <a:latin typeface="Arial"/>
              <a:ea typeface="Arial"/>
              <a:cs typeface="Arial"/>
              <a:sym typeface="Arial"/>
            </a:endParaRPr>
          </a:p>
          <a:p>
            <a:pPr marL="77153" lvl="0" algn="l" rtl="0">
              <a:lnSpc>
                <a:spcPct val="200000"/>
              </a:lnSpc>
              <a:spcBef>
                <a:spcPts val="0"/>
              </a:spcBef>
              <a:spcAft>
                <a:spcPts val="0"/>
              </a:spcAft>
              <a:buSzPct val="100000"/>
            </a:pPr>
            <a:r>
              <a:rPr lang="en-US" sz="2650" b="1" dirty="0" err="1" smtClean="0">
                <a:latin typeface="Arial"/>
                <a:ea typeface="Arial"/>
                <a:cs typeface="Arial"/>
                <a:sym typeface="Arial"/>
              </a:rPr>
              <a:t>Infiltración</a:t>
            </a:r>
            <a:r>
              <a:rPr lang="en-US" sz="2650" b="1" dirty="0" smtClean="0">
                <a:latin typeface="Arial"/>
                <a:ea typeface="Arial"/>
                <a:cs typeface="Arial"/>
                <a:sym typeface="Arial"/>
              </a:rPr>
              <a:t> </a:t>
            </a:r>
            <a:r>
              <a:rPr lang="en-US" sz="2650" b="1" dirty="0">
                <a:latin typeface="Arial"/>
                <a:ea typeface="Arial"/>
                <a:cs typeface="Arial"/>
                <a:sym typeface="Arial"/>
              </a:rPr>
              <a:t>de tiroides: Tiroiditis linfocítica.</a:t>
            </a:r>
            <a:endParaRPr sz="2650" b="1" dirty="0">
              <a:latin typeface="Arial"/>
              <a:ea typeface="Arial"/>
              <a:cs typeface="Arial"/>
              <a:sym typeface="Arial"/>
            </a:endParaRPr>
          </a:p>
          <a:p>
            <a:pPr marL="77153" lvl="0" algn="l" rtl="0">
              <a:lnSpc>
                <a:spcPct val="200000"/>
              </a:lnSpc>
              <a:spcBef>
                <a:spcPts val="0"/>
              </a:spcBef>
              <a:spcAft>
                <a:spcPts val="0"/>
              </a:spcAft>
              <a:buSzPct val="100000"/>
            </a:pPr>
            <a:r>
              <a:rPr lang="en-US" sz="2650" b="1" dirty="0" err="1" smtClean="0">
                <a:latin typeface="Arial"/>
                <a:ea typeface="Arial"/>
                <a:cs typeface="Arial"/>
                <a:sym typeface="Arial"/>
              </a:rPr>
              <a:t>Ablación</a:t>
            </a:r>
            <a:r>
              <a:rPr lang="en-US" sz="2650" b="1" dirty="0">
                <a:latin typeface="Arial"/>
                <a:ea typeface="Arial"/>
                <a:cs typeface="Arial"/>
                <a:sym typeface="Arial"/>
              </a:rPr>
              <a:t>: Cirugía, yodo 131. Radioterapia por otros cánceres.</a:t>
            </a:r>
            <a:endParaRPr sz="2650" b="1" dirty="0">
              <a:latin typeface="Arial"/>
              <a:ea typeface="Arial"/>
              <a:cs typeface="Arial"/>
              <a:sym typeface="Arial"/>
            </a:endParaRPr>
          </a:p>
          <a:p>
            <a:pPr marL="77153" lvl="0" algn="l" rtl="0">
              <a:lnSpc>
                <a:spcPct val="200000"/>
              </a:lnSpc>
              <a:spcBef>
                <a:spcPts val="0"/>
              </a:spcBef>
              <a:spcAft>
                <a:spcPts val="0"/>
              </a:spcAft>
              <a:buSzPct val="100000"/>
            </a:pPr>
            <a:r>
              <a:rPr lang="en-US" sz="2650" b="1" dirty="0" err="1" smtClean="0">
                <a:latin typeface="Arial"/>
                <a:ea typeface="Arial"/>
                <a:cs typeface="Arial"/>
                <a:sym typeface="Arial"/>
              </a:rPr>
              <a:t>Por</a:t>
            </a:r>
            <a:r>
              <a:rPr lang="en-US" sz="2650" b="1" dirty="0" smtClean="0">
                <a:latin typeface="Arial"/>
                <a:ea typeface="Arial"/>
                <a:cs typeface="Arial"/>
                <a:sym typeface="Arial"/>
              </a:rPr>
              <a:t> </a:t>
            </a:r>
            <a:r>
              <a:rPr lang="en-US" sz="2650" b="1" dirty="0">
                <a:latin typeface="Arial"/>
                <a:ea typeface="Arial"/>
                <a:cs typeface="Arial"/>
                <a:sym typeface="Arial"/>
              </a:rPr>
              <a:t>drogas: uso de antitiroideos</a:t>
            </a:r>
            <a:endParaRPr sz="2650" b="1" dirty="0">
              <a:latin typeface="Arial"/>
              <a:ea typeface="Arial"/>
              <a:cs typeface="Arial"/>
              <a:sym typeface="Arial"/>
            </a:endParaRPr>
          </a:p>
          <a:p>
            <a:pPr marL="77153" lvl="0" algn="l" rtl="0">
              <a:lnSpc>
                <a:spcPct val="200000"/>
              </a:lnSpc>
              <a:spcBef>
                <a:spcPts val="0"/>
              </a:spcBef>
              <a:spcAft>
                <a:spcPts val="0"/>
              </a:spcAft>
              <a:buSzPct val="100000"/>
            </a:pPr>
            <a:r>
              <a:rPr lang="en-US" sz="2650" b="1" dirty="0" err="1" smtClean="0">
                <a:latin typeface="Arial"/>
                <a:ea typeface="Arial"/>
                <a:cs typeface="Arial"/>
                <a:sym typeface="Arial"/>
              </a:rPr>
              <a:t>Hiposecreción</a:t>
            </a:r>
            <a:r>
              <a:rPr lang="en-US" sz="2650" b="1" dirty="0" smtClean="0">
                <a:latin typeface="Arial"/>
                <a:ea typeface="Arial"/>
                <a:cs typeface="Arial"/>
                <a:sym typeface="Arial"/>
              </a:rPr>
              <a:t> </a:t>
            </a:r>
            <a:r>
              <a:rPr lang="en-US" sz="2650" b="1" dirty="0">
                <a:latin typeface="Arial"/>
                <a:ea typeface="Arial"/>
                <a:cs typeface="Arial"/>
                <a:sym typeface="Arial"/>
              </a:rPr>
              <a:t>de TSH (hipotiroidismo 2°)</a:t>
            </a:r>
            <a:endParaRPr sz="2650" b="1" dirty="0">
              <a:latin typeface="Arial"/>
              <a:ea typeface="Arial"/>
              <a:cs typeface="Arial"/>
              <a:sym typeface="Arial"/>
            </a:endParaRPr>
          </a:p>
          <a:p>
            <a:pPr marL="45720" lvl="0" algn="l" rtl="0">
              <a:lnSpc>
                <a:spcPct val="200000"/>
              </a:lnSpc>
              <a:spcBef>
                <a:spcPts val="0"/>
              </a:spcBef>
              <a:spcAft>
                <a:spcPts val="0"/>
              </a:spcAft>
              <a:buSzPct val="120754"/>
            </a:pPr>
            <a:r>
              <a:rPr lang="en-US" sz="2650" b="1" dirty="0" err="1" smtClean="0">
                <a:latin typeface="Arial"/>
                <a:ea typeface="Arial"/>
                <a:cs typeface="Arial"/>
                <a:sym typeface="Arial"/>
              </a:rPr>
              <a:t>Hiposecreción</a:t>
            </a:r>
            <a:r>
              <a:rPr lang="en-US" sz="2650" b="1" dirty="0" smtClean="0">
                <a:latin typeface="Arial"/>
                <a:ea typeface="Arial"/>
                <a:cs typeface="Arial"/>
                <a:sym typeface="Arial"/>
              </a:rPr>
              <a:t> </a:t>
            </a:r>
            <a:r>
              <a:rPr lang="en-US" sz="2650" b="1" dirty="0">
                <a:latin typeface="Arial"/>
                <a:ea typeface="Arial"/>
                <a:cs typeface="Arial"/>
                <a:sym typeface="Arial"/>
              </a:rPr>
              <a:t>de </a:t>
            </a:r>
            <a:r>
              <a:rPr lang="en-US" sz="2650" b="1" dirty="0" smtClean="0">
                <a:latin typeface="Arial"/>
                <a:ea typeface="Arial"/>
                <a:cs typeface="Arial"/>
                <a:sym typeface="Arial"/>
              </a:rPr>
              <a:t>TRH. Enfermedad </a:t>
            </a:r>
            <a:r>
              <a:rPr lang="en-US" sz="2650" b="1" dirty="0">
                <a:latin typeface="Arial"/>
                <a:ea typeface="Arial"/>
                <a:cs typeface="Arial"/>
                <a:sym typeface="Arial"/>
              </a:rPr>
              <a:t>hipotalámica</a:t>
            </a:r>
            <a:r>
              <a:rPr lang="en-US" sz="3200" b="1" dirty="0">
                <a:latin typeface="Arial"/>
                <a:ea typeface="Arial"/>
                <a:cs typeface="Arial"/>
                <a:sym typeface="Arial"/>
              </a:rPr>
              <a:t/>
            </a:r>
            <a:br>
              <a:rPr lang="en-US" sz="3200" b="1" dirty="0">
                <a:latin typeface="Arial"/>
                <a:ea typeface="Arial"/>
                <a:cs typeface="Arial"/>
                <a:sym typeface="Arial"/>
              </a:rPr>
            </a:br>
            <a:r>
              <a:rPr lang="en-US" sz="3200" b="1" dirty="0"/>
              <a:t>               </a:t>
            </a:r>
            <a:endParaRP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4"/>
          <p:cNvSpPr txBox="1">
            <a:spLocks noGrp="1"/>
          </p:cNvSpPr>
          <p:nvPr>
            <p:ph type="title"/>
          </p:nvPr>
        </p:nvSpPr>
        <p:spPr>
          <a:xfrm>
            <a:off x="646111" y="452718"/>
            <a:ext cx="9404723" cy="1351368"/>
          </a:xfrm>
          <a:prstGeom prst="rect">
            <a:avLst/>
          </a:prstGeom>
          <a:noFill/>
          <a:ln>
            <a:noFill/>
          </a:ln>
        </p:spPr>
        <p:txBody>
          <a:bodyPr spcFirstLastPara="1" wrap="square" lIns="91425" tIns="45700" rIns="91425" bIns="45700" anchor="t" anchorCtr="0">
            <a:normAutofit/>
          </a:bodyPr>
          <a:lstStyle/>
          <a:p>
            <a:pPr marL="0" lvl="0" indent="0" rtl="0">
              <a:spcBef>
                <a:spcPts val="0"/>
              </a:spcBef>
              <a:spcAft>
                <a:spcPts val="0"/>
              </a:spcAft>
              <a:buClr>
                <a:schemeClr val="lt2"/>
              </a:buClr>
              <a:buSzPts val="3200"/>
              <a:buFont typeface="Arial"/>
              <a:buNone/>
            </a:pPr>
            <a:r>
              <a:rPr lang="en-US" sz="2800" b="1" dirty="0">
                <a:solidFill>
                  <a:schemeClr val="accent1"/>
                </a:solidFill>
                <a:latin typeface="Arial"/>
                <a:ea typeface="Arial"/>
                <a:cs typeface="Arial"/>
                <a:sym typeface="Arial"/>
              </a:rPr>
              <a:t>HIPOTIROIDISMOS HIPOTÁLAMO - HIPOFISARIOS</a:t>
            </a:r>
            <a:endParaRPr sz="2800" b="1" dirty="0">
              <a:solidFill>
                <a:schemeClr val="accent1"/>
              </a:solidFill>
              <a:latin typeface="Arial"/>
              <a:ea typeface="Arial"/>
              <a:cs typeface="Arial"/>
              <a:sym typeface="Arial"/>
            </a:endParaRPr>
          </a:p>
        </p:txBody>
      </p:sp>
      <p:sp>
        <p:nvSpPr>
          <p:cNvPr id="214" name="Google Shape;214;p14"/>
          <p:cNvSpPr txBox="1">
            <a:spLocks noGrp="1"/>
          </p:cNvSpPr>
          <p:nvPr>
            <p:ph type="title" idx="4294967295"/>
          </p:nvPr>
        </p:nvSpPr>
        <p:spPr>
          <a:xfrm>
            <a:off x="0" y="1803400"/>
            <a:ext cx="10515600" cy="3790092"/>
          </a:xfrm>
          <a:prstGeom prst="rect">
            <a:avLst/>
          </a:prstGeom>
          <a:noFill/>
          <a:ln>
            <a:noFill/>
          </a:ln>
        </p:spPr>
        <p:txBody>
          <a:bodyPr spcFirstLastPara="1" wrap="square" lIns="91425" tIns="45700" rIns="91425" bIns="45700" anchor="t" anchorCtr="0">
            <a:noAutofit/>
          </a:bodyPr>
          <a:lstStyle/>
          <a:p>
            <a:pPr marL="0" lvl="0" indent="0" algn="l" rtl="0">
              <a:lnSpc>
                <a:spcPct val="200000"/>
              </a:lnSpc>
              <a:spcBef>
                <a:spcPts val="0"/>
              </a:spcBef>
              <a:spcAft>
                <a:spcPts val="0"/>
              </a:spcAft>
              <a:buClr>
                <a:schemeClr val="lt2"/>
              </a:buClr>
              <a:buSzPts val="2592"/>
              <a:buFont typeface="Arial"/>
              <a:buNone/>
            </a:pPr>
            <a:r>
              <a:rPr lang="en-US" sz="2400" b="1" dirty="0" err="1" smtClean="0">
                <a:latin typeface="+mj-lt"/>
                <a:ea typeface="Arial"/>
                <a:cs typeface="Arial"/>
                <a:sym typeface="Arial"/>
              </a:rPr>
              <a:t>Esporádicos</a:t>
            </a:r>
            <a:r>
              <a:rPr lang="en-US" sz="2400" b="1" dirty="0" smtClean="0">
                <a:latin typeface="+mj-lt"/>
                <a:ea typeface="Arial"/>
                <a:cs typeface="Arial"/>
                <a:sym typeface="Arial"/>
              </a:rPr>
              <a:t> </a:t>
            </a:r>
            <a:r>
              <a:rPr lang="en-US" sz="2400" b="1" dirty="0">
                <a:latin typeface="+mj-lt"/>
                <a:ea typeface="Arial"/>
                <a:cs typeface="Arial"/>
                <a:sym typeface="Arial"/>
              </a:rPr>
              <a:t>o </a:t>
            </a:r>
            <a:r>
              <a:rPr lang="en-US" sz="2400" b="1" dirty="0" err="1" smtClean="0">
                <a:latin typeface="+mj-lt"/>
                <a:ea typeface="Arial"/>
                <a:cs typeface="Arial"/>
                <a:sym typeface="Arial"/>
              </a:rPr>
              <a:t>familiares</a:t>
            </a:r>
            <a:r>
              <a:rPr lang="en-US" sz="2400" b="1" dirty="0" smtClean="0">
                <a:latin typeface="+mj-lt"/>
                <a:ea typeface="Arial"/>
                <a:cs typeface="Arial"/>
                <a:sym typeface="Arial"/>
              </a:rPr>
              <a:t>.</a:t>
            </a:r>
            <a:br>
              <a:rPr lang="en-US" sz="2400" b="1" dirty="0" smtClean="0">
                <a:latin typeface="+mj-lt"/>
                <a:ea typeface="Arial"/>
                <a:cs typeface="Arial"/>
                <a:sym typeface="Arial"/>
              </a:rPr>
            </a:br>
            <a:endParaRPr sz="2400" b="1" dirty="0">
              <a:latin typeface="+mj-lt"/>
              <a:ea typeface="Arial"/>
              <a:cs typeface="Arial"/>
              <a:sym typeface="Arial"/>
            </a:endParaRPr>
          </a:p>
          <a:p>
            <a:pPr marL="0" lvl="0" indent="0" algn="l" rtl="0">
              <a:lnSpc>
                <a:spcPct val="200000"/>
              </a:lnSpc>
              <a:spcBef>
                <a:spcPts val="0"/>
              </a:spcBef>
              <a:spcAft>
                <a:spcPts val="0"/>
              </a:spcAft>
              <a:buClr>
                <a:schemeClr val="lt2"/>
              </a:buClr>
              <a:buSzPts val="2592"/>
              <a:buFont typeface="Arial"/>
              <a:buNone/>
            </a:pPr>
            <a:r>
              <a:rPr lang="en-US" sz="2400" b="1" dirty="0" err="1" smtClean="0">
                <a:latin typeface="+mj-lt"/>
                <a:ea typeface="Arial"/>
                <a:cs typeface="Arial"/>
                <a:sym typeface="Arial"/>
              </a:rPr>
              <a:t>Aislado</a:t>
            </a:r>
            <a:r>
              <a:rPr lang="en-US" sz="2400" b="1" dirty="0" smtClean="0">
                <a:latin typeface="+mj-lt"/>
                <a:ea typeface="Arial"/>
                <a:cs typeface="Arial"/>
                <a:sym typeface="Arial"/>
              </a:rPr>
              <a:t> </a:t>
            </a:r>
            <a:r>
              <a:rPr lang="en-US" sz="2400" b="1" dirty="0">
                <a:latin typeface="+mj-lt"/>
                <a:ea typeface="Arial"/>
                <a:cs typeface="Arial"/>
                <a:sym typeface="Arial"/>
              </a:rPr>
              <a:t>o combinado con otros déficit </a:t>
            </a:r>
            <a:r>
              <a:rPr lang="en-US" sz="2400" b="1" dirty="0" smtClean="0">
                <a:latin typeface="+mj-lt"/>
                <a:ea typeface="Arial"/>
                <a:cs typeface="Arial"/>
                <a:sym typeface="Arial"/>
              </a:rPr>
              <a:t>hormonales.</a:t>
            </a:r>
            <a:r>
              <a:rPr lang="en-US" sz="2400" b="1" dirty="0">
                <a:latin typeface="+mj-lt"/>
                <a:ea typeface="Arial"/>
                <a:cs typeface="Arial"/>
                <a:sym typeface="Arial"/>
              </a:rPr>
              <a:t/>
            </a:r>
            <a:br>
              <a:rPr lang="en-US" sz="2400" b="1" dirty="0">
                <a:latin typeface="+mj-lt"/>
                <a:ea typeface="Arial"/>
                <a:cs typeface="Arial"/>
                <a:sym typeface="Arial"/>
              </a:rPr>
            </a:br>
            <a:r>
              <a:rPr lang="en-US" sz="2400" b="1" dirty="0">
                <a:latin typeface="+mj-lt"/>
              </a:rPr>
              <a:t>               </a:t>
            </a:r>
            <a:endParaRPr sz="2400" b="1" dirty="0">
              <a:latin typeface="+mj-l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7"/>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600"/>
              <a:buFont typeface="Arial"/>
              <a:buNone/>
            </a:pPr>
            <a:r>
              <a:rPr lang="en-US" sz="3600" b="1" dirty="0">
                <a:solidFill>
                  <a:schemeClr val="accent1"/>
                </a:solidFill>
                <a:latin typeface="Arial"/>
                <a:ea typeface="Arial"/>
                <a:cs typeface="Arial"/>
                <a:sym typeface="Arial"/>
              </a:rPr>
              <a:t>ETIOLOGÍA</a:t>
            </a:r>
            <a:endParaRPr dirty="0">
              <a:solidFill>
                <a:schemeClr val="accent1"/>
              </a:solidFill>
            </a:endParaRPr>
          </a:p>
        </p:txBody>
      </p:sp>
      <p:sp>
        <p:nvSpPr>
          <p:cNvPr id="232" name="Google Shape;232;p17"/>
          <p:cNvSpPr txBox="1">
            <a:spLocks noGrp="1"/>
          </p:cNvSpPr>
          <p:nvPr>
            <p:ph type="title" idx="4294967295"/>
          </p:nvPr>
        </p:nvSpPr>
        <p:spPr>
          <a:xfrm>
            <a:off x="955588" y="1103870"/>
            <a:ext cx="9560011" cy="1323418"/>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50000"/>
              </a:lnSpc>
              <a:spcBef>
                <a:spcPts val="0"/>
              </a:spcBef>
              <a:spcAft>
                <a:spcPts val="0"/>
              </a:spcAft>
              <a:buClr>
                <a:schemeClr val="lt2"/>
              </a:buClr>
              <a:buSzPct val="120754"/>
              <a:buFont typeface="Arial"/>
              <a:buNone/>
            </a:pPr>
            <a:r>
              <a:rPr lang="en-US" sz="2650" b="1" dirty="0" smtClean="0">
                <a:latin typeface="Arial"/>
                <a:ea typeface="Arial"/>
                <a:cs typeface="Arial"/>
                <a:sym typeface="Arial"/>
              </a:rPr>
              <a:t>HIPOTIROIDISMO CENTRAL</a:t>
            </a:r>
            <a:br>
              <a:rPr lang="en-US" sz="2650" b="1" dirty="0" smtClean="0">
                <a:latin typeface="Arial"/>
                <a:ea typeface="Arial"/>
                <a:cs typeface="Arial"/>
                <a:sym typeface="Arial"/>
              </a:rPr>
            </a:br>
            <a:r>
              <a:rPr lang="en-US" sz="2650" b="1" dirty="0" err="1" smtClean="0">
                <a:latin typeface="Arial"/>
                <a:ea typeface="Arial"/>
                <a:cs typeface="Arial"/>
                <a:sym typeface="Arial"/>
              </a:rPr>
              <a:t>Tumores</a:t>
            </a:r>
            <a:r>
              <a:rPr lang="en-US" sz="2650" b="1" dirty="0" smtClean="0">
                <a:latin typeface="Arial"/>
                <a:ea typeface="Arial"/>
                <a:cs typeface="Arial"/>
                <a:sym typeface="Arial"/>
              </a:rPr>
              <a:t> </a:t>
            </a:r>
            <a:r>
              <a:rPr lang="en-US" sz="2650" b="1" dirty="0">
                <a:latin typeface="Arial"/>
                <a:ea typeface="Arial"/>
                <a:cs typeface="Arial"/>
                <a:sym typeface="Arial"/>
              </a:rPr>
              <a:t>hipofisiarios</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Metástasis </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Hemorragia</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Necrosis</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Aneurisma</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Cirugía</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Trauma</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Desórdenes infiltrativos</a:t>
            </a:r>
            <a:endParaRPr sz="2650" b="1" dirty="0">
              <a:latin typeface="Arial"/>
              <a:ea typeface="Arial"/>
              <a:cs typeface="Arial"/>
              <a:sym typeface="Arial"/>
            </a:endParaRPr>
          </a:p>
          <a:p>
            <a:pPr marL="0" lvl="0" indent="0" algn="l" rtl="0">
              <a:lnSpc>
                <a:spcPct val="150000"/>
              </a:lnSpc>
              <a:spcBef>
                <a:spcPts val="0"/>
              </a:spcBef>
              <a:spcAft>
                <a:spcPts val="0"/>
              </a:spcAft>
              <a:buClr>
                <a:schemeClr val="lt2"/>
              </a:buClr>
              <a:buSzPct val="120754"/>
              <a:buFont typeface="Arial"/>
              <a:buNone/>
            </a:pPr>
            <a:r>
              <a:rPr lang="en-US" sz="2650" b="1" dirty="0">
                <a:latin typeface="Arial"/>
                <a:ea typeface="Arial"/>
                <a:cs typeface="Arial"/>
                <a:sym typeface="Arial"/>
              </a:rPr>
              <a:t>Hipofisitis linfocítica</a:t>
            </a:r>
            <a:r>
              <a:rPr lang="en-US" sz="3200" b="1" dirty="0"/>
              <a:t>                </a:t>
            </a:r>
            <a:endParaRPr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5"/>
          <p:cNvSpPr txBox="1">
            <a:spLocks noGrp="1"/>
          </p:cNvSpPr>
          <p:nvPr>
            <p:ph type="title"/>
          </p:nvPr>
        </p:nvSpPr>
        <p:spPr>
          <a:xfrm>
            <a:off x="646111" y="452718"/>
            <a:ext cx="9404723" cy="106981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HIPOTIROIDISMO PERIFÉRICO</a:t>
            </a:r>
            <a:endParaRPr sz="3600" b="1" dirty="0">
              <a:solidFill>
                <a:schemeClr val="accent1"/>
              </a:solidFill>
              <a:latin typeface="Arial"/>
              <a:ea typeface="Arial"/>
              <a:cs typeface="Arial"/>
              <a:sym typeface="Arial"/>
            </a:endParaRPr>
          </a:p>
        </p:txBody>
      </p:sp>
      <p:sp>
        <p:nvSpPr>
          <p:cNvPr id="220" name="Google Shape;220;p15"/>
          <p:cNvSpPr txBox="1">
            <a:spLocks noGrp="1"/>
          </p:cNvSpPr>
          <p:nvPr>
            <p:ph type="title" idx="4294967295"/>
          </p:nvPr>
        </p:nvSpPr>
        <p:spPr>
          <a:xfrm>
            <a:off x="0" y="1522413"/>
            <a:ext cx="10515600" cy="1392237"/>
          </a:xfrm>
          <a:prstGeom prst="rect">
            <a:avLst/>
          </a:prstGeom>
          <a:noFill/>
          <a:ln>
            <a:noFill/>
          </a:ln>
        </p:spPr>
        <p:txBody>
          <a:bodyPr spcFirstLastPara="1" wrap="square" lIns="91425" tIns="45700" rIns="91425" bIns="45700" anchor="t" anchorCtr="0">
            <a:normAutofit fontScale="90000"/>
          </a:bodyPr>
          <a:lstStyle/>
          <a:p>
            <a:pPr marL="457200" lvl="0" indent="-411480" algn="l" rtl="0">
              <a:lnSpc>
                <a:spcPct val="200000"/>
              </a:lnSpc>
              <a:spcBef>
                <a:spcPts val="0"/>
              </a:spcBef>
              <a:spcAft>
                <a:spcPts val="0"/>
              </a:spcAft>
              <a:buSzPct val="100000"/>
              <a:buAutoNum type="arabicPeriod"/>
            </a:pPr>
            <a:r>
              <a:rPr lang="en-US" sz="3200" b="1" dirty="0">
                <a:solidFill>
                  <a:schemeClr val="accent1"/>
                </a:solidFill>
                <a:latin typeface="Arial"/>
                <a:ea typeface="Arial"/>
                <a:cs typeface="Arial"/>
                <a:sym typeface="Arial"/>
              </a:rPr>
              <a:t>Déficit de </a:t>
            </a:r>
            <a:r>
              <a:rPr lang="en-US" sz="3200" b="1" dirty="0" smtClean="0">
                <a:solidFill>
                  <a:schemeClr val="accent1"/>
                </a:solidFill>
                <a:latin typeface="Arial"/>
                <a:ea typeface="Arial"/>
                <a:cs typeface="Arial"/>
                <a:sym typeface="Arial"/>
              </a:rPr>
              <a:t>TBG.</a:t>
            </a:r>
            <a:endParaRPr sz="3200" b="1" dirty="0">
              <a:solidFill>
                <a:schemeClr val="accent1"/>
              </a:solidFill>
              <a:latin typeface="Arial"/>
              <a:ea typeface="Arial"/>
              <a:cs typeface="Arial"/>
              <a:sym typeface="Arial"/>
            </a:endParaRPr>
          </a:p>
          <a:p>
            <a:pPr marL="457200" lvl="0" indent="-411480" algn="l" rtl="0">
              <a:lnSpc>
                <a:spcPct val="200000"/>
              </a:lnSpc>
              <a:spcBef>
                <a:spcPts val="0"/>
              </a:spcBef>
              <a:spcAft>
                <a:spcPts val="0"/>
              </a:spcAft>
              <a:buSzPct val="100000"/>
              <a:buAutoNum type="arabicPeriod"/>
            </a:pPr>
            <a:r>
              <a:rPr lang="en-US" sz="3200" b="1" dirty="0">
                <a:solidFill>
                  <a:schemeClr val="accent1"/>
                </a:solidFill>
                <a:latin typeface="Arial"/>
                <a:ea typeface="Arial"/>
                <a:cs typeface="Arial"/>
                <a:sym typeface="Arial"/>
              </a:rPr>
              <a:t>Resistencia periférica:</a:t>
            </a:r>
            <a:endParaRPr sz="3200" b="1" dirty="0">
              <a:solidFill>
                <a:schemeClr val="accent1"/>
              </a:solidFill>
              <a:latin typeface="Arial"/>
              <a:ea typeface="Arial"/>
              <a:cs typeface="Arial"/>
              <a:sym typeface="Arial"/>
            </a:endParaRPr>
          </a:p>
          <a:p>
            <a:pPr marL="457200" lvl="0" indent="-411480" algn="l" rtl="0">
              <a:lnSpc>
                <a:spcPct val="200000"/>
              </a:lnSpc>
              <a:spcBef>
                <a:spcPts val="0"/>
              </a:spcBef>
              <a:spcAft>
                <a:spcPts val="0"/>
              </a:spcAft>
              <a:buSzPct val="100000"/>
              <a:buChar char="-"/>
            </a:pPr>
            <a:r>
              <a:rPr lang="en-US" sz="3200" b="1" dirty="0">
                <a:latin typeface="Arial"/>
                <a:ea typeface="Arial"/>
                <a:cs typeface="Arial"/>
                <a:sym typeface="Arial"/>
              </a:rPr>
              <a:t>Bloqueo en el paso hormonal a la </a:t>
            </a:r>
            <a:r>
              <a:rPr lang="en-US" sz="3200" b="1" dirty="0" smtClean="0">
                <a:latin typeface="Arial"/>
                <a:ea typeface="Arial"/>
                <a:cs typeface="Arial"/>
                <a:sym typeface="Arial"/>
              </a:rPr>
              <a:t>célula.</a:t>
            </a:r>
            <a:endParaRPr sz="3200" b="1" dirty="0">
              <a:latin typeface="Arial"/>
              <a:ea typeface="Arial"/>
              <a:cs typeface="Arial"/>
              <a:sym typeface="Arial"/>
            </a:endParaRPr>
          </a:p>
          <a:p>
            <a:pPr marL="914400" lvl="0" indent="-411480" algn="l" rtl="0">
              <a:lnSpc>
                <a:spcPct val="200000"/>
              </a:lnSpc>
              <a:spcBef>
                <a:spcPts val="0"/>
              </a:spcBef>
              <a:spcAft>
                <a:spcPts val="0"/>
              </a:spcAft>
              <a:buSzPct val="100000"/>
              <a:buChar char="-"/>
            </a:pPr>
            <a:r>
              <a:rPr lang="en-US" sz="3200" b="1" dirty="0">
                <a:latin typeface="Arial"/>
                <a:ea typeface="Arial"/>
                <a:cs typeface="Arial"/>
                <a:sym typeface="Arial"/>
              </a:rPr>
              <a:t>Déficit de </a:t>
            </a:r>
            <a:r>
              <a:rPr lang="en-US" sz="3200" b="1" dirty="0" smtClean="0">
                <a:latin typeface="Arial"/>
                <a:ea typeface="Arial"/>
                <a:cs typeface="Arial"/>
                <a:sym typeface="Arial"/>
              </a:rPr>
              <a:t>desyodasa.</a:t>
            </a:r>
            <a:endParaRPr sz="3200" b="1" dirty="0">
              <a:latin typeface="Arial"/>
              <a:ea typeface="Arial"/>
              <a:cs typeface="Arial"/>
              <a:sym typeface="Arial"/>
            </a:endParaRPr>
          </a:p>
          <a:p>
            <a:pPr marL="914400" lvl="0" indent="-411480" algn="l" rtl="0">
              <a:lnSpc>
                <a:spcPct val="200000"/>
              </a:lnSpc>
              <a:spcBef>
                <a:spcPts val="0"/>
              </a:spcBef>
              <a:spcAft>
                <a:spcPts val="0"/>
              </a:spcAft>
              <a:buSzPct val="100000"/>
              <a:buChar char="-"/>
            </a:pPr>
            <a:r>
              <a:rPr lang="en-US" sz="3200" b="1" dirty="0">
                <a:latin typeface="Arial"/>
                <a:ea typeface="Arial"/>
                <a:cs typeface="Arial"/>
                <a:sym typeface="Arial"/>
              </a:rPr>
              <a:t>T</a:t>
            </a:r>
            <a:r>
              <a:rPr lang="en-US" sz="3200" b="1" dirty="0" smtClean="0">
                <a:latin typeface="Arial"/>
                <a:ea typeface="Arial"/>
                <a:cs typeface="Arial"/>
                <a:sym typeface="Arial"/>
              </a:rPr>
              <a:t>rastorno </a:t>
            </a:r>
            <a:r>
              <a:rPr lang="en-US" sz="3200" b="1" dirty="0">
                <a:latin typeface="Arial"/>
                <a:ea typeface="Arial"/>
                <a:cs typeface="Arial"/>
                <a:sym typeface="Arial"/>
              </a:rPr>
              <a:t>del </a:t>
            </a:r>
            <a:r>
              <a:rPr lang="en-US" sz="3200" b="1" dirty="0" smtClean="0">
                <a:latin typeface="Arial"/>
                <a:ea typeface="Arial"/>
                <a:cs typeface="Arial"/>
                <a:sym typeface="Arial"/>
              </a:rPr>
              <a:t>receptor. </a:t>
            </a:r>
            <a:r>
              <a:rPr lang="en-US" sz="3200" b="1" dirty="0">
                <a:latin typeface="Arial"/>
                <a:ea typeface="Arial"/>
                <a:cs typeface="Arial"/>
                <a:sym typeface="Arial"/>
              </a:rPr>
              <a:t/>
            </a:r>
            <a:br>
              <a:rPr lang="en-US" sz="3200" b="1" dirty="0">
                <a:latin typeface="Arial"/>
                <a:ea typeface="Arial"/>
                <a:cs typeface="Arial"/>
                <a:sym typeface="Arial"/>
              </a:rPr>
            </a:br>
            <a:r>
              <a:rPr lang="en-US" sz="3200" b="1" dirty="0"/>
              <a:t>               </a:t>
            </a:r>
            <a:endParaRPr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838200" y="365125"/>
            <a:ext cx="10515600" cy="1097915"/>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smtClean="0">
                <a:solidFill>
                  <a:schemeClr val="accent1"/>
                </a:solidFill>
                <a:latin typeface="Arial"/>
                <a:ea typeface="Arial"/>
                <a:cs typeface="Arial"/>
                <a:sym typeface="Arial"/>
              </a:rPr>
              <a:t>TIROIDITIS DE HASHIMOTO</a:t>
            </a:r>
            <a:endParaRPr lang="en-US" sz="3600" dirty="0">
              <a:solidFill>
                <a:schemeClr val="accent1"/>
              </a:solidFill>
            </a:endParaRPr>
          </a:p>
        </p:txBody>
      </p:sp>
      <p:sp>
        <p:nvSpPr>
          <p:cNvPr id="244" name="Google Shape;244;p19"/>
          <p:cNvSpPr txBox="1">
            <a:spLocks noGrp="1"/>
          </p:cNvSpPr>
          <p:nvPr>
            <p:ph type="title" idx="4294967295"/>
          </p:nvPr>
        </p:nvSpPr>
        <p:spPr>
          <a:xfrm>
            <a:off x="0" y="1254125"/>
            <a:ext cx="10515600" cy="4586288"/>
          </a:xfrm>
          <a:prstGeom prst="rect">
            <a:avLst/>
          </a:prstGeom>
          <a:noFill/>
          <a:ln>
            <a:noFill/>
          </a:ln>
        </p:spPr>
        <p:txBody>
          <a:bodyPr spcFirstLastPara="1" wrap="square" lIns="91425" tIns="45700" rIns="91425" bIns="45700" anchor="t" anchorCtr="0">
            <a:normAutofit fontScale="90000"/>
          </a:bodyPr>
          <a:lstStyle/>
          <a:p>
            <a:pPr marL="0" lvl="0" indent="0" algn="l" rtl="0">
              <a:lnSpc>
                <a:spcPct val="200000"/>
              </a:lnSpc>
              <a:spcBef>
                <a:spcPts val="0"/>
              </a:spcBef>
              <a:spcAft>
                <a:spcPts val="0"/>
              </a:spcAft>
              <a:buClr>
                <a:schemeClr val="lt2"/>
              </a:buClr>
              <a:buSzPct val="100000"/>
              <a:buFont typeface="Arial"/>
              <a:buNone/>
            </a:pPr>
            <a:r>
              <a:rPr lang="en-US" sz="3200" b="1" dirty="0" smtClean="0">
                <a:latin typeface="Arial"/>
                <a:ea typeface="Arial"/>
                <a:cs typeface="Arial"/>
                <a:sym typeface="Arial"/>
              </a:rPr>
              <a:t>Destrucción </a:t>
            </a:r>
            <a:r>
              <a:rPr lang="en-US" sz="3200" b="1" dirty="0">
                <a:latin typeface="Arial"/>
                <a:ea typeface="Arial"/>
                <a:cs typeface="Arial"/>
                <a:sym typeface="Arial"/>
              </a:rPr>
              <a:t>de la tiroides por autoanticuerpos. Se produce inflamación y destrucción tiroidea.</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smtClean="0">
                <a:latin typeface="Arial"/>
                <a:ea typeface="Arial"/>
                <a:cs typeface="Arial"/>
                <a:sym typeface="Arial"/>
              </a:rPr>
              <a:t>Al </a:t>
            </a:r>
            <a:r>
              <a:rPr lang="en-US" sz="3200" b="1" dirty="0">
                <a:latin typeface="Arial"/>
                <a:ea typeface="Arial"/>
                <a:cs typeface="Arial"/>
                <a:sym typeface="Arial"/>
              </a:rPr>
              <a:t>inicio del cuadro hay hipertiroidismo (se liberan las </a:t>
            </a:r>
            <a:r>
              <a:rPr lang="en-US" sz="3200" b="1" dirty="0" err="1">
                <a:latin typeface="Arial"/>
                <a:ea typeface="Arial"/>
                <a:cs typeface="Arial"/>
                <a:sym typeface="Arial"/>
              </a:rPr>
              <a:t>hormonas</a:t>
            </a:r>
            <a:r>
              <a:rPr lang="en-US" sz="3200" b="1" dirty="0">
                <a:latin typeface="Arial"/>
                <a:ea typeface="Arial"/>
                <a:cs typeface="Arial"/>
                <a:sym typeface="Arial"/>
              </a:rPr>
              <a:t> almacenadas), luego ocurre el hipotiroidismo.</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smtClean="0">
                <a:latin typeface="Arial"/>
                <a:ea typeface="Arial"/>
                <a:cs typeface="Arial"/>
                <a:sym typeface="Arial"/>
              </a:rPr>
              <a:t>Familiar</a:t>
            </a:r>
            <a:r>
              <a:rPr lang="en-US" sz="3200" b="1" dirty="0">
                <a:latin typeface="Arial"/>
                <a:ea typeface="Arial"/>
                <a:cs typeface="Arial"/>
                <a:sym typeface="Arial"/>
              </a:rPr>
              <a:t>.</a:t>
            </a:r>
            <a:endParaRPr sz="3200" b="1" dirty="0">
              <a:latin typeface="Arial"/>
              <a:ea typeface="Arial"/>
              <a:cs typeface="Arial"/>
              <a:sym typeface="Arial"/>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123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600"/>
              <a:buFont typeface="Arial"/>
              <a:buNone/>
            </a:pPr>
            <a:r>
              <a:rPr lang="en-US" sz="3600" b="1" dirty="0">
                <a:solidFill>
                  <a:schemeClr val="accent1"/>
                </a:solidFill>
                <a:latin typeface="Arial"/>
                <a:ea typeface="Arial"/>
                <a:cs typeface="Arial"/>
                <a:sym typeface="Arial"/>
              </a:rPr>
              <a:t>CLÍNICA</a:t>
            </a:r>
            <a:endParaRPr sz="3600" dirty="0">
              <a:solidFill>
                <a:schemeClr val="accent1"/>
              </a:solidFill>
            </a:endParaRPr>
          </a:p>
        </p:txBody>
      </p:sp>
      <p:sp>
        <p:nvSpPr>
          <p:cNvPr id="250" name="Google Shape;250;p20"/>
          <p:cNvSpPr txBox="1">
            <a:spLocks noGrp="1"/>
          </p:cNvSpPr>
          <p:nvPr>
            <p:ph type="title" idx="4294967295"/>
          </p:nvPr>
        </p:nvSpPr>
        <p:spPr>
          <a:xfrm>
            <a:off x="1202724" y="1852613"/>
            <a:ext cx="9312876" cy="374015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200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Síntomas</a:t>
            </a:r>
            <a:r>
              <a:rPr lang="en-US" sz="3200" b="1" dirty="0" smtClean="0">
                <a:latin typeface="Arial"/>
                <a:ea typeface="Arial"/>
                <a:cs typeface="Arial"/>
                <a:sym typeface="Arial"/>
              </a:rPr>
              <a:t> </a:t>
            </a:r>
            <a:r>
              <a:rPr lang="en-US" sz="3200" b="1" dirty="0">
                <a:latin typeface="Arial"/>
                <a:ea typeface="Arial"/>
                <a:cs typeface="Arial"/>
                <a:sym typeface="Arial"/>
              </a:rPr>
              <a:t>y signos </a:t>
            </a:r>
            <a:r>
              <a:rPr lang="en-US" sz="3200" b="1" dirty="0" smtClean="0">
                <a:latin typeface="Arial"/>
                <a:ea typeface="Arial"/>
                <a:cs typeface="Arial"/>
                <a:sym typeface="Arial"/>
              </a:rPr>
              <a:t>varian </a:t>
            </a:r>
            <a:r>
              <a:rPr lang="en-US" sz="3200" b="1" dirty="0">
                <a:latin typeface="Arial"/>
                <a:ea typeface="Arial"/>
                <a:cs typeface="Arial"/>
                <a:sym typeface="Arial"/>
              </a:rPr>
              <a:t>de acuerdo al grado de deficiencia de hormona tiroidea.</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Enlentecimiento</a:t>
            </a:r>
            <a:r>
              <a:rPr lang="en-US" sz="3200" b="1" dirty="0" smtClean="0">
                <a:latin typeface="Arial"/>
                <a:ea typeface="Arial"/>
                <a:cs typeface="Arial"/>
                <a:sym typeface="Arial"/>
              </a:rPr>
              <a:t> </a:t>
            </a:r>
            <a:r>
              <a:rPr lang="en-US" sz="3200" b="1" dirty="0">
                <a:latin typeface="Arial"/>
                <a:ea typeface="Arial"/>
                <a:cs typeface="Arial"/>
                <a:sym typeface="Arial"/>
              </a:rPr>
              <a:t>del metabolismo.</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smtClean="0">
                <a:latin typeface="Arial"/>
                <a:ea typeface="Arial"/>
                <a:cs typeface="Arial"/>
                <a:sym typeface="Arial"/>
              </a:rPr>
              <a:t>Familiar</a:t>
            </a:r>
            <a:r>
              <a:rPr lang="en-US" sz="3200" b="1" dirty="0">
                <a:latin typeface="Arial"/>
                <a:ea typeface="Arial"/>
                <a:cs typeface="Arial"/>
                <a:sym typeface="Arial"/>
              </a:rPr>
              <a:t>.</a:t>
            </a:r>
            <a:endParaRPr sz="3200" b="1" dirty="0">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1"/>
          <p:cNvSpPr txBox="1">
            <a:spLocks noGrp="1"/>
          </p:cNvSpPr>
          <p:nvPr>
            <p:ph type="title"/>
          </p:nvPr>
        </p:nvSpPr>
        <p:spPr>
          <a:xfrm>
            <a:off x="1981200" y="274639"/>
            <a:ext cx="8229600" cy="993775"/>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600"/>
              <a:buFont typeface="Arial"/>
              <a:buNone/>
            </a:pPr>
            <a:r>
              <a:rPr lang="en-US" sz="3600" b="1" dirty="0">
                <a:solidFill>
                  <a:schemeClr val="accent1"/>
                </a:solidFill>
                <a:latin typeface="Arial"/>
                <a:ea typeface="Arial"/>
                <a:cs typeface="Arial"/>
                <a:sym typeface="Arial"/>
              </a:rPr>
              <a:t>CLÍNICA</a:t>
            </a:r>
            <a:endParaRPr sz="3600" dirty="0">
              <a:solidFill>
                <a:schemeClr val="accent1"/>
              </a:solidFill>
            </a:endParaRPr>
          </a:p>
        </p:txBody>
      </p:sp>
      <p:sp>
        <p:nvSpPr>
          <p:cNvPr id="256" name="Google Shape;256;p21"/>
          <p:cNvSpPr txBox="1">
            <a:spLocks noGrp="1"/>
          </p:cNvSpPr>
          <p:nvPr>
            <p:ph type="title" idx="4294967295"/>
          </p:nvPr>
        </p:nvSpPr>
        <p:spPr>
          <a:xfrm>
            <a:off x="1491048" y="1145058"/>
            <a:ext cx="9024551" cy="5403379"/>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Fatiga</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Movimientos lentos</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Bradilalia</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Bradicardia</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Intolerancia al frío</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Constipación</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Ganancia de peso</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Fase de relajación de ROT lenta</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smtClean="0">
                <a:latin typeface="Arial"/>
                <a:ea typeface="Arial"/>
                <a:cs typeface="Arial"/>
                <a:sym typeface="Arial"/>
              </a:rPr>
              <a:t>Pied </a:t>
            </a:r>
            <a:r>
              <a:rPr lang="en-US" sz="3200" b="1" dirty="0">
                <a:latin typeface="Arial"/>
                <a:ea typeface="Arial"/>
                <a:cs typeface="Arial"/>
                <a:sym typeface="Arial"/>
              </a:rPr>
              <a:t>y cabello áspero</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Facie abotagadas</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Macroglosia</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b="1" dirty="0">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3"/>
          <p:cNvSpPr txBox="1">
            <a:spLocks noGrp="1"/>
          </p:cNvSpPr>
          <p:nvPr>
            <p:ph type="title"/>
          </p:nvPr>
        </p:nvSpPr>
        <p:spPr>
          <a:xfrm>
            <a:off x="788773" y="381602"/>
            <a:ext cx="10515600" cy="1042256"/>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FACIES</a:t>
            </a:r>
            <a:endParaRPr sz="3600" dirty="0">
              <a:solidFill>
                <a:schemeClr val="accent1"/>
              </a:solidFill>
            </a:endParaRPr>
          </a:p>
        </p:txBody>
      </p:sp>
      <p:pic>
        <p:nvPicPr>
          <p:cNvPr id="262" name="Google Shape;262;p23"/>
          <p:cNvPicPr preferRelativeResize="0">
            <a:picLocks noGrp="1"/>
          </p:cNvPicPr>
          <p:nvPr>
            <p:ph type="body" idx="1"/>
          </p:nvPr>
        </p:nvPicPr>
        <p:blipFill rotWithShape="1">
          <a:blip r:embed="rId3">
            <a:alphaModFix/>
          </a:blip>
          <a:srcRect/>
          <a:stretch/>
        </p:blipFill>
        <p:spPr>
          <a:xfrm>
            <a:off x="1992314" y="2154803"/>
            <a:ext cx="8232775" cy="3673503"/>
          </a:xfrm>
          <a:prstGeom prst="rect">
            <a:avLst/>
          </a:prstGeom>
          <a:noFill/>
          <a:ln>
            <a:noFill/>
          </a:ln>
        </p:spPr>
      </p:pic>
      <p:sp>
        <p:nvSpPr>
          <p:cNvPr id="263" name="Google Shape;263;p23"/>
          <p:cNvSpPr/>
          <p:nvPr/>
        </p:nvSpPr>
        <p:spPr>
          <a:xfrm>
            <a:off x="2314832" y="3665838"/>
            <a:ext cx="1409068" cy="217712"/>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64" name="Google Shape;264;p23"/>
          <p:cNvSpPr/>
          <p:nvPr/>
        </p:nvSpPr>
        <p:spPr>
          <a:xfrm>
            <a:off x="5274050" y="3665838"/>
            <a:ext cx="1504800" cy="217712"/>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65" name="Google Shape;265;p23"/>
          <p:cNvSpPr/>
          <p:nvPr/>
        </p:nvSpPr>
        <p:spPr>
          <a:xfrm>
            <a:off x="8329000" y="3789405"/>
            <a:ext cx="1309270" cy="205946"/>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24"/>
          <p:cNvPicPr preferRelativeResize="0">
            <a:picLocks noGrp="1"/>
          </p:cNvPicPr>
          <p:nvPr>
            <p:ph type="body" idx="1"/>
          </p:nvPr>
        </p:nvPicPr>
        <p:blipFill rotWithShape="1">
          <a:blip r:embed="rId3">
            <a:alphaModFix/>
          </a:blip>
          <a:srcRect/>
          <a:stretch/>
        </p:blipFill>
        <p:spPr>
          <a:xfrm>
            <a:off x="2081150" y="1098538"/>
            <a:ext cx="4032300" cy="4660800"/>
          </a:xfrm>
          <a:prstGeom prst="rect">
            <a:avLst/>
          </a:prstGeom>
          <a:noFill/>
          <a:ln>
            <a:noFill/>
          </a:ln>
        </p:spPr>
      </p:pic>
      <p:pic>
        <p:nvPicPr>
          <p:cNvPr id="271" name="Google Shape;271;p24"/>
          <p:cNvPicPr preferRelativeResize="0"/>
          <p:nvPr/>
        </p:nvPicPr>
        <p:blipFill rotWithShape="1">
          <a:blip r:embed="rId4">
            <a:alphaModFix/>
          </a:blip>
          <a:srcRect/>
          <a:stretch/>
        </p:blipFill>
        <p:spPr>
          <a:xfrm>
            <a:off x="6296313" y="1089013"/>
            <a:ext cx="3816350" cy="4679950"/>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25"/>
          <p:cNvPicPr preferRelativeResize="0">
            <a:picLocks noGrp="1"/>
          </p:cNvPicPr>
          <p:nvPr>
            <p:ph type="body" idx="1"/>
          </p:nvPr>
        </p:nvPicPr>
        <p:blipFill rotWithShape="1">
          <a:blip r:embed="rId3">
            <a:alphaModFix/>
          </a:blip>
          <a:srcRect/>
          <a:stretch/>
        </p:blipFill>
        <p:spPr>
          <a:xfrm>
            <a:off x="1703389" y="1628777"/>
            <a:ext cx="2663825" cy="2753753"/>
          </a:xfrm>
          <a:prstGeom prst="rect">
            <a:avLst/>
          </a:prstGeom>
          <a:noFill/>
          <a:ln>
            <a:noFill/>
          </a:ln>
        </p:spPr>
      </p:pic>
      <p:pic>
        <p:nvPicPr>
          <p:cNvPr id="277" name="Google Shape;277;p25" descr="9AF3B88F"/>
          <p:cNvPicPr preferRelativeResize="0"/>
          <p:nvPr/>
        </p:nvPicPr>
        <p:blipFill rotWithShape="1">
          <a:blip r:embed="rId4">
            <a:alphaModFix/>
          </a:blip>
          <a:srcRect l="3696" t="4733" b="3156"/>
          <a:stretch/>
        </p:blipFill>
        <p:spPr>
          <a:xfrm>
            <a:off x="4323670" y="1628776"/>
            <a:ext cx="3043279" cy="2753754"/>
          </a:xfrm>
          <a:prstGeom prst="rect">
            <a:avLst/>
          </a:prstGeom>
          <a:noFill/>
          <a:ln>
            <a:noFill/>
          </a:ln>
        </p:spPr>
      </p:pic>
      <p:pic>
        <p:nvPicPr>
          <p:cNvPr id="278" name="Google Shape;278;p25" descr="DAB54291"/>
          <p:cNvPicPr preferRelativeResize="0"/>
          <p:nvPr/>
        </p:nvPicPr>
        <p:blipFill rotWithShape="1">
          <a:blip r:embed="rId5">
            <a:alphaModFix/>
          </a:blip>
          <a:srcRect l="2995" t="1323" r="2396" b="1655"/>
          <a:stretch/>
        </p:blipFill>
        <p:spPr>
          <a:xfrm>
            <a:off x="7366949" y="1628777"/>
            <a:ext cx="3047523" cy="2753753"/>
          </a:xfrm>
          <a:prstGeom prst="rect">
            <a:avLst/>
          </a:prstGeom>
          <a:noFill/>
          <a:ln>
            <a:noFill/>
          </a:ln>
        </p:spPr>
      </p:pic>
      <p:sp>
        <p:nvSpPr>
          <p:cNvPr id="279" name="Google Shape;279;p25"/>
          <p:cNvSpPr/>
          <p:nvPr/>
        </p:nvSpPr>
        <p:spPr>
          <a:xfrm>
            <a:off x="2512541" y="2563300"/>
            <a:ext cx="839710" cy="163425"/>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80" name="Google Shape;280;p25"/>
          <p:cNvSpPr/>
          <p:nvPr/>
        </p:nvSpPr>
        <p:spPr>
          <a:xfrm>
            <a:off x="5593591" y="2791469"/>
            <a:ext cx="790832" cy="181232"/>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81" name="Google Shape;281;p25"/>
          <p:cNvSpPr/>
          <p:nvPr/>
        </p:nvSpPr>
        <p:spPr>
          <a:xfrm>
            <a:off x="7893850" y="2323900"/>
            <a:ext cx="2462700" cy="239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6"/>
          <p:cNvSpPr txBox="1">
            <a:spLocks noGrp="1"/>
          </p:cNvSpPr>
          <p:nvPr>
            <p:ph type="title"/>
          </p:nvPr>
        </p:nvSpPr>
        <p:spPr>
          <a:xfrm>
            <a:off x="629325" y="362465"/>
            <a:ext cx="10515600" cy="6417276"/>
          </a:xfrm>
          <a:prstGeom prst="rect">
            <a:avLst/>
          </a:prstGeom>
          <a:noFill/>
          <a:ln>
            <a:noFill/>
          </a:ln>
        </p:spPr>
        <p:txBody>
          <a:bodyPr spcFirstLastPara="1" wrap="square" lIns="91425" tIns="45700" rIns="91425" bIns="45700" anchor="t" anchorCtr="0">
            <a:normAutofit fontScale="90000"/>
          </a:bodyPr>
          <a:lstStyle/>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Disminución de sudoración</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Pérdida de cabello</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Alopecia areata</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Piel fría y pálida</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smtClean="0">
                <a:latin typeface="Arial"/>
                <a:ea typeface="Arial"/>
                <a:cs typeface="Arial"/>
                <a:sym typeface="Arial"/>
              </a:rPr>
              <a:t>Uñas </a:t>
            </a:r>
            <a:r>
              <a:rPr lang="en-US" sz="3200" b="1" dirty="0">
                <a:latin typeface="Arial"/>
                <a:ea typeface="Arial"/>
                <a:cs typeface="Arial"/>
                <a:sym typeface="Arial"/>
              </a:rPr>
              <a:t>quebradizas</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Vitiligo</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Edema periorbitario</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b="1" dirty="0">
              <a:latin typeface="Arial"/>
              <a:ea typeface="Arial"/>
              <a:cs typeface="Arial"/>
              <a:sym typeface="Arial"/>
            </a:endParaRPr>
          </a:p>
        </p:txBody>
      </p:sp>
    </p:spTree>
    <p:extLst>
      <p:ext uri="{BB962C8B-B14F-4D97-AF65-F5344CB8AC3E}">
        <p14:creationId xmlns:p14="http://schemas.microsoft.com/office/powerpoint/2010/main" val="25956011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994419"/>
          </a:xfrm>
        </p:spPr>
        <p:txBody>
          <a:bodyPr/>
          <a:lstStyle/>
          <a:p>
            <a:pPr marL="0" indent="0" algn="ctr"/>
            <a:r>
              <a:rPr lang="es-ES" sz="3600" b="1" dirty="0" smtClean="0">
                <a:solidFill>
                  <a:schemeClr val="accent1"/>
                </a:solidFill>
                <a:latin typeface="Arial" pitchFamily="34" charset="0"/>
                <a:cs typeface="Arial" pitchFamily="34" charset="0"/>
              </a:rPr>
              <a:t>APARATO REPRODUCTOR</a:t>
            </a:r>
            <a:endParaRPr lang="es-ES" sz="3600" b="1" dirty="0">
              <a:solidFill>
                <a:schemeClr val="accent1"/>
              </a:solidFill>
              <a:latin typeface="Arial" pitchFamily="34" charset="0"/>
              <a:cs typeface="Arial" pitchFamily="34" charset="0"/>
            </a:endParaRPr>
          </a:p>
        </p:txBody>
      </p:sp>
      <p:sp>
        <p:nvSpPr>
          <p:cNvPr id="5" name="Marcador de texto 4"/>
          <p:cNvSpPr>
            <a:spLocks noGrp="1"/>
          </p:cNvSpPr>
          <p:nvPr>
            <p:ph type="body" idx="1"/>
          </p:nvPr>
        </p:nvSpPr>
        <p:spPr>
          <a:xfrm>
            <a:off x="1103312" y="1447137"/>
            <a:ext cx="8946541" cy="5144493"/>
          </a:xfrm>
        </p:spPr>
        <p:txBody>
          <a:bodyPr/>
          <a:lstStyle/>
          <a:p>
            <a:pPr marL="137160" indent="0">
              <a:lnSpc>
                <a:spcPct val="150000"/>
              </a:lnSpc>
              <a:buNone/>
            </a:pPr>
            <a:r>
              <a:rPr lang="es-ES" sz="2400" b="1" dirty="0" smtClean="0">
                <a:latin typeface="Arial" pitchFamily="34" charset="0"/>
                <a:cs typeface="Arial" pitchFamily="34" charset="0"/>
              </a:rPr>
              <a:t>Disminución </a:t>
            </a:r>
            <a:r>
              <a:rPr lang="es-ES" sz="2400" b="1" dirty="0">
                <a:latin typeface="Arial" pitchFamily="34" charset="0"/>
                <a:cs typeface="Arial" pitchFamily="34" charset="0"/>
              </a:rPr>
              <a:t>de la libido (en ambos sexos)</a:t>
            </a:r>
          </a:p>
          <a:p>
            <a:pPr marL="137160" indent="0">
              <a:lnSpc>
                <a:spcPct val="150000"/>
              </a:lnSpc>
              <a:buNone/>
            </a:pPr>
            <a:r>
              <a:rPr lang="es-ES" sz="2400" b="1" dirty="0" smtClean="0">
                <a:latin typeface="Arial" pitchFamily="34" charset="0"/>
                <a:cs typeface="Arial" pitchFamily="34" charset="0"/>
              </a:rPr>
              <a:t>Oligomenorrea - amenorrea </a:t>
            </a:r>
            <a:r>
              <a:rPr lang="es-ES" sz="2400" b="1" dirty="0">
                <a:latin typeface="Arial" pitchFamily="34" charset="0"/>
                <a:cs typeface="Arial" pitchFamily="34" charset="0"/>
              </a:rPr>
              <a:t>o hipermenorrea, menometroragia</a:t>
            </a:r>
          </a:p>
          <a:p>
            <a:pPr marL="137160" indent="0">
              <a:lnSpc>
                <a:spcPct val="150000"/>
              </a:lnSpc>
              <a:buNone/>
            </a:pPr>
            <a:r>
              <a:rPr lang="es-ES" sz="2400" b="1" dirty="0">
                <a:latin typeface="Arial" pitchFamily="34" charset="0"/>
                <a:cs typeface="Arial" pitchFamily="34" charset="0"/>
              </a:rPr>
              <a:t>Ciclos monofásicos e infertilidad</a:t>
            </a:r>
          </a:p>
          <a:p>
            <a:pPr marL="137160" indent="0">
              <a:lnSpc>
                <a:spcPct val="150000"/>
              </a:lnSpc>
              <a:buNone/>
            </a:pPr>
            <a:r>
              <a:rPr lang="es-ES" sz="2400" b="1" dirty="0">
                <a:latin typeface="Arial" pitchFamily="34" charset="0"/>
                <a:cs typeface="Arial" pitchFamily="34" charset="0"/>
              </a:rPr>
              <a:t>Disfunción eréctil y oligospermia</a:t>
            </a:r>
          </a:p>
          <a:p>
            <a:pPr marL="137160" indent="0">
              <a:lnSpc>
                <a:spcPct val="150000"/>
              </a:lnSpc>
              <a:buNone/>
            </a:pPr>
            <a:r>
              <a:rPr lang="es-ES" sz="2400" b="1" dirty="0">
                <a:latin typeface="Arial" pitchFamily="34" charset="0"/>
                <a:cs typeface="Arial" pitchFamily="34" charset="0"/>
              </a:rPr>
              <a:t>Disminución de GLAE, estrógenos y </a:t>
            </a:r>
            <a:r>
              <a:rPr lang="es-ES" sz="2400" b="1" dirty="0" smtClean="0">
                <a:latin typeface="Arial" pitchFamily="34" charset="0"/>
                <a:cs typeface="Arial" pitchFamily="34" charset="0"/>
              </a:rPr>
              <a:t>testosterona</a:t>
            </a:r>
          </a:p>
          <a:p>
            <a:pPr marL="137160" indent="0">
              <a:lnSpc>
                <a:spcPct val="150000"/>
              </a:lnSpc>
              <a:buNone/>
            </a:pPr>
            <a:r>
              <a:rPr lang="es-ES" sz="2400" b="1" dirty="0" smtClean="0">
                <a:latin typeface="Arial" pitchFamily="34" charset="0"/>
                <a:cs typeface="Arial" pitchFamily="34" charset="0"/>
              </a:rPr>
              <a:t>Hiperprolactinemia.</a:t>
            </a:r>
            <a:endParaRPr lang="es-ES" sz="2400" b="1" dirty="0">
              <a:latin typeface="Arial" pitchFamily="34" charset="0"/>
              <a:cs typeface="Arial" pitchFamily="34" charset="0"/>
            </a:endParaRPr>
          </a:p>
          <a:p>
            <a:pPr marL="137160" indent="0">
              <a:lnSpc>
                <a:spcPct val="150000"/>
              </a:lnSpc>
              <a:buNone/>
            </a:pPr>
            <a:endParaRPr lang="es-AR" sz="2400" b="1" dirty="0"/>
          </a:p>
        </p:txBody>
      </p:sp>
    </p:spTree>
    <p:extLst>
      <p:ext uri="{BB962C8B-B14F-4D97-AF65-F5344CB8AC3E}">
        <p14:creationId xmlns:p14="http://schemas.microsoft.com/office/powerpoint/2010/main" val="15498549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7"/>
          <p:cNvSpPr txBox="1">
            <a:spLocks noGrp="1"/>
          </p:cNvSpPr>
          <p:nvPr>
            <p:ph type="title"/>
          </p:nvPr>
        </p:nvSpPr>
        <p:spPr>
          <a:xfrm>
            <a:off x="646725" y="247650"/>
            <a:ext cx="10515600" cy="6372225"/>
          </a:xfrm>
          <a:prstGeom prst="rect">
            <a:avLst/>
          </a:prstGeom>
          <a:noFill/>
          <a:ln>
            <a:noFill/>
          </a:ln>
        </p:spPr>
        <p:txBody>
          <a:bodyPr spcFirstLastPara="1" wrap="square" lIns="91425" tIns="45700" rIns="91425" bIns="45700" anchor="t" anchorCtr="0">
            <a:normAutofit/>
          </a:bodyPr>
          <a:lstStyle/>
          <a:p>
            <a:pPr>
              <a:lnSpc>
                <a:spcPct val="150000"/>
              </a:lnSpc>
            </a:pPr>
            <a:r>
              <a:rPr lang="es-ES" sz="3200" b="1" dirty="0" smtClean="0">
                <a:solidFill>
                  <a:schemeClr val="accent1"/>
                </a:solidFill>
                <a:latin typeface="Arial" pitchFamily="34" charset="0"/>
                <a:cs typeface="Arial" pitchFamily="34" charset="0"/>
              </a:rPr>
              <a:t>SISTEMA CARDIOVASCULAR</a:t>
            </a:r>
            <a:r>
              <a:rPr lang="es-ES" sz="2700" b="1" dirty="0" smtClean="0">
                <a:solidFill>
                  <a:schemeClr val="accent1"/>
                </a:solidFill>
                <a:latin typeface="Arial" pitchFamily="34" charset="0"/>
                <a:cs typeface="Arial" pitchFamily="34" charset="0"/>
              </a:rPr>
              <a:t/>
            </a:r>
            <a:br>
              <a:rPr lang="es-ES" sz="2700" b="1" dirty="0" smtClean="0">
                <a:solidFill>
                  <a:schemeClr val="accent1"/>
                </a:solidFill>
                <a:latin typeface="Arial" pitchFamily="34" charset="0"/>
                <a:cs typeface="Arial" pitchFamily="34" charset="0"/>
              </a:rPr>
            </a:br>
            <a:r>
              <a:rPr lang="es-ES" sz="2700" b="1" dirty="0" smtClean="0">
                <a:latin typeface="Arial" pitchFamily="34" charset="0"/>
                <a:cs typeface="Arial" pitchFamily="34" charset="0"/>
              </a:rPr>
              <a:t>Bradicardia</a:t>
            </a:r>
            <a:r>
              <a:rPr lang="es-ES" sz="2700" b="1" dirty="0">
                <a:latin typeface="Arial" pitchFamily="34" charset="0"/>
                <a:cs typeface="Arial" pitchFamily="34" charset="0"/>
              </a:rPr>
              <a:t/>
            </a:r>
            <a:br>
              <a:rPr lang="es-ES" sz="2700" b="1" dirty="0">
                <a:latin typeface="Arial" pitchFamily="34" charset="0"/>
                <a:cs typeface="Arial" pitchFamily="34" charset="0"/>
              </a:rPr>
            </a:br>
            <a:r>
              <a:rPr lang="es-ES" sz="2700" b="1" dirty="0">
                <a:latin typeface="Arial" pitchFamily="34" charset="0"/>
                <a:cs typeface="Arial" pitchFamily="34" charset="0"/>
              </a:rPr>
              <a:t>Disnea de esfuerzo e intolerancia al ejercicio, ICC</a:t>
            </a:r>
            <a:br>
              <a:rPr lang="es-ES" sz="2700" b="1" dirty="0">
                <a:latin typeface="Arial" pitchFamily="34" charset="0"/>
                <a:cs typeface="Arial" pitchFamily="34" charset="0"/>
              </a:rPr>
            </a:br>
            <a:r>
              <a:rPr lang="es-ES" sz="2700" b="1" dirty="0">
                <a:latin typeface="Arial" pitchFamily="34" charset="0"/>
                <a:cs typeface="Arial" pitchFamily="34" charset="0"/>
              </a:rPr>
              <a:t>Disminución de los ruidos cardiacos. Derrame pericárdico</a:t>
            </a:r>
            <a:br>
              <a:rPr lang="es-ES" sz="2700" b="1" dirty="0">
                <a:latin typeface="Arial" pitchFamily="34" charset="0"/>
                <a:cs typeface="Arial" pitchFamily="34" charset="0"/>
              </a:rPr>
            </a:br>
            <a:r>
              <a:rPr lang="es-ES" sz="2700" b="1" dirty="0">
                <a:latin typeface="Arial" pitchFamily="34" charset="0"/>
                <a:cs typeface="Arial" pitchFamily="34" charset="0"/>
              </a:rPr>
              <a:t>Hay disminución de la TAS con Hipertensión diastólica (20</a:t>
            </a:r>
            <a:r>
              <a:rPr lang="es-ES" sz="2700" b="1" dirty="0" smtClean="0">
                <a:latin typeface="Arial" pitchFamily="34" charset="0"/>
                <a:cs typeface="Arial" pitchFamily="34" charset="0"/>
              </a:rPr>
              <a:t>%), </a:t>
            </a:r>
            <a:r>
              <a:rPr lang="es-ES" sz="2700" b="1" dirty="0">
                <a:latin typeface="Arial" pitchFamily="34" charset="0"/>
                <a:cs typeface="Arial" pitchFamily="34" charset="0"/>
              </a:rPr>
              <a:t>aumento de </a:t>
            </a:r>
            <a:r>
              <a:rPr lang="es-ES" sz="2700" b="1" dirty="0" smtClean="0">
                <a:latin typeface="Arial" pitchFamily="34" charset="0"/>
                <a:cs typeface="Arial" pitchFamily="34" charset="0"/>
              </a:rPr>
              <a:t>RP.</a:t>
            </a:r>
            <a:r>
              <a:rPr lang="es-ES" sz="2700" b="1" dirty="0">
                <a:latin typeface="Arial" pitchFamily="34" charset="0"/>
                <a:cs typeface="Arial" pitchFamily="34" charset="0"/>
              </a:rPr>
              <a:t/>
            </a:r>
            <a:br>
              <a:rPr lang="es-ES" sz="2700" b="1" dirty="0">
                <a:latin typeface="Arial" pitchFamily="34" charset="0"/>
                <a:cs typeface="Arial" pitchFamily="34" charset="0"/>
              </a:rPr>
            </a:br>
            <a:r>
              <a:rPr lang="es-ES" sz="2700" b="1" dirty="0">
                <a:latin typeface="Arial" pitchFamily="34" charset="0"/>
                <a:cs typeface="Arial" pitchFamily="34" charset="0"/>
              </a:rPr>
              <a:t>El ECG puede mostrar bradicardia sinusal severa, prolongación PR, QT, aplanamiento onda </a:t>
            </a:r>
            <a:r>
              <a:rPr lang="es-ES" sz="2700" b="1" dirty="0" smtClean="0">
                <a:latin typeface="Arial" pitchFamily="34" charset="0"/>
                <a:cs typeface="Arial" pitchFamily="34" charset="0"/>
              </a:rPr>
              <a:t>P</a:t>
            </a:r>
            <a:r>
              <a:rPr lang="es-ES" sz="2700" b="1" dirty="0">
                <a:latin typeface="Arial" pitchFamily="34" charset="0"/>
                <a:cs typeface="Arial" pitchFamily="34" charset="0"/>
              </a:rPr>
              <a:t/>
            </a:r>
            <a:br>
              <a:rPr lang="es-ES" sz="2700" b="1" dirty="0">
                <a:latin typeface="Arial" pitchFamily="34" charset="0"/>
                <a:cs typeface="Arial" pitchFamily="34" charset="0"/>
              </a:rPr>
            </a:br>
            <a:r>
              <a:rPr lang="en-US" sz="2700" b="1" dirty="0" smtClean="0">
                <a:latin typeface="Arial"/>
                <a:ea typeface="Arial"/>
                <a:cs typeface="Arial"/>
                <a:sym typeface="Arial"/>
              </a:rPr>
              <a:t>Empeoramiento </a:t>
            </a:r>
            <a:r>
              <a:rPr lang="en-US" sz="2700" b="1" dirty="0">
                <a:latin typeface="Arial"/>
                <a:ea typeface="Arial"/>
                <a:cs typeface="Arial"/>
                <a:sym typeface="Arial"/>
              </a:rPr>
              <a:t>de angina y falla </a:t>
            </a:r>
            <a:r>
              <a:rPr lang="en-US" sz="2700" b="1" dirty="0" smtClean="0">
                <a:latin typeface="Arial"/>
                <a:ea typeface="Arial"/>
                <a:cs typeface="Arial"/>
                <a:sym typeface="Arial"/>
              </a:rPr>
              <a:t>cardíaca </a:t>
            </a:r>
            <a:endParaRPr sz="2700" b="1" dirty="0">
              <a:latin typeface="Arial"/>
              <a:ea typeface="Arial"/>
              <a:cs typeface="Arial"/>
              <a:sym typeface="Arial"/>
            </a:endParaRPr>
          </a:p>
          <a:p>
            <a:pPr marL="0" lvl="0" indent="0" algn="l" rtl="0">
              <a:spcBef>
                <a:spcPts val="0"/>
              </a:spcBef>
              <a:spcAft>
                <a:spcPts val="0"/>
              </a:spcAft>
              <a:buClr>
                <a:schemeClr val="lt2"/>
              </a:buClr>
              <a:buSzPct val="100000"/>
              <a:buFont typeface="Arial"/>
              <a:buNone/>
            </a:pPr>
            <a:endParaRPr sz="2700" b="1" dirty="0">
              <a:latin typeface="Arial"/>
              <a:ea typeface="Arial"/>
              <a:cs typeface="Arial"/>
              <a:sym typeface="Arial"/>
            </a:endParaRPr>
          </a:p>
          <a:p>
            <a:pPr marL="0" lvl="0" indent="0" algn="l" rtl="0">
              <a:spcBef>
                <a:spcPts val="0"/>
              </a:spcBef>
              <a:spcAft>
                <a:spcPts val="0"/>
              </a:spcAft>
              <a:buClr>
                <a:schemeClr val="lt2"/>
              </a:buClr>
              <a:buSzPct val="100000"/>
              <a:buFont typeface="Arial"/>
              <a:buNone/>
            </a:pPr>
            <a:endParaRPr sz="3200" dirty="0">
              <a:latin typeface="Arial"/>
              <a:ea typeface="Arial"/>
              <a:cs typeface="Arial"/>
              <a:sym typeface="Arial"/>
            </a:endParaRPr>
          </a:p>
        </p:txBody>
      </p:sp>
      <p:pic>
        <p:nvPicPr>
          <p:cNvPr id="2" name="Imagen 1"/>
          <p:cNvPicPr>
            <a:picLocks noChangeAspect="1"/>
          </p:cNvPicPr>
          <p:nvPr/>
        </p:nvPicPr>
        <p:blipFill>
          <a:blip r:embed="rId3"/>
          <a:stretch>
            <a:fillRect/>
          </a:stretch>
        </p:blipFill>
        <p:spPr>
          <a:xfrm>
            <a:off x="8444285" y="373711"/>
            <a:ext cx="1749288" cy="1742496"/>
          </a:xfrm>
          <a:prstGeom prst="rect">
            <a:avLst/>
          </a:prstGeom>
        </p:spPr>
      </p:pic>
      <p:pic>
        <p:nvPicPr>
          <p:cNvPr id="4" name="Google Shape;301;p29"/>
          <p:cNvPicPr preferRelativeResize="0">
            <a:picLocks noGrp="1"/>
          </p:cNvPicPr>
          <p:nvPr>
            <p:ph type="body" idx="1"/>
          </p:nvPr>
        </p:nvPicPr>
        <p:blipFill rotWithShape="1">
          <a:blip r:embed="rId4">
            <a:alphaModFix/>
          </a:blip>
          <a:srcRect/>
          <a:stretch/>
        </p:blipFill>
        <p:spPr>
          <a:xfrm>
            <a:off x="7776376" y="4866198"/>
            <a:ext cx="3385949" cy="1653871"/>
          </a:xfrm>
          <a:prstGeom prst="rect">
            <a:avLst/>
          </a:prstGeom>
          <a:noFill/>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8"/>
          <p:cNvSpPr txBox="1">
            <a:spLocks noGrp="1"/>
          </p:cNvSpPr>
          <p:nvPr>
            <p:ph type="title"/>
          </p:nvPr>
        </p:nvSpPr>
        <p:spPr>
          <a:xfrm>
            <a:off x="500141" y="135173"/>
            <a:ext cx="10623733" cy="6623437"/>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15000"/>
              </a:lnSpc>
              <a:spcBef>
                <a:spcPts val="0"/>
              </a:spcBef>
              <a:spcAft>
                <a:spcPts val="0"/>
              </a:spcAft>
              <a:buClr>
                <a:schemeClr val="lt2"/>
              </a:buClr>
              <a:buSzPct val="100000"/>
              <a:buFont typeface="Arial"/>
              <a:buNone/>
            </a:pPr>
            <a:r>
              <a:rPr lang="en-US" sz="3200" b="1" dirty="0">
                <a:solidFill>
                  <a:schemeClr val="accent1"/>
                </a:solidFill>
                <a:latin typeface="+mj-lt"/>
                <a:ea typeface="Arial"/>
                <a:cs typeface="Arial"/>
                <a:sym typeface="Arial"/>
              </a:rPr>
              <a:t>Disminución en capacidad de ejercicio: </a:t>
            </a:r>
            <a:endParaRPr sz="3200" b="1" dirty="0">
              <a:solidFill>
                <a:schemeClr val="accent1"/>
              </a:solidFill>
              <a:latin typeface="+mj-lt"/>
              <a:ea typeface="Arial"/>
              <a:cs typeface="Arial"/>
              <a:sym typeface="Arial"/>
            </a:endParaRPr>
          </a:p>
          <a:p>
            <a:pPr>
              <a:lnSpc>
                <a:spcPct val="150000"/>
              </a:lnSpc>
            </a:pPr>
            <a:r>
              <a:rPr lang="es-ES" sz="2700" b="1" dirty="0">
                <a:latin typeface="+mj-lt"/>
                <a:cs typeface="Arial" pitchFamily="34" charset="0"/>
              </a:rPr>
              <a:t>Respiratorio</a:t>
            </a:r>
            <a:br>
              <a:rPr lang="es-ES" sz="2700" b="1" dirty="0">
                <a:latin typeface="+mj-lt"/>
                <a:cs typeface="Arial" pitchFamily="34" charset="0"/>
              </a:rPr>
            </a:br>
            <a:r>
              <a:rPr lang="es-ES" sz="2700" dirty="0" smtClean="0">
                <a:latin typeface="+mj-lt"/>
                <a:cs typeface="Arial" pitchFamily="34" charset="0"/>
              </a:rPr>
              <a:t>Disnea </a:t>
            </a:r>
            <a:r>
              <a:rPr lang="es-ES" sz="2700" dirty="0">
                <a:latin typeface="+mj-lt"/>
                <a:cs typeface="Arial" pitchFamily="34" charset="0"/>
              </a:rPr>
              <a:t>de esfuerzo progresiva, tos y fatiga al esfuerzo por:</a:t>
            </a:r>
            <a:br>
              <a:rPr lang="es-ES" sz="2700" dirty="0">
                <a:latin typeface="+mj-lt"/>
                <a:cs typeface="Arial" pitchFamily="34" charset="0"/>
              </a:rPr>
            </a:br>
            <a:r>
              <a:rPr lang="es-ES" sz="2700" dirty="0">
                <a:latin typeface="+mj-lt"/>
                <a:cs typeface="Arial" pitchFamily="34" charset="0"/>
              </a:rPr>
              <a:t>    - disfunción diafragmática y muscular torácica</a:t>
            </a:r>
            <a:br>
              <a:rPr lang="es-ES" sz="2700" dirty="0">
                <a:latin typeface="+mj-lt"/>
                <a:cs typeface="Arial" pitchFamily="34" charset="0"/>
              </a:rPr>
            </a:br>
            <a:r>
              <a:rPr lang="es-ES" sz="2700" dirty="0">
                <a:latin typeface="+mj-lt"/>
                <a:cs typeface="Arial" pitchFamily="34" charset="0"/>
              </a:rPr>
              <a:t>    - disminución de la respuesta ventilatoria frente a la hipoxemia e hipercapnia</a:t>
            </a:r>
            <a:br>
              <a:rPr lang="es-ES" sz="2700" dirty="0">
                <a:latin typeface="+mj-lt"/>
                <a:cs typeface="Arial" pitchFamily="34" charset="0"/>
              </a:rPr>
            </a:br>
            <a:r>
              <a:rPr lang="es-ES" sz="2700" dirty="0">
                <a:latin typeface="+mj-lt"/>
                <a:cs typeface="Arial" pitchFamily="34" charset="0"/>
              </a:rPr>
              <a:t>Derrame pleural en algunos casos en bocios compresivos </a:t>
            </a:r>
            <a:r>
              <a:rPr lang="es-ES" sz="2700" dirty="0" smtClean="0">
                <a:latin typeface="+mj-lt"/>
                <a:cs typeface="Arial" pitchFamily="34" charset="0"/>
              </a:rPr>
              <a:t>(obstrucción </a:t>
            </a:r>
            <a:r>
              <a:rPr lang="es-ES" sz="2700" dirty="0">
                <a:latin typeface="+mj-lt"/>
                <a:cs typeface="Arial" pitchFamily="34" charset="0"/>
              </a:rPr>
              <a:t>ventilatoria)</a:t>
            </a:r>
            <a:br>
              <a:rPr lang="es-ES" sz="2700" dirty="0">
                <a:latin typeface="+mj-lt"/>
                <a:cs typeface="Arial" pitchFamily="34" charset="0"/>
              </a:rPr>
            </a:br>
            <a:r>
              <a:rPr lang="es-ES" sz="2700" dirty="0">
                <a:latin typeface="+mj-lt"/>
                <a:cs typeface="Arial" pitchFamily="34" charset="0"/>
              </a:rPr>
              <a:t>Mayor prevalencia de </a:t>
            </a:r>
            <a:r>
              <a:rPr lang="es-ES" sz="2700" dirty="0" smtClean="0">
                <a:latin typeface="+mj-lt"/>
                <a:cs typeface="Arial" pitchFamily="34" charset="0"/>
              </a:rPr>
              <a:t>SAHOS</a:t>
            </a:r>
            <a:r>
              <a:rPr lang="es-ES" sz="2700" dirty="0">
                <a:latin typeface="+mj-lt"/>
                <a:cs typeface="Arial" pitchFamily="34" charset="0"/>
              </a:rPr>
              <a:t/>
            </a:r>
            <a:br>
              <a:rPr lang="es-ES" sz="2700" dirty="0">
                <a:latin typeface="+mj-lt"/>
                <a:cs typeface="Arial" pitchFamily="34" charset="0"/>
              </a:rPr>
            </a:br>
            <a:r>
              <a:rPr lang="es-ES" sz="2700" dirty="0">
                <a:latin typeface="+mj-lt"/>
                <a:cs typeface="Arial" pitchFamily="34" charset="0"/>
              </a:rPr>
              <a:t>Menor síntesis de surfactante en neonatos</a:t>
            </a:r>
            <a:br>
              <a:rPr lang="es-ES" sz="2700" dirty="0">
                <a:latin typeface="+mj-lt"/>
                <a:cs typeface="Arial" pitchFamily="34" charset="0"/>
              </a:rPr>
            </a:br>
            <a:r>
              <a:rPr lang="en-US" sz="2700" dirty="0" smtClean="0">
                <a:latin typeface="+mj-lt"/>
                <a:ea typeface="Arial"/>
                <a:cs typeface="Arial"/>
                <a:sym typeface="Arial"/>
              </a:rPr>
              <a:t>Hipoventilación</a:t>
            </a:r>
            <a:endParaRPr sz="2700" dirty="0">
              <a:latin typeface="+mj-lt"/>
              <a:ea typeface="Arial"/>
              <a:cs typeface="Arial"/>
              <a:sym typeface="Arial"/>
            </a:endParaRPr>
          </a:p>
          <a:p>
            <a:pPr marL="0" lvl="0" indent="0" algn="l" rtl="0">
              <a:lnSpc>
                <a:spcPct val="150000"/>
              </a:lnSpc>
              <a:spcBef>
                <a:spcPts val="0"/>
              </a:spcBef>
              <a:spcAft>
                <a:spcPts val="0"/>
              </a:spcAft>
              <a:buClr>
                <a:schemeClr val="lt2"/>
              </a:buClr>
              <a:buSzPct val="100000"/>
              <a:buFont typeface="Arial"/>
              <a:buNone/>
            </a:pPr>
            <a:r>
              <a:rPr lang="en-US" sz="2700" dirty="0" smtClean="0">
                <a:latin typeface="+mj-lt"/>
                <a:ea typeface="Arial"/>
                <a:cs typeface="Arial"/>
                <a:sym typeface="Arial"/>
              </a:rPr>
              <a:t>Anemia</a:t>
            </a:r>
            <a:endParaRPr sz="2700" dirty="0">
              <a:latin typeface="+mj-lt"/>
              <a:ea typeface="Arial"/>
              <a:cs typeface="Arial"/>
              <a:sym typeface="Arial"/>
            </a:endParaRPr>
          </a:p>
          <a:p>
            <a:pPr marL="0" lvl="0" indent="0" algn="l" rtl="0">
              <a:lnSpc>
                <a:spcPct val="150000"/>
              </a:lnSpc>
              <a:spcBef>
                <a:spcPts val="0"/>
              </a:spcBef>
              <a:spcAft>
                <a:spcPts val="0"/>
              </a:spcAft>
              <a:buClr>
                <a:schemeClr val="lt2"/>
              </a:buClr>
              <a:buSzPct val="100000"/>
              <a:buFont typeface="Arial"/>
              <a:buNone/>
            </a:pPr>
            <a:endParaRPr sz="3200"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dirty="0">
              <a:latin typeface="Arial"/>
              <a:ea typeface="Arial"/>
              <a:cs typeface="Arial"/>
              <a:sym typeface="Arial"/>
            </a:endParaRPr>
          </a:p>
        </p:txBody>
      </p:sp>
      <p:pic>
        <p:nvPicPr>
          <p:cNvPr id="2" name="Imagen 1"/>
          <p:cNvPicPr>
            <a:picLocks noChangeAspect="1"/>
          </p:cNvPicPr>
          <p:nvPr/>
        </p:nvPicPr>
        <p:blipFill>
          <a:blip r:embed="rId3"/>
          <a:stretch>
            <a:fillRect/>
          </a:stretch>
        </p:blipFill>
        <p:spPr>
          <a:xfrm>
            <a:off x="8690775" y="326003"/>
            <a:ext cx="1470991" cy="1661823"/>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p:cNvSpPr>
            <a:spLocks noGrp="1"/>
          </p:cNvSpPr>
          <p:nvPr>
            <p:ph type="body" idx="1"/>
          </p:nvPr>
        </p:nvSpPr>
        <p:spPr>
          <a:xfrm>
            <a:off x="874643" y="461177"/>
            <a:ext cx="9835763" cy="6202016"/>
          </a:xfrm>
        </p:spPr>
        <p:txBody>
          <a:bodyPr>
            <a:normAutofit/>
          </a:bodyPr>
          <a:lstStyle/>
          <a:p>
            <a:pPr marL="0" indent="0">
              <a:buNone/>
            </a:pPr>
            <a:r>
              <a:rPr lang="es-ES" sz="3200" b="1" dirty="0" smtClean="0">
                <a:solidFill>
                  <a:schemeClr val="accent1"/>
                </a:solidFill>
                <a:latin typeface="+mj-lt"/>
                <a:cs typeface="Arial" pitchFamily="34" charset="0"/>
              </a:rPr>
              <a:t>GASTROINTESTINAL</a:t>
            </a:r>
            <a:endParaRPr lang="es-ES" sz="3200" b="1" dirty="0">
              <a:solidFill>
                <a:schemeClr val="accent1"/>
              </a:solidFill>
              <a:latin typeface="+mj-lt"/>
              <a:cs typeface="Arial" pitchFamily="34" charset="0"/>
            </a:endParaRPr>
          </a:p>
          <a:p>
            <a:pPr marL="137160" indent="0">
              <a:lnSpc>
                <a:spcPct val="150000"/>
              </a:lnSpc>
              <a:buNone/>
            </a:pPr>
            <a:r>
              <a:rPr lang="es-ES" sz="2400" b="1" dirty="0" smtClean="0">
                <a:latin typeface="+mj-lt"/>
                <a:cs typeface="Arial" pitchFamily="34" charset="0"/>
              </a:rPr>
              <a:t>Constipación </a:t>
            </a:r>
            <a:endParaRPr lang="es-ES" sz="2400" b="1" dirty="0">
              <a:latin typeface="+mj-lt"/>
              <a:cs typeface="Arial" pitchFamily="34" charset="0"/>
            </a:endParaRPr>
          </a:p>
          <a:p>
            <a:pPr marL="137160" indent="0">
              <a:lnSpc>
                <a:spcPct val="150000"/>
              </a:lnSpc>
              <a:buNone/>
            </a:pPr>
            <a:r>
              <a:rPr lang="es-ES" sz="2400" b="1" dirty="0">
                <a:latin typeface="+mj-lt"/>
                <a:cs typeface="Arial" pitchFamily="34" charset="0"/>
              </a:rPr>
              <a:t>Distensión abdominal</a:t>
            </a:r>
          </a:p>
          <a:p>
            <a:pPr marL="137160" indent="0">
              <a:lnSpc>
                <a:spcPct val="150000"/>
              </a:lnSpc>
              <a:buNone/>
            </a:pPr>
            <a:r>
              <a:rPr lang="es-ES" sz="2400" b="1" dirty="0">
                <a:latin typeface="+mj-lt"/>
                <a:cs typeface="Arial" pitchFamily="34" charset="0"/>
              </a:rPr>
              <a:t>Disminución del apetito con aumento de peso ( 2 a 3 hasta 5 kg)</a:t>
            </a:r>
          </a:p>
          <a:p>
            <a:pPr marL="137160" indent="0">
              <a:lnSpc>
                <a:spcPct val="150000"/>
              </a:lnSpc>
              <a:buNone/>
            </a:pPr>
            <a:r>
              <a:rPr lang="es-ES" sz="2400" b="1" dirty="0" smtClean="0">
                <a:latin typeface="+mj-lt"/>
                <a:cs typeface="Arial" pitchFamily="34" charset="0"/>
              </a:rPr>
              <a:t>Aclorhidria </a:t>
            </a:r>
            <a:r>
              <a:rPr lang="es-ES" sz="2400" b="1" dirty="0">
                <a:latin typeface="+mj-lt"/>
                <a:cs typeface="Arial" pitchFamily="34" charset="0"/>
              </a:rPr>
              <a:t>(50% casos)</a:t>
            </a:r>
          </a:p>
          <a:p>
            <a:pPr marL="137160" indent="0">
              <a:lnSpc>
                <a:spcPct val="150000"/>
              </a:lnSpc>
              <a:buNone/>
            </a:pPr>
            <a:r>
              <a:rPr lang="es-ES" sz="2400" b="1" dirty="0">
                <a:latin typeface="+mj-lt"/>
                <a:cs typeface="Arial" pitchFamily="34" charset="0"/>
              </a:rPr>
              <a:t>Puede haber ascitis</a:t>
            </a:r>
          </a:p>
          <a:p>
            <a:pPr marL="137160" indent="0">
              <a:lnSpc>
                <a:spcPct val="150000"/>
              </a:lnSpc>
              <a:buNone/>
            </a:pPr>
            <a:r>
              <a:rPr lang="es-ES" sz="2400" b="1" dirty="0">
                <a:latin typeface="+mj-lt"/>
                <a:cs typeface="Arial" pitchFamily="34" charset="0"/>
              </a:rPr>
              <a:t>Vesícula perezosa</a:t>
            </a:r>
          </a:p>
          <a:p>
            <a:pPr marL="137160" indent="0">
              <a:lnSpc>
                <a:spcPct val="150000"/>
              </a:lnSpc>
              <a:buNone/>
            </a:pPr>
            <a:r>
              <a:rPr lang="es-ES" sz="2400" b="1" dirty="0">
                <a:latin typeface="+mj-lt"/>
                <a:cs typeface="Arial" pitchFamily="34" charset="0"/>
              </a:rPr>
              <a:t>Aumento de transaminasas</a:t>
            </a:r>
            <a:endParaRPr lang="es-AR" sz="2400" b="1" dirty="0">
              <a:latin typeface="+mj-lt"/>
            </a:endParaRPr>
          </a:p>
        </p:txBody>
      </p:sp>
      <p:pic>
        <p:nvPicPr>
          <p:cNvPr id="6" name="Imagen 5"/>
          <p:cNvPicPr>
            <a:picLocks noChangeAspect="1"/>
          </p:cNvPicPr>
          <p:nvPr/>
        </p:nvPicPr>
        <p:blipFill>
          <a:blip r:embed="rId2"/>
          <a:stretch>
            <a:fillRect/>
          </a:stretch>
        </p:blipFill>
        <p:spPr>
          <a:xfrm>
            <a:off x="6591631" y="461176"/>
            <a:ext cx="2027583" cy="2019631"/>
          </a:xfrm>
          <a:prstGeom prst="rect">
            <a:avLst/>
          </a:prstGeom>
        </p:spPr>
      </p:pic>
    </p:spTree>
    <p:extLst>
      <p:ext uri="{BB962C8B-B14F-4D97-AF65-F5344CB8AC3E}">
        <p14:creationId xmlns:p14="http://schemas.microsoft.com/office/powerpoint/2010/main" val="23214937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3602" y="203336"/>
            <a:ext cx="9404723" cy="843345"/>
          </a:xfrm>
        </p:spPr>
        <p:txBody>
          <a:bodyPr/>
          <a:lstStyle/>
          <a:p>
            <a:pPr algn="r"/>
            <a:r>
              <a:rPr lang="es-ES" sz="3600" b="1" dirty="0" smtClean="0">
                <a:solidFill>
                  <a:schemeClr val="accent1"/>
                </a:solidFill>
                <a:latin typeface="+mj-lt"/>
                <a:cs typeface="Arial" pitchFamily="34" charset="0"/>
              </a:rPr>
              <a:t>RIÑÓN Y METABOLISMO HIDROSALINO</a:t>
            </a:r>
            <a:r>
              <a:rPr lang="es-ES" sz="3600" b="1" dirty="0" smtClean="0">
                <a:latin typeface="+mj-lt"/>
                <a:cs typeface="Arial" pitchFamily="34" charset="0"/>
              </a:rPr>
              <a:t/>
            </a:r>
            <a:br>
              <a:rPr lang="es-ES" sz="3600" b="1" dirty="0" smtClean="0">
                <a:latin typeface="+mj-lt"/>
                <a:cs typeface="Arial" pitchFamily="34" charset="0"/>
              </a:rPr>
            </a:br>
            <a:endParaRPr lang="es-AR" sz="3600" b="1" dirty="0">
              <a:latin typeface="+mj-lt"/>
            </a:endParaRPr>
          </a:p>
        </p:txBody>
      </p:sp>
      <p:sp>
        <p:nvSpPr>
          <p:cNvPr id="5" name="Marcador de texto 4"/>
          <p:cNvSpPr>
            <a:spLocks noGrp="1"/>
          </p:cNvSpPr>
          <p:nvPr>
            <p:ph type="body" idx="1"/>
          </p:nvPr>
        </p:nvSpPr>
        <p:spPr>
          <a:xfrm>
            <a:off x="493059" y="1296064"/>
            <a:ext cx="10686475" cy="4952336"/>
          </a:xfrm>
        </p:spPr>
        <p:txBody>
          <a:bodyPr>
            <a:normAutofit/>
          </a:bodyPr>
          <a:lstStyle/>
          <a:p>
            <a:pPr marL="137160" indent="0">
              <a:lnSpc>
                <a:spcPct val="150000"/>
              </a:lnSpc>
              <a:buNone/>
            </a:pPr>
            <a:r>
              <a:rPr lang="es-ES" sz="2400" b="1" dirty="0" smtClean="0">
                <a:latin typeface="+mj-lt"/>
                <a:cs typeface="Arial" pitchFamily="34" charset="0"/>
              </a:rPr>
              <a:t>Disminución </a:t>
            </a:r>
            <a:r>
              <a:rPr lang="es-ES" sz="2400" b="1" dirty="0">
                <a:latin typeface="+mj-lt"/>
                <a:cs typeface="Arial" pitchFamily="34" charset="0"/>
              </a:rPr>
              <a:t>del GFR con </a:t>
            </a:r>
            <a:r>
              <a:rPr lang="es-ES" sz="2400" b="1" dirty="0" smtClean="0">
                <a:latin typeface="+mj-lt"/>
                <a:cs typeface="Arial" pitchFamily="34" charset="0"/>
              </a:rPr>
              <a:t>hiperuricemia</a:t>
            </a:r>
          </a:p>
          <a:p>
            <a:pPr marL="137160" indent="0">
              <a:lnSpc>
                <a:spcPct val="150000"/>
              </a:lnSpc>
              <a:buNone/>
            </a:pPr>
            <a:r>
              <a:rPr lang="es-ES" sz="2400" b="1" dirty="0" smtClean="0">
                <a:latin typeface="+mj-lt"/>
                <a:cs typeface="Arial" pitchFamily="34" charset="0"/>
              </a:rPr>
              <a:t>SIADH </a:t>
            </a:r>
            <a:r>
              <a:rPr lang="es-ES" sz="2400" b="1" dirty="0">
                <a:latin typeface="+mj-lt"/>
                <a:cs typeface="Arial" pitchFamily="34" charset="0"/>
              </a:rPr>
              <a:t>con </a:t>
            </a:r>
            <a:r>
              <a:rPr lang="es-ES" sz="2400" b="1" dirty="0" smtClean="0">
                <a:latin typeface="+mj-lt"/>
                <a:cs typeface="Arial" pitchFamily="34" charset="0"/>
              </a:rPr>
              <a:t>hiponatremia</a:t>
            </a:r>
          </a:p>
          <a:p>
            <a:pPr marL="137160" indent="0">
              <a:lnSpc>
                <a:spcPct val="150000"/>
              </a:lnSpc>
              <a:buNone/>
            </a:pPr>
            <a:r>
              <a:rPr lang="es-ES" sz="2400" b="1" dirty="0" smtClean="0">
                <a:latin typeface="+mj-lt"/>
                <a:cs typeface="Arial" pitchFamily="34" charset="0"/>
              </a:rPr>
              <a:t>Aumento de la creatinina</a:t>
            </a:r>
          </a:p>
          <a:p>
            <a:pPr marL="137160" indent="0">
              <a:lnSpc>
                <a:spcPct val="150000"/>
              </a:lnSpc>
              <a:buNone/>
            </a:pPr>
            <a:r>
              <a:rPr lang="es-ES" sz="2400" b="1" dirty="0" smtClean="0">
                <a:latin typeface="+mj-lt"/>
                <a:cs typeface="Arial" pitchFamily="34" charset="0"/>
              </a:rPr>
              <a:t>Disminución del FGR</a:t>
            </a:r>
          </a:p>
          <a:p>
            <a:pPr marL="137160" indent="0">
              <a:lnSpc>
                <a:spcPct val="150000"/>
              </a:lnSpc>
              <a:buNone/>
            </a:pPr>
            <a:r>
              <a:rPr lang="es-ES" sz="2400" b="1" dirty="0" smtClean="0">
                <a:latin typeface="+mj-lt"/>
                <a:cs typeface="Arial" pitchFamily="34" charset="0"/>
              </a:rPr>
              <a:t>Disminución de la reabsorción de sodio</a:t>
            </a:r>
          </a:p>
          <a:p>
            <a:pPr marL="137160" indent="0">
              <a:lnSpc>
                <a:spcPct val="150000"/>
              </a:lnSpc>
              <a:buNone/>
            </a:pPr>
            <a:r>
              <a:rPr lang="es-ES" sz="2400" b="1" dirty="0" smtClean="0">
                <a:latin typeface="+mj-lt"/>
                <a:cs typeface="Arial" pitchFamily="34" charset="0"/>
              </a:rPr>
              <a:t>Disminución de la capacidad para diluir la orina</a:t>
            </a:r>
          </a:p>
          <a:p>
            <a:pPr marL="137160" indent="0">
              <a:lnSpc>
                <a:spcPct val="150000"/>
              </a:lnSpc>
              <a:buNone/>
            </a:pPr>
            <a:r>
              <a:rPr lang="es-ES" sz="2400" b="1" dirty="0" smtClean="0">
                <a:latin typeface="+mj-lt"/>
                <a:cs typeface="Arial" pitchFamily="34" charset="0"/>
              </a:rPr>
              <a:t>Hiponatremia</a:t>
            </a:r>
          </a:p>
        </p:txBody>
      </p:sp>
      <p:pic>
        <p:nvPicPr>
          <p:cNvPr id="6" name="Imagen 5"/>
          <p:cNvPicPr>
            <a:picLocks noChangeAspect="1"/>
          </p:cNvPicPr>
          <p:nvPr/>
        </p:nvPicPr>
        <p:blipFill>
          <a:blip r:embed="rId2"/>
          <a:stretch>
            <a:fillRect/>
          </a:stretch>
        </p:blipFill>
        <p:spPr>
          <a:xfrm>
            <a:off x="8332967" y="1423283"/>
            <a:ext cx="1089329" cy="1439187"/>
          </a:xfrm>
          <a:prstGeom prst="rect">
            <a:avLst/>
          </a:prstGeom>
        </p:spPr>
      </p:pic>
    </p:spTree>
    <p:extLst>
      <p:ext uri="{BB962C8B-B14F-4D97-AF65-F5344CB8AC3E}">
        <p14:creationId xmlns:p14="http://schemas.microsoft.com/office/powerpoint/2010/main" val="31081049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867199"/>
          </a:xfrm>
        </p:spPr>
        <p:txBody>
          <a:bodyPr/>
          <a:lstStyle/>
          <a:p>
            <a:pPr marL="0" indent="0" algn="ctr"/>
            <a:r>
              <a:rPr lang="es-ES" sz="3600" b="1" dirty="0" smtClean="0">
                <a:solidFill>
                  <a:schemeClr val="accent1"/>
                </a:solidFill>
                <a:latin typeface="+mj-lt"/>
                <a:cs typeface="Arial" pitchFamily="34" charset="0"/>
              </a:rPr>
              <a:t>HEMATOLÓGICOS</a:t>
            </a:r>
            <a:endParaRPr lang="es-ES" sz="3600" b="1" dirty="0">
              <a:solidFill>
                <a:schemeClr val="accent1"/>
              </a:solidFill>
              <a:latin typeface="+mj-lt"/>
              <a:cs typeface="Arial" pitchFamily="34" charset="0"/>
            </a:endParaRPr>
          </a:p>
        </p:txBody>
      </p:sp>
      <p:sp>
        <p:nvSpPr>
          <p:cNvPr id="5" name="Marcador de texto 4"/>
          <p:cNvSpPr>
            <a:spLocks noGrp="1"/>
          </p:cNvSpPr>
          <p:nvPr>
            <p:ph type="body" idx="1"/>
          </p:nvPr>
        </p:nvSpPr>
        <p:spPr>
          <a:xfrm>
            <a:off x="1103312" y="1463040"/>
            <a:ext cx="8946541" cy="4785359"/>
          </a:xfrm>
        </p:spPr>
        <p:txBody>
          <a:bodyPr/>
          <a:lstStyle/>
          <a:p>
            <a:pPr marL="0" indent="0">
              <a:buNone/>
            </a:pPr>
            <a:endParaRPr lang="es-ES" b="1" dirty="0">
              <a:cs typeface="Arial" pitchFamily="34" charset="0"/>
            </a:endParaRPr>
          </a:p>
          <a:p>
            <a:pPr marL="137160" indent="0">
              <a:buNone/>
            </a:pPr>
            <a:r>
              <a:rPr lang="es-ES" sz="2400" b="1" dirty="0">
                <a:latin typeface="+mj-lt"/>
                <a:cs typeface="Arial" pitchFamily="34" charset="0"/>
              </a:rPr>
              <a:t>Anemia </a:t>
            </a:r>
            <a:r>
              <a:rPr lang="es-ES" sz="2400" b="1" dirty="0" err="1" smtClean="0">
                <a:latin typeface="+mj-lt"/>
                <a:cs typeface="Arial" pitchFamily="34" charset="0"/>
              </a:rPr>
              <a:t>normoc</a:t>
            </a:r>
            <a:r>
              <a:rPr lang="es-AR" sz="2400" b="1" dirty="0" smtClean="0">
                <a:latin typeface="+mj-lt"/>
                <a:cs typeface="Arial" pitchFamily="34" charset="0"/>
              </a:rPr>
              <a:t>í</a:t>
            </a:r>
            <a:r>
              <a:rPr lang="es-ES" sz="2400" b="1" dirty="0" smtClean="0">
                <a:latin typeface="+mj-lt"/>
                <a:cs typeface="Arial" pitchFamily="34" charset="0"/>
              </a:rPr>
              <a:t>tica normocrómica</a:t>
            </a:r>
          </a:p>
          <a:p>
            <a:pPr marL="137160" indent="0">
              <a:buNone/>
            </a:pPr>
            <a:endParaRPr lang="es-ES" sz="2400" b="1" dirty="0">
              <a:latin typeface="+mj-lt"/>
              <a:cs typeface="Arial" pitchFamily="34" charset="0"/>
            </a:endParaRPr>
          </a:p>
          <a:p>
            <a:pPr marL="137160" indent="0">
              <a:buNone/>
            </a:pPr>
            <a:endParaRPr lang="es-ES" sz="2400" b="1" dirty="0">
              <a:latin typeface="+mj-lt"/>
              <a:cs typeface="Arial" pitchFamily="34" charset="0"/>
            </a:endParaRPr>
          </a:p>
          <a:p>
            <a:pPr marL="137160" indent="0">
              <a:buNone/>
            </a:pPr>
            <a:r>
              <a:rPr lang="es-ES" sz="2400" b="1" dirty="0">
                <a:latin typeface="+mj-lt"/>
                <a:cs typeface="Arial" pitchFamily="34" charset="0"/>
              </a:rPr>
              <a:t>Puede haber anemia megaloblastica si se asocia con gastritis atrófica</a:t>
            </a:r>
          </a:p>
        </p:txBody>
      </p:sp>
    </p:spTree>
    <p:extLst>
      <p:ext uri="{BB962C8B-B14F-4D97-AF65-F5344CB8AC3E}">
        <p14:creationId xmlns:p14="http://schemas.microsoft.com/office/powerpoint/2010/main" val="10452831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pPr algn="ctr"/>
            <a:r>
              <a:rPr lang="es-ES" sz="3600" b="1" dirty="0" smtClean="0">
                <a:solidFill>
                  <a:schemeClr val="accent1"/>
                </a:solidFill>
                <a:latin typeface="Arial" pitchFamily="34" charset="0"/>
                <a:cs typeface="Arial" pitchFamily="34" charset="0"/>
              </a:rPr>
              <a:t>SISTEMA NERVIOSO CENTRAL</a:t>
            </a:r>
            <a:br>
              <a:rPr lang="es-ES" sz="3600" b="1" dirty="0" smtClean="0">
                <a:solidFill>
                  <a:schemeClr val="accent1"/>
                </a:solidFill>
                <a:latin typeface="Arial" pitchFamily="34" charset="0"/>
                <a:cs typeface="Arial" pitchFamily="34" charset="0"/>
              </a:rPr>
            </a:br>
            <a:endParaRPr lang="es-AR" sz="3600" b="1" dirty="0">
              <a:solidFill>
                <a:schemeClr val="accent1"/>
              </a:solidFill>
            </a:endParaRPr>
          </a:p>
        </p:txBody>
      </p:sp>
      <p:sp>
        <p:nvSpPr>
          <p:cNvPr id="5" name="Marcador de texto 4"/>
          <p:cNvSpPr>
            <a:spLocks noGrp="1"/>
          </p:cNvSpPr>
          <p:nvPr>
            <p:ph type="body" idx="1"/>
          </p:nvPr>
        </p:nvSpPr>
        <p:spPr>
          <a:xfrm>
            <a:off x="1103312" y="1296064"/>
            <a:ext cx="8946541" cy="5359178"/>
          </a:xfrm>
        </p:spPr>
        <p:txBody>
          <a:bodyPr>
            <a:normAutofit/>
          </a:bodyPr>
          <a:lstStyle/>
          <a:p>
            <a:pPr marL="137160" indent="0">
              <a:buNone/>
            </a:pPr>
            <a:r>
              <a:rPr lang="es-ES" sz="2400" b="1" dirty="0" smtClean="0">
                <a:latin typeface="Arial" pitchFamily="34" charset="0"/>
                <a:cs typeface="Arial" pitchFamily="34" charset="0"/>
              </a:rPr>
              <a:t>Síndrome </a:t>
            </a:r>
            <a:r>
              <a:rPr lang="es-ES" sz="2400" b="1" dirty="0">
                <a:latin typeface="Arial" pitchFamily="34" charset="0"/>
                <a:cs typeface="Arial" pitchFamily="34" charset="0"/>
              </a:rPr>
              <a:t>depresivo</a:t>
            </a:r>
          </a:p>
          <a:p>
            <a:pPr marL="137160" indent="0">
              <a:buNone/>
            </a:pPr>
            <a:r>
              <a:rPr lang="es-ES" sz="2400" b="1" dirty="0">
                <a:latin typeface="Arial" pitchFamily="34" charset="0"/>
                <a:cs typeface="Arial" pitchFamily="34" charset="0"/>
              </a:rPr>
              <a:t>Perdida de concentración</a:t>
            </a:r>
          </a:p>
          <a:p>
            <a:pPr marL="137160" indent="0">
              <a:buNone/>
            </a:pPr>
            <a:r>
              <a:rPr lang="es-ES" sz="2400" b="1" dirty="0">
                <a:latin typeface="Arial" pitchFamily="34" charset="0"/>
                <a:cs typeface="Arial" pitchFamily="34" charset="0"/>
              </a:rPr>
              <a:t>Somnolencia, aletargamiento</a:t>
            </a:r>
          </a:p>
          <a:p>
            <a:pPr marL="137160" indent="0">
              <a:buNone/>
            </a:pPr>
            <a:r>
              <a:rPr lang="es-ES" sz="2400" b="1" dirty="0">
                <a:latin typeface="Arial" pitchFamily="34" charset="0"/>
                <a:cs typeface="Arial" pitchFamily="34" charset="0"/>
              </a:rPr>
              <a:t>Lentitud, bradipsiquia y bradilalia</a:t>
            </a:r>
          </a:p>
          <a:p>
            <a:pPr marL="137160" indent="0">
              <a:buNone/>
            </a:pPr>
            <a:r>
              <a:rPr lang="es-ES" sz="2400" b="1" dirty="0">
                <a:latin typeface="Arial" pitchFamily="34" charset="0"/>
                <a:cs typeface="Arial" pitchFamily="34" charset="0"/>
              </a:rPr>
              <a:t>Perdida de memoria</a:t>
            </a:r>
          </a:p>
          <a:p>
            <a:pPr marL="137160" indent="0">
              <a:buNone/>
            </a:pPr>
            <a:r>
              <a:rPr lang="es-ES" sz="2400" b="1" dirty="0">
                <a:latin typeface="Arial" pitchFamily="34" charset="0"/>
                <a:cs typeface="Arial" pitchFamily="34" charset="0"/>
              </a:rPr>
              <a:t>Hipoacusia</a:t>
            </a:r>
          </a:p>
          <a:p>
            <a:pPr marL="137160" indent="0">
              <a:buNone/>
            </a:pPr>
            <a:r>
              <a:rPr lang="es-ES" sz="2400" b="1" dirty="0">
                <a:latin typeface="Arial" pitchFamily="34" charset="0"/>
                <a:cs typeface="Arial" pitchFamily="34" charset="0"/>
              </a:rPr>
              <a:t>Cefaleas</a:t>
            </a:r>
          </a:p>
          <a:p>
            <a:pPr marL="137160" indent="0">
              <a:buNone/>
            </a:pPr>
            <a:r>
              <a:rPr lang="es-ES" sz="2400" b="1" dirty="0">
                <a:latin typeface="Arial" pitchFamily="34" charset="0"/>
                <a:cs typeface="Arial" pitchFamily="34" charset="0"/>
              </a:rPr>
              <a:t>Epilesia</a:t>
            </a:r>
          </a:p>
          <a:p>
            <a:pPr marL="137160" indent="0">
              <a:buNone/>
            </a:pPr>
            <a:r>
              <a:rPr lang="es-ES" sz="2400" b="1" dirty="0">
                <a:latin typeface="Arial" pitchFamily="34" charset="0"/>
                <a:cs typeface="Arial" pitchFamily="34" charset="0"/>
              </a:rPr>
              <a:t>En ancianos puede haber ataxia cerebelosa reversible</a:t>
            </a:r>
          </a:p>
          <a:p>
            <a:pPr marL="137160" indent="0">
              <a:buNone/>
            </a:pPr>
            <a:r>
              <a:rPr lang="es-ES" sz="2400" b="1" dirty="0">
                <a:latin typeface="Arial" pitchFamily="34" charset="0"/>
                <a:cs typeface="Arial" pitchFamily="34" charset="0"/>
              </a:rPr>
              <a:t>Encefalopatía de </a:t>
            </a:r>
            <a:r>
              <a:rPr lang="es-ES" sz="2400" b="1" dirty="0" smtClean="0">
                <a:latin typeface="Arial" pitchFamily="34" charset="0"/>
                <a:cs typeface="Arial" pitchFamily="34" charset="0"/>
              </a:rPr>
              <a:t>Hashimoto (muy poco frecuente)</a:t>
            </a:r>
            <a:endParaRPr lang="es-ES" sz="2400" b="1" dirty="0">
              <a:latin typeface="Arial" pitchFamily="34" charset="0"/>
              <a:cs typeface="Arial" pitchFamily="34" charset="0"/>
            </a:endParaRPr>
          </a:p>
          <a:p>
            <a:pPr marL="137160" indent="0">
              <a:buNone/>
            </a:pPr>
            <a:endParaRPr lang="es-AR" sz="2400" dirty="0"/>
          </a:p>
        </p:txBody>
      </p:sp>
    </p:spTree>
    <p:extLst>
      <p:ext uri="{BB962C8B-B14F-4D97-AF65-F5344CB8AC3E}">
        <p14:creationId xmlns:p14="http://schemas.microsoft.com/office/powerpoint/2010/main" val="40176777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1050962"/>
          </a:xfrm>
        </p:spPr>
        <p:txBody>
          <a:bodyPr/>
          <a:lstStyle/>
          <a:p>
            <a:pPr algn="ctr"/>
            <a:r>
              <a:rPr lang="es-ES" sz="3600" b="1" dirty="0" smtClean="0">
                <a:solidFill>
                  <a:schemeClr val="accent1"/>
                </a:solidFill>
                <a:latin typeface="Arial" pitchFamily="34" charset="0"/>
                <a:cs typeface="Arial" pitchFamily="34" charset="0"/>
              </a:rPr>
              <a:t>SISTEMA NERVIOSO PERIFÉRICO</a:t>
            </a:r>
            <a:r>
              <a:rPr lang="es-ES" sz="3600" dirty="0" smtClean="0">
                <a:latin typeface="Arial" pitchFamily="34" charset="0"/>
                <a:cs typeface="Arial" pitchFamily="34" charset="0"/>
              </a:rPr>
              <a:t/>
            </a:r>
            <a:br>
              <a:rPr lang="es-ES" sz="3600" dirty="0" smtClean="0">
                <a:latin typeface="Arial" pitchFamily="34" charset="0"/>
                <a:cs typeface="Arial" pitchFamily="34" charset="0"/>
              </a:rPr>
            </a:br>
            <a:endParaRPr lang="es-AR" sz="3600" dirty="0"/>
          </a:p>
        </p:txBody>
      </p:sp>
      <p:sp>
        <p:nvSpPr>
          <p:cNvPr id="5" name="Marcador de texto 4"/>
          <p:cNvSpPr>
            <a:spLocks noGrp="1"/>
          </p:cNvSpPr>
          <p:nvPr>
            <p:ph type="body" idx="1"/>
          </p:nvPr>
        </p:nvSpPr>
        <p:spPr>
          <a:xfrm>
            <a:off x="1103312" y="1320800"/>
            <a:ext cx="9839008" cy="4927599"/>
          </a:xfrm>
        </p:spPr>
        <p:txBody>
          <a:bodyPr>
            <a:normAutofit/>
          </a:bodyPr>
          <a:lstStyle/>
          <a:p>
            <a:pPr marL="0" indent="0">
              <a:buNone/>
            </a:pPr>
            <a:endParaRPr lang="es-ES" dirty="0">
              <a:latin typeface="Arial" pitchFamily="34" charset="0"/>
              <a:cs typeface="Arial" pitchFamily="34" charset="0"/>
            </a:endParaRPr>
          </a:p>
          <a:p>
            <a:pPr marL="137160" indent="0">
              <a:lnSpc>
                <a:spcPct val="150000"/>
              </a:lnSpc>
              <a:buNone/>
            </a:pPr>
            <a:r>
              <a:rPr lang="es-ES" sz="2400" b="1" dirty="0">
                <a:latin typeface="Arial" pitchFamily="34" charset="0"/>
                <a:cs typeface="Arial" pitchFamily="34" charset="0"/>
              </a:rPr>
              <a:t>Calambres y parestesias, sobre todo en miembros inferiores por </a:t>
            </a:r>
            <a:r>
              <a:rPr lang="es-ES" sz="2400" b="1" dirty="0" err="1" smtClean="0">
                <a:latin typeface="Arial" pitchFamily="34" charset="0"/>
                <a:cs typeface="Arial" pitchFamily="34" charset="0"/>
              </a:rPr>
              <a:t>polineuropatía</a:t>
            </a:r>
            <a:r>
              <a:rPr lang="es-ES" sz="2400" b="1" dirty="0" smtClean="0">
                <a:latin typeface="Arial" pitchFamily="34" charset="0"/>
                <a:cs typeface="Arial" pitchFamily="34" charset="0"/>
              </a:rPr>
              <a:t> </a:t>
            </a:r>
            <a:r>
              <a:rPr lang="es-ES" sz="2400" b="1" dirty="0">
                <a:latin typeface="Arial" pitchFamily="34" charset="0"/>
                <a:cs typeface="Arial" pitchFamily="34" charset="0"/>
              </a:rPr>
              <a:t>mixta</a:t>
            </a:r>
          </a:p>
          <a:p>
            <a:pPr marL="137160" indent="0">
              <a:lnSpc>
                <a:spcPct val="150000"/>
              </a:lnSpc>
              <a:buNone/>
            </a:pPr>
            <a:r>
              <a:rPr lang="es-ES" sz="2400" b="1" dirty="0">
                <a:latin typeface="Arial" pitchFamily="34" charset="0"/>
                <a:cs typeface="Arial" pitchFamily="34" charset="0"/>
              </a:rPr>
              <a:t>Disminución de la relajación en los ROT (rotuliano)</a:t>
            </a:r>
          </a:p>
          <a:p>
            <a:pPr marL="137160" indent="0">
              <a:lnSpc>
                <a:spcPct val="150000"/>
              </a:lnSpc>
              <a:buNone/>
            </a:pPr>
            <a:r>
              <a:rPr lang="es-ES" sz="2400" b="1" dirty="0">
                <a:latin typeface="Arial" pitchFamily="34" charset="0"/>
                <a:cs typeface="Arial" pitchFamily="34" charset="0"/>
              </a:rPr>
              <a:t>Síndrome del túnel </a:t>
            </a:r>
            <a:r>
              <a:rPr lang="es-ES" sz="2400" b="1" dirty="0" smtClean="0">
                <a:latin typeface="Arial" pitchFamily="34" charset="0"/>
                <a:cs typeface="Arial" pitchFamily="34" charset="0"/>
              </a:rPr>
              <a:t>carpiano</a:t>
            </a:r>
            <a:endParaRPr lang="es-ES" sz="2400" b="1" dirty="0">
              <a:latin typeface="Arial" pitchFamily="34" charset="0"/>
              <a:cs typeface="Arial" pitchFamily="34" charset="0"/>
            </a:endParaRPr>
          </a:p>
        </p:txBody>
      </p:sp>
    </p:spTree>
    <p:extLst>
      <p:ext uri="{BB962C8B-B14F-4D97-AF65-F5344CB8AC3E}">
        <p14:creationId xmlns:p14="http://schemas.microsoft.com/office/powerpoint/2010/main" val="7582167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1040802"/>
          </a:xfrm>
        </p:spPr>
        <p:txBody>
          <a:bodyPr/>
          <a:lstStyle/>
          <a:p>
            <a:pPr algn="ctr"/>
            <a:r>
              <a:rPr lang="es-AR" sz="3600" b="1" dirty="0" smtClean="0">
                <a:solidFill>
                  <a:schemeClr val="accent1"/>
                </a:solidFill>
                <a:latin typeface="+mj-lt"/>
              </a:rPr>
              <a:t>SISTEMA MUSCULAR</a:t>
            </a:r>
            <a:endParaRPr lang="es-AR" sz="3600" b="1" dirty="0">
              <a:solidFill>
                <a:schemeClr val="accent1"/>
              </a:solidFill>
              <a:latin typeface="+mj-lt"/>
            </a:endParaRPr>
          </a:p>
        </p:txBody>
      </p:sp>
      <p:sp>
        <p:nvSpPr>
          <p:cNvPr id="5" name="Marcador de texto 4"/>
          <p:cNvSpPr>
            <a:spLocks noGrp="1"/>
          </p:cNvSpPr>
          <p:nvPr>
            <p:ph type="body" idx="1"/>
          </p:nvPr>
        </p:nvSpPr>
        <p:spPr>
          <a:xfrm>
            <a:off x="1103312" y="1290320"/>
            <a:ext cx="8946541" cy="4958079"/>
          </a:xfrm>
        </p:spPr>
        <p:txBody>
          <a:bodyPr/>
          <a:lstStyle/>
          <a:p>
            <a:pPr marL="0" indent="0">
              <a:buNone/>
            </a:pPr>
            <a:endParaRPr lang="es-ES" dirty="0">
              <a:latin typeface="Arial" pitchFamily="34" charset="0"/>
              <a:cs typeface="Arial" pitchFamily="34" charset="0"/>
            </a:endParaRPr>
          </a:p>
          <a:p>
            <a:pPr marL="137160" indent="0">
              <a:lnSpc>
                <a:spcPct val="150000"/>
              </a:lnSpc>
              <a:buNone/>
            </a:pPr>
            <a:r>
              <a:rPr lang="es-ES" sz="2400" b="1" dirty="0">
                <a:latin typeface="Arial" pitchFamily="34" charset="0"/>
                <a:cs typeface="Arial" pitchFamily="34" charset="0"/>
              </a:rPr>
              <a:t>Mialgias de predominio proximal</a:t>
            </a:r>
          </a:p>
          <a:p>
            <a:pPr marL="137160" indent="0">
              <a:lnSpc>
                <a:spcPct val="150000"/>
              </a:lnSpc>
              <a:buNone/>
            </a:pPr>
            <a:r>
              <a:rPr lang="es-ES" sz="2400" b="1" dirty="0">
                <a:latin typeface="Arial" pitchFamily="34" charset="0"/>
                <a:cs typeface="Arial" pitchFamily="34" charset="0"/>
              </a:rPr>
              <a:t>Cansancio y agotamiento</a:t>
            </a:r>
          </a:p>
          <a:p>
            <a:pPr marL="137160" indent="0">
              <a:lnSpc>
                <a:spcPct val="150000"/>
              </a:lnSpc>
              <a:buNone/>
            </a:pPr>
            <a:r>
              <a:rPr lang="es-ES" sz="2400" b="1" dirty="0">
                <a:latin typeface="Arial" pitchFamily="34" charset="0"/>
                <a:cs typeface="Arial" pitchFamily="34" charset="0"/>
              </a:rPr>
              <a:t>Disminución del rendimiento físico</a:t>
            </a:r>
          </a:p>
          <a:p>
            <a:pPr marL="137160" indent="0">
              <a:lnSpc>
                <a:spcPct val="150000"/>
              </a:lnSpc>
              <a:buNone/>
            </a:pPr>
            <a:r>
              <a:rPr lang="es-ES" sz="2400" b="1" dirty="0">
                <a:latin typeface="Arial" pitchFamily="34" charset="0"/>
                <a:cs typeface="Arial" pitchFamily="34" charset="0"/>
              </a:rPr>
              <a:t>Rodete hipotónico</a:t>
            </a:r>
          </a:p>
          <a:p>
            <a:pPr marL="137160" indent="0">
              <a:lnSpc>
                <a:spcPct val="150000"/>
              </a:lnSpc>
              <a:buNone/>
            </a:pPr>
            <a:r>
              <a:rPr lang="es-ES" sz="2400" b="1" dirty="0">
                <a:latin typeface="Arial" pitchFamily="34" charset="0"/>
                <a:cs typeface="Arial" pitchFamily="34" charset="0"/>
              </a:rPr>
              <a:t>En EMG miopatía inespecífica</a:t>
            </a:r>
          </a:p>
        </p:txBody>
      </p:sp>
    </p:spTree>
    <p:extLst>
      <p:ext uri="{BB962C8B-B14F-4D97-AF65-F5344CB8AC3E}">
        <p14:creationId xmlns:p14="http://schemas.microsoft.com/office/powerpoint/2010/main" val="38191908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pic>
        <p:nvPicPr>
          <p:cNvPr id="311" name="Google Shape;311;p31"/>
          <p:cNvPicPr preferRelativeResize="0"/>
          <p:nvPr/>
        </p:nvPicPr>
        <p:blipFill rotWithShape="1">
          <a:blip r:embed="rId3">
            <a:alphaModFix/>
          </a:blip>
          <a:srcRect/>
          <a:stretch/>
        </p:blipFill>
        <p:spPr>
          <a:xfrm>
            <a:off x="3698114" y="1541588"/>
            <a:ext cx="3959225" cy="4805362"/>
          </a:xfrm>
          <a:prstGeom prst="rect">
            <a:avLst/>
          </a:prstGeom>
          <a:noFill/>
          <a:ln>
            <a:noFill/>
          </a:ln>
        </p:spPr>
      </p:pic>
      <p:sp>
        <p:nvSpPr>
          <p:cNvPr id="312" name="Google Shape;312;p31"/>
          <p:cNvSpPr txBox="1">
            <a:spLocks noGrp="1"/>
          </p:cNvSpPr>
          <p:nvPr>
            <p:ph type="title"/>
          </p:nvPr>
        </p:nvSpPr>
        <p:spPr>
          <a:xfrm>
            <a:off x="124550" y="642850"/>
            <a:ext cx="10515600" cy="732300"/>
          </a:xfrm>
          <a:prstGeom prst="rect">
            <a:avLst/>
          </a:prstGeom>
          <a:noFill/>
          <a:ln>
            <a:noFill/>
          </a:ln>
        </p:spPr>
        <p:txBody>
          <a:bodyPr spcFirstLastPara="1" wrap="square" lIns="91425" tIns="45700" rIns="91425" bIns="45700" anchor="t" anchorCtr="0">
            <a:normAutofit/>
          </a:bodyPr>
          <a:lstStyle/>
          <a:p>
            <a:pPr marL="0" lvl="0" indent="0" algn="ctr" rtl="0">
              <a:lnSpc>
                <a:spcPct val="115000"/>
              </a:lnSpc>
              <a:spcBef>
                <a:spcPts val="0"/>
              </a:spcBef>
              <a:spcAft>
                <a:spcPts val="0"/>
              </a:spcAft>
              <a:buClr>
                <a:schemeClr val="lt2"/>
              </a:buClr>
              <a:buSzPct val="100000"/>
              <a:buFont typeface="Arial"/>
              <a:buNone/>
            </a:pPr>
            <a:r>
              <a:rPr lang="en-US" sz="3200" b="1" dirty="0">
                <a:solidFill>
                  <a:schemeClr val="accent1"/>
                </a:solidFill>
                <a:latin typeface="Arial"/>
                <a:ea typeface="Arial"/>
                <a:cs typeface="Arial"/>
                <a:sym typeface="Arial"/>
              </a:rPr>
              <a:t>En la infancia produce retardo mental: </a:t>
            </a:r>
            <a:r>
              <a:rPr lang="en-US" sz="2800" b="1" dirty="0">
                <a:solidFill>
                  <a:schemeClr val="accent1"/>
                </a:solidFill>
                <a:latin typeface="Arial"/>
                <a:ea typeface="Arial"/>
                <a:cs typeface="Arial"/>
                <a:sym typeface="Arial"/>
              </a:rPr>
              <a:t>CRETINISMO</a:t>
            </a:r>
            <a:endParaRPr sz="2800" b="1" dirty="0">
              <a:solidFill>
                <a:schemeClr val="accent1"/>
              </a:solidFill>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b="1" dirty="0">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4"/>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600"/>
              <a:buFont typeface="Arial"/>
              <a:buNone/>
            </a:pPr>
            <a:r>
              <a:rPr lang="en-US" sz="3600" b="1" dirty="0">
                <a:solidFill>
                  <a:schemeClr val="accent1"/>
                </a:solidFill>
                <a:latin typeface="Arial"/>
                <a:ea typeface="Arial"/>
                <a:cs typeface="Arial"/>
                <a:sym typeface="Arial"/>
              </a:rPr>
              <a:t>DIAGNÓSTICO</a:t>
            </a:r>
            <a:endParaRPr dirty="0">
              <a:solidFill>
                <a:schemeClr val="accent1"/>
              </a:solidFill>
            </a:endParaRPr>
          </a:p>
        </p:txBody>
      </p:sp>
      <p:sp>
        <p:nvSpPr>
          <p:cNvPr id="324" name="Google Shape;324;p34"/>
          <p:cNvSpPr txBox="1">
            <a:spLocks noGrp="1"/>
          </p:cNvSpPr>
          <p:nvPr>
            <p:ph type="title" idx="4294967295"/>
          </p:nvPr>
        </p:nvSpPr>
        <p:spPr>
          <a:xfrm>
            <a:off x="1252150" y="1565275"/>
            <a:ext cx="9263449" cy="390525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HISTORIA CLÍNICA</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Examen físico</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palpación</a:t>
            </a:r>
            <a:r>
              <a:rPr lang="en-US" sz="3200" b="1" dirty="0" smtClean="0">
                <a:latin typeface="Arial"/>
                <a:ea typeface="Arial"/>
                <a:cs typeface="Arial"/>
                <a:sym typeface="Arial"/>
              </a:rPr>
              <a:t> de tiroides</a:t>
            </a:r>
            <a:endParaRPr sz="3200" b="1" dirty="0">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latin typeface="Arial"/>
                <a:ea typeface="Arial"/>
                <a:cs typeface="Arial"/>
                <a:sym typeface="Arial"/>
              </a:rPr>
              <a:t>Laboratorio</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b="1" u="sng"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dirty="0">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5"/>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PALPACIÓN TIROIDEA</a:t>
            </a:r>
            <a:endParaRPr sz="3600" dirty="0">
              <a:solidFill>
                <a:schemeClr val="accent1"/>
              </a:solidFill>
            </a:endParaRPr>
          </a:p>
        </p:txBody>
      </p:sp>
      <p:pic>
        <p:nvPicPr>
          <p:cNvPr id="330" name="Google Shape;330;p35"/>
          <p:cNvPicPr preferRelativeResize="0">
            <a:picLocks noGrp="1"/>
          </p:cNvPicPr>
          <p:nvPr>
            <p:ph type="body" idx="1"/>
          </p:nvPr>
        </p:nvPicPr>
        <p:blipFill rotWithShape="1">
          <a:blip r:embed="rId3">
            <a:alphaModFix/>
          </a:blip>
          <a:srcRect/>
          <a:stretch/>
        </p:blipFill>
        <p:spPr>
          <a:xfrm>
            <a:off x="2937973" y="1748798"/>
            <a:ext cx="4821000" cy="4406400"/>
          </a:xfrm>
          <a:prstGeom prst="rect">
            <a:avLst/>
          </a:prstGeom>
          <a:noFill/>
          <a:ln>
            <a:noFill/>
          </a:ln>
        </p:spPr>
      </p:pic>
      <p:sp>
        <p:nvSpPr>
          <p:cNvPr id="331" name="Google Shape;331;p35"/>
          <p:cNvSpPr/>
          <p:nvPr/>
        </p:nvSpPr>
        <p:spPr>
          <a:xfrm>
            <a:off x="3929449" y="3830595"/>
            <a:ext cx="642550" cy="181232"/>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6"/>
          <p:cNvSpPr txBox="1">
            <a:spLocks noGrp="1"/>
          </p:cNvSpPr>
          <p:nvPr>
            <p:ph type="title"/>
          </p:nvPr>
        </p:nvSpPr>
        <p:spPr>
          <a:xfrm>
            <a:off x="838200" y="365125"/>
            <a:ext cx="10515600" cy="1789678"/>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600"/>
              <a:buFont typeface="Arial"/>
              <a:buNone/>
            </a:pPr>
            <a:r>
              <a:rPr lang="en-US" sz="3600" b="1" dirty="0">
                <a:solidFill>
                  <a:schemeClr val="accent1"/>
                </a:solidFill>
                <a:latin typeface="Arial"/>
                <a:ea typeface="Arial"/>
                <a:cs typeface="Arial"/>
                <a:sym typeface="Arial"/>
              </a:rPr>
              <a:t>DIAGNÓSTICO</a:t>
            </a:r>
            <a:r>
              <a:rPr lang="en-US" sz="3200" b="1" dirty="0">
                <a:latin typeface="Arial"/>
                <a:ea typeface="Arial"/>
                <a:cs typeface="Arial"/>
                <a:sym typeface="Arial"/>
              </a:rPr>
              <a:t/>
            </a:r>
            <a:br>
              <a:rPr lang="en-US" sz="3200" b="1" dirty="0">
                <a:latin typeface="Arial"/>
                <a:ea typeface="Arial"/>
                <a:cs typeface="Arial"/>
                <a:sym typeface="Arial"/>
              </a:rPr>
            </a:br>
            <a:r>
              <a:rPr lang="en-US" sz="3200" b="1" dirty="0">
                <a:latin typeface="Arial"/>
                <a:ea typeface="Arial"/>
                <a:cs typeface="Arial"/>
                <a:sym typeface="Arial"/>
              </a:rPr>
              <a:t/>
            </a:r>
            <a:br>
              <a:rPr lang="en-US" sz="3200" b="1" dirty="0">
                <a:latin typeface="Arial"/>
                <a:ea typeface="Arial"/>
                <a:cs typeface="Arial"/>
                <a:sym typeface="Arial"/>
              </a:rPr>
            </a:br>
            <a:r>
              <a:rPr lang="en-US" sz="3200" b="1" dirty="0">
                <a:latin typeface="Arial"/>
                <a:ea typeface="Arial"/>
                <a:cs typeface="Arial"/>
                <a:sym typeface="Arial"/>
              </a:rPr>
              <a:t>Laboratorio - ecografía de tiroides</a:t>
            </a:r>
            <a:endParaRPr dirty="0"/>
          </a:p>
        </p:txBody>
      </p:sp>
      <p:sp>
        <p:nvSpPr>
          <p:cNvPr id="340" name="Google Shape;340;p36"/>
          <p:cNvSpPr txBox="1">
            <a:spLocks noGrp="1"/>
          </p:cNvSpPr>
          <p:nvPr>
            <p:ph type="title" idx="4294967295"/>
          </p:nvPr>
        </p:nvSpPr>
        <p:spPr>
          <a:xfrm>
            <a:off x="2369574" y="2719347"/>
            <a:ext cx="2880852" cy="2647784"/>
          </a:xfrm>
          <a:prstGeom prst="rect">
            <a:avLst/>
          </a:prstGeom>
          <a:noFill/>
          <a:ln>
            <a:noFill/>
          </a:ln>
        </p:spPr>
        <p:txBody>
          <a:bodyPr spcFirstLastPara="1" wrap="square" lIns="91425" tIns="45700" rIns="91425" bIns="45700" anchor="t" anchorCtr="0">
            <a:normAutofit fontScale="90000"/>
          </a:bodyPr>
          <a:lstStyle/>
          <a:p>
            <a:pPr marL="0" lvl="0" indent="0" algn="l" rtl="0">
              <a:lnSpc>
                <a:spcPct val="200000"/>
              </a:lnSpc>
              <a:spcBef>
                <a:spcPts val="0"/>
              </a:spcBef>
              <a:spcAft>
                <a:spcPts val="0"/>
              </a:spcAft>
              <a:buClr>
                <a:schemeClr val="lt2"/>
              </a:buClr>
              <a:buSzPct val="100000"/>
              <a:buFont typeface="Arial"/>
              <a:buNone/>
            </a:pPr>
            <a:r>
              <a:rPr lang="en-US" sz="3200" b="1" dirty="0">
                <a:solidFill>
                  <a:schemeClr val="accent1"/>
                </a:solidFill>
                <a:latin typeface="Arial"/>
                <a:ea typeface="Arial"/>
                <a:cs typeface="Arial"/>
                <a:sym typeface="Arial"/>
              </a:rPr>
              <a:t>TSH</a:t>
            </a:r>
            <a:endParaRPr sz="3200" b="1" dirty="0">
              <a:solidFill>
                <a:schemeClr val="accent1"/>
              </a:solidFill>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solidFill>
                  <a:schemeClr val="accent1"/>
                </a:solidFill>
                <a:latin typeface="Arial"/>
                <a:ea typeface="Arial"/>
                <a:cs typeface="Arial"/>
                <a:sym typeface="Arial"/>
              </a:rPr>
              <a:t>T4 LIBRE</a:t>
            </a:r>
            <a:endParaRPr sz="3200" b="1" dirty="0">
              <a:solidFill>
                <a:schemeClr val="accent1"/>
              </a:solidFill>
              <a:latin typeface="Arial"/>
              <a:ea typeface="Arial"/>
              <a:cs typeface="Arial"/>
              <a:sym typeface="Arial"/>
            </a:endParaRPr>
          </a:p>
          <a:p>
            <a:pPr marL="0" lvl="0" indent="0" algn="l" rtl="0">
              <a:lnSpc>
                <a:spcPct val="200000"/>
              </a:lnSpc>
              <a:spcBef>
                <a:spcPts val="0"/>
              </a:spcBef>
              <a:spcAft>
                <a:spcPts val="0"/>
              </a:spcAft>
              <a:buClr>
                <a:schemeClr val="lt2"/>
              </a:buClr>
              <a:buSzPct val="100000"/>
              <a:buFont typeface="Arial"/>
              <a:buNone/>
            </a:pPr>
            <a:r>
              <a:rPr lang="en-US" sz="3200" b="1" dirty="0">
                <a:solidFill>
                  <a:schemeClr val="accent1"/>
                </a:solidFill>
                <a:latin typeface="Arial"/>
                <a:ea typeface="Arial"/>
                <a:cs typeface="Arial"/>
                <a:sym typeface="Arial"/>
              </a:rPr>
              <a:t>Anti TPO</a:t>
            </a:r>
            <a:endParaRPr sz="3200" b="1" dirty="0">
              <a:solidFill>
                <a:schemeClr val="accent1"/>
              </a:solidFill>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b="1" u="sng"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dirty="0">
              <a:latin typeface="Arial"/>
              <a:ea typeface="Arial"/>
              <a:cs typeface="Arial"/>
              <a:sym typeface="Arial"/>
            </a:endParaRPr>
          </a:p>
        </p:txBody>
      </p:sp>
      <p:pic>
        <p:nvPicPr>
          <p:cNvPr id="337" name="Google Shape;337;p36"/>
          <p:cNvPicPr preferRelativeResize="0"/>
          <p:nvPr/>
        </p:nvPicPr>
        <p:blipFill rotWithShape="1">
          <a:blip r:embed="rId3">
            <a:alphaModFix/>
          </a:blip>
          <a:srcRect/>
          <a:stretch/>
        </p:blipFill>
        <p:spPr>
          <a:xfrm>
            <a:off x="6167438" y="2719346"/>
            <a:ext cx="4176712" cy="2647785"/>
          </a:xfrm>
          <a:prstGeom prst="rect">
            <a:avLst/>
          </a:prstGeom>
          <a:noFill/>
          <a:ln>
            <a:noFill/>
          </a:ln>
        </p:spPr>
      </p:pic>
      <p:pic>
        <p:nvPicPr>
          <p:cNvPr id="338" name="Google Shape;338;p36"/>
          <p:cNvPicPr preferRelativeResize="0"/>
          <p:nvPr/>
        </p:nvPicPr>
        <p:blipFill rotWithShape="1">
          <a:blip r:embed="rId3">
            <a:alphaModFix/>
          </a:blip>
          <a:srcRect/>
          <a:stretch/>
        </p:blipFill>
        <p:spPr>
          <a:xfrm>
            <a:off x="6167438" y="2822712"/>
            <a:ext cx="4176712" cy="2544419"/>
          </a:xfrm>
          <a:prstGeom prst="rect">
            <a:avLst/>
          </a:prstGeom>
          <a:noFill/>
          <a:ln>
            <a:noFill/>
          </a:ln>
        </p:spPr>
      </p:pic>
      <p:pic>
        <p:nvPicPr>
          <p:cNvPr id="339" name="Google Shape;339;p36"/>
          <p:cNvPicPr preferRelativeResize="0"/>
          <p:nvPr/>
        </p:nvPicPr>
        <p:blipFill rotWithShape="1">
          <a:blip r:embed="rId3">
            <a:alphaModFix/>
          </a:blip>
          <a:srcRect/>
          <a:stretch/>
        </p:blipFill>
        <p:spPr>
          <a:xfrm>
            <a:off x="6167438" y="2719347"/>
            <a:ext cx="4176712" cy="2647784"/>
          </a:xfrm>
          <a:prstGeom prst="rect">
            <a:avLst/>
          </a:prstGeom>
          <a:noFill/>
          <a:ln w="57150">
            <a:solidFill>
              <a:srgbClr val="0070C0"/>
            </a:solidFill>
          </a:ln>
          <a:effectLst>
            <a:glow rad="101600">
              <a:schemeClr val="accent4">
                <a:satMod val="175000"/>
                <a:alpha val="40000"/>
              </a:schemeClr>
            </a:glow>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7"/>
          <p:cNvSpPr txBox="1">
            <a:spLocks noGrp="1"/>
          </p:cNvSpPr>
          <p:nvPr>
            <p:ph type="title"/>
          </p:nvPr>
        </p:nvSpPr>
        <p:spPr>
          <a:xfrm>
            <a:off x="838200" y="365125"/>
            <a:ext cx="10515600" cy="978645"/>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LABORATORIO</a:t>
            </a:r>
            <a:endParaRPr sz="3600" dirty="0">
              <a:solidFill>
                <a:schemeClr val="accent1"/>
              </a:solidFill>
            </a:endParaRPr>
          </a:p>
        </p:txBody>
      </p:sp>
      <p:sp>
        <p:nvSpPr>
          <p:cNvPr id="346" name="Google Shape;346;p37"/>
          <p:cNvSpPr txBox="1">
            <a:spLocks noGrp="1"/>
          </p:cNvSpPr>
          <p:nvPr>
            <p:ph type="body" idx="1"/>
          </p:nvPr>
        </p:nvSpPr>
        <p:spPr>
          <a:xfrm>
            <a:off x="762775" y="1060625"/>
            <a:ext cx="8229600" cy="5414316"/>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n-US" sz="2400" b="1" dirty="0" smtClean="0">
                <a:latin typeface="Arial"/>
                <a:ea typeface="Arial"/>
                <a:cs typeface="Arial"/>
                <a:sym typeface="Arial"/>
              </a:rPr>
              <a:t>CONCENTRACIÓN </a:t>
            </a:r>
            <a:r>
              <a:rPr lang="en-US" sz="2400" b="1" dirty="0">
                <a:latin typeface="Arial"/>
                <a:ea typeface="Arial"/>
                <a:cs typeface="Arial"/>
                <a:sym typeface="Arial"/>
              </a:rPr>
              <a:t>SÉRICA DE TSH = hasta 4.5 </a:t>
            </a:r>
            <a:r>
              <a:rPr lang="en-US" sz="2400" b="1" dirty="0" err="1">
                <a:latin typeface="Arial"/>
                <a:ea typeface="Arial"/>
                <a:cs typeface="Arial"/>
                <a:sym typeface="Arial"/>
              </a:rPr>
              <a:t>uUI</a:t>
            </a:r>
            <a:r>
              <a:rPr lang="en-US" sz="2400" b="1" dirty="0">
                <a:latin typeface="Arial"/>
                <a:ea typeface="Arial"/>
                <a:cs typeface="Arial"/>
                <a:sym typeface="Arial"/>
              </a:rPr>
              <a:t>/l</a:t>
            </a: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T4 </a:t>
            </a:r>
            <a:r>
              <a:rPr lang="en-US" sz="2400" b="1" dirty="0">
                <a:latin typeface="Arial"/>
                <a:ea typeface="Arial"/>
                <a:cs typeface="Arial"/>
                <a:sym typeface="Arial"/>
              </a:rPr>
              <a:t>= 4-12,5 </a:t>
            </a:r>
            <a:r>
              <a:rPr lang="en-US" sz="2400" b="1" dirty="0" err="1">
                <a:latin typeface="Arial"/>
                <a:ea typeface="Arial"/>
                <a:cs typeface="Arial"/>
                <a:sym typeface="Arial"/>
              </a:rPr>
              <a:t>ug</a:t>
            </a:r>
            <a:r>
              <a:rPr lang="en-US" sz="2400" b="1" dirty="0">
                <a:latin typeface="Arial"/>
                <a:ea typeface="Arial"/>
                <a:cs typeface="Arial"/>
                <a:sym typeface="Arial"/>
              </a:rPr>
              <a:t>/l</a:t>
            </a: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T3 </a:t>
            </a:r>
            <a:r>
              <a:rPr lang="en-US" sz="2400" b="1" dirty="0">
                <a:latin typeface="Arial"/>
                <a:ea typeface="Arial"/>
                <a:cs typeface="Arial"/>
                <a:sym typeface="Arial"/>
              </a:rPr>
              <a:t>= 80-200 ng/dl</a:t>
            </a: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TIROXINA </a:t>
            </a:r>
            <a:r>
              <a:rPr lang="en-US" sz="2400" b="1" dirty="0">
                <a:latin typeface="Arial"/>
                <a:ea typeface="Arial"/>
                <a:cs typeface="Arial"/>
                <a:sym typeface="Arial"/>
              </a:rPr>
              <a:t>LIBRE = 0.8-1.8 ng/dl</a:t>
            </a: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ANTICUERPOS </a:t>
            </a:r>
            <a:r>
              <a:rPr lang="en-US" sz="2400" b="1" dirty="0">
                <a:latin typeface="Arial"/>
                <a:ea typeface="Arial"/>
                <a:cs typeface="Arial"/>
                <a:sym typeface="Arial"/>
              </a:rPr>
              <a:t>ANTIPEROXIDASA</a:t>
            </a: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ANTICUERPOS </a:t>
            </a:r>
            <a:r>
              <a:rPr lang="en-US" sz="2400" b="1" dirty="0">
                <a:latin typeface="Arial"/>
                <a:ea typeface="Arial"/>
                <a:cs typeface="Arial"/>
                <a:sym typeface="Arial"/>
              </a:rPr>
              <a:t>ANTITIROGLOBULINA</a:t>
            </a: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Colesterolemia</a:t>
            </a:r>
            <a:r>
              <a:rPr lang="en-US" sz="2400" b="1" dirty="0">
                <a:latin typeface="Arial"/>
                <a:ea typeface="Arial"/>
                <a:cs typeface="Arial"/>
                <a:sym typeface="Arial"/>
              </a:rPr>
              <a:t>.</a:t>
            </a: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ECG</a:t>
            </a:r>
            <a:endParaRPr sz="2400" b="1" dirty="0">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8"/>
          <p:cNvSpPr txBox="1">
            <a:spLocks noGrp="1"/>
          </p:cNvSpPr>
          <p:nvPr>
            <p:ph type="title"/>
          </p:nvPr>
        </p:nvSpPr>
        <p:spPr>
          <a:xfrm>
            <a:off x="838200" y="365126"/>
            <a:ext cx="10515600" cy="95479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DIAGNÓSTICO</a:t>
            </a:r>
            <a:endParaRPr sz="3600" dirty="0">
              <a:solidFill>
                <a:schemeClr val="accent1"/>
              </a:solidFill>
            </a:endParaRPr>
          </a:p>
        </p:txBody>
      </p:sp>
      <p:sp>
        <p:nvSpPr>
          <p:cNvPr id="352" name="Google Shape;352;p38"/>
          <p:cNvSpPr txBox="1">
            <a:spLocks noGrp="1"/>
          </p:cNvSpPr>
          <p:nvPr>
            <p:ph type="body" idx="1"/>
          </p:nvPr>
        </p:nvSpPr>
        <p:spPr>
          <a:xfrm>
            <a:off x="735107" y="1319918"/>
            <a:ext cx="10062764" cy="4991235"/>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n-US" sz="2400" b="1" dirty="0" smtClean="0">
                <a:latin typeface="Arial"/>
                <a:ea typeface="Arial"/>
                <a:cs typeface="Arial"/>
                <a:sym typeface="Arial"/>
              </a:rPr>
              <a:t>T3 </a:t>
            </a:r>
            <a:r>
              <a:rPr lang="en-US" sz="2400" b="1" dirty="0">
                <a:latin typeface="Arial"/>
                <a:ea typeface="Arial"/>
                <a:cs typeface="Arial"/>
                <a:sym typeface="Arial"/>
              </a:rPr>
              <a:t>y T4: disminuyen en los estadios avanzados de la enfermedad.</a:t>
            </a:r>
            <a:endParaRPr sz="2400" b="1" dirty="0">
              <a:latin typeface="Arial"/>
              <a:ea typeface="Arial"/>
              <a:cs typeface="Arial"/>
              <a:sym typeface="Arial"/>
            </a:endParaRPr>
          </a:p>
          <a:p>
            <a:pPr marL="0" lvl="0" indent="0" algn="l" rtl="0">
              <a:lnSpc>
                <a:spcPct val="150000"/>
              </a:lnSpc>
              <a:spcBef>
                <a:spcPts val="0"/>
              </a:spcBef>
              <a:spcAft>
                <a:spcPts val="0"/>
              </a:spcAft>
              <a:buNone/>
            </a:pP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TSH</a:t>
            </a:r>
            <a:r>
              <a:rPr lang="en-US" sz="2400" b="1" dirty="0">
                <a:latin typeface="Arial"/>
                <a:ea typeface="Arial"/>
                <a:cs typeface="Arial"/>
                <a:sym typeface="Arial"/>
              </a:rPr>
              <a:t>: elevada en el hipotiroidismo primario.</a:t>
            </a:r>
            <a:endParaRPr sz="2400" b="1" dirty="0"/>
          </a:p>
          <a:p>
            <a:pPr marL="342900" lvl="0" indent="-342900" algn="l" rtl="0">
              <a:lnSpc>
                <a:spcPct val="150000"/>
              </a:lnSpc>
              <a:spcBef>
                <a:spcPts val="1000"/>
              </a:spcBef>
              <a:spcAft>
                <a:spcPts val="0"/>
              </a:spcAft>
              <a:buSzPts val="1920"/>
              <a:buFont typeface="Arial"/>
              <a:buNone/>
            </a:pPr>
            <a:r>
              <a:rPr lang="en-US" sz="2400" b="1" dirty="0">
                <a:latin typeface="Arial"/>
                <a:ea typeface="Arial"/>
                <a:cs typeface="Arial"/>
                <a:sym typeface="Arial"/>
              </a:rPr>
              <a:t>          disminuida en el hipotiroidismo secundario. </a:t>
            </a:r>
            <a:endParaRPr sz="2400" b="1" dirty="0">
              <a:latin typeface="Arial"/>
              <a:ea typeface="Arial"/>
              <a:cs typeface="Arial"/>
              <a:sym typeface="Arial"/>
            </a:endParaRPr>
          </a:p>
          <a:p>
            <a:pPr marL="342900" lvl="0" indent="-342900" algn="l" rtl="0">
              <a:lnSpc>
                <a:spcPct val="150000"/>
              </a:lnSpc>
              <a:spcBef>
                <a:spcPts val="1000"/>
              </a:spcBef>
              <a:spcAft>
                <a:spcPts val="0"/>
              </a:spcAft>
              <a:buSzPts val="1920"/>
              <a:buFont typeface="Arial"/>
              <a:buNone/>
            </a:pPr>
            <a:endParaRPr sz="2400" b="1" dirty="0">
              <a:latin typeface="Arial"/>
              <a:ea typeface="Arial"/>
              <a:cs typeface="Arial"/>
              <a:sym typeface="Arial"/>
            </a:endParaRPr>
          </a:p>
          <a:p>
            <a:pPr marL="0" lvl="0" indent="0" algn="l" rtl="0">
              <a:lnSpc>
                <a:spcPct val="150000"/>
              </a:lnSpc>
              <a:spcBef>
                <a:spcPts val="1000"/>
              </a:spcBef>
              <a:spcAft>
                <a:spcPts val="0"/>
              </a:spcAft>
              <a:buNone/>
            </a:pPr>
            <a:r>
              <a:rPr lang="en-US" sz="2400" b="1" dirty="0" smtClean="0">
                <a:latin typeface="Arial"/>
                <a:ea typeface="Arial"/>
                <a:cs typeface="Arial"/>
                <a:sym typeface="Arial"/>
              </a:rPr>
              <a:t>Hipercolesterolemia </a:t>
            </a:r>
            <a:r>
              <a:rPr lang="en-US" sz="2400" b="1" dirty="0">
                <a:latin typeface="Arial"/>
                <a:ea typeface="Arial"/>
                <a:cs typeface="Arial"/>
                <a:sym typeface="Arial"/>
              </a:rPr>
              <a:t>– anemia hipocrómica</a:t>
            </a:r>
            <a:endParaRPr sz="2400" b="1" dirty="0"/>
          </a:p>
          <a:p>
            <a:pPr marL="342900" lvl="0" indent="-342900" algn="l" rtl="0">
              <a:lnSpc>
                <a:spcPct val="150000"/>
              </a:lnSpc>
              <a:spcBef>
                <a:spcPts val="1000"/>
              </a:spcBef>
              <a:spcAft>
                <a:spcPts val="0"/>
              </a:spcAft>
              <a:buSzPts val="1600"/>
              <a:buFont typeface="Century Gothic"/>
              <a:buNone/>
            </a:pPr>
            <a:endParaRP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9"/>
          <p:cNvSpPr txBox="1">
            <a:spLocks noGrp="1"/>
          </p:cNvSpPr>
          <p:nvPr>
            <p:ph type="title"/>
          </p:nvPr>
        </p:nvSpPr>
        <p:spPr>
          <a:xfrm>
            <a:off x="646111" y="452718"/>
            <a:ext cx="9404723" cy="815909"/>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LABORATORIO</a:t>
            </a:r>
            <a:endParaRPr sz="3600" dirty="0">
              <a:solidFill>
                <a:schemeClr val="accent1"/>
              </a:solidFill>
            </a:endParaRPr>
          </a:p>
        </p:txBody>
      </p:sp>
      <p:pic>
        <p:nvPicPr>
          <p:cNvPr id="358" name="Google Shape;358;p39"/>
          <p:cNvPicPr preferRelativeResize="0"/>
          <p:nvPr/>
        </p:nvPicPr>
        <p:blipFill>
          <a:blip r:embed="rId3">
            <a:alphaModFix/>
          </a:blip>
          <a:stretch>
            <a:fillRect/>
          </a:stretch>
        </p:blipFill>
        <p:spPr>
          <a:xfrm>
            <a:off x="2067075" y="1440026"/>
            <a:ext cx="7140750" cy="3977950"/>
          </a:xfrm>
          <a:prstGeom prst="rect">
            <a:avLst/>
          </a:prstGeom>
          <a:solidFill>
            <a:srgbClr val="0070C0"/>
          </a:solidFill>
          <a:ln w="76200">
            <a:solidFill>
              <a:srgbClr val="0070C0"/>
            </a:solidFill>
          </a:ln>
          <a:effectLst>
            <a:glow rad="101600">
              <a:schemeClr val="accent4">
                <a:satMod val="175000"/>
                <a:alpha val="40000"/>
              </a:schemeClr>
            </a:glow>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1"/>
          <p:cNvSpPr txBox="1">
            <a:spLocks noGrp="1"/>
          </p:cNvSpPr>
          <p:nvPr>
            <p:ph type="title"/>
          </p:nvPr>
        </p:nvSpPr>
        <p:spPr>
          <a:xfrm>
            <a:off x="838200" y="365126"/>
            <a:ext cx="10515600" cy="869550"/>
          </a:xfrm>
          <a:prstGeom prst="rect">
            <a:avLst/>
          </a:prstGeom>
          <a:noFill/>
          <a:ln>
            <a:noFill/>
          </a:ln>
        </p:spPr>
        <p:txBody>
          <a:bodyPr spcFirstLastPara="1" wrap="square" lIns="91425" tIns="45700" rIns="91425" bIns="45700" anchor="t" anchorCtr="0">
            <a:normAutofit/>
          </a:bodyPr>
          <a:lstStyle/>
          <a:p>
            <a:pPr marL="0" lvl="0" indent="0" rtl="0">
              <a:spcBef>
                <a:spcPts val="0"/>
              </a:spcBef>
              <a:spcAft>
                <a:spcPts val="0"/>
              </a:spcAft>
              <a:buClr>
                <a:schemeClr val="lt2"/>
              </a:buClr>
              <a:buSzPts val="3200"/>
              <a:buFont typeface="Arial"/>
              <a:buNone/>
            </a:pPr>
            <a:r>
              <a:rPr lang="en-US" sz="3200" b="1" dirty="0" smtClean="0">
                <a:solidFill>
                  <a:schemeClr val="accent1"/>
                </a:solidFill>
                <a:latin typeface="Arial"/>
                <a:ea typeface="Arial"/>
                <a:cs typeface="Arial"/>
                <a:sym typeface="Arial"/>
              </a:rPr>
              <a:t>TRATAMIENTO CON </a:t>
            </a:r>
            <a:r>
              <a:rPr lang="en-US" sz="3200" b="1" dirty="0">
                <a:solidFill>
                  <a:schemeClr val="accent1"/>
                </a:solidFill>
                <a:latin typeface="Arial"/>
                <a:ea typeface="Arial"/>
                <a:cs typeface="Arial"/>
                <a:sym typeface="Arial"/>
              </a:rPr>
              <a:t>HORMONAS TIROIDEAS</a:t>
            </a:r>
            <a:endParaRPr sz="3200" dirty="0">
              <a:solidFill>
                <a:schemeClr val="accent1"/>
              </a:solidFill>
            </a:endParaRPr>
          </a:p>
        </p:txBody>
      </p:sp>
      <p:sp>
        <p:nvSpPr>
          <p:cNvPr id="370" name="Google Shape;370;p41"/>
          <p:cNvSpPr txBox="1">
            <a:spLocks noGrp="1"/>
          </p:cNvSpPr>
          <p:nvPr>
            <p:ph type="body" idx="1"/>
          </p:nvPr>
        </p:nvSpPr>
        <p:spPr>
          <a:xfrm>
            <a:off x="687716" y="1234675"/>
            <a:ext cx="9040500" cy="5232028"/>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SzPts val="1920"/>
              <a:buNone/>
            </a:pPr>
            <a:r>
              <a:rPr lang="en-US" sz="2400" b="1" dirty="0">
                <a:solidFill>
                  <a:schemeClr val="accent1"/>
                </a:solidFill>
                <a:latin typeface="Arial"/>
                <a:ea typeface="Arial"/>
                <a:cs typeface="Arial"/>
                <a:sym typeface="Arial"/>
              </a:rPr>
              <a:t>APLICACIONES TERAPÉUTICAS</a:t>
            </a:r>
            <a:endParaRPr sz="2400" dirty="0">
              <a:solidFill>
                <a:schemeClr val="accent1"/>
              </a:solidFil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HIPOTIROIDISMO</a:t>
            </a:r>
            <a:endParaRPr sz="2400" b="1" dirty="0"/>
          </a:p>
          <a:p>
            <a:pPr marL="0" lvl="0" indent="0" algn="l" rtl="0">
              <a:lnSpc>
                <a:spcPct val="115000"/>
              </a:lnSpc>
              <a:spcBef>
                <a:spcPts val="1000"/>
              </a:spcBef>
              <a:spcAft>
                <a:spcPts val="0"/>
              </a:spcAft>
              <a:buNone/>
            </a:pPr>
            <a:r>
              <a:rPr lang="en-US" sz="2400" b="1" dirty="0" smtClean="0">
                <a:latin typeface="Arial"/>
                <a:ea typeface="Arial"/>
                <a:cs typeface="Arial"/>
                <a:sym typeface="Arial"/>
              </a:rPr>
              <a:t>MIXEDEMA</a:t>
            </a:r>
            <a:endParaRPr sz="2400" b="1" dirty="0"/>
          </a:p>
          <a:p>
            <a:pPr marL="0" lvl="0" indent="0" algn="l" rtl="0">
              <a:lnSpc>
                <a:spcPct val="115000"/>
              </a:lnSpc>
              <a:spcBef>
                <a:spcPts val="1000"/>
              </a:spcBef>
              <a:spcAft>
                <a:spcPts val="0"/>
              </a:spcAft>
              <a:buNone/>
            </a:pPr>
            <a:r>
              <a:rPr lang="en-US" sz="2400" b="1" dirty="0" smtClean="0">
                <a:latin typeface="Arial"/>
                <a:ea typeface="Arial"/>
                <a:cs typeface="Arial"/>
                <a:sym typeface="Arial"/>
              </a:rPr>
              <a:t>CRETINISMO</a:t>
            </a:r>
            <a:endParaRPr sz="2400" b="1" dirty="0"/>
          </a:p>
          <a:p>
            <a:pPr marL="0" lvl="0" indent="0" algn="l" rtl="0">
              <a:lnSpc>
                <a:spcPct val="115000"/>
              </a:lnSpc>
              <a:spcBef>
                <a:spcPts val="1000"/>
              </a:spcBef>
              <a:spcAft>
                <a:spcPts val="0"/>
              </a:spcAft>
              <a:buNone/>
            </a:pPr>
            <a:r>
              <a:rPr lang="en-US" sz="2400" b="1" dirty="0" smtClean="0">
                <a:latin typeface="Arial"/>
                <a:ea typeface="Arial"/>
                <a:cs typeface="Arial"/>
                <a:sym typeface="Arial"/>
              </a:rPr>
              <a:t>HIPOTIROIDISMO </a:t>
            </a:r>
            <a:r>
              <a:rPr lang="en-US" sz="2400" b="1" dirty="0">
                <a:latin typeface="Arial"/>
                <a:ea typeface="Arial"/>
                <a:cs typeface="Arial"/>
                <a:sym typeface="Arial"/>
              </a:rPr>
              <a:t>Y EMBARAZO</a:t>
            </a:r>
            <a:endParaRPr sz="2400" b="1" dirty="0"/>
          </a:p>
          <a:p>
            <a:pPr marL="0" lvl="0" indent="0" algn="l" rtl="0">
              <a:lnSpc>
                <a:spcPct val="115000"/>
              </a:lnSpc>
              <a:spcBef>
                <a:spcPts val="1000"/>
              </a:spcBef>
              <a:spcAft>
                <a:spcPts val="0"/>
              </a:spcAft>
              <a:buNone/>
            </a:pPr>
            <a:r>
              <a:rPr lang="en-US" sz="2400" b="1" dirty="0" smtClean="0">
                <a:latin typeface="Arial"/>
                <a:ea typeface="Arial"/>
                <a:cs typeface="Arial"/>
                <a:sym typeface="Arial"/>
              </a:rPr>
              <a:t>HIPOTIROIDISMO </a:t>
            </a:r>
            <a:r>
              <a:rPr lang="en-US" sz="2400" b="1" dirty="0">
                <a:latin typeface="Arial"/>
                <a:ea typeface="Arial"/>
                <a:cs typeface="Arial"/>
                <a:sym typeface="Arial"/>
              </a:rPr>
              <a:t>SUBCLÍNICO</a:t>
            </a:r>
            <a:endParaRPr sz="2400" b="1" dirty="0"/>
          </a:p>
          <a:p>
            <a:pPr marL="0" lvl="0" indent="0" algn="l" rtl="0">
              <a:lnSpc>
                <a:spcPct val="115000"/>
              </a:lnSpc>
              <a:spcBef>
                <a:spcPts val="1000"/>
              </a:spcBef>
              <a:spcAft>
                <a:spcPts val="0"/>
              </a:spcAft>
              <a:buNone/>
            </a:pPr>
            <a:r>
              <a:rPr lang="en-US" sz="2400" b="1" dirty="0" smtClean="0">
                <a:latin typeface="Arial"/>
                <a:ea typeface="Arial"/>
                <a:cs typeface="Arial"/>
                <a:sym typeface="Arial"/>
              </a:rPr>
              <a:t>ENFERMEDAD </a:t>
            </a:r>
            <a:r>
              <a:rPr lang="en-US" sz="2400" b="1" dirty="0">
                <a:latin typeface="Arial"/>
                <a:ea typeface="Arial"/>
                <a:cs typeface="Arial"/>
                <a:sym typeface="Arial"/>
              </a:rPr>
              <a:t>TIROIDEA NODULAR</a:t>
            </a:r>
            <a:endParaRPr sz="2400" b="1" dirty="0"/>
          </a:p>
          <a:p>
            <a:pPr marL="0" lvl="0" indent="0" algn="l" rtl="0">
              <a:lnSpc>
                <a:spcPct val="115000"/>
              </a:lnSpc>
              <a:spcBef>
                <a:spcPts val="1000"/>
              </a:spcBef>
              <a:spcAft>
                <a:spcPts val="0"/>
              </a:spcAft>
              <a:buNone/>
            </a:pPr>
            <a:r>
              <a:rPr lang="en-US" sz="2400" b="1" dirty="0" smtClean="0">
                <a:latin typeface="Arial"/>
                <a:ea typeface="Arial"/>
                <a:cs typeface="Arial"/>
                <a:sym typeface="Arial"/>
              </a:rPr>
              <a:t>BOCIO </a:t>
            </a:r>
            <a:r>
              <a:rPr lang="en-US" sz="2400" b="1" dirty="0">
                <a:latin typeface="Arial"/>
                <a:ea typeface="Arial"/>
                <a:cs typeface="Arial"/>
                <a:sym typeface="Arial"/>
              </a:rPr>
              <a:t>SIMPLE </a:t>
            </a:r>
            <a:endParaRPr sz="2400" b="1" dirty="0"/>
          </a:p>
          <a:p>
            <a:pPr marL="0" lvl="0" indent="0" algn="l" rtl="0">
              <a:lnSpc>
                <a:spcPct val="115000"/>
              </a:lnSpc>
              <a:spcBef>
                <a:spcPts val="1000"/>
              </a:spcBef>
              <a:spcAft>
                <a:spcPts val="0"/>
              </a:spcAft>
              <a:buNone/>
            </a:pPr>
            <a:r>
              <a:rPr lang="en-US" sz="2400" b="1" dirty="0" smtClean="0">
                <a:latin typeface="Arial"/>
                <a:ea typeface="Arial"/>
                <a:cs typeface="Arial"/>
                <a:sym typeface="Arial"/>
              </a:rPr>
              <a:t>CÁNCER </a:t>
            </a:r>
            <a:r>
              <a:rPr lang="en-US" sz="2400" b="1" dirty="0">
                <a:latin typeface="Arial"/>
                <a:ea typeface="Arial"/>
                <a:cs typeface="Arial"/>
                <a:sym typeface="Arial"/>
              </a:rPr>
              <a:t>DE TIROIDES</a:t>
            </a:r>
            <a:endParaRPr sz="2400"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979842"/>
          </a:xfrm>
        </p:spPr>
        <p:txBody>
          <a:bodyPr/>
          <a:lstStyle/>
          <a:p>
            <a:pPr algn="ctr"/>
            <a:r>
              <a:rPr lang="es-AR" sz="3600" b="1" dirty="0" smtClean="0">
                <a:solidFill>
                  <a:schemeClr val="accent1"/>
                </a:solidFill>
                <a:latin typeface="+mj-lt"/>
              </a:rPr>
              <a:t>TRATAMIENTO </a:t>
            </a:r>
            <a:endParaRPr lang="es-AR" sz="3600" b="1" dirty="0">
              <a:solidFill>
                <a:schemeClr val="accent1"/>
              </a:solidFill>
              <a:latin typeface="+mj-lt"/>
            </a:endParaRPr>
          </a:p>
        </p:txBody>
      </p:sp>
      <p:sp>
        <p:nvSpPr>
          <p:cNvPr id="5" name="Marcador de texto 4"/>
          <p:cNvSpPr>
            <a:spLocks noGrp="1"/>
          </p:cNvSpPr>
          <p:nvPr>
            <p:ph type="body" idx="1"/>
          </p:nvPr>
        </p:nvSpPr>
        <p:spPr>
          <a:xfrm>
            <a:off x="396240" y="1249680"/>
            <a:ext cx="11490960" cy="5374640"/>
          </a:xfrm>
        </p:spPr>
        <p:txBody>
          <a:bodyPr>
            <a:normAutofit lnSpcReduction="10000"/>
          </a:bodyPr>
          <a:lstStyle/>
          <a:p>
            <a:pPr marL="0" indent="0">
              <a:buNone/>
            </a:pPr>
            <a:r>
              <a:rPr lang="es-ES" sz="2800" b="1" dirty="0" smtClean="0">
                <a:solidFill>
                  <a:srgbClr val="FFFF00"/>
                </a:solidFill>
                <a:latin typeface="+mj-lt"/>
                <a:cs typeface="Arial" pitchFamily="34" charset="0"/>
              </a:rPr>
              <a:t>OBJETIVO:</a:t>
            </a:r>
            <a:r>
              <a:rPr lang="es-ES" sz="2400" b="1" dirty="0" smtClean="0">
                <a:latin typeface="+mj-lt"/>
                <a:cs typeface="Arial" pitchFamily="34" charset="0"/>
              </a:rPr>
              <a:t> </a:t>
            </a:r>
            <a:r>
              <a:rPr lang="es-ES" sz="2400" b="1" dirty="0">
                <a:latin typeface="+mj-lt"/>
                <a:cs typeface="Arial" pitchFamily="34" charset="0"/>
              </a:rPr>
              <a:t>restaurar el estado </a:t>
            </a:r>
            <a:r>
              <a:rPr lang="es-ES" sz="2400" b="1" dirty="0" smtClean="0">
                <a:latin typeface="+mj-lt"/>
                <a:cs typeface="Arial" pitchFamily="34" charset="0"/>
              </a:rPr>
              <a:t>eutiroidea, </a:t>
            </a:r>
            <a:r>
              <a:rPr lang="es-ES" sz="2400" b="1" dirty="0">
                <a:latin typeface="+mj-lt"/>
                <a:cs typeface="Arial" pitchFamily="34" charset="0"/>
              </a:rPr>
              <a:t>responden mas síntomas centrales que los </a:t>
            </a:r>
            <a:r>
              <a:rPr lang="es-ES" sz="2400" b="1" dirty="0" smtClean="0">
                <a:latin typeface="+mj-lt"/>
                <a:cs typeface="Arial" pitchFamily="34" charset="0"/>
              </a:rPr>
              <a:t>periféricos</a:t>
            </a:r>
            <a:endParaRPr lang="es-ES" sz="2400" b="1" dirty="0">
              <a:latin typeface="+mj-lt"/>
              <a:cs typeface="Arial" pitchFamily="34" charset="0"/>
            </a:endParaRPr>
          </a:p>
          <a:p>
            <a:pPr marL="0" indent="0">
              <a:buNone/>
            </a:pPr>
            <a:r>
              <a:rPr lang="es-ES" sz="2800" b="1" dirty="0">
                <a:solidFill>
                  <a:schemeClr val="accent3"/>
                </a:solidFill>
                <a:latin typeface="+mj-lt"/>
                <a:cs typeface="Arial" pitchFamily="34" charset="0"/>
              </a:rPr>
              <a:t>Levotiroxina:</a:t>
            </a:r>
          </a:p>
          <a:p>
            <a:pPr marL="137160" indent="0">
              <a:buNone/>
            </a:pPr>
            <a:r>
              <a:rPr lang="es-ES" sz="2400" b="1" dirty="0" smtClean="0">
                <a:latin typeface="+mj-lt"/>
                <a:cs typeface="Arial" pitchFamily="34" charset="0"/>
              </a:rPr>
              <a:t>Dosis</a:t>
            </a:r>
            <a:r>
              <a:rPr lang="es-ES" sz="2400" b="1" dirty="0">
                <a:latin typeface="+mj-lt"/>
                <a:cs typeface="Arial" pitchFamily="34" charset="0"/>
              </a:rPr>
              <a:t>: 1,6 – 1,8 </a:t>
            </a:r>
            <a:r>
              <a:rPr lang="es-ES" sz="2400" b="1" dirty="0" err="1">
                <a:latin typeface="+mj-lt"/>
                <a:cs typeface="Arial" pitchFamily="34" charset="0"/>
              </a:rPr>
              <a:t>ug</a:t>
            </a:r>
            <a:r>
              <a:rPr lang="es-ES" sz="2400" b="1" dirty="0">
                <a:latin typeface="+mj-lt"/>
                <a:cs typeface="Arial" pitchFamily="34" charset="0"/>
              </a:rPr>
              <a:t>/kg/día. Los niños necesitan mas dosis (&gt;2 </a:t>
            </a:r>
            <a:r>
              <a:rPr lang="es-ES" sz="2400" b="1" dirty="0" err="1">
                <a:latin typeface="+mj-lt"/>
                <a:cs typeface="Arial" pitchFamily="34" charset="0"/>
              </a:rPr>
              <a:t>ug</a:t>
            </a:r>
            <a:r>
              <a:rPr lang="es-ES" sz="2400" b="1" dirty="0">
                <a:latin typeface="+mj-lt"/>
                <a:cs typeface="Arial" pitchFamily="34" charset="0"/>
              </a:rPr>
              <a:t>/kg), y los ancianos menos (alrededor de 0,5-1 </a:t>
            </a:r>
            <a:r>
              <a:rPr lang="es-ES" sz="2400" b="1" dirty="0" err="1">
                <a:latin typeface="+mj-lt"/>
                <a:cs typeface="Arial" pitchFamily="34" charset="0"/>
              </a:rPr>
              <a:t>ug</a:t>
            </a:r>
            <a:r>
              <a:rPr lang="es-ES" sz="2400" b="1" dirty="0">
                <a:latin typeface="+mj-lt"/>
                <a:cs typeface="Arial" pitchFamily="34" charset="0"/>
              </a:rPr>
              <a:t>/kg</a:t>
            </a:r>
            <a:r>
              <a:rPr lang="es-ES" sz="2400" b="1" dirty="0" smtClean="0">
                <a:latin typeface="+mj-lt"/>
                <a:cs typeface="Arial" pitchFamily="34" charset="0"/>
              </a:rPr>
              <a:t>)</a:t>
            </a:r>
          </a:p>
          <a:p>
            <a:pPr marL="137160" indent="0">
              <a:buNone/>
            </a:pPr>
            <a:endParaRPr lang="es-ES" sz="2400" b="1" dirty="0">
              <a:latin typeface="+mj-lt"/>
              <a:cs typeface="Arial" pitchFamily="34" charset="0"/>
            </a:endParaRPr>
          </a:p>
          <a:p>
            <a:pPr marL="137160" indent="0">
              <a:buNone/>
            </a:pPr>
            <a:r>
              <a:rPr lang="es-ES" sz="2400" b="1" dirty="0">
                <a:latin typeface="+mj-lt"/>
                <a:cs typeface="Arial" pitchFamily="34" charset="0"/>
              </a:rPr>
              <a:t>En pacientes con trastornos de absorción se necesitan por lo general dosis de 20% </a:t>
            </a:r>
            <a:r>
              <a:rPr lang="es-ES" sz="2400" b="1" dirty="0" smtClean="0">
                <a:latin typeface="+mj-lt"/>
                <a:cs typeface="Arial" pitchFamily="34" charset="0"/>
              </a:rPr>
              <a:t>más </a:t>
            </a:r>
            <a:r>
              <a:rPr lang="es-ES" sz="2400" b="1" dirty="0">
                <a:latin typeface="+mj-lt"/>
                <a:cs typeface="Arial" pitchFamily="34" charset="0"/>
              </a:rPr>
              <a:t>que la dosis </a:t>
            </a:r>
            <a:r>
              <a:rPr lang="es-ES" sz="2400" b="1" dirty="0" smtClean="0">
                <a:latin typeface="+mj-lt"/>
                <a:cs typeface="Arial" pitchFamily="34" charset="0"/>
              </a:rPr>
              <a:t>estándar</a:t>
            </a:r>
          </a:p>
          <a:p>
            <a:pPr marL="137160" indent="0">
              <a:buNone/>
            </a:pPr>
            <a:endParaRPr lang="es-ES" sz="2400" b="1" dirty="0" smtClean="0">
              <a:latin typeface="+mj-lt"/>
              <a:cs typeface="Arial" pitchFamily="34" charset="0"/>
            </a:endParaRPr>
          </a:p>
          <a:p>
            <a:pPr marL="137160" indent="0">
              <a:buNone/>
            </a:pPr>
            <a:r>
              <a:rPr lang="es-ES" sz="2400" b="1" dirty="0" smtClean="0">
                <a:latin typeface="+mj-lt"/>
                <a:cs typeface="Arial" pitchFamily="34" charset="0"/>
              </a:rPr>
              <a:t>Dosis </a:t>
            </a:r>
            <a:r>
              <a:rPr lang="es-ES" sz="2400" b="1" dirty="0">
                <a:latin typeface="+mj-lt"/>
                <a:cs typeface="Arial" pitchFamily="34" charset="0"/>
              </a:rPr>
              <a:t>inicial según el paciente: en ancianos 12,5 – 25 </a:t>
            </a:r>
            <a:r>
              <a:rPr lang="es-ES" sz="2400" b="1" dirty="0" err="1">
                <a:latin typeface="+mj-lt"/>
                <a:cs typeface="Arial" pitchFamily="34" charset="0"/>
              </a:rPr>
              <a:t>ug</a:t>
            </a:r>
            <a:r>
              <a:rPr lang="es-ES" sz="2400" b="1" dirty="0">
                <a:latin typeface="+mj-lt"/>
                <a:cs typeface="Arial" pitchFamily="34" charset="0"/>
              </a:rPr>
              <a:t>/kg/día, normalmente 50 </a:t>
            </a:r>
            <a:r>
              <a:rPr lang="es-ES" sz="2400" b="1" dirty="0" err="1">
                <a:latin typeface="+mj-lt"/>
                <a:cs typeface="Arial" pitchFamily="34" charset="0"/>
              </a:rPr>
              <a:t>ug</a:t>
            </a:r>
            <a:r>
              <a:rPr lang="es-ES" sz="2400" b="1" dirty="0">
                <a:latin typeface="+mj-lt"/>
                <a:cs typeface="Arial" pitchFamily="34" charset="0"/>
              </a:rPr>
              <a:t>/kg/día, en jóvenes se pueden dar dosis de hasta 75-100 </a:t>
            </a:r>
            <a:r>
              <a:rPr lang="es-ES" sz="2400" b="1" dirty="0" err="1">
                <a:latin typeface="+mj-lt"/>
                <a:cs typeface="Arial" pitchFamily="34" charset="0"/>
              </a:rPr>
              <a:t>ug</a:t>
            </a:r>
            <a:r>
              <a:rPr lang="es-ES" sz="2400" b="1" dirty="0">
                <a:latin typeface="+mj-lt"/>
                <a:cs typeface="Arial" pitchFamily="34" charset="0"/>
              </a:rPr>
              <a:t>/kg/dí</a:t>
            </a:r>
            <a:r>
              <a:rPr lang="es-ES" sz="2400" dirty="0">
                <a:latin typeface="+mj-lt"/>
                <a:cs typeface="Arial" pitchFamily="34" charset="0"/>
              </a:rPr>
              <a:t>a</a:t>
            </a:r>
          </a:p>
        </p:txBody>
      </p:sp>
    </p:spTree>
    <p:extLst>
      <p:ext uri="{BB962C8B-B14F-4D97-AF65-F5344CB8AC3E}">
        <p14:creationId xmlns:p14="http://schemas.microsoft.com/office/powerpoint/2010/main" val="5432252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p:cNvSpPr>
            <a:spLocks noGrp="1"/>
          </p:cNvSpPr>
          <p:nvPr>
            <p:ph type="body" idx="1"/>
          </p:nvPr>
        </p:nvSpPr>
        <p:spPr>
          <a:xfrm>
            <a:off x="426720" y="934720"/>
            <a:ext cx="11226800" cy="5313679"/>
          </a:xfrm>
        </p:spPr>
        <p:txBody>
          <a:bodyPr>
            <a:normAutofit/>
          </a:bodyPr>
          <a:lstStyle/>
          <a:p>
            <a:pPr marL="137160" indent="0">
              <a:lnSpc>
                <a:spcPct val="150000"/>
              </a:lnSpc>
              <a:buNone/>
            </a:pPr>
            <a:r>
              <a:rPr lang="es-ES" sz="2400" b="1" dirty="0">
                <a:latin typeface="+mj-lt"/>
                <a:cs typeface="Arial" pitchFamily="34" charset="0"/>
              </a:rPr>
              <a:t>Se aumenta (o disminuye) la dosis de 12,5 – 25 ug (según el paciente)</a:t>
            </a:r>
          </a:p>
          <a:p>
            <a:pPr marL="137160" indent="0">
              <a:lnSpc>
                <a:spcPct val="150000"/>
              </a:lnSpc>
              <a:buNone/>
            </a:pPr>
            <a:r>
              <a:rPr lang="es-ES" sz="2400" b="1" dirty="0">
                <a:latin typeface="+mj-lt"/>
                <a:cs typeface="Arial" pitchFamily="34" charset="0"/>
              </a:rPr>
              <a:t>A</a:t>
            </a:r>
            <a:r>
              <a:rPr lang="es-ES" sz="2400" b="1" dirty="0" smtClean="0">
                <a:latin typeface="+mj-lt"/>
                <a:cs typeface="Arial" pitchFamily="34" charset="0"/>
              </a:rPr>
              <a:t>dministrar </a:t>
            </a:r>
            <a:r>
              <a:rPr lang="es-ES" sz="2400" b="1" dirty="0">
                <a:latin typeface="+mj-lt"/>
                <a:cs typeface="Arial" pitchFamily="34" charset="0"/>
              </a:rPr>
              <a:t>30-60 minutos antes del desayuno para optimizar la absorción (se absorbe el 60-80% de la dosis total administrada dentro de las primeras 3 horas de administrada en yeyuno e íleon). Para la absorción es importante la acidez gástrica (los que tienen &lt; acidez gástrica requieren dosis 20-30% mas </a:t>
            </a:r>
            <a:r>
              <a:rPr lang="es-ES" sz="2400" b="1" dirty="0" smtClean="0">
                <a:latin typeface="+mj-lt"/>
                <a:cs typeface="Arial" pitchFamily="34" charset="0"/>
              </a:rPr>
              <a:t>altas)</a:t>
            </a:r>
          </a:p>
          <a:p>
            <a:pPr marL="137160" indent="0">
              <a:lnSpc>
                <a:spcPct val="150000"/>
              </a:lnSpc>
              <a:buNone/>
            </a:pPr>
            <a:r>
              <a:rPr lang="es-ES" sz="2400" b="1" dirty="0" smtClean="0">
                <a:latin typeface="+mj-lt"/>
                <a:cs typeface="Arial" pitchFamily="34" charset="0"/>
              </a:rPr>
              <a:t>Controles del </a:t>
            </a:r>
            <a:r>
              <a:rPr lang="es-ES" sz="2400" b="1" dirty="0">
                <a:latin typeface="+mj-lt"/>
                <a:cs typeface="Arial" pitchFamily="34" charset="0"/>
              </a:rPr>
              <a:t>tratamiento: 8-12 semanas después del inicio y 4-6 semanas después del cambio de dosis en base a clínica – TSH</a:t>
            </a:r>
          </a:p>
          <a:p>
            <a:pPr marL="137160" indent="0">
              <a:lnSpc>
                <a:spcPct val="150000"/>
              </a:lnSpc>
              <a:buNone/>
            </a:pPr>
            <a:endParaRPr lang="es-ES" sz="2400" b="1" dirty="0">
              <a:latin typeface="+mj-lt"/>
              <a:cs typeface="Arial" pitchFamily="34" charset="0"/>
            </a:endParaRPr>
          </a:p>
          <a:p>
            <a:pPr marL="137160" indent="0">
              <a:lnSpc>
                <a:spcPct val="150000"/>
              </a:lnSpc>
              <a:buNone/>
            </a:pPr>
            <a:endParaRPr lang="es-AR" sz="2400" b="1" dirty="0">
              <a:latin typeface="+mj-lt"/>
            </a:endParaRPr>
          </a:p>
        </p:txBody>
      </p:sp>
    </p:spTree>
    <p:extLst>
      <p:ext uri="{BB962C8B-B14F-4D97-AF65-F5344CB8AC3E}">
        <p14:creationId xmlns:p14="http://schemas.microsoft.com/office/powerpoint/2010/main" val="27379507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4"/>
          <p:cNvSpPr txBox="1">
            <a:spLocks noGrp="1"/>
          </p:cNvSpPr>
          <p:nvPr>
            <p:ph type="body" idx="1"/>
          </p:nvPr>
        </p:nvSpPr>
        <p:spPr>
          <a:xfrm>
            <a:off x="591825" y="229475"/>
            <a:ext cx="8459400" cy="26979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None/>
            </a:pPr>
            <a:r>
              <a:rPr lang="en-US" sz="2400" b="1" dirty="0">
                <a:solidFill>
                  <a:schemeClr val="accent1"/>
                </a:solidFill>
                <a:latin typeface="Arial"/>
                <a:ea typeface="Arial"/>
                <a:cs typeface="Arial"/>
                <a:sym typeface="Arial"/>
              </a:rPr>
              <a:t>HORMONAS TIROIDEAS- EFECTOS ADVERSOS</a:t>
            </a:r>
            <a:endParaRPr sz="2400" b="1" dirty="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endParaRPr lang="en-US" sz="2400" b="1" dirty="0" smtClean="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solidFill>
                  <a:schemeClr val="accent1"/>
                </a:solidFill>
                <a:latin typeface="Arial"/>
                <a:ea typeface="Arial"/>
                <a:cs typeface="Arial"/>
                <a:sym typeface="Arial"/>
              </a:rPr>
              <a:t>CARDIOVASCULAR</a:t>
            </a:r>
            <a:endParaRPr sz="2400" b="1" dirty="0" smtClean="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Palpitaciones</a:t>
            </a:r>
            <a:endParaRPr sz="2400" b="1" dirty="0" smtClean="0">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Taquicardia</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Arritmias</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HTA</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solidFill>
                  <a:schemeClr val="accent1"/>
                </a:solidFill>
                <a:latin typeface="Arial"/>
                <a:ea typeface="Arial"/>
                <a:cs typeface="Arial"/>
                <a:sym typeface="Arial"/>
              </a:rPr>
              <a:t>SNC</a:t>
            </a:r>
            <a:endParaRPr sz="2400" b="1" dirty="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Insomnio</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Nerviosismo</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smtClean="0">
                <a:latin typeface="Arial"/>
                <a:ea typeface="Arial"/>
                <a:cs typeface="Arial"/>
                <a:sym typeface="Arial"/>
              </a:rPr>
              <a:t>Irritación</a:t>
            </a:r>
          </a:p>
          <a:p>
            <a:pPr marL="0" lvl="0" indent="0" algn="l" rtl="0">
              <a:lnSpc>
                <a:spcPct val="115000"/>
              </a:lnSpc>
              <a:spcBef>
                <a:spcPts val="1000"/>
              </a:spcBef>
              <a:spcAft>
                <a:spcPts val="0"/>
              </a:spcAft>
              <a:buNone/>
            </a:pPr>
            <a:r>
              <a:rPr lang="en-US" sz="2400" b="1" dirty="0" smtClean="0">
                <a:latin typeface="Arial"/>
                <a:ea typeface="Arial"/>
                <a:cs typeface="Arial"/>
                <a:sym typeface="Arial"/>
              </a:rPr>
              <a:t>Temblores</a:t>
            </a:r>
            <a:endParaRPr sz="2400" b="1" dirty="0">
              <a:latin typeface="Arial"/>
              <a:ea typeface="Arial"/>
              <a:cs typeface="Arial"/>
              <a:sym typeface="Arial"/>
            </a:endParaRPr>
          </a:p>
          <a:p>
            <a:pPr marL="0" lvl="0" indent="0" algn="l" rtl="0">
              <a:lnSpc>
                <a:spcPct val="115000"/>
              </a:lnSpc>
              <a:spcBef>
                <a:spcPts val="1000"/>
              </a:spcBef>
              <a:spcAft>
                <a:spcPts val="0"/>
              </a:spcAft>
              <a:buNone/>
            </a:pPr>
            <a:endParaRPr sz="2400" b="1" dirty="0">
              <a:latin typeface="Arial"/>
              <a:ea typeface="Arial"/>
              <a:cs typeface="Arial"/>
              <a:sym typeface="Arial"/>
            </a:endParaRPr>
          </a:p>
          <a:p>
            <a:pPr marL="0" lvl="0" indent="0" algn="l" rtl="0">
              <a:lnSpc>
                <a:spcPct val="115000"/>
              </a:lnSpc>
              <a:spcBef>
                <a:spcPts val="1000"/>
              </a:spcBef>
              <a:spcAft>
                <a:spcPts val="0"/>
              </a:spcAft>
              <a:buNone/>
            </a:pPr>
            <a:endParaRPr sz="2400" dirty="0"/>
          </a:p>
        </p:txBody>
      </p:sp>
      <p:sp>
        <p:nvSpPr>
          <p:cNvPr id="390" name="Google Shape;390;p44"/>
          <p:cNvSpPr txBox="1">
            <a:spLocks noGrp="1"/>
          </p:cNvSpPr>
          <p:nvPr>
            <p:ph type="body" idx="4294967295"/>
          </p:nvPr>
        </p:nvSpPr>
        <p:spPr>
          <a:xfrm>
            <a:off x="6060141" y="230188"/>
            <a:ext cx="6131859" cy="6323012"/>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endParaRPr sz="2400" b="1" u="sng" dirty="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endParaRPr sz="2400" b="1" u="sng" dirty="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r>
              <a:rPr lang="en-US" sz="2400" b="1" dirty="0">
                <a:solidFill>
                  <a:schemeClr val="accent1"/>
                </a:solidFill>
                <a:latin typeface="Arial"/>
                <a:ea typeface="Arial"/>
                <a:cs typeface="Arial"/>
                <a:sym typeface="Arial"/>
              </a:rPr>
              <a:t>METABOLISMO</a:t>
            </a:r>
            <a:endParaRPr sz="2400" b="1" dirty="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r>
              <a:rPr lang="en-US" sz="2400" b="1" dirty="0">
                <a:latin typeface="Arial"/>
                <a:ea typeface="Arial"/>
                <a:cs typeface="Arial"/>
                <a:sym typeface="Arial"/>
              </a:rPr>
              <a:t>Osteoporosis</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a:latin typeface="Arial"/>
                <a:ea typeface="Arial"/>
                <a:cs typeface="Arial"/>
                <a:sym typeface="Arial"/>
              </a:rPr>
              <a:t>Temperatura aumentada</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a:latin typeface="Arial"/>
                <a:ea typeface="Arial"/>
                <a:cs typeface="Arial"/>
                <a:sym typeface="Arial"/>
              </a:rPr>
              <a:t>Sudoración excesiva</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a:latin typeface="Arial"/>
                <a:ea typeface="Arial"/>
                <a:cs typeface="Arial"/>
                <a:sym typeface="Arial"/>
              </a:rPr>
              <a:t>Hiperglucemia</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a:latin typeface="Arial"/>
                <a:ea typeface="Arial"/>
                <a:cs typeface="Arial"/>
                <a:sym typeface="Arial"/>
              </a:rPr>
              <a:t>Pérdida de peso</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a:latin typeface="Arial"/>
                <a:ea typeface="Arial"/>
                <a:cs typeface="Arial"/>
                <a:sym typeface="Arial"/>
              </a:rPr>
              <a:t>Debilidad muscular</a:t>
            </a:r>
            <a:endParaRPr sz="2400" b="1" dirty="0">
              <a:latin typeface="Arial"/>
              <a:ea typeface="Arial"/>
              <a:cs typeface="Arial"/>
              <a:sym typeface="Arial"/>
            </a:endParaRPr>
          </a:p>
          <a:p>
            <a:pPr marL="0" lvl="0" indent="0" algn="l" rtl="0">
              <a:lnSpc>
                <a:spcPct val="115000"/>
              </a:lnSpc>
              <a:spcBef>
                <a:spcPts val="1000"/>
              </a:spcBef>
              <a:spcAft>
                <a:spcPts val="0"/>
              </a:spcAft>
              <a:buNone/>
            </a:pPr>
            <a:r>
              <a:rPr lang="en-US" sz="2400" b="1" dirty="0">
                <a:solidFill>
                  <a:schemeClr val="accent1"/>
                </a:solidFill>
                <a:latin typeface="Arial"/>
                <a:ea typeface="Arial"/>
                <a:cs typeface="Arial"/>
                <a:sym typeface="Arial"/>
              </a:rPr>
              <a:t>GASTROINTESTINAL</a:t>
            </a:r>
            <a:endParaRPr sz="2400" b="1" dirty="0">
              <a:solidFill>
                <a:schemeClr val="accent1"/>
              </a:solidFill>
              <a:latin typeface="Arial"/>
              <a:ea typeface="Arial"/>
              <a:cs typeface="Arial"/>
              <a:sym typeface="Arial"/>
            </a:endParaRPr>
          </a:p>
          <a:p>
            <a:pPr marL="0" lvl="0" indent="0" algn="l" rtl="0">
              <a:lnSpc>
                <a:spcPct val="115000"/>
              </a:lnSpc>
              <a:spcBef>
                <a:spcPts val="1000"/>
              </a:spcBef>
              <a:spcAft>
                <a:spcPts val="0"/>
              </a:spcAft>
              <a:buNone/>
            </a:pPr>
            <a:r>
              <a:rPr lang="en-US" sz="2400" b="1" dirty="0">
                <a:latin typeface="Arial"/>
                <a:ea typeface="Arial"/>
                <a:cs typeface="Arial"/>
                <a:sym typeface="Arial"/>
              </a:rPr>
              <a:t>Diarreas</a:t>
            </a:r>
            <a:endParaRPr sz="2400" b="1" dirty="0">
              <a:latin typeface="Arial"/>
              <a:ea typeface="Arial"/>
              <a:cs typeface="Arial"/>
              <a:sym typeface="Arial"/>
            </a:endParaRPr>
          </a:p>
          <a:p>
            <a:pPr marL="0" lvl="0" indent="0" algn="l" rtl="0">
              <a:lnSpc>
                <a:spcPct val="115000"/>
              </a:lnSpc>
              <a:spcBef>
                <a:spcPts val="1000"/>
              </a:spcBef>
              <a:spcAft>
                <a:spcPts val="0"/>
              </a:spcAft>
              <a:buNone/>
            </a:pPr>
            <a:endParaRPr sz="2400" b="1"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5"/>
          <p:cNvSpPr txBox="1"/>
          <p:nvPr/>
        </p:nvSpPr>
        <p:spPr>
          <a:xfrm>
            <a:off x="1009524" y="470125"/>
            <a:ext cx="10217275" cy="6945461"/>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000"/>
              </a:spcBef>
              <a:spcAft>
                <a:spcPts val="0"/>
              </a:spcAft>
              <a:buNone/>
            </a:pPr>
            <a:r>
              <a:rPr lang="en-US" sz="3200" b="1" dirty="0">
                <a:solidFill>
                  <a:schemeClr val="accent1"/>
                </a:solidFill>
              </a:rPr>
              <a:t>INTERACCIONES</a:t>
            </a:r>
            <a:endParaRPr sz="3200" b="1" dirty="0">
              <a:solidFill>
                <a:schemeClr val="accent1"/>
              </a:solidFill>
            </a:endParaRPr>
          </a:p>
          <a:p>
            <a:pPr marL="0" lvl="0" indent="0" algn="l" rtl="0">
              <a:lnSpc>
                <a:spcPct val="115000"/>
              </a:lnSpc>
              <a:spcBef>
                <a:spcPts val="1000"/>
              </a:spcBef>
              <a:spcAft>
                <a:spcPts val="0"/>
              </a:spcAft>
              <a:buNone/>
            </a:pPr>
            <a:endParaRPr sz="2400" b="1" u="sng" dirty="0">
              <a:solidFill>
                <a:schemeClr val="accent1"/>
              </a:solidFill>
            </a:endParaRPr>
          </a:p>
          <a:p>
            <a:pPr marL="0" lvl="0" indent="0" algn="l" rtl="0">
              <a:lnSpc>
                <a:spcPct val="150000"/>
              </a:lnSpc>
              <a:spcBef>
                <a:spcPts val="1000"/>
              </a:spcBef>
              <a:spcAft>
                <a:spcPts val="0"/>
              </a:spcAft>
              <a:buNone/>
            </a:pPr>
            <a:r>
              <a:rPr lang="en-US" sz="3200" b="1" dirty="0" smtClean="0">
                <a:solidFill>
                  <a:schemeClr val="accent1"/>
                </a:solidFill>
              </a:rPr>
              <a:t>Disminuye</a:t>
            </a:r>
            <a:r>
              <a:rPr lang="en-US" sz="3200" b="1" dirty="0">
                <a:solidFill>
                  <a:schemeClr val="accent1"/>
                </a:solidFill>
              </a:rPr>
              <a:t>	</a:t>
            </a:r>
            <a:r>
              <a:rPr lang="en-US" sz="2400" b="1" dirty="0">
                <a:solidFill>
                  <a:schemeClr val="accent1"/>
                </a:solidFill>
              </a:rPr>
              <a:t>			</a:t>
            </a:r>
            <a:r>
              <a:rPr lang="en-US" sz="3200" b="1" dirty="0" smtClean="0">
                <a:solidFill>
                  <a:schemeClr val="accent1"/>
                </a:solidFill>
              </a:rPr>
              <a:t>Aumenta</a:t>
            </a:r>
            <a:endParaRPr sz="3200" b="1" dirty="0">
              <a:solidFill>
                <a:schemeClr val="accent1"/>
              </a:solidFill>
            </a:endParaRPr>
          </a:p>
          <a:p>
            <a:pPr marL="0" lvl="0" indent="0" algn="l" rtl="0">
              <a:lnSpc>
                <a:spcPct val="150000"/>
              </a:lnSpc>
              <a:spcBef>
                <a:spcPts val="1000"/>
              </a:spcBef>
              <a:spcAft>
                <a:spcPts val="0"/>
              </a:spcAft>
              <a:buNone/>
            </a:pPr>
            <a:r>
              <a:rPr lang="en-US" sz="2400" b="1" dirty="0" smtClean="0">
                <a:solidFill>
                  <a:schemeClr val="lt1"/>
                </a:solidFill>
              </a:rPr>
              <a:t>Anticoagulantes </a:t>
            </a:r>
            <a:r>
              <a:rPr lang="en-US" sz="2400" b="1" dirty="0">
                <a:solidFill>
                  <a:schemeClr val="lt1"/>
                </a:solidFill>
              </a:rPr>
              <a:t>orales          		</a:t>
            </a:r>
            <a:r>
              <a:rPr lang="en-US" sz="2400" b="1" dirty="0" smtClean="0">
                <a:solidFill>
                  <a:schemeClr val="lt1"/>
                </a:solidFill>
              </a:rPr>
              <a:t>Andrógenos </a:t>
            </a:r>
            <a:endParaRPr sz="2400" b="1" dirty="0">
              <a:solidFill>
                <a:schemeClr val="lt1"/>
              </a:solidFill>
            </a:endParaRPr>
          </a:p>
          <a:p>
            <a:pPr marL="0" lvl="0" indent="0" algn="l" rtl="0">
              <a:lnSpc>
                <a:spcPct val="150000"/>
              </a:lnSpc>
              <a:spcBef>
                <a:spcPts val="1000"/>
              </a:spcBef>
              <a:spcAft>
                <a:spcPts val="0"/>
              </a:spcAft>
              <a:buNone/>
            </a:pPr>
            <a:r>
              <a:rPr lang="en-US" sz="2400" b="1" dirty="0" smtClean="0">
                <a:solidFill>
                  <a:schemeClr val="lt1"/>
                </a:solidFill>
              </a:rPr>
              <a:t>Glucósidos </a:t>
            </a:r>
            <a:r>
              <a:rPr lang="en-US" sz="2400" b="1" dirty="0">
                <a:solidFill>
                  <a:schemeClr val="lt1"/>
                </a:solidFill>
              </a:rPr>
              <a:t>cardiacos           		</a:t>
            </a:r>
            <a:r>
              <a:rPr lang="en-US" sz="2400" b="1" dirty="0" smtClean="0">
                <a:solidFill>
                  <a:schemeClr val="lt1"/>
                </a:solidFill>
              </a:rPr>
              <a:t>Salicilatos</a:t>
            </a:r>
            <a:endParaRPr sz="2400" b="1" dirty="0">
              <a:solidFill>
                <a:schemeClr val="lt1"/>
              </a:solidFill>
            </a:endParaRPr>
          </a:p>
          <a:p>
            <a:pPr marL="0" lvl="0" indent="0" algn="l" rtl="0">
              <a:lnSpc>
                <a:spcPct val="150000"/>
              </a:lnSpc>
              <a:spcBef>
                <a:spcPts val="1000"/>
              </a:spcBef>
              <a:spcAft>
                <a:spcPts val="0"/>
              </a:spcAft>
              <a:buNone/>
            </a:pPr>
            <a:r>
              <a:rPr lang="en-US" sz="2400" b="1" dirty="0">
                <a:solidFill>
                  <a:schemeClr val="lt1"/>
                </a:solidFill>
              </a:rPr>
              <a:t>                                                		</a:t>
            </a:r>
            <a:r>
              <a:rPr lang="en-US" sz="2400" b="1" dirty="0" smtClean="0">
                <a:solidFill>
                  <a:schemeClr val="lt1"/>
                </a:solidFill>
              </a:rPr>
              <a:t>Glucocorticoides</a:t>
            </a:r>
            <a:endParaRPr sz="2400" b="1" dirty="0">
              <a:solidFill>
                <a:schemeClr val="lt1"/>
              </a:solidFill>
            </a:endParaRPr>
          </a:p>
          <a:p>
            <a:pPr marL="0" lvl="0" indent="0" algn="l" rtl="0">
              <a:lnSpc>
                <a:spcPct val="150000"/>
              </a:lnSpc>
              <a:spcBef>
                <a:spcPts val="1000"/>
              </a:spcBef>
              <a:spcAft>
                <a:spcPts val="0"/>
              </a:spcAft>
              <a:buNone/>
            </a:pPr>
            <a:r>
              <a:rPr lang="en-US" sz="2400" b="1" dirty="0">
                <a:solidFill>
                  <a:schemeClr val="lt1"/>
                </a:solidFill>
              </a:rPr>
              <a:t>                                              		</a:t>
            </a:r>
            <a:r>
              <a:rPr lang="en-US" sz="2400" b="1" dirty="0" smtClean="0">
                <a:solidFill>
                  <a:schemeClr val="lt1"/>
                </a:solidFill>
              </a:rPr>
              <a:t>Difenilhidantoina</a:t>
            </a:r>
            <a:endParaRPr sz="2400" b="1" dirty="0">
              <a:solidFill>
                <a:schemeClr val="lt1"/>
              </a:solidFill>
            </a:endParaRPr>
          </a:p>
          <a:p>
            <a:pPr marL="0" lvl="0" indent="0" algn="l" rtl="0">
              <a:lnSpc>
                <a:spcPct val="150000"/>
              </a:lnSpc>
              <a:spcBef>
                <a:spcPts val="1000"/>
              </a:spcBef>
              <a:spcAft>
                <a:spcPts val="0"/>
              </a:spcAft>
              <a:buNone/>
            </a:pPr>
            <a:r>
              <a:rPr lang="en-US" sz="2400" b="1" dirty="0">
                <a:solidFill>
                  <a:schemeClr val="lt1"/>
                </a:solidFill>
              </a:rPr>
              <a:t>						</a:t>
            </a:r>
            <a:r>
              <a:rPr lang="en-US" sz="2400" b="1" dirty="0" smtClean="0">
                <a:solidFill>
                  <a:schemeClr val="lt1"/>
                </a:solidFill>
              </a:rPr>
              <a:t>Amiodarona</a:t>
            </a:r>
            <a:endParaRPr sz="2400" b="1" dirty="0">
              <a:solidFill>
                <a:schemeClr val="lt1"/>
              </a:solidFill>
            </a:endParaRPr>
          </a:p>
          <a:p>
            <a:pPr marL="0" lvl="0" indent="0" algn="l" rtl="0">
              <a:lnSpc>
                <a:spcPct val="150000"/>
              </a:lnSpc>
              <a:spcBef>
                <a:spcPts val="1000"/>
              </a:spcBef>
              <a:spcAft>
                <a:spcPts val="0"/>
              </a:spcAft>
              <a:buNone/>
            </a:pPr>
            <a:endParaRPr sz="2400" b="1" u="sng" dirty="0">
              <a:solidFill>
                <a:schemeClr val="accent1"/>
              </a:solidFill>
            </a:endParaRPr>
          </a:p>
          <a:p>
            <a:pPr marL="0" lvl="0" indent="0" algn="l" rtl="0">
              <a:lnSpc>
                <a:spcPct val="115000"/>
              </a:lnSpc>
              <a:spcBef>
                <a:spcPts val="1000"/>
              </a:spcBef>
              <a:spcAft>
                <a:spcPts val="0"/>
              </a:spcAft>
              <a:buNone/>
            </a:pPr>
            <a:endParaRPr sz="2400" dirty="0">
              <a:solidFill>
                <a:schemeClr val="accent1"/>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endParaRPr lang="es-AR" dirty="0"/>
          </a:p>
        </p:txBody>
      </p:sp>
      <p:sp>
        <p:nvSpPr>
          <p:cNvPr id="5" name="Marcador de texto 4"/>
          <p:cNvSpPr>
            <a:spLocks noGrp="1"/>
          </p:cNvSpPr>
          <p:nvPr>
            <p:ph type="body" idx="1"/>
          </p:nvPr>
        </p:nvSpPr>
        <p:spPr>
          <a:xfrm>
            <a:off x="772160" y="2753360"/>
            <a:ext cx="10861040" cy="3495039"/>
          </a:xfrm>
        </p:spPr>
        <p:txBody>
          <a:bodyPr>
            <a:normAutofit/>
          </a:bodyPr>
          <a:lstStyle/>
          <a:p>
            <a:pPr lvl="0">
              <a:buClr>
                <a:srgbClr val="AA2B1E"/>
              </a:buClr>
              <a:buFont typeface="Arial" pitchFamily="34" charset="0"/>
              <a:buChar char="•"/>
            </a:pPr>
            <a:r>
              <a:rPr lang="es-ES" sz="3600" b="1" dirty="0">
                <a:solidFill>
                  <a:schemeClr val="bg1"/>
                </a:solidFill>
                <a:latin typeface="Arial" pitchFamily="34" charset="0"/>
                <a:cs typeface="Arial" pitchFamily="34" charset="0"/>
              </a:rPr>
              <a:t>Disminución </a:t>
            </a:r>
            <a:r>
              <a:rPr lang="es-ES" sz="3600" b="1" dirty="0" smtClean="0">
                <a:solidFill>
                  <a:schemeClr val="bg1"/>
                </a:solidFill>
                <a:latin typeface="Arial" pitchFamily="34" charset="0"/>
                <a:cs typeface="Arial" pitchFamily="34" charset="0"/>
              </a:rPr>
              <a:t>de la </a:t>
            </a:r>
            <a:r>
              <a:rPr lang="es-ES" sz="3600" b="1" dirty="0">
                <a:solidFill>
                  <a:schemeClr val="bg1"/>
                </a:solidFill>
                <a:latin typeface="Arial" pitchFamily="34" charset="0"/>
                <a:cs typeface="Arial" pitchFamily="34" charset="0"/>
              </a:rPr>
              <a:t>función adrenal </a:t>
            </a:r>
            <a:r>
              <a:rPr lang="es-ES" sz="3600" b="1" dirty="0">
                <a:solidFill>
                  <a:srgbClr val="FF0000"/>
                </a:solidFill>
                <a:latin typeface="Arial" pitchFamily="34" charset="0"/>
                <a:cs typeface="Arial" pitchFamily="34" charset="0"/>
              </a:rPr>
              <a:t>(cuidado con reemplazo LT4 en Addison</a:t>
            </a:r>
            <a:r>
              <a:rPr lang="es-ES" sz="3600" b="1" dirty="0" smtClean="0">
                <a:solidFill>
                  <a:srgbClr val="FF0000"/>
                </a:solidFill>
                <a:latin typeface="Arial" pitchFamily="34" charset="0"/>
                <a:cs typeface="Arial" pitchFamily="34" charset="0"/>
              </a:rPr>
              <a:t>) !!!</a:t>
            </a:r>
            <a:endParaRPr lang="es-ES" sz="36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150015618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2"/>
          <p:cNvSpPr txBox="1">
            <a:spLocks noGrp="1"/>
          </p:cNvSpPr>
          <p:nvPr>
            <p:ph type="title"/>
          </p:nvPr>
        </p:nvSpPr>
        <p:spPr>
          <a:xfrm>
            <a:off x="838200" y="365126"/>
            <a:ext cx="10515600" cy="83552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2"/>
              </a:buClr>
              <a:buSzPts val="3200"/>
              <a:buFont typeface="Arial"/>
              <a:buNone/>
            </a:pPr>
            <a:r>
              <a:rPr lang="en-US" sz="3600" b="1" dirty="0">
                <a:solidFill>
                  <a:schemeClr val="accent1"/>
                </a:solidFill>
                <a:latin typeface="Arial"/>
                <a:ea typeface="Arial"/>
                <a:cs typeface="Arial"/>
                <a:sym typeface="Arial"/>
              </a:rPr>
              <a:t>COMA MIXEDEMATOSO</a:t>
            </a:r>
            <a:endParaRPr sz="3600" dirty="0">
              <a:solidFill>
                <a:schemeClr val="accent1"/>
              </a:solidFill>
            </a:endParaRPr>
          </a:p>
        </p:txBody>
      </p:sp>
      <p:sp>
        <p:nvSpPr>
          <p:cNvPr id="318" name="Google Shape;318;p32"/>
          <p:cNvSpPr txBox="1">
            <a:spLocks noGrp="1"/>
          </p:cNvSpPr>
          <p:nvPr>
            <p:ph type="title" idx="4294967295"/>
          </p:nvPr>
        </p:nvSpPr>
        <p:spPr>
          <a:xfrm>
            <a:off x="543696" y="1390650"/>
            <a:ext cx="11252887" cy="4821238"/>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lt2"/>
              </a:buClr>
              <a:buSzPct val="100000"/>
              <a:buFont typeface="Arial"/>
              <a:buNone/>
            </a:pPr>
            <a:r>
              <a:rPr lang="en-US" sz="3600" b="1" dirty="0">
                <a:solidFill>
                  <a:srgbClr val="FF0000"/>
                </a:solidFill>
                <a:latin typeface="Arial"/>
                <a:ea typeface="Arial"/>
                <a:cs typeface="Arial"/>
                <a:sym typeface="Arial"/>
              </a:rPr>
              <a:t>RIESGO VIDA</a:t>
            </a:r>
            <a:endParaRPr sz="3600" b="1" dirty="0">
              <a:solidFill>
                <a:srgbClr val="FF0000"/>
              </a:solidFill>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a:latin typeface="Arial"/>
                <a:ea typeface="Arial"/>
                <a:cs typeface="Arial"/>
                <a:sym typeface="Arial"/>
              </a:rPr>
              <a:t>Profunda letargia o coma + hipotermia</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Hipotiroidismo</a:t>
            </a:r>
            <a:r>
              <a:rPr lang="en-US" sz="3200" b="1" dirty="0" smtClean="0">
                <a:latin typeface="Arial"/>
                <a:ea typeface="Arial"/>
                <a:cs typeface="Arial"/>
                <a:sym typeface="Arial"/>
              </a:rPr>
              <a:t> </a:t>
            </a:r>
            <a:r>
              <a:rPr lang="en-US" sz="3200" b="1" dirty="0">
                <a:latin typeface="Arial"/>
                <a:ea typeface="Arial"/>
                <a:cs typeface="Arial"/>
                <a:sym typeface="Arial"/>
              </a:rPr>
              <a:t>descompensado por:</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Infecciones</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Frío</a:t>
            </a:r>
            <a:r>
              <a:rPr lang="en-US" sz="3200" b="1" dirty="0" smtClean="0">
                <a:latin typeface="Arial"/>
                <a:ea typeface="Arial"/>
                <a:cs typeface="Arial"/>
                <a:sym typeface="Arial"/>
              </a:rPr>
              <a:t> </a:t>
            </a:r>
            <a:r>
              <a:rPr lang="en-US" sz="3200" b="1" dirty="0">
                <a:latin typeface="Arial"/>
                <a:ea typeface="Arial"/>
                <a:cs typeface="Arial"/>
                <a:sym typeface="Arial"/>
              </a:rPr>
              <a:t>intenso</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Depresores</a:t>
            </a:r>
            <a:r>
              <a:rPr lang="en-US" sz="3200" b="1" dirty="0" smtClean="0">
                <a:latin typeface="Arial"/>
                <a:ea typeface="Arial"/>
                <a:cs typeface="Arial"/>
                <a:sym typeface="Arial"/>
              </a:rPr>
              <a:t> </a:t>
            </a:r>
            <a:r>
              <a:rPr lang="en-US" sz="3200" b="1" dirty="0">
                <a:latin typeface="Arial"/>
                <a:ea typeface="Arial"/>
                <a:cs typeface="Arial"/>
                <a:sym typeface="Arial"/>
              </a:rPr>
              <a:t>del SNC</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r>
              <a:rPr lang="en-US" sz="3200" b="1" dirty="0" err="1" smtClean="0">
                <a:latin typeface="Arial"/>
                <a:ea typeface="Arial"/>
                <a:cs typeface="Arial"/>
                <a:sym typeface="Arial"/>
              </a:rPr>
              <a:t>Cirugías</a:t>
            </a:r>
            <a:r>
              <a:rPr lang="en-US" sz="3200" b="1" dirty="0" smtClean="0">
                <a:latin typeface="Arial"/>
                <a:ea typeface="Arial"/>
                <a:cs typeface="Arial"/>
                <a:sym typeface="Arial"/>
              </a:rPr>
              <a:t> </a:t>
            </a:r>
            <a:r>
              <a:rPr lang="en-US" sz="3200" b="1" dirty="0">
                <a:latin typeface="Arial"/>
                <a:ea typeface="Arial"/>
                <a:cs typeface="Arial"/>
                <a:sym typeface="Arial"/>
              </a:rPr>
              <a:t>o traumatismos</a:t>
            </a:r>
            <a:endParaRPr sz="3200" b="1" dirty="0">
              <a:latin typeface="Arial"/>
              <a:ea typeface="Arial"/>
              <a:cs typeface="Arial"/>
              <a:sym typeface="Arial"/>
            </a:endParaRPr>
          </a:p>
          <a:p>
            <a:pPr marL="0" lvl="0" indent="0" algn="l" rtl="0">
              <a:lnSpc>
                <a:spcPct val="115000"/>
              </a:lnSpc>
              <a:spcBef>
                <a:spcPts val="0"/>
              </a:spcBef>
              <a:spcAft>
                <a:spcPts val="0"/>
              </a:spcAft>
              <a:buClr>
                <a:schemeClr val="lt2"/>
              </a:buClr>
              <a:buSzPct val="100000"/>
              <a:buFont typeface="Arial"/>
              <a:buNone/>
            </a:pPr>
            <a:endParaRPr sz="3200" dirty="0">
              <a:latin typeface="Arial"/>
              <a:ea typeface="Arial"/>
              <a:cs typeface="Arial"/>
              <a:sym typeface="Arial"/>
            </a:endParaRP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8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972428"/>
          </a:xfrm>
        </p:spPr>
        <p:txBody>
          <a:bodyPr/>
          <a:lstStyle/>
          <a:p>
            <a:pPr algn="ctr"/>
            <a:r>
              <a:rPr lang="es-MX" sz="3600" b="1" dirty="0" smtClean="0">
                <a:solidFill>
                  <a:schemeClr val="accent1"/>
                </a:solidFill>
                <a:latin typeface="+mj-lt"/>
              </a:rPr>
              <a:t>COMA MIXEDEMATOSO</a:t>
            </a:r>
            <a:endParaRPr lang="es-AR" sz="3600" b="1" dirty="0">
              <a:solidFill>
                <a:schemeClr val="accent1"/>
              </a:solidFill>
              <a:latin typeface="+mj-lt"/>
            </a:endParaRPr>
          </a:p>
        </p:txBody>
      </p:sp>
      <p:sp>
        <p:nvSpPr>
          <p:cNvPr id="5" name="Marcador de texto 4"/>
          <p:cNvSpPr>
            <a:spLocks noGrp="1"/>
          </p:cNvSpPr>
          <p:nvPr>
            <p:ph type="body" idx="1"/>
          </p:nvPr>
        </p:nvSpPr>
        <p:spPr>
          <a:xfrm>
            <a:off x="815546" y="1853248"/>
            <a:ext cx="10305535" cy="4395151"/>
          </a:xfrm>
        </p:spPr>
        <p:txBody>
          <a:bodyPr/>
          <a:lstStyle/>
          <a:p>
            <a:pPr marL="137160" indent="0">
              <a:lnSpc>
                <a:spcPct val="150000"/>
              </a:lnSpc>
              <a:buNone/>
            </a:pPr>
            <a:r>
              <a:rPr lang="es-MX" sz="2400" b="1" dirty="0" smtClean="0">
                <a:latin typeface="+mj-lt"/>
              </a:rPr>
              <a:t>Complicación Grave del Hipotiroidismo.</a:t>
            </a:r>
          </a:p>
          <a:p>
            <a:pPr marL="137160" indent="0">
              <a:lnSpc>
                <a:spcPct val="150000"/>
              </a:lnSpc>
              <a:buNone/>
            </a:pPr>
            <a:r>
              <a:rPr lang="es-MX" sz="2400" b="1" dirty="0" smtClean="0">
                <a:latin typeface="+mj-lt"/>
              </a:rPr>
              <a:t>Es </a:t>
            </a:r>
            <a:r>
              <a:rPr lang="es-MX" sz="2400" b="1" dirty="0">
                <a:latin typeface="+mj-lt"/>
              </a:rPr>
              <a:t>la fase final y grave del hipotiroidismo prolongado. </a:t>
            </a:r>
            <a:endParaRPr lang="es-MX" sz="2400" b="1" dirty="0" smtClean="0">
              <a:latin typeface="+mj-lt"/>
            </a:endParaRPr>
          </a:p>
          <a:p>
            <a:pPr marL="137160" indent="0">
              <a:lnSpc>
                <a:spcPct val="150000"/>
              </a:lnSpc>
              <a:buNone/>
            </a:pPr>
            <a:r>
              <a:rPr lang="es-MX" sz="2400" b="1" dirty="0" smtClean="0">
                <a:latin typeface="+mj-lt"/>
              </a:rPr>
              <a:t>Afecta </a:t>
            </a:r>
            <a:r>
              <a:rPr lang="es-MX" sz="2400" b="1" dirty="0">
                <a:latin typeface="+mj-lt"/>
              </a:rPr>
              <a:t>principalmente a pacientes de edad </a:t>
            </a:r>
            <a:r>
              <a:rPr lang="es-MX" sz="2400" b="1" dirty="0" smtClean="0">
                <a:latin typeface="+mj-lt"/>
              </a:rPr>
              <a:t>avanzada.</a:t>
            </a:r>
          </a:p>
          <a:p>
            <a:pPr marL="137160" indent="0">
              <a:lnSpc>
                <a:spcPct val="150000"/>
              </a:lnSpc>
              <a:buNone/>
            </a:pPr>
            <a:r>
              <a:rPr lang="es-MX" sz="2400" b="1" dirty="0" smtClean="0">
                <a:latin typeface="+mj-lt"/>
              </a:rPr>
              <a:t>Ocurre a menudo </a:t>
            </a:r>
            <a:r>
              <a:rPr lang="es-MX" sz="2400" b="1" dirty="0">
                <a:latin typeface="+mj-lt"/>
              </a:rPr>
              <a:t>durante los meses de </a:t>
            </a:r>
            <a:r>
              <a:rPr lang="es-MX" sz="2400" b="1" dirty="0" smtClean="0">
                <a:latin typeface="+mj-lt"/>
              </a:rPr>
              <a:t>invierno.</a:t>
            </a:r>
          </a:p>
          <a:p>
            <a:pPr marL="137160" indent="0">
              <a:lnSpc>
                <a:spcPct val="150000"/>
              </a:lnSpc>
              <a:buNone/>
            </a:pPr>
            <a:r>
              <a:rPr lang="es-MX" sz="3200" b="1" dirty="0" smtClean="0">
                <a:solidFill>
                  <a:srgbClr val="FF0000"/>
                </a:solidFill>
                <a:latin typeface="+mj-lt"/>
              </a:rPr>
              <a:t>TIENE UNA ALTA TASA DE MORTALIDAD.</a:t>
            </a:r>
            <a:endParaRPr lang="es-AR" sz="3200" b="1" dirty="0">
              <a:solidFill>
                <a:srgbClr val="FF0000"/>
              </a:solidFill>
              <a:latin typeface="+mj-lt"/>
            </a:endParaRPr>
          </a:p>
        </p:txBody>
      </p:sp>
    </p:spTree>
    <p:extLst>
      <p:ext uri="{BB962C8B-B14F-4D97-AF65-F5344CB8AC3E}">
        <p14:creationId xmlns:p14="http://schemas.microsoft.com/office/powerpoint/2010/main" val="39320391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955952"/>
          </a:xfrm>
        </p:spPr>
        <p:txBody>
          <a:bodyPr/>
          <a:lstStyle/>
          <a:p>
            <a:pPr algn="ctr"/>
            <a:r>
              <a:rPr lang="es-MX" sz="3600" b="1" dirty="0" smtClean="0">
                <a:solidFill>
                  <a:schemeClr val="accent1"/>
                </a:solidFill>
                <a:latin typeface="+mj-lt"/>
              </a:rPr>
              <a:t>SÍNTOMAS Y CARACTERÍSTICAS</a:t>
            </a:r>
            <a:endParaRPr lang="es-AR" sz="3600" b="1" dirty="0">
              <a:solidFill>
                <a:schemeClr val="accent1"/>
              </a:solidFill>
              <a:latin typeface="+mj-lt"/>
            </a:endParaRPr>
          </a:p>
        </p:txBody>
      </p:sp>
      <p:sp>
        <p:nvSpPr>
          <p:cNvPr id="5" name="Marcador de texto 4"/>
          <p:cNvSpPr>
            <a:spLocks noGrp="1"/>
          </p:cNvSpPr>
          <p:nvPr>
            <p:ph type="body" idx="1"/>
          </p:nvPr>
        </p:nvSpPr>
        <p:spPr>
          <a:xfrm>
            <a:off x="646111" y="1408670"/>
            <a:ext cx="10030127" cy="4839729"/>
          </a:xfrm>
        </p:spPr>
        <p:txBody>
          <a:bodyPr/>
          <a:lstStyle/>
          <a:p>
            <a:pPr marL="137160" indent="0">
              <a:buNone/>
            </a:pPr>
            <a:endParaRPr lang="es-MX" dirty="0"/>
          </a:p>
          <a:p>
            <a:pPr marL="137160" indent="0">
              <a:lnSpc>
                <a:spcPct val="150000"/>
              </a:lnSpc>
              <a:buNone/>
            </a:pPr>
            <a:r>
              <a:rPr lang="es-MX" sz="2400" b="1" dirty="0">
                <a:latin typeface="+mj-lt"/>
              </a:rPr>
              <a:t>Hipotermia </a:t>
            </a:r>
            <a:r>
              <a:rPr lang="es-MX" sz="2400" b="1" dirty="0" smtClean="0">
                <a:latin typeface="+mj-lt"/>
              </a:rPr>
              <a:t>extrema</a:t>
            </a:r>
            <a:r>
              <a:rPr lang="es-MX" sz="2400" b="1" dirty="0">
                <a:latin typeface="+mj-lt"/>
              </a:rPr>
              <a:t>.</a:t>
            </a:r>
          </a:p>
          <a:p>
            <a:pPr marL="137160" indent="0">
              <a:lnSpc>
                <a:spcPct val="150000"/>
              </a:lnSpc>
              <a:buNone/>
            </a:pPr>
            <a:r>
              <a:rPr lang="es-MX" sz="2400" b="1" dirty="0">
                <a:latin typeface="+mj-lt"/>
              </a:rPr>
              <a:t>Bradicardia e hipotensión graves.</a:t>
            </a:r>
          </a:p>
          <a:p>
            <a:pPr marL="137160" indent="0">
              <a:lnSpc>
                <a:spcPct val="150000"/>
              </a:lnSpc>
              <a:buNone/>
            </a:pPr>
            <a:r>
              <a:rPr lang="es-MX" sz="2400" b="1" dirty="0">
                <a:latin typeface="+mj-lt"/>
              </a:rPr>
              <a:t>Retraso de los reflejos tendinosos profundos.</a:t>
            </a:r>
          </a:p>
          <a:p>
            <a:pPr marL="137160" indent="0">
              <a:lnSpc>
                <a:spcPct val="150000"/>
              </a:lnSpc>
              <a:buNone/>
            </a:pPr>
            <a:r>
              <a:rPr lang="es-MX" sz="2400" b="1" dirty="0">
                <a:latin typeface="+mj-lt"/>
              </a:rPr>
              <a:t>Posibles convulsiones.</a:t>
            </a:r>
          </a:p>
          <a:p>
            <a:pPr marL="137160" indent="0">
              <a:lnSpc>
                <a:spcPct val="150000"/>
              </a:lnSpc>
              <a:buNone/>
            </a:pPr>
            <a:r>
              <a:rPr lang="es-MX" sz="2400" b="1" dirty="0">
                <a:latin typeface="+mj-lt"/>
              </a:rPr>
              <a:t>Asociado a factores como exposición al frío, infección y uso de ciertos medicamentos.</a:t>
            </a:r>
            <a:endParaRPr lang="es-AR" sz="2400" b="1" dirty="0">
              <a:latin typeface="+mj-lt"/>
            </a:endParaRPr>
          </a:p>
        </p:txBody>
      </p:sp>
    </p:spTree>
    <p:extLst>
      <p:ext uri="{BB962C8B-B14F-4D97-AF65-F5344CB8AC3E}">
        <p14:creationId xmlns:p14="http://schemas.microsoft.com/office/powerpoint/2010/main" val="32488746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947714"/>
          </a:xfrm>
        </p:spPr>
        <p:txBody>
          <a:bodyPr/>
          <a:lstStyle/>
          <a:p>
            <a:pPr algn="ctr"/>
            <a:r>
              <a:rPr lang="es-MX" sz="3600" b="1" dirty="0" smtClean="0">
                <a:solidFill>
                  <a:schemeClr val="accent1"/>
                </a:solidFill>
                <a:latin typeface="+mj-lt"/>
              </a:rPr>
              <a:t>DIAGNÓSTICO</a:t>
            </a:r>
            <a:endParaRPr lang="es-AR" sz="3600" b="1" dirty="0">
              <a:solidFill>
                <a:schemeClr val="accent1"/>
              </a:solidFill>
              <a:latin typeface="+mj-lt"/>
            </a:endParaRPr>
          </a:p>
        </p:txBody>
      </p:sp>
      <p:sp>
        <p:nvSpPr>
          <p:cNvPr id="5" name="Marcador de texto 4"/>
          <p:cNvSpPr>
            <a:spLocks noGrp="1"/>
          </p:cNvSpPr>
          <p:nvPr>
            <p:ph type="body" idx="1"/>
          </p:nvPr>
        </p:nvSpPr>
        <p:spPr>
          <a:xfrm>
            <a:off x="864973" y="1729946"/>
            <a:ext cx="9918357" cy="4518454"/>
          </a:xfrm>
        </p:spPr>
        <p:txBody>
          <a:bodyPr/>
          <a:lstStyle/>
          <a:p>
            <a:pPr marL="594360" lvl="1" indent="0">
              <a:buNone/>
            </a:pPr>
            <a:endParaRPr lang="es-MX" sz="2400" b="1" dirty="0">
              <a:latin typeface="+mj-lt"/>
            </a:endParaRPr>
          </a:p>
          <a:p>
            <a:pPr marL="594360" lvl="1" indent="0">
              <a:lnSpc>
                <a:spcPct val="150000"/>
              </a:lnSpc>
              <a:buNone/>
            </a:pPr>
            <a:r>
              <a:rPr lang="es-MX" sz="2400" b="1" dirty="0">
                <a:latin typeface="+mj-lt"/>
              </a:rPr>
              <a:t>Importancia de diagnóstico rápido para mejorar el pronóstico.</a:t>
            </a:r>
          </a:p>
          <a:p>
            <a:pPr marL="594360" lvl="1" indent="0">
              <a:lnSpc>
                <a:spcPct val="150000"/>
              </a:lnSpc>
              <a:buNone/>
            </a:pPr>
            <a:r>
              <a:rPr lang="es-MX" sz="2400" b="1" dirty="0">
                <a:latin typeface="+mj-lt"/>
              </a:rPr>
              <a:t>Medición de T4L y TSH séricas.</a:t>
            </a:r>
          </a:p>
          <a:p>
            <a:pPr marL="594360" lvl="1" indent="0">
              <a:lnSpc>
                <a:spcPct val="150000"/>
              </a:lnSpc>
              <a:buNone/>
            </a:pPr>
            <a:r>
              <a:rPr lang="es-MX" sz="3200" b="1" dirty="0">
                <a:solidFill>
                  <a:srgbClr val="FF0000"/>
                </a:solidFill>
                <a:latin typeface="+mj-lt"/>
              </a:rPr>
              <a:t>Tratamiento debe iniciarse sin esperar resultados de confirmación.</a:t>
            </a:r>
          </a:p>
          <a:p>
            <a:pPr marL="137160" indent="0">
              <a:lnSpc>
                <a:spcPct val="150000"/>
              </a:lnSpc>
              <a:buNone/>
            </a:pPr>
            <a:endParaRPr lang="es-AR" sz="2400" b="1" dirty="0">
              <a:latin typeface="+mj-lt"/>
            </a:endParaRPr>
          </a:p>
        </p:txBody>
      </p:sp>
    </p:spTree>
    <p:extLst>
      <p:ext uri="{BB962C8B-B14F-4D97-AF65-F5344CB8AC3E}">
        <p14:creationId xmlns:p14="http://schemas.microsoft.com/office/powerpoint/2010/main" val="130371232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452718"/>
            <a:ext cx="9404723" cy="972428"/>
          </a:xfrm>
        </p:spPr>
        <p:txBody>
          <a:bodyPr/>
          <a:lstStyle/>
          <a:p>
            <a:pPr algn="ctr"/>
            <a:r>
              <a:rPr lang="es-AR" sz="3600" b="1" dirty="0" smtClean="0">
                <a:solidFill>
                  <a:schemeClr val="accent1"/>
                </a:solidFill>
                <a:latin typeface="Arial" panose="020B0604020202020204" pitchFamily="34" charset="0"/>
                <a:cs typeface="Arial" panose="020B0604020202020204" pitchFamily="34" charset="0"/>
              </a:rPr>
              <a:t>TRATAMIENTO</a:t>
            </a:r>
            <a:endParaRPr lang="es-AR" sz="3600" b="1" dirty="0">
              <a:solidFill>
                <a:schemeClr val="accent1"/>
              </a:solidFill>
              <a:latin typeface="Arial" panose="020B0604020202020204" pitchFamily="34" charset="0"/>
              <a:cs typeface="Arial" panose="020B0604020202020204" pitchFamily="34" charset="0"/>
            </a:endParaRPr>
          </a:p>
        </p:txBody>
      </p:sp>
      <p:sp>
        <p:nvSpPr>
          <p:cNvPr id="5" name="Marcador de texto 4"/>
          <p:cNvSpPr>
            <a:spLocks noGrp="1"/>
          </p:cNvSpPr>
          <p:nvPr>
            <p:ph type="body" idx="1"/>
          </p:nvPr>
        </p:nvSpPr>
        <p:spPr>
          <a:xfrm>
            <a:off x="1103312" y="1334530"/>
            <a:ext cx="8946541" cy="4913869"/>
          </a:xfrm>
        </p:spPr>
        <p:txBody>
          <a:bodyPr/>
          <a:lstStyle/>
          <a:p>
            <a:pPr marL="137160" indent="0">
              <a:buNone/>
            </a:pPr>
            <a:endParaRPr lang="es-MX" dirty="0"/>
          </a:p>
          <a:p>
            <a:pPr marL="137160" indent="0">
              <a:lnSpc>
                <a:spcPct val="150000"/>
              </a:lnSpc>
              <a:buNone/>
            </a:pPr>
            <a:r>
              <a:rPr lang="es-MX" sz="2400" b="1" dirty="0">
                <a:latin typeface="+mj-lt"/>
              </a:rPr>
              <a:t>Administración de hormona tiroidea.</a:t>
            </a:r>
          </a:p>
          <a:p>
            <a:pPr marL="137160" indent="0">
              <a:lnSpc>
                <a:spcPct val="150000"/>
              </a:lnSpc>
              <a:buNone/>
            </a:pPr>
            <a:r>
              <a:rPr lang="es-MX" sz="2400" b="1" dirty="0">
                <a:latin typeface="+mj-lt"/>
              </a:rPr>
              <a:t>Preferencia por vía intravenosa debido a absorción impredecible.</a:t>
            </a:r>
          </a:p>
          <a:p>
            <a:pPr marL="137160" indent="0">
              <a:lnSpc>
                <a:spcPct val="150000"/>
              </a:lnSpc>
              <a:buNone/>
            </a:pPr>
            <a:r>
              <a:rPr lang="es-MX" sz="2400" b="1" dirty="0">
                <a:latin typeface="+mj-lt"/>
              </a:rPr>
              <a:t>Dosis inicial de levotiroxina intravenosa: 500-800 </a:t>
            </a:r>
            <a:r>
              <a:rPr lang="es-MX" sz="2400" b="1" dirty="0" err="1">
                <a:latin typeface="+mj-lt"/>
              </a:rPr>
              <a:t>μg</a:t>
            </a:r>
            <a:r>
              <a:rPr lang="es-MX" sz="2400" b="1" dirty="0">
                <a:latin typeface="+mj-lt"/>
              </a:rPr>
              <a:t>.</a:t>
            </a:r>
          </a:p>
          <a:p>
            <a:pPr marL="137160" indent="0">
              <a:lnSpc>
                <a:spcPct val="150000"/>
              </a:lnSpc>
              <a:buNone/>
            </a:pPr>
            <a:r>
              <a:rPr lang="es-MX" sz="2400" b="1" dirty="0">
                <a:latin typeface="+mj-lt"/>
              </a:rPr>
              <a:t>Administración de hidrocortisona ante posible insuficiencia corticosuprarrenal.</a:t>
            </a:r>
            <a:endParaRPr lang="es-AR" sz="2400" b="1" dirty="0">
              <a:latin typeface="+mj-lt"/>
            </a:endParaRPr>
          </a:p>
        </p:txBody>
      </p:sp>
    </p:spTree>
    <p:extLst>
      <p:ext uri="{BB962C8B-B14F-4D97-AF65-F5344CB8AC3E}">
        <p14:creationId xmlns:p14="http://schemas.microsoft.com/office/powerpoint/2010/main" val="159865589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pPr algn="ctr"/>
            <a:r>
              <a:rPr lang="es-MX" sz="3600" b="1" dirty="0" smtClean="0">
                <a:solidFill>
                  <a:schemeClr val="accent1"/>
                </a:solidFill>
                <a:latin typeface="+mj-lt"/>
              </a:rPr>
              <a:t>MEDIDAS DE APOYO Y CONSIDERACIONES ADICIONALES</a:t>
            </a:r>
            <a:br>
              <a:rPr lang="es-MX" sz="3600" b="1" dirty="0" smtClean="0">
                <a:solidFill>
                  <a:schemeClr val="accent1"/>
                </a:solidFill>
                <a:latin typeface="+mj-lt"/>
              </a:rPr>
            </a:br>
            <a:endParaRPr lang="es-AR" sz="3600" b="1" dirty="0">
              <a:solidFill>
                <a:schemeClr val="accent1"/>
              </a:solidFill>
              <a:latin typeface="+mj-lt"/>
            </a:endParaRPr>
          </a:p>
        </p:txBody>
      </p:sp>
      <p:sp>
        <p:nvSpPr>
          <p:cNvPr id="5" name="Marcador de texto 4"/>
          <p:cNvSpPr>
            <a:spLocks noGrp="1"/>
          </p:cNvSpPr>
          <p:nvPr>
            <p:ph type="body" idx="1"/>
          </p:nvPr>
        </p:nvSpPr>
        <p:spPr>
          <a:xfrm>
            <a:off x="757882" y="2052918"/>
            <a:ext cx="10437340" cy="4512639"/>
          </a:xfrm>
        </p:spPr>
        <p:txBody>
          <a:bodyPr>
            <a:normAutofit/>
          </a:bodyPr>
          <a:lstStyle/>
          <a:p>
            <a:pPr marL="137160" indent="0">
              <a:buNone/>
            </a:pPr>
            <a:endParaRPr lang="es-MX" dirty="0"/>
          </a:p>
          <a:p>
            <a:pPr marL="137160" indent="0">
              <a:lnSpc>
                <a:spcPct val="150000"/>
              </a:lnSpc>
              <a:buNone/>
            </a:pPr>
            <a:r>
              <a:rPr lang="es-MX" sz="2400" b="1" dirty="0">
                <a:latin typeface="Arial" panose="020B0604020202020204" pitchFamily="34" charset="0"/>
                <a:cs typeface="Arial" panose="020B0604020202020204" pitchFamily="34" charset="0"/>
              </a:rPr>
              <a:t>S</a:t>
            </a:r>
            <a:r>
              <a:rPr lang="es-MX" sz="2400" b="1" dirty="0" smtClean="0">
                <a:latin typeface="Arial" panose="020B0604020202020204" pitchFamily="34" charset="0"/>
                <a:cs typeface="Arial" panose="020B0604020202020204" pitchFamily="34" charset="0"/>
              </a:rPr>
              <a:t>oporte </a:t>
            </a:r>
            <a:r>
              <a:rPr lang="es-MX" sz="2400" b="1" dirty="0">
                <a:latin typeface="Arial" panose="020B0604020202020204" pitchFamily="34" charset="0"/>
                <a:cs typeface="Arial" panose="020B0604020202020204" pitchFamily="34" charset="0"/>
              </a:rPr>
              <a:t>respiratorio y administración de oxígeno.</a:t>
            </a:r>
          </a:p>
          <a:p>
            <a:pPr marL="137160" indent="0">
              <a:lnSpc>
                <a:spcPct val="150000"/>
              </a:lnSpc>
              <a:buNone/>
            </a:pPr>
            <a:r>
              <a:rPr lang="es-MX" sz="2400" b="1" dirty="0">
                <a:latin typeface="Arial" panose="020B0604020202020204" pitchFamily="34" charset="0"/>
                <a:cs typeface="Arial" panose="020B0604020202020204" pitchFamily="34" charset="0"/>
              </a:rPr>
              <a:t>Evitar calentamiento externo, considerar perfusión gástrica.</a:t>
            </a:r>
          </a:p>
          <a:p>
            <a:pPr marL="137160" indent="0">
              <a:lnSpc>
                <a:spcPct val="150000"/>
              </a:lnSpc>
              <a:buNone/>
            </a:pPr>
            <a:r>
              <a:rPr lang="es-MX" sz="2400" b="1" dirty="0">
                <a:latin typeface="Arial" panose="020B0604020202020204" pitchFamily="34" charset="0"/>
                <a:cs typeface="Arial" panose="020B0604020202020204" pitchFamily="34" charset="0"/>
              </a:rPr>
              <a:t>Prevención de complicaciones comunes en pacientes comatosos.</a:t>
            </a:r>
          </a:p>
          <a:p>
            <a:pPr marL="137160" indent="0">
              <a:lnSpc>
                <a:spcPct val="150000"/>
              </a:lnSpc>
              <a:buNone/>
            </a:pPr>
            <a:r>
              <a:rPr lang="es-MX" sz="2400" b="1" dirty="0">
                <a:latin typeface="Arial" panose="020B0604020202020204" pitchFamily="34" charset="0"/>
                <a:cs typeface="Arial" panose="020B0604020202020204" pitchFamily="34" charset="0"/>
              </a:rPr>
              <a:t>Valoración y tratamiento de enfermedades concomitantes</a:t>
            </a:r>
            <a:r>
              <a:rPr lang="es-MX" dirty="0"/>
              <a:t>.</a:t>
            </a:r>
            <a:endParaRPr lang="es-AR" dirty="0"/>
          </a:p>
        </p:txBody>
      </p:sp>
    </p:spTree>
    <p:extLst>
      <p:ext uri="{BB962C8B-B14F-4D97-AF65-F5344CB8AC3E}">
        <p14:creationId xmlns:p14="http://schemas.microsoft.com/office/powerpoint/2010/main" val="3727724210"/>
      </p:ext>
    </p:extLst>
  </p:cSld>
  <p:clrMapOvr>
    <a:masterClrMapping/>
  </p:clrMapOvr>
  <p:timing>
    <p:tnLst>
      <p:par>
        <p:cTn id="1" dur="indefinite" restart="never" nodeType="tmRoot"/>
      </p:par>
    </p:tnLst>
  </p:timing>
</p:sld>
</file>

<file path=ppt/theme/theme1.xml><?xml version="1.0" encoding="utf-8"?>
<a:theme xmlns:a="http://schemas.openxmlformats.org/drawingml/2006/main" name="Ion">
  <a:themeElements>
    <a:clrScheme name="Ion">
      <a:dk1>
        <a:srgbClr val="000000"/>
      </a:dk1>
      <a:lt1>
        <a:srgbClr val="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1665</TotalTime>
  <Words>1334</Words>
  <Application>Microsoft Office PowerPoint</Application>
  <PresentationFormat>Panorámica</PresentationFormat>
  <Paragraphs>320</Paragraphs>
  <Slides>52</Slides>
  <Notes>35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52</vt:i4>
      </vt:variant>
    </vt:vector>
  </HeadingPairs>
  <TitlesOfParts>
    <vt:vector size="56" baseType="lpstr">
      <vt:lpstr>Arial</vt:lpstr>
      <vt:lpstr>Century Gothic</vt:lpstr>
      <vt:lpstr>Noto Sans Symbols</vt:lpstr>
      <vt:lpstr>Ion</vt:lpstr>
      <vt:lpstr>MEDICINA INTERNA III </vt:lpstr>
      <vt:lpstr>Presentación de PowerPoint</vt:lpstr>
      <vt:lpstr>DEFINICIÓN</vt:lpstr>
      <vt:lpstr>GENERALIDADES</vt:lpstr>
      <vt:lpstr>EPIDEMIOLOGÍA                </vt:lpstr>
      <vt:lpstr>Presentación de PowerPoint</vt:lpstr>
      <vt:lpstr>CAUSAS</vt:lpstr>
      <vt:lpstr>Mujeres postparto Antecedentes heredofamiliares de enfermedad tiroidea autoinmune (ETA) Antecedentes de radiación en cabeza o cuello Antecedentes de cirugía tiroidea Endocrinopatías autoinmunes (DM1, Addison, falla ovárica prematura) Enfermedades autoinmunes no endocrinas (vitíligo, celiaquía, anemia perniciosa,  Sjorgren, esclerosis múltiple) Síndrome de Down Síndrome de Turner                               Salvai ME, Niepomniszcze H. Definicion, clasificacion y Diagnostico del Hipotiroidismo. Tratado Argentino de Tiroides                  </vt:lpstr>
      <vt:lpstr>CLASIFICACIÓN                </vt:lpstr>
      <vt:lpstr>FORMAS TOPOGRÁFICAS</vt:lpstr>
      <vt:lpstr>HIPOTIROIDISMO</vt:lpstr>
      <vt:lpstr>FORMAS ETIOLÓGICAS - EVOLUTIVAS    Esporádico   Permanente </vt:lpstr>
      <vt:lpstr>CAUSAS</vt:lpstr>
      <vt:lpstr>CAUSAS</vt:lpstr>
      <vt:lpstr>HIPOTIROIDISMOS HIPOTÁLAMO - HIPOFISARIOS</vt:lpstr>
      <vt:lpstr>ETIOLOGÍA</vt:lpstr>
      <vt:lpstr>HIPOTIROIDISMO PERIFÉRICO</vt:lpstr>
      <vt:lpstr>TIROIDITIS DE HASHIMOTO</vt:lpstr>
      <vt:lpstr>CLÍNICA</vt:lpstr>
      <vt:lpstr>CLÍNICA</vt:lpstr>
      <vt:lpstr>FACIES</vt:lpstr>
      <vt:lpstr>Presentación de PowerPoint</vt:lpstr>
      <vt:lpstr>Presentación de PowerPoint</vt:lpstr>
      <vt:lpstr>Disminución de sudoración Pérdida de cabello Alopecia areata Piel fría y pálida Uñas quebradizas Vitiligo Edema periorbitario </vt:lpstr>
      <vt:lpstr>APARATO REPRODUCTOR</vt:lpstr>
      <vt:lpstr>SISTEMA CARDIOVASCULAR Bradicardia Disnea de esfuerzo e intolerancia al ejercicio, ICC Disminución de los ruidos cardiacos. Derrame pericárdico Hay disminución de la TAS con Hipertensión diastólica (20%), aumento de RP. El ECG puede mostrar bradicardia sinusal severa, prolongación PR, QT, aplanamiento onda P Empeoramiento de angina y falla cardíaca   </vt:lpstr>
      <vt:lpstr>Disminución en capacidad de ejercicio:  Respiratorio Disnea de esfuerzo progresiva, tos y fatiga al esfuerzo por:     - disfunción diafragmática y muscular torácica     - disminución de la respuesta ventilatoria frente a la hipoxemia e hipercapnia Derrame pleural en algunos casos en bocios compresivos (obstrucción ventilatoria) Mayor prevalencia de SAHOS Menor síntesis de surfactante en neonatos Hipoventilación Anemia  </vt:lpstr>
      <vt:lpstr>Presentación de PowerPoint</vt:lpstr>
      <vt:lpstr>RIÑÓN Y METABOLISMO HIDROSALINO </vt:lpstr>
      <vt:lpstr>HEMATOLÓGICOS</vt:lpstr>
      <vt:lpstr>SISTEMA NERVIOSO CENTRAL </vt:lpstr>
      <vt:lpstr>SISTEMA NERVIOSO PERIFÉRICO </vt:lpstr>
      <vt:lpstr>SISTEMA MUSCULAR</vt:lpstr>
      <vt:lpstr>En la infancia produce retardo mental: CRETINISMO </vt:lpstr>
      <vt:lpstr>DIAGNÓSTICO</vt:lpstr>
      <vt:lpstr>PALPACIÓN TIROIDEA</vt:lpstr>
      <vt:lpstr>DIAGNÓSTICO  Laboratorio - ecografía de tiroides</vt:lpstr>
      <vt:lpstr>LABORATORIO</vt:lpstr>
      <vt:lpstr>DIAGNÓSTICO</vt:lpstr>
      <vt:lpstr>LABORATORIO</vt:lpstr>
      <vt:lpstr>TRATAMIENTO CON HORMONAS TIROIDEAS</vt:lpstr>
      <vt:lpstr>TRATAMIENTO </vt:lpstr>
      <vt:lpstr>Presentación de PowerPoint</vt:lpstr>
      <vt:lpstr>Presentación de PowerPoint</vt:lpstr>
      <vt:lpstr>Presentación de PowerPoint</vt:lpstr>
      <vt:lpstr>Presentación de PowerPoint</vt:lpstr>
      <vt:lpstr>COMA MIXEDEMATOSO</vt:lpstr>
      <vt:lpstr>COMA MIXEDEMATOSO</vt:lpstr>
      <vt:lpstr>SÍNTOMAS Y CARACTERÍSTICAS</vt:lpstr>
      <vt:lpstr>DIAGNÓSTICO</vt:lpstr>
      <vt:lpstr>TRATAMIENTO</vt:lpstr>
      <vt:lpstr>MEDIDAS DE APOYO Y CONSIDERACIONES ADICIONALES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MEDICINA INTERNA III</dc:title>
  <dc:creator>roberto mario pelayes</dc:creator>
  <cp:lastModifiedBy>roberto mario pelayes</cp:lastModifiedBy>
  <cp:revision>53</cp:revision>
  <dcterms:created xsi:type="dcterms:W3CDTF">2023-09-05T02:47:35Z</dcterms:created>
  <dcterms:modified xsi:type="dcterms:W3CDTF">2025-08-20T00:31:42Z</dcterms:modified>
</cp:coreProperties>
</file>