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49D4-76AE-3A40-A5A6-E1F847331CC3}" type="datetimeFigureOut">
              <a:rPr lang="es-ES" smtClean="0"/>
              <a:t>09/09/2026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973C6-8257-974D-AE66-E3873C81D08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095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 /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Dra. Mariela Araujo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Reumatóloga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C127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III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Mendoza (UM)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 INTERNA · REUMATOLOGÍA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Artritis Infecciosa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temprano y manejo de una urgencia articular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4206240" cy="502920"/>
          </a:xfrm>
          <a:prstGeom prst="roundRect">
            <a:avLst>
              <a:gd name="adj" fmla="val 50909"/>
            </a:avLst>
          </a:prstGeom>
          <a:solidFill>
            <a:srgbClr val="C127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articulación caliente es séptica hasta lo contrario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para internado / pregrado avanzado  ·  30–45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terminar, el alumno podrá: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830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</a:t>
            </a: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presentación clínica de una artritis infecciosa y diferenciarla de otras causas de monoartritis aguda.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85800" cy="685800"/>
          </a:xfrm>
          <a:prstGeom prst="ellipse">
            <a:avLst/>
          </a:prstGeom>
          <a:solidFill>
            <a:srgbClr val="0B3D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803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</a:t>
            </a: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del líquido sinovial y priorizar la artrocentesis antes de iniciar antibióticos.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</a:t>
            </a: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antibiótico empírico según el contexto clínico y el Gram, y saber cuándo indicar drenaje quirúrgico.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685800" cy="685800"/>
          </a:xfrm>
          <a:prstGeom prst="ellipse">
            <a:avLst/>
          </a:prstGeom>
          <a:solidFill>
            <a:srgbClr val="0B3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</a:t>
            </a: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complicaciones de un manejo tardío y justificar la urgencia del abordaje.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artritis infecciosa?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invasión del espacio articular por un microorganismo (con mayor frecuencia bacteriano), que desencadena una respuesta inflamatoria capaz de destruir el cartílago en horas.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llamada artritis séptica.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6126480" cy="192024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 REUMATOLÓGICA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daño del cartílago comienza en las primeras 24–48 h. El retraso diagnóstico es el principal determinante de secuelas funcionales.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86600" y="182880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CFE9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19385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85-90%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606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casos son monoarticulares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86600" y="347472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CFE9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60920" y="35844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Rodilla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más afectada en adultos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51206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CFE9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60920" y="52303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5-15%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58978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asociada, según serie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riesgo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pic>
        <p:nvPicPr>
          <p:cNvPr id="6" name="Image 0" descr="/home/claude/icons/e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1579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avanzada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 años, mayor incidencia y mortalidad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pic>
        <p:nvPicPr>
          <p:cNvPr id="11" name="Image 1" descr="/home/claude/icons/artropat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1579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Artropatía previa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reumatoide, articulación dañada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057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pic>
        <p:nvPicPr>
          <p:cNvPr id="16" name="Image 2" descr="/home/claude/icons/prote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1579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26517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Prótesis articular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o infección protésica reciente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4C"/>
          </a:solidFill>
          <a:ln/>
        </p:spPr>
      </p:sp>
      <p:pic>
        <p:nvPicPr>
          <p:cNvPr id="21" name="Image 3" descr="/home/claude/icons/inmun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1696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Inmunosupresión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diabetes, VIH, corticoides, oncológicos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4C"/>
          </a:solidFill>
          <a:ln/>
        </p:spPr>
      </p:sp>
      <p:pic>
        <p:nvPicPr>
          <p:cNvPr id="26" name="Image 4" descr="/home/claude/icons/drog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41696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1772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drogas IV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hematógena, gérmenes atípicos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29600" y="384048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4069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3D4C"/>
          </a:solidFill>
          <a:ln/>
        </p:spPr>
      </p:sp>
      <p:pic>
        <p:nvPicPr>
          <p:cNvPr id="31" name="Image 5" descr="/home/claude/icons/pi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1696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58200" y="46634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 no intacta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5820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úlceras, infección cutánea, trauma articular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articulación normal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sinovial es un tejido muy vascularizado y </a:t>
            </a: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membrana basal limitante</a:t>
            </a:r>
            <a:r>
              <a:rPr lang="en-US" sz="14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una vez que hay bacteriemia, nada impide el paso de gérmenes hacia el espacio articular.</a:t>
            </a:r>
            <a:endParaRPr lang="en-US" sz="1450" dirty="0"/>
          </a:p>
        </p:txBody>
      </p:sp>
      <p:pic>
        <p:nvPicPr>
          <p:cNvPr id="5" name="Image 0" descr="/home/claude/icons/joint_diagram.png"/>
          <p:cNvPicPr>
            <a:picLocks noChangeAspect="1"/>
          </p:cNvPicPr>
          <p:nvPr/>
        </p:nvPicPr>
        <p:blipFill>
          <a:blip r:embed="rId3"/>
          <a:srcRect t="-11542" b="-11542"/>
          <a:stretch/>
        </p:blipFill>
        <p:spPr>
          <a:xfrm>
            <a:off x="1737360" y="2331720"/>
            <a:ext cx="8686800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Vías de infección articular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0B3D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E8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Hematógena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frecuente. Bacteriemia con siembra en la sinovial, muy vascularizada y sin membrana basal limitante.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CFE9E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BD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contigüidad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74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desde una osteomielitis adyacente, bursitis séptica o celulitis periarticular.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87452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CFE9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BD9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Inoculación directa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4747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penetrante, cirugía articular, infiltración o artrocentesis previa.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sinovial carece de membrana basal: nada limita el paso de bacterias desde la sangre hacia la articulación.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Patología: qué ocurre en la articulación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Independientemente de la vía de entrada, los hallazgos patológicos son similares.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0B3D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eventos en la sinovial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D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Atrapamiento de bacterias en el espacio sinovial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D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38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leucocitaria y fagocitosis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D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05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Neovascularización y proliferación sinovial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D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725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tejido de granulación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39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D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239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Destrucción del cartílago y el hueso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2860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CFE9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 sinovial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8803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Purulento, con abundancia de polimorfonucleares, disminución de glucosa y aumento de lactato. Se detectan IL-1, TNF-α y productos de degradación de hueso y cartílago.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9768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daño articular resulta de: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846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tóxico del microorganismo, la actividad fagocítica de los PMN y células sinoviales, las sustancias proinflamatorias y el aumento de presión intraarticular.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experimental: </a:t>
            </a:r>
            <a:r>
              <a:rPr lang="en-US" sz="11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modelos animales, la respuesta inflamatoria es menor cuando la administración parenteral de antibióticos coincide o precede a la inoculación intraarticular del germen — de ahí la importancia del tratamiento precoz.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germen depende del contexto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clínico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Microorganismo(s) más frecuente(s)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Adulto, población general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Staphylococcus aureus (el más frecuente en general)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Adulto joven, sexualmente activo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Neisseria gonorrhoeae (artritis gonocócica)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Adulto mayor / comorbilidades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aureus, bacilos gram negativos (E. coli, otros)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Prótesis articular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aureus, Staphylococcus coagulasa-negativo (S. epidermidis)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drogas intravenosas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aureus, Pseudomonas aeruginosa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Niños &lt; 2 años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Kingella kingae, S. aureus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clínica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Tríada clásica (poco sensible en conjunto):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articular agudo, intenso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 articular / tumefacción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200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funcional marcada (impotencia funcional)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datos clave: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891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Fiebre: presente solo en ~40-60% — su ausencia NO descarta el diagnóstico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28016" cy="12801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37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siempre monoarticular (85-90%); poliarticular sugiere gonocócica o vía hematógena masiva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4709160" cy="3977640"/>
          </a:xfrm>
          <a:prstGeom prst="roundRect">
            <a:avLst>
              <a:gd name="adj" fmla="val 2299"/>
            </a:avLst>
          </a:prstGeom>
          <a:solidFill>
            <a:srgbClr val="CFE9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Articulaciones más afectadas (adultos)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Rodilla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41080" y="2606040"/>
            <a:ext cx="3291840" cy="274320"/>
          </a:xfrm>
          <a:prstGeom prst="roundRect">
            <a:avLst>
              <a:gd name="adj" fmla="val 20000"/>
            </a:avLst>
          </a:prstGeom>
          <a:solidFill>
            <a:srgbClr val="0B3D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78040" y="3227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41080" y="3319272"/>
            <a:ext cx="2139696" cy="274320"/>
          </a:xfrm>
          <a:prstGeom prst="roundRect">
            <a:avLst>
              <a:gd name="adj" fmla="val 20000"/>
            </a:avLst>
          </a:prstGeom>
          <a:solidFill>
            <a:srgbClr val="0B3D4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39410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41080" y="4032504"/>
            <a:ext cx="1481328" cy="274320"/>
          </a:xfrm>
          <a:prstGeom prst="roundRect">
            <a:avLst>
              <a:gd name="adj" fmla="val 20000"/>
            </a:avLst>
          </a:prstGeom>
          <a:solidFill>
            <a:srgbClr val="0B3D4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46542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Tobillo / muñeca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41080" y="4745736"/>
            <a:ext cx="1152144" cy="274320"/>
          </a:xfrm>
          <a:prstGeom prst="roundRect">
            <a:avLst>
              <a:gd name="adj" fmla="val 20000"/>
            </a:avLst>
          </a:prstGeom>
          <a:solidFill>
            <a:srgbClr val="0B3D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toda monoartritis aguda es séptica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CFE9E5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por cristales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o pseudogota; puede coexistir con infección — no la descarta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reactiva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5146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 de infección genitourinaria o gastrointestinal reciente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CFE9E5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Brote monoarticular en paciente con AR conocida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9319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Hemartrosis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891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Trauma, anticoagulación o trastorno de la coagulación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Artrocentesis: el estudio clave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realizarse antes de iniciar antibióticos, siempre que sea posible.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1920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líquido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Leucocitos /mm³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inflamatorio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Inflamatorio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– 50,000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Séptico (sugestivo)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50,000 (con frecuencia &gt; 100,000)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Purulento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cultivo negativo NO descarta artritis séptica (hasta ~20% de falsos negativos, sobre todo con antibióticos previos).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solicitar: recuento celular, tinción de Gram, cultivo y búsqueda de cristales bajo luz polarizada.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Estudios complementarios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" cy="658368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Hemocultivos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7452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 en 50-70% de los casos; tomar siempre antes de antibióticos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201168" cy="658368"/>
          </a:xfrm>
          <a:prstGeom prst="roundRect">
            <a:avLst>
              <a:gd name="adj" fmla="val 18182"/>
            </a:avLst>
          </a:prstGeom>
          <a:solidFill>
            <a:srgbClr val="0B3D4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/ PCR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71576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Habitualmente elevadas; sensibles pero poco específicas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201168" cy="658368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5570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 simple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55701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fracturas y otras causas; suele ser normal al inicio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201168" cy="658368"/>
          </a:xfrm>
          <a:prstGeom prst="roundRect">
            <a:avLst>
              <a:gd name="adj" fmla="val 18182"/>
            </a:avLst>
          </a:prstGeom>
          <a:solidFill>
            <a:srgbClr val="0B3D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982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 articular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3982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derrame y guía la artrocentesis, sobre todo en cadera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201168" cy="658368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23951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 magnética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523951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sospecha de osteomielitis, absceso o articulación de difícil acceso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Antibioticoterapia empírica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de inmediato tras obtener los cultivos — no esperar el resultado.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237744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 en el Gram / contexto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empírica habitual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Cocos gram positivos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Vancomicina (cubre SAMR)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Cocos gram negativos / sospecha gonocócica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Ceftriaxona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Bacilos gram negativos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Cefalosporina de 3ª gen. o carbapenem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Tinción no concluyente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Combinar cobertura gram + y gram – hasta cultivo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</a:t>
            </a: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cultivo y antibiograma en 48-72 h.  </a:t>
            </a:r>
            <a:r>
              <a:rPr lang="en-US" sz="135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</a:t>
            </a:r>
            <a:r>
              <a:rPr lang="en-US" sz="135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semanas en total (inicio IV, luego vía oral según evolución clínica).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drenaje articular no es opcional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antibiótico solo no basta: el pus a tensión perpetúa el daño del cartílago.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CFE9E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26080"/>
            <a:ext cx="457200" cy="457200"/>
          </a:xfrm>
          <a:prstGeom prst="ellipse">
            <a:avLst/>
          </a:prstGeom>
          <a:solidFill>
            <a:srgbClr val="0B3D4C"/>
          </a:solidFill>
          <a:ln/>
        </p:spPr>
      </p:sp>
      <p:pic>
        <p:nvPicPr>
          <p:cNvPr id="7" name="Image 0" descr="/home/claude/icons/artrocentesis_seri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026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Artrocentesis seriada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Punciones evacuadoras repetidas; útil en articulaciones accesibles (rodilla) con buena respuesta inicial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6517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CFE9E5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926080"/>
            <a:ext cx="457200" cy="457200"/>
          </a:xfrm>
          <a:prstGeom prst="ellipse">
            <a:avLst/>
          </a:prstGeom>
          <a:solidFill>
            <a:srgbClr val="0B3D4C"/>
          </a:solidFill>
          <a:ln/>
        </p:spPr>
      </p:sp>
      <p:pic>
        <p:nvPicPr>
          <p:cNvPr id="12" name="Image 1" descr="/home/claude/icons/artroscop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Artroscopia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y desbridamiento con visión directa; menor morbilidad que la cirugía abierta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6517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CFE9E5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2926080"/>
            <a:ext cx="457200" cy="457200"/>
          </a:xfrm>
          <a:prstGeom prst="ellipse">
            <a:avLst/>
          </a:prstGeom>
          <a:solidFill>
            <a:srgbClr val="0B3D4C"/>
          </a:solidFill>
          <a:ln/>
        </p:spPr>
      </p:sp>
      <p:pic>
        <p:nvPicPr>
          <p:cNvPr id="17" name="Image 2" descr="/home/claude/icons/artrotom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30266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Artrotomía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4114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Drenaje quirúrgico abierto; de elección en cadera y cuando hay mala respuesta al manejo inicial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Indicación quirúrgica clara: cadera séptica, prótesis infectada o ausencia de mejoría a las 48-72 h de tratamiento.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Complicaciones de un manejo tardío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256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Destrucción del cartílago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Irreversible, ya en las primeras 24-48 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256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488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Osteomielitis contigua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51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la infección al hueso adyacente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256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/ bacteriemia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diseminación sistémica, riesgo vital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657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256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8404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Secuelas funcionales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3434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rigidez, dolor crónico, artrosis secundaria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C127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Mortalidad reportada: 5-15% — cifra mayor en adultos mayores, poliarticular o comorbilidad significativa.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6596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monoartritis aguda es séptica hasta demostrar lo contrario.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2432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artrocentesis se realiza antes de iniciar antibióticos, siempre que sea posible.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8269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cultivo negativo no descarta el diagnóstico.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86784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86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4106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antibiótico empírico se guía por el Gram y el contexto clínico; se inicia sin demora.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45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994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drenaje articular (médico o quirúrgico) es parte esencial del tratamiento.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292608" cy="292608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03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2578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retraso diagnóstico y terapéutico es el principal determinante del pronóstico.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erre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5029200" cy="502920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C1272D">
              <a:alpha val="40000"/>
            </a:srgbClr>
          </a:solidFill>
          <a:ln/>
        </p:spPr>
      </p:sp>
      <p:sp>
        <p:nvSpPr>
          <p:cNvPr id="10" name="Text Gracias"/>
          <p:cNvSpPr txBox="1"/>
          <p:nvPr/>
        </p:nvSpPr>
        <p:spPr>
          <a:xfrm>
            <a:off x="685800" y="2779395"/>
            <a:ext cx="10820400" cy="1299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¡Muchas gracias por su atención!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18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Mariela Araujo</cp:lastModifiedBy>
  <cp:revision>5</cp:revision>
  <dcterms:created xsi:type="dcterms:W3CDTF">2026-09-01T01:04:46Z</dcterms:created>
  <dcterms:modified xsi:type="dcterms:W3CDTF">2026-09-09T13:17:48Z</dcterms:modified>
</cp:coreProperties>
</file>