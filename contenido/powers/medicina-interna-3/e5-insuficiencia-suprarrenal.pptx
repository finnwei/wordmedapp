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embeddedFontLst>
    <p:embeddedFont>
      <p:font typeface="PT Sans Narrow"/>
      <p:regular r:id="rId40"/>
      <p:bold r:id="rId41"/>
    </p:embeddedFont>
    <p:embeddedFont>
      <p:font typeface="Open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TSansNarrow-regular.fntdata"/><Relationship Id="rId20" Type="http://schemas.openxmlformats.org/officeDocument/2006/relationships/slide" Target="slides/slide15.xml"/><Relationship Id="rId42" Type="http://schemas.openxmlformats.org/officeDocument/2006/relationships/font" Target="fonts/OpenSans-regular.fntdata"/><Relationship Id="rId41" Type="http://schemas.openxmlformats.org/officeDocument/2006/relationships/font" Target="fonts/PTSansNarrow-bold.fntdata"/><Relationship Id="rId22" Type="http://schemas.openxmlformats.org/officeDocument/2006/relationships/slide" Target="slides/slide17.xml"/><Relationship Id="rId44" Type="http://schemas.openxmlformats.org/officeDocument/2006/relationships/font" Target="fonts/OpenSans-italic.fntdata"/><Relationship Id="rId21" Type="http://schemas.openxmlformats.org/officeDocument/2006/relationships/slide" Target="slides/slide16.xml"/><Relationship Id="rId43" Type="http://schemas.openxmlformats.org/officeDocument/2006/relationships/font" Target="fonts/OpenSans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8c1ae8e68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8c1ae8e6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8c1ae8e68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8c1ae8e6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8c1ae8e68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8c1ae8e68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8c1ae8e68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68c1ae8e68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8c1ae8e68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8c1ae8e68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8c1ae8e68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68c1ae8e68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8c1ae8e68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8c1ae8e68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8c1ae8e68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68c1ae8e6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8c1ae8e68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68c1ae8e6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8c1ae8e68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68c1ae8e6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8c1ae8e6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68c1ae8e6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8c1ae8e6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68c1ae8e6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8c1ae8e68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68c1ae8e68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8c1ae8e68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68c1ae8e68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8c1ae8e68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68c1ae8e68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68c1ae8e68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68c1ae8e68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8c1ae8e68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68c1ae8e68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8c1ae8e68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68c1ae8e68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8c1ae8e68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68c1ae8e68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8c1ae8e68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68c1ae8e68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68c1ae8e68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68c1ae8e68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8c1ae8e68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68c1ae8e68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8c1ae8e68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68c1ae8e68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8c1ae8e68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68c1ae8e68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68c1ae8e68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68c1ae8e68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68c1ae8e68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68c1ae8e68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68c1ae8e68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68c1ae8e68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68c1ae8e68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68c1ae8e68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68c1ae8e68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68c1ae8e68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68c1ae8e68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68c1ae8e68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68c1ae8e68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68c1ae8e68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68c1ae8e68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68c1ae8e68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68c1ae8e68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68c1ae8e68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/>
              <a:t>INSUFICIENCIA </a:t>
            </a:r>
            <a:r>
              <a:rPr lang="es" sz="3600"/>
              <a:t>SUPRARRENAL</a:t>
            </a:r>
            <a:r>
              <a:rPr lang="es" sz="3600"/>
              <a:t> EN EL ADULTO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Dr Rubin Malco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Servicio </a:t>
            </a:r>
            <a:r>
              <a:rPr lang="es"/>
              <a:t>Endocrinología</a:t>
            </a:r>
            <a:r>
              <a:rPr lang="es"/>
              <a:t> y Metabolismo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Htal: T.J.Schestakow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</a:t>
            </a:r>
            <a:r>
              <a:rPr lang="es"/>
              <a:t>nsuficiencia suprarrenal en el adulto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D</a:t>
            </a:r>
            <a:r>
              <a:rPr lang="es">
                <a:solidFill>
                  <a:srgbClr val="000000"/>
                </a:solidFill>
              </a:rPr>
              <a:t>escrita por primera vez en 1885 por Thomas Addison: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rgbClr val="000000"/>
                </a:solidFill>
              </a:rPr>
              <a:t> Trastorno caracterizado por una alteración de la función adrenocortical con el consecuente déficit de glucocorticoides (GC), mineralocorticoides (MC) y/o </a:t>
            </a:r>
            <a:r>
              <a:rPr lang="es">
                <a:solidFill>
                  <a:srgbClr val="000000"/>
                </a:solidFill>
              </a:rPr>
              <a:t>andrógenos</a:t>
            </a:r>
            <a:r>
              <a:rPr lang="es">
                <a:solidFill>
                  <a:srgbClr val="000000"/>
                </a:solidFill>
              </a:rPr>
              <a:t> adrenales.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5964" y="2571750"/>
            <a:ext cx="1822461" cy="240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335450"/>
            <a:ext cx="8646000" cy="24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 La IA puede ser consecuencia de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enfermedades</a:t>
            </a:r>
            <a:r>
              <a:rPr lang="es">
                <a:solidFill>
                  <a:srgbClr val="000000"/>
                </a:solidFill>
              </a:rPr>
              <a:t> que afecten al córtex adrenal (IA primaria)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hipofisarios que afecten a la secreción de corticotropina (ACTH) (IA secundaria)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trastornos hipotalámicos que </a:t>
            </a:r>
            <a:r>
              <a:rPr lang="es">
                <a:solidFill>
                  <a:srgbClr val="000000"/>
                </a:solidFill>
              </a:rPr>
              <a:t>afectan</a:t>
            </a:r>
            <a:r>
              <a:rPr lang="es">
                <a:solidFill>
                  <a:srgbClr val="000000"/>
                </a:solidFill>
              </a:rPr>
              <a:t> la secreción de la hormona liberadora de ACTH (CRH) (IA terciaria)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9975" y="2708425"/>
            <a:ext cx="4596525" cy="228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</a:t>
            </a:r>
            <a:r>
              <a:rPr lang="es"/>
              <a:t>Epidemiología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35-60 </a:t>
            </a:r>
            <a:r>
              <a:rPr lang="es">
                <a:solidFill>
                  <a:srgbClr val="000000"/>
                </a:solidFill>
              </a:rPr>
              <a:t>casos</a:t>
            </a:r>
            <a:r>
              <a:rPr lang="es">
                <a:solidFill>
                  <a:srgbClr val="000000"/>
                </a:solidFill>
              </a:rPr>
              <a:t> por millón de habitantes en IAP.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Para la IAS se estima una prevalencia global de 150-280 </a:t>
            </a:r>
            <a:r>
              <a:rPr lang="es">
                <a:solidFill>
                  <a:srgbClr val="000000"/>
                </a:solidFill>
              </a:rPr>
              <a:t>casos</a:t>
            </a:r>
            <a:r>
              <a:rPr lang="es">
                <a:solidFill>
                  <a:srgbClr val="000000"/>
                </a:solidFill>
              </a:rPr>
              <a:t> por millón de habitantes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A partir de los años cincuenta, la mayoría de los casos ( 80%) se deben a </a:t>
            </a:r>
            <a:r>
              <a:rPr lang="es">
                <a:solidFill>
                  <a:srgbClr val="000000"/>
                </a:solidFill>
              </a:rPr>
              <a:t>adrenalitis</a:t>
            </a:r>
            <a:r>
              <a:rPr lang="es">
                <a:solidFill>
                  <a:srgbClr val="000000"/>
                </a:solidFill>
              </a:rPr>
              <a:t> autoinmune, bien aislada o en el contexto de un </a:t>
            </a:r>
            <a:r>
              <a:rPr lang="es">
                <a:solidFill>
                  <a:srgbClr val="000000"/>
                </a:solidFill>
              </a:rPr>
              <a:t>síndrome</a:t>
            </a:r>
            <a:r>
              <a:rPr lang="es">
                <a:solidFill>
                  <a:srgbClr val="000000"/>
                </a:solidFill>
              </a:rPr>
              <a:t> poliglandular autoinmune.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La IAS puede producirse por cualquier proceso que afecte a la hipófisis anterior y que interfiera con la secreción de ACTH.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La IAT, por su parte, es el resultado de procesos que afectan al hipotálamo e interfieren con la secreción de CRH. 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Fisiopatología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La IAP es necesaria una pérdida de al menos el 90% del </a:t>
            </a:r>
            <a:r>
              <a:rPr lang="es">
                <a:solidFill>
                  <a:srgbClr val="000000"/>
                </a:solidFill>
              </a:rPr>
              <a:t>parénquima</a:t>
            </a:r>
            <a:r>
              <a:rPr lang="es">
                <a:solidFill>
                  <a:srgbClr val="000000"/>
                </a:solidFill>
              </a:rPr>
              <a:t> glandular para que aparezcan manifestaciones clínicas.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En la fase inicial de este proceso destructivo hay únicamente una disminución de la reserva adrenal, de modo que la secreción basal de cortisol es normal, pero la </a:t>
            </a:r>
            <a:r>
              <a:rPr lang="es">
                <a:solidFill>
                  <a:srgbClr val="000000"/>
                </a:solidFill>
              </a:rPr>
              <a:t>respuesta</a:t>
            </a:r>
            <a:r>
              <a:rPr lang="es">
                <a:solidFill>
                  <a:srgbClr val="000000"/>
                </a:solidFill>
              </a:rPr>
              <a:t> al estrés es subóptima.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La disminución del cortisol plasmático conlleva un aumento de ACTH debido a la pérdida de la </a:t>
            </a:r>
            <a:r>
              <a:rPr i="1" lang="es">
                <a:solidFill>
                  <a:srgbClr val="000000"/>
                </a:solidFill>
              </a:rPr>
              <a:t>retroalimentación negativa </a:t>
            </a:r>
            <a:r>
              <a:rPr lang="es">
                <a:solidFill>
                  <a:srgbClr val="000000"/>
                </a:solidFill>
              </a:rPr>
              <a:t>que el cortisol ejerce sobre la secreción de esta hormona.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Fisiopatología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s">
                <a:solidFill>
                  <a:srgbClr val="000000"/>
                </a:solidFill>
              </a:rPr>
              <a:t>C</a:t>
            </a:r>
            <a:r>
              <a:rPr lang="es">
                <a:solidFill>
                  <a:srgbClr val="000000"/>
                </a:solidFill>
              </a:rPr>
              <a:t>oncentraciones elevadas de ACTH son las responsables de la hiperpigmentación que presentan los pacientes con IAP. </a:t>
            </a:r>
            <a:endParaRPr>
              <a:solidFill>
                <a:srgbClr val="000000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s">
                <a:solidFill>
                  <a:srgbClr val="000000"/>
                </a:solidFill>
              </a:rPr>
              <a:t>Asimismo, debido a la atrofia de la zona glomerulosa del córtex adrenal se produce deficiencia de MC, causante de las alteraciones hidroelectrolíticas e hipotensión presentes en la mayoría de estos pacientes. </a:t>
            </a:r>
            <a:endParaRPr>
              <a:solidFill>
                <a:srgbClr val="000000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s">
                <a:solidFill>
                  <a:srgbClr val="000000"/>
                </a:solidFill>
              </a:rPr>
              <a:t>La atrofia glandular produce, además, un déficit marcado de esteroides sexuales suprarrenales, producidos </a:t>
            </a:r>
            <a:r>
              <a:rPr lang="es">
                <a:solidFill>
                  <a:srgbClr val="000000"/>
                </a:solidFill>
              </a:rPr>
              <a:t>fundamentalmente</a:t>
            </a:r>
            <a:r>
              <a:rPr lang="es">
                <a:solidFill>
                  <a:srgbClr val="000000"/>
                </a:solidFill>
              </a:rPr>
              <a:t> en la zona reticular y, en menor medida, en la zona fasciculada.</a:t>
            </a:r>
            <a:endParaRPr>
              <a:solidFill>
                <a:srgbClr val="000000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s">
                <a:solidFill>
                  <a:srgbClr val="000000"/>
                </a:solidFill>
              </a:rPr>
              <a:t>90% del cortisol sérico circula unido a proteínas plasmáticas (CBG) y solo un 10% lo hace de forma </a:t>
            </a:r>
            <a:r>
              <a:rPr lang="es">
                <a:solidFill>
                  <a:srgbClr val="000000"/>
                </a:solidFill>
              </a:rPr>
              <a:t>libre</a:t>
            </a:r>
            <a:r>
              <a:rPr lang="es">
                <a:solidFill>
                  <a:srgbClr val="000000"/>
                </a:solidFill>
              </a:rPr>
              <a:t>, esta constituye la fracción biológicamente activa 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688" y="1344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Clínica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11700" y="6451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000000"/>
                </a:solidFill>
              </a:rPr>
              <a:t>L</a:t>
            </a:r>
            <a:r>
              <a:rPr lang="es" sz="1500">
                <a:solidFill>
                  <a:srgbClr val="000000"/>
                </a:solidFill>
              </a:rPr>
              <a:t>a IA es una enfermedad de instauración lenta y se suele poner de manifiesto coincidiendo con situaciones de estrés físico tales como enfermedades intercurrentes de cierta gravedad </a:t>
            </a:r>
            <a:endParaRPr sz="1500">
              <a:solidFill>
                <a:srgbClr val="000000"/>
              </a:solidFill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413" y="1390575"/>
            <a:ext cx="7877175" cy="363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</a:t>
            </a:r>
            <a:r>
              <a:rPr lang="es"/>
              <a:t>iagnóstico</a:t>
            </a:r>
            <a:r>
              <a:rPr lang="es"/>
              <a:t> de la insuficiencia suprarrenal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000000"/>
                </a:solidFill>
              </a:rPr>
              <a:t>I</a:t>
            </a:r>
            <a:r>
              <a:rPr lang="es" sz="2400">
                <a:solidFill>
                  <a:srgbClr val="000000"/>
                </a:solidFill>
              </a:rPr>
              <a:t>ncluye tres procesos diagnósticos: </a:t>
            </a:r>
            <a:endParaRPr sz="24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a) confirmación de la existencia de IA (diagnóstico sindrómico);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b) identificación del nivel del eje hipotálamo-hipófiso-adrenal (HHA), donde se localiza el defecto responsable (diagnóstico de localización)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c) identificación de la causa responsable (diagnóstico etiológico).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Diagnóstico</a:t>
            </a:r>
            <a:r>
              <a:rPr lang="es"/>
              <a:t> </a:t>
            </a:r>
            <a:r>
              <a:rPr lang="es"/>
              <a:t>sindrómico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00"/>
                </a:solidFill>
              </a:rPr>
              <a:t>Test de hipoglucemia insulínica. 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Sin embargo es un test relativamente costoso, incómodo para el paciente y no exento de riesgos, por lo que su uso se </a:t>
            </a:r>
            <a:r>
              <a:rPr lang="es">
                <a:solidFill>
                  <a:srgbClr val="000000"/>
                </a:solidFill>
              </a:rPr>
              <a:t>reserva</a:t>
            </a:r>
            <a:r>
              <a:rPr lang="es">
                <a:solidFill>
                  <a:srgbClr val="000000"/>
                </a:solidFill>
              </a:rPr>
              <a:t> para los casos que no se pueden diagnosticar con otros métodos más sencillos.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00"/>
                </a:solidFill>
              </a:rPr>
              <a:t>Determinaciones hormonales basales:  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Medición de cortisol sérico basal: &lt; 3 mg/dl (100 nmol/l) o &lt; 5 mg/dl (138 nmol/l) arroja una especificidad del 100%.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683325"/>
            <a:ext cx="8520600" cy="38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60% de los pacientes con IA diagnosticada mediante hipoglucemia insulínica tiene valores de </a:t>
            </a:r>
            <a:r>
              <a:rPr b="1" lang="es">
                <a:solidFill>
                  <a:srgbClr val="000000"/>
                </a:solidFill>
              </a:rPr>
              <a:t>cortisol plasmático basal &gt; 5 mg/dl (138 nmol/l) y un 40% &gt; 10 mg/dl (275 nmol/l). 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Algunos expertos </a:t>
            </a:r>
            <a:r>
              <a:rPr lang="es">
                <a:solidFill>
                  <a:srgbClr val="000000"/>
                </a:solidFill>
              </a:rPr>
              <a:t>establecen</a:t>
            </a:r>
            <a:r>
              <a:rPr lang="es">
                <a:solidFill>
                  <a:srgbClr val="000000"/>
                </a:solidFill>
              </a:rPr>
              <a:t> el punto de corte en</a:t>
            </a:r>
            <a:r>
              <a:rPr b="1" lang="es">
                <a:solidFill>
                  <a:srgbClr val="000000"/>
                </a:solidFill>
              </a:rPr>
              <a:t> 10 mg/dl.</a:t>
            </a:r>
            <a:r>
              <a:rPr lang="es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Por tanto, un valor de </a:t>
            </a:r>
            <a:r>
              <a:rPr b="1" lang="es">
                <a:solidFill>
                  <a:srgbClr val="000000"/>
                </a:solidFill>
              </a:rPr>
              <a:t>cortisol &gt; 15 mg/dl </a:t>
            </a:r>
            <a:r>
              <a:rPr lang="es">
                <a:solidFill>
                  <a:srgbClr val="000000"/>
                </a:solidFill>
              </a:rPr>
              <a:t>descarta</a:t>
            </a:r>
            <a:r>
              <a:rPr lang="es">
                <a:solidFill>
                  <a:srgbClr val="000000"/>
                </a:solidFill>
              </a:rPr>
              <a:t> con alta seguridad una IA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rgbClr val="000000"/>
                </a:solidFill>
              </a:rPr>
              <a:t>Los </a:t>
            </a:r>
            <a:r>
              <a:rPr lang="es">
                <a:solidFill>
                  <a:srgbClr val="000000"/>
                </a:solidFill>
              </a:rPr>
              <a:t>valores</a:t>
            </a:r>
            <a:r>
              <a:rPr lang="es">
                <a:solidFill>
                  <a:srgbClr val="000000"/>
                </a:solidFill>
              </a:rPr>
              <a:t> de normalidad referidos corresponden a determinaciones efectuadas entre las</a:t>
            </a:r>
            <a:r>
              <a:rPr b="1" lang="es">
                <a:solidFill>
                  <a:srgbClr val="000000"/>
                </a:solidFill>
              </a:rPr>
              <a:t> 8:00 y las 9:00 h</a:t>
            </a:r>
            <a:r>
              <a:rPr lang="es">
                <a:solidFill>
                  <a:srgbClr val="000000"/>
                </a:solidFill>
              </a:rPr>
              <a:t> y no son extrapolables a otras horas del día.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Consideraciones</a:t>
            </a:r>
            <a:r>
              <a:rPr lang="es"/>
              <a:t> con CBG</a:t>
            </a:r>
            <a:endParaRPr/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1606226"/>
            <a:ext cx="8520600" cy="228248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740"/>
              <a:t> </a:t>
            </a:r>
            <a:r>
              <a:rPr lang="es" sz="2440"/>
              <a:t>¿Es útil la determinación de corticotropina para el diagnóstico de insuficiencia suprarrenal? </a:t>
            </a:r>
            <a:endParaRPr sz="2440"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1789050"/>
            <a:ext cx="8520600" cy="30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Únicamente puede ser de utilidad en casos de sospecha de IAP y cortisol basal en rango no </a:t>
            </a:r>
            <a:r>
              <a:rPr lang="es">
                <a:solidFill>
                  <a:srgbClr val="000000"/>
                </a:solidFill>
              </a:rPr>
              <a:t>diagnóstico</a:t>
            </a:r>
            <a:r>
              <a:rPr lang="es">
                <a:solidFill>
                  <a:srgbClr val="000000"/>
                </a:solidFill>
              </a:rPr>
              <a:t>.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En estas circunstancias, una concentración de ACTH  claramente elevada </a:t>
            </a:r>
            <a:r>
              <a:rPr lang="es">
                <a:solidFill>
                  <a:srgbClr val="000000"/>
                </a:solidFill>
              </a:rPr>
              <a:t>confirma</a:t>
            </a:r>
            <a:r>
              <a:rPr lang="es">
                <a:solidFill>
                  <a:srgbClr val="000000"/>
                </a:solidFill>
              </a:rPr>
              <a:t> una IA, al menos subclínica (e indica una afectación primaria de la glándula adrenal como causa de esta).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445025"/>
            <a:ext cx="8520600" cy="9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822"/>
              <a:t>¿Qué se debe hacer en sujetos con sospecha de insuficiencia suprarrenal y cortisol plasmático en rango indeterminado o no diagnóstico?</a:t>
            </a:r>
            <a:r>
              <a:rPr lang="es"/>
              <a:t> </a:t>
            </a:r>
            <a:endParaRPr/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311700" y="1639950"/>
            <a:ext cx="8520600" cy="331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V</a:t>
            </a:r>
            <a:r>
              <a:rPr lang="es">
                <a:solidFill>
                  <a:srgbClr val="000000"/>
                </a:solidFill>
              </a:rPr>
              <a:t>alores de cortisol </a:t>
            </a:r>
            <a:r>
              <a:rPr lang="es">
                <a:solidFill>
                  <a:srgbClr val="000000"/>
                </a:solidFill>
              </a:rPr>
              <a:t>plasmático</a:t>
            </a:r>
            <a:r>
              <a:rPr lang="es">
                <a:solidFill>
                  <a:srgbClr val="000000"/>
                </a:solidFill>
              </a:rPr>
              <a:t> entre</a:t>
            </a:r>
            <a:r>
              <a:rPr b="1" lang="es">
                <a:solidFill>
                  <a:srgbClr val="000000"/>
                </a:solidFill>
              </a:rPr>
              <a:t> 3 y 15 mg/dl</a:t>
            </a:r>
            <a:r>
              <a:rPr lang="es">
                <a:solidFill>
                  <a:srgbClr val="000000"/>
                </a:solidFill>
              </a:rPr>
              <a:t> (y, sobre todo, entre </a:t>
            </a:r>
            <a:r>
              <a:rPr b="1" lang="es">
                <a:solidFill>
                  <a:srgbClr val="000000"/>
                </a:solidFill>
              </a:rPr>
              <a:t>5-10 mg/dl</a:t>
            </a:r>
            <a:r>
              <a:rPr lang="es">
                <a:solidFill>
                  <a:srgbClr val="000000"/>
                </a:solidFill>
              </a:rPr>
              <a:t>) en ausencia de estrés son indeterminados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Por tanto, en sujetos con valores de cortisol indeterminados y sospecha clínica de IA se requieren tests adicionales de </a:t>
            </a:r>
            <a:r>
              <a:rPr lang="es">
                <a:solidFill>
                  <a:srgbClr val="000000"/>
                </a:solidFill>
              </a:rPr>
              <a:t>naturaleza</a:t>
            </a:r>
            <a:r>
              <a:rPr lang="es">
                <a:solidFill>
                  <a:srgbClr val="000000"/>
                </a:solidFill>
              </a:rPr>
              <a:t> dinámica para confirmar o descartar el diagnóstico. 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850" y="91638"/>
            <a:ext cx="6966300" cy="49602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540"/>
              <a:t>Diagnóstico de localización (diferenciación entre insuficiencia suprarrenal primaria e insuficiencia suprarrenal secundaria)</a:t>
            </a:r>
            <a:endParaRPr sz="2540"/>
          </a:p>
        </p:txBody>
      </p:sp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311700" y="1379050"/>
            <a:ext cx="8520600" cy="31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E</a:t>
            </a:r>
            <a:r>
              <a:rPr lang="es">
                <a:solidFill>
                  <a:srgbClr val="000000"/>
                </a:solidFill>
              </a:rPr>
              <a:t>l escenario clínico-</a:t>
            </a:r>
            <a:r>
              <a:rPr lang="es">
                <a:solidFill>
                  <a:srgbClr val="000000"/>
                </a:solidFill>
              </a:rPr>
              <a:t>bioquímico</a:t>
            </a:r>
            <a:r>
              <a:rPr lang="es">
                <a:solidFill>
                  <a:srgbClr val="000000"/>
                </a:solidFill>
              </a:rPr>
              <a:t> inspira.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La hiperpigmentación </a:t>
            </a:r>
            <a:r>
              <a:rPr lang="es">
                <a:solidFill>
                  <a:srgbClr val="000000"/>
                </a:solidFill>
              </a:rPr>
              <a:t>cutáneo mucosa</a:t>
            </a:r>
            <a:r>
              <a:rPr lang="es">
                <a:solidFill>
                  <a:srgbClr val="000000"/>
                </a:solidFill>
              </a:rPr>
              <a:t>, resultante de la </a:t>
            </a:r>
            <a:r>
              <a:rPr lang="es">
                <a:solidFill>
                  <a:srgbClr val="000000"/>
                </a:solidFill>
              </a:rPr>
              <a:t>elevación</a:t>
            </a:r>
            <a:r>
              <a:rPr lang="es">
                <a:solidFill>
                  <a:srgbClr val="000000"/>
                </a:solidFill>
              </a:rPr>
              <a:t> en los valores de ACTH, es característica de la IAP y está ausente en la IAS.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La hiperpotasemia es un hallazgo bioquímico frecuente en la IAP.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En la IAP ocasiona un incremento en la secreción de ACTH que determina unos valores plasmáticos más del doble del normal.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En la IAS, la concentración de ACTH es baja o normal.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1220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Diagnóstico etiológico </a:t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829400"/>
            <a:ext cx="8520600" cy="41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07700"/>
            <a:ext cx="8520599" cy="381457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1095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311700" y="996125"/>
            <a:ext cx="8520600" cy="3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La adrenalitis autoinmune es responsable del 70-90%: (anticuerpos anti-21OH)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TBC 2da causa más frec: TAC o RMN:  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s">
                <a:solidFill>
                  <a:srgbClr val="000000"/>
                </a:solidFill>
              </a:rPr>
              <a:t>aumento de tamaño de ambas glándulas suprarrenales es el hallazgo más frecuente en la adrenalitis TBC, estando presente en aproximadamente el 90% de los casos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Otras causas de agrandamiento glandular:  infiltración metastásica bilateral, la hemorragia adrenal bilateral y diversas infecciones fúngicas son causas de IAP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2450"/>
            <a:ext cx="8520599" cy="472675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311700" y="1592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</a:t>
            </a:r>
            <a:r>
              <a:rPr lang="es" sz="3267"/>
              <a:t>¿Está justificado el cribado de otras patologías autoinmunes en caso de adrenalitis autoinmune?</a:t>
            </a:r>
            <a:endParaRPr sz="3267"/>
          </a:p>
        </p:txBody>
      </p: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00"/>
                </a:solidFill>
              </a:rPr>
              <a:t>50-80% de los pacientes con IAP </a:t>
            </a:r>
            <a:r>
              <a:rPr b="1" lang="es">
                <a:solidFill>
                  <a:srgbClr val="000000"/>
                </a:solidFill>
              </a:rPr>
              <a:t>autoinmune</a:t>
            </a:r>
            <a:r>
              <a:rPr b="1" lang="es">
                <a:solidFill>
                  <a:srgbClr val="000000"/>
                </a:solidFill>
              </a:rPr>
              <a:t> presenta evidencia de autoinmunidad frente a otros órganos: SPA: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autoinmunidad tiroidea: 50% de los casos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gastritis</a:t>
            </a:r>
            <a:r>
              <a:rPr lang="es">
                <a:solidFill>
                  <a:srgbClr val="000000"/>
                </a:solidFill>
              </a:rPr>
              <a:t> crónica (30%).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Otros: anemia perniciosa, diabetes tipo 1, vitíligo y fallo ovárico prematuro  7-10% cada uno de ellos.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>
            <p:ph type="title"/>
          </p:nvPr>
        </p:nvSpPr>
        <p:spPr>
          <a:xfrm>
            <a:off x="311700" y="847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</a:t>
            </a:r>
            <a:r>
              <a:rPr lang="es" sz="3044"/>
              <a:t>Diagnóstico etiológico de la insuficiencia suprarrenal secundaria</a:t>
            </a:r>
            <a:endParaRPr sz="3044"/>
          </a:p>
        </p:txBody>
      </p:sp>
      <p:sp>
        <p:nvSpPr>
          <p:cNvPr id="186" name="Google Shape;186;p32"/>
          <p:cNvSpPr txBox="1"/>
          <p:nvPr>
            <p:ph idx="1" type="body"/>
          </p:nvPr>
        </p:nvSpPr>
        <p:spPr>
          <a:xfrm>
            <a:off x="311700" y="1056025"/>
            <a:ext cx="8520600" cy="38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Frecuentemente el </a:t>
            </a:r>
            <a:r>
              <a:rPr lang="es">
                <a:solidFill>
                  <a:srgbClr val="000000"/>
                </a:solidFill>
              </a:rPr>
              <a:t>diagnóstico etiológico precede al diagnóstico sindrómico, pues es precisamente la identificación de una potencial causa de IA. (p. ej., una </a:t>
            </a:r>
            <a:r>
              <a:rPr lang="es">
                <a:solidFill>
                  <a:srgbClr val="000000"/>
                </a:solidFill>
              </a:rPr>
              <a:t>lesión</a:t>
            </a:r>
            <a:r>
              <a:rPr lang="es">
                <a:solidFill>
                  <a:srgbClr val="000000"/>
                </a:solidFill>
              </a:rPr>
              <a:t> hipofisaria)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La deficiencia aislada de ACTH obliga a descartar un origen farmacológico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La deficiencia de otras hormonas hipofisarias asociada a la de ACTH obliga a la realización de pruebas de imagen del área hipotálamo-hipofisaria.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028" y="445028"/>
            <a:ext cx="8520600" cy="404583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000" y="53563"/>
            <a:ext cx="7464000" cy="50363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5"/>
          <p:cNvSpPr txBox="1"/>
          <p:nvPr>
            <p:ph type="title"/>
          </p:nvPr>
        </p:nvSpPr>
        <p:spPr>
          <a:xfrm>
            <a:off x="311700" y="847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TRATAMIENTO DE LA INSUFICIENCIA SUPRARRENAL</a:t>
            </a:r>
            <a:endParaRPr/>
          </a:p>
        </p:txBody>
      </p:sp>
      <p:sp>
        <p:nvSpPr>
          <p:cNvPr id="206" name="Google Shape;206;p35"/>
          <p:cNvSpPr txBox="1"/>
          <p:nvPr>
            <p:ph idx="1" type="body"/>
          </p:nvPr>
        </p:nvSpPr>
        <p:spPr>
          <a:xfrm>
            <a:off x="311700" y="667900"/>
            <a:ext cx="8520600" cy="20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00000"/>
                </a:solidFill>
              </a:rPr>
              <a:t> Tratamiento crónico: </a:t>
            </a:r>
            <a:endParaRPr sz="15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s" sz="1300">
                <a:solidFill>
                  <a:srgbClr val="000000"/>
                </a:solidFill>
              </a:rPr>
              <a:t>objetivo de la terapia sustitutiva con GC es reproducir, en lo posible, la secreción endógena de cortisol del sujeto sano. 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s" sz="1300">
                <a:solidFill>
                  <a:srgbClr val="000000"/>
                </a:solidFill>
              </a:rPr>
              <a:t>equivalente a una dosis oral de 15 a 20 mg/día de hidrocortisona.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s" sz="1300">
                <a:solidFill>
                  <a:srgbClr val="000000"/>
                </a:solidFill>
              </a:rPr>
              <a:t>Dividir la dosis en 2 (dos tercios de la dosis total en mañana al levantarse y un tercio a media tarde) 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s" sz="1300">
                <a:solidFill>
                  <a:srgbClr val="000000"/>
                </a:solidFill>
              </a:rPr>
              <a:t>o en 3 fracciones (10 mg a las 7:00 h, 5 mg a las 12:00 h y de 2,5 a 5 mg a las 16:30 h, evitando la </a:t>
            </a:r>
            <a:r>
              <a:rPr lang="es" sz="1300">
                <a:solidFill>
                  <a:srgbClr val="000000"/>
                </a:solidFill>
              </a:rPr>
              <a:t>administración</a:t>
            </a:r>
            <a:r>
              <a:rPr lang="es" sz="1300">
                <a:solidFill>
                  <a:srgbClr val="000000"/>
                </a:solidFill>
              </a:rPr>
              <a:t> más allá de las 18:00 h)</a:t>
            </a:r>
            <a:endParaRPr sz="1300">
              <a:solidFill>
                <a:srgbClr val="000000"/>
              </a:solidFill>
            </a:endParaRPr>
          </a:p>
        </p:txBody>
      </p:sp>
      <p:pic>
        <p:nvPicPr>
          <p:cNvPr id="207" name="Google Shape;20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882" y="2670400"/>
            <a:ext cx="3600418" cy="23302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08" name="Google Shape;20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7500" y="2670400"/>
            <a:ext cx="3210171" cy="23302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700" y="226125"/>
            <a:ext cx="7848600" cy="24574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16" name="Google Shape;21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225" y="2854525"/>
            <a:ext cx="7829550" cy="1714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 txBox="1"/>
          <p:nvPr>
            <p:ph type="title"/>
          </p:nvPr>
        </p:nvSpPr>
        <p:spPr>
          <a:xfrm>
            <a:off x="311700" y="4947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940"/>
              <a:t>Monitorización del tratamiento crónico con glucocorticoides</a:t>
            </a:r>
            <a:endParaRPr sz="2940"/>
          </a:p>
        </p:txBody>
      </p:sp>
      <p:sp>
        <p:nvSpPr>
          <p:cNvPr id="222" name="Google Shape;222;p37"/>
          <p:cNvSpPr txBox="1"/>
          <p:nvPr>
            <p:ph idx="1" type="body"/>
          </p:nvPr>
        </p:nvSpPr>
        <p:spPr>
          <a:xfrm>
            <a:off x="311700" y="1466025"/>
            <a:ext cx="8520600" cy="31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Se basan fundamentalmente en síntomas y signos clínicos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Si el paciente presenta síntomas de déficit de GC (</a:t>
            </a:r>
            <a:r>
              <a:rPr lang="es">
                <a:solidFill>
                  <a:srgbClr val="000000"/>
                </a:solidFill>
              </a:rPr>
              <a:t>cansancio</a:t>
            </a:r>
            <a:r>
              <a:rPr lang="es">
                <a:solidFill>
                  <a:srgbClr val="000000"/>
                </a:solidFill>
              </a:rPr>
              <a:t>, falta de energía, náuseas, mialgias, pérdida de peso, hiperpigmentación en la IAP) debe incrementarse la dosis.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La dosis será excesiva si aparecen síntomas o signos de Cushing (aumento de peso, obesidad central, estrías, </a:t>
            </a:r>
            <a:r>
              <a:rPr lang="es">
                <a:solidFill>
                  <a:srgbClr val="000000"/>
                </a:solidFill>
              </a:rPr>
              <a:t>osteoporosis</a:t>
            </a:r>
            <a:r>
              <a:rPr lang="es">
                <a:solidFill>
                  <a:srgbClr val="000000"/>
                </a:solidFill>
              </a:rPr>
              <a:t>, insomnio, edema, HTA, alteración del metabolismo de la glucosa)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Tratamiento sustitutivo con mineralocorticoides</a:t>
            </a:r>
            <a:endParaRPr/>
          </a:p>
        </p:txBody>
      </p:sp>
      <p:sp>
        <p:nvSpPr>
          <p:cNvPr id="228" name="Google Shape;228;p3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La deficiencia de MC está presente únicamente en la IAP.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El único preparado disponible para la sustitución de la aldosterona es el MC </a:t>
            </a:r>
            <a:r>
              <a:rPr lang="es">
                <a:solidFill>
                  <a:srgbClr val="000000"/>
                </a:solidFill>
              </a:rPr>
              <a:t>sintético</a:t>
            </a:r>
            <a:r>
              <a:rPr lang="es">
                <a:solidFill>
                  <a:srgbClr val="000000"/>
                </a:solidFill>
              </a:rPr>
              <a:t>  frudrocortisona.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La dosis habitual oscila entre 0,05 y 0,2 mg/día </a:t>
            </a:r>
            <a:r>
              <a:rPr lang="es">
                <a:solidFill>
                  <a:srgbClr val="000000"/>
                </a:solidFill>
              </a:rPr>
              <a:t>administrados</a:t>
            </a:r>
            <a:r>
              <a:rPr lang="es">
                <a:solidFill>
                  <a:srgbClr val="000000"/>
                </a:solidFill>
              </a:rPr>
              <a:t> en una toma única diaria a primera hora de la </a:t>
            </a:r>
            <a:r>
              <a:rPr lang="es">
                <a:solidFill>
                  <a:srgbClr val="000000"/>
                </a:solidFill>
              </a:rPr>
              <a:t>mañana.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4637" y="65013"/>
            <a:ext cx="5994726" cy="50134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4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9808" y="730150"/>
            <a:ext cx="7522468" cy="368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Crisis adrenal </a:t>
            </a:r>
            <a:endParaRPr/>
          </a:p>
        </p:txBody>
      </p:sp>
      <p:sp>
        <p:nvSpPr>
          <p:cNvPr id="248" name="Google Shape;248;p4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00"/>
                </a:solidFill>
              </a:rPr>
              <a:t>Emergencia médica que amenaza la vida y que requiere ingreso urgente en el hospital para la administración parenteral de GC y cristaloides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Frecuencia es de 6,3 crisis por 100 pacientes-año, siendo más común en IAP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Factores precipitantes más comunes: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infecciones, infecciones gastrointestinales (que cursan con vómitos y/o diarrea),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fiebre (45%)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cirugía, dolor intenso, heridas, infarto de miocardio, reacciones alérgicas severas, hipoglucemias severas en pacientes </a:t>
            </a:r>
            <a:r>
              <a:rPr lang="es">
                <a:solidFill>
                  <a:srgbClr val="000000"/>
                </a:solidFill>
              </a:rPr>
              <a:t>diabéticos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estrés emocional importante y embarazo.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¿Cómo se manifiesta?</a:t>
            </a:r>
            <a:endParaRPr/>
          </a:p>
        </p:txBody>
      </p:sp>
      <p:sp>
        <p:nvSpPr>
          <p:cNvPr id="254" name="Google Shape;254;p4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 </a:t>
            </a:r>
            <a:r>
              <a:rPr b="1" lang="es">
                <a:solidFill>
                  <a:srgbClr val="000000"/>
                </a:solidFill>
              </a:rPr>
              <a:t>Los síntomas </a:t>
            </a:r>
            <a:r>
              <a:rPr b="1" lang="es">
                <a:solidFill>
                  <a:srgbClr val="000000"/>
                </a:solidFill>
              </a:rPr>
              <a:t>pueden</a:t>
            </a:r>
            <a:r>
              <a:rPr b="1" lang="es">
                <a:solidFill>
                  <a:srgbClr val="000000"/>
                </a:solidFill>
              </a:rPr>
              <a:t> incluir: 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náuseas, vómitos, dolor </a:t>
            </a:r>
            <a:r>
              <a:rPr lang="es">
                <a:solidFill>
                  <a:srgbClr val="000000"/>
                </a:solidFill>
              </a:rPr>
              <a:t>abdominal</a:t>
            </a:r>
            <a:r>
              <a:rPr lang="es">
                <a:solidFill>
                  <a:srgbClr val="000000"/>
                </a:solidFill>
              </a:rPr>
              <a:t>, dolores musculares o calambres, fiebre sin otros signos de infección, mas deshidratación que lleva a hipotensión o shock que responde de forma pobre a fluidos y a medicaciones inotrópicas.</a:t>
            </a:r>
            <a:endParaRPr>
              <a:solidFill>
                <a:srgbClr val="000000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Lab: hiponatremia, en IAP hiperkalemia y azotemia causada por fallo prerrenal, e hipoglucemia no explicada sobre todo en niños. El recuento plasmático a menudo revela anemia, linfocitosis y eosinofilia.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¿Cómo se trata la crisis adrenal?</a:t>
            </a:r>
            <a:endParaRPr/>
          </a:p>
        </p:txBody>
      </p:sp>
      <p:sp>
        <p:nvSpPr>
          <p:cNvPr id="260" name="Google Shape;260;p4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00"/>
                </a:solidFill>
              </a:rPr>
              <a:t>¿Qué medidas de emergencia se deben implementar en las primeras 24 h? 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1. Establecer una vía i.v. de calibre grueso.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2. Extraer sangre para determinación de electrolitos, </a:t>
            </a:r>
            <a:r>
              <a:rPr lang="es">
                <a:solidFill>
                  <a:srgbClr val="000000"/>
                </a:solidFill>
              </a:rPr>
              <a:t>creatinina</a:t>
            </a:r>
            <a:r>
              <a:rPr lang="es">
                <a:solidFill>
                  <a:srgbClr val="000000"/>
                </a:solidFill>
              </a:rPr>
              <a:t> y glucosa plasmáticas y medición rutinaria de cortisol y ACTH en plasma, previo a la administración de corticosteroides. No esperar a los resultados de </a:t>
            </a:r>
            <a:r>
              <a:rPr lang="es">
                <a:solidFill>
                  <a:srgbClr val="000000"/>
                </a:solidFill>
              </a:rPr>
              <a:t>laboratorio</a:t>
            </a:r>
            <a:r>
              <a:rPr lang="es">
                <a:solidFill>
                  <a:srgbClr val="000000"/>
                </a:solidFill>
              </a:rPr>
              <a:t>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3. Perfundir de 2 a 3 l de fisiológico (0,9% de NaCl).</a:t>
            </a:r>
            <a:r>
              <a:rPr lang="es">
                <a:solidFill>
                  <a:srgbClr val="000000"/>
                </a:solidFill>
              </a:rPr>
              <a:t>Administrar</a:t>
            </a:r>
            <a:r>
              <a:rPr lang="es">
                <a:solidFill>
                  <a:srgbClr val="000000"/>
                </a:solidFill>
              </a:rPr>
              <a:t> también suero glucosado para prevenir la posible hipoglucemia.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rgbClr val="000000"/>
                </a:solidFill>
              </a:rPr>
              <a:t>4. Glucocorticoide i.v.: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4"/>
          <p:cNvSpPr txBox="1"/>
          <p:nvPr>
            <p:ph idx="1" type="body"/>
          </p:nvPr>
        </p:nvSpPr>
        <p:spPr>
          <a:xfrm>
            <a:off x="223625" y="509375"/>
            <a:ext cx="8721600" cy="43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U</a:t>
            </a:r>
            <a:r>
              <a:rPr lang="es">
                <a:solidFill>
                  <a:srgbClr val="000000"/>
                </a:solidFill>
              </a:rPr>
              <a:t>sar hidrocortisona i.v., 100 mg inmediatamente y después en perfusión continua (200-300 mg de hidrocortisona </a:t>
            </a:r>
            <a:r>
              <a:rPr lang="es">
                <a:solidFill>
                  <a:srgbClr val="000000"/>
                </a:solidFill>
              </a:rPr>
              <a:t>durante</a:t>
            </a:r>
            <a:r>
              <a:rPr lang="es">
                <a:solidFill>
                  <a:srgbClr val="000000"/>
                </a:solidFill>
              </a:rPr>
              <a:t> 24 h en glucosado al 5%). Si no es posible la vía i.v. se debe utilizar la vía i.m. con bolos de 100 mg cada 6-8 h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La sustitución del MC no es necesaria de forma aguda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Observar una mejoría clínica, especialmente en la PA, en las primeras 4-6 h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Continuar con suero fisiológico (0,9%) a una </a:t>
            </a:r>
            <a:r>
              <a:rPr lang="es">
                <a:solidFill>
                  <a:srgbClr val="000000"/>
                </a:solidFill>
              </a:rPr>
              <a:t>velocidad</a:t>
            </a:r>
            <a:r>
              <a:rPr lang="es">
                <a:solidFill>
                  <a:srgbClr val="000000"/>
                </a:solidFill>
              </a:rPr>
              <a:t> menor en las siguientes 24 a 48 h.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Disminuir gradualmente la dosis de glucocorticoide hasta la dosis de mantenimiento oral, durante 3 a 4 días, si lo permite la enfermedad o complicación precipitante.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>
                <a:solidFill>
                  <a:srgbClr val="000000"/>
                </a:solidFill>
              </a:rPr>
              <a:t>Sustitución MC con FC, 0,1 mg diario por vía oral, cuando se detenga la perfusión de suero salino y la dosis de hidrocortisona sea &lt; 50 mg/día.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5"/>
          <p:cNvSpPr txBox="1"/>
          <p:nvPr>
            <p:ph type="title"/>
          </p:nvPr>
        </p:nvSpPr>
        <p:spPr>
          <a:xfrm>
            <a:off x="311700" y="23086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MUCHAS GRACIAS</a:t>
            </a:r>
            <a:endParaRPr/>
          </a:p>
        </p:txBody>
      </p:sp>
      <p:sp>
        <p:nvSpPr>
          <p:cNvPr id="271" name="Google Shape;271;p4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