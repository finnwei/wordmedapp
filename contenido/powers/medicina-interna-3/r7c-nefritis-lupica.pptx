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Kulim Park"/>
      <p:regular r:id="rId20"/>
      <p:bold r:id="rId21"/>
      <p:italic r:id="rId22"/>
      <p:boldItalic r:id="rId23"/>
    </p:embeddedFont>
    <p:embeddedFont>
      <p:font typeface="Poppins Medium"/>
      <p:regular r:id="rId24"/>
      <p:bold r:id="rId25"/>
      <p:italic r:id="rId26"/>
      <p:boldItalic r:id="rId27"/>
    </p:embeddedFont>
    <p:embeddedFont>
      <p:font typeface="PT Sans"/>
      <p:regular r:id="rId28"/>
      <p:bold r:id="rId29"/>
      <p:italic r:id="rId30"/>
      <p:boldItalic r:id="rId31"/>
    </p:embeddedFont>
    <p:embeddedFont>
      <p:font typeface="Century Gothic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ulimPark-regular.fntdata"/><Relationship Id="rId22" Type="http://schemas.openxmlformats.org/officeDocument/2006/relationships/font" Target="fonts/KulimPark-italic.fntdata"/><Relationship Id="rId21" Type="http://schemas.openxmlformats.org/officeDocument/2006/relationships/font" Target="fonts/KulimPark-bold.fntdata"/><Relationship Id="rId24" Type="http://schemas.openxmlformats.org/officeDocument/2006/relationships/font" Target="fonts/PoppinsMedium-regular.fntdata"/><Relationship Id="rId23" Type="http://schemas.openxmlformats.org/officeDocument/2006/relationships/font" Target="fonts/KulimPark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Medium-italic.fntdata"/><Relationship Id="rId25" Type="http://schemas.openxmlformats.org/officeDocument/2006/relationships/font" Target="fonts/PoppinsMedium-bold.fntdata"/><Relationship Id="rId28" Type="http://schemas.openxmlformats.org/officeDocument/2006/relationships/font" Target="fonts/PTSans-regular.fntdata"/><Relationship Id="rId27" Type="http://schemas.openxmlformats.org/officeDocument/2006/relationships/font" Target="fonts/Poppins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T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TSans-boldItalic.fntdata"/><Relationship Id="rId30" Type="http://schemas.openxmlformats.org/officeDocument/2006/relationships/font" Target="fonts/PTSans-italic.fntdata"/><Relationship Id="rId11" Type="http://schemas.openxmlformats.org/officeDocument/2006/relationships/slide" Target="slides/slide7.xml"/><Relationship Id="rId33" Type="http://schemas.openxmlformats.org/officeDocument/2006/relationships/font" Target="fonts/CenturyGothic-bold.fntdata"/><Relationship Id="rId10" Type="http://schemas.openxmlformats.org/officeDocument/2006/relationships/slide" Target="slides/slide6.xml"/><Relationship Id="rId32" Type="http://schemas.openxmlformats.org/officeDocument/2006/relationships/font" Target="fonts/CenturyGothic-regular.fntdata"/><Relationship Id="rId13" Type="http://schemas.openxmlformats.org/officeDocument/2006/relationships/slide" Target="slides/slide9.xml"/><Relationship Id="rId35" Type="http://schemas.openxmlformats.org/officeDocument/2006/relationships/font" Target="fonts/CenturyGothic-boldItalic.fntdata"/><Relationship Id="rId12" Type="http://schemas.openxmlformats.org/officeDocument/2006/relationships/slide" Target="slides/slide8.xml"/><Relationship Id="rId34" Type="http://schemas.openxmlformats.org/officeDocument/2006/relationships/font" Target="fonts/CenturyGothic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1d5f37ab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1d5f37ab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99f2f57a71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99f2f57a71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bd6c00e73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bd6c00e73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0ff16cb5a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0ff16cb5a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0ff16cb5a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0ff16cb5a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0f6e077fd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0f6e077fd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0ff16cb5a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0ff16cb5a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0ff16cb5a9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0ff16cb5a9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0ff16cb5a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0ff16cb5a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0ff16cb5a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0ff16cb5a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894500" y="94350"/>
            <a:ext cx="2477400" cy="24774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723075" y="2745775"/>
            <a:ext cx="4545600" cy="45456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269300" y="244200"/>
            <a:ext cx="605400" cy="5904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104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2983650" y="-3451000"/>
            <a:ext cx="5061300" cy="50613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713100" y="1470063"/>
            <a:ext cx="4283700" cy="17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1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13100" y="3197638"/>
            <a:ext cx="4283700" cy="475800"/>
          </a:xfrm>
          <a:prstGeom prst="rect">
            <a:avLst/>
          </a:prstGeom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" name="Google Shape;16;p2"/>
          <p:cNvSpPr/>
          <p:nvPr>
            <p:ph idx="2" type="pic"/>
          </p:nvPr>
        </p:nvSpPr>
        <p:spPr>
          <a:xfrm>
            <a:off x="5546400" y="1129500"/>
            <a:ext cx="2884500" cy="2884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1581900" y="-2325625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-590600" y="3079875"/>
            <a:ext cx="2878500" cy="2878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436300" y="-6845100"/>
            <a:ext cx="9778800" cy="9778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4309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99845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 flipH="1">
            <a:off x="4294200" y="2067450"/>
            <a:ext cx="4136700" cy="17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2" type="title"/>
          </p:nvPr>
        </p:nvSpPr>
        <p:spPr>
          <a:xfrm flipH="1">
            <a:off x="5820600" y="1071275"/>
            <a:ext cx="1083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 flipH="1">
            <a:off x="4294200" y="3814975"/>
            <a:ext cx="4136700" cy="447000"/>
          </a:xfrm>
          <a:prstGeom prst="rect">
            <a:avLst/>
          </a:prstGeom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/>
          <p:nvPr>
            <p:ph idx="3" type="pic"/>
          </p:nvPr>
        </p:nvSpPr>
        <p:spPr>
          <a:xfrm>
            <a:off x="855275" y="1129500"/>
            <a:ext cx="2884500" cy="2884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 flipH="1" rot="10800000">
            <a:off x="4360100" y="670975"/>
            <a:ext cx="12790500" cy="12790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 flipH="1" rot="10800000">
            <a:off x="-1856425" y="-2205750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81282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0000" y="1621250"/>
            <a:ext cx="6190500" cy="29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 flipH="1">
            <a:off x="8409638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 flipH="1">
            <a:off x="-6486987" y="-6233050"/>
            <a:ext cx="9650700" cy="9650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 flipH="1">
            <a:off x="3763250" y="-2808300"/>
            <a:ext cx="3347700" cy="3347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 flipH="1">
            <a:off x="5622688" y="2671175"/>
            <a:ext cx="7429800" cy="7429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 flipH="1">
            <a:off x="93338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 flipH="1">
            <a:off x="1486875" y="4527025"/>
            <a:ext cx="3347700" cy="3347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title"/>
          </p:nvPr>
        </p:nvSpPr>
        <p:spPr>
          <a:xfrm>
            <a:off x="1487525" y="2258978"/>
            <a:ext cx="2665800" cy="41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200">
                <a:solidFill>
                  <a:schemeClr val="dk2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title"/>
          </p:nvPr>
        </p:nvSpPr>
        <p:spPr>
          <a:xfrm>
            <a:off x="4990679" y="2258900"/>
            <a:ext cx="2665800" cy="41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200">
                <a:solidFill>
                  <a:schemeClr val="dk2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4990672" y="2594900"/>
            <a:ext cx="2665800" cy="11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p5"/>
          <p:cNvSpPr txBox="1"/>
          <p:nvPr>
            <p:ph idx="4" type="subTitle"/>
          </p:nvPr>
        </p:nvSpPr>
        <p:spPr>
          <a:xfrm>
            <a:off x="1487525" y="2594900"/>
            <a:ext cx="2665800" cy="11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7344475" y="2748625"/>
            <a:ext cx="5061300" cy="50613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-1986550" y="-1948175"/>
            <a:ext cx="3580500" cy="3580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1146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84309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 flipH="1" rot="10800000">
            <a:off x="5671550" y="1478275"/>
            <a:ext cx="7984800" cy="7984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 flipH="1" rot="10800000">
            <a:off x="2940325" y="-2013100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 flipH="1" rot="10800000">
            <a:off x="-1899225" y="4145200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81282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506615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720000" y="1978225"/>
            <a:ext cx="3773700" cy="24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720000" y="674375"/>
            <a:ext cx="3773700" cy="13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9" name="Google Shape;59;p7"/>
          <p:cNvSpPr/>
          <p:nvPr>
            <p:ph idx="2" type="pic"/>
          </p:nvPr>
        </p:nvSpPr>
        <p:spPr>
          <a:xfrm>
            <a:off x="5414400" y="1129500"/>
            <a:ext cx="2884500" cy="2884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/>
        </p:nvSpPr>
        <p:spPr>
          <a:xfrm flipH="1" rot="10800000">
            <a:off x="1015800" y="-2931600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 flipH="1" rot="10800000">
            <a:off x="3590000" y="4030725"/>
            <a:ext cx="2878500" cy="2878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10800000">
            <a:off x="5571150" y="-8648750"/>
            <a:ext cx="12790500" cy="12790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/>
          <p:nvPr/>
        </p:nvSpPr>
        <p:spPr>
          <a:xfrm flipH="1" rot="10800000">
            <a:off x="-6054500" y="1491325"/>
            <a:ext cx="7984800" cy="7984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4104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81282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1251000" y="1307100"/>
            <a:ext cx="6642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6844125" y="171000"/>
            <a:ext cx="2878500" cy="2878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-85150" y="-2210300"/>
            <a:ext cx="3712200" cy="37122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1511325" y="4203650"/>
            <a:ext cx="6121500" cy="6121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4104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81282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107700" y="11254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8430900" y="3741178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type="title"/>
          </p:nvPr>
        </p:nvSpPr>
        <p:spPr>
          <a:xfrm>
            <a:off x="1478100" y="2675125"/>
            <a:ext cx="61878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>
            <a:off x="1478100" y="3516925"/>
            <a:ext cx="6187800" cy="10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/>
          <p:nvPr>
            <p:ph idx="2" type="pic"/>
          </p:nvPr>
        </p:nvSpPr>
        <p:spPr>
          <a:xfrm>
            <a:off x="1592100" y="678000"/>
            <a:ext cx="5959800" cy="1864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/>
          <p:nvPr/>
        </p:nvSpPr>
        <p:spPr>
          <a:xfrm flipH="1" rot="10800000">
            <a:off x="2067375" y="-2835275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0"/>
          <p:cNvSpPr/>
          <p:nvPr/>
        </p:nvSpPr>
        <p:spPr>
          <a:xfrm flipH="1" rot="10800000">
            <a:off x="4009200" y="-577100"/>
            <a:ext cx="12790500" cy="12790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0"/>
          <p:cNvSpPr/>
          <p:nvPr/>
        </p:nvSpPr>
        <p:spPr>
          <a:xfrm flipH="1" rot="10800000">
            <a:off x="-4262950" y="1825750"/>
            <a:ext cx="7984800" cy="7984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0"/>
          <p:cNvSpPr/>
          <p:nvPr/>
        </p:nvSpPr>
        <p:spPr>
          <a:xfrm>
            <a:off x="4104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0"/>
          <p:cNvSpPr txBox="1"/>
          <p:nvPr>
            <p:ph type="title"/>
          </p:nvPr>
        </p:nvSpPr>
        <p:spPr>
          <a:xfrm>
            <a:off x="4126350" y="539400"/>
            <a:ext cx="4297500" cy="1495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/>
        </p:nvSpPr>
        <p:spPr>
          <a:xfrm flipH="1" rot="10800000">
            <a:off x="4404425" y="-3337825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1"/>
          <p:cNvSpPr/>
          <p:nvPr/>
        </p:nvSpPr>
        <p:spPr>
          <a:xfrm flipH="1" rot="10800000">
            <a:off x="538425" y="4141750"/>
            <a:ext cx="2878500" cy="2878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1"/>
          <p:cNvSpPr/>
          <p:nvPr/>
        </p:nvSpPr>
        <p:spPr>
          <a:xfrm flipH="1" rot="10800000">
            <a:off x="4999925" y="1491325"/>
            <a:ext cx="9778800" cy="9778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1"/>
          <p:cNvSpPr/>
          <p:nvPr/>
        </p:nvSpPr>
        <p:spPr>
          <a:xfrm flipH="1" rot="10800000">
            <a:off x="-4359275" y="-5319300"/>
            <a:ext cx="7984800" cy="7984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1"/>
          <p:cNvSpPr/>
          <p:nvPr/>
        </p:nvSpPr>
        <p:spPr>
          <a:xfrm>
            <a:off x="8128200" y="1329228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1"/>
          <p:cNvSpPr/>
          <p:nvPr/>
        </p:nvSpPr>
        <p:spPr>
          <a:xfrm>
            <a:off x="410400" y="3108278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"/>
          <p:cNvSpPr txBox="1"/>
          <p:nvPr>
            <p:ph hasCustomPrompt="1" type="title"/>
          </p:nvPr>
        </p:nvSpPr>
        <p:spPr>
          <a:xfrm>
            <a:off x="1697400" y="1491325"/>
            <a:ext cx="5749200" cy="17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rgbClr val="101122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1697400" y="3155075"/>
            <a:ext cx="5749200" cy="497100"/>
          </a:xfrm>
          <a:prstGeom prst="rect">
            <a:avLst/>
          </a:prstGeom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077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6927875" y="-4557075"/>
            <a:ext cx="7429800" cy="7429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-2016900" y="3429375"/>
            <a:ext cx="3347700" cy="3347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2107800" y="-4089425"/>
            <a:ext cx="4928400" cy="49284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84240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3"/>
          <p:cNvSpPr txBox="1"/>
          <p:nvPr>
            <p:ph type="title"/>
          </p:nvPr>
        </p:nvSpPr>
        <p:spPr>
          <a:xfrm>
            <a:off x="2067225" y="1478400"/>
            <a:ext cx="2374200" cy="8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2" name="Google Shape;102;p13"/>
          <p:cNvSpPr txBox="1"/>
          <p:nvPr>
            <p:ph hasCustomPrompt="1" idx="2" type="title"/>
          </p:nvPr>
        </p:nvSpPr>
        <p:spPr>
          <a:xfrm>
            <a:off x="1177725" y="2089350"/>
            <a:ext cx="7200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/>
          <p:nvPr>
            <p:ph idx="1" type="subTitle"/>
          </p:nvPr>
        </p:nvSpPr>
        <p:spPr>
          <a:xfrm>
            <a:off x="2067225" y="2270475"/>
            <a:ext cx="2374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4" name="Google Shape;104;p13"/>
          <p:cNvSpPr txBox="1"/>
          <p:nvPr>
            <p:ph idx="3" type="title"/>
          </p:nvPr>
        </p:nvSpPr>
        <p:spPr>
          <a:xfrm>
            <a:off x="5651325" y="1478400"/>
            <a:ext cx="2374200" cy="8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13"/>
          <p:cNvSpPr txBox="1"/>
          <p:nvPr>
            <p:ph hasCustomPrompt="1" idx="4" type="title"/>
          </p:nvPr>
        </p:nvSpPr>
        <p:spPr>
          <a:xfrm>
            <a:off x="4761825" y="2089350"/>
            <a:ext cx="7200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idx="5" type="subTitle"/>
          </p:nvPr>
        </p:nvSpPr>
        <p:spPr>
          <a:xfrm>
            <a:off x="5651325" y="2270475"/>
            <a:ext cx="2374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7" name="Google Shape;107;p13"/>
          <p:cNvSpPr txBox="1"/>
          <p:nvPr>
            <p:ph idx="6" type="title"/>
          </p:nvPr>
        </p:nvSpPr>
        <p:spPr>
          <a:xfrm>
            <a:off x="2067225" y="3191741"/>
            <a:ext cx="2374200" cy="8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8" name="Google Shape;108;p13"/>
          <p:cNvSpPr txBox="1"/>
          <p:nvPr>
            <p:ph hasCustomPrompt="1" idx="7" type="title"/>
          </p:nvPr>
        </p:nvSpPr>
        <p:spPr>
          <a:xfrm>
            <a:off x="1177725" y="3804125"/>
            <a:ext cx="7200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/>
          <p:nvPr>
            <p:ph idx="8" type="subTitle"/>
          </p:nvPr>
        </p:nvSpPr>
        <p:spPr>
          <a:xfrm>
            <a:off x="2067225" y="3983700"/>
            <a:ext cx="2374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0" name="Google Shape;110;p13"/>
          <p:cNvSpPr txBox="1"/>
          <p:nvPr>
            <p:ph idx="9" type="title"/>
          </p:nvPr>
        </p:nvSpPr>
        <p:spPr>
          <a:xfrm>
            <a:off x="5651325" y="3191675"/>
            <a:ext cx="2374200" cy="8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13"/>
          <p:cNvSpPr txBox="1"/>
          <p:nvPr>
            <p:ph hasCustomPrompt="1" idx="13" type="title"/>
          </p:nvPr>
        </p:nvSpPr>
        <p:spPr>
          <a:xfrm>
            <a:off x="4761825" y="3804125"/>
            <a:ext cx="7200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/>
          <p:nvPr>
            <p:ph idx="14" type="subTitle"/>
          </p:nvPr>
        </p:nvSpPr>
        <p:spPr>
          <a:xfrm>
            <a:off x="5651325" y="3983700"/>
            <a:ext cx="2374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3" name="Google Shape;113;p13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-5306825" y="244050"/>
            <a:ext cx="7326000" cy="73260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7626100" y="-1883625"/>
            <a:ext cx="3308400" cy="33084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1077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84240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4204825" y="4181325"/>
            <a:ext cx="4125300" cy="41253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4"/>
          <p:cNvSpPr txBox="1"/>
          <p:nvPr>
            <p:ph type="title"/>
          </p:nvPr>
        </p:nvSpPr>
        <p:spPr>
          <a:xfrm>
            <a:off x="1357800" y="1940676"/>
            <a:ext cx="6421500" cy="64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1357800" y="539400"/>
            <a:ext cx="6421500" cy="14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2" name="Google Shape;122;p14"/>
          <p:cNvSpPr/>
          <p:nvPr>
            <p:ph idx="2" type="pic"/>
          </p:nvPr>
        </p:nvSpPr>
        <p:spPr>
          <a:xfrm>
            <a:off x="855161" y="2905056"/>
            <a:ext cx="7426800" cy="15777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/>
          <p:nvPr/>
        </p:nvSpPr>
        <p:spPr>
          <a:xfrm flipH="1" rot="10800000">
            <a:off x="5078850" y="-2064700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 flipH="1" rot="10800000">
            <a:off x="4789900" y="996700"/>
            <a:ext cx="12790500" cy="12790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 flipH="1" rot="10800000">
            <a:off x="-4744525" y="-5521500"/>
            <a:ext cx="7984800" cy="7984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4104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42693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 flipH="1" rot="10800000">
            <a:off x="-238050" y="4308750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5"/>
          <p:cNvSpPr txBox="1"/>
          <p:nvPr>
            <p:ph type="title"/>
          </p:nvPr>
        </p:nvSpPr>
        <p:spPr>
          <a:xfrm>
            <a:off x="720000" y="1158800"/>
            <a:ext cx="3954300" cy="18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1" name="Google Shape;131;p15"/>
          <p:cNvSpPr txBox="1"/>
          <p:nvPr>
            <p:ph idx="1" type="subTitle"/>
          </p:nvPr>
        </p:nvSpPr>
        <p:spPr>
          <a:xfrm>
            <a:off x="720000" y="2980000"/>
            <a:ext cx="3954300" cy="10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5"/>
          <p:cNvSpPr/>
          <p:nvPr>
            <p:ph idx="2" type="pic"/>
          </p:nvPr>
        </p:nvSpPr>
        <p:spPr>
          <a:xfrm>
            <a:off x="5443775" y="1142550"/>
            <a:ext cx="2858400" cy="28584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 flipH="1" rot="10800000">
            <a:off x="6696825" y="2802925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 flipH="1" rot="10800000">
            <a:off x="4000650" y="-9778775"/>
            <a:ext cx="12790500" cy="12790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 flipH="1" rot="10800000">
            <a:off x="-6257725" y="1323600"/>
            <a:ext cx="7984800" cy="7984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220195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81282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 flipH="1" rot="10800000">
            <a:off x="279300" y="-3163675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"/>
          <p:cNvSpPr txBox="1"/>
          <p:nvPr>
            <p:ph type="title"/>
          </p:nvPr>
        </p:nvSpPr>
        <p:spPr>
          <a:xfrm>
            <a:off x="720000" y="1592388"/>
            <a:ext cx="2996700" cy="6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16"/>
          <p:cNvSpPr txBox="1"/>
          <p:nvPr>
            <p:ph idx="1" type="subTitle"/>
          </p:nvPr>
        </p:nvSpPr>
        <p:spPr>
          <a:xfrm>
            <a:off x="720000" y="2247013"/>
            <a:ext cx="2996700" cy="13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/>
          <p:nvPr/>
        </p:nvSpPr>
        <p:spPr>
          <a:xfrm flipH="1" rot="10800000">
            <a:off x="-7956425" y="-9170900"/>
            <a:ext cx="12790500" cy="12790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 flipH="1" rot="10800000">
            <a:off x="6696825" y="2802925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 flipH="1" rot="10800000">
            <a:off x="6153150" y="-5413050"/>
            <a:ext cx="7984800" cy="7984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8128200" y="1614978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4104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 flipH="1" rot="10800000">
            <a:off x="-1013075" y="4317850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1146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17"/>
          <p:cNvSpPr txBox="1"/>
          <p:nvPr>
            <p:ph idx="2" type="title"/>
          </p:nvPr>
        </p:nvSpPr>
        <p:spPr>
          <a:xfrm>
            <a:off x="1819238" y="3369175"/>
            <a:ext cx="2333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2" name="Google Shape;152;p17"/>
          <p:cNvSpPr txBox="1"/>
          <p:nvPr>
            <p:ph idx="1" type="subTitle"/>
          </p:nvPr>
        </p:nvSpPr>
        <p:spPr>
          <a:xfrm>
            <a:off x="1819238" y="3704875"/>
            <a:ext cx="2333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7"/>
          <p:cNvSpPr txBox="1"/>
          <p:nvPr>
            <p:ph idx="3" type="title"/>
          </p:nvPr>
        </p:nvSpPr>
        <p:spPr>
          <a:xfrm>
            <a:off x="4991673" y="3369175"/>
            <a:ext cx="23331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4" name="Google Shape;154;p17"/>
          <p:cNvSpPr txBox="1"/>
          <p:nvPr>
            <p:ph idx="4" type="subTitle"/>
          </p:nvPr>
        </p:nvSpPr>
        <p:spPr>
          <a:xfrm>
            <a:off x="4991673" y="3704875"/>
            <a:ext cx="2333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0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/>
          <p:nvPr/>
        </p:nvSpPr>
        <p:spPr>
          <a:xfrm>
            <a:off x="-4096075" y="3423750"/>
            <a:ext cx="6704100" cy="67041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7657500" y="-1917325"/>
            <a:ext cx="3343800" cy="3343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1077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84309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737875" y="4604100"/>
            <a:ext cx="2289300" cy="22893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713100" y="1621300"/>
            <a:ext cx="4437300" cy="29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5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162" name="Google Shape;162;p18"/>
          <p:cNvSpPr txBox="1"/>
          <p:nvPr>
            <p:ph idx="2" type="body"/>
          </p:nvPr>
        </p:nvSpPr>
        <p:spPr>
          <a:xfrm>
            <a:off x="5150400" y="1621250"/>
            <a:ext cx="3280500" cy="29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b="1" sz="2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163" name="Google Shape;16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7129950" y="-3220975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3132750" y="4334400"/>
            <a:ext cx="2878500" cy="2878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-5293800" y="-7054750"/>
            <a:ext cx="9778800" cy="9778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1077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8430900" y="53940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1" name="Google Shape;171;p19"/>
          <p:cNvSpPr txBox="1"/>
          <p:nvPr>
            <p:ph idx="2" type="title"/>
          </p:nvPr>
        </p:nvSpPr>
        <p:spPr>
          <a:xfrm>
            <a:off x="720000" y="2834900"/>
            <a:ext cx="23226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2" name="Google Shape;172;p19"/>
          <p:cNvSpPr txBox="1"/>
          <p:nvPr>
            <p:ph idx="1" type="subTitle"/>
          </p:nvPr>
        </p:nvSpPr>
        <p:spPr>
          <a:xfrm>
            <a:off x="720000" y="3243125"/>
            <a:ext cx="2322600" cy="8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9"/>
          <p:cNvSpPr txBox="1"/>
          <p:nvPr>
            <p:ph idx="3" type="title"/>
          </p:nvPr>
        </p:nvSpPr>
        <p:spPr>
          <a:xfrm>
            <a:off x="3410704" y="2834825"/>
            <a:ext cx="23226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" name="Google Shape;174;p19"/>
          <p:cNvSpPr txBox="1"/>
          <p:nvPr>
            <p:ph idx="4" type="subTitle"/>
          </p:nvPr>
        </p:nvSpPr>
        <p:spPr>
          <a:xfrm>
            <a:off x="3410698" y="3243125"/>
            <a:ext cx="2322600" cy="8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9"/>
          <p:cNvSpPr txBox="1"/>
          <p:nvPr>
            <p:ph idx="5" type="title"/>
          </p:nvPr>
        </p:nvSpPr>
        <p:spPr>
          <a:xfrm>
            <a:off x="6101402" y="2834825"/>
            <a:ext cx="23226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6" name="Google Shape;176;p19"/>
          <p:cNvSpPr txBox="1"/>
          <p:nvPr>
            <p:ph idx="6" type="subTitle"/>
          </p:nvPr>
        </p:nvSpPr>
        <p:spPr>
          <a:xfrm>
            <a:off x="6101399" y="3243125"/>
            <a:ext cx="2322600" cy="8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/>
          <p:nvPr/>
        </p:nvSpPr>
        <p:spPr>
          <a:xfrm flipH="1" rot="10800000">
            <a:off x="7147200" y="-2611850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 flipH="1" rot="10800000">
            <a:off x="-1721775" y="-2033925"/>
            <a:ext cx="2878500" cy="2878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 flipH="1" rot="10800000">
            <a:off x="-6222250" y="1997025"/>
            <a:ext cx="9778800" cy="9778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 flipH="1" rot="10800000">
            <a:off x="8122125" y="4361725"/>
            <a:ext cx="2878500" cy="2878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4104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81282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107700" y="11254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8430900" y="3741178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7" name="Google Shape;187;p20"/>
          <p:cNvSpPr txBox="1"/>
          <p:nvPr>
            <p:ph idx="2" type="title"/>
          </p:nvPr>
        </p:nvSpPr>
        <p:spPr>
          <a:xfrm>
            <a:off x="1996800" y="1792875"/>
            <a:ext cx="23727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88" name="Google Shape;188;p20"/>
          <p:cNvSpPr txBox="1"/>
          <p:nvPr>
            <p:ph idx="1" type="subTitle"/>
          </p:nvPr>
        </p:nvSpPr>
        <p:spPr>
          <a:xfrm>
            <a:off x="1996800" y="2128575"/>
            <a:ext cx="23727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0"/>
          <p:cNvSpPr txBox="1"/>
          <p:nvPr>
            <p:ph idx="3" type="title"/>
          </p:nvPr>
        </p:nvSpPr>
        <p:spPr>
          <a:xfrm>
            <a:off x="4774506" y="1792875"/>
            <a:ext cx="23727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0" name="Google Shape;190;p20"/>
          <p:cNvSpPr txBox="1"/>
          <p:nvPr>
            <p:ph idx="4" type="subTitle"/>
          </p:nvPr>
        </p:nvSpPr>
        <p:spPr>
          <a:xfrm>
            <a:off x="4774504" y="2128575"/>
            <a:ext cx="23727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>
            <p:ph idx="5" type="title"/>
          </p:nvPr>
        </p:nvSpPr>
        <p:spPr>
          <a:xfrm>
            <a:off x="1996800" y="3226275"/>
            <a:ext cx="23727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2" name="Google Shape;192;p20"/>
          <p:cNvSpPr txBox="1"/>
          <p:nvPr>
            <p:ph idx="6" type="subTitle"/>
          </p:nvPr>
        </p:nvSpPr>
        <p:spPr>
          <a:xfrm>
            <a:off x="1996800" y="3561975"/>
            <a:ext cx="23727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0"/>
          <p:cNvSpPr txBox="1"/>
          <p:nvPr>
            <p:ph idx="7" type="title"/>
          </p:nvPr>
        </p:nvSpPr>
        <p:spPr>
          <a:xfrm>
            <a:off x="4774506" y="3226275"/>
            <a:ext cx="23727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4" name="Google Shape;194;p20"/>
          <p:cNvSpPr txBox="1"/>
          <p:nvPr>
            <p:ph idx="8" type="subTitle"/>
          </p:nvPr>
        </p:nvSpPr>
        <p:spPr>
          <a:xfrm>
            <a:off x="4774503" y="3561975"/>
            <a:ext cx="23727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7" name="Google Shape;197;p21"/>
          <p:cNvSpPr txBox="1"/>
          <p:nvPr>
            <p:ph idx="2" type="title"/>
          </p:nvPr>
        </p:nvSpPr>
        <p:spPr>
          <a:xfrm>
            <a:off x="907163" y="1859475"/>
            <a:ext cx="20970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98" name="Google Shape;198;p21"/>
          <p:cNvSpPr txBox="1"/>
          <p:nvPr>
            <p:ph idx="1" type="subTitle"/>
          </p:nvPr>
        </p:nvSpPr>
        <p:spPr>
          <a:xfrm>
            <a:off x="907163" y="2195175"/>
            <a:ext cx="2097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1"/>
          <p:cNvSpPr txBox="1"/>
          <p:nvPr>
            <p:ph idx="3" type="title"/>
          </p:nvPr>
        </p:nvSpPr>
        <p:spPr>
          <a:xfrm>
            <a:off x="3523493" y="1859475"/>
            <a:ext cx="20970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0" name="Google Shape;200;p21"/>
          <p:cNvSpPr txBox="1"/>
          <p:nvPr>
            <p:ph idx="4" type="subTitle"/>
          </p:nvPr>
        </p:nvSpPr>
        <p:spPr>
          <a:xfrm>
            <a:off x="3523549" y="2195175"/>
            <a:ext cx="2097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1"/>
          <p:cNvSpPr txBox="1"/>
          <p:nvPr>
            <p:ph idx="5" type="title"/>
          </p:nvPr>
        </p:nvSpPr>
        <p:spPr>
          <a:xfrm>
            <a:off x="907163" y="3292900"/>
            <a:ext cx="20970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2" name="Google Shape;202;p21"/>
          <p:cNvSpPr txBox="1"/>
          <p:nvPr>
            <p:ph idx="6" type="subTitle"/>
          </p:nvPr>
        </p:nvSpPr>
        <p:spPr>
          <a:xfrm>
            <a:off x="907163" y="3628575"/>
            <a:ext cx="2097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>
            <p:ph idx="7" type="title"/>
          </p:nvPr>
        </p:nvSpPr>
        <p:spPr>
          <a:xfrm>
            <a:off x="3523493" y="3292900"/>
            <a:ext cx="20970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4" name="Google Shape;204;p21"/>
          <p:cNvSpPr txBox="1"/>
          <p:nvPr>
            <p:ph idx="8" type="subTitle"/>
          </p:nvPr>
        </p:nvSpPr>
        <p:spPr>
          <a:xfrm>
            <a:off x="3523493" y="3628575"/>
            <a:ext cx="2097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9" type="title"/>
          </p:nvPr>
        </p:nvSpPr>
        <p:spPr>
          <a:xfrm>
            <a:off x="6139829" y="1859475"/>
            <a:ext cx="20970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6" name="Google Shape;206;p21"/>
          <p:cNvSpPr txBox="1"/>
          <p:nvPr>
            <p:ph idx="13" type="subTitle"/>
          </p:nvPr>
        </p:nvSpPr>
        <p:spPr>
          <a:xfrm>
            <a:off x="6139830" y="2195175"/>
            <a:ext cx="2097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1"/>
          <p:cNvSpPr txBox="1"/>
          <p:nvPr>
            <p:ph idx="14" type="title"/>
          </p:nvPr>
        </p:nvSpPr>
        <p:spPr>
          <a:xfrm>
            <a:off x="6139830" y="3292900"/>
            <a:ext cx="20970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08" name="Google Shape;208;p21"/>
          <p:cNvSpPr txBox="1"/>
          <p:nvPr>
            <p:ph idx="15" type="subTitle"/>
          </p:nvPr>
        </p:nvSpPr>
        <p:spPr>
          <a:xfrm>
            <a:off x="6139830" y="3628575"/>
            <a:ext cx="20970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1"/>
          <p:cNvSpPr/>
          <p:nvPr/>
        </p:nvSpPr>
        <p:spPr>
          <a:xfrm>
            <a:off x="-2232350" y="3444400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7775375" y="-1462625"/>
            <a:ext cx="2878500" cy="2878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 flipH="1">
            <a:off x="84309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 flipH="1">
            <a:off x="1077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/>
          <p:nvPr/>
        </p:nvSpPr>
        <p:spPr>
          <a:xfrm flipH="1" rot="10800000">
            <a:off x="6311550" y="-2779175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 flipH="1" rot="10800000">
            <a:off x="2842750" y="4568600"/>
            <a:ext cx="2878500" cy="2878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 flipH="1" rot="10800000">
            <a:off x="-6269550" y="-6617825"/>
            <a:ext cx="9778800" cy="9778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 flipH="1" rot="10800000">
            <a:off x="7968025" y="4232425"/>
            <a:ext cx="2878500" cy="28785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8430900" y="53940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1146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"/>
          <p:cNvSpPr txBox="1"/>
          <p:nvPr>
            <p:ph hasCustomPrompt="1" type="title"/>
          </p:nvPr>
        </p:nvSpPr>
        <p:spPr>
          <a:xfrm>
            <a:off x="716550" y="1795000"/>
            <a:ext cx="21324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1" name="Google Shape;221;p22"/>
          <p:cNvSpPr txBox="1"/>
          <p:nvPr>
            <p:ph idx="1" type="subTitle"/>
          </p:nvPr>
        </p:nvSpPr>
        <p:spPr>
          <a:xfrm>
            <a:off x="716550" y="3313952"/>
            <a:ext cx="2132400" cy="9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22" name="Google Shape;222;p22"/>
          <p:cNvSpPr txBox="1"/>
          <p:nvPr>
            <p:ph hasCustomPrompt="1" idx="2" type="title"/>
          </p:nvPr>
        </p:nvSpPr>
        <p:spPr>
          <a:xfrm>
            <a:off x="3502350" y="1795292"/>
            <a:ext cx="21324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3" name="Google Shape;223;p22"/>
          <p:cNvSpPr txBox="1"/>
          <p:nvPr>
            <p:ph idx="3" type="subTitle"/>
          </p:nvPr>
        </p:nvSpPr>
        <p:spPr>
          <a:xfrm>
            <a:off x="3509250" y="3314228"/>
            <a:ext cx="2132400" cy="9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24" name="Google Shape;224;p22"/>
          <p:cNvSpPr txBox="1"/>
          <p:nvPr>
            <p:ph hasCustomPrompt="1" idx="4" type="title"/>
          </p:nvPr>
        </p:nvSpPr>
        <p:spPr>
          <a:xfrm>
            <a:off x="6295050" y="1795075"/>
            <a:ext cx="21324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5" name="Google Shape;225;p22"/>
          <p:cNvSpPr txBox="1"/>
          <p:nvPr>
            <p:ph idx="5" type="subTitle"/>
          </p:nvPr>
        </p:nvSpPr>
        <p:spPr>
          <a:xfrm>
            <a:off x="6295050" y="3313820"/>
            <a:ext cx="2132400" cy="9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26" name="Google Shape;226;p22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7" name="Google Shape;227;p22"/>
          <p:cNvSpPr txBox="1"/>
          <p:nvPr>
            <p:ph idx="7" type="title"/>
          </p:nvPr>
        </p:nvSpPr>
        <p:spPr>
          <a:xfrm>
            <a:off x="716550" y="2978425"/>
            <a:ext cx="21324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8" name="Google Shape;228;p22"/>
          <p:cNvSpPr txBox="1"/>
          <p:nvPr>
            <p:ph idx="8" type="title"/>
          </p:nvPr>
        </p:nvSpPr>
        <p:spPr>
          <a:xfrm>
            <a:off x="3505800" y="2978425"/>
            <a:ext cx="21324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9" name="Google Shape;229;p22"/>
          <p:cNvSpPr txBox="1"/>
          <p:nvPr>
            <p:ph idx="9" type="title"/>
          </p:nvPr>
        </p:nvSpPr>
        <p:spPr>
          <a:xfrm>
            <a:off x="6295050" y="2978425"/>
            <a:ext cx="2132400" cy="41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"/>
          <p:cNvSpPr/>
          <p:nvPr/>
        </p:nvSpPr>
        <p:spPr>
          <a:xfrm>
            <a:off x="-4096075" y="3423750"/>
            <a:ext cx="6704100" cy="67041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7657500" y="-1917325"/>
            <a:ext cx="3343800" cy="3343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872400" y="-1458675"/>
            <a:ext cx="2289300" cy="22893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1077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84309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"/>
          <p:cNvSpPr txBox="1"/>
          <p:nvPr/>
        </p:nvSpPr>
        <p:spPr>
          <a:xfrm>
            <a:off x="4996200" y="3454225"/>
            <a:ext cx="3434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CREDITS: This presentation template was created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Kulim Park"/>
                <a:ea typeface="Kulim Park"/>
                <a:cs typeface="Kulim Park"/>
                <a:sym typeface="Kulim Par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, including icons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Kulim Park"/>
                <a:ea typeface="Kulim Park"/>
                <a:cs typeface="Kulim Park"/>
                <a:sym typeface="Kulim Par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rPr>
              <a:t>, infographics and images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Kulim Park"/>
                <a:ea typeface="Kulim Park"/>
                <a:cs typeface="Kulim Park"/>
                <a:sym typeface="Kulim Par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2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239" name="Google Shape;239;p24"/>
          <p:cNvSpPr/>
          <p:nvPr/>
        </p:nvSpPr>
        <p:spPr>
          <a:xfrm flipH="1" rot="10800000">
            <a:off x="-4885175" y="-5275700"/>
            <a:ext cx="7984800" cy="7984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4"/>
          <p:cNvSpPr/>
          <p:nvPr/>
        </p:nvSpPr>
        <p:spPr>
          <a:xfrm flipH="1" rot="10800000">
            <a:off x="7833400" y="3454225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4"/>
          <p:cNvSpPr/>
          <p:nvPr/>
        </p:nvSpPr>
        <p:spPr>
          <a:xfrm flipH="1" rot="10800000">
            <a:off x="-858975" y="3454225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36639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42693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4"/>
          <p:cNvSpPr/>
          <p:nvPr/>
        </p:nvSpPr>
        <p:spPr>
          <a:xfrm flipH="1" rot="10800000">
            <a:off x="7405300" y="-3029050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4"/>
          <p:cNvSpPr txBox="1"/>
          <p:nvPr>
            <p:ph type="title"/>
          </p:nvPr>
        </p:nvSpPr>
        <p:spPr>
          <a:xfrm>
            <a:off x="4996200" y="463200"/>
            <a:ext cx="3434700" cy="8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1" type="subTitle"/>
          </p:nvPr>
        </p:nvSpPr>
        <p:spPr>
          <a:xfrm>
            <a:off x="4996200" y="2111275"/>
            <a:ext cx="3434700" cy="1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24"/>
          <p:cNvSpPr/>
          <p:nvPr>
            <p:ph idx="2" type="pic"/>
          </p:nvPr>
        </p:nvSpPr>
        <p:spPr>
          <a:xfrm>
            <a:off x="852000" y="1129500"/>
            <a:ext cx="2884500" cy="2884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/>
          <p:nvPr/>
        </p:nvSpPr>
        <p:spPr>
          <a:xfrm flipH="1" rot="10800000">
            <a:off x="-4885175" y="-5275700"/>
            <a:ext cx="7984800" cy="7984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 flipH="1" rot="10800000">
            <a:off x="7833400" y="3454225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 flipH="1" rot="10800000">
            <a:off x="-858975" y="3454225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36639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42693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 flipH="1" rot="10800000">
            <a:off x="7405300" y="-3029050"/>
            <a:ext cx="4238700" cy="42387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"/>
          <p:cNvSpPr/>
          <p:nvPr/>
        </p:nvSpPr>
        <p:spPr>
          <a:xfrm>
            <a:off x="-4096075" y="3423750"/>
            <a:ext cx="6704100" cy="67041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6"/>
          <p:cNvSpPr/>
          <p:nvPr/>
        </p:nvSpPr>
        <p:spPr>
          <a:xfrm>
            <a:off x="7657500" y="-1917325"/>
            <a:ext cx="3343800" cy="33438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6"/>
          <p:cNvSpPr/>
          <p:nvPr/>
        </p:nvSpPr>
        <p:spPr>
          <a:xfrm>
            <a:off x="872400" y="-1458675"/>
            <a:ext cx="2289300" cy="2289300"/>
          </a:xfrm>
          <a:prstGeom prst="ellipse">
            <a:avLst/>
          </a:prstGeom>
          <a:gradFill>
            <a:gsLst>
              <a:gs pos="0">
                <a:schemeClr val="accent1"/>
              </a:gs>
              <a:gs pos="61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6"/>
          <p:cNvSpPr/>
          <p:nvPr/>
        </p:nvSpPr>
        <p:spPr>
          <a:xfrm>
            <a:off x="107700" y="2440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6"/>
          <p:cNvSpPr/>
          <p:nvPr/>
        </p:nvSpPr>
        <p:spPr>
          <a:xfrm>
            <a:off x="8430900" y="4308753"/>
            <a:ext cx="605400" cy="590700"/>
          </a:xfrm>
          <a:prstGeom prst="star7">
            <a:avLst>
              <a:gd fmla="val 12035" name="adj"/>
              <a:gd fmla="val 102572" name="hf"/>
              <a:gd fmla="val 105210" name="vf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"/>
              <a:buNone/>
              <a:defRPr b="1" sz="3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lim Park"/>
              <a:buChar char="●"/>
              <a:defRPr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lim Park"/>
              <a:buChar char="○"/>
              <a:defRPr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lim Park"/>
              <a:buChar char="■"/>
              <a:defRPr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lim Park"/>
              <a:buChar char="●"/>
              <a:defRPr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lim Park"/>
              <a:buChar char="○"/>
              <a:defRPr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lim Park"/>
              <a:buChar char="■"/>
              <a:defRPr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lim Park"/>
              <a:buChar char="●"/>
              <a:defRPr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ulim Park"/>
              <a:buChar char="○"/>
              <a:defRPr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ulim Park"/>
              <a:buChar char="■"/>
              <a:defRPr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 txBox="1"/>
          <p:nvPr>
            <p:ph type="ctrTitle"/>
          </p:nvPr>
        </p:nvSpPr>
        <p:spPr>
          <a:xfrm>
            <a:off x="713100" y="1470063"/>
            <a:ext cx="4283700" cy="17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NEFRITIS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2"/>
                </a:solidFill>
              </a:rPr>
              <a:t>LÚPICA</a:t>
            </a:r>
            <a:endParaRPr b="0">
              <a:solidFill>
                <a:schemeClr val="dk2"/>
              </a:solidFill>
            </a:endParaRPr>
          </a:p>
        </p:txBody>
      </p:sp>
      <p:sp>
        <p:nvSpPr>
          <p:cNvPr id="266" name="Google Shape;266;p27"/>
          <p:cNvSpPr txBox="1"/>
          <p:nvPr>
            <p:ph idx="1" type="subTitle"/>
          </p:nvPr>
        </p:nvSpPr>
        <p:spPr>
          <a:xfrm>
            <a:off x="713100" y="3197650"/>
            <a:ext cx="4371600" cy="6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Dra Luciana Grassi - Medicina Interna III</a:t>
            </a:r>
            <a:endParaRPr sz="1400">
              <a:solidFill>
                <a:srgbClr val="5F636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F636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Reumatologia</a:t>
            </a:r>
            <a:endParaRPr sz="1400">
              <a:solidFill>
                <a:srgbClr val="5F636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7" name="Google Shape;267;p27"/>
          <p:cNvPicPr preferRelativeResize="0"/>
          <p:nvPr/>
        </p:nvPicPr>
        <p:blipFill rotWithShape="1">
          <a:blip r:embed="rId3">
            <a:alphaModFix/>
          </a:blip>
          <a:srcRect b="40741" l="13271" r="70266" t="36144"/>
          <a:stretch/>
        </p:blipFill>
        <p:spPr>
          <a:xfrm>
            <a:off x="5567400" y="344500"/>
            <a:ext cx="3105350" cy="24528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68" name="Google Shape;26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1913" y="3673450"/>
            <a:ext cx="1096325" cy="10936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4200"/>
              <a:buFont typeface="Century Gothic"/>
              <a:buNone/>
            </a:pPr>
            <a:r>
              <a:rPr lang="en" sz="4200"/>
              <a:t>Introducción</a:t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778075" y="1381550"/>
            <a:ext cx="7324500" cy="3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Poppins"/>
              <a:buChar char="●"/>
            </a:pPr>
            <a:r>
              <a:rPr lang="en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Aproximadamente el 35% de los pacientes con LES tienen nefritis al diagnóstico y 50-60% la desarrollan en los primeros 10 años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Poppins"/>
              <a:buChar char="●"/>
            </a:pPr>
            <a:r>
              <a:rPr lang="en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Más</a:t>
            </a:r>
            <a:r>
              <a:rPr lang="en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prevalente y severa en Afroamericanos y mestizos que en caucásicos y en hombres.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Poppins"/>
              <a:buChar char="●"/>
            </a:pPr>
            <a:r>
              <a:rPr lang="en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Impacta en la mortalidad con una reducción de un 4-10% a 10 años.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20"/>
              <a:buFont typeface="Poppins"/>
              <a:buChar char="●"/>
            </a:pPr>
            <a:r>
              <a:rPr lang="en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Latinoamérica y Argentina, datos similares a los de EEUU.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/>
          <p:nvPr>
            <p:ph idx="15" type="title"/>
          </p:nvPr>
        </p:nvSpPr>
        <p:spPr>
          <a:xfrm>
            <a:off x="886725" y="253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4200"/>
              <a:buFont typeface="Century Gothic"/>
              <a:buNone/>
            </a:pPr>
            <a:r>
              <a:rPr lang="en" sz="4200"/>
              <a:t>Detección</a:t>
            </a:r>
            <a:endParaRPr/>
          </a:p>
        </p:txBody>
      </p:sp>
      <p:sp>
        <p:nvSpPr>
          <p:cNvPr id="280" name="Google Shape;280;p29"/>
          <p:cNvSpPr txBox="1"/>
          <p:nvPr/>
        </p:nvSpPr>
        <p:spPr>
          <a:xfrm>
            <a:off x="886725" y="1164550"/>
            <a:ext cx="7704000" cy="29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Noto Sans Symbols"/>
              <a:buChar char="●"/>
            </a:pPr>
            <a:r>
              <a:rPr lang="en"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TODOS los pacientes con LES, deberían ser monitoreados con sedimento de orina y proteinuria en cada visita.</a:t>
            </a:r>
            <a:endParaRPr sz="1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Noto Sans Symbols"/>
              <a:buChar char="●"/>
            </a:pPr>
            <a:r>
              <a:rPr lang="en"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 hubiera &gt;5 GR, &gt;5 GB (sin ITU), proteinura &gt;0.5 o +++ (la Pr 24 hs se puede reemplazar por índice Pr/cr en orina espontanea) o cilindros</a:t>
            </a:r>
            <a:endParaRPr sz="2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p29"/>
          <p:cNvSpPr/>
          <p:nvPr/>
        </p:nvSpPr>
        <p:spPr>
          <a:xfrm rot="5400000">
            <a:off x="4348276" y="-221175"/>
            <a:ext cx="589200" cy="75123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3928128" y="3992027"/>
            <a:ext cx="1429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" sz="54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PBR</a:t>
            </a:r>
            <a:endParaRPr b="0" i="0" sz="5400" u="none" cap="none" strike="noStrike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234" y="330771"/>
            <a:ext cx="4117322" cy="320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577" y="994654"/>
            <a:ext cx="4138332" cy="3146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"/>
          <p:cNvSpPr txBox="1"/>
          <p:nvPr/>
        </p:nvSpPr>
        <p:spPr>
          <a:xfrm>
            <a:off x="713100" y="207900"/>
            <a:ext cx="6653100" cy="8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Tratamiento: ¿A quién?</a:t>
            </a:r>
            <a:endParaRPr sz="4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4" name="Google Shape;294;p31"/>
          <p:cNvSpPr txBox="1"/>
          <p:nvPr/>
        </p:nvSpPr>
        <p:spPr>
          <a:xfrm>
            <a:off x="432950" y="991300"/>
            <a:ext cx="7561500" cy="3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en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NDUCCION: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I/II: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4950" lvl="1" marL="74295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4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requiere tratamiento inmunosupresor (ACR)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4950" lvl="1" marL="74295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4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Esteroides en aquellos que no disminuyen la proteinuria (&lt;0.5) con IECA/ARAII (SAR).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III/IV (±V): MP 500-1000 en pulsos x 3 y luego 0.5-1 mg/kg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4950" lvl="1" marL="74295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4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MMF/MFS 2-3 gramos (si o si 3 en los que tienen semilunas o Cr elevada) 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34950" lvl="1" marL="74295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40"/>
              <a:buFont typeface="Poppins"/>
              <a:buChar char="○"/>
            </a:pPr>
            <a:r>
              <a:rPr lang="en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CYC IV. 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77800" lvl="2" marL="11430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"/>
              <a:buFont typeface="Poppins"/>
              <a:buChar char="■"/>
            </a:pPr>
            <a:r>
              <a:rPr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EuroLupus: 500 mg IV cada 15 dias x 6 (caucásicos europeos) = menos EA y similar Rta.</a:t>
            </a:r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77800" lvl="2" marL="11430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"/>
              <a:buFont typeface="Poppins"/>
              <a:buChar char="■"/>
            </a:pPr>
            <a:r>
              <a:rPr lang="en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NIH: 500-1 gr/m2 por mes x 6</a:t>
            </a:r>
            <a:endParaRPr sz="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V: Si tiene proteinuria en rango nefrótico igual que III/IV (MMF) sino IECA/ARA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MANTENIMIENTO: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Poppins"/>
              <a:buChar char="●"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AZA 2 mg/kg/día o MMF 1 a 2 gr/día (estudio MAINTAIN)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922" y="112164"/>
            <a:ext cx="5448174" cy="468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"/>
          <p:cNvSpPr txBox="1"/>
          <p:nvPr>
            <p:ph type="title"/>
          </p:nvPr>
        </p:nvSpPr>
        <p:spPr>
          <a:xfrm>
            <a:off x="720000" y="253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Criterios de Respuesta</a:t>
            </a:r>
            <a:endParaRPr sz="4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3"/>
          <p:cNvSpPr txBox="1"/>
          <p:nvPr/>
        </p:nvSpPr>
        <p:spPr>
          <a:xfrm>
            <a:off x="377812" y="1045868"/>
            <a:ext cx="89466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EULAR: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Poppins"/>
              <a:buChar char="○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Remisión completa: prot &lt;0.5 y GFR normal o hasta 10% debajo de lo normal si estaba alterado.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Poppins"/>
              <a:buChar char="○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Remisión parcial: Dism ≥50% de prot. (a rango subnefrotico)y GFR normal o hasta 10% debajo de lo normal si estaba alterado.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ACR: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6" name="Google Shape;30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375" y="3333808"/>
            <a:ext cx="2698040" cy="1326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7418" y="3159912"/>
            <a:ext cx="2962532" cy="1674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9952" y="3202879"/>
            <a:ext cx="2627573" cy="1588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Tratamientos coadyuvantes</a:t>
            </a:r>
            <a:endParaRPr sz="3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4"/>
          <p:cNvSpPr txBox="1"/>
          <p:nvPr/>
        </p:nvSpPr>
        <p:spPr>
          <a:xfrm>
            <a:off x="941875" y="1279350"/>
            <a:ext cx="8946600" cy="3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6"/>
              <a:buFont typeface="Poppins"/>
              <a:buChar char="●"/>
            </a:pPr>
            <a:r>
              <a:rPr lang="en" sz="162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HCQ: TODOS!!! (Demostro menos flares y mejor sobrevida renal)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76"/>
              <a:buFont typeface="Poppins"/>
              <a:buChar char="●"/>
            </a:pPr>
            <a:r>
              <a:rPr lang="en" sz="162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 proteinuria &gt;0.5: IECA/ARAII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76"/>
              <a:buFont typeface="Poppins"/>
              <a:buChar char="●"/>
            </a:pPr>
            <a:r>
              <a:rPr lang="en" sz="162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Control de TA con cifras ≤130/80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76"/>
              <a:buFont typeface="Poppins"/>
              <a:buChar char="●"/>
            </a:pPr>
            <a:r>
              <a:rPr lang="en" sz="162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" sz="162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" sz="162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tatinas si LDL &gt;100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2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76"/>
              <a:buFont typeface="Poppins"/>
              <a:buChar char="●"/>
            </a:pPr>
            <a:r>
              <a:rPr lang="en" sz="162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Planificación</a:t>
            </a:r>
            <a:r>
              <a:rPr lang="en" sz="162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familiar!!!!!</a:t>
            </a:r>
            <a:endParaRPr sz="162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Consideraciones especiales</a:t>
            </a:r>
            <a:endParaRPr sz="3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5"/>
          <p:cNvSpPr txBox="1"/>
          <p:nvPr/>
        </p:nvSpPr>
        <p:spPr>
          <a:xfrm>
            <a:off x="1006825" y="1347900"/>
            <a:ext cx="7704000" cy="3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Detectar anormalidades vasculares en la biopsia (microangiopatia trombotica, vasculitis, necrosis fibrinoide, vasculopatía HTA.)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413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ptes SAF con hallazgos 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trombóticos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considerar anticoagulación 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413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Embarazo: AZA + Corticoides. Actividad persistente y sospecha firme de clase III/IV: considerar terminar embarazo a las 28 sem.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413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VI: tratamiento de las manif. Extrarenales, preparar para diálisis (&gt;riesgo de infecciones y eventos 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trombóticos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accesos)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413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oppins"/>
              <a:buChar char="●"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Transplante cuando la actividad 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está</a:t>
            </a: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ausente 3 a 6 meses, preferiblemente donante vivo.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262" y="864693"/>
            <a:ext cx="8313474" cy="313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Muchas </a:t>
            </a:r>
            <a:r>
              <a:rPr b="0" lang="en"/>
              <a:t>Gracias!</a:t>
            </a:r>
            <a:endParaRPr b="0"/>
          </a:p>
        </p:txBody>
      </p:sp>
      <p:pic>
        <p:nvPicPr>
          <p:cNvPr id="331" name="Google Shape;331;p37"/>
          <p:cNvPicPr preferRelativeResize="0"/>
          <p:nvPr/>
        </p:nvPicPr>
        <p:blipFill rotWithShape="1">
          <a:blip r:embed="rId3">
            <a:alphaModFix/>
          </a:blip>
          <a:srcRect b="0" l="26378" r="0" t="0"/>
          <a:stretch/>
        </p:blipFill>
        <p:spPr>
          <a:xfrm>
            <a:off x="2368310" y="1374975"/>
            <a:ext cx="4407376" cy="29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olleyball Sport Club by Slidesgo">
  <a:themeElements>
    <a:clrScheme name="Simple Light">
      <a:dk1>
        <a:srgbClr val="191919"/>
      </a:dk1>
      <a:lt1>
        <a:srgbClr val="FFFFFF"/>
      </a:lt1>
      <a:dk2>
        <a:srgbClr val="1B18A3"/>
      </a:dk2>
      <a:lt2>
        <a:srgbClr val="FFD803"/>
      </a:lt2>
      <a:accent1>
        <a:srgbClr val="423EC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