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07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987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30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37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3162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52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953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963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82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22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3623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0787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0C2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70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69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2751915"/>
            <a:ext cx="540181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3200" b="1" spc="-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20" dirty="0">
                <a:latin typeface="Arial" panose="020B0604020202020204" pitchFamily="34" charset="0"/>
                <a:cs typeface="Arial" panose="020B0604020202020204" pitchFamily="34" charset="0"/>
              </a:rPr>
              <a:t>INTERNA</a:t>
            </a:r>
            <a:r>
              <a:rPr sz="3200" b="1" spc="-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25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1000" y="3657600"/>
            <a:ext cx="228028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404040"/>
                </a:solidFill>
                <a:latin typeface="Arial"/>
                <a:cs typeface="Arial"/>
              </a:rPr>
              <a:t>HEMATOLOGIA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5092" y="4251849"/>
            <a:ext cx="2715895" cy="1518364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0"/>
              </a:spcBef>
            </a:pPr>
            <a:r>
              <a:rPr lang="es-MX" sz="2000" b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lang="es-MX" sz="2400" b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400" b="1" dirty="0" smtClean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100"/>
              </a:spcBef>
            </a:pPr>
            <a:r>
              <a:rPr sz="240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</a:t>
            </a:r>
            <a:r>
              <a:rPr sz="2400" spc="-4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</a:t>
            </a:r>
            <a:r>
              <a:rPr sz="24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Tortosa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4780" algn="ctr">
              <a:lnSpc>
                <a:spcPct val="100000"/>
              </a:lnSpc>
              <a:spcBef>
                <a:spcPts val="1000"/>
              </a:spcBef>
            </a:pPr>
            <a:r>
              <a:rPr sz="24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Profesora</a:t>
            </a:r>
            <a:r>
              <a:rPr sz="24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Adjunta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513659"/>
            <a:ext cx="2784348" cy="15345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447800"/>
            <a:ext cx="9220200" cy="4220210"/>
            <a:chOff x="736091" y="1269491"/>
            <a:chExt cx="8478520" cy="4220210"/>
          </a:xfrm>
        </p:grpSpPr>
        <p:sp>
          <p:nvSpPr>
            <p:cNvPr id="3" name="object 3"/>
            <p:cNvSpPr/>
            <p:nvPr/>
          </p:nvSpPr>
          <p:spPr>
            <a:xfrm>
              <a:off x="736091" y="1269491"/>
              <a:ext cx="8478520" cy="4220210"/>
            </a:xfrm>
            <a:custGeom>
              <a:avLst/>
              <a:gdLst/>
              <a:ahLst/>
              <a:cxnLst/>
              <a:rect l="l" t="t" r="r" b="b"/>
              <a:pathLst>
                <a:path w="8478520" h="4220210">
                  <a:moveTo>
                    <a:pt x="8478012" y="0"/>
                  </a:moveTo>
                  <a:lnTo>
                    <a:pt x="0" y="0"/>
                  </a:lnTo>
                  <a:lnTo>
                    <a:pt x="0" y="4219956"/>
                  </a:lnTo>
                  <a:lnTo>
                    <a:pt x="8478012" y="4219956"/>
                  </a:lnTo>
                  <a:lnTo>
                    <a:pt x="8478012" y="0"/>
                  </a:lnTo>
                  <a:close/>
                </a:path>
              </a:pathLst>
            </a:custGeom>
            <a:solidFill>
              <a:srgbClr val="93DE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584" y="3326891"/>
              <a:ext cx="7639951" cy="53606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367311"/>
            <a:ext cx="49401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MEGALOBLASTICA</a:t>
            </a:r>
            <a:endParaRPr sz="28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991946"/>
            <a:ext cx="8441690" cy="5411097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 algn="just">
              <a:lnSpc>
                <a:spcPts val="2380"/>
              </a:lnSpc>
              <a:spcBef>
                <a:spcPts val="39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1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Anomalía</a:t>
            </a:r>
            <a:r>
              <a:rPr sz="2200" b="1" spc="2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200" b="1" spc="2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b="1" spc="2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maduración</a:t>
            </a:r>
            <a:r>
              <a:rPr sz="2200" b="1" spc="2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b="1" spc="2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200" b="1" spc="229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precursores</a:t>
            </a:r>
            <a:r>
              <a:rPr sz="2200" b="1" spc="2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b="1" spc="2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b="1" spc="2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serie </a:t>
            </a:r>
            <a:r>
              <a:rPr sz="22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eritroide</a:t>
            </a:r>
            <a:r>
              <a:rPr sz="2200" b="1" spc="509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200" spc="5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consecuencia</a:t>
            </a:r>
            <a:r>
              <a:rPr sz="2200" spc="5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5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alteración</a:t>
            </a:r>
            <a:r>
              <a:rPr sz="2200" spc="5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200" spc="5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5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síntesis</a:t>
            </a:r>
            <a:r>
              <a:rPr sz="2200" spc="5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ADN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2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22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ósea.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510"/>
              </a:lnSpc>
              <a:tabLst>
                <a:tab pos="2167255" algn="l"/>
                <a:tab pos="2767965" algn="l"/>
                <a:tab pos="3275329" algn="l"/>
                <a:tab pos="4933950" algn="l"/>
                <a:tab pos="7338695" algn="l"/>
              </a:tabLst>
            </a:pPr>
            <a:r>
              <a:rPr sz="1750" spc="1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750" spc="1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Disminución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hematopoyéticas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(anemia,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ts val="2510"/>
              </a:lnSpc>
            </a:pP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leucopenia,</a:t>
            </a:r>
            <a:r>
              <a:rPr sz="22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trombocitopenia),</a:t>
            </a:r>
            <a:r>
              <a:rPr sz="22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acuerdo</a:t>
            </a:r>
            <a:r>
              <a:rPr sz="22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2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severidad.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50" spc="1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750" spc="-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2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B12</a:t>
            </a:r>
            <a:r>
              <a:rPr sz="22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2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folato.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510"/>
              </a:lnSpc>
            </a:pPr>
            <a:r>
              <a:rPr sz="1750" spc="1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750" spc="-2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Hematopoyesis</a:t>
            </a:r>
            <a:r>
              <a:rPr sz="2200" spc="1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ineficaz</a:t>
            </a:r>
            <a:r>
              <a:rPr sz="2200" spc="1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(80%</a:t>
            </a:r>
            <a:r>
              <a:rPr sz="2200" spc="1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200" spc="1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90%),</a:t>
            </a:r>
            <a:r>
              <a:rPr sz="2200" spc="1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1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200" spc="1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megaloblastos</a:t>
            </a:r>
            <a:r>
              <a:rPr sz="2200" spc="1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ts val="2510"/>
              </a:lnSpc>
            </a:pP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destruidos</a:t>
            </a:r>
            <a:r>
              <a:rPr sz="22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2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22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ósea.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510"/>
              </a:lnSpc>
              <a:tabLst>
                <a:tab pos="417830" algn="l"/>
              </a:tabLst>
            </a:pPr>
            <a:r>
              <a:rPr sz="1750" spc="1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7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Asincronía</a:t>
            </a:r>
            <a:r>
              <a:rPr sz="22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madurativa núcleo</a:t>
            </a:r>
            <a:r>
              <a:rPr sz="22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citoplasmática</a:t>
            </a:r>
            <a:r>
              <a:rPr sz="22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2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2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progenitores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ts val="2510"/>
              </a:lnSpc>
            </a:pPr>
            <a:r>
              <a:rPr sz="2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eritroides</a:t>
            </a:r>
            <a:r>
              <a:rPr sz="2200" spc="-9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(megaloblastos).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33800" y="370128"/>
            <a:ext cx="486524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MEGALOBLÁSTICA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8109584" cy="5132559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En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el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frotis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sangre</a:t>
            </a: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periférica: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539F20"/>
                </a:solidFill>
                <a:latin typeface="Arial"/>
                <a:cs typeface="Arial"/>
              </a:rPr>
              <a:t>Hipocromía</a:t>
            </a:r>
            <a:r>
              <a:rPr sz="2000" b="1" spc="-110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39F20"/>
                </a:solidFill>
                <a:latin typeface="Arial"/>
                <a:cs typeface="Arial"/>
              </a:rPr>
              <a:t>Macrocitosis.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Hipersegmentación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000" b="1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neutrófilos.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Anillos</a:t>
            </a: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cabot.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Reticulocitos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bajos.</a:t>
            </a:r>
            <a:endParaRPr sz="2000" dirty="0">
              <a:latin typeface="Arial"/>
              <a:cs typeface="Arial"/>
            </a:endParaRPr>
          </a:p>
          <a:p>
            <a:pPr marL="12700" marR="3782060" indent="342265">
              <a:lnSpc>
                <a:spcPct val="124400"/>
              </a:lnSpc>
              <a:spcBef>
                <a:spcPts val="9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Anisositosis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-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404040"/>
                </a:solidFill>
                <a:latin typeface="Arial"/>
                <a:cs typeface="Arial"/>
              </a:rPr>
              <a:t>poiquilocitosis</a:t>
            </a:r>
            <a:r>
              <a:rPr sz="2000" b="1" spc="-10" dirty="0" smtClean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lang="es-AR" sz="2000" b="1" spc="-10" dirty="0" smtClean="0">
              <a:solidFill>
                <a:srgbClr val="404040"/>
              </a:solidFill>
              <a:latin typeface="Arial"/>
              <a:cs typeface="Arial"/>
            </a:endParaRPr>
          </a:p>
          <a:p>
            <a:pPr marL="12700" marR="3782060">
              <a:lnSpc>
                <a:spcPct val="124400"/>
              </a:lnSpc>
              <a:spcBef>
                <a:spcPts val="90"/>
              </a:spcBef>
              <a:buClr>
                <a:srgbClr val="90C225"/>
              </a:buClr>
              <a:buSzPct val="79545"/>
              <a:tabLst>
                <a:tab pos="354965" algn="l"/>
              </a:tabLst>
            </a:pPr>
            <a:r>
              <a:rPr sz="2000" b="1" spc="-10" dirty="0" smtClean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En</a:t>
            </a: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el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frotis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Médula</a:t>
            </a:r>
            <a:r>
              <a:rPr sz="20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ósea </a:t>
            </a:r>
            <a:r>
              <a:rPr sz="2000" b="1" dirty="0">
                <a:solidFill>
                  <a:srgbClr val="539F20"/>
                </a:solidFill>
                <a:latin typeface="Arial"/>
                <a:cs typeface="Arial"/>
              </a:rPr>
              <a:t>Hipercelular</a:t>
            </a:r>
            <a:r>
              <a:rPr sz="2000" b="1" spc="-20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/>
                <a:cs typeface="Arial"/>
              </a:rPr>
              <a:t>-</a:t>
            </a:r>
            <a:r>
              <a:rPr sz="2000" b="1" spc="-10" dirty="0">
                <a:solidFill>
                  <a:srgbClr val="539F20"/>
                </a:solidFill>
                <a:latin typeface="Arial"/>
                <a:cs typeface="Arial"/>
              </a:rPr>
              <a:t> Polimorfa</a:t>
            </a:r>
            <a:endParaRPr sz="2000" dirty="0">
              <a:latin typeface="Arial"/>
              <a:cs typeface="Arial"/>
            </a:endParaRPr>
          </a:p>
          <a:p>
            <a:pPr marL="355600" marR="849630" indent="-342900">
              <a:lnSpc>
                <a:spcPts val="2380"/>
              </a:lnSpc>
              <a:spcBef>
                <a:spcPts val="104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Megaloblastos</a:t>
            </a:r>
            <a:r>
              <a:rPr sz="20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(eritrocitos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con</a:t>
            </a:r>
            <a:r>
              <a:rPr sz="2000" b="1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disociación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núcleo</a:t>
            </a:r>
            <a:r>
              <a:rPr sz="20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citoplasmáticos.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Mielocitos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y</a:t>
            </a:r>
            <a:r>
              <a:rPr sz="2000" b="1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metamielocitos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neutrófilos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cayados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gigantes.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Megacariocitos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poliploides.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Clr>
                <a:srgbClr val="90C225"/>
              </a:buClr>
              <a:buSzPct val="79545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Depósitos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hierro</a:t>
            </a:r>
            <a:r>
              <a:rPr sz="2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normal</a:t>
            </a:r>
            <a:r>
              <a:rPr sz="20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20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elevados.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8799" y="533400"/>
            <a:ext cx="90833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SANGRE</a:t>
            </a:r>
            <a:r>
              <a:rPr sz="2800" spc="-70" dirty="0"/>
              <a:t> </a:t>
            </a:r>
            <a:r>
              <a:rPr sz="2800" spc="-25" dirty="0"/>
              <a:t>PERIFÉRICA</a:t>
            </a:r>
            <a:r>
              <a:rPr sz="2800" spc="-195" dirty="0"/>
              <a:t> </a:t>
            </a:r>
            <a:r>
              <a:rPr sz="2800" spc="-10" dirty="0"/>
              <a:t>ANEMIA</a:t>
            </a:r>
            <a:r>
              <a:rPr sz="2800" spc="-120" dirty="0"/>
              <a:t> </a:t>
            </a:r>
            <a:r>
              <a:rPr sz="2800" spc="-10" dirty="0"/>
              <a:t>MEGALOBLÁSTICA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376" y="1219200"/>
            <a:ext cx="8505445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375956"/>
            <a:ext cx="8945880" cy="843244"/>
          </a:xfrm>
          <a:prstGeom prst="rect">
            <a:avLst/>
          </a:prstGeom>
        </p:spPr>
        <p:txBody>
          <a:bodyPr vert="horz" wrap="square" lIns="0" tIns="408369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MÉDULA</a:t>
            </a:r>
            <a:r>
              <a:rPr sz="2800" spc="-135" dirty="0"/>
              <a:t> </a:t>
            </a:r>
            <a:r>
              <a:rPr sz="2800" dirty="0"/>
              <a:t>ÓSEA</a:t>
            </a:r>
            <a:r>
              <a:rPr sz="2800" spc="-130" dirty="0"/>
              <a:t> </a:t>
            </a:r>
            <a:r>
              <a:rPr sz="2800" spc="-10" dirty="0"/>
              <a:t>NORMAL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447800"/>
            <a:ext cx="7333488" cy="4471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1036315"/>
            <a:ext cx="9022080" cy="563885"/>
          </a:xfrm>
          <a:prstGeom prst="rect">
            <a:avLst/>
          </a:prstGeom>
        </p:spPr>
        <p:txBody>
          <a:bodyPr vert="horz" wrap="square" lIns="0" tIns="131712" rIns="0" bIns="0" rtlCol="0">
            <a:spAutoFit/>
          </a:bodyPr>
          <a:lstStyle/>
          <a:p>
            <a:pPr marL="578485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MÉDULA</a:t>
            </a:r>
            <a:r>
              <a:rPr sz="2800" spc="-150" dirty="0"/>
              <a:t> </a:t>
            </a:r>
            <a:r>
              <a:rPr sz="2800" dirty="0"/>
              <a:t>ÓSEA</a:t>
            </a:r>
            <a:r>
              <a:rPr sz="2800" spc="-145" dirty="0"/>
              <a:t> </a:t>
            </a:r>
            <a:r>
              <a:rPr sz="2800" dirty="0"/>
              <a:t>–</a:t>
            </a:r>
            <a:r>
              <a:rPr sz="2800" spc="-135" dirty="0"/>
              <a:t> </a:t>
            </a:r>
            <a:r>
              <a:rPr sz="2800" dirty="0"/>
              <a:t>ANEMIA</a:t>
            </a:r>
            <a:r>
              <a:rPr sz="2800" spc="-140" dirty="0"/>
              <a:t> </a:t>
            </a:r>
            <a:r>
              <a:rPr sz="2800" spc="-10" dirty="0"/>
              <a:t>PERNICIOSA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752600"/>
            <a:ext cx="7943088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3616" y="662305"/>
            <a:ext cx="204751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 smtClean="0">
                <a:solidFill>
                  <a:srgbClr val="90C225"/>
                </a:solidFill>
                <a:latin typeface="Arial"/>
                <a:cs typeface="Arial"/>
              </a:rPr>
              <a:t>M</a:t>
            </a:r>
            <a:r>
              <a:rPr sz="2800" b="1" spc="-180" dirty="0" smtClean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dirty="0" smtClean="0">
                <a:solidFill>
                  <a:srgbClr val="90C225"/>
                </a:solidFill>
                <a:latin typeface="Arial"/>
                <a:cs typeface="Arial"/>
              </a:rPr>
              <a:t>É</a:t>
            </a:r>
            <a:r>
              <a:rPr sz="2800" b="1" spc="-185" dirty="0" smtClean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spc="-30" dirty="0" smtClean="0">
                <a:solidFill>
                  <a:srgbClr val="90C225"/>
                </a:solidFill>
                <a:latin typeface="Arial"/>
                <a:cs typeface="Arial"/>
              </a:rPr>
              <a:t>D</a:t>
            </a:r>
            <a:r>
              <a:rPr sz="2800" b="1" spc="-180" dirty="0" smtClean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spc="-30" dirty="0" smtClean="0">
                <a:solidFill>
                  <a:srgbClr val="90C225"/>
                </a:solidFill>
                <a:latin typeface="Arial"/>
                <a:cs typeface="Arial"/>
              </a:rPr>
              <a:t>U</a:t>
            </a:r>
            <a:r>
              <a:rPr sz="2800" b="1" spc="-180" dirty="0" smtClean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90C225"/>
                </a:solidFill>
                <a:latin typeface="Arial"/>
                <a:cs typeface="Arial"/>
              </a:rPr>
              <a:t>L</a:t>
            </a:r>
            <a:r>
              <a:rPr sz="2800" b="1" spc="-185" dirty="0" smtClean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spc="-50" dirty="0" smtClean="0">
                <a:solidFill>
                  <a:srgbClr val="90C225"/>
                </a:solidFill>
                <a:latin typeface="Arial"/>
                <a:cs typeface="Arial"/>
              </a:rPr>
              <a:t>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4800" y="662305"/>
            <a:ext cx="1257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90C225"/>
                </a:solidFill>
                <a:latin typeface="Arial"/>
                <a:cs typeface="Arial"/>
              </a:rPr>
              <a:t>Ó</a:t>
            </a:r>
            <a:r>
              <a:rPr sz="2800" b="1" spc="-200" dirty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90C225"/>
                </a:solidFill>
                <a:latin typeface="Arial"/>
                <a:cs typeface="Arial"/>
              </a:rPr>
              <a:t>S</a:t>
            </a:r>
            <a:r>
              <a:rPr sz="2800" b="1" spc="-190" dirty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90C225"/>
                </a:solidFill>
                <a:latin typeface="Arial"/>
                <a:cs typeface="Arial"/>
              </a:rPr>
              <a:t>E</a:t>
            </a:r>
            <a:r>
              <a:rPr sz="2800" b="1" spc="-185" dirty="0">
                <a:solidFill>
                  <a:srgbClr val="90C225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90C225"/>
                </a:solidFill>
                <a:latin typeface="Arial"/>
                <a:cs typeface="Arial"/>
              </a:rPr>
              <a:t>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62600" y="633729"/>
            <a:ext cx="3950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M</a:t>
            </a:r>
            <a:r>
              <a:rPr sz="2800" spc="-185" dirty="0"/>
              <a:t> </a:t>
            </a:r>
            <a:r>
              <a:rPr sz="2800" dirty="0"/>
              <a:t>I</a:t>
            </a:r>
            <a:r>
              <a:rPr sz="2800" spc="-180" dirty="0"/>
              <a:t> </a:t>
            </a:r>
            <a:r>
              <a:rPr sz="2800" dirty="0"/>
              <a:t>E</a:t>
            </a:r>
            <a:r>
              <a:rPr sz="2800" spc="-185" dirty="0"/>
              <a:t> </a:t>
            </a:r>
            <a:r>
              <a:rPr sz="2800" spc="-20" dirty="0"/>
              <a:t>L</a:t>
            </a:r>
            <a:r>
              <a:rPr sz="2800" spc="-190" dirty="0"/>
              <a:t> </a:t>
            </a:r>
            <a:r>
              <a:rPr sz="2800" dirty="0"/>
              <a:t>O</a:t>
            </a:r>
            <a:r>
              <a:rPr sz="2800" spc="-185" dirty="0"/>
              <a:t> </a:t>
            </a:r>
            <a:r>
              <a:rPr sz="2800" spc="-30" dirty="0"/>
              <a:t>D</a:t>
            </a:r>
            <a:r>
              <a:rPr sz="2800" spc="-185" dirty="0"/>
              <a:t> </a:t>
            </a:r>
            <a:r>
              <a:rPr sz="2800" dirty="0"/>
              <a:t>I</a:t>
            </a:r>
            <a:r>
              <a:rPr sz="2800" spc="-175" dirty="0"/>
              <a:t> </a:t>
            </a:r>
            <a:r>
              <a:rPr sz="2800" dirty="0"/>
              <a:t>S</a:t>
            </a:r>
            <a:r>
              <a:rPr sz="2800" spc="-190" dirty="0"/>
              <a:t> </a:t>
            </a:r>
            <a:r>
              <a:rPr sz="2800" dirty="0"/>
              <a:t>P</a:t>
            </a:r>
            <a:r>
              <a:rPr sz="2800" spc="-185" dirty="0"/>
              <a:t> </a:t>
            </a:r>
            <a:r>
              <a:rPr sz="2800" spc="-20" dirty="0"/>
              <a:t>L</a:t>
            </a:r>
            <a:r>
              <a:rPr sz="2800" spc="-190" dirty="0"/>
              <a:t> </a:t>
            </a:r>
            <a:r>
              <a:rPr sz="2800" spc="-30" dirty="0"/>
              <a:t>A</a:t>
            </a:r>
            <a:r>
              <a:rPr sz="2800" spc="-180" dirty="0"/>
              <a:t> </a:t>
            </a:r>
            <a:r>
              <a:rPr sz="2800" dirty="0"/>
              <a:t>S</a:t>
            </a:r>
            <a:r>
              <a:rPr sz="2800" spc="-190" dirty="0"/>
              <a:t> </a:t>
            </a:r>
            <a:r>
              <a:rPr sz="2800" dirty="0"/>
              <a:t>I</a:t>
            </a:r>
            <a:r>
              <a:rPr sz="2800" spc="-175" dirty="0"/>
              <a:t> </a:t>
            </a:r>
            <a:r>
              <a:rPr sz="2800" spc="-50" dirty="0"/>
              <a:t>A</a:t>
            </a:r>
            <a:endParaRPr sz="28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447800"/>
            <a:ext cx="8596884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7400" y="609600"/>
            <a:ext cx="10058400" cy="505972"/>
          </a:xfrm>
          <a:prstGeom prst="rect">
            <a:avLst/>
          </a:prstGeom>
        </p:spPr>
        <p:txBody>
          <a:bodyPr vert="horz" wrap="square" lIns="0" tIns="74359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MEGALOBLÁSTICAS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905000"/>
            <a:ext cx="7734300" cy="41171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  <a:tabLst>
                <a:tab pos="495300" algn="l"/>
              </a:tabLst>
            </a:pPr>
            <a:r>
              <a:rPr sz="1800" spc="105" dirty="0">
                <a:latin typeface="Lucida Sans Unicode"/>
                <a:cs typeface="Lucida Sans Unicode"/>
              </a:rPr>
              <a:t>▶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cobalamina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(vitamina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b="1" baseline="-2564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950" b="1" spc="-15" baseline="-2564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>
              <a:lnSpc>
                <a:spcPct val="100000"/>
              </a:lnSpc>
            </a:pPr>
            <a:r>
              <a:rPr sz="2000" spc="170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spc="10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000" b="1" spc="-4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ácido</a:t>
            </a:r>
            <a:r>
              <a:rPr sz="20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fólico</a:t>
            </a:r>
            <a:r>
              <a:rPr sz="20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</a:t>
            </a:r>
            <a:r>
              <a:rPr sz="2000" b="1" spc="-3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</a:t>
            </a:r>
            <a:r>
              <a:rPr sz="20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0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frecuente).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>
              <a:lnSpc>
                <a:spcPct val="100000"/>
              </a:lnSpc>
            </a:pPr>
            <a:r>
              <a:rPr sz="2000" spc="170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spc="11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alteraciones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síntesis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ADN: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2000" spc="170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spc="10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Congénitas</a:t>
            </a:r>
            <a:r>
              <a:rPr sz="20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(ej.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oroticoaciduria,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síndrome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 Lesch-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Nyhan).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>
              <a:lnSpc>
                <a:spcPct val="100000"/>
              </a:lnSpc>
            </a:pPr>
            <a:r>
              <a:rPr sz="2000" spc="170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Adquiridas</a:t>
            </a:r>
            <a:r>
              <a:rPr sz="20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(ej.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citostáticos).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9200" y="436666"/>
            <a:ext cx="9936480" cy="553934"/>
          </a:xfrm>
          <a:prstGeom prst="rect">
            <a:avLst/>
          </a:prstGeom>
        </p:spPr>
        <p:txBody>
          <a:bodyPr vert="horz" wrap="square" lIns="0" tIns="121857" rIns="0" bIns="0" rtlCol="0">
            <a:spAutoFit/>
          </a:bodyPr>
          <a:lstStyle/>
          <a:p>
            <a:pPr marL="26174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25" dirty="0"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2800" b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37" baseline="-21164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sz="2800" b="1" baseline="-2116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1447800"/>
            <a:ext cx="8498432" cy="50917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0" marR="43180" indent="-342900" algn="just">
              <a:lnSpc>
                <a:spcPct val="100000"/>
              </a:lnSpc>
              <a:spcBef>
                <a:spcPts val="1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3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sz="2000" b="1" spc="1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intrínseco</a:t>
            </a:r>
            <a:r>
              <a:rPr sz="2000" b="1" spc="1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secretado</a:t>
            </a:r>
            <a:r>
              <a:rPr sz="2000" b="1" spc="1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10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2000" b="1" spc="1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parietales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gástricas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protege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degradada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ácido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estómago.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>
              <a:lnSpc>
                <a:spcPct val="100000"/>
              </a:lnSpc>
              <a:tabLst>
                <a:tab pos="4184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2000" b="1" spc="-3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lugar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porción</a:t>
            </a:r>
            <a:r>
              <a:rPr sz="20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  <a:r>
              <a:rPr sz="2000" b="1" spc="-3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íleon.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>
              <a:lnSpc>
                <a:spcPct val="100000"/>
              </a:lnSpc>
              <a:tabLst>
                <a:tab pos="4184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b="1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950" b="1" spc="262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hígado.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200">
              <a:lnSpc>
                <a:spcPct val="100000"/>
              </a:lnSpc>
              <a:tabLst>
                <a:tab pos="4184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depósitos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corporales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grandes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(∼2-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marR="43815" indent="-342900" algn="just">
              <a:lnSpc>
                <a:spcPct val="100000"/>
              </a:lnSpc>
            </a:pPr>
            <a:r>
              <a:rPr sz="1600" spc="12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spc="13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 diaria en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orina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heces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pequeña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(1-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μg)</a:t>
            </a:r>
            <a:r>
              <a:rPr sz="20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tanto,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1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000" b="1" spc="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tarda</a:t>
            </a:r>
            <a:r>
              <a:rPr sz="2000" b="1" spc="1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000" b="1" spc="9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aparecer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sz="2000" b="1" spc="1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surge</a:t>
            </a:r>
            <a:r>
              <a:rPr sz="2000" b="1" spc="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b="1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950" b="1" spc="262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24000" y="405129"/>
            <a:ext cx="822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PROCESO</a:t>
            </a:r>
            <a:r>
              <a:rPr sz="2800" spc="-90" dirty="0"/>
              <a:t> </a:t>
            </a:r>
            <a:r>
              <a:rPr sz="2800" dirty="0"/>
              <a:t>DE</a:t>
            </a:r>
            <a:r>
              <a:rPr sz="2800" spc="-195" dirty="0"/>
              <a:t> </a:t>
            </a:r>
            <a:r>
              <a:rPr sz="2800" dirty="0"/>
              <a:t>ABSORCIÓN</a:t>
            </a:r>
            <a:r>
              <a:rPr sz="2800" spc="-65" dirty="0"/>
              <a:t> </a:t>
            </a:r>
            <a:r>
              <a:rPr sz="2800" dirty="0"/>
              <a:t>DE</a:t>
            </a:r>
            <a:r>
              <a:rPr sz="2800" spc="-110" dirty="0"/>
              <a:t> </a:t>
            </a:r>
            <a:r>
              <a:rPr sz="2800" dirty="0"/>
              <a:t>LA</a:t>
            </a:r>
            <a:r>
              <a:rPr sz="2800" spc="-180" dirty="0"/>
              <a:t> </a:t>
            </a:r>
            <a:r>
              <a:rPr sz="2800" spc="-10" dirty="0"/>
              <a:t>COBALAMINA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846" y="1066800"/>
            <a:ext cx="7645908" cy="5172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0200" y="533400"/>
            <a:ext cx="100584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9265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COBALAMINA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328775"/>
            <a:ext cx="8329295" cy="47752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b="1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20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2000" b="1" spc="-25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humano</a:t>
            </a:r>
            <a:r>
              <a:rPr sz="2000" b="1" spc="-15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b="1" spc="-5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20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sintetiza.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sintetizan</a:t>
            </a:r>
            <a:r>
              <a:rPr sz="20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exclusivamente</a:t>
            </a:r>
            <a:r>
              <a:rPr sz="20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microorganismos.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adquiere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alimentos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(leche,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huevos,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carne,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pescados).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</a:t>
            </a:r>
            <a:r>
              <a:rPr sz="20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 encontrado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vegetales.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condiciones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normales,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necesita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absorber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2-5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μg/día,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depósitos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alcanzan 2-5</a:t>
            </a:r>
            <a:r>
              <a:rPr sz="20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sz="20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(la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mayoría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spc="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  <a:r>
              <a:rPr sz="2000" spc="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spc="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riñón).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formas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vivo.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2545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metilcobalamina</a:t>
            </a:r>
            <a:r>
              <a:rPr sz="2000" b="1" spc="-8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(forma</a:t>
            </a:r>
            <a:r>
              <a:rPr sz="2000" b="1" spc="-7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circulante).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42545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Adenosilcobalamina</a:t>
            </a:r>
            <a:r>
              <a:rPr sz="2000" b="1" spc="-40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(forma</a:t>
            </a:r>
            <a:r>
              <a:rPr sz="2000" b="1" spc="-60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15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b="1" spc="-30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3E7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depósitos).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2545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formas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farmacéuticas,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hidroxicobalamina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(uso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terapéutico).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2545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Cianianocobalamina</a:t>
            </a:r>
            <a:r>
              <a:rPr sz="20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(uso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diagnóstico:</a:t>
            </a:r>
            <a:r>
              <a:rPr sz="20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Schilling </a:t>
            </a:r>
            <a:r>
              <a:rPr sz="20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7400" y="990600"/>
            <a:ext cx="82994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ALIMENTOS</a:t>
            </a:r>
            <a:r>
              <a:rPr spc="-75" dirty="0"/>
              <a:t> </a:t>
            </a:r>
            <a:r>
              <a:rPr dirty="0"/>
              <a:t>RICOS</a:t>
            </a:r>
            <a:r>
              <a:rPr spc="-80" dirty="0"/>
              <a:t> </a:t>
            </a:r>
            <a:r>
              <a:rPr dirty="0"/>
              <a:t>EN</a:t>
            </a:r>
            <a:r>
              <a:rPr spc="-75" dirty="0"/>
              <a:t> </a:t>
            </a:r>
            <a:r>
              <a:rPr spc="-45" dirty="0"/>
              <a:t>VITAMINA</a:t>
            </a:r>
            <a:r>
              <a:rPr spc="-195" dirty="0"/>
              <a:t> </a:t>
            </a:r>
            <a:r>
              <a:rPr spc="-25" dirty="0"/>
              <a:t>B12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644" y="2310967"/>
            <a:ext cx="6001511" cy="38536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7743" y="2286000"/>
            <a:ext cx="2848355" cy="3610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6400" y="646029"/>
            <a:ext cx="9479280" cy="801771"/>
          </a:xfrm>
          <a:prstGeom prst="rect">
            <a:avLst/>
          </a:prstGeom>
        </p:spPr>
        <p:txBody>
          <a:bodyPr vert="horz" wrap="square" lIns="0" tIns="367297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800"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37" baseline="-21164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sz="2800" b="1" baseline="-2116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399" y="1828799"/>
            <a:ext cx="8024825" cy="35913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930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Dietética: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veganismo.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 marR="184150" indent="-342900">
              <a:lnSpc>
                <a:spcPct val="100000"/>
              </a:lnSpc>
              <a:tabLst>
                <a:tab pos="3930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intrínseco: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perniciosa,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gastrectomía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congénita.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tabLst>
                <a:tab pos="3930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Malabsorción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intestinal: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Crohn.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 marR="43180" indent="-342900">
              <a:lnSpc>
                <a:spcPct val="100000"/>
              </a:lnSpc>
              <a:spcBef>
                <a:spcPts val="5"/>
              </a:spcBef>
              <a:tabLst>
                <a:tab pos="3930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ciega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divertículos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intestino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delgado,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fomenta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bacterias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utilizan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b="1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950" b="1" spc="-7" baseline="-21367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721460"/>
            <a:ext cx="9707880" cy="573940"/>
          </a:xfrm>
          <a:prstGeom prst="rect">
            <a:avLst/>
          </a:prstGeom>
        </p:spPr>
        <p:txBody>
          <a:bodyPr vert="horz" wrap="square" lIns="0" tIns="141669" rIns="0" bIns="0" rtlCol="0">
            <a:spAutoFit/>
          </a:bodyPr>
          <a:lstStyle/>
          <a:p>
            <a:pPr marL="2308225">
              <a:lnSpc>
                <a:spcPct val="100000"/>
              </a:lnSpc>
              <a:spcBef>
                <a:spcPts val="105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PERNICIOSA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447800"/>
            <a:ext cx="8329930" cy="4793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800"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3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gastritis</a:t>
            </a:r>
            <a:r>
              <a:rPr sz="18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atrófica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autoinmune</a:t>
            </a:r>
            <a:r>
              <a:rPr sz="1800" b="1" spc="-3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00000"/>
              </a:lnSpc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18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frecuente</a:t>
            </a:r>
            <a:r>
              <a:rPr sz="1800" b="1" spc="-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1800" b="1" spc="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baseline="-20833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800" b="1" spc="202" baseline="-20833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00000"/>
              </a:lnSpc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detectan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autoanticuerpos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intrínseco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parietales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81280" indent="-343535">
              <a:lnSpc>
                <a:spcPct val="80000"/>
              </a:lnSpc>
              <a:spcBef>
                <a:spcPts val="5"/>
              </a:spcBef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aclorhidria</a:t>
            </a:r>
            <a:r>
              <a:rPr sz="18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acompañante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(las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parietales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secretan H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baseline="25462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1800" b="1" spc="225" baseline="25462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asocia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-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tiroidea</a:t>
            </a:r>
            <a:r>
              <a:rPr sz="1800" b="1" spc="-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autoinmune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riesgo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carcinoma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gástrico.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lnSpc>
                <a:spcPct val="100000"/>
              </a:lnSpc>
              <a:tabLst>
                <a:tab pos="4572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Antecedentes</a:t>
            </a:r>
            <a:r>
              <a:rPr sz="1800" b="1" spc="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familiares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perniciosa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tiroidea.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1200" y="533400"/>
            <a:ext cx="91662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2800"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CLÍNICAS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800" b="1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25" dirty="0">
                <a:latin typeface="Arial" panose="020B0604020202020204" pitchFamily="34" charset="0"/>
                <a:cs typeface="Arial" panose="020B0604020202020204" pitchFamily="34" charset="0"/>
              </a:rPr>
              <a:t>B12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371600"/>
            <a:ext cx="8074661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amarillo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limón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piel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(palidez-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Ictericia).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Glositis.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Trastornos</a:t>
            </a:r>
            <a:r>
              <a:rPr sz="1800" b="1" spc="-1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digestivos.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Alteraciones neurológicas</a:t>
            </a:r>
            <a:r>
              <a:rPr sz="18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(neuropatía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periférica).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Trastornos</a:t>
            </a:r>
            <a:r>
              <a:rPr sz="1800" b="1" spc="-1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psiquiátricos.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842822"/>
            <a:ext cx="9707880" cy="512384"/>
          </a:xfrm>
          <a:prstGeom prst="rect">
            <a:avLst/>
          </a:prstGeom>
        </p:spPr>
        <p:txBody>
          <a:bodyPr vert="horz" wrap="square" lIns="0" tIns="80709" rIns="0" bIns="0" rtlCol="0">
            <a:spAutoFit/>
          </a:bodyPr>
          <a:lstStyle/>
          <a:p>
            <a:pPr marL="3540125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676400"/>
            <a:ext cx="7566050" cy="4292201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Descenso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ingesta: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spcBef>
                <a:spcPts val="1015"/>
              </a:spcBef>
              <a:buChar char="•"/>
              <a:tabLst>
                <a:tab pos="612140" algn="l"/>
              </a:tabLst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</a:t>
            </a:r>
            <a:r>
              <a:rPr sz="18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inadecuada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(vegetarianos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estrictos).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Microsoft Sans Serif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04040"/>
              </a:buClr>
              <a:buFont typeface="Microsoft Sans Serif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Alteración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la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spcBef>
                <a:spcPts val="1015"/>
              </a:spcBef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intrínseco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gastrectomía,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gastritis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atrófica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(anemia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perniciosa).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142240">
              <a:lnSpc>
                <a:spcPct val="100000"/>
              </a:lnSpc>
              <a:spcBef>
                <a:spcPts val="994"/>
              </a:spcBef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pancreáticas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pancreatitis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crónica,</a:t>
            </a:r>
            <a:r>
              <a:rPr sz="18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síndrome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Zollinger-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Ellison.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1385570" indent="-3429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Alteraciones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metabólicas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(la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cobalamina)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7200" y="561113"/>
            <a:ext cx="1687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219200"/>
            <a:ext cx="9220200" cy="4949753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Alteraciones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(raras):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spcBef>
                <a:spcPts val="785"/>
              </a:spcBef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3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congénito</a:t>
            </a:r>
            <a:r>
              <a:rPr sz="1800" b="1" spc="-5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1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transcobalamina</a:t>
            </a:r>
            <a:r>
              <a:rPr sz="1800" spc="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</a:t>
            </a:r>
            <a:endParaRPr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Clr>
                <a:srgbClr val="404040"/>
              </a:buClr>
              <a:buFont typeface="Microsoft Sans Serif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transcobalamina</a:t>
            </a:r>
            <a:r>
              <a:rPr sz="1800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(enfermedad de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Cardeza).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404040"/>
              </a:buClr>
              <a:buFont typeface="Microsoft Sans Serif"/>
              <a:buChar char="•"/>
            </a:pPr>
            <a:endParaRPr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142240">
              <a:lnSpc>
                <a:spcPct val="136200"/>
              </a:lnSpc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Congénitas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mutaciones cblA</a:t>
            </a:r>
            <a:r>
              <a:rPr sz="1800" spc="-1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cblJ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(raras),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alteran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metabolismo intracelular.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Clr>
                <a:srgbClr val="404040"/>
              </a:buClr>
              <a:buFont typeface="Microsoft Sans Serif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ts val="2050"/>
              </a:lnSpc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Adquiridas: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óxido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nitroso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(inactiva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cobalamina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oxidación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>
              <a:lnSpc>
                <a:spcPts val="2050"/>
              </a:lnSpc>
            </a:pP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irreversible).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los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requerimientos: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spcBef>
                <a:spcPts val="800"/>
              </a:spcBef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Fisiológicos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embarazo,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lactancia.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140" indent="-142240">
              <a:lnSpc>
                <a:spcPct val="100000"/>
              </a:lnSpc>
              <a:spcBef>
                <a:spcPts val="780"/>
              </a:spcBef>
              <a:buFont typeface="Microsoft Sans Serif"/>
              <a:buChar char="•"/>
              <a:tabLst>
                <a:tab pos="61214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Patológicos:</a:t>
            </a:r>
            <a:r>
              <a:rPr sz="1800" b="1" spc="-10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hipertiroidismo,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leucemias,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18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6800" y="457200"/>
            <a:ext cx="14719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111363"/>
            <a:ext cx="8625840" cy="4838504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Alteraciones</a:t>
            </a:r>
            <a:r>
              <a:rPr sz="24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intestino</a:t>
            </a:r>
            <a:r>
              <a:rPr sz="2400" b="1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delgado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Esprúe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celíaca.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932815" indent="-342900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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Infiltración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pared: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linfoma,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Crohn,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amiloidosis, esclerodermia.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Proliferación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bacteriana: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ciega,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diverticulosis,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hipogammaglobulinemia.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Parasitosis:</a:t>
            </a:r>
            <a:r>
              <a:rPr sz="1800" b="1" spc="-1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Ancylostoma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duodenale.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Alteraciones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receptores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medicamentos: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fenitoína,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colchicina,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anticonceptivos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528356"/>
            <a:ext cx="9403080" cy="843244"/>
          </a:xfrm>
          <a:prstGeom prst="rect">
            <a:avLst/>
          </a:prstGeom>
        </p:spPr>
        <p:txBody>
          <a:bodyPr vert="horz" wrap="square" lIns="0" tIns="408369" rIns="0" bIns="0" rtlCol="0">
            <a:spAutoFit/>
          </a:bodyPr>
          <a:lstStyle/>
          <a:p>
            <a:pPr marL="639445">
              <a:lnSpc>
                <a:spcPct val="100000"/>
              </a:lnSpc>
              <a:spcBef>
                <a:spcPts val="105"/>
              </a:spcBef>
            </a:pPr>
            <a:r>
              <a:rPr lang="es-ES" sz="2800" dirty="0" smtClean="0"/>
              <a:t>      </a:t>
            </a:r>
            <a:r>
              <a:rPr sz="2800" dirty="0" smtClean="0"/>
              <a:t>ALIMENTOS</a:t>
            </a:r>
            <a:r>
              <a:rPr sz="2800" spc="-45" dirty="0" smtClean="0"/>
              <a:t> </a:t>
            </a:r>
            <a:r>
              <a:rPr sz="2800" dirty="0"/>
              <a:t>RICOS</a:t>
            </a:r>
            <a:r>
              <a:rPr sz="2800" spc="-30" dirty="0"/>
              <a:t> </a:t>
            </a:r>
            <a:r>
              <a:rPr sz="2800" dirty="0"/>
              <a:t>EN</a:t>
            </a:r>
            <a:r>
              <a:rPr sz="2800" spc="-140" dirty="0"/>
              <a:t> </a:t>
            </a:r>
            <a:r>
              <a:rPr sz="2800" dirty="0"/>
              <a:t>ACIDO</a:t>
            </a:r>
            <a:r>
              <a:rPr sz="2800" spc="-35" dirty="0"/>
              <a:t> </a:t>
            </a:r>
            <a:r>
              <a:rPr sz="2800" spc="-10" dirty="0"/>
              <a:t>FÓLICO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600200"/>
            <a:ext cx="8391144" cy="4422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894757"/>
            <a:ext cx="10058400" cy="842603"/>
          </a:xfrm>
          <a:prstGeom prst="rect">
            <a:avLst/>
          </a:prstGeom>
        </p:spPr>
        <p:txBody>
          <a:bodyPr vert="horz" wrap="square" lIns="0" tIns="407734" rIns="0" bIns="0" rtlCol="0">
            <a:spAutoFit/>
          </a:bodyPr>
          <a:lstStyle/>
          <a:p>
            <a:pPr marL="2708275">
              <a:lnSpc>
                <a:spcPct val="100000"/>
              </a:lnSpc>
              <a:spcBef>
                <a:spcPts val="100"/>
              </a:spcBef>
            </a:pPr>
            <a:r>
              <a:rPr lang="es-ES" sz="2800" dirty="0" smtClean="0"/>
              <a:t>        </a:t>
            </a:r>
            <a:r>
              <a:rPr sz="2800" dirty="0" smtClean="0"/>
              <a:t>ACIDO</a:t>
            </a:r>
            <a:r>
              <a:rPr sz="2800" spc="-130" dirty="0" smtClean="0"/>
              <a:t> </a:t>
            </a:r>
            <a:r>
              <a:rPr sz="2800" spc="-10" dirty="0"/>
              <a:t>FÓLICO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286000"/>
            <a:ext cx="6190488" cy="3718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9000" y="700045"/>
            <a:ext cx="39624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FOLATO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603" y="1355801"/>
            <a:ext cx="824230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AR" sz="1800" b="1" dirty="0" smtClean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734" algn="l"/>
              </a:tabLst>
            </a:pPr>
            <a:r>
              <a:rPr sz="1800" b="1" spc="-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spc="-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</a:t>
            </a:r>
            <a:r>
              <a:rPr sz="1800" b="1" spc="-2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pobre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folatos.(verduras verdes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hígado).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19734" algn="l"/>
              </a:tabLst>
            </a:pPr>
            <a:r>
              <a:rPr sz="1450" b="1" spc="65" dirty="0" smtClean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b="1" dirty="0" smtClean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</a:t>
            </a:r>
            <a:r>
              <a:rPr sz="1800" b="1" spc="-1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b="1" spc="-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celíaca</a:t>
            </a:r>
            <a:r>
              <a:rPr sz="1800" b="1" spc="-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602" y="2961513"/>
            <a:ext cx="10229597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407034" algn="l"/>
                <a:tab pos="1490980" algn="l"/>
                <a:tab pos="1914525" algn="l"/>
                <a:tab pos="307467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50" b="1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2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800" b="1" spc="-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AR" sz="1800" b="1" spc="-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neoplasias</a:t>
            </a:r>
            <a:r>
              <a:rPr lang="es-AR"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malignas</a:t>
            </a:r>
            <a:r>
              <a:rPr lang="es-AR" b="1" spc="-2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3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  <a:r>
              <a:rPr sz="1800" b="1" spc="-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1800" b="1" spc="-10" dirty="0" smtClean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407034" algn="l"/>
                <a:tab pos="1490980" algn="l"/>
                <a:tab pos="1914525" algn="l"/>
                <a:tab pos="3074670" algn="l"/>
              </a:tabLst>
            </a:pPr>
            <a:r>
              <a:rPr lang="es-AR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spc="-1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Embarazo, prematuros.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5603" y="4038676"/>
            <a:ext cx="8300084" cy="2254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pérdidas: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diálisis.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Fármacos: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metotrexato,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trimetoprima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antiepilépticos.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4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</a:t>
            </a:r>
            <a:r>
              <a:rPr sz="1800" b="1" spc="42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excesivo</a:t>
            </a:r>
            <a:r>
              <a:rPr sz="1800" b="1" spc="4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4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alcohol</a:t>
            </a:r>
            <a:r>
              <a:rPr sz="1800" b="1" spc="43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sz="1800" b="1" spc="4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</a:t>
            </a:r>
            <a:r>
              <a:rPr sz="1800" b="1" spc="43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lugar</a:t>
            </a:r>
            <a:r>
              <a:rPr sz="1800" b="1" spc="4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4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1800" b="1" spc="4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43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4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folato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sz="1800" b="1" spc="-2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malabsorción,</a:t>
            </a:r>
            <a:r>
              <a:rPr sz="1800" b="1" spc="-1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malnutrición</a:t>
            </a:r>
            <a:r>
              <a:rPr sz="1800" b="1" spc="-1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1800" b="1" spc="-1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utilización.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43400" y="457200"/>
            <a:ext cx="29178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0" y="1219200"/>
            <a:ext cx="7239000" cy="51648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95"/>
              </a:spcBef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MEGALOBLÁSTICA</a:t>
            </a:r>
            <a:r>
              <a:rPr sz="18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DÉFICIT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B12.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42354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b="1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Corregir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lvl="1">
              <a:spcBef>
                <a:spcPts val="994"/>
              </a:spcBef>
              <a:tabLst>
                <a:tab pos="423545" algn="l"/>
              </a:tabLst>
            </a:pPr>
            <a:r>
              <a:rPr sz="1450" b="1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b="1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Corregir</a:t>
            </a:r>
            <a:r>
              <a:rPr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</a:t>
            </a:r>
            <a:r>
              <a:rPr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423545" algn="l"/>
              </a:tabLst>
            </a:pPr>
            <a:r>
              <a:rPr sz="1450" b="1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b="1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oral: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comprimido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bebible</a:t>
            </a:r>
            <a:r>
              <a:rPr sz="18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tomarla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ayunas.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C,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eficaz,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reposición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inmediata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PERNICIOSA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2275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Intramuscular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</a:t>
            </a:r>
            <a:r>
              <a:rPr sz="18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diariamente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70785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70785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Finalmente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meses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1200" y="762000"/>
            <a:ext cx="10058400" cy="683200"/>
          </a:xfrm>
          <a:prstGeom prst="rect">
            <a:avLst/>
          </a:prstGeom>
        </p:spPr>
        <p:txBody>
          <a:bodyPr vert="horz" wrap="square" lIns="0" tIns="249873" rIns="0" bIns="0" rtlCol="0">
            <a:spAutoFit/>
          </a:bodyPr>
          <a:lstStyle/>
          <a:p>
            <a:pPr marL="3058160">
              <a:lnSpc>
                <a:spcPct val="100000"/>
              </a:lnSpc>
              <a:spcBef>
                <a:spcPts val="105"/>
              </a:spcBef>
            </a:pPr>
            <a:r>
              <a:rPr sz="2800" b="1" spc="-50" dirty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7000" y="2133600"/>
            <a:ext cx="6560184" cy="3590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MEGALOBLÁSTICA</a:t>
            </a:r>
            <a:r>
              <a:rPr sz="18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FOLATOS.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3545" indent="-41084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42354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Corregir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  <a:buClr>
                <a:srgbClr val="90C225"/>
              </a:buClr>
              <a:buFont typeface="Wingdings"/>
              <a:buChar char=""/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3545" indent="-41084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42354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Corregir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  <a:buClr>
                <a:srgbClr val="90C225"/>
              </a:buClr>
              <a:buFont typeface="Wingdings"/>
              <a:buChar char=""/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3545" indent="-41084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42354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oral: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ácido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fólico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mg/día.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65"/>
              </a:spcBef>
              <a:buClr>
                <a:srgbClr val="90C225"/>
              </a:buClr>
              <a:buFont typeface="Wingdings"/>
              <a:buChar char=""/>
            </a:pP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3545" indent="-410845">
              <a:lnSpc>
                <a:spcPct val="1000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42354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endovenosa: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acido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folínico,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ampollas</a:t>
            </a:r>
            <a:r>
              <a:rPr sz="1800" b="1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mg/día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75969" y="290829"/>
            <a:ext cx="2779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MACROCITOSIS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30410" y="290829"/>
            <a:ext cx="4344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90C225"/>
                </a:solidFill>
                <a:latin typeface="Arial"/>
                <a:cs typeface="Arial"/>
              </a:rPr>
              <a:t>NO</a:t>
            </a:r>
            <a:r>
              <a:rPr sz="2800" b="1" spc="-40" dirty="0">
                <a:solidFill>
                  <a:srgbClr val="90C225"/>
                </a:solidFill>
                <a:latin typeface="Arial"/>
                <a:cs typeface="Arial"/>
              </a:rPr>
              <a:t>  </a:t>
            </a:r>
            <a:r>
              <a:rPr sz="2800" b="1" spc="-10" dirty="0">
                <a:solidFill>
                  <a:srgbClr val="90C225"/>
                </a:solidFill>
                <a:latin typeface="Arial"/>
                <a:cs typeface="Arial"/>
              </a:rPr>
              <a:t>MEGALOBLÁSTICAS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10" y="1113282"/>
            <a:ext cx="4979035" cy="3510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Enfermedad</a:t>
            </a:r>
            <a:r>
              <a:rPr sz="1800" b="1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Hepática</a:t>
            </a:r>
            <a:r>
              <a:rPr sz="1800" b="1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crónica.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Anemia</a:t>
            </a:r>
            <a:r>
              <a:rPr sz="1800" b="1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Aplásica.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Mielodisplasia.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Posterior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esplenectomía.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Reticulocitosis</a:t>
            </a:r>
            <a:r>
              <a:rPr sz="1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ej.</a:t>
            </a:r>
            <a:r>
              <a:rPr sz="1800" b="1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Anemia</a:t>
            </a:r>
            <a:r>
              <a:rPr sz="1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hemolítica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grave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838200"/>
            <a:ext cx="8597265" cy="4295140"/>
            <a:chOff x="676655" y="1315211"/>
            <a:chExt cx="8597265" cy="4295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655" y="1315211"/>
              <a:ext cx="8596884" cy="4294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1452" y="3067811"/>
              <a:ext cx="6354317" cy="5722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99894" y="3055492"/>
              <a:ext cx="6340475" cy="558165"/>
            </a:xfrm>
            <a:custGeom>
              <a:avLst/>
              <a:gdLst/>
              <a:ahLst/>
              <a:cxnLst/>
              <a:rect l="l" t="t" r="r" b="b"/>
              <a:pathLst>
                <a:path w="6340475" h="558164">
                  <a:moveTo>
                    <a:pt x="6165596" y="114046"/>
                  </a:moveTo>
                  <a:lnTo>
                    <a:pt x="6072505" y="114046"/>
                  </a:lnTo>
                  <a:lnTo>
                    <a:pt x="5902452" y="550418"/>
                  </a:lnTo>
                  <a:lnTo>
                    <a:pt x="5995924" y="550418"/>
                  </a:lnTo>
                  <a:lnTo>
                    <a:pt x="6031991" y="451231"/>
                  </a:lnTo>
                  <a:lnTo>
                    <a:pt x="6300627" y="451231"/>
                  </a:lnTo>
                  <a:lnTo>
                    <a:pt x="6271179" y="377698"/>
                  </a:lnTo>
                  <a:lnTo>
                    <a:pt x="6059043" y="377698"/>
                  </a:lnTo>
                  <a:lnTo>
                    <a:pt x="6117971" y="215773"/>
                  </a:lnTo>
                  <a:lnTo>
                    <a:pt x="6206334" y="215773"/>
                  </a:lnTo>
                  <a:lnTo>
                    <a:pt x="6165596" y="114046"/>
                  </a:lnTo>
                  <a:close/>
                </a:path>
                <a:path w="6340475" h="558164">
                  <a:moveTo>
                    <a:pt x="6300627" y="451231"/>
                  </a:moveTo>
                  <a:lnTo>
                    <a:pt x="6206362" y="451231"/>
                  </a:lnTo>
                  <a:lnTo>
                    <a:pt x="6244462" y="550418"/>
                  </a:lnTo>
                  <a:lnTo>
                    <a:pt x="6340348" y="550418"/>
                  </a:lnTo>
                  <a:lnTo>
                    <a:pt x="6300627" y="451231"/>
                  </a:lnTo>
                  <a:close/>
                </a:path>
                <a:path w="6340475" h="558164">
                  <a:moveTo>
                    <a:pt x="6206334" y="215773"/>
                  </a:moveTo>
                  <a:lnTo>
                    <a:pt x="6117971" y="215773"/>
                  </a:lnTo>
                  <a:lnTo>
                    <a:pt x="6178169" y="377698"/>
                  </a:lnTo>
                  <a:lnTo>
                    <a:pt x="6271179" y="377698"/>
                  </a:lnTo>
                  <a:lnTo>
                    <a:pt x="6206334" y="215773"/>
                  </a:lnTo>
                  <a:close/>
                </a:path>
                <a:path w="6340475" h="558164">
                  <a:moveTo>
                    <a:pt x="2227580" y="114046"/>
                  </a:moveTo>
                  <a:lnTo>
                    <a:pt x="2134489" y="114046"/>
                  </a:lnTo>
                  <a:lnTo>
                    <a:pt x="1964435" y="550418"/>
                  </a:lnTo>
                  <a:lnTo>
                    <a:pt x="2057908" y="550418"/>
                  </a:lnTo>
                  <a:lnTo>
                    <a:pt x="2093976" y="451231"/>
                  </a:lnTo>
                  <a:lnTo>
                    <a:pt x="2362611" y="451231"/>
                  </a:lnTo>
                  <a:lnTo>
                    <a:pt x="2333163" y="377698"/>
                  </a:lnTo>
                  <a:lnTo>
                    <a:pt x="2121027" y="377698"/>
                  </a:lnTo>
                  <a:lnTo>
                    <a:pt x="2179955" y="215773"/>
                  </a:lnTo>
                  <a:lnTo>
                    <a:pt x="2268318" y="215773"/>
                  </a:lnTo>
                  <a:lnTo>
                    <a:pt x="2227580" y="114046"/>
                  </a:lnTo>
                  <a:close/>
                </a:path>
                <a:path w="6340475" h="558164">
                  <a:moveTo>
                    <a:pt x="2362611" y="451231"/>
                  </a:moveTo>
                  <a:lnTo>
                    <a:pt x="2268347" y="451231"/>
                  </a:lnTo>
                  <a:lnTo>
                    <a:pt x="2306447" y="550418"/>
                  </a:lnTo>
                  <a:lnTo>
                    <a:pt x="2402332" y="550418"/>
                  </a:lnTo>
                  <a:lnTo>
                    <a:pt x="2362611" y="451231"/>
                  </a:lnTo>
                  <a:close/>
                </a:path>
                <a:path w="6340475" h="558164">
                  <a:moveTo>
                    <a:pt x="2268318" y="215773"/>
                  </a:moveTo>
                  <a:lnTo>
                    <a:pt x="2179955" y="215773"/>
                  </a:lnTo>
                  <a:lnTo>
                    <a:pt x="2240153" y="377698"/>
                  </a:lnTo>
                  <a:lnTo>
                    <a:pt x="2333163" y="377698"/>
                  </a:lnTo>
                  <a:lnTo>
                    <a:pt x="2268318" y="215773"/>
                  </a:lnTo>
                  <a:close/>
                </a:path>
                <a:path w="6340475" h="558164">
                  <a:moveTo>
                    <a:pt x="263144" y="114046"/>
                  </a:moveTo>
                  <a:lnTo>
                    <a:pt x="170053" y="114046"/>
                  </a:lnTo>
                  <a:lnTo>
                    <a:pt x="0" y="550418"/>
                  </a:lnTo>
                  <a:lnTo>
                    <a:pt x="93472" y="550418"/>
                  </a:lnTo>
                  <a:lnTo>
                    <a:pt x="129540" y="451231"/>
                  </a:lnTo>
                  <a:lnTo>
                    <a:pt x="398175" y="451231"/>
                  </a:lnTo>
                  <a:lnTo>
                    <a:pt x="368727" y="377698"/>
                  </a:lnTo>
                  <a:lnTo>
                    <a:pt x="156591" y="377698"/>
                  </a:lnTo>
                  <a:lnTo>
                    <a:pt x="215519" y="215773"/>
                  </a:lnTo>
                  <a:lnTo>
                    <a:pt x="303882" y="215773"/>
                  </a:lnTo>
                  <a:lnTo>
                    <a:pt x="263144" y="114046"/>
                  </a:lnTo>
                  <a:close/>
                </a:path>
                <a:path w="6340475" h="558164">
                  <a:moveTo>
                    <a:pt x="398175" y="451231"/>
                  </a:moveTo>
                  <a:lnTo>
                    <a:pt x="303911" y="451231"/>
                  </a:lnTo>
                  <a:lnTo>
                    <a:pt x="342011" y="550418"/>
                  </a:lnTo>
                  <a:lnTo>
                    <a:pt x="437896" y="550418"/>
                  </a:lnTo>
                  <a:lnTo>
                    <a:pt x="398175" y="451231"/>
                  </a:lnTo>
                  <a:close/>
                </a:path>
                <a:path w="6340475" h="558164">
                  <a:moveTo>
                    <a:pt x="303882" y="215773"/>
                  </a:moveTo>
                  <a:lnTo>
                    <a:pt x="215519" y="215773"/>
                  </a:lnTo>
                  <a:lnTo>
                    <a:pt x="275717" y="377698"/>
                  </a:lnTo>
                  <a:lnTo>
                    <a:pt x="368727" y="377698"/>
                  </a:lnTo>
                  <a:lnTo>
                    <a:pt x="303882" y="215773"/>
                  </a:lnTo>
                  <a:close/>
                </a:path>
                <a:path w="6340475" h="558164">
                  <a:moveTo>
                    <a:pt x="4143629" y="106553"/>
                  </a:moveTo>
                  <a:lnTo>
                    <a:pt x="4093432" y="110902"/>
                  </a:lnTo>
                  <a:lnTo>
                    <a:pt x="4049522" y="123825"/>
                  </a:lnTo>
                  <a:lnTo>
                    <a:pt x="4006302" y="150792"/>
                  </a:lnTo>
                  <a:lnTo>
                    <a:pt x="3970099" y="191388"/>
                  </a:lnTo>
                  <a:lnTo>
                    <a:pt x="3943752" y="246941"/>
                  </a:lnTo>
                  <a:lnTo>
                    <a:pt x="3933795" y="302896"/>
                  </a:lnTo>
                  <a:lnTo>
                    <a:pt x="3932717" y="330708"/>
                  </a:lnTo>
                  <a:lnTo>
                    <a:pt x="3932668" y="331978"/>
                  </a:lnTo>
                  <a:lnTo>
                    <a:pt x="3936045" y="382778"/>
                  </a:lnTo>
                  <a:lnTo>
                    <a:pt x="3946921" y="427878"/>
                  </a:lnTo>
                  <a:lnTo>
                    <a:pt x="3964862" y="465968"/>
                  </a:lnTo>
                  <a:lnTo>
                    <a:pt x="3989958" y="498475"/>
                  </a:lnTo>
                  <a:lnTo>
                    <a:pt x="4021202" y="524458"/>
                  </a:lnTo>
                  <a:lnTo>
                    <a:pt x="4057411" y="542988"/>
                  </a:lnTo>
                  <a:lnTo>
                    <a:pt x="4098597" y="554089"/>
                  </a:lnTo>
                  <a:lnTo>
                    <a:pt x="4144772" y="557784"/>
                  </a:lnTo>
                  <a:lnTo>
                    <a:pt x="4190176" y="554089"/>
                  </a:lnTo>
                  <a:lnTo>
                    <a:pt x="4190364" y="554089"/>
                  </a:lnTo>
                  <a:lnTo>
                    <a:pt x="4230968" y="542988"/>
                  </a:lnTo>
                  <a:lnTo>
                    <a:pt x="4231105" y="542988"/>
                  </a:lnTo>
                  <a:lnTo>
                    <a:pt x="4267215" y="524297"/>
                  </a:lnTo>
                  <a:lnTo>
                    <a:pt x="4298315" y="498221"/>
                  </a:lnTo>
                  <a:lnTo>
                    <a:pt x="4310412" y="482473"/>
                  </a:lnTo>
                  <a:lnTo>
                    <a:pt x="4144518" y="482473"/>
                  </a:lnTo>
                  <a:lnTo>
                    <a:pt x="4119550" y="480113"/>
                  </a:lnTo>
                  <a:lnTo>
                    <a:pt x="4119374" y="480113"/>
                  </a:lnTo>
                  <a:lnTo>
                    <a:pt x="4096705" y="473027"/>
                  </a:lnTo>
                  <a:lnTo>
                    <a:pt x="4096565" y="473027"/>
                  </a:lnTo>
                  <a:lnTo>
                    <a:pt x="4057523" y="444246"/>
                  </a:lnTo>
                  <a:lnTo>
                    <a:pt x="4031929" y="397144"/>
                  </a:lnTo>
                  <a:lnTo>
                    <a:pt x="4023539" y="334899"/>
                  </a:lnTo>
                  <a:lnTo>
                    <a:pt x="4023434" y="330708"/>
                  </a:lnTo>
                  <a:lnTo>
                    <a:pt x="4025433" y="296658"/>
                  </a:lnTo>
                  <a:lnTo>
                    <a:pt x="4042058" y="240305"/>
                  </a:lnTo>
                  <a:lnTo>
                    <a:pt x="4074634" y="202866"/>
                  </a:lnTo>
                  <a:lnTo>
                    <a:pt x="4118588" y="184197"/>
                  </a:lnTo>
                  <a:lnTo>
                    <a:pt x="4144518" y="181864"/>
                  </a:lnTo>
                  <a:lnTo>
                    <a:pt x="4309888" y="181864"/>
                  </a:lnTo>
                  <a:lnTo>
                    <a:pt x="4297933" y="166370"/>
                  </a:lnTo>
                  <a:lnTo>
                    <a:pt x="4266572" y="140200"/>
                  </a:lnTo>
                  <a:lnTo>
                    <a:pt x="4230401" y="121507"/>
                  </a:lnTo>
                  <a:lnTo>
                    <a:pt x="4189420" y="110291"/>
                  </a:lnTo>
                  <a:lnTo>
                    <a:pt x="4143629" y="106553"/>
                  </a:lnTo>
                  <a:close/>
                </a:path>
                <a:path w="6340475" h="558164">
                  <a:moveTo>
                    <a:pt x="4309888" y="181864"/>
                  </a:moveTo>
                  <a:lnTo>
                    <a:pt x="4144518" y="181864"/>
                  </a:lnTo>
                  <a:lnTo>
                    <a:pt x="4170669" y="184197"/>
                  </a:lnTo>
                  <a:lnTo>
                    <a:pt x="4170481" y="184197"/>
                  </a:lnTo>
                  <a:lnTo>
                    <a:pt x="4193890" y="191198"/>
                  </a:lnTo>
                  <a:lnTo>
                    <a:pt x="4193740" y="191198"/>
                  </a:lnTo>
                  <a:lnTo>
                    <a:pt x="4214026" y="202652"/>
                  </a:lnTo>
                  <a:lnTo>
                    <a:pt x="4246175" y="239660"/>
                  </a:lnTo>
                  <a:lnTo>
                    <a:pt x="4262610" y="295580"/>
                  </a:lnTo>
                  <a:lnTo>
                    <a:pt x="4264659" y="330708"/>
                  </a:lnTo>
                  <a:lnTo>
                    <a:pt x="4262560" y="366313"/>
                  </a:lnTo>
                  <a:lnTo>
                    <a:pt x="4256246" y="397144"/>
                  </a:lnTo>
                  <a:lnTo>
                    <a:pt x="4245815" y="422935"/>
                  </a:lnTo>
                  <a:lnTo>
                    <a:pt x="4245693" y="423237"/>
                  </a:lnTo>
                  <a:lnTo>
                    <a:pt x="4212830" y="461202"/>
                  </a:lnTo>
                  <a:lnTo>
                    <a:pt x="4169638" y="480113"/>
                  </a:lnTo>
                  <a:lnTo>
                    <a:pt x="4144518" y="482473"/>
                  </a:lnTo>
                  <a:lnTo>
                    <a:pt x="4310412" y="482473"/>
                  </a:lnTo>
                  <a:lnTo>
                    <a:pt x="4323484" y="465455"/>
                  </a:lnTo>
                  <a:lnTo>
                    <a:pt x="4341463" y="426974"/>
                  </a:lnTo>
                  <a:lnTo>
                    <a:pt x="4352250" y="382778"/>
                  </a:lnTo>
                  <a:lnTo>
                    <a:pt x="4355846" y="332867"/>
                  </a:lnTo>
                  <a:lnTo>
                    <a:pt x="4352226" y="282455"/>
                  </a:lnTo>
                  <a:lnTo>
                    <a:pt x="4341368" y="237902"/>
                  </a:lnTo>
                  <a:lnTo>
                    <a:pt x="4323270" y="199207"/>
                  </a:lnTo>
                  <a:lnTo>
                    <a:pt x="4309888" y="181864"/>
                  </a:lnTo>
                  <a:close/>
                </a:path>
                <a:path w="6340475" h="558164">
                  <a:moveTo>
                    <a:pt x="4514850" y="117602"/>
                  </a:moveTo>
                  <a:lnTo>
                    <a:pt x="4426712" y="117602"/>
                  </a:lnTo>
                  <a:lnTo>
                    <a:pt x="4426712" y="550418"/>
                  </a:lnTo>
                  <a:lnTo>
                    <a:pt x="4733925" y="550418"/>
                  </a:lnTo>
                  <a:lnTo>
                    <a:pt x="4733925" y="476885"/>
                  </a:lnTo>
                  <a:lnTo>
                    <a:pt x="4514850" y="476885"/>
                  </a:lnTo>
                  <a:lnTo>
                    <a:pt x="4514850" y="117602"/>
                  </a:lnTo>
                  <a:close/>
                </a:path>
                <a:path w="6340475" h="558164">
                  <a:moveTo>
                    <a:pt x="5422646" y="114046"/>
                  </a:moveTo>
                  <a:lnTo>
                    <a:pt x="5334508" y="114046"/>
                  </a:lnTo>
                  <a:lnTo>
                    <a:pt x="5334508" y="550418"/>
                  </a:lnTo>
                  <a:lnTo>
                    <a:pt x="5422646" y="550418"/>
                  </a:lnTo>
                  <a:lnTo>
                    <a:pt x="5422646" y="114046"/>
                  </a:lnTo>
                  <a:close/>
                </a:path>
                <a:path w="6340475" h="558164">
                  <a:moveTo>
                    <a:pt x="5151755" y="187833"/>
                  </a:moveTo>
                  <a:lnTo>
                    <a:pt x="5063616" y="187833"/>
                  </a:lnTo>
                  <a:lnTo>
                    <a:pt x="5063616" y="550418"/>
                  </a:lnTo>
                  <a:lnTo>
                    <a:pt x="5151755" y="550418"/>
                  </a:lnTo>
                  <a:lnTo>
                    <a:pt x="5151755" y="187833"/>
                  </a:lnTo>
                  <a:close/>
                </a:path>
                <a:path w="6340475" h="558164">
                  <a:moveTo>
                    <a:pt x="5280913" y="114046"/>
                  </a:moveTo>
                  <a:lnTo>
                    <a:pt x="4934077" y="114046"/>
                  </a:lnTo>
                  <a:lnTo>
                    <a:pt x="4934077" y="187833"/>
                  </a:lnTo>
                  <a:lnTo>
                    <a:pt x="5280913" y="187833"/>
                  </a:lnTo>
                  <a:lnTo>
                    <a:pt x="5280913" y="114046"/>
                  </a:lnTo>
                  <a:close/>
                </a:path>
                <a:path w="6340475" h="558164">
                  <a:moveTo>
                    <a:pt x="4881626" y="114046"/>
                  </a:moveTo>
                  <a:lnTo>
                    <a:pt x="4793488" y="114046"/>
                  </a:lnTo>
                  <a:lnTo>
                    <a:pt x="4793488" y="550418"/>
                  </a:lnTo>
                  <a:lnTo>
                    <a:pt x="4881626" y="550418"/>
                  </a:lnTo>
                  <a:lnTo>
                    <a:pt x="4881626" y="114046"/>
                  </a:lnTo>
                  <a:close/>
                </a:path>
                <a:path w="6340475" h="558164">
                  <a:moveTo>
                    <a:pt x="3573526" y="114046"/>
                  </a:moveTo>
                  <a:lnTo>
                    <a:pt x="3441700" y="114046"/>
                  </a:lnTo>
                  <a:lnTo>
                    <a:pt x="3441700" y="550418"/>
                  </a:lnTo>
                  <a:lnTo>
                    <a:pt x="3523615" y="550418"/>
                  </a:lnTo>
                  <a:lnTo>
                    <a:pt x="3523615" y="206883"/>
                  </a:lnTo>
                  <a:lnTo>
                    <a:pt x="3598240" y="206883"/>
                  </a:lnTo>
                  <a:lnTo>
                    <a:pt x="3573526" y="114046"/>
                  </a:lnTo>
                  <a:close/>
                </a:path>
                <a:path w="6340475" h="558164">
                  <a:moveTo>
                    <a:pt x="3598240" y="206883"/>
                  </a:moveTo>
                  <a:lnTo>
                    <a:pt x="3523615" y="206883"/>
                  </a:lnTo>
                  <a:lnTo>
                    <a:pt x="3609848" y="550418"/>
                  </a:lnTo>
                  <a:lnTo>
                    <a:pt x="3694683" y="550418"/>
                  </a:lnTo>
                  <a:lnTo>
                    <a:pt x="3729649" y="411734"/>
                  </a:lnTo>
                  <a:lnTo>
                    <a:pt x="3652774" y="411734"/>
                  </a:lnTo>
                  <a:lnTo>
                    <a:pt x="3598240" y="206883"/>
                  </a:lnTo>
                  <a:close/>
                </a:path>
                <a:path w="6340475" h="558164">
                  <a:moveTo>
                    <a:pt x="3863213" y="206883"/>
                  </a:moveTo>
                  <a:lnTo>
                    <a:pt x="3781298" y="206883"/>
                  </a:lnTo>
                  <a:lnTo>
                    <a:pt x="3781298" y="550418"/>
                  </a:lnTo>
                  <a:lnTo>
                    <a:pt x="3863213" y="550418"/>
                  </a:lnTo>
                  <a:lnTo>
                    <a:pt x="3863213" y="206883"/>
                  </a:lnTo>
                  <a:close/>
                </a:path>
                <a:path w="6340475" h="558164">
                  <a:moveTo>
                    <a:pt x="3863213" y="114046"/>
                  </a:moveTo>
                  <a:lnTo>
                    <a:pt x="3731005" y="114046"/>
                  </a:lnTo>
                  <a:lnTo>
                    <a:pt x="3652774" y="411734"/>
                  </a:lnTo>
                  <a:lnTo>
                    <a:pt x="3729649" y="411734"/>
                  </a:lnTo>
                  <a:lnTo>
                    <a:pt x="3781298" y="206883"/>
                  </a:lnTo>
                  <a:lnTo>
                    <a:pt x="3863213" y="206883"/>
                  </a:lnTo>
                  <a:lnTo>
                    <a:pt x="3863213" y="114046"/>
                  </a:lnTo>
                  <a:close/>
                </a:path>
                <a:path w="6340475" h="558164">
                  <a:moveTo>
                    <a:pt x="3359530" y="114046"/>
                  </a:moveTo>
                  <a:lnTo>
                    <a:pt x="3035935" y="114046"/>
                  </a:lnTo>
                  <a:lnTo>
                    <a:pt x="3035935" y="550418"/>
                  </a:lnTo>
                  <a:lnTo>
                    <a:pt x="3367913" y="550418"/>
                  </a:lnTo>
                  <a:lnTo>
                    <a:pt x="3367913" y="476885"/>
                  </a:lnTo>
                  <a:lnTo>
                    <a:pt x="3124072" y="476885"/>
                  </a:lnTo>
                  <a:lnTo>
                    <a:pt x="3124072" y="358140"/>
                  </a:lnTo>
                  <a:lnTo>
                    <a:pt x="3343148" y="358140"/>
                  </a:lnTo>
                  <a:lnTo>
                    <a:pt x="3343148" y="284607"/>
                  </a:lnTo>
                  <a:lnTo>
                    <a:pt x="3124072" y="284607"/>
                  </a:lnTo>
                  <a:lnTo>
                    <a:pt x="3124072" y="187833"/>
                  </a:lnTo>
                  <a:lnTo>
                    <a:pt x="3359530" y="187833"/>
                  </a:lnTo>
                  <a:lnTo>
                    <a:pt x="3359530" y="114046"/>
                  </a:lnTo>
                  <a:close/>
                </a:path>
                <a:path w="6340475" h="558164">
                  <a:moveTo>
                    <a:pt x="2684018" y="114046"/>
                  </a:moveTo>
                  <a:lnTo>
                    <a:pt x="2595880" y="114046"/>
                  </a:lnTo>
                  <a:lnTo>
                    <a:pt x="2595880" y="550418"/>
                  </a:lnTo>
                  <a:lnTo>
                    <a:pt x="2684018" y="550418"/>
                  </a:lnTo>
                  <a:lnTo>
                    <a:pt x="2684018" y="359537"/>
                  </a:lnTo>
                  <a:lnTo>
                    <a:pt x="2944749" y="359537"/>
                  </a:lnTo>
                  <a:lnTo>
                    <a:pt x="2944749" y="285750"/>
                  </a:lnTo>
                  <a:lnTo>
                    <a:pt x="2684018" y="285750"/>
                  </a:lnTo>
                  <a:lnTo>
                    <a:pt x="2684018" y="114046"/>
                  </a:lnTo>
                  <a:close/>
                </a:path>
                <a:path w="6340475" h="558164">
                  <a:moveTo>
                    <a:pt x="2944749" y="359537"/>
                  </a:moveTo>
                  <a:lnTo>
                    <a:pt x="2856610" y="359537"/>
                  </a:lnTo>
                  <a:lnTo>
                    <a:pt x="2856610" y="550418"/>
                  </a:lnTo>
                  <a:lnTo>
                    <a:pt x="2944749" y="550418"/>
                  </a:lnTo>
                  <a:lnTo>
                    <a:pt x="2944749" y="359537"/>
                  </a:lnTo>
                  <a:close/>
                </a:path>
                <a:path w="6340475" h="558164">
                  <a:moveTo>
                    <a:pt x="2944749" y="114046"/>
                  </a:moveTo>
                  <a:lnTo>
                    <a:pt x="2856610" y="114046"/>
                  </a:lnTo>
                  <a:lnTo>
                    <a:pt x="2856610" y="285750"/>
                  </a:lnTo>
                  <a:lnTo>
                    <a:pt x="2944749" y="285750"/>
                  </a:lnTo>
                  <a:lnTo>
                    <a:pt x="2944749" y="114046"/>
                  </a:lnTo>
                  <a:close/>
                </a:path>
                <a:path w="6340475" h="558164">
                  <a:moveTo>
                    <a:pt x="1925066" y="114046"/>
                  </a:moveTo>
                  <a:lnTo>
                    <a:pt x="1836928" y="114046"/>
                  </a:lnTo>
                  <a:lnTo>
                    <a:pt x="1836928" y="550418"/>
                  </a:lnTo>
                  <a:lnTo>
                    <a:pt x="1925066" y="550418"/>
                  </a:lnTo>
                  <a:lnTo>
                    <a:pt x="1925066" y="114046"/>
                  </a:lnTo>
                  <a:close/>
                </a:path>
                <a:path w="6340475" h="558164">
                  <a:moveTo>
                    <a:pt x="1462786" y="114046"/>
                  </a:moveTo>
                  <a:lnTo>
                    <a:pt x="1330960" y="114046"/>
                  </a:lnTo>
                  <a:lnTo>
                    <a:pt x="1330960" y="550418"/>
                  </a:lnTo>
                  <a:lnTo>
                    <a:pt x="1412875" y="550418"/>
                  </a:lnTo>
                  <a:lnTo>
                    <a:pt x="1412875" y="206883"/>
                  </a:lnTo>
                  <a:lnTo>
                    <a:pt x="1487500" y="206883"/>
                  </a:lnTo>
                  <a:lnTo>
                    <a:pt x="1462786" y="114046"/>
                  </a:lnTo>
                  <a:close/>
                </a:path>
                <a:path w="6340475" h="558164">
                  <a:moveTo>
                    <a:pt x="1487500" y="206883"/>
                  </a:moveTo>
                  <a:lnTo>
                    <a:pt x="1412875" y="206883"/>
                  </a:lnTo>
                  <a:lnTo>
                    <a:pt x="1499108" y="550418"/>
                  </a:lnTo>
                  <a:lnTo>
                    <a:pt x="1583944" y="550418"/>
                  </a:lnTo>
                  <a:lnTo>
                    <a:pt x="1618909" y="411734"/>
                  </a:lnTo>
                  <a:lnTo>
                    <a:pt x="1542034" y="411734"/>
                  </a:lnTo>
                  <a:lnTo>
                    <a:pt x="1487500" y="206883"/>
                  </a:lnTo>
                  <a:close/>
                </a:path>
                <a:path w="6340475" h="558164">
                  <a:moveTo>
                    <a:pt x="1752472" y="206883"/>
                  </a:moveTo>
                  <a:lnTo>
                    <a:pt x="1670558" y="206883"/>
                  </a:lnTo>
                  <a:lnTo>
                    <a:pt x="1670558" y="550418"/>
                  </a:lnTo>
                  <a:lnTo>
                    <a:pt x="1752472" y="550418"/>
                  </a:lnTo>
                  <a:lnTo>
                    <a:pt x="1752472" y="206883"/>
                  </a:lnTo>
                  <a:close/>
                </a:path>
                <a:path w="6340475" h="558164">
                  <a:moveTo>
                    <a:pt x="1752472" y="114046"/>
                  </a:moveTo>
                  <a:lnTo>
                    <a:pt x="1620266" y="114046"/>
                  </a:lnTo>
                  <a:lnTo>
                    <a:pt x="1542034" y="411734"/>
                  </a:lnTo>
                  <a:lnTo>
                    <a:pt x="1618909" y="411734"/>
                  </a:lnTo>
                  <a:lnTo>
                    <a:pt x="1670558" y="206883"/>
                  </a:lnTo>
                  <a:lnTo>
                    <a:pt x="1752472" y="206883"/>
                  </a:lnTo>
                  <a:lnTo>
                    <a:pt x="1752472" y="114046"/>
                  </a:lnTo>
                  <a:close/>
                </a:path>
                <a:path w="6340475" h="558164">
                  <a:moveTo>
                    <a:pt x="1248791" y="114046"/>
                  </a:moveTo>
                  <a:lnTo>
                    <a:pt x="925194" y="114046"/>
                  </a:lnTo>
                  <a:lnTo>
                    <a:pt x="925194" y="550418"/>
                  </a:lnTo>
                  <a:lnTo>
                    <a:pt x="1257173" y="550418"/>
                  </a:lnTo>
                  <a:lnTo>
                    <a:pt x="1257173" y="476885"/>
                  </a:lnTo>
                  <a:lnTo>
                    <a:pt x="1013332" y="476885"/>
                  </a:lnTo>
                  <a:lnTo>
                    <a:pt x="1013332" y="358140"/>
                  </a:lnTo>
                  <a:lnTo>
                    <a:pt x="1232408" y="358140"/>
                  </a:lnTo>
                  <a:lnTo>
                    <a:pt x="1232408" y="284607"/>
                  </a:lnTo>
                  <a:lnTo>
                    <a:pt x="1013332" y="284607"/>
                  </a:lnTo>
                  <a:lnTo>
                    <a:pt x="1013332" y="187833"/>
                  </a:lnTo>
                  <a:lnTo>
                    <a:pt x="1248791" y="187833"/>
                  </a:lnTo>
                  <a:lnTo>
                    <a:pt x="1248791" y="114046"/>
                  </a:lnTo>
                  <a:close/>
                </a:path>
                <a:path w="6340475" h="558164">
                  <a:moveTo>
                    <a:pt x="571500" y="114046"/>
                  </a:moveTo>
                  <a:lnTo>
                    <a:pt x="485775" y="114046"/>
                  </a:lnTo>
                  <a:lnTo>
                    <a:pt x="485775" y="550418"/>
                  </a:lnTo>
                  <a:lnTo>
                    <a:pt x="567563" y="550418"/>
                  </a:lnTo>
                  <a:lnTo>
                    <a:pt x="567563" y="265811"/>
                  </a:lnTo>
                  <a:lnTo>
                    <a:pt x="664517" y="265811"/>
                  </a:lnTo>
                  <a:lnTo>
                    <a:pt x="571500" y="114046"/>
                  </a:lnTo>
                  <a:close/>
                </a:path>
                <a:path w="6340475" h="558164">
                  <a:moveTo>
                    <a:pt x="664517" y="265811"/>
                  </a:moveTo>
                  <a:lnTo>
                    <a:pt x="567563" y="265811"/>
                  </a:lnTo>
                  <a:lnTo>
                    <a:pt x="743457" y="550418"/>
                  </a:lnTo>
                  <a:lnTo>
                    <a:pt x="831850" y="550418"/>
                  </a:lnTo>
                  <a:lnTo>
                    <a:pt x="831850" y="405384"/>
                  </a:lnTo>
                  <a:lnTo>
                    <a:pt x="750062" y="405384"/>
                  </a:lnTo>
                  <a:lnTo>
                    <a:pt x="664517" y="265811"/>
                  </a:lnTo>
                  <a:close/>
                </a:path>
                <a:path w="6340475" h="558164">
                  <a:moveTo>
                    <a:pt x="831850" y="114046"/>
                  </a:moveTo>
                  <a:lnTo>
                    <a:pt x="750062" y="114046"/>
                  </a:lnTo>
                  <a:lnTo>
                    <a:pt x="750062" y="405384"/>
                  </a:lnTo>
                  <a:lnTo>
                    <a:pt x="831850" y="405384"/>
                  </a:lnTo>
                  <a:lnTo>
                    <a:pt x="831850" y="114046"/>
                  </a:lnTo>
                  <a:close/>
                </a:path>
                <a:path w="6340475" h="558164">
                  <a:moveTo>
                    <a:pt x="5695060" y="106553"/>
                  </a:moveTo>
                  <a:lnTo>
                    <a:pt x="5651460" y="110335"/>
                  </a:lnTo>
                  <a:lnTo>
                    <a:pt x="5612288" y="121666"/>
                  </a:lnTo>
                  <a:lnTo>
                    <a:pt x="5577546" y="140521"/>
                  </a:lnTo>
                  <a:lnTo>
                    <a:pt x="5547233" y="166878"/>
                  </a:lnTo>
                  <a:lnTo>
                    <a:pt x="5522583" y="200025"/>
                  </a:lnTo>
                  <a:lnTo>
                    <a:pt x="5505093" y="239071"/>
                  </a:lnTo>
                  <a:lnTo>
                    <a:pt x="5494476" y="284607"/>
                  </a:lnTo>
                  <a:lnTo>
                    <a:pt x="5490972" y="336042"/>
                  </a:lnTo>
                  <a:lnTo>
                    <a:pt x="5494452" y="384835"/>
                  </a:lnTo>
                  <a:lnTo>
                    <a:pt x="5504910" y="428164"/>
                  </a:lnTo>
                  <a:lnTo>
                    <a:pt x="5522368" y="466040"/>
                  </a:lnTo>
                  <a:lnTo>
                    <a:pt x="5546852" y="498475"/>
                  </a:lnTo>
                  <a:lnTo>
                    <a:pt x="5576784" y="524458"/>
                  </a:lnTo>
                  <a:lnTo>
                    <a:pt x="5610574" y="542988"/>
                  </a:lnTo>
                  <a:lnTo>
                    <a:pt x="5648221" y="554089"/>
                  </a:lnTo>
                  <a:lnTo>
                    <a:pt x="5689727" y="557784"/>
                  </a:lnTo>
                  <a:lnTo>
                    <a:pt x="5723328" y="555617"/>
                  </a:lnTo>
                  <a:lnTo>
                    <a:pt x="5781292" y="538281"/>
                  </a:lnTo>
                  <a:lnTo>
                    <a:pt x="5826898" y="503489"/>
                  </a:lnTo>
                  <a:lnTo>
                    <a:pt x="5842490" y="482473"/>
                  </a:lnTo>
                  <a:lnTo>
                    <a:pt x="5688837" y="482473"/>
                  </a:lnTo>
                  <a:lnTo>
                    <a:pt x="5666144" y="480282"/>
                  </a:lnTo>
                  <a:lnTo>
                    <a:pt x="5627473" y="462756"/>
                  </a:lnTo>
                  <a:lnTo>
                    <a:pt x="5598473" y="426898"/>
                  </a:lnTo>
                  <a:lnTo>
                    <a:pt x="5583527" y="367946"/>
                  </a:lnTo>
                  <a:lnTo>
                    <a:pt x="5581650" y="329565"/>
                  </a:lnTo>
                  <a:lnTo>
                    <a:pt x="5583551" y="293225"/>
                  </a:lnTo>
                  <a:lnTo>
                    <a:pt x="5598687" y="236785"/>
                  </a:lnTo>
                  <a:lnTo>
                    <a:pt x="5628080" y="201549"/>
                  </a:lnTo>
                  <a:lnTo>
                    <a:pt x="5667543" y="184050"/>
                  </a:lnTo>
                  <a:lnTo>
                    <a:pt x="5690615" y="181864"/>
                  </a:lnTo>
                  <a:lnTo>
                    <a:pt x="5847235" y="181864"/>
                  </a:lnTo>
                  <a:lnTo>
                    <a:pt x="5839166" y="169449"/>
                  </a:lnTo>
                  <a:lnTo>
                    <a:pt x="5825235" y="153924"/>
                  </a:lnTo>
                  <a:lnTo>
                    <a:pt x="5798323" y="133234"/>
                  </a:lnTo>
                  <a:lnTo>
                    <a:pt x="5767673" y="118427"/>
                  </a:lnTo>
                  <a:lnTo>
                    <a:pt x="5733260" y="109525"/>
                  </a:lnTo>
                  <a:lnTo>
                    <a:pt x="5695060" y="106553"/>
                  </a:lnTo>
                  <a:close/>
                </a:path>
                <a:path w="6340475" h="558164">
                  <a:moveTo>
                    <a:pt x="5785611" y="390017"/>
                  </a:moveTo>
                  <a:lnTo>
                    <a:pt x="5771022" y="431466"/>
                  </a:lnTo>
                  <a:lnTo>
                    <a:pt x="5736022" y="469989"/>
                  </a:lnTo>
                  <a:lnTo>
                    <a:pt x="5688837" y="482473"/>
                  </a:lnTo>
                  <a:lnTo>
                    <a:pt x="5842490" y="482473"/>
                  </a:lnTo>
                  <a:lnTo>
                    <a:pt x="5844857" y="479282"/>
                  </a:lnTo>
                  <a:lnTo>
                    <a:pt x="5859577" y="450478"/>
                  </a:lnTo>
                  <a:lnTo>
                    <a:pt x="5871083" y="417068"/>
                  </a:lnTo>
                  <a:lnTo>
                    <a:pt x="5785611" y="390017"/>
                  </a:lnTo>
                  <a:close/>
                </a:path>
                <a:path w="6340475" h="558164">
                  <a:moveTo>
                    <a:pt x="5847235" y="181864"/>
                  </a:moveTo>
                  <a:lnTo>
                    <a:pt x="5690615" y="181864"/>
                  </a:lnTo>
                  <a:lnTo>
                    <a:pt x="5707550" y="183100"/>
                  </a:lnTo>
                  <a:lnTo>
                    <a:pt x="5723128" y="186801"/>
                  </a:lnTo>
                  <a:lnTo>
                    <a:pt x="5761543" y="212262"/>
                  </a:lnTo>
                  <a:lnTo>
                    <a:pt x="5782563" y="255143"/>
                  </a:lnTo>
                  <a:lnTo>
                    <a:pt x="5869812" y="234315"/>
                  </a:lnTo>
                  <a:lnTo>
                    <a:pt x="5861454" y="209645"/>
                  </a:lnTo>
                  <a:lnTo>
                    <a:pt x="5851239" y="188023"/>
                  </a:lnTo>
                  <a:lnTo>
                    <a:pt x="5847235" y="181864"/>
                  </a:lnTo>
                  <a:close/>
                </a:path>
                <a:path w="6340475" h="558164">
                  <a:moveTo>
                    <a:pt x="4918202" y="0"/>
                  </a:moveTo>
                  <a:lnTo>
                    <a:pt x="4824476" y="0"/>
                  </a:lnTo>
                  <a:lnTo>
                    <a:pt x="4783455" y="89027"/>
                  </a:lnTo>
                  <a:lnTo>
                    <a:pt x="4836413" y="89027"/>
                  </a:lnTo>
                  <a:lnTo>
                    <a:pt x="4918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9894" y="3055492"/>
              <a:ext cx="6340475" cy="558165"/>
            </a:xfrm>
            <a:custGeom>
              <a:avLst/>
              <a:gdLst/>
              <a:ahLst/>
              <a:cxnLst/>
              <a:rect l="l" t="t" r="r" b="b"/>
              <a:pathLst>
                <a:path w="6340475" h="558164">
                  <a:moveTo>
                    <a:pt x="6117971" y="215773"/>
                  </a:moveTo>
                  <a:lnTo>
                    <a:pt x="6059043" y="377698"/>
                  </a:lnTo>
                  <a:lnTo>
                    <a:pt x="6178169" y="377698"/>
                  </a:lnTo>
                  <a:lnTo>
                    <a:pt x="6117971" y="215773"/>
                  </a:lnTo>
                  <a:close/>
                </a:path>
                <a:path w="6340475" h="558164">
                  <a:moveTo>
                    <a:pt x="2179955" y="215773"/>
                  </a:moveTo>
                  <a:lnTo>
                    <a:pt x="2121027" y="377698"/>
                  </a:lnTo>
                  <a:lnTo>
                    <a:pt x="2240153" y="377698"/>
                  </a:lnTo>
                  <a:lnTo>
                    <a:pt x="2179955" y="215773"/>
                  </a:lnTo>
                  <a:close/>
                </a:path>
                <a:path w="6340475" h="558164">
                  <a:moveTo>
                    <a:pt x="215519" y="215773"/>
                  </a:moveTo>
                  <a:lnTo>
                    <a:pt x="156591" y="377698"/>
                  </a:lnTo>
                  <a:lnTo>
                    <a:pt x="275717" y="377698"/>
                  </a:lnTo>
                  <a:lnTo>
                    <a:pt x="215519" y="215773"/>
                  </a:lnTo>
                  <a:close/>
                </a:path>
                <a:path w="6340475" h="558164">
                  <a:moveTo>
                    <a:pt x="4144518" y="181864"/>
                  </a:moveTo>
                  <a:lnTo>
                    <a:pt x="4095289" y="191198"/>
                  </a:lnTo>
                  <a:lnTo>
                    <a:pt x="4056633" y="219202"/>
                  </a:lnTo>
                  <a:lnTo>
                    <a:pt x="4031662" y="266112"/>
                  </a:lnTo>
                  <a:lnTo>
                    <a:pt x="4023359" y="331978"/>
                  </a:lnTo>
                  <a:lnTo>
                    <a:pt x="4025501" y="366789"/>
                  </a:lnTo>
                  <a:lnTo>
                    <a:pt x="4042594" y="422935"/>
                  </a:lnTo>
                  <a:lnTo>
                    <a:pt x="4075812" y="460988"/>
                  </a:lnTo>
                  <a:lnTo>
                    <a:pt x="4119298" y="480089"/>
                  </a:lnTo>
                  <a:lnTo>
                    <a:pt x="4144518" y="482473"/>
                  </a:lnTo>
                  <a:lnTo>
                    <a:pt x="4169638" y="480113"/>
                  </a:lnTo>
                  <a:lnTo>
                    <a:pt x="4212830" y="461202"/>
                  </a:lnTo>
                  <a:lnTo>
                    <a:pt x="4245693" y="423237"/>
                  </a:lnTo>
                  <a:lnTo>
                    <a:pt x="4262560" y="366313"/>
                  </a:lnTo>
                  <a:lnTo>
                    <a:pt x="4264659" y="330708"/>
                  </a:lnTo>
                  <a:lnTo>
                    <a:pt x="4262610" y="295580"/>
                  </a:lnTo>
                  <a:lnTo>
                    <a:pt x="4246175" y="239660"/>
                  </a:lnTo>
                  <a:lnTo>
                    <a:pt x="4214026" y="202652"/>
                  </a:lnTo>
                  <a:lnTo>
                    <a:pt x="4170402" y="184173"/>
                  </a:lnTo>
                  <a:lnTo>
                    <a:pt x="4144518" y="181864"/>
                  </a:lnTo>
                  <a:close/>
                </a:path>
                <a:path w="6340475" h="558164">
                  <a:moveTo>
                    <a:pt x="4426712" y="117602"/>
                  </a:moveTo>
                  <a:lnTo>
                    <a:pt x="4514850" y="117602"/>
                  </a:lnTo>
                  <a:lnTo>
                    <a:pt x="4514850" y="476885"/>
                  </a:lnTo>
                  <a:lnTo>
                    <a:pt x="4733925" y="476885"/>
                  </a:lnTo>
                  <a:lnTo>
                    <a:pt x="4733925" y="550418"/>
                  </a:lnTo>
                  <a:lnTo>
                    <a:pt x="4426712" y="550418"/>
                  </a:lnTo>
                  <a:lnTo>
                    <a:pt x="4426712" y="117602"/>
                  </a:lnTo>
                  <a:close/>
                </a:path>
                <a:path w="6340475" h="558164">
                  <a:moveTo>
                    <a:pt x="6072505" y="114046"/>
                  </a:moveTo>
                  <a:lnTo>
                    <a:pt x="6165596" y="114046"/>
                  </a:lnTo>
                  <a:lnTo>
                    <a:pt x="6340348" y="550418"/>
                  </a:lnTo>
                  <a:lnTo>
                    <a:pt x="6244462" y="550418"/>
                  </a:lnTo>
                  <a:lnTo>
                    <a:pt x="6206362" y="451231"/>
                  </a:lnTo>
                  <a:lnTo>
                    <a:pt x="6031991" y="451231"/>
                  </a:lnTo>
                  <a:lnTo>
                    <a:pt x="5995924" y="550418"/>
                  </a:lnTo>
                  <a:lnTo>
                    <a:pt x="5902452" y="550418"/>
                  </a:lnTo>
                  <a:lnTo>
                    <a:pt x="6072505" y="114046"/>
                  </a:lnTo>
                  <a:close/>
                </a:path>
                <a:path w="6340475" h="558164">
                  <a:moveTo>
                    <a:pt x="5334508" y="114046"/>
                  </a:moveTo>
                  <a:lnTo>
                    <a:pt x="5422646" y="114046"/>
                  </a:lnTo>
                  <a:lnTo>
                    <a:pt x="5422646" y="550418"/>
                  </a:lnTo>
                  <a:lnTo>
                    <a:pt x="5334508" y="550418"/>
                  </a:lnTo>
                  <a:lnTo>
                    <a:pt x="5334508" y="114046"/>
                  </a:lnTo>
                  <a:close/>
                </a:path>
                <a:path w="6340475" h="558164">
                  <a:moveTo>
                    <a:pt x="4934077" y="114046"/>
                  </a:moveTo>
                  <a:lnTo>
                    <a:pt x="5280913" y="114046"/>
                  </a:lnTo>
                  <a:lnTo>
                    <a:pt x="5280913" y="187833"/>
                  </a:lnTo>
                  <a:lnTo>
                    <a:pt x="5151755" y="187833"/>
                  </a:lnTo>
                  <a:lnTo>
                    <a:pt x="5151755" y="550418"/>
                  </a:lnTo>
                  <a:lnTo>
                    <a:pt x="5063616" y="550418"/>
                  </a:lnTo>
                  <a:lnTo>
                    <a:pt x="5063616" y="187833"/>
                  </a:lnTo>
                  <a:lnTo>
                    <a:pt x="4934077" y="187833"/>
                  </a:lnTo>
                  <a:lnTo>
                    <a:pt x="4934077" y="114046"/>
                  </a:lnTo>
                  <a:close/>
                </a:path>
                <a:path w="6340475" h="558164">
                  <a:moveTo>
                    <a:pt x="4793488" y="114046"/>
                  </a:moveTo>
                  <a:lnTo>
                    <a:pt x="4881626" y="114046"/>
                  </a:lnTo>
                  <a:lnTo>
                    <a:pt x="4881626" y="550418"/>
                  </a:lnTo>
                  <a:lnTo>
                    <a:pt x="4793488" y="550418"/>
                  </a:lnTo>
                  <a:lnTo>
                    <a:pt x="4793488" y="114046"/>
                  </a:lnTo>
                  <a:close/>
                </a:path>
                <a:path w="6340475" h="558164">
                  <a:moveTo>
                    <a:pt x="3441700" y="114046"/>
                  </a:moveTo>
                  <a:lnTo>
                    <a:pt x="3573526" y="114046"/>
                  </a:lnTo>
                  <a:lnTo>
                    <a:pt x="3652774" y="411734"/>
                  </a:lnTo>
                  <a:lnTo>
                    <a:pt x="3731005" y="114046"/>
                  </a:lnTo>
                  <a:lnTo>
                    <a:pt x="3863213" y="114046"/>
                  </a:lnTo>
                  <a:lnTo>
                    <a:pt x="3863213" y="550418"/>
                  </a:lnTo>
                  <a:lnTo>
                    <a:pt x="3781298" y="550418"/>
                  </a:lnTo>
                  <a:lnTo>
                    <a:pt x="3781298" y="206883"/>
                  </a:lnTo>
                  <a:lnTo>
                    <a:pt x="3694683" y="550418"/>
                  </a:lnTo>
                  <a:lnTo>
                    <a:pt x="3609848" y="550418"/>
                  </a:lnTo>
                  <a:lnTo>
                    <a:pt x="3523615" y="206883"/>
                  </a:lnTo>
                  <a:lnTo>
                    <a:pt x="3523615" y="550418"/>
                  </a:lnTo>
                  <a:lnTo>
                    <a:pt x="3441700" y="550418"/>
                  </a:lnTo>
                  <a:lnTo>
                    <a:pt x="3441700" y="114046"/>
                  </a:lnTo>
                  <a:close/>
                </a:path>
                <a:path w="6340475" h="558164">
                  <a:moveTo>
                    <a:pt x="3035935" y="114046"/>
                  </a:moveTo>
                  <a:lnTo>
                    <a:pt x="3359530" y="114046"/>
                  </a:lnTo>
                  <a:lnTo>
                    <a:pt x="3359530" y="187833"/>
                  </a:lnTo>
                  <a:lnTo>
                    <a:pt x="3124072" y="187833"/>
                  </a:lnTo>
                  <a:lnTo>
                    <a:pt x="3124072" y="284607"/>
                  </a:lnTo>
                  <a:lnTo>
                    <a:pt x="3343148" y="284607"/>
                  </a:lnTo>
                  <a:lnTo>
                    <a:pt x="3343148" y="358140"/>
                  </a:lnTo>
                  <a:lnTo>
                    <a:pt x="3124072" y="358140"/>
                  </a:lnTo>
                  <a:lnTo>
                    <a:pt x="3124072" y="476885"/>
                  </a:lnTo>
                  <a:lnTo>
                    <a:pt x="3367913" y="476885"/>
                  </a:lnTo>
                  <a:lnTo>
                    <a:pt x="3367913" y="550418"/>
                  </a:lnTo>
                  <a:lnTo>
                    <a:pt x="3035935" y="550418"/>
                  </a:lnTo>
                  <a:lnTo>
                    <a:pt x="3035935" y="114046"/>
                  </a:lnTo>
                  <a:close/>
                </a:path>
                <a:path w="6340475" h="558164">
                  <a:moveTo>
                    <a:pt x="2595880" y="114046"/>
                  </a:moveTo>
                  <a:lnTo>
                    <a:pt x="2684018" y="114046"/>
                  </a:lnTo>
                  <a:lnTo>
                    <a:pt x="2684018" y="285750"/>
                  </a:lnTo>
                  <a:lnTo>
                    <a:pt x="2856610" y="285750"/>
                  </a:lnTo>
                  <a:lnTo>
                    <a:pt x="2856610" y="114046"/>
                  </a:lnTo>
                  <a:lnTo>
                    <a:pt x="2944749" y="114046"/>
                  </a:lnTo>
                  <a:lnTo>
                    <a:pt x="2944749" y="550418"/>
                  </a:lnTo>
                  <a:lnTo>
                    <a:pt x="2856610" y="550418"/>
                  </a:lnTo>
                  <a:lnTo>
                    <a:pt x="2856610" y="359537"/>
                  </a:lnTo>
                  <a:lnTo>
                    <a:pt x="2684018" y="359537"/>
                  </a:lnTo>
                  <a:lnTo>
                    <a:pt x="2684018" y="550418"/>
                  </a:lnTo>
                  <a:lnTo>
                    <a:pt x="2595880" y="550418"/>
                  </a:lnTo>
                  <a:lnTo>
                    <a:pt x="2595880" y="114046"/>
                  </a:lnTo>
                  <a:close/>
                </a:path>
                <a:path w="6340475" h="558164">
                  <a:moveTo>
                    <a:pt x="2134489" y="114046"/>
                  </a:moveTo>
                  <a:lnTo>
                    <a:pt x="2227580" y="114046"/>
                  </a:lnTo>
                  <a:lnTo>
                    <a:pt x="2402332" y="550418"/>
                  </a:lnTo>
                  <a:lnTo>
                    <a:pt x="2306447" y="550418"/>
                  </a:lnTo>
                  <a:lnTo>
                    <a:pt x="2268347" y="451231"/>
                  </a:lnTo>
                  <a:lnTo>
                    <a:pt x="2093976" y="451231"/>
                  </a:lnTo>
                  <a:lnTo>
                    <a:pt x="2057908" y="550418"/>
                  </a:lnTo>
                  <a:lnTo>
                    <a:pt x="1964435" y="550418"/>
                  </a:lnTo>
                  <a:lnTo>
                    <a:pt x="2134489" y="114046"/>
                  </a:lnTo>
                  <a:close/>
                </a:path>
                <a:path w="6340475" h="558164">
                  <a:moveTo>
                    <a:pt x="1836928" y="114046"/>
                  </a:moveTo>
                  <a:lnTo>
                    <a:pt x="1925066" y="114046"/>
                  </a:lnTo>
                  <a:lnTo>
                    <a:pt x="1925066" y="550418"/>
                  </a:lnTo>
                  <a:lnTo>
                    <a:pt x="1836928" y="550418"/>
                  </a:lnTo>
                  <a:lnTo>
                    <a:pt x="1836928" y="114046"/>
                  </a:lnTo>
                  <a:close/>
                </a:path>
                <a:path w="6340475" h="558164">
                  <a:moveTo>
                    <a:pt x="1330960" y="114046"/>
                  </a:moveTo>
                  <a:lnTo>
                    <a:pt x="1462786" y="114046"/>
                  </a:lnTo>
                  <a:lnTo>
                    <a:pt x="1542034" y="411734"/>
                  </a:lnTo>
                  <a:lnTo>
                    <a:pt x="1620266" y="114046"/>
                  </a:lnTo>
                  <a:lnTo>
                    <a:pt x="1752472" y="114046"/>
                  </a:lnTo>
                  <a:lnTo>
                    <a:pt x="1752472" y="550418"/>
                  </a:lnTo>
                  <a:lnTo>
                    <a:pt x="1670558" y="550418"/>
                  </a:lnTo>
                  <a:lnTo>
                    <a:pt x="1670558" y="206883"/>
                  </a:lnTo>
                  <a:lnTo>
                    <a:pt x="1583944" y="550418"/>
                  </a:lnTo>
                  <a:lnTo>
                    <a:pt x="1499108" y="550418"/>
                  </a:lnTo>
                  <a:lnTo>
                    <a:pt x="1412875" y="206883"/>
                  </a:lnTo>
                  <a:lnTo>
                    <a:pt x="1412875" y="550418"/>
                  </a:lnTo>
                  <a:lnTo>
                    <a:pt x="1330960" y="550418"/>
                  </a:lnTo>
                  <a:lnTo>
                    <a:pt x="1330960" y="114046"/>
                  </a:lnTo>
                  <a:close/>
                </a:path>
                <a:path w="6340475" h="558164">
                  <a:moveTo>
                    <a:pt x="925194" y="114046"/>
                  </a:moveTo>
                  <a:lnTo>
                    <a:pt x="1248791" y="114046"/>
                  </a:lnTo>
                  <a:lnTo>
                    <a:pt x="1248791" y="187833"/>
                  </a:lnTo>
                  <a:lnTo>
                    <a:pt x="1013332" y="187833"/>
                  </a:lnTo>
                  <a:lnTo>
                    <a:pt x="1013332" y="284607"/>
                  </a:lnTo>
                  <a:lnTo>
                    <a:pt x="1232408" y="284607"/>
                  </a:lnTo>
                  <a:lnTo>
                    <a:pt x="1232408" y="358140"/>
                  </a:lnTo>
                  <a:lnTo>
                    <a:pt x="1013332" y="358140"/>
                  </a:lnTo>
                  <a:lnTo>
                    <a:pt x="1013332" y="476885"/>
                  </a:lnTo>
                  <a:lnTo>
                    <a:pt x="1257173" y="476885"/>
                  </a:lnTo>
                  <a:lnTo>
                    <a:pt x="1257173" y="550418"/>
                  </a:lnTo>
                  <a:lnTo>
                    <a:pt x="925194" y="550418"/>
                  </a:lnTo>
                  <a:lnTo>
                    <a:pt x="925194" y="114046"/>
                  </a:lnTo>
                  <a:close/>
                </a:path>
                <a:path w="6340475" h="558164">
                  <a:moveTo>
                    <a:pt x="485775" y="114046"/>
                  </a:moveTo>
                  <a:lnTo>
                    <a:pt x="571500" y="114046"/>
                  </a:lnTo>
                  <a:lnTo>
                    <a:pt x="750062" y="405384"/>
                  </a:lnTo>
                  <a:lnTo>
                    <a:pt x="750062" y="114046"/>
                  </a:lnTo>
                  <a:lnTo>
                    <a:pt x="831850" y="114046"/>
                  </a:lnTo>
                  <a:lnTo>
                    <a:pt x="831850" y="550418"/>
                  </a:lnTo>
                  <a:lnTo>
                    <a:pt x="743457" y="550418"/>
                  </a:lnTo>
                  <a:lnTo>
                    <a:pt x="567563" y="265811"/>
                  </a:lnTo>
                  <a:lnTo>
                    <a:pt x="567563" y="550418"/>
                  </a:lnTo>
                  <a:lnTo>
                    <a:pt x="485775" y="550418"/>
                  </a:lnTo>
                  <a:lnTo>
                    <a:pt x="485775" y="114046"/>
                  </a:lnTo>
                  <a:close/>
                </a:path>
                <a:path w="6340475" h="558164">
                  <a:moveTo>
                    <a:pt x="170053" y="114046"/>
                  </a:moveTo>
                  <a:lnTo>
                    <a:pt x="263144" y="114046"/>
                  </a:lnTo>
                  <a:lnTo>
                    <a:pt x="437896" y="550418"/>
                  </a:lnTo>
                  <a:lnTo>
                    <a:pt x="342011" y="550418"/>
                  </a:lnTo>
                  <a:lnTo>
                    <a:pt x="303911" y="451231"/>
                  </a:lnTo>
                  <a:lnTo>
                    <a:pt x="129540" y="451231"/>
                  </a:lnTo>
                  <a:lnTo>
                    <a:pt x="93472" y="550418"/>
                  </a:lnTo>
                  <a:lnTo>
                    <a:pt x="0" y="550418"/>
                  </a:lnTo>
                  <a:lnTo>
                    <a:pt x="170053" y="114046"/>
                  </a:lnTo>
                  <a:close/>
                </a:path>
                <a:path w="6340475" h="558164">
                  <a:moveTo>
                    <a:pt x="5695060" y="106553"/>
                  </a:moveTo>
                  <a:lnTo>
                    <a:pt x="5733260" y="109525"/>
                  </a:lnTo>
                  <a:lnTo>
                    <a:pt x="5798323" y="133234"/>
                  </a:lnTo>
                  <a:lnTo>
                    <a:pt x="5839166" y="169449"/>
                  </a:lnTo>
                  <a:lnTo>
                    <a:pt x="5861454" y="209645"/>
                  </a:lnTo>
                  <a:lnTo>
                    <a:pt x="5869812" y="234315"/>
                  </a:lnTo>
                  <a:lnTo>
                    <a:pt x="5782563" y="255143"/>
                  </a:lnTo>
                  <a:lnTo>
                    <a:pt x="5777684" y="239071"/>
                  </a:lnTo>
                  <a:lnTo>
                    <a:pt x="5770673" y="224774"/>
                  </a:lnTo>
                  <a:lnTo>
                    <a:pt x="5737371" y="192954"/>
                  </a:lnTo>
                  <a:lnTo>
                    <a:pt x="5690615" y="181864"/>
                  </a:lnTo>
                  <a:lnTo>
                    <a:pt x="5667543" y="184050"/>
                  </a:lnTo>
                  <a:lnTo>
                    <a:pt x="5628161" y="201473"/>
                  </a:lnTo>
                  <a:lnTo>
                    <a:pt x="5598687" y="236785"/>
                  </a:lnTo>
                  <a:lnTo>
                    <a:pt x="5583551" y="293225"/>
                  </a:lnTo>
                  <a:lnTo>
                    <a:pt x="5581650" y="329565"/>
                  </a:lnTo>
                  <a:lnTo>
                    <a:pt x="5583527" y="367946"/>
                  </a:lnTo>
                  <a:lnTo>
                    <a:pt x="5598473" y="426898"/>
                  </a:lnTo>
                  <a:lnTo>
                    <a:pt x="5627473" y="462756"/>
                  </a:lnTo>
                  <a:lnTo>
                    <a:pt x="5666144" y="480282"/>
                  </a:lnTo>
                  <a:lnTo>
                    <a:pt x="5688837" y="482473"/>
                  </a:lnTo>
                  <a:lnTo>
                    <a:pt x="5705820" y="481089"/>
                  </a:lnTo>
                  <a:lnTo>
                    <a:pt x="5749289" y="460248"/>
                  </a:lnTo>
                  <a:lnTo>
                    <a:pt x="5779204" y="412331"/>
                  </a:lnTo>
                  <a:lnTo>
                    <a:pt x="5785611" y="390017"/>
                  </a:lnTo>
                  <a:lnTo>
                    <a:pt x="5871083" y="417068"/>
                  </a:lnTo>
                  <a:lnTo>
                    <a:pt x="5844857" y="479282"/>
                  </a:lnTo>
                  <a:lnTo>
                    <a:pt x="5805678" y="523113"/>
                  </a:lnTo>
                  <a:lnTo>
                    <a:pt x="5753846" y="549116"/>
                  </a:lnTo>
                  <a:lnTo>
                    <a:pt x="5689727" y="557784"/>
                  </a:lnTo>
                  <a:lnTo>
                    <a:pt x="5648221" y="554089"/>
                  </a:lnTo>
                  <a:lnTo>
                    <a:pt x="5610574" y="542988"/>
                  </a:lnTo>
                  <a:lnTo>
                    <a:pt x="5576784" y="524458"/>
                  </a:lnTo>
                  <a:lnTo>
                    <a:pt x="5546852" y="498475"/>
                  </a:lnTo>
                  <a:lnTo>
                    <a:pt x="5522368" y="466040"/>
                  </a:lnTo>
                  <a:lnTo>
                    <a:pt x="5504910" y="428164"/>
                  </a:lnTo>
                  <a:lnTo>
                    <a:pt x="5494452" y="384835"/>
                  </a:lnTo>
                  <a:lnTo>
                    <a:pt x="5490972" y="336042"/>
                  </a:lnTo>
                  <a:lnTo>
                    <a:pt x="5494476" y="284607"/>
                  </a:lnTo>
                  <a:lnTo>
                    <a:pt x="5505005" y="239268"/>
                  </a:lnTo>
                  <a:lnTo>
                    <a:pt x="5522583" y="200025"/>
                  </a:lnTo>
                  <a:lnTo>
                    <a:pt x="5547233" y="166878"/>
                  </a:lnTo>
                  <a:lnTo>
                    <a:pt x="5577546" y="140521"/>
                  </a:lnTo>
                  <a:lnTo>
                    <a:pt x="5612288" y="121666"/>
                  </a:lnTo>
                  <a:lnTo>
                    <a:pt x="5651460" y="110335"/>
                  </a:lnTo>
                  <a:lnTo>
                    <a:pt x="5695060" y="106553"/>
                  </a:lnTo>
                  <a:close/>
                </a:path>
                <a:path w="6340475" h="558164">
                  <a:moveTo>
                    <a:pt x="4143629" y="106553"/>
                  </a:moveTo>
                  <a:lnTo>
                    <a:pt x="4189420" y="110291"/>
                  </a:lnTo>
                  <a:lnTo>
                    <a:pt x="4230401" y="121507"/>
                  </a:lnTo>
                  <a:lnTo>
                    <a:pt x="4266572" y="140200"/>
                  </a:lnTo>
                  <a:lnTo>
                    <a:pt x="4297933" y="166370"/>
                  </a:lnTo>
                  <a:lnTo>
                    <a:pt x="4323270" y="199207"/>
                  </a:lnTo>
                  <a:lnTo>
                    <a:pt x="4341368" y="237902"/>
                  </a:lnTo>
                  <a:lnTo>
                    <a:pt x="4352226" y="282455"/>
                  </a:lnTo>
                  <a:lnTo>
                    <a:pt x="4355846" y="332867"/>
                  </a:lnTo>
                  <a:lnTo>
                    <a:pt x="4352250" y="382778"/>
                  </a:lnTo>
                  <a:lnTo>
                    <a:pt x="4341463" y="426974"/>
                  </a:lnTo>
                  <a:lnTo>
                    <a:pt x="4323484" y="465455"/>
                  </a:lnTo>
                  <a:lnTo>
                    <a:pt x="4298315" y="498221"/>
                  </a:lnTo>
                  <a:lnTo>
                    <a:pt x="4267215" y="524297"/>
                  </a:lnTo>
                  <a:lnTo>
                    <a:pt x="4231258" y="542909"/>
                  </a:lnTo>
                  <a:lnTo>
                    <a:pt x="4190444" y="554067"/>
                  </a:lnTo>
                  <a:lnTo>
                    <a:pt x="4144772" y="557784"/>
                  </a:lnTo>
                  <a:lnTo>
                    <a:pt x="4098597" y="554089"/>
                  </a:lnTo>
                  <a:lnTo>
                    <a:pt x="4057411" y="542988"/>
                  </a:lnTo>
                  <a:lnTo>
                    <a:pt x="4021202" y="524458"/>
                  </a:lnTo>
                  <a:lnTo>
                    <a:pt x="3989958" y="498475"/>
                  </a:lnTo>
                  <a:lnTo>
                    <a:pt x="3964862" y="465968"/>
                  </a:lnTo>
                  <a:lnTo>
                    <a:pt x="3946921" y="427878"/>
                  </a:lnTo>
                  <a:lnTo>
                    <a:pt x="3936148" y="384192"/>
                  </a:lnTo>
                  <a:lnTo>
                    <a:pt x="3932554" y="334899"/>
                  </a:lnTo>
                  <a:lnTo>
                    <a:pt x="3933795" y="302896"/>
                  </a:lnTo>
                  <a:lnTo>
                    <a:pt x="3943752" y="246941"/>
                  </a:lnTo>
                  <a:lnTo>
                    <a:pt x="3960612" y="206771"/>
                  </a:lnTo>
                  <a:lnTo>
                    <a:pt x="3993133" y="163195"/>
                  </a:lnTo>
                  <a:lnTo>
                    <a:pt x="4034496" y="131083"/>
                  </a:lnTo>
                  <a:lnTo>
                    <a:pt x="4070691" y="116304"/>
                  </a:lnTo>
                  <a:lnTo>
                    <a:pt x="4117744" y="107644"/>
                  </a:lnTo>
                  <a:lnTo>
                    <a:pt x="4143629" y="106553"/>
                  </a:lnTo>
                  <a:close/>
                </a:path>
                <a:path w="6340475" h="558164">
                  <a:moveTo>
                    <a:pt x="4824476" y="0"/>
                  </a:moveTo>
                  <a:lnTo>
                    <a:pt x="4918202" y="0"/>
                  </a:lnTo>
                  <a:lnTo>
                    <a:pt x="4836413" y="89027"/>
                  </a:lnTo>
                  <a:lnTo>
                    <a:pt x="4783455" y="89027"/>
                  </a:lnTo>
                  <a:lnTo>
                    <a:pt x="4824476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91000" y="457200"/>
            <a:ext cx="42576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5854" y="1219200"/>
            <a:ext cx="7847965" cy="4809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Debida</a:t>
            </a:r>
            <a:r>
              <a:rPr sz="24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4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</a:t>
            </a:r>
            <a:r>
              <a:rPr sz="24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destrucción</a:t>
            </a:r>
            <a:r>
              <a:rPr sz="24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9209" indent="-3429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poseen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 corta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destruidos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acelerada.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Estimula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lleva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eritropoyesis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compensadora.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eritropoyesis hace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haya más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reticulocitos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circulación,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VCM.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</a:t>
            </a:r>
            <a:r>
              <a:rPr sz="1800" b="1" spc="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deberse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defectos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extracorpusculares.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807715"/>
            <a:ext cx="8793480" cy="563885"/>
          </a:xfrm>
          <a:prstGeom prst="rect">
            <a:avLst/>
          </a:prstGeom>
        </p:spPr>
        <p:txBody>
          <a:bodyPr vert="horz" wrap="square" lIns="0" tIns="131712" rIns="0" bIns="0" rtlCol="0">
            <a:spAutoFit/>
          </a:bodyPr>
          <a:lstStyle/>
          <a:p>
            <a:pPr marL="222758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7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5000" y="1752600"/>
            <a:ext cx="8291830" cy="458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Hemólisis</a:t>
            </a:r>
            <a:r>
              <a:rPr sz="1800" b="1" spc="-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extravascular:</a:t>
            </a:r>
            <a:r>
              <a:rPr sz="1800" b="1" spc="5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vía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normal</a:t>
            </a:r>
            <a:r>
              <a:rPr sz="18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por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la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que los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eritrocitos</a:t>
            </a:r>
            <a:r>
              <a:rPr sz="18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son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destruidos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y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tiene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lugar</a:t>
            </a:r>
            <a:r>
              <a:rPr sz="18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en los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macrófagos</a:t>
            </a:r>
            <a:r>
              <a:rPr sz="18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del</a:t>
            </a:r>
            <a:r>
              <a:rPr sz="18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bazo,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médula</a:t>
            </a:r>
            <a:r>
              <a:rPr sz="1800" spc="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ósea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y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el</a:t>
            </a:r>
            <a:r>
              <a:rPr sz="1800" spc="-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hígado.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355600" marR="866140" indent="-3429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Hemólisis</a:t>
            </a:r>
            <a:r>
              <a:rPr sz="1800" b="1" spc="-5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intravascular:</a:t>
            </a:r>
            <a:r>
              <a:rPr sz="1800" b="1" spc="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es</a:t>
            </a:r>
            <a:r>
              <a:rPr sz="1800" spc="-2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la</a:t>
            </a:r>
            <a:r>
              <a:rPr sz="1800" spc="-3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destrucción</a:t>
            </a:r>
            <a:r>
              <a:rPr sz="1800" spc="-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de</a:t>
            </a:r>
            <a:r>
              <a:rPr sz="1800" spc="-3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eritrocitos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dentro</a:t>
            </a:r>
            <a:r>
              <a:rPr sz="1800" spc="-3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D2D2D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D2D2D"/>
                </a:solidFill>
                <a:latin typeface="Microsoft Sans Serif"/>
                <a:cs typeface="Microsoft Sans Serif"/>
              </a:rPr>
              <a:t>la </a:t>
            </a:r>
            <a:r>
              <a:rPr sz="18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circulación.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355600" marR="1350010" indent="-3429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Se</a:t>
            </a:r>
            <a:r>
              <a:rPr sz="1800" b="1" spc="-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caracteriza</a:t>
            </a:r>
            <a:r>
              <a:rPr sz="1800" b="1" spc="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por</a:t>
            </a:r>
            <a:r>
              <a:rPr sz="1800" b="1" spc="-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todas</a:t>
            </a:r>
            <a:r>
              <a:rPr sz="1800" b="1" spc="-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las</a:t>
            </a:r>
            <a:r>
              <a:rPr sz="1800" b="1" spc="-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manifestaciones</a:t>
            </a:r>
            <a:r>
              <a:rPr sz="1800" b="1" spc="-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D2D2D"/>
                </a:solidFill>
                <a:latin typeface="Arial"/>
                <a:cs typeface="Arial"/>
              </a:rPr>
              <a:t>la</a:t>
            </a:r>
            <a:r>
              <a:rPr sz="1800" b="1" spc="-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D2D2D"/>
                </a:solidFill>
                <a:latin typeface="Arial"/>
                <a:cs typeface="Arial"/>
              </a:rPr>
              <a:t>hemólisis extravascular: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spc="-10" dirty="0">
                <a:solidFill>
                  <a:srgbClr val="2D2D2D"/>
                </a:solidFill>
                <a:latin typeface="Arial"/>
                <a:cs typeface="Arial"/>
              </a:rPr>
              <a:t>Hemoglobinemia:</a:t>
            </a:r>
            <a:r>
              <a:rPr sz="1600" b="1" spc="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se</a:t>
            </a:r>
            <a:r>
              <a:rPr sz="1600" spc="-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libera</a:t>
            </a:r>
            <a:r>
              <a:rPr sz="1600" spc="-2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Hb</a:t>
            </a:r>
            <a:r>
              <a:rPr sz="1600" spc="-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al</a:t>
            </a:r>
            <a:r>
              <a:rPr sz="16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torrente</a:t>
            </a:r>
            <a:r>
              <a:rPr sz="1600" spc="2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sanguíneo.</a:t>
            </a:r>
            <a:endParaRPr sz="1600" dirty="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dirty="0">
                <a:solidFill>
                  <a:srgbClr val="2D2D2D"/>
                </a:solidFill>
                <a:latin typeface="Arial"/>
                <a:cs typeface="Arial"/>
              </a:rPr>
              <a:t>Inexistencia</a:t>
            </a:r>
            <a:r>
              <a:rPr sz="1600" b="1" spc="-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D2D2D"/>
                </a:solidFill>
                <a:latin typeface="Arial"/>
                <a:cs typeface="Arial"/>
              </a:rPr>
              <a:t>de</a:t>
            </a:r>
            <a:r>
              <a:rPr sz="1600" b="1" spc="-5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D2D2D"/>
                </a:solidFill>
                <a:latin typeface="Arial"/>
                <a:cs typeface="Arial"/>
              </a:rPr>
              <a:t>haptoglobinas</a:t>
            </a:r>
            <a:r>
              <a:rPr sz="1600" b="1" spc="-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D2D2D"/>
                </a:solidFill>
                <a:latin typeface="Arial"/>
                <a:cs typeface="Arial"/>
              </a:rPr>
              <a:t>plasmáticas:</a:t>
            </a:r>
            <a:r>
              <a:rPr sz="1600" b="1" spc="-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removidas</a:t>
            </a:r>
            <a:r>
              <a:rPr sz="1600" spc="-3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por</a:t>
            </a:r>
            <a:r>
              <a:rPr sz="1600" spc="-2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los</a:t>
            </a:r>
            <a:r>
              <a:rPr sz="1600" spc="-40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macrófagos.</a:t>
            </a:r>
            <a:endParaRPr sz="1600" dirty="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spc="-10" dirty="0">
                <a:solidFill>
                  <a:srgbClr val="2D2D2D"/>
                </a:solidFill>
                <a:latin typeface="Arial"/>
                <a:cs typeface="Arial"/>
              </a:rPr>
              <a:t>Hemoglobinuria: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spc="-10" dirty="0">
                <a:solidFill>
                  <a:srgbClr val="2D2D2D"/>
                </a:solidFill>
                <a:latin typeface="Arial"/>
                <a:cs typeface="Arial"/>
              </a:rPr>
              <a:t>Hemosiderinuria: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spc="-10" dirty="0">
                <a:solidFill>
                  <a:srgbClr val="2D2D2D"/>
                </a:solidFill>
                <a:latin typeface="Arial"/>
                <a:cs typeface="Arial"/>
              </a:rPr>
              <a:t>Metahemalbuminemia:</a:t>
            </a:r>
            <a:r>
              <a:rPr sz="1600" b="1" spc="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parte</a:t>
            </a:r>
            <a:r>
              <a:rPr sz="1600" spc="2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de la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Hb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se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oxida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y</a:t>
            </a:r>
            <a:r>
              <a:rPr sz="1600" spc="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se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une</a:t>
            </a:r>
            <a:r>
              <a:rPr sz="1600" spc="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a</a:t>
            </a:r>
            <a:r>
              <a:rPr sz="1600" spc="15" dirty="0">
                <a:solidFill>
                  <a:srgbClr val="2D2D2D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D2D2D"/>
                </a:solidFill>
                <a:latin typeface="Microsoft Sans Serif"/>
                <a:cs typeface="Microsoft Sans Serif"/>
              </a:rPr>
              <a:t>la</a:t>
            </a:r>
            <a:r>
              <a:rPr sz="1600" spc="-10" dirty="0">
                <a:solidFill>
                  <a:srgbClr val="2D2D2D"/>
                </a:solidFill>
                <a:latin typeface="Microsoft Sans Serif"/>
                <a:cs typeface="Microsoft Sans Serif"/>
              </a:rPr>
              <a:t> albúmina.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84423" y="329211"/>
            <a:ext cx="59582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2800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CLÍNICAS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75266"/>
              </p:ext>
            </p:extLst>
          </p:nvPr>
        </p:nvGraphicFramePr>
        <p:xfrm>
          <a:off x="1600200" y="1066800"/>
          <a:ext cx="9067800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Causas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Clínica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8483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mecanismo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Aumento</a:t>
                      </a:r>
                      <a:r>
                        <a:rPr sz="16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destrucción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eritrocitos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901065" indent="-172720">
                        <a:lnSpc>
                          <a:spcPct val="100000"/>
                        </a:lnSpc>
                        <a:spcBef>
                          <a:spcPts val="325"/>
                        </a:spcBef>
                        <a:buFont typeface="Microsoft Sans Serif"/>
                        <a:buChar char="•"/>
                        <a:tabLst>
                          <a:tab pos="263525" algn="l"/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Falta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haptoglobinas plasmáticas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Palidez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mucosas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Ictericia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La orina se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oscurece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dejarla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6352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reposar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Cálculos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pigmentarios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Esplenomegalia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Reticulocitosis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264160" marR="161290" indent="-172720">
                        <a:lnSpc>
                          <a:spcPct val="100000"/>
                        </a:lnSpc>
                        <a:spcBef>
                          <a:spcPts val="325"/>
                        </a:spcBef>
                        <a:buFont typeface="Microsoft Sans Serif"/>
                        <a:buChar char="•"/>
                        <a:tabLst>
                          <a:tab pos="264160" algn="l"/>
                          <a:tab pos="26543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Hb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une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haptoglobinas;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este</a:t>
                      </a:r>
                      <a:r>
                        <a:rPr sz="12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complejo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lo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eliminan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después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macrófagos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↓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Hemoglobina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↑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Bilirrubina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sérica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conjugada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↑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Urobilinógeno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↑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Bilirrubina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bilis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↑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Destrucción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eritrocitos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Precursores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eritrocitarios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entran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en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sangre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8049">
                <a:tc>
                  <a:txBody>
                    <a:bodyPr/>
                    <a:lstStyle/>
                    <a:p>
                      <a:pPr marL="91440" marR="23367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Aumento</a:t>
                      </a:r>
                      <a:r>
                        <a:rPr sz="16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producción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eritrocitos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330"/>
                        </a:spcBef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Déficit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folato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Microsoft Sans Serif"/>
                        <a:buChar char="•"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5430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5430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Deformidades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óseas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266065" indent="-173990">
                        <a:lnSpc>
                          <a:spcPct val="100000"/>
                        </a:lnSpc>
                        <a:spcBef>
                          <a:spcPts val="330"/>
                        </a:spcBef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Aumento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eritropoyesis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Microsoft Sans Serif"/>
                        <a:buChar char="•"/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6065" indent="-17399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Microsoft Sans Serif"/>
                        <a:buChar char="•"/>
                        <a:tabLst>
                          <a:tab pos="26606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hiperplasia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eritroide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expande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las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cavidades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medulares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41546" y="189327"/>
            <a:ext cx="41097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10514"/>
              </p:ext>
            </p:extLst>
          </p:nvPr>
        </p:nvGraphicFramePr>
        <p:xfrm>
          <a:off x="698500" y="821183"/>
          <a:ext cx="10350499" cy="5749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042">
                <a:tc>
                  <a:txBody>
                    <a:bodyPr/>
                    <a:lstStyle/>
                    <a:p>
                      <a:pPr marL="762000" marR="572135" indent="-1847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Defectos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eritrocito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4503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Defectos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extracorpusculares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Membrana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Esferocitosis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 marR="420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hereditaria. Eliptocitosis hereditaria. Hemoglobinuria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paroxística</a:t>
                      </a:r>
                      <a:r>
                        <a:rPr sz="16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nocturna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Inmune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860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Transfusiones incompatibles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Anemia</a:t>
                      </a:r>
                      <a:r>
                        <a:rPr sz="16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hemolítica autoinmune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Asociada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fármacos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9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Enzima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92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Déficit de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G6PD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Déficit de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Infección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462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Paludismo Septicemia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84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Hemoglobina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Síndromes</a:t>
                      </a:r>
                      <a:r>
                        <a:rPr sz="16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falciformes.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ts val="1905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Talasemia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Fármacos/sustancias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ts val="1905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químicas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Dapsona,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sulfasalazina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7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Mecánicas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35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Hemólisis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 marR="60071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microangiopática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Válvulas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cardíacas protésicas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CID,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SHU,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PTT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Tras</a:t>
                      </a:r>
                      <a:r>
                        <a:rPr sz="1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marchas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largas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905"/>
                        </a:lnSpc>
                        <a:spcBef>
                          <a:spcPts val="869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Mielofibrosis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8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35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Hiperesplenismo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5868" y="283213"/>
            <a:ext cx="6781165" cy="925253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33905">
              <a:lnSpc>
                <a:spcPct val="100000"/>
              </a:lnSpc>
              <a:spcBef>
                <a:spcPts val="1335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ESFEROCÍTICA</a:t>
            </a: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54965" algn="l"/>
              </a:tabLst>
            </a:pPr>
            <a:r>
              <a:rPr sz="1200" b="0" spc="50" dirty="0">
                <a:latin typeface="Lucida Sans Unicode"/>
                <a:cs typeface="Lucida Sans Unicode"/>
              </a:rPr>
              <a:t>▶</a:t>
            </a:r>
            <a:r>
              <a:rPr sz="1200" b="0" dirty="0">
                <a:latin typeface="Lucida Sans Unicode"/>
                <a:cs typeface="Lucida Sans Unicode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6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esferocitosis</a:t>
            </a:r>
            <a:r>
              <a:rPr sz="16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hereditaria</a:t>
            </a:r>
            <a:r>
              <a:rPr sz="16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6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16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16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autosómico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dominante.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2057400"/>
            <a:ext cx="8048625" cy="4719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Alteración</a:t>
            </a:r>
            <a:r>
              <a:rPr sz="1500" b="1" spc="3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5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5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membrana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superficial</a:t>
            </a:r>
            <a:r>
              <a:rPr sz="15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glóbulo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rojo.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Deficiencia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5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proteínas</a:t>
            </a:r>
            <a:r>
              <a:rPr sz="15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5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citoesqueleto,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principalmente</a:t>
            </a:r>
            <a:r>
              <a:rPr sz="1500" b="1" spc="409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espectrina.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sz="15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deformabilidad</a:t>
            </a:r>
            <a:r>
              <a:rPr sz="15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5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eritrocitos,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5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provoca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extravascular.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sz="15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fragilidad</a:t>
            </a:r>
            <a:r>
              <a:rPr sz="15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osmótica.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asintomática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presentar</a:t>
            </a:r>
            <a:r>
              <a:rPr sz="15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nacimiento.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Durante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5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lactancia</a:t>
            </a:r>
            <a:r>
              <a:rPr sz="15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  <a:r>
              <a:rPr sz="15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5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Clínica:</a:t>
            </a:r>
            <a:r>
              <a:rPr sz="15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ictericia</a:t>
            </a:r>
            <a:r>
              <a:rPr sz="15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5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esplenomegalia.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00" spc="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Tratamiento:</a:t>
            </a:r>
            <a:r>
              <a:rPr sz="1500" b="1" spc="3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esplenectomía</a:t>
            </a:r>
            <a:r>
              <a:rPr sz="1500" b="1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1500" b="1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</a:t>
            </a:r>
            <a:r>
              <a:rPr sz="1500" b="1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500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crisis.</a:t>
            </a:r>
            <a:endParaRPr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862344"/>
            <a:ext cx="10001794" cy="661656"/>
          </a:xfrm>
          <a:prstGeom prst="rect">
            <a:avLst/>
          </a:prstGeom>
        </p:spPr>
        <p:txBody>
          <a:bodyPr vert="horz" wrap="square" lIns="0" tIns="228537" rIns="0" bIns="0" rtlCol="0">
            <a:spAutoFit/>
          </a:bodyPr>
          <a:lstStyle/>
          <a:p>
            <a:pPr marL="136906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SANGRE</a:t>
            </a:r>
            <a:r>
              <a:rPr sz="2800" spc="-40" dirty="0"/>
              <a:t> </a:t>
            </a:r>
            <a:r>
              <a:rPr sz="2800" dirty="0"/>
              <a:t>PERIFÉRICA</a:t>
            </a:r>
            <a:r>
              <a:rPr sz="2800" spc="-145" dirty="0"/>
              <a:t> </a:t>
            </a:r>
            <a:r>
              <a:rPr sz="2800" spc="-10" dirty="0"/>
              <a:t>NORMAL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981201"/>
            <a:ext cx="8133588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0200" y="825770"/>
            <a:ext cx="9555480" cy="622030"/>
          </a:xfrm>
          <a:prstGeom prst="rect">
            <a:avLst/>
          </a:prstGeom>
        </p:spPr>
        <p:txBody>
          <a:bodyPr vert="horz" wrap="square" lIns="0" tIns="189294" rIns="0" bIns="0" rtlCol="0">
            <a:spAutoFit/>
          </a:bodyPr>
          <a:lstStyle/>
          <a:p>
            <a:pPr marL="2753360">
              <a:lnSpc>
                <a:spcPct val="100000"/>
              </a:lnSpc>
              <a:spcBef>
                <a:spcPts val="105"/>
              </a:spcBef>
            </a:pPr>
            <a:r>
              <a:rPr sz="2800" spc="-10" dirty="0"/>
              <a:t>ESFEROCITOSIS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981200"/>
            <a:ext cx="7485888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1192916"/>
            <a:ext cx="10058400" cy="544444"/>
          </a:xfrm>
          <a:prstGeom prst="rect">
            <a:avLst/>
          </a:prstGeom>
        </p:spPr>
        <p:txBody>
          <a:bodyPr vert="horz" wrap="square" lIns="0" tIns="112459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00"/>
              </a:spcBef>
            </a:pPr>
            <a:r>
              <a:rPr lang="es-ES" sz="2800" dirty="0" smtClean="0"/>
              <a:t>     </a:t>
            </a:r>
            <a:r>
              <a:rPr sz="2800" dirty="0" smtClean="0"/>
              <a:t>CUERPOS </a:t>
            </a:r>
            <a:r>
              <a:rPr sz="2800" dirty="0"/>
              <a:t>DE </a:t>
            </a:r>
            <a:r>
              <a:rPr sz="2800" spc="-10" dirty="0"/>
              <a:t>HEINZ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209800"/>
            <a:ext cx="7693152" cy="357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81400" y="185632"/>
            <a:ext cx="524141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ELIPTOCITOSIS</a:t>
            </a:r>
            <a:r>
              <a:rPr sz="2800" b="1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HEREDITARIA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853659"/>
            <a:ext cx="8151495" cy="150368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autosómico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dominante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Proteínas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citoesqueleto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defectuosas.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1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elevada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proporción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elípticos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extensión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periférica.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 descr="EL RINCÓN DE LA MEDICINA INTERNA: Frotis de Sangre Periférica. Eliptocitosis  Hereditaria u Ovalocitosi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514600"/>
            <a:ext cx="6871716" cy="3694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2200" y="1905000"/>
            <a:ext cx="7772400" cy="35620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ligado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cromosoma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afecta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hexosas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monofosfatos.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mujeres</a:t>
            </a:r>
            <a:r>
              <a:rPr sz="1800" b="1" spc="4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portadoras,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padecen</a:t>
            </a:r>
            <a:r>
              <a:rPr sz="18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b="1" spc="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2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varones.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>
              <a:lnSpc>
                <a:spcPct val="8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retículo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endoplásmico</a:t>
            </a:r>
            <a:r>
              <a:rPr sz="1800" b="1" spc="4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islotes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Langerhans,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riñón.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Tipos: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africano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mediterráneo.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mediterráneo es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6482283"/>
            <a:ext cx="4318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90C225"/>
                </a:solidFill>
                <a:latin typeface="Microsoft Sans Serif"/>
                <a:cs typeface="Microsoft Sans Serif"/>
              </a:rPr>
              <a:t>•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51835" y="304800"/>
            <a:ext cx="688276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5425" marR="5080" indent="-148336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lang="es-ES" sz="2800" b="1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ES" sz="28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  <a:r>
              <a:rPr lang="es-ES" sz="28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sz="28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 FOSFATO </a:t>
            </a:r>
            <a:r>
              <a:rPr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DESHIDROGENASA</a:t>
            </a:r>
            <a:endParaRPr sz="28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830" y="563372"/>
            <a:ext cx="841817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0" marR="5080" indent="-1670685" algn="ctr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  <a:r>
              <a:rPr sz="2800" b="1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8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75" dirty="0">
                <a:latin typeface="Arial" panose="020B0604020202020204" pitchFamily="34" charset="0"/>
                <a:cs typeface="Arial" panose="020B0604020202020204" pitchFamily="34" charset="0"/>
              </a:rPr>
              <a:t>FOSFATO-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DESHIDROGENASA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2188209"/>
            <a:ext cx="8114030" cy="3849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Generalmente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asintomáticos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oxidantes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precipitan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hemólisis,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Infección.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Acidosis,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cetoacidosis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diabética.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Fármacos, ej.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Sulfamidas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Habas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(«fabismo»,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sólo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mediterráneo).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1800" b="1" spc="-1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intravascular.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Tratamiento: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desencadenante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1211947"/>
            <a:ext cx="10058400" cy="525413"/>
          </a:xfrm>
          <a:prstGeom prst="rect">
            <a:avLst/>
          </a:prstGeom>
        </p:spPr>
        <p:txBody>
          <a:bodyPr vert="horz" wrap="square" lIns="0" tIns="93612" rIns="0" bIns="0" rtlCol="0">
            <a:spAutoFit/>
          </a:bodyPr>
          <a:lstStyle/>
          <a:p>
            <a:pPr marL="1661795">
              <a:lnSpc>
                <a:spcPct val="100000"/>
              </a:lnSpc>
              <a:spcBef>
                <a:spcPts val="105"/>
              </a:spcBef>
            </a:pPr>
            <a:r>
              <a:rPr lang="es-ES" sz="2800" dirty="0" smtClean="0"/>
              <a:t>      </a:t>
            </a:r>
            <a:r>
              <a:rPr sz="2800" dirty="0" smtClean="0"/>
              <a:t>DEFICIENCIA</a:t>
            </a:r>
            <a:r>
              <a:rPr sz="2800" spc="-170" dirty="0" smtClean="0"/>
              <a:t> </a:t>
            </a:r>
            <a:r>
              <a:rPr sz="2800" spc="-10" dirty="0"/>
              <a:t>ENZIMÁTICAS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905000"/>
            <a:ext cx="8762999" cy="4155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9000" y="381000"/>
            <a:ext cx="55537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283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DEFECTOS</a:t>
            </a:r>
            <a:r>
              <a:rPr sz="2800" b="1" spc="-15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ENZIMÁTICOS </a:t>
            </a:r>
            <a:r>
              <a:rPr sz="2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</a:t>
            </a:r>
            <a:r>
              <a:rPr sz="2800" b="1" spc="-6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8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5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  <a:r>
              <a:rPr sz="2800" b="1" spc="-5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b="1" spc="-6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CINASA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516" y="1615567"/>
            <a:ext cx="7820025" cy="206121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18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autosómico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recesivo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infrecuente.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10209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Afecta</a:t>
            </a:r>
            <a:r>
              <a:rPr sz="1800" b="1" spc="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glucolítica,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lugar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produzca</a:t>
            </a:r>
            <a:r>
              <a:rPr sz="1800" b="1" spc="-8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hacen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rígidos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destruyen.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esplenectomía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podría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mejorar,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Frotis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periférica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Acantocitos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3182" y="2646172"/>
            <a:ext cx="4639056" cy="3569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528356"/>
            <a:ext cx="8412480" cy="843244"/>
          </a:xfrm>
          <a:prstGeom prst="rect">
            <a:avLst/>
          </a:prstGeom>
        </p:spPr>
        <p:txBody>
          <a:bodyPr vert="horz" wrap="square" lIns="0" tIns="408369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28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  <a:r>
              <a:rPr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AUTOINMUNES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909317"/>
            <a:ext cx="7622540" cy="3593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Autoanticuerpos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Coombs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directa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4191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AHAI: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810" indent="-245110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AHAI</a:t>
            </a:r>
            <a:r>
              <a:rPr sz="1800" b="1" spc="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caliente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corporal).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810" indent="-24511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25781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AHAI</a:t>
            </a:r>
            <a:r>
              <a:rPr sz="1800" b="1" spc="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fría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(suele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producirse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debajo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ambiente).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-254000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2667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Hemoglobinuria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paroxística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frigore.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0756"/>
            <a:ext cx="8793480" cy="843244"/>
          </a:xfrm>
          <a:prstGeom prst="rect">
            <a:avLst/>
          </a:prstGeom>
        </p:spPr>
        <p:txBody>
          <a:bodyPr vert="horz" wrap="square" lIns="0" tIns="408369" rIns="0" bIns="0" rtlCol="0">
            <a:spAutoFit/>
          </a:bodyPr>
          <a:lstStyle/>
          <a:p>
            <a:pPr marL="58166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28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  <a:r>
              <a:rPr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AUTOINMUNE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057400"/>
            <a:ext cx="5570855" cy="3424554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  <a:tabLst>
                <a:tab pos="455930" algn="l"/>
              </a:tabLst>
            </a:pPr>
            <a:r>
              <a:rPr sz="2050" spc="145" dirty="0" smtClean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2600" b="1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AHAI</a:t>
            </a:r>
            <a:r>
              <a:rPr sz="2600" b="1" spc="-2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caliente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2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Idiopática.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90C225"/>
              </a:buClr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marR="815340" indent="-342900">
              <a:lnSpc>
                <a:spcPct val="146100"/>
              </a:lnSpc>
              <a:buClr>
                <a:srgbClr val="90C225"/>
              </a:buClr>
              <a:buSzPct val="80555"/>
              <a:buFont typeface="Wingdings"/>
              <a:buChar char=""/>
              <a:tabLst>
                <a:tab pos="1091565" algn="l"/>
              </a:tabLst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Secundaria 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autoinmune: 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Lupus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eritematoso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sistémico.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1565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Leucemias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leucemia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linfocítica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1565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Linfomas.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1565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Fármacos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ácido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mefenámico,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fludarabina).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685800"/>
            <a:ext cx="8488680" cy="553934"/>
          </a:xfrm>
          <a:prstGeom prst="rect">
            <a:avLst/>
          </a:prstGeom>
        </p:spPr>
        <p:txBody>
          <a:bodyPr vert="horz" wrap="square" lIns="0" tIns="121857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  <a:r>
              <a:rPr sz="2800" b="1" spc="5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AUTOIMUNE</a:t>
            </a:r>
            <a:r>
              <a:rPr sz="28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FRÍA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2799" y="1981200"/>
            <a:ext cx="5967730" cy="34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Idiopática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Secundaria: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indent="-406400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Microsoft Sans Serif"/>
              <a:buChar char="•"/>
              <a:tabLst>
                <a:tab pos="4191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Linfoma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800" b="1" spc="49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Leucemia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indent="-406400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Microsoft Sans Serif"/>
              <a:buChar char="•"/>
              <a:tabLst>
                <a:tab pos="4191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Neumonía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micoplasma,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virus</a:t>
            </a:r>
            <a:r>
              <a:rPr sz="1800" b="1" spc="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Epstein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Clr>
                <a:srgbClr val="90C225"/>
              </a:buClr>
              <a:buFont typeface="Microsoft Sans Serif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b="1" spc="-3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clínicas: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indent="-406400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Microsoft Sans Serif"/>
              <a:buChar char="•"/>
              <a:tabLst>
                <a:tab pos="4191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síntomas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empeoran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frío.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0209" indent="-397510">
              <a:lnSpc>
                <a:spcPct val="100000"/>
              </a:lnSpc>
              <a:spcBef>
                <a:spcPts val="575"/>
              </a:spcBef>
              <a:buClr>
                <a:srgbClr val="90C225"/>
              </a:buClr>
              <a:buSzPct val="80555"/>
              <a:buFont typeface="Microsoft Sans Serif"/>
              <a:buChar char="•"/>
              <a:tabLst>
                <a:tab pos="410209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Acrocianosis.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indent="-406400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Microsoft Sans Serif"/>
              <a:buChar char="•"/>
              <a:tabLst>
                <a:tab pos="419100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Fenómeno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Raynaud.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37260" y="557493"/>
          <a:ext cx="7405370" cy="5078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ts val="2880"/>
                        </a:lnSpc>
                      </a:pPr>
                      <a:r>
                        <a:rPr sz="2550" spc="15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255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2890"/>
                        </a:lnSpc>
                      </a:pPr>
                      <a:r>
                        <a:rPr sz="2600" b="1" spc="-10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TRATAMIENTO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Eliminación</a:t>
                      </a:r>
                      <a:r>
                        <a:rPr sz="2000" b="1" spc="-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2000" b="1" spc="-2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2000" b="1" spc="-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causa.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Mantener</a:t>
                      </a:r>
                      <a:r>
                        <a:rPr sz="2000" b="1" spc="-5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temperatura</a:t>
                      </a:r>
                      <a:r>
                        <a:rPr sz="2000" b="1" spc="-4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cálida</a:t>
                      </a:r>
                      <a:r>
                        <a:rPr sz="2000" b="1" spc="-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al</a:t>
                      </a:r>
                      <a:r>
                        <a:rPr sz="2000" b="1" spc="-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paciente.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355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000" b="1" spc="-1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Esteroides.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355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850"/>
                        </a:spcBef>
                      </a:pP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Inmunosupresores</a:t>
                      </a:r>
                      <a:r>
                        <a:rPr sz="2000" b="1" spc="-4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ej.</a:t>
                      </a:r>
                      <a:r>
                        <a:rPr sz="2000" b="1" spc="-1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Azatioprina.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349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7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28575" marR="24130" indent="139700">
                        <a:lnSpc>
                          <a:spcPts val="2160"/>
                        </a:lnSpc>
                        <a:spcBef>
                          <a:spcPts val="2130"/>
                        </a:spcBef>
                        <a:tabLst>
                          <a:tab pos="1537335" algn="l"/>
                        </a:tabLst>
                      </a:pP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El</a:t>
                      </a:r>
                      <a:r>
                        <a:rPr sz="2000" b="1" spc="-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anticuerpo</a:t>
                      </a:r>
                      <a:r>
                        <a:rPr sz="2000" b="1" spc="-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monoclonal</a:t>
                      </a:r>
                      <a:r>
                        <a:rPr sz="2000" b="1" spc="-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rituximab</a:t>
                      </a:r>
                      <a:r>
                        <a:rPr sz="2000" b="1" spc="-3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(anti-CD20)</a:t>
                      </a:r>
                      <a:r>
                        <a:rPr sz="2000" b="1" spc="-5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,en</a:t>
                      </a:r>
                      <a:r>
                        <a:rPr sz="2000" b="1" spc="-1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AHAI 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asociada</a:t>
                      </a:r>
                      <a:r>
                        <a:rPr sz="2000" b="1" spc="-2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	linfoproliferativos</a:t>
                      </a:r>
                      <a:r>
                        <a:rPr sz="2000" b="1" spc="-7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B.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705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spc="-50" dirty="0">
                          <a:solidFill>
                            <a:srgbClr val="90C225"/>
                          </a:solidFill>
                          <a:latin typeface="Microsoft Sans Serif"/>
                          <a:cs typeface="Microsoft Sans Serif"/>
                        </a:rPr>
                        <a:t>•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ts val="2325"/>
                        </a:lnSpc>
                        <a:spcBef>
                          <a:spcPts val="1855"/>
                        </a:spcBef>
                      </a:pPr>
                      <a:r>
                        <a:rPr sz="2000" b="1" spc="-1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Esplenectomía.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3558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51816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28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742" y="892703"/>
            <a:ext cx="7800340" cy="538544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1235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417830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17830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Ictericia.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17830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Esplenomegalia.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417830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Síndrome</a:t>
            </a:r>
            <a:r>
              <a:rPr sz="16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6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Evans,(</a:t>
            </a:r>
            <a:r>
              <a:rPr sz="1600" b="1" spc="-1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AHAI</a:t>
            </a:r>
            <a:r>
              <a:rPr sz="16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caliente</a:t>
            </a:r>
            <a:r>
              <a:rPr sz="16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6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púrpura</a:t>
            </a:r>
            <a:r>
              <a:rPr sz="16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trombocitopénica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inmune</a:t>
            </a:r>
            <a:r>
              <a:rPr sz="16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(PTI).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79475">
              <a:lnSpc>
                <a:spcPct val="100000"/>
              </a:lnSpc>
            </a:pPr>
            <a:r>
              <a:rPr sz="1800" b="1" spc="-10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Bilirrubina</a:t>
            </a:r>
            <a:r>
              <a:rPr sz="16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6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LDH</a:t>
            </a:r>
            <a:r>
              <a:rPr sz="16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Elevadas.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Descenso</a:t>
            </a:r>
            <a:r>
              <a:rPr sz="16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6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haptoglobina.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16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6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urobilinógeno.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Hemoglobinuria.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Reticulocitos</a:t>
            </a:r>
            <a:r>
              <a:rPr sz="16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Aumentados.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2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Coombs</a:t>
            </a:r>
            <a:r>
              <a:rPr sz="16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directa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Crioaglutininas</a:t>
            </a:r>
            <a:r>
              <a:rPr sz="18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605197"/>
            <a:ext cx="8945880" cy="842603"/>
          </a:xfrm>
          <a:prstGeom prst="rect">
            <a:avLst/>
          </a:prstGeom>
        </p:spPr>
        <p:txBody>
          <a:bodyPr vert="horz" wrap="square" lIns="0" tIns="407734" rIns="0" bIns="0" rtlCol="0">
            <a:spAutoFit/>
          </a:bodyPr>
          <a:lstStyle/>
          <a:p>
            <a:pPr marL="1707514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9331"/>
              </p:ext>
            </p:extLst>
          </p:nvPr>
        </p:nvGraphicFramePr>
        <p:xfrm>
          <a:off x="2057400" y="1651761"/>
          <a:ext cx="7467599" cy="439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760">
                <a:tc>
                  <a:txBody>
                    <a:bodyPr/>
                    <a:lstStyle/>
                    <a:p>
                      <a:pPr marL="11029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Característica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1703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AHAI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caliente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Clase de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IgG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Especificidad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Puede</a:t>
                      </a:r>
                      <a:r>
                        <a:rPr sz="1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ser</a:t>
                      </a:r>
                      <a:r>
                        <a:rPr sz="1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Rhesus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Temperatura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unión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al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37</a:t>
                      </a:r>
                      <a:r>
                        <a:rPr sz="1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°C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Aglutinación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eritrocitos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x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Fijación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complemento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x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Mecanismo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destrucción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celular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Sobre todo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extravascular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Prueba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Coombs</a:t>
                      </a:r>
                      <a:r>
                        <a:rPr sz="1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directa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Positiva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IgG y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complemento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911588"/>
            <a:ext cx="8945880" cy="612412"/>
          </a:xfrm>
          <a:prstGeom prst="rect">
            <a:avLst/>
          </a:prstGeom>
        </p:spPr>
        <p:txBody>
          <a:bodyPr vert="horz" wrap="square" lIns="0" tIns="179769" rIns="0" bIns="0" rtlCol="0">
            <a:spAutoFit/>
          </a:bodyPr>
          <a:lstStyle/>
          <a:p>
            <a:pPr marL="2004695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28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HEMOLITICAS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9950"/>
              </p:ext>
            </p:extLst>
          </p:nvPr>
        </p:nvGraphicFramePr>
        <p:xfrm>
          <a:off x="2057399" y="1905001"/>
          <a:ext cx="8382000" cy="45554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5659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Característica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7785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AHAI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fría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273050" marR="26543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Hemoglobinuria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paroxística</a:t>
                      </a:r>
                      <a:r>
                        <a:rPr sz="2400" b="1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frigore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Clase de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IgM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IgG</a:t>
                      </a:r>
                      <a:r>
                        <a:rPr sz="1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(Donath-Landsteiner)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235">
                <a:tc>
                  <a:txBody>
                    <a:bodyPr/>
                    <a:lstStyle/>
                    <a:p>
                      <a:pPr marL="33020" marR="11112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Especificidad</a:t>
                      </a:r>
                      <a:r>
                        <a:rPr sz="1800" spc="-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del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Puede</a:t>
                      </a:r>
                      <a:r>
                        <a:rPr sz="1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ser</a:t>
                      </a:r>
                      <a:r>
                        <a:rPr sz="18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antígeno</a:t>
                      </a:r>
                      <a:r>
                        <a:rPr sz="1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8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i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Antígeno</a:t>
                      </a:r>
                      <a:r>
                        <a:rPr sz="1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sz="1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eritrocito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235">
                <a:tc>
                  <a:txBody>
                    <a:bodyPr/>
                    <a:lstStyle/>
                    <a:p>
                      <a:pPr marL="33020" marR="3613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Temperatura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 unión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al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anticuerpo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&lt;32</a:t>
                      </a:r>
                      <a:r>
                        <a:rPr sz="18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°C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&lt;32</a:t>
                      </a:r>
                      <a:r>
                        <a:rPr sz="18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°C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Aglutinación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eritrocitos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Fijación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complemento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235">
                <a:tc>
                  <a:txBody>
                    <a:bodyPr/>
                    <a:lstStyle/>
                    <a:p>
                      <a:pPr marL="33020" marR="1085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Mecanismo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destrucción celular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Sobre todo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intravascular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Sobre todo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intravascular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98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Prueba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Coombs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directa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Positiva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sz="1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complemento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Positiva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sz="1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IgG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1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complemento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0358" y="294412"/>
            <a:ext cx="83846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sz="2800" b="1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DEFECTOS</a:t>
            </a:r>
            <a:r>
              <a:rPr sz="2800" b="1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ADQUIRIDOS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800" b="1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ERITROCITO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1148334"/>
            <a:ext cx="8492490" cy="426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20" dirty="0">
                <a:solidFill>
                  <a:srgbClr val="404040"/>
                </a:solidFill>
                <a:latin typeface="Arial"/>
                <a:cs typeface="Arial"/>
              </a:rPr>
              <a:t>HEMOGLOBINURIA</a:t>
            </a:r>
            <a:r>
              <a:rPr sz="2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404040"/>
                </a:solidFill>
                <a:latin typeface="Arial"/>
                <a:cs typeface="Arial"/>
              </a:rPr>
              <a:t>PAROXÍSTICA</a:t>
            </a:r>
            <a:r>
              <a:rPr sz="24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NOCTURNA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30"/>
              </a:spcBef>
            </a:pP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4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adquirido</a:t>
            </a:r>
            <a:r>
              <a:rPr sz="2400" b="1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infrecuente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membrana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902335" indent="-34290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900" spc="3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Proteínas</a:t>
            </a:r>
            <a:r>
              <a:rPr sz="24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normalmente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impiden</a:t>
            </a:r>
            <a:r>
              <a:rPr sz="24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lisis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sanguíneas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complemento.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900" spc="3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</a:t>
            </a:r>
            <a:r>
              <a:rPr sz="24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lleva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4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24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intravascular</a:t>
            </a:r>
            <a:r>
              <a:rPr sz="24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crónica.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0800" y="385275"/>
            <a:ext cx="61119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b="0" spc="75" dirty="0">
                <a:latin typeface="Lucida Sans Unicode"/>
                <a:cs typeface="Lucida Sans Unicode"/>
              </a:rPr>
              <a:t>▶</a:t>
            </a:r>
            <a:r>
              <a:rPr sz="1600" b="0" dirty="0"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HPN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20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madre,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pacientes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leucopenia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trombocitopenia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2414143"/>
            <a:ext cx="7946390" cy="18216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clínica,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clínico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hematológico,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citometria</a:t>
            </a:r>
            <a:r>
              <a:rPr sz="20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TRATAMIENTO:</a:t>
            </a:r>
            <a:r>
              <a:rPr sz="20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ECULIZUMAB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inhibe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intravascular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mediada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complemento).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452156"/>
            <a:ext cx="8336280" cy="843244"/>
          </a:xfrm>
          <a:prstGeom prst="rect">
            <a:avLst/>
          </a:prstGeom>
        </p:spPr>
        <p:txBody>
          <a:bodyPr vert="horz" wrap="square" lIns="0" tIns="408369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28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HEMOLÍTICAS</a:t>
            </a:r>
            <a:r>
              <a:rPr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ALOINMUNES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209800"/>
            <a:ext cx="8326144" cy="32835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deben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una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reacción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anticuerpos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20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sanguíneas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Transfusión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000" b="1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ABO,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incompatible.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recién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nacido.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Trasplante</a:t>
            </a:r>
            <a:r>
              <a:rPr sz="20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alogénico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ósea.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0" y="228600"/>
            <a:ext cx="63074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834390"/>
            <a:ext cx="4838065" cy="524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8475">
              <a:lnSpc>
                <a:spcPct val="1461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microangiopática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Síndrome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urémico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hemolítico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Purpura</a:t>
            </a:r>
            <a:r>
              <a:rPr sz="1800" b="1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trombótica</a:t>
            </a:r>
            <a:r>
              <a:rPr sz="1800" b="1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trombocitopénica</a:t>
            </a:r>
            <a:r>
              <a:rPr sz="1800" b="1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(PTT).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Carcinoma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diseminado.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2442210">
              <a:lnSpc>
                <a:spcPts val="3170"/>
              </a:lnSpc>
              <a:spcBef>
                <a:spcPts val="260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Hipertensión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Maligna. 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Hemoglobinuria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Intoxicación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plomo.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Venenos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serpientes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Paludismo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Quemaduras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Válvulas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cardíacas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mecánicas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Hemoglobinopatías.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40" y="1902823"/>
            <a:ext cx="4455160" cy="4094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1640" y="633729"/>
            <a:ext cx="8973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ESQUISTOCITOS</a:t>
            </a:r>
            <a:r>
              <a:rPr sz="2800" spc="-65" dirty="0"/>
              <a:t> </a:t>
            </a:r>
            <a:r>
              <a:rPr sz="2800" dirty="0"/>
              <a:t>-</a:t>
            </a:r>
            <a:r>
              <a:rPr sz="2800" spc="-85" dirty="0"/>
              <a:t> </a:t>
            </a:r>
            <a:r>
              <a:rPr sz="2800" dirty="0" smtClean="0"/>
              <a:t>HEMÓLISIS</a:t>
            </a:r>
            <a:r>
              <a:rPr sz="2800" spc="-90" dirty="0" smtClean="0"/>
              <a:t> </a:t>
            </a:r>
            <a:r>
              <a:rPr sz="2800" spc="-10" dirty="0" smtClean="0"/>
              <a:t>MICROANGIOPÁTICA</a:t>
            </a:r>
            <a:endParaRPr sz="28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0" y="1929384"/>
            <a:ext cx="4369308" cy="4040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ción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</TotalTime>
  <Words>740</Words>
  <Application>Microsoft Office PowerPoint</Application>
  <PresentationFormat>Panorámica</PresentationFormat>
  <Paragraphs>512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61" baseType="lpstr">
      <vt:lpstr>Arial</vt:lpstr>
      <vt:lpstr>Calibri</vt:lpstr>
      <vt:lpstr>Calibri Light</vt:lpstr>
      <vt:lpstr>Lucida Sans Unicode</vt:lpstr>
      <vt:lpstr>Microsoft Sans Serif</vt:lpstr>
      <vt:lpstr>Segoe UI Symbol</vt:lpstr>
      <vt:lpstr>Times New Roman</vt:lpstr>
      <vt:lpstr>Trebuchet MS</vt:lpstr>
      <vt:lpstr>Wingdings</vt:lpstr>
      <vt:lpstr>Retrospección</vt:lpstr>
      <vt:lpstr>MEDICINA INTERNA III</vt:lpstr>
      <vt:lpstr>Presentación de PowerPoint</vt:lpstr>
      <vt:lpstr> ANEMIA MEGALOBLASTICA</vt:lpstr>
      <vt:lpstr>ANEMIA MEGALOBLÁSTICA</vt:lpstr>
      <vt:lpstr>SANGRE PERIFÉRICA ANEMIA MEGALOBLÁSTICA</vt:lpstr>
      <vt:lpstr>MÉDULA ÓSEA NORMAL</vt:lpstr>
      <vt:lpstr>MÉDULA ÓSEA – ANEMIA PERNICIOSA</vt:lpstr>
      <vt:lpstr>M I E L O D I S P L A S I A</vt:lpstr>
      <vt:lpstr>TIPOS DE ANEMIA MEGALOBLÁSTICAS</vt:lpstr>
      <vt:lpstr>DÉFICIT DE VITAMINA B 12</vt:lpstr>
      <vt:lpstr>PROCESO DE ABSORCIÓN DE LA COBALAMINA</vt:lpstr>
      <vt:lpstr>COBALAMINA</vt:lpstr>
      <vt:lpstr>ALIMENTOS RICOS EN VITAMINA B12</vt:lpstr>
      <vt:lpstr>CAUSAS DEL DÉFICIT DE B 12</vt:lpstr>
      <vt:lpstr>    ANEMIA PERNICIOSA</vt:lpstr>
      <vt:lpstr>MANIFESTACIONES CLÍNICAS DEL DÉFICIT DE B12</vt:lpstr>
      <vt:lpstr>CAUSAS</vt:lpstr>
      <vt:lpstr>CAUSAS</vt:lpstr>
      <vt:lpstr>Causas</vt:lpstr>
      <vt:lpstr>      ALIMENTOS RICOS EN ACIDO FÓLICO</vt:lpstr>
      <vt:lpstr>        ACIDO FÓLICO</vt:lpstr>
      <vt:lpstr>   DÉFICIT DE FOLATO</vt:lpstr>
      <vt:lpstr>TRATAMIENTO</vt:lpstr>
      <vt:lpstr>TRATAMIENTO</vt:lpstr>
      <vt:lpstr>MACROCITOSIS</vt:lpstr>
      <vt:lpstr>Presentación de PowerPoint</vt:lpstr>
      <vt:lpstr>ANEMIA HEMOLÍTICA</vt:lpstr>
      <vt:lpstr>ANEMIA HEMOLÍTICA</vt:lpstr>
      <vt:lpstr>    MANIFESTACIONES CLÍNICAS</vt:lpstr>
      <vt:lpstr>ANEMIA HEMOLÍTICAS</vt:lpstr>
      <vt:lpstr>    ANEMIA ESFEROCÍTICA ▶ La esferocitosis hereditaria es un trastorno autosómico dominante.</vt:lpstr>
      <vt:lpstr>SANGRE PERIFÉRICA NORMAL</vt:lpstr>
      <vt:lpstr>ESFEROCITOSIS</vt:lpstr>
      <vt:lpstr>     CUERPOS DE HEINZ</vt:lpstr>
      <vt:lpstr>ELIPTOCITOSIS HEREDITARIA</vt:lpstr>
      <vt:lpstr>DÉFICIT DE GLUCOSA 6 - FOSFATO DESHIDROGENASA</vt:lpstr>
      <vt:lpstr>                  DÉFICIT DE GLUCOSA 6 FOSFATO-DESHIDROGENASA</vt:lpstr>
      <vt:lpstr>      DEFICIENCIA ENZIMÁTICAS</vt:lpstr>
      <vt:lpstr>DEFECTOS ENZIMÁTICOS DÉFICIT DE PIRUVATO - CINASA</vt:lpstr>
      <vt:lpstr>ANEMIAS HEMOLÍTICAS AUTOINMUNES</vt:lpstr>
      <vt:lpstr>ANEMIAS HEMOLÍTICAS AUTOINMUNE</vt:lpstr>
      <vt:lpstr>ANEMIA HEMOLÍTICA AUTOIMUNE FRÍA</vt:lpstr>
      <vt:lpstr>Presentación de PowerPoint</vt:lpstr>
      <vt:lpstr>ANEMIAS HEMOLÍTICAS</vt:lpstr>
      <vt:lpstr>ANEMIAS HEMOLÍTICAS</vt:lpstr>
      <vt:lpstr>ANEMIAS HEMOLITICAS</vt:lpstr>
      <vt:lpstr>           DEFECTOS ADQUIRIDOS DEL ERITROCITO</vt:lpstr>
      <vt:lpstr>▶ La HPN es un trastorno de célula madre, de modo que los pacientes pueden tener anemia leucopenia y trombocitopenia</vt:lpstr>
      <vt:lpstr>ANEMIAS HEMOLÍTICAS ALOINMUNES</vt:lpstr>
      <vt:lpstr>OTRAS CAUSAS DE HEMÓLISIS</vt:lpstr>
      <vt:lpstr>ESQUISTOCITOS - HEMÓLISIS MICROANGIOPÁTICA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Susana Tortosa</dc:creator>
  <cp:lastModifiedBy>roberto mario pelayes</cp:lastModifiedBy>
  <cp:revision>19</cp:revision>
  <dcterms:created xsi:type="dcterms:W3CDTF">2026-07-24T18:21:17Z</dcterms:created>
  <dcterms:modified xsi:type="dcterms:W3CDTF">2026-07-28T17:40:13Z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2023-08-24T00:00:00Z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2016</vt:lpwstr>
  </property>
</Properties>
</file>