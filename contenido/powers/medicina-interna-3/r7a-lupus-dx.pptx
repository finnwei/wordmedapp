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Playfair Display"/>
      <p:regular r:id="rId42"/>
      <p:bold r:id="rId43"/>
      <p:italic r:id="rId44"/>
      <p:boldItalic r:id="rId45"/>
    </p:embeddedFont>
    <p:embeddedFont>
      <p:font typeface="Nunito"/>
      <p:regular r:id="rId46"/>
      <p:bold r:id="rId47"/>
      <p:italic r:id="rId48"/>
      <p:boldItalic r:id="rId49"/>
    </p:embeddedFont>
    <p:embeddedFont>
      <p:font typeface="Lato"/>
      <p:regular r:id="rId50"/>
      <p:bold r:id="rId51"/>
      <p:italic r:id="rId52"/>
      <p:boldItalic r:id="rId53"/>
    </p:embeddedFont>
    <p:embeddedFont>
      <p:font typeface="Kumbh Sans"/>
      <p:regular r:id="rId54"/>
      <p:bold r:id="rId55"/>
    </p:embeddedFont>
    <p:embeddedFont>
      <p:font typeface="Kumbh Sans Medium"/>
      <p:regular r:id="rId56"/>
      <p:bold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PlayfairDisplay-regular.fntdata"/><Relationship Id="rId41" Type="http://schemas.openxmlformats.org/officeDocument/2006/relationships/slide" Target="slides/slide36.xml"/><Relationship Id="rId44" Type="http://schemas.openxmlformats.org/officeDocument/2006/relationships/font" Target="fonts/PlayfairDisplay-italic.fntdata"/><Relationship Id="rId43" Type="http://schemas.openxmlformats.org/officeDocument/2006/relationships/font" Target="fonts/PlayfairDisplay-bold.fntdata"/><Relationship Id="rId46" Type="http://schemas.openxmlformats.org/officeDocument/2006/relationships/font" Target="fonts/Nunito-regular.fntdata"/><Relationship Id="rId45" Type="http://schemas.openxmlformats.org/officeDocument/2006/relationships/font" Target="fonts/PlayfairDispl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unito-italic.fntdata"/><Relationship Id="rId47" Type="http://schemas.openxmlformats.org/officeDocument/2006/relationships/font" Target="fonts/Nunito-bold.fntdata"/><Relationship Id="rId49"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bold.fntdata"/><Relationship Id="rId50" Type="http://schemas.openxmlformats.org/officeDocument/2006/relationships/font" Target="fonts/Lato-regular.fntdata"/><Relationship Id="rId53" Type="http://schemas.openxmlformats.org/officeDocument/2006/relationships/font" Target="fonts/Lato-boldItalic.fntdata"/><Relationship Id="rId52" Type="http://schemas.openxmlformats.org/officeDocument/2006/relationships/font" Target="fonts/Lato-italic.fntdata"/><Relationship Id="rId11" Type="http://schemas.openxmlformats.org/officeDocument/2006/relationships/slide" Target="slides/slide6.xml"/><Relationship Id="rId55" Type="http://schemas.openxmlformats.org/officeDocument/2006/relationships/font" Target="fonts/KumbhSans-bold.fntdata"/><Relationship Id="rId10" Type="http://schemas.openxmlformats.org/officeDocument/2006/relationships/slide" Target="slides/slide5.xml"/><Relationship Id="rId54" Type="http://schemas.openxmlformats.org/officeDocument/2006/relationships/font" Target="fonts/KumbhSans-regular.fntdata"/><Relationship Id="rId13" Type="http://schemas.openxmlformats.org/officeDocument/2006/relationships/slide" Target="slides/slide8.xml"/><Relationship Id="rId57" Type="http://schemas.openxmlformats.org/officeDocument/2006/relationships/font" Target="fonts/KumbhSansMedium-bold.fntdata"/><Relationship Id="rId12" Type="http://schemas.openxmlformats.org/officeDocument/2006/relationships/slide" Target="slides/slide7.xml"/><Relationship Id="rId56" Type="http://schemas.openxmlformats.org/officeDocument/2006/relationships/font" Target="fonts/KumbhSansMedium-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746c69ecc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746c69ecc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9" name="Google Shape;25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3096250" y="1627200"/>
            <a:ext cx="2951400" cy="1584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3"/>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18" name="Google Shape;1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0" name="Shape 20"/>
        <p:cNvGrpSpPr/>
        <p:nvPr/>
      </p:nvGrpSpPr>
      <p:grpSpPr>
        <a:xfrm>
          <a:off x="0" y="0"/>
          <a:ext cx="0" cy="0"/>
          <a:chOff x="0" y="0"/>
          <a:chExt cx="0" cy="0"/>
        </a:xfrm>
      </p:grpSpPr>
      <p:sp>
        <p:nvSpPr>
          <p:cNvPr id="21" name="Google Shape;21;p4"/>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22" name="Google Shape;22;p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5"/>
          <p:cNvSpPr txBox="1"/>
          <p:nvPr>
            <p:ph hasCustomPrompt="1" type="title"/>
          </p:nvPr>
        </p:nvSpPr>
        <p:spPr>
          <a:xfrm>
            <a:off x="311700" y="1233100"/>
            <a:ext cx="8520600" cy="161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0000"/>
              <a:buFont typeface="Lato"/>
              <a:buNone/>
              <a:defRPr sz="10000">
                <a:latin typeface="Lato"/>
                <a:ea typeface="Lato"/>
                <a:cs typeface="Lato"/>
                <a:sym typeface="Lato"/>
              </a:defRPr>
            </a:lvl1pPr>
            <a:lvl2pPr lvl="1" algn="ctr">
              <a:lnSpc>
                <a:spcPct val="100000"/>
              </a:lnSpc>
              <a:spcBef>
                <a:spcPts val="0"/>
              </a:spcBef>
              <a:spcAft>
                <a:spcPts val="0"/>
              </a:spcAft>
              <a:buSzPts val="10000"/>
              <a:buFont typeface="Lato"/>
              <a:buNone/>
              <a:defRPr sz="10000">
                <a:latin typeface="Lato"/>
                <a:ea typeface="Lato"/>
                <a:cs typeface="Lato"/>
                <a:sym typeface="Lato"/>
              </a:defRPr>
            </a:lvl2pPr>
            <a:lvl3pPr lvl="2" algn="ctr">
              <a:lnSpc>
                <a:spcPct val="100000"/>
              </a:lnSpc>
              <a:spcBef>
                <a:spcPts val="0"/>
              </a:spcBef>
              <a:spcAft>
                <a:spcPts val="0"/>
              </a:spcAft>
              <a:buSzPts val="10000"/>
              <a:buFont typeface="Lato"/>
              <a:buNone/>
              <a:defRPr sz="10000">
                <a:latin typeface="Lato"/>
                <a:ea typeface="Lato"/>
                <a:cs typeface="Lato"/>
                <a:sym typeface="Lato"/>
              </a:defRPr>
            </a:lvl3pPr>
            <a:lvl4pPr lvl="3" algn="ctr">
              <a:lnSpc>
                <a:spcPct val="100000"/>
              </a:lnSpc>
              <a:spcBef>
                <a:spcPts val="0"/>
              </a:spcBef>
              <a:spcAft>
                <a:spcPts val="0"/>
              </a:spcAft>
              <a:buSzPts val="10000"/>
              <a:buFont typeface="Lato"/>
              <a:buNone/>
              <a:defRPr sz="10000">
                <a:latin typeface="Lato"/>
                <a:ea typeface="Lato"/>
                <a:cs typeface="Lato"/>
                <a:sym typeface="Lato"/>
              </a:defRPr>
            </a:lvl4pPr>
            <a:lvl5pPr lvl="4" algn="ctr">
              <a:lnSpc>
                <a:spcPct val="100000"/>
              </a:lnSpc>
              <a:spcBef>
                <a:spcPts val="0"/>
              </a:spcBef>
              <a:spcAft>
                <a:spcPts val="0"/>
              </a:spcAft>
              <a:buSzPts val="10000"/>
              <a:buFont typeface="Lato"/>
              <a:buNone/>
              <a:defRPr sz="10000">
                <a:latin typeface="Lato"/>
                <a:ea typeface="Lato"/>
                <a:cs typeface="Lato"/>
                <a:sym typeface="Lato"/>
              </a:defRPr>
            </a:lvl5pPr>
            <a:lvl6pPr lvl="5" algn="ctr">
              <a:lnSpc>
                <a:spcPct val="100000"/>
              </a:lnSpc>
              <a:spcBef>
                <a:spcPts val="0"/>
              </a:spcBef>
              <a:spcAft>
                <a:spcPts val="0"/>
              </a:spcAft>
              <a:buSzPts val="10000"/>
              <a:buFont typeface="Lato"/>
              <a:buNone/>
              <a:defRPr sz="10000">
                <a:latin typeface="Lato"/>
                <a:ea typeface="Lato"/>
                <a:cs typeface="Lato"/>
                <a:sym typeface="Lato"/>
              </a:defRPr>
            </a:lvl6pPr>
            <a:lvl7pPr lvl="6" algn="ctr">
              <a:lnSpc>
                <a:spcPct val="100000"/>
              </a:lnSpc>
              <a:spcBef>
                <a:spcPts val="0"/>
              </a:spcBef>
              <a:spcAft>
                <a:spcPts val="0"/>
              </a:spcAft>
              <a:buSzPts val="10000"/>
              <a:buFont typeface="Lato"/>
              <a:buNone/>
              <a:defRPr sz="10000">
                <a:latin typeface="Lato"/>
                <a:ea typeface="Lato"/>
                <a:cs typeface="Lato"/>
                <a:sym typeface="Lato"/>
              </a:defRPr>
            </a:lvl7pPr>
            <a:lvl8pPr lvl="7" algn="ctr">
              <a:lnSpc>
                <a:spcPct val="100000"/>
              </a:lnSpc>
              <a:spcBef>
                <a:spcPts val="0"/>
              </a:spcBef>
              <a:spcAft>
                <a:spcPts val="0"/>
              </a:spcAft>
              <a:buSzPts val="10000"/>
              <a:buFont typeface="Lato"/>
              <a:buNone/>
              <a:defRPr sz="10000">
                <a:latin typeface="Lato"/>
                <a:ea typeface="Lato"/>
                <a:cs typeface="Lato"/>
                <a:sym typeface="Lato"/>
              </a:defRPr>
            </a:lvl8pPr>
            <a:lvl9pPr lvl="8" algn="ctr">
              <a:lnSpc>
                <a:spcPct val="100000"/>
              </a:lnSpc>
              <a:spcBef>
                <a:spcPts val="0"/>
              </a:spcBef>
              <a:spcAft>
                <a:spcPts val="0"/>
              </a:spcAft>
              <a:buSzPts val="10000"/>
              <a:buFont typeface="Lato"/>
              <a:buNone/>
              <a:defRPr sz="10000">
                <a:latin typeface="Lato"/>
                <a:ea typeface="Lato"/>
                <a:cs typeface="Lato"/>
                <a:sym typeface="Lato"/>
              </a:defRPr>
            </a:lvl9pPr>
          </a:lstStyle>
          <a:p>
            <a:r>
              <a:t>xx%</a:t>
            </a:r>
          </a:p>
        </p:txBody>
      </p:sp>
      <p:sp>
        <p:nvSpPr>
          <p:cNvPr id="26" name="Google Shape;26;p5"/>
          <p:cNvSpPr txBox="1"/>
          <p:nvPr>
            <p:ph idx="1" type="body"/>
          </p:nvPr>
        </p:nvSpPr>
        <p:spPr>
          <a:xfrm>
            <a:off x="311700" y="2919450"/>
            <a:ext cx="85206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7" name="Google Shape;27;p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0" name="Google Shape;30;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35" name="Google Shape;35;p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8"/>
          <p:cNvSpPr txBox="1"/>
          <p:nvPr>
            <p:ph idx="1" type="body"/>
          </p:nvPr>
        </p:nvSpPr>
        <p:spPr>
          <a:xfrm>
            <a:off x="311700" y="1391378"/>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40" name="Shape 40"/>
        <p:cNvGrpSpPr/>
        <p:nvPr/>
      </p:nvGrpSpPr>
      <p:grpSpPr>
        <a:xfrm>
          <a:off x="0" y="0"/>
          <a:ext cx="0" cy="0"/>
          <a:chOff x="0" y="0"/>
          <a:chExt cx="0" cy="0"/>
        </a:xfrm>
      </p:grpSpPr>
      <p:sp>
        <p:nvSpPr>
          <p:cNvPr id="41" name="Google Shape;41;p9"/>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l">
              <a:lnSpc>
                <a:spcPct val="100000"/>
              </a:lnSpc>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42" name="Google Shape;42;p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10"/>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5" name="Google Shape;45;p10"/>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10"/>
          <p:cNvSpPr txBox="1"/>
          <p:nvPr>
            <p:ph type="title"/>
          </p:nvPr>
        </p:nvSpPr>
        <p:spPr>
          <a:xfrm>
            <a:off x="265500" y="1107950"/>
            <a:ext cx="4045200" cy="168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7" name="Google Shape;47;p10"/>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8" name="Google Shape;48;p10"/>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9" name="Google Shape;49;p1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1"/>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2" name="Google Shape;52;p1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55" name="Shape 55"/>
        <p:cNvGrpSpPr/>
        <p:nvPr/>
      </p:nvGrpSpPr>
      <p:grpSpPr>
        <a:xfrm>
          <a:off x="0" y="0"/>
          <a:ext cx="0" cy="0"/>
          <a:chOff x="0" y="0"/>
          <a:chExt cx="0" cy="0"/>
        </a:xfrm>
      </p:grpSpPr>
      <p:sp>
        <p:nvSpPr>
          <p:cNvPr id="56" name="Google Shape;56;p13"/>
          <p:cNvSpPr txBox="1"/>
          <p:nvPr>
            <p:ph type="title"/>
          </p:nvPr>
        </p:nvSpPr>
        <p:spPr>
          <a:xfrm>
            <a:off x="484583" y="339539"/>
            <a:ext cx="7053600" cy="1050300"/>
          </a:xfrm>
          <a:prstGeom prst="rect">
            <a:avLst/>
          </a:prstGeom>
          <a:noFill/>
          <a:ln>
            <a:noFill/>
          </a:ln>
        </p:spPr>
        <p:txBody>
          <a:bodyPr anchorCtr="0" anchor="t" bIns="34275" lIns="68575" spcFirstLastPara="1" rIns="68575" wrap="square" tIns="34275">
            <a:normAutofit/>
          </a:bodyPr>
          <a:lstStyle>
            <a:lvl1pPr lvl="0" algn="l">
              <a:lnSpc>
                <a:spcPct val="100000"/>
              </a:lnSpc>
              <a:spcBef>
                <a:spcPts val="0"/>
              </a:spcBef>
              <a:spcAft>
                <a:spcPts val="0"/>
              </a:spcAft>
              <a:buClr>
                <a:schemeClr val="lt2"/>
              </a:buClr>
              <a:buSzPts val="14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57" name="Google Shape;57;p13"/>
          <p:cNvSpPr txBox="1"/>
          <p:nvPr>
            <p:ph idx="1" type="body"/>
          </p:nvPr>
        </p:nvSpPr>
        <p:spPr>
          <a:xfrm>
            <a:off x="827484" y="1539688"/>
            <a:ext cx="6710100" cy="3146700"/>
          </a:xfrm>
          <a:prstGeom prst="rect">
            <a:avLst/>
          </a:prstGeom>
          <a:noFill/>
          <a:ln>
            <a:noFill/>
          </a:ln>
        </p:spPr>
        <p:txBody>
          <a:bodyPr anchorCtr="0" anchor="t" bIns="34275" lIns="68575" spcFirstLastPara="1" rIns="68575" wrap="square" tIns="34275">
            <a:normAutofit/>
          </a:bodyPr>
          <a:lstStyle>
            <a:lvl1pPr indent="-298450" lvl="0" marL="457200" algn="l">
              <a:lnSpc>
                <a:spcPct val="115000"/>
              </a:lnSpc>
              <a:spcBef>
                <a:spcPts val="800"/>
              </a:spcBef>
              <a:spcAft>
                <a:spcPts val="0"/>
              </a:spcAft>
              <a:buSzPts val="1100"/>
              <a:buChar char="●"/>
              <a:defRPr/>
            </a:lvl1pPr>
            <a:lvl2pPr indent="-298450" lvl="1" marL="914400" algn="l">
              <a:lnSpc>
                <a:spcPct val="115000"/>
              </a:lnSpc>
              <a:spcBef>
                <a:spcPts val="800"/>
              </a:spcBef>
              <a:spcAft>
                <a:spcPts val="0"/>
              </a:spcAft>
              <a:buSzPts val="1100"/>
              <a:buChar char="○"/>
              <a:defRPr/>
            </a:lvl2pPr>
            <a:lvl3pPr indent="-298450" lvl="2" marL="1371600" algn="l">
              <a:lnSpc>
                <a:spcPct val="115000"/>
              </a:lnSpc>
              <a:spcBef>
                <a:spcPts val="800"/>
              </a:spcBef>
              <a:spcAft>
                <a:spcPts val="0"/>
              </a:spcAft>
              <a:buSzPts val="1100"/>
              <a:buChar char="■"/>
              <a:defRPr/>
            </a:lvl3pPr>
            <a:lvl4pPr indent="-298450" lvl="3" marL="1828800" algn="l">
              <a:lnSpc>
                <a:spcPct val="115000"/>
              </a:lnSpc>
              <a:spcBef>
                <a:spcPts val="800"/>
              </a:spcBef>
              <a:spcAft>
                <a:spcPts val="0"/>
              </a:spcAft>
              <a:buSzPts val="1100"/>
              <a:buChar char="●"/>
              <a:defRPr/>
            </a:lvl4pPr>
            <a:lvl5pPr indent="-298450" lvl="4" marL="2286000" algn="l">
              <a:lnSpc>
                <a:spcPct val="115000"/>
              </a:lnSpc>
              <a:spcBef>
                <a:spcPts val="800"/>
              </a:spcBef>
              <a:spcAft>
                <a:spcPts val="0"/>
              </a:spcAft>
              <a:buSzPts val="1100"/>
              <a:buChar char="○"/>
              <a:defRPr/>
            </a:lvl5pPr>
            <a:lvl6pPr indent="-298450" lvl="5" marL="2743200" algn="l">
              <a:lnSpc>
                <a:spcPct val="115000"/>
              </a:lnSpc>
              <a:spcBef>
                <a:spcPts val="800"/>
              </a:spcBef>
              <a:spcAft>
                <a:spcPts val="0"/>
              </a:spcAft>
              <a:buSzPts val="1100"/>
              <a:buChar char="■"/>
              <a:defRPr/>
            </a:lvl6pPr>
            <a:lvl7pPr indent="-298450" lvl="6" marL="3200400" algn="l">
              <a:lnSpc>
                <a:spcPct val="115000"/>
              </a:lnSpc>
              <a:spcBef>
                <a:spcPts val="800"/>
              </a:spcBef>
              <a:spcAft>
                <a:spcPts val="0"/>
              </a:spcAft>
              <a:buSzPts val="1100"/>
              <a:buChar char="●"/>
              <a:defRPr/>
            </a:lvl7pPr>
            <a:lvl8pPr indent="-298450" lvl="7" marL="3657600" algn="l">
              <a:lnSpc>
                <a:spcPct val="115000"/>
              </a:lnSpc>
              <a:spcBef>
                <a:spcPts val="800"/>
              </a:spcBef>
              <a:spcAft>
                <a:spcPts val="0"/>
              </a:spcAft>
              <a:buSzPts val="1100"/>
              <a:buChar char="○"/>
              <a:defRPr/>
            </a:lvl8pPr>
            <a:lvl9pPr indent="-298450" lvl="8" marL="4114800" algn="l">
              <a:lnSpc>
                <a:spcPct val="115000"/>
              </a:lnSpc>
              <a:spcBef>
                <a:spcPts val="800"/>
              </a:spcBef>
              <a:spcAft>
                <a:spcPts val="0"/>
              </a:spcAft>
              <a:buSzPts val="1100"/>
              <a:buChar char="■"/>
              <a:defRPr/>
            </a:lvl9pPr>
          </a:lstStyle>
          <a:p/>
        </p:txBody>
      </p:sp>
      <p:sp>
        <p:nvSpPr>
          <p:cNvPr id="58" name="Google Shape;58;p13"/>
          <p:cNvSpPr txBox="1"/>
          <p:nvPr>
            <p:ph idx="10" type="dt"/>
          </p:nvPr>
        </p:nvSpPr>
        <p:spPr>
          <a:xfrm rot="5400000">
            <a:off x="7616654" y="1343101"/>
            <a:ext cx="743100" cy="228600"/>
          </a:xfrm>
          <a:prstGeom prst="rect">
            <a:avLst/>
          </a:prstGeom>
          <a:noFill/>
          <a:ln>
            <a:noFill/>
          </a:ln>
        </p:spPr>
        <p:txBody>
          <a:bodyPr anchorCtr="0" anchor="t"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59" name="Google Shape;59;p13"/>
          <p:cNvSpPr txBox="1"/>
          <p:nvPr>
            <p:ph idx="11" type="ftr"/>
          </p:nvPr>
        </p:nvSpPr>
        <p:spPr>
          <a:xfrm rot="5400000">
            <a:off x="6713603" y="2419050"/>
            <a:ext cx="2895000" cy="228600"/>
          </a:xfrm>
          <a:prstGeom prst="rect">
            <a:avLst/>
          </a:prstGeom>
          <a:noFill/>
          <a:ln>
            <a:noFill/>
          </a:ln>
        </p:spPr>
        <p:txBody>
          <a:bodyPr anchorCtr="0" anchor="b"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0" name="Google Shape;60;p13"/>
          <p:cNvSpPr txBox="1"/>
          <p:nvPr>
            <p:ph idx="12" type="sldNum"/>
          </p:nvPr>
        </p:nvSpPr>
        <p:spPr>
          <a:xfrm>
            <a:off x="7764405" y="221797"/>
            <a:ext cx="628800" cy="575700"/>
          </a:xfrm>
          <a:prstGeom prst="rect">
            <a:avLst/>
          </a:prstGeom>
          <a:noFill/>
          <a:ln>
            <a:noFill/>
          </a:ln>
        </p:spPr>
        <p:txBody>
          <a:bodyPr anchorCtr="0" anchor="b" bIns="34275" lIns="68575" spcFirstLastPara="1" rIns="68575" wrap="square" tIns="34275">
            <a:normAutofit/>
          </a:bodyPr>
          <a:lstStyle>
            <a:lvl1pPr indent="0" lvl="0"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algn="ct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ct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1pPr>
            <a:lvl2pPr lvl="1"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2pPr>
            <a:lvl3pPr lvl="2"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3pPr>
            <a:lvl4pPr lvl="3"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4pPr>
            <a:lvl5pPr lvl="4"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5pPr>
            <a:lvl6pPr lvl="5"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6pPr>
            <a:lvl7pPr lvl="6"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7pPr>
            <a:lvl8pPr lvl="7"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8pPr>
            <a:lvl9pPr lvl="8" marR="0" rtl="0" algn="l">
              <a:lnSpc>
                <a:spcPct val="100000"/>
              </a:lnSpc>
              <a:spcBef>
                <a:spcPts val="0"/>
              </a:spcBef>
              <a:spcAft>
                <a:spcPts val="0"/>
              </a:spcAft>
              <a:buClr>
                <a:schemeClr val="dk1"/>
              </a:buClr>
              <a:buSzPts val="3200"/>
              <a:buFont typeface="Playfair Display"/>
              <a:buNone/>
              <a:defRPr b="1" i="0" sz="3200" u="none" cap="none" strike="noStrike">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Lato"/>
              <a:buChar char="●"/>
              <a:defRPr b="0" i="0" sz="1800" u="none" cap="none" strike="noStrike">
                <a:solidFill>
                  <a:schemeClr val="dk2"/>
                </a:solidFill>
                <a:latin typeface="Lato"/>
                <a:ea typeface="Lato"/>
                <a:cs typeface="Lato"/>
                <a:sym typeface="Lato"/>
              </a:defRPr>
            </a:lvl1pPr>
            <a:lvl2pPr indent="-317500" lvl="1" marL="914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2pPr>
            <a:lvl3pPr indent="-317500" lvl="2" marL="1371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3pPr>
            <a:lvl4pPr indent="-317500" lvl="3" marL="1828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4pPr>
            <a:lvl5pPr indent="-317500" lvl="4" marL="22860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5pPr>
            <a:lvl6pPr indent="-317500" lvl="5" marL="27432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6pPr>
            <a:lvl7pPr indent="-317500" lvl="6" marL="32004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7pPr>
            <a:lvl8pPr indent="-317500" lvl="7" marL="36576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8pPr>
            <a:lvl9pPr indent="-317500" lvl="8" marL="4114800" marR="0" rtl="0" algn="l">
              <a:lnSpc>
                <a:spcPct val="115000"/>
              </a:lnSpc>
              <a:spcBef>
                <a:spcPts val="0"/>
              </a:spcBef>
              <a:spcAft>
                <a:spcPts val="0"/>
              </a:spcAft>
              <a:buClr>
                <a:schemeClr val="dk2"/>
              </a:buClr>
              <a:buSzPts val="1400"/>
              <a:buFont typeface="Lato"/>
              <a:buChar char="■"/>
              <a:defRPr b="0" i="0" sz="1400" u="none" cap="none" strike="noStrike">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ctrTitle"/>
          </p:nvPr>
        </p:nvSpPr>
        <p:spPr>
          <a:xfrm>
            <a:off x="3096250" y="1627200"/>
            <a:ext cx="2951400" cy="15843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74775"/>
              <a:buNone/>
            </a:pPr>
            <a:r>
              <a:rPr lang="es-419" sz="4755">
                <a:latin typeface="Kumbh Sans"/>
                <a:ea typeface="Kumbh Sans"/>
                <a:cs typeface="Kumbh Sans"/>
                <a:sym typeface="Kumbh Sans"/>
              </a:rPr>
              <a:t>LUPUS</a:t>
            </a:r>
            <a:r>
              <a:rPr lang="es-419">
                <a:latin typeface="Kumbh Sans"/>
                <a:ea typeface="Kumbh Sans"/>
                <a:cs typeface="Kumbh Sans"/>
                <a:sym typeface="Kumbh Sans"/>
              </a:rPr>
              <a:t> </a:t>
            </a:r>
            <a:endParaRPr>
              <a:latin typeface="Kumbh Sans"/>
              <a:ea typeface="Kumbh Sans"/>
              <a:cs typeface="Kumbh Sans"/>
              <a:sym typeface="Kumbh Sans"/>
            </a:endParaRPr>
          </a:p>
          <a:p>
            <a:pPr indent="0" lvl="0" marL="0" rtl="0" algn="ctr">
              <a:lnSpc>
                <a:spcPct val="100000"/>
              </a:lnSpc>
              <a:spcBef>
                <a:spcPts val="0"/>
              </a:spcBef>
              <a:spcAft>
                <a:spcPts val="0"/>
              </a:spcAft>
              <a:buSzPct val="111111"/>
              <a:buNone/>
            </a:pPr>
            <a:r>
              <a:rPr lang="es-419">
                <a:latin typeface="Kumbh Sans"/>
                <a:ea typeface="Kumbh Sans"/>
                <a:cs typeface="Kumbh Sans"/>
                <a:sym typeface="Kumbh Sans"/>
              </a:rPr>
              <a:t>PATOGENIA,</a:t>
            </a:r>
            <a:endParaRPr>
              <a:latin typeface="Kumbh Sans"/>
              <a:ea typeface="Kumbh Sans"/>
              <a:cs typeface="Kumbh Sans"/>
              <a:sym typeface="Kumbh Sans"/>
            </a:endParaRPr>
          </a:p>
          <a:p>
            <a:pPr indent="0" lvl="0" marL="0" rtl="0" algn="ctr">
              <a:lnSpc>
                <a:spcPct val="100000"/>
              </a:lnSpc>
              <a:spcBef>
                <a:spcPts val="0"/>
              </a:spcBef>
              <a:spcAft>
                <a:spcPts val="0"/>
              </a:spcAft>
              <a:buSzPct val="111111"/>
              <a:buNone/>
            </a:pPr>
            <a:r>
              <a:rPr lang="es-419">
                <a:latin typeface="Kumbh Sans"/>
                <a:ea typeface="Kumbh Sans"/>
                <a:cs typeface="Kumbh Sans"/>
                <a:sym typeface="Kumbh Sans"/>
              </a:rPr>
              <a:t>CLÍNICA y </a:t>
            </a:r>
            <a:r>
              <a:rPr lang="es-419">
                <a:latin typeface="Kumbh Sans"/>
                <a:ea typeface="Kumbh Sans"/>
                <a:cs typeface="Kumbh Sans"/>
                <a:sym typeface="Kumbh Sans"/>
              </a:rPr>
              <a:t> DIAGNÓSTICO</a:t>
            </a:r>
            <a:endParaRPr>
              <a:latin typeface="Kumbh Sans"/>
              <a:ea typeface="Kumbh Sans"/>
              <a:cs typeface="Kumbh Sans"/>
              <a:sym typeface="Kumbh Sans"/>
            </a:endParaRPr>
          </a:p>
        </p:txBody>
      </p:sp>
      <p:pic>
        <p:nvPicPr>
          <p:cNvPr id="66" name="Google Shape;66;p14"/>
          <p:cNvPicPr preferRelativeResize="0"/>
          <p:nvPr/>
        </p:nvPicPr>
        <p:blipFill rotWithShape="1">
          <a:blip r:embed="rId3">
            <a:alphaModFix/>
          </a:blip>
          <a:srcRect b="6138" l="9246" r="9345" t="0"/>
          <a:stretch/>
        </p:blipFill>
        <p:spPr>
          <a:xfrm>
            <a:off x="294950" y="207425"/>
            <a:ext cx="2220585" cy="2052600"/>
          </a:xfrm>
          <a:prstGeom prst="rect">
            <a:avLst/>
          </a:prstGeom>
          <a:noFill/>
          <a:ln>
            <a:noFill/>
          </a:ln>
        </p:spPr>
      </p:pic>
      <p:sp>
        <p:nvSpPr>
          <p:cNvPr id="67" name="Google Shape;67;p14"/>
          <p:cNvSpPr txBox="1"/>
          <p:nvPr/>
        </p:nvSpPr>
        <p:spPr>
          <a:xfrm>
            <a:off x="6630275" y="121600"/>
            <a:ext cx="2298300" cy="969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700">
                <a:solidFill>
                  <a:srgbClr val="5F6368"/>
                </a:solidFill>
                <a:latin typeface="Kumbh Sans Medium"/>
                <a:ea typeface="Kumbh Sans Medium"/>
                <a:cs typeface="Kumbh Sans Medium"/>
                <a:sym typeface="Kumbh Sans Medium"/>
              </a:rPr>
              <a:t>Dra Luciana Grassi</a:t>
            </a:r>
            <a:endParaRPr sz="1700">
              <a:solidFill>
                <a:srgbClr val="5F6368"/>
              </a:solidFill>
              <a:latin typeface="Kumbh Sans Medium"/>
              <a:ea typeface="Kumbh Sans Medium"/>
              <a:cs typeface="Kumbh Sans Medium"/>
              <a:sym typeface="Kumbh Sans Medium"/>
            </a:endParaRPr>
          </a:p>
          <a:p>
            <a:pPr indent="0" lvl="0" marL="0" rtl="0" algn="ctr">
              <a:spcBef>
                <a:spcPts val="0"/>
              </a:spcBef>
              <a:spcAft>
                <a:spcPts val="0"/>
              </a:spcAft>
              <a:buNone/>
            </a:pPr>
            <a:r>
              <a:rPr lang="es-419" sz="1700">
                <a:solidFill>
                  <a:srgbClr val="5F6368"/>
                </a:solidFill>
                <a:latin typeface="Kumbh Sans Medium"/>
                <a:ea typeface="Kumbh Sans Medium"/>
                <a:cs typeface="Kumbh Sans Medium"/>
                <a:sym typeface="Kumbh Sans Medium"/>
              </a:rPr>
              <a:t>Medicina Interna III </a:t>
            </a:r>
            <a:endParaRPr sz="1700">
              <a:solidFill>
                <a:srgbClr val="5F6368"/>
              </a:solidFill>
              <a:latin typeface="Kumbh Sans Medium"/>
              <a:ea typeface="Kumbh Sans Medium"/>
              <a:cs typeface="Kumbh Sans Medium"/>
              <a:sym typeface="Kumbh Sans Medium"/>
            </a:endParaRPr>
          </a:p>
          <a:p>
            <a:pPr indent="0" lvl="0" marL="0" rtl="0" algn="ctr">
              <a:spcBef>
                <a:spcPts val="0"/>
              </a:spcBef>
              <a:spcAft>
                <a:spcPts val="0"/>
              </a:spcAft>
              <a:buNone/>
            </a:pPr>
            <a:r>
              <a:rPr lang="es-419" sz="1700">
                <a:solidFill>
                  <a:srgbClr val="5F6368"/>
                </a:solidFill>
                <a:latin typeface="Kumbh Sans Medium"/>
                <a:ea typeface="Kumbh Sans Medium"/>
                <a:cs typeface="Kumbh Sans Medium"/>
                <a:sym typeface="Kumbh Sans Medium"/>
              </a:rPr>
              <a:t>2023</a:t>
            </a:r>
            <a:endParaRPr/>
          </a:p>
        </p:txBody>
      </p:sp>
      <p:pic>
        <p:nvPicPr>
          <p:cNvPr id="68" name="Google Shape;68;p14"/>
          <p:cNvPicPr preferRelativeResize="0"/>
          <p:nvPr/>
        </p:nvPicPr>
        <p:blipFill>
          <a:blip r:embed="rId4">
            <a:alphaModFix/>
          </a:blip>
          <a:stretch>
            <a:fillRect/>
          </a:stretch>
        </p:blipFill>
        <p:spPr>
          <a:xfrm>
            <a:off x="7231263" y="3818650"/>
            <a:ext cx="1096325" cy="10936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INTRODUCCIÓN</a:t>
            </a:r>
            <a:endParaRPr/>
          </a:p>
        </p:txBody>
      </p:sp>
      <p:sp>
        <p:nvSpPr>
          <p:cNvPr id="74" name="Google Shape;74;p15"/>
          <p:cNvSpPr txBox="1"/>
          <p:nvPr>
            <p:ph idx="1" type="body"/>
          </p:nvPr>
        </p:nvSpPr>
        <p:spPr>
          <a:xfrm>
            <a:off x="311700" y="1152475"/>
            <a:ext cx="8520600" cy="2877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s-419" sz="1400">
                <a:solidFill>
                  <a:srgbClr val="232323"/>
                </a:solidFill>
                <a:latin typeface="Kumbh Sans"/>
                <a:ea typeface="Kumbh Sans"/>
                <a:cs typeface="Kumbh Sans"/>
                <a:sym typeface="Kumbh Sans"/>
              </a:rPr>
              <a:t>El LES tiene manifestaciones clínicas diversas que pueden diferir de forma importante de un paciente a otro. </a:t>
            </a:r>
            <a:endParaRPr sz="1400">
              <a:solidFill>
                <a:srgbClr val="232323"/>
              </a:solidFill>
              <a:latin typeface="Kumbh Sans"/>
              <a:ea typeface="Kumbh Sans"/>
              <a:cs typeface="Kumbh Sans"/>
              <a:sym typeface="Kumbh Sans"/>
            </a:endParaRPr>
          </a:p>
          <a:p>
            <a:pPr indent="0" lvl="0" marL="0" rtl="0" algn="l">
              <a:lnSpc>
                <a:spcPct val="115000"/>
              </a:lnSpc>
              <a:spcBef>
                <a:spcPts val="0"/>
              </a:spcBef>
              <a:spcAft>
                <a:spcPts val="0"/>
              </a:spcAft>
              <a:buSzPts val="1800"/>
              <a:buNone/>
            </a:pPr>
            <a:r>
              <a:t/>
            </a:r>
            <a:endParaRPr sz="1400">
              <a:solidFill>
                <a:srgbClr val="232323"/>
              </a:solidFill>
              <a:latin typeface="Kumbh Sans"/>
              <a:ea typeface="Kumbh Sans"/>
              <a:cs typeface="Kumbh Sans"/>
              <a:sym typeface="Kumbh Sans"/>
            </a:endParaRPr>
          </a:p>
          <a:p>
            <a:pPr indent="0" lvl="0" marL="0" rtl="0" algn="l">
              <a:lnSpc>
                <a:spcPct val="115000"/>
              </a:lnSpc>
              <a:spcBef>
                <a:spcPts val="0"/>
              </a:spcBef>
              <a:spcAft>
                <a:spcPts val="0"/>
              </a:spcAft>
              <a:buSzPts val="1800"/>
              <a:buNone/>
            </a:pPr>
            <a:r>
              <a:rPr lang="es-419" sz="1400">
                <a:solidFill>
                  <a:srgbClr val="232323"/>
                </a:solidFill>
                <a:latin typeface="Kumbh Sans"/>
                <a:ea typeface="Kumbh Sans"/>
                <a:cs typeface="Kumbh Sans"/>
                <a:sym typeface="Kumbh Sans"/>
              </a:rPr>
              <a:t>Igual que </a:t>
            </a:r>
            <a:r>
              <a:rPr lang="es-419" sz="1400">
                <a:solidFill>
                  <a:srgbClr val="232323"/>
                </a:solidFill>
                <a:latin typeface="Kumbh Sans"/>
                <a:ea typeface="Kumbh Sans"/>
                <a:cs typeface="Kumbh Sans"/>
                <a:sym typeface="Kumbh Sans"/>
              </a:rPr>
              <a:t>pueden variar ampliamente los signos y síntomas del LES entre los pacientes, puede hacerlo la gravedad de la enfermedad. </a:t>
            </a:r>
            <a:endParaRPr sz="1400">
              <a:solidFill>
                <a:srgbClr val="232323"/>
              </a:solidFill>
              <a:latin typeface="Kumbh Sans"/>
              <a:ea typeface="Kumbh Sans"/>
              <a:cs typeface="Kumbh Sans"/>
              <a:sym typeface="Kumbh Sans"/>
            </a:endParaRPr>
          </a:p>
          <a:p>
            <a:pPr indent="0" lvl="0" marL="0" rtl="0" algn="l">
              <a:lnSpc>
                <a:spcPct val="115000"/>
              </a:lnSpc>
              <a:spcBef>
                <a:spcPts val="1200"/>
              </a:spcBef>
              <a:spcAft>
                <a:spcPts val="0"/>
              </a:spcAft>
              <a:buSzPts val="1800"/>
              <a:buNone/>
            </a:pPr>
            <a:r>
              <a:rPr lang="es-419" sz="1400">
                <a:solidFill>
                  <a:srgbClr val="232323"/>
                </a:solidFill>
                <a:latin typeface="Kumbh Sans"/>
                <a:ea typeface="Kumbh Sans"/>
                <a:cs typeface="Kumbh Sans"/>
                <a:sym typeface="Kumbh Sans"/>
              </a:rPr>
              <a:t>Algunos pacientes tendrán una enfermedad relativamente leve, que no supone amenaza para ningún órgano vital; la enfermedad de otros pacientes progresará rápidamente a una situación de riesgo vital.</a:t>
            </a:r>
            <a:endParaRPr sz="1400">
              <a:solidFill>
                <a:srgbClr val="232323"/>
              </a:solidFill>
              <a:latin typeface="Kumbh Sans"/>
              <a:ea typeface="Kumbh Sans"/>
              <a:cs typeface="Kumbh Sans"/>
              <a:sym typeface="Kumbh Sans"/>
            </a:endParaRPr>
          </a:p>
          <a:p>
            <a:pPr indent="0" lvl="0" marL="0" rtl="0" algn="l">
              <a:lnSpc>
                <a:spcPct val="107916"/>
              </a:lnSpc>
              <a:spcBef>
                <a:spcPts val="1200"/>
              </a:spcBef>
              <a:spcAft>
                <a:spcPts val="0"/>
              </a:spcAft>
              <a:buClr>
                <a:schemeClr val="dk1"/>
              </a:buClr>
              <a:buSzPts val="1100"/>
              <a:buFont typeface="Arial"/>
              <a:buNone/>
            </a:pPr>
            <a:r>
              <a:rPr lang="es-419" sz="1400">
                <a:solidFill>
                  <a:srgbClr val="232323"/>
                </a:solidFill>
                <a:highlight>
                  <a:srgbClr val="FFFFFF"/>
                </a:highlight>
                <a:latin typeface="Kumbh Sans"/>
                <a:ea typeface="Kumbh Sans"/>
                <a:cs typeface="Kumbh Sans"/>
                <a:sym typeface="Kumbh Sans"/>
              </a:rPr>
              <a:t>Los pacientes pueden presentar sólo algunas características clínicas de LES, que pueden parecerse a otras enfermedades autoinmunitarias, infecciosas o hematológicas.</a:t>
            </a:r>
            <a:endParaRPr sz="1400">
              <a:solidFill>
                <a:srgbClr val="23232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s-419" u="sng"/>
              <a:t>PATOGENIA</a:t>
            </a:r>
            <a:endParaRPr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a:t>
            </a:r>
            <a:endParaRPr/>
          </a:p>
        </p:txBody>
      </p:sp>
      <p:sp>
        <p:nvSpPr>
          <p:cNvPr id="85" name="Google Shape;85;p17"/>
          <p:cNvSpPr txBox="1"/>
          <p:nvPr>
            <p:ph idx="1" type="body"/>
          </p:nvPr>
        </p:nvSpPr>
        <p:spPr>
          <a:xfrm>
            <a:off x="311700" y="944225"/>
            <a:ext cx="8520600" cy="3758700"/>
          </a:xfrm>
          <a:prstGeom prst="rect">
            <a:avLst/>
          </a:prstGeom>
          <a:noFill/>
          <a:ln>
            <a:noFill/>
          </a:ln>
        </p:spPr>
        <p:txBody>
          <a:bodyPr anchorCtr="0" anchor="t" bIns="91425" lIns="91425" spcFirstLastPara="1" rIns="91425" wrap="square" tIns="91425">
            <a:noAutofit/>
          </a:bodyPr>
          <a:lstStyle/>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Activación crónica y recurrente del sistema inmunitario, con la producción de anticuerpos y otros productos proteínicos que contribuyen a la </a:t>
            </a:r>
            <a:r>
              <a:rPr b="1" lang="es-419" sz="1400">
                <a:solidFill>
                  <a:srgbClr val="232323"/>
                </a:solidFill>
                <a:highlight>
                  <a:srgbClr val="FFFFFF"/>
                </a:highlight>
                <a:latin typeface="Nunito"/>
                <a:ea typeface="Nunito"/>
                <a:cs typeface="Nunito"/>
                <a:sym typeface="Nunito"/>
              </a:rPr>
              <a:t>inflamación y al daño tisular</a:t>
            </a:r>
            <a:endParaRPr b="1"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La participación de las </a:t>
            </a:r>
            <a:r>
              <a:rPr b="1" lang="es-419" sz="1400">
                <a:solidFill>
                  <a:srgbClr val="232323"/>
                </a:solidFill>
                <a:highlight>
                  <a:srgbClr val="FFFFFF"/>
                </a:highlight>
                <a:latin typeface="Nunito"/>
                <a:ea typeface="Nunito"/>
                <a:cs typeface="Nunito"/>
                <a:sym typeface="Nunito"/>
              </a:rPr>
              <a:t>hormonas</a:t>
            </a:r>
            <a:r>
              <a:rPr lang="es-419" sz="1400">
                <a:solidFill>
                  <a:srgbClr val="232323"/>
                </a:solidFill>
                <a:highlight>
                  <a:srgbClr val="FFFFFF"/>
                </a:highlight>
                <a:latin typeface="Nunito"/>
                <a:ea typeface="Nunito"/>
                <a:cs typeface="Nunito"/>
                <a:sym typeface="Nunito"/>
              </a:rPr>
              <a:t> y algunos otros factores aún no caracterizados en la patogenia de la enfermedad.</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Variantes génicas que se asocian al LES, la mayoría relacionadas con la función del sistema inmunitario innato y adaptativo</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Las </a:t>
            </a:r>
            <a:r>
              <a:rPr b="1" lang="es-419" sz="1400">
                <a:solidFill>
                  <a:srgbClr val="232323"/>
                </a:solidFill>
                <a:highlight>
                  <a:srgbClr val="FFFFFF"/>
                </a:highlight>
                <a:latin typeface="Nunito"/>
                <a:ea typeface="Nunito"/>
                <a:cs typeface="Nunito"/>
                <a:sym typeface="Nunito"/>
              </a:rPr>
              <a:t>deficiencias del complemento</a:t>
            </a:r>
            <a:r>
              <a:rPr lang="es-419" sz="1400">
                <a:solidFill>
                  <a:srgbClr val="232323"/>
                </a:solidFill>
                <a:highlight>
                  <a:srgbClr val="FFFFFF"/>
                </a:highlight>
                <a:latin typeface="Nunito"/>
                <a:ea typeface="Nunito"/>
                <a:cs typeface="Nunito"/>
                <a:sym typeface="Nunito"/>
              </a:rPr>
              <a:t> confieren el mayor riesgo de enfermedad. </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Las mutaciones o las variantes frecuentes  de los genes que codifican componentes de la vía del receptor endosómico similar a Toll o reguladores de los ácidos nucleicos endógenos contribuyen a la </a:t>
            </a:r>
            <a:r>
              <a:rPr b="1" lang="es-419" sz="1400">
                <a:solidFill>
                  <a:srgbClr val="232323"/>
                </a:solidFill>
                <a:highlight>
                  <a:srgbClr val="FFFFFF"/>
                </a:highlight>
                <a:latin typeface="Nunito"/>
                <a:ea typeface="Nunito"/>
                <a:cs typeface="Nunito"/>
                <a:sym typeface="Nunito"/>
              </a:rPr>
              <a:t>activación del sistema inmunitario innato.</a:t>
            </a:r>
            <a:endParaRPr b="1"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Los factores </a:t>
            </a:r>
            <a:r>
              <a:rPr b="1" lang="es-419" sz="1400">
                <a:solidFill>
                  <a:srgbClr val="232323"/>
                </a:solidFill>
                <a:highlight>
                  <a:srgbClr val="FFFFFF"/>
                </a:highlight>
                <a:latin typeface="Nunito"/>
                <a:ea typeface="Nunito"/>
                <a:cs typeface="Nunito"/>
                <a:sym typeface="Nunito"/>
              </a:rPr>
              <a:t>ambientales</a:t>
            </a:r>
            <a:r>
              <a:rPr lang="es-419" sz="1400">
                <a:solidFill>
                  <a:srgbClr val="232323"/>
                </a:solidFill>
                <a:highlight>
                  <a:srgbClr val="FFFFFF"/>
                </a:highlight>
                <a:latin typeface="Nunito"/>
                <a:ea typeface="Nunito"/>
                <a:cs typeface="Nunito"/>
                <a:sym typeface="Nunito"/>
              </a:rPr>
              <a:t> contribuyen al inicio del lupus y a sus reagudizaciones.</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La producción de </a:t>
            </a:r>
            <a:r>
              <a:rPr b="1" lang="es-419" sz="1400">
                <a:solidFill>
                  <a:srgbClr val="232323"/>
                </a:solidFill>
                <a:highlight>
                  <a:srgbClr val="FFFFFF"/>
                </a:highlight>
                <a:latin typeface="Nunito"/>
                <a:ea typeface="Nunito"/>
                <a:cs typeface="Nunito"/>
                <a:sym typeface="Nunito"/>
              </a:rPr>
              <a:t>interferón</a:t>
            </a:r>
            <a:r>
              <a:rPr lang="es-419" sz="1400">
                <a:solidFill>
                  <a:srgbClr val="232323"/>
                </a:solidFill>
                <a:highlight>
                  <a:srgbClr val="FFFFFF"/>
                </a:highlight>
                <a:latin typeface="Nunito"/>
                <a:ea typeface="Nunito"/>
                <a:cs typeface="Nunito"/>
                <a:sym typeface="Nunito"/>
              </a:rPr>
              <a:t> (IFN) de tipo I, la expresión amplia de los genes inducibles por el IFN de tipo I y los efectos del IFN sobre la activación y función del sistema inmunitario han surgido como mecanismos centrales de la patogenia del lupus.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t/>
            </a:r>
            <a:endParaRPr sz="1200">
              <a:solidFill>
                <a:srgbClr val="232323"/>
              </a:solidFill>
              <a:highlight>
                <a:srgbClr val="FFFFFF"/>
              </a:highlight>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a:t>
            </a:r>
            <a:endParaRPr/>
          </a:p>
        </p:txBody>
      </p:sp>
      <p:sp>
        <p:nvSpPr>
          <p:cNvPr id="91" name="Google Shape;91;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lang="es-419" sz="1700">
                <a:solidFill>
                  <a:srgbClr val="232323"/>
                </a:solidFill>
                <a:highlight>
                  <a:srgbClr val="FFFFFF"/>
                </a:highlight>
                <a:latin typeface="Nunito"/>
                <a:ea typeface="Nunito"/>
                <a:cs typeface="Nunito"/>
                <a:sym typeface="Nunito"/>
              </a:rPr>
              <a:t>Subgrupos de linfocitos T, incluidos los linfocitos T cooperadores foliculares, citocinas, y factores de supervivencia solubles como el estimulador del linfocito B (BLyS) promueven la </a:t>
            </a:r>
            <a:r>
              <a:rPr b="1" lang="es-419" sz="1700">
                <a:solidFill>
                  <a:srgbClr val="232323"/>
                </a:solidFill>
                <a:highlight>
                  <a:srgbClr val="FFFFFF"/>
                </a:highlight>
                <a:latin typeface="Nunito"/>
                <a:ea typeface="Nunito"/>
                <a:cs typeface="Nunito"/>
                <a:sym typeface="Nunito"/>
              </a:rPr>
              <a:t>diferenciación del linfocito B </a:t>
            </a:r>
            <a:r>
              <a:rPr lang="es-419" sz="1700">
                <a:solidFill>
                  <a:srgbClr val="232323"/>
                </a:solidFill>
                <a:highlight>
                  <a:srgbClr val="FFFFFF"/>
                </a:highlight>
                <a:latin typeface="Nunito"/>
                <a:ea typeface="Nunito"/>
                <a:cs typeface="Nunito"/>
                <a:sym typeface="Nunito"/>
              </a:rPr>
              <a:t>y la producción de </a:t>
            </a:r>
            <a:r>
              <a:rPr b="1" lang="es-419" sz="1700">
                <a:solidFill>
                  <a:srgbClr val="232323"/>
                </a:solidFill>
                <a:highlight>
                  <a:srgbClr val="FFFFFF"/>
                </a:highlight>
                <a:latin typeface="Nunito"/>
                <a:ea typeface="Nunito"/>
                <a:cs typeface="Nunito"/>
                <a:sym typeface="Nunito"/>
              </a:rPr>
              <a:t>autoanticuerpos</a:t>
            </a:r>
            <a:r>
              <a:rPr lang="es-419" sz="1700">
                <a:solidFill>
                  <a:srgbClr val="232323"/>
                </a:solidFill>
                <a:highlight>
                  <a:srgbClr val="FFFFFF"/>
                </a:highlight>
                <a:latin typeface="Nunito"/>
                <a:ea typeface="Nunito"/>
                <a:cs typeface="Nunito"/>
                <a:sym typeface="Nunito"/>
              </a:rPr>
              <a:t>.</a:t>
            </a:r>
            <a:endParaRPr sz="17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700">
                <a:solidFill>
                  <a:srgbClr val="232323"/>
                </a:solidFill>
                <a:highlight>
                  <a:srgbClr val="FFFFFF"/>
                </a:highlight>
                <a:latin typeface="Nunito"/>
                <a:ea typeface="Nunito"/>
                <a:cs typeface="Nunito"/>
                <a:sym typeface="Nunito"/>
              </a:rPr>
              <a:t>Las plaquetas y los neutrófilos, junto con el material extracelular del neutrófilo, han atraído una nueva atención como efectores patógenos importantes.</a:t>
            </a:r>
            <a:endParaRPr sz="17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700">
                <a:solidFill>
                  <a:srgbClr val="232323"/>
                </a:solidFill>
                <a:highlight>
                  <a:srgbClr val="FFFFFF"/>
                </a:highlight>
                <a:latin typeface="Nunito"/>
                <a:ea typeface="Nunito"/>
                <a:cs typeface="Nunito"/>
                <a:sym typeface="Nunito"/>
              </a:rPr>
              <a:t> El </a:t>
            </a:r>
            <a:r>
              <a:rPr b="1" lang="es-419" sz="1700">
                <a:solidFill>
                  <a:srgbClr val="232323"/>
                </a:solidFill>
                <a:highlight>
                  <a:srgbClr val="FFFFFF"/>
                </a:highlight>
                <a:latin typeface="Nunito"/>
                <a:ea typeface="Nunito"/>
                <a:cs typeface="Nunito"/>
                <a:sym typeface="Nunito"/>
              </a:rPr>
              <a:t>complemento</a:t>
            </a:r>
            <a:r>
              <a:rPr lang="es-419" sz="1700">
                <a:solidFill>
                  <a:srgbClr val="232323"/>
                </a:solidFill>
                <a:highlight>
                  <a:srgbClr val="FFFFFF"/>
                </a:highlight>
                <a:latin typeface="Nunito"/>
                <a:ea typeface="Nunito"/>
                <a:cs typeface="Nunito"/>
                <a:sym typeface="Nunito"/>
              </a:rPr>
              <a:t> sigue siendo un mediador importante de la inflamación.</a:t>
            </a:r>
            <a:endParaRPr sz="1700">
              <a:solidFill>
                <a:srgbClr val="232323"/>
              </a:solidFill>
              <a:highlight>
                <a:srgbClr val="FFFFFF"/>
              </a:highlight>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a:t>
            </a:r>
            <a:endParaRPr/>
          </a:p>
        </p:txBody>
      </p:sp>
      <p:sp>
        <p:nvSpPr>
          <p:cNvPr id="97" name="Google Shape;97;p19"/>
          <p:cNvSpPr txBox="1"/>
          <p:nvPr>
            <p:ph idx="1" type="body"/>
          </p:nvPr>
        </p:nvSpPr>
        <p:spPr>
          <a:xfrm>
            <a:off x="417379" y="1017439"/>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0"/>
              </a:spcBef>
              <a:spcAft>
                <a:spcPts val="0"/>
              </a:spcAft>
              <a:buSzPts val="1800"/>
              <a:buNone/>
            </a:pPr>
            <a:r>
              <a:rPr lang="es-419" sz="1300">
                <a:solidFill>
                  <a:srgbClr val="232323"/>
                </a:solidFill>
                <a:highlight>
                  <a:srgbClr val="FFFFFF"/>
                </a:highlight>
                <a:latin typeface="Nunito"/>
                <a:ea typeface="Nunito"/>
                <a:cs typeface="Nunito"/>
                <a:sym typeface="Nunito"/>
              </a:rPr>
              <a:t>Los estudios de asociación de todo el genoma (GWAS) han identificado más de 100 loci de genes con polimorfismos (o, raramente, mutaciones o números de copias) que predisponen al LES. Sin embargo, esta información genética derivada del GWAS representa solo el 28 % de la susceptibilidad al LES, lo que sugiere un gran componente de </a:t>
            </a:r>
            <a:r>
              <a:rPr b="1" lang="es-419" sz="1300">
                <a:solidFill>
                  <a:srgbClr val="232323"/>
                </a:solidFill>
                <a:highlight>
                  <a:srgbClr val="FFFFFF"/>
                </a:highlight>
                <a:latin typeface="Nunito"/>
                <a:ea typeface="Nunito"/>
                <a:cs typeface="Nunito"/>
                <a:sym typeface="Nunito"/>
              </a:rPr>
              <a:t>influencias ambientales o epigenéticas </a:t>
            </a:r>
            <a:r>
              <a:rPr lang="es-419" sz="1300">
                <a:solidFill>
                  <a:srgbClr val="232323"/>
                </a:solidFill>
                <a:highlight>
                  <a:srgbClr val="FFFFFF"/>
                </a:highlight>
                <a:latin typeface="Nunito"/>
                <a:ea typeface="Nunito"/>
                <a:cs typeface="Nunito"/>
                <a:sym typeface="Nunito"/>
              </a:rPr>
              <a:t>o genes no descubiertos.</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300">
                <a:solidFill>
                  <a:srgbClr val="232323"/>
                </a:solidFill>
                <a:highlight>
                  <a:srgbClr val="FFFFFF"/>
                </a:highlight>
                <a:latin typeface="Nunito"/>
                <a:ea typeface="Nunito"/>
                <a:cs typeface="Nunito"/>
                <a:sym typeface="Nunito"/>
              </a:rPr>
              <a:t>Los </a:t>
            </a:r>
            <a:r>
              <a:rPr b="1" lang="es-419" sz="1300">
                <a:solidFill>
                  <a:srgbClr val="232323"/>
                </a:solidFill>
                <a:highlight>
                  <a:srgbClr val="FFFFFF"/>
                </a:highlight>
                <a:latin typeface="Nunito"/>
                <a:ea typeface="Nunito"/>
                <a:cs typeface="Nunito"/>
                <a:sym typeface="Nunito"/>
              </a:rPr>
              <a:t>factores genéticos </a:t>
            </a:r>
            <a:r>
              <a:rPr lang="es-419" sz="1300">
                <a:solidFill>
                  <a:srgbClr val="232323"/>
                </a:solidFill>
                <a:highlight>
                  <a:srgbClr val="FFFFFF"/>
                </a:highlight>
                <a:latin typeface="Nunito"/>
                <a:ea typeface="Nunito"/>
                <a:cs typeface="Nunito"/>
                <a:sym typeface="Nunito"/>
              </a:rPr>
              <a:t>que confieren los índices de riesgo (HR) más altos de 5 a 25 son deficiencias de los componentes del </a:t>
            </a:r>
            <a:r>
              <a:rPr b="1" lang="es-419" sz="1300">
                <a:solidFill>
                  <a:srgbClr val="232323"/>
                </a:solidFill>
                <a:highlight>
                  <a:srgbClr val="FFFFFF"/>
                </a:highlight>
                <a:latin typeface="Nunito"/>
                <a:ea typeface="Nunito"/>
                <a:cs typeface="Nunito"/>
                <a:sym typeface="Nunito"/>
              </a:rPr>
              <a:t>complemento C1q </a:t>
            </a:r>
            <a:r>
              <a:rPr lang="es-419" sz="1300">
                <a:solidFill>
                  <a:srgbClr val="232323"/>
                </a:solidFill>
                <a:highlight>
                  <a:srgbClr val="FFFFFF"/>
                </a:highlight>
                <a:latin typeface="Nunito"/>
                <a:ea typeface="Nunito"/>
                <a:cs typeface="Nunito"/>
                <a:sym typeface="Nunito"/>
              </a:rPr>
              <a:t>(necesarios para eliminar las células apoptóticas), C4A y B, C2, o la presencia de un gen </a:t>
            </a:r>
            <a:r>
              <a:rPr b="1" i="1" lang="es-419" sz="1300">
                <a:solidFill>
                  <a:srgbClr val="232323"/>
                </a:solidFill>
                <a:highlight>
                  <a:srgbClr val="FFFFFF"/>
                </a:highlight>
                <a:latin typeface="Nunito"/>
                <a:ea typeface="Nunito"/>
                <a:cs typeface="Nunito"/>
                <a:sym typeface="Nunito"/>
              </a:rPr>
              <a:t>TREX1</a:t>
            </a:r>
            <a:r>
              <a:rPr b="1" lang="es-419" sz="1300">
                <a:solidFill>
                  <a:srgbClr val="232323"/>
                </a:solidFill>
                <a:highlight>
                  <a:srgbClr val="FFFFFF"/>
                </a:highlight>
                <a:latin typeface="Nunito"/>
                <a:ea typeface="Nunito"/>
                <a:cs typeface="Nunito"/>
                <a:sym typeface="Nunito"/>
              </a:rPr>
              <a:t> mutado</a:t>
            </a:r>
            <a:r>
              <a:rPr lang="es-419" sz="1300">
                <a:solidFill>
                  <a:srgbClr val="232323"/>
                </a:solidFill>
                <a:highlight>
                  <a:srgbClr val="FFFFFF"/>
                </a:highlight>
                <a:latin typeface="Nunito"/>
                <a:ea typeface="Nunito"/>
                <a:cs typeface="Nunito"/>
                <a:sym typeface="Nunito"/>
              </a:rPr>
              <a:t> (codifica los tres componentes principales de reparación)</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300">
                <a:solidFill>
                  <a:srgbClr val="232323"/>
                </a:solidFill>
                <a:highlight>
                  <a:srgbClr val="FFFFFF"/>
                </a:highlight>
                <a:latin typeface="Nunito"/>
                <a:ea typeface="Nunito"/>
                <a:cs typeface="Nunito"/>
                <a:sym typeface="Nunito"/>
              </a:rPr>
              <a:t>La predisposición genética más común se encuentra en el locus principal de histocompatibilidad (MHC). El MHC contiene genes para moléculas presentadoras de antígenos (antígenos de leucocitos humanos de clase I [HLA-A, -B y -C] y moléculas de HLA de clase II [HLA-DR, -DQ y -DP]) El MHC también contiene genes para algunos componentes del complemento, citocinas y proteínas de choque térmico.</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t/>
            </a:r>
            <a:endParaRPr sz="12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t/>
            </a:r>
            <a:endParaRPr sz="1200">
              <a:solidFill>
                <a:srgbClr val="232323"/>
              </a:solidFill>
              <a:highlight>
                <a:srgbClr val="FFFFFF"/>
              </a:highlight>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a:t>
            </a:r>
            <a:endParaRPr/>
          </a:p>
        </p:txBody>
      </p:sp>
      <p:sp>
        <p:nvSpPr>
          <p:cNvPr id="103" name="Google Shape;103;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lang="es-419" sz="1400">
                <a:solidFill>
                  <a:srgbClr val="232323"/>
                </a:solidFill>
                <a:highlight>
                  <a:srgbClr val="FFFFFF"/>
                </a:highlight>
                <a:latin typeface="Nunito"/>
                <a:ea typeface="Nunito"/>
                <a:cs typeface="Nunito"/>
                <a:sym typeface="Nunito"/>
              </a:rPr>
              <a:t>La </a:t>
            </a:r>
            <a:r>
              <a:rPr b="1" lang="es-419" sz="1400">
                <a:solidFill>
                  <a:srgbClr val="232323"/>
                </a:solidFill>
                <a:highlight>
                  <a:srgbClr val="FFFFFF"/>
                </a:highlight>
                <a:latin typeface="Nunito"/>
                <a:ea typeface="Nunito"/>
                <a:cs typeface="Nunito"/>
                <a:sym typeface="Nunito"/>
              </a:rPr>
              <a:t>sobreexpresión</a:t>
            </a:r>
            <a:r>
              <a:rPr lang="es-419" sz="1400">
                <a:solidFill>
                  <a:srgbClr val="232323"/>
                </a:solidFill>
                <a:highlight>
                  <a:srgbClr val="FFFFFF"/>
                </a:highlight>
                <a:latin typeface="Nunito"/>
                <a:ea typeface="Nunito"/>
                <a:cs typeface="Nunito"/>
                <a:sym typeface="Nunito"/>
              </a:rPr>
              <a:t> de genes </a:t>
            </a:r>
            <a:r>
              <a:rPr b="1" lang="es-419" sz="1400">
                <a:solidFill>
                  <a:srgbClr val="232323"/>
                </a:solidFill>
                <a:highlight>
                  <a:srgbClr val="FFFFFF"/>
                </a:highlight>
                <a:latin typeface="Nunito"/>
                <a:ea typeface="Nunito"/>
                <a:cs typeface="Nunito"/>
                <a:sym typeface="Nunito"/>
              </a:rPr>
              <a:t>inducidos por IFN-alfa</a:t>
            </a:r>
            <a:r>
              <a:rPr lang="es-419" sz="1400">
                <a:solidFill>
                  <a:srgbClr val="232323"/>
                </a:solidFill>
                <a:highlight>
                  <a:srgbClr val="FFFFFF"/>
                </a:highlight>
                <a:latin typeface="Nunito"/>
                <a:ea typeface="Nunito"/>
                <a:cs typeface="Nunito"/>
                <a:sym typeface="Nunito"/>
              </a:rPr>
              <a:t> se encuentra en la sangre periférica del 60 al 80 % de los pacientes con LES.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400">
                <a:solidFill>
                  <a:srgbClr val="232323"/>
                </a:solidFill>
                <a:highlight>
                  <a:srgbClr val="FFFFFF"/>
                </a:highlight>
                <a:latin typeface="Nunito"/>
                <a:ea typeface="Nunito"/>
                <a:cs typeface="Nunito"/>
                <a:sym typeface="Nunito"/>
              </a:rPr>
              <a:t>Además de los genes de susceptibilidad codificados por el genoma, las modificaciones </a:t>
            </a:r>
            <a:r>
              <a:rPr b="1" lang="es-419" sz="1400">
                <a:solidFill>
                  <a:srgbClr val="232323"/>
                </a:solidFill>
                <a:highlight>
                  <a:srgbClr val="FFFFFF"/>
                </a:highlight>
                <a:latin typeface="Nunito"/>
                <a:ea typeface="Nunito"/>
                <a:cs typeface="Nunito"/>
                <a:sym typeface="Nunito"/>
              </a:rPr>
              <a:t>epigenéticas</a:t>
            </a:r>
            <a:r>
              <a:rPr lang="es-419" sz="1400">
                <a:solidFill>
                  <a:srgbClr val="232323"/>
                </a:solidFill>
                <a:highlight>
                  <a:srgbClr val="FFFFFF"/>
                </a:highlight>
                <a:latin typeface="Nunito"/>
                <a:ea typeface="Nunito"/>
                <a:cs typeface="Nunito"/>
                <a:sym typeface="Nunito"/>
              </a:rPr>
              <a:t> son importantes en la patogénesis del LES porque regulan la transcripción de genes; generalmente la hipometilación aumenta la transcripción y la hipermetilación la disminuye; estos incluyen hipometilación del ADN, especialmente en linfocitos T y B y monocitos. La hipometilación afecta genes específicos, al igual que la variación en la acetilación de histonas.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400" u="sng">
                <a:solidFill>
                  <a:srgbClr val="232323"/>
                </a:solidFill>
                <a:highlight>
                  <a:srgbClr val="FFFFFF"/>
                </a:highlight>
                <a:latin typeface="Nunito"/>
                <a:ea typeface="Nunito"/>
                <a:cs typeface="Nunito"/>
                <a:sym typeface="Nunito"/>
              </a:rPr>
              <a:t>En resumen, a excepción de la rara mutación </a:t>
            </a:r>
            <a:r>
              <a:rPr i="1" lang="es-419" sz="1400" u="sng">
                <a:solidFill>
                  <a:srgbClr val="232323"/>
                </a:solidFill>
                <a:highlight>
                  <a:srgbClr val="FFFFFF"/>
                </a:highlight>
                <a:latin typeface="Nunito"/>
                <a:ea typeface="Nunito"/>
                <a:cs typeface="Nunito"/>
                <a:sym typeface="Nunito"/>
              </a:rPr>
              <a:t>TREX1</a:t>
            </a:r>
            <a:r>
              <a:rPr lang="es-419" sz="1400" u="sng">
                <a:solidFill>
                  <a:srgbClr val="232323"/>
                </a:solidFill>
                <a:highlight>
                  <a:srgbClr val="FFFFFF"/>
                </a:highlight>
                <a:latin typeface="Nunito"/>
                <a:ea typeface="Nunito"/>
                <a:cs typeface="Nunito"/>
                <a:sym typeface="Nunito"/>
              </a:rPr>
              <a:t> o las deficiencias de los componentes tempranos del complemento, no existe un polimorfismo genético único que genere un alto riesgo de LES. </a:t>
            </a:r>
            <a:endParaRPr sz="1400" u="sng">
              <a:solidFill>
                <a:srgbClr val="232323"/>
              </a:solidFill>
              <a:highlight>
                <a:srgbClr val="FFFFFF"/>
              </a:highlight>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 + FACTORES HORMONALES</a:t>
            </a:r>
            <a:endParaRPr/>
          </a:p>
        </p:txBody>
      </p:sp>
      <p:sp>
        <p:nvSpPr>
          <p:cNvPr id="109" name="Google Shape;109;p21"/>
          <p:cNvSpPr txBox="1"/>
          <p:nvPr>
            <p:ph idx="1" type="body"/>
          </p:nvPr>
        </p:nvSpPr>
        <p:spPr>
          <a:xfrm>
            <a:off x="311700" y="1017450"/>
            <a:ext cx="8520600" cy="3707100"/>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0"/>
              </a:spcBef>
              <a:spcAft>
                <a:spcPts val="0"/>
              </a:spcAft>
              <a:buClr>
                <a:schemeClr val="dk1"/>
              </a:buClr>
              <a:buSzPts val="1100"/>
              <a:buFont typeface="Arial"/>
              <a:buNone/>
            </a:pPr>
            <a:r>
              <a:rPr b="1" lang="es-419" sz="1300">
                <a:solidFill>
                  <a:srgbClr val="232323"/>
                </a:solidFill>
                <a:highlight>
                  <a:srgbClr val="FFFFFF"/>
                </a:highlight>
              </a:rPr>
              <a:t>Factores hormonales</a:t>
            </a:r>
            <a:r>
              <a:rPr lang="es-419" sz="1300">
                <a:solidFill>
                  <a:srgbClr val="232323"/>
                </a:solidFill>
                <a:highlight>
                  <a:srgbClr val="FFFFFF"/>
                </a:highlight>
              </a:rPr>
              <a:t>:  la función inmunorreguladora del estradiol, la testosterona, la progesterona, la dehidroepiandrosterona (DHEA) y las hormonas hipofisarias, incluida la prolactina, ha apoyado la hipótesis de que modulan la incidencia y la gravedad del LES.</a:t>
            </a:r>
            <a:endParaRPr sz="1300">
              <a:solidFill>
                <a:srgbClr val="232323"/>
              </a:solidFill>
              <a:highlight>
                <a:srgbClr val="FFFFFF"/>
              </a:highlight>
            </a:endParaRPr>
          </a:p>
          <a:p>
            <a:pPr indent="0" lvl="0" marL="0" rtl="0" algn="l">
              <a:lnSpc>
                <a:spcPct val="107916"/>
              </a:lnSpc>
              <a:spcBef>
                <a:spcPts val="800"/>
              </a:spcBef>
              <a:spcAft>
                <a:spcPts val="0"/>
              </a:spcAft>
              <a:buSzPts val="1800"/>
              <a:buNone/>
            </a:pPr>
            <a:r>
              <a:rPr lang="es-419" sz="1300">
                <a:solidFill>
                  <a:srgbClr val="232323"/>
                </a:solidFill>
                <a:highlight>
                  <a:srgbClr val="FFFFFF"/>
                </a:highlight>
              </a:rPr>
              <a:t>En apoyo del papel potencial de los </a:t>
            </a:r>
            <a:r>
              <a:rPr b="1" lang="es-419" sz="1300">
                <a:solidFill>
                  <a:srgbClr val="232323"/>
                </a:solidFill>
                <a:highlight>
                  <a:srgbClr val="FFFFFF"/>
                </a:highlight>
              </a:rPr>
              <a:t>estrógenos en la predisposición al LES, </a:t>
            </a:r>
            <a:r>
              <a:rPr lang="es-419" sz="1300">
                <a:solidFill>
                  <a:srgbClr val="232323"/>
                </a:solidFill>
                <a:highlight>
                  <a:srgbClr val="FFFFFF"/>
                </a:highlight>
              </a:rPr>
              <a:t>el estudio Nurse's Health mostró que las mujeres con menarquia temprana o tratadas con regímenes que contienen estrógenos, como anticonceptivos orales o terapias de reemplazo hormonal posmenopáusicas, tienen un riesgo significativamente mayor de LES (HR de 1,5 a 2,1).</a:t>
            </a:r>
            <a:endParaRPr sz="1300">
              <a:solidFill>
                <a:srgbClr val="232323"/>
              </a:solidFill>
              <a:highlight>
                <a:srgbClr val="FFFFFF"/>
              </a:highlight>
            </a:endParaRPr>
          </a:p>
          <a:p>
            <a:pPr indent="0" lvl="0" marL="0" rtl="0" algn="l">
              <a:lnSpc>
                <a:spcPct val="107916"/>
              </a:lnSpc>
              <a:spcBef>
                <a:spcPts val="800"/>
              </a:spcBef>
              <a:spcAft>
                <a:spcPts val="0"/>
              </a:spcAft>
              <a:buSzPts val="1800"/>
              <a:buNone/>
            </a:pPr>
            <a:r>
              <a:rPr lang="es-419" sz="1300" u="sng">
                <a:solidFill>
                  <a:srgbClr val="232323"/>
                </a:solidFill>
                <a:highlight>
                  <a:srgbClr val="FFFFFF"/>
                </a:highlight>
              </a:rPr>
              <a:t>El estrógeno </a:t>
            </a:r>
            <a:endParaRPr sz="1300" u="sng">
              <a:solidFill>
                <a:srgbClr val="232323"/>
              </a:solidFill>
              <a:highlight>
                <a:srgbClr val="FFFFFF"/>
              </a:highlight>
            </a:endParaRPr>
          </a:p>
          <a:p>
            <a:pPr indent="-311150" lvl="0" marL="457200" rtl="0" algn="l">
              <a:lnSpc>
                <a:spcPct val="107916"/>
              </a:lnSpc>
              <a:spcBef>
                <a:spcPts val="800"/>
              </a:spcBef>
              <a:spcAft>
                <a:spcPts val="0"/>
              </a:spcAft>
              <a:buClr>
                <a:srgbClr val="232323"/>
              </a:buClr>
              <a:buSzPts val="1300"/>
              <a:buChar char="●"/>
            </a:pPr>
            <a:r>
              <a:rPr lang="es-419" sz="1300">
                <a:solidFill>
                  <a:srgbClr val="232323"/>
                </a:solidFill>
                <a:highlight>
                  <a:srgbClr val="FFFFFF"/>
                </a:highlight>
              </a:rPr>
              <a:t>Puede estimular la vía del </a:t>
            </a:r>
            <a:r>
              <a:rPr b="1" lang="es-419" sz="1300">
                <a:solidFill>
                  <a:srgbClr val="232323"/>
                </a:solidFill>
                <a:highlight>
                  <a:srgbClr val="FFFFFF"/>
                </a:highlight>
              </a:rPr>
              <a:t>IFN tipo 1</a:t>
            </a:r>
            <a:r>
              <a:rPr lang="es-419" sz="1300">
                <a:solidFill>
                  <a:srgbClr val="232323"/>
                </a:solidFill>
                <a:highlight>
                  <a:srgbClr val="FFFFFF"/>
                </a:highlight>
              </a:rPr>
              <a:t>, mientras que la progesterona puede inhibirla, lo que sugiere que un equilibrio entre las dos hormonas puede ser importante.</a:t>
            </a:r>
            <a:endParaRPr sz="1300">
              <a:solidFill>
                <a:srgbClr val="232323"/>
              </a:solidFill>
              <a:highlight>
                <a:srgbClr val="FFFFFF"/>
              </a:highlight>
            </a:endParaRPr>
          </a:p>
          <a:p>
            <a:pPr indent="-311150" lvl="0" marL="457200" rtl="0" algn="l">
              <a:lnSpc>
                <a:spcPct val="107916"/>
              </a:lnSpc>
              <a:spcBef>
                <a:spcPts val="0"/>
              </a:spcBef>
              <a:spcAft>
                <a:spcPts val="0"/>
              </a:spcAft>
              <a:buClr>
                <a:srgbClr val="232323"/>
              </a:buClr>
              <a:buSzPts val="1300"/>
              <a:buChar char="●"/>
            </a:pPr>
            <a:r>
              <a:rPr lang="es-419" sz="1300">
                <a:solidFill>
                  <a:srgbClr val="232323"/>
                </a:solidFill>
                <a:highlight>
                  <a:srgbClr val="FFFFFF"/>
                </a:highlight>
              </a:rPr>
              <a:t>Estimula los timocitos, las células T CD8 + y CD4 +, las células B, los macrófagos, la liberación de ciertas citocinas (p. Ej., IL-1) y la expresión de moléculas de adhesión de células endoteliales y HLA (VCAM, ICAM).</a:t>
            </a:r>
            <a:endParaRPr sz="1300">
              <a:solidFill>
                <a:srgbClr val="232323"/>
              </a:solidFill>
              <a:highlight>
                <a:srgbClr val="FFFFFF"/>
              </a:highlight>
            </a:endParaRPr>
          </a:p>
          <a:p>
            <a:pPr indent="-311150" lvl="0" marL="457200" rtl="0" algn="l">
              <a:lnSpc>
                <a:spcPct val="107916"/>
              </a:lnSpc>
              <a:spcBef>
                <a:spcPts val="0"/>
              </a:spcBef>
              <a:spcAft>
                <a:spcPts val="0"/>
              </a:spcAft>
              <a:buClr>
                <a:srgbClr val="232323"/>
              </a:buClr>
              <a:buSzPts val="1300"/>
              <a:buChar char="●"/>
            </a:pPr>
            <a:r>
              <a:rPr lang="es-419" sz="1300">
                <a:solidFill>
                  <a:srgbClr val="232323"/>
                </a:solidFill>
                <a:highlight>
                  <a:srgbClr val="FFFFFF"/>
                </a:highlight>
              </a:rPr>
              <a:t>También provoca un aumento de la expresión del protooncogén de los macrófagos y una mayor adhesión de las células mononucleares periféricas al endotelio</a:t>
            </a:r>
            <a:endParaRPr sz="1300">
              <a:solidFill>
                <a:srgbClr val="232323"/>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214425" y="732125"/>
            <a:ext cx="8520600" cy="3416400"/>
          </a:xfrm>
          <a:prstGeom prst="rect">
            <a:avLst/>
          </a:prstGeom>
          <a:noFill/>
          <a:ln>
            <a:noFill/>
          </a:ln>
        </p:spPr>
        <p:txBody>
          <a:bodyPr anchorCtr="0" anchor="t" bIns="91425" lIns="91425" spcFirstLastPara="1" rIns="91425" wrap="square" tIns="91425">
            <a:noAutofit/>
          </a:bodyPr>
          <a:lstStyle/>
          <a:p>
            <a:pPr indent="-311150" lvl="0" marL="457200" rtl="0" algn="l">
              <a:lnSpc>
                <a:spcPct val="107916"/>
              </a:lnSpc>
              <a:spcBef>
                <a:spcPts val="0"/>
              </a:spcBef>
              <a:spcAft>
                <a:spcPts val="0"/>
              </a:spcAft>
              <a:buClr>
                <a:srgbClr val="232323"/>
              </a:buClr>
              <a:buSzPts val="1300"/>
              <a:buFont typeface="Nunito"/>
              <a:buChar char="●"/>
            </a:pPr>
            <a:r>
              <a:rPr lang="es-419" sz="1300">
                <a:solidFill>
                  <a:srgbClr val="232323"/>
                </a:solidFill>
                <a:highlight>
                  <a:srgbClr val="FFFFFF"/>
                </a:highlight>
                <a:latin typeface="Nunito"/>
                <a:ea typeface="Nunito"/>
                <a:cs typeface="Nunito"/>
                <a:sym typeface="Nunito"/>
              </a:rPr>
              <a:t>Otro efecto potencialmente importante del </a:t>
            </a:r>
            <a:r>
              <a:rPr b="1" lang="es-419" sz="1300">
                <a:solidFill>
                  <a:srgbClr val="232323"/>
                </a:solidFill>
                <a:highlight>
                  <a:srgbClr val="FFFFFF"/>
                </a:highlight>
                <a:latin typeface="Nunito"/>
                <a:ea typeface="Nunito"/>
                <a:cs typeface="Nunito"/>
                <a:sym typeface="Nunito"/>
              </a:rPr>
              <a:t>estradiol</a:t>
            </a:r>
            <a:r>
              <a:rPr lang="es-419" sz="1300">
                <a:solidFill>
                  <a:srgbClr val="232323"/>
                </a:solidFill>
                <a:highlight>
                  <a:srgbClr val="FFFFFF"/>
                </a:highlight>
                <a:latin typeface="Nunito"/>
                <a:ea typeface="Nunito"/>
                <a:cs typeface="Nunito"/>
                <a:sym typeface="Nunito"/>
              </a:rPr>
              <a:t> puede ser su capacidad para </a:t>
            </a:r>
            <a:r>
              <a:rPr b="1" lang="es-419" sz="1300">
                <a:solidFill>
                  <a:srgbClr val="232323"/>
                </a:solidFill>
                <a:highlight>
                  <a:srgbClr val="FFFFFF"/>
                </a:highlight>
                <a:latin typeface="Nunito"/>
                <a:ea typeface="Nunito"/>
                <a:cs typeface="Nunito"/>
                <a:sym typeface="Nunito"/>
              </a:rPr>
              <a:t>reducir la apoptosis </a:t>
            </a:r>
            <a:r>
              <a:rPr lang="es-419" sz="1300">
                <a:solidFill>
                  <a:srgbClr val="232323"/>
                </a:solidFill>
                <a:highlight>
                  <a:srgbClr val="FFFFFF"/>
                </a:highlight>
                <a:latin typeface="Nunito"/>
                <a:ea typeface="Nunito"/>
                <a:cs typeface="Nunito"/>
                <a:sym typeface="Nunito"/>
              </a:rPr>
              <a:t>en las </a:t>
            </a:r>
            <a:r>
              <a:rPr b="1" lang="es-419" sz="1300">
                <a:solidFill>
                  <a:srgbClr val="232323"/>
                </a:solidFill>
                <a:highlight>
                  <a:srgbClr val="FFFFFF"/>
                </a:highlight>
                <a:latin typeface="Nunito"/>
                <a:ea typeface="Nunito"/>
                <a:cs typeface="Nunito"/>
                <a:sym typeface="Nunito"/>
              </a:rPr>
              <a:t>células B autorreactivas,</a:t>
            </a:r>
            <a:r>
              <a:rPr lang="es-419" sz="1300">
                <a:solidFill>
                  <a:srgbClr val="232323"/>
                </a:solidFill>
                <a:highlight>
                  <a:srgbClr val="FFFFFF"/>
                </a:highlight>
                <a:latin typeface="Nunito"/>
                <a:ea typeface="Nunito"/>
                <a:cs typeface="Nunito"/>
                <a:sym typeface="Nunito"/>
              </a:rPr>
              <a:t> promoviendo así la maduración selectiva de las células B autorreactivas con alta afinidad por el anti-ADN.</a:t>
            </a:r>
            <a:endParaRPr sz="1300">
              <a:solidFill>
                <a:srgbClr val="232323"/>
              </a:solidFill>
              <a:highlight>
                <a:srgbClr val="FFFFFF"/>
              </a:highlight>
              <a:latin typeface="Nunito"/>
              <a:ea typeface="Nunito"/>
              <a:cs typeface="Nunito"/>
              <a:sym typeface="Nunito"/>
            </a:endParaRPr>
          </a:p>
          <a:p>
            <a:pPr indent="-311150" lvl="0" marL="457200" rtl="0" algn="l">
              <a:lnSpc>
                <a:spcPct val="107916"/>
              </a:lnSpc>
              <a:spcBef>
                <a:spcPts val="800"/>
              </a:spcBef>
              <a:spcAft>
                <a:spcPts val="0"/>
              </a:spcAft>
              <a:buClr>
                <a:srgbClr val="232323"/>
              </a:buClr>
              <a:buSzPts val="1300"/>
              <a:buFont typeface="Nunito"/>
              <a:buChar char="●"/>
            </a:pPr>
            <a:r>
              <a:rPr lang="es-419" sz="1300" u="sng">
                <a:solidFill>
                  <a:srgbClr val="232323"/>
                </a:solidFill>
                <a:highlight>
                  <a:srgbClr val="FFFFFF"/>
                </a:highlight>
                <a:latin typeface="Nunito"/>
                <a:ea typeface="Nunito"/>
                <a:cs typeface="Nunito"/>
                <a:sym typeface="Nunito"/>
              </a:rPr>
              <a:t>En consecuencia, las mujeres están más predispuestas a producir autoanticuerpos que eventualmente conducen a un LES clínicamente aparente.</a:t>
            </a:r>
            <a:endParaRPr sz="1300" u="sng">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311150" lvl="0" marL="457200" rtl="0" algn="l">
              <a:lnSpc>
                <a:spcPct val="107916"/>
              </a:lnSpc>
              <a:spcBef>
                <a:spcPts val="800"/>
              </a:spcBef>
              <a:spcAft>
                <a:spcPts val="0"/>
              </a:spcAft>
              <a:buClr>
                <a:srgbClr val="232323"/>
              </a:buClr>
              <a:buSzPts val="1300"/>
              <a:buFont typeface="Nunito"/>
              <a:buChar char="●"/>
            </a:pPr>
            <a:r>
              <a:rPr lang="es-419" sz="1300">
                <a:solidFill>
                  <a:srgbClr val="232323"/>
                </a:solidFill>
                <a:highlight>
                  <a:srgbClr val="FFFFFF"/>
                </a:highlight>
                <a:latin typeface="Nunito"/>
                <a:ea typeface="Nunito"/>
                <a:cs typeface="Nunito"/>
                <a:sym typeface="Nunito"/>
              </a:rPr>
              <a:t> En comparación, los </a:t>
            </a:r>
            <a:r>
              <a:rPr b="1" lang="es-419" sz="1300">
                <a:solidFill>
                  <a:srgbClr val="232323"/>
                </a:solidFill>
                <a:highlight>
                  <a:srgbClr val="FFFFFF"/>
                </a:highlight>
                <a:latin typeface="Nunito"/>
                <a:ea typeface="Nunito"/>
                <a:cs typeface="Nunito"/>
                <a:sym typeface="Nunito"/>
              </a:rPr>
              <a:t>andrógenos</a:t>
            </a:r>
            <a:r>
              <a:rPr lang="es-419" sz="1300">
                <a:solidFill>
                  <a:srgbClr val="232323"/>
                </a:solidFill>
                <a:highlight>
                  <a:srgbClr val="FFFFFF"/>
                </a:highlight>
                <a:latin typeface="Nunito"/>
                <a:ea typeface="Nunito"/>
                <a:cs typeface="Nunito"/>
                <a:sym typeface="Nunito"/>
              </a:rPr>
              <a:t> tienden a ser </a:t>
            </a:r>
            <a:r>
              <a:rPr b="1" lang="es-419" sz="1300">
                <a:solidFill>
                  <a:srgbClr val="232323"/>
                </a:solidFill>
                <a:highlight>
                  <a:srgbClr val="FFFFFF"/>
                </a:highlight>
                <a:latin typeface="Nunito"/>
                <a:ea typeface="Nunito"/>
                <a:cs typeface="Nunito"/>
                <a:sym typeface="Nunito"/>
              </a:rPr>
              <a:t>inmunosupresores</a:t>
            </a:r>
            <a:r>
              <a:rPr lang="es-419" sz="1300">
                <a:solidFill>
                  <a:srgbClr val="232323"/>
                </a:solidFill>
                <a:highlight>
                  <a:srgbClr val="FFFFFF"/>
                </a:highlight>
                <a:latin typeface="Nunito"/>
                <a:ea typeface="Nunito"/>
                <a:cs typeface="Nunito"/>
                <a:sym typeface="Nunito"/>
              </a:rPr>
              <a:t>.</a:t>
            </a:r>
            <a:endParaRPr sz="13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311150" lvl="0" marL="457200" rtl="0" algn="l">
              <a:lnSpc>
                <a:spcPct val="107916"/>
              </a:lnSpc>
              <a:spcBef>
                <a:spcPts val="800"/>
              </a:spcBef>
              <a:spcAft>
                <a:spcPts val="0"/>
              </a:spcAft>
              <a:buClr>
                <a:srgbClr val="232323"/>
              </a:buClr>
              <a:buSzPts val="1300"/>
              <a:buFont typeface="Nunito"/>
              <a:buChar char="●"/>
            </a:pPr>
            <a:r>
              <a:rPr lang="es-419" sz="1300">
                <a:solidFill>
                  <a:srgbClr val="232323"/>
                </a:solidFill>
                <a:highlight>
                  <a:srgbClr val="FFFFFF"/>
                </a:highlight>
                <a:latin typeface="Nunito"/>
                <a:ea typeface="Nunito"/>
                <a:cs typeface="Nunito"/>
                <a:sym typeface="Nunito"/>
              </a:rPr>
              <a:t>Los niveles séricos de DHEA, un compuesto intermedio en la síntesis de testosterona, son bajos en casi todos los pacientes con LES.</a:t>
            </a:r>
            <a:endParaRPr sz="13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311150" lvl="0" marL="457200" rtl="0" algn="l">
              <a:lnSpc>
                <a:spcPct val="107916"/>
              </a:lnSpc>
              <a:spcBef>
                <a:spcPts val="800"/>
              </a:spcBef>
              <a:spcAft>
                <a:spcPts val="0"/>
              </a:spcAft>
              <a:buClr>
                <a:srgbClr val="232323"/>
              </a:buClr>
              <a:buSzPts val="1300"/>
              <a:buFont typeface="Nunito"/>
              <a:buChar char="●"/>
            </a:pPr>
            <a:r>
              <a:rPr lang="es-419" sz="1300">
                <a:solidFill>
                  <a:srgbClr val="232323"/>
                </a:solidFill>
                <a:highlight>
                  <a:srgbClr val="FFFFFF"/>
                </a:highlight>
                <a:latin typeface="Nunito"/>
                <a:ea typeface="Nunito"/>
                <a:cs typeface="Nunito"/>
                <a:sym typeface="Nunito"/>
              </a:rPr>
              <a:t>Los brotes de lupus se han asociado con </a:t>
            </a:r>
            <a:r>
              <a:rPr b="1" lang="es-419" sz="1300">
                <a:solidFill>
                  <a:srgbClr val="232323"/>
                </a:solidFill>
                <a:highlight>
                  <a:srgbClr val="FFFFFF"/>
                </a:highlight>
                <a:latin typeface="Nunito"/>
                <a:ea typeface="Nunito"/>
                <a:cs typeface="Nunito"/>
                <a:sym typeface="Nunito"/>
              </a:rPr>
              <a:t>hiperprolactinemia</a:t>
            </a:r>
            <a:r>
              <a:rPr lang="es-419" sz="1300">
                <a:solidFill>
                  <a:srgbClr val="232323"/>
                </a:solidFill>
                <a:highlight>
                  <a:srgbClr val="FFFFFF"/>
                </a:highlight>
                <a:latin typeface="Nunito"/>
                <a:ea typeface="Nunito"/>
                <a:cs typeface="Nunito"/>
                <a:sym typeface="Nunito"/>
              </a:rPr>
              <a:t>. Además, tanto la progesterona como los niveles elevados de estrógeno promueven una respuesta Th2, que favorece la producción de </a:t>
            </a:r>
            <a:r>
              <a:rPr b="1" lang="es-419" sz="1300">
                <a:solidFill>
                  <a:srgbClr val="232323"/>
                </a:solidFill>
                <a:highlight>
                  <a:srgbClr val="FFFFFF"/>
                </a:highlight>
                <a:latin typeface="Nunito"/>
                <a:ea typeface="Nunito"/>
                <a:cs typeface="Nunito"/>
                <a:sym typeface="Nunito"/>
              </a:rPr>
              <a:t>autoanticuerpos</a:t>
            </a:r>
            <a:r>
              <a:rPr lang="es-419" sz="1300">
                <a:solidFill>
                  <a:srgbClr val="232323"/>
                </a:solidFill>
                <a:highlight>
                  <a:srgbClr val="FFFFFF"/>
                </a:highlight>
                <a:latin typeface="Nunito"/>
                <a:ea typeface="Nunito"/>
                <a:cs typeface="Nunito"/>
                <a:sym typeface="Nunito"/>
              </a:rPr>
              <a:t>.</a:t>
            </a:r>
            <a:endParaRPr sz="1300">
              <a:solidFill>
                <a:srgbClr val="232323"/>
              </a:solidFill>
              <a:highlight>
                <a:srgbClr val="FFFFFF"/>
              </a:highlight>
              <a:latin typeface="Nunito"/>
              <a:ea typeface="Nunito"/>
              <a:cs typeface="Nunito"/>
              <a:sym typeface="Nunito"/>
            </a:endParaRPr>
          </a:p>
        </p:txBody>
      </p:sp>
      <p:sp>
        <p:nvSpPr>
          <p:cNvPr id="115" name="Google Shape;115;p22"/>
          <p:cNvSpPr txBox="1"/>
          <p:nvPr>
            <p:ph type="title"/>
          </p:nvPr>
        </p:nvSpPr>
        <p:spPr>
          <a:xfrm>
            <a:off x="403325" y="106025"/>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 + FACTORES HORMONALES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PATOGENIA + FACTORES </a:t>
            </a:r>
            <a:endParaRPr/>
          </a:p>
        </p:txBody>
      </p:sp>
      <p:sp>
        <p:nvSpPr>
          <p:cNvPr id="121" name="Google Shape;121;p23"/>
          <p:cNvSpPr txBox="1"/>
          <p:nvPr>
            <p:ph idx="1" type="body"/>
          </p:nvPr>
        </p:nvSpPr>
        <p:spPr>
          <a:xfrm>
            <a:off x="248875" y="1017450"/>
            <a:ext cx="8520600" cy="3791100"/>
          </a:xfrm>
          <a:prstGeom prst="rect">
            <a:avLst/>
          </a:prstGeom>
          <a:noFill/>
          <a:ln>
            <a:noFill/>
          </a:ln>
        </p:spPr>
        <p:txBody>
          <a:bodyPr anchorCtr="0" anchor="t" bIns="91425" lIns="91425" spcFirstLastPara="1" rIns="91425" wrap="square" tIns="91425">
            <a:noAutofit/>
          </a:bodyPr>
          <a:lstStyle/>
          <a:p>
            <a:pPr indent="0" lvl="0" marL="0" rtl="0" algn="l">
              <a:lnSpc>
                <a:spcPct val="107916"/>
              </a:lnSpc>
              <a:spcBef>
                <a:spcPts val="0"/>
              </a:spcBef>
              <a:spcAft>
                <a:spcPts val="0"/>
              </a:spcAft>
              <a:buSzPts val="1800"/>
              <a:buNone/>
            </a:pPr>
            <a:r>
              <a:rPr b="1" lang="es-419" sz="1400">
                <a:solidFill>
                  <a:srgbClr val="232323"/>
                </a:solidFill>
                <a:highlight>
                  <a:srgbClr val="FFFFFF"/>
                </a:highlight>
                <a:latin typeface="Nunito"/>
                <a:ea typeface="Nunito"/>
                <a:cs typeface="Nunito"/>
                <a:sym typeface="Nunito"/>
              </a:rPr>
              <a:t>Anormalidades inmunitarias</a:t>
            </a:r>
            <a:r>
              <a:rPr lang="es-419" sz="1400">
                <a:solidFill>
                  <a:srgbClr val="232323"/>
                </a:solidFill>
                <a:highlight>
                  <a:srgbClr val="FFFFFF"/>
                </a:highlight>
                <a:latin typeface="Nunito"/>
                <a:ea typeface="Nunito"/>
                <a:cs typeface="Nunito"/>
                <a:sym typeface="Nunito"/>
              </a:rPr>
              <a:t>: </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400">
                <a:solidFill>
                  <a:srgbClr val="232323"/>
                </a:solidFill>
                <a:highlight>
                  <a:srgbClr val="FFFFFF"/>
                </a:highlight>
                <a:latin typeface="Nunito"/>
                <a:ea typeface="Nunito"/>
                <a:cs typeface="Nunito"/>
                <a:sym typeface="Nunito"/>
              </a:rPr>
              <a:t>Los anticuerpos anti-dsDNA se detectan en el suero de todos los individuos sanos. Sin embargo, los ensayos clínicos para anti-dsDNA se calibran de tal manera que unidades arbitrarias diferencian los niveles en individuos sanos de pacientes con LES "definido". Por tanto, los pacientes con LES tienden a producir más anticuerpos anti-dsDNA que los individuos sanos y la mayoría de las personas con otras enfermedades.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400">
                <a:solidFill>
                  <a:srgbClr val="232323"/>
                </a:solidFill>
                <a:highlight>
                  <a:srgbClr val="FFFFFF"/>
                </a:highlight>
                <a:latin typeface="Nunito"/>
                <a:ea typeface="Nunito"/>
                <a:cs typeface="Nunito"/>
                <a:sym typeface="Nunito"/>
              </a:rPr>
              <a:t>La fagocitosis y la eliminación de los complejos inmunes, de las células apoptóticas y del material derivado de las células necróticas son defectuosas en el LES, lo que permite la persistencia del antígeno y de los complejos inmunitarios.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t/>
            </a:r>
            <a:endParaRPr sz="12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t/>
            </a:r>
            <a:endParaRPr sz="12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t/>
            </a:r>
            <a:endParaRPr sz="1200">
              <a:solidFill>
                <a:srgbClr val="232323"/>
              </a:solidFill>
              <a:highlight>
                <a:srgbClr val="FFFFFF"/>
              </a:highlight>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391350"/>
            <a:ext cx="8520600" cy="62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ct val="111111"/>
              <a:buFont typeface="Arial"/>
              <a:buNone/>
            </a:pPr>
            <a:r>
              <a:rPr lang="es-419"/>
              <a:t>PATOGENIA + FACTORES </a:t>
            </a:r>
            <a:endParaRPr/>
          </a:p>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7916"/>
              </a:lnSpc>
              <a:spcBef>
                <a:spcPts val="800"/>
              </a:spcBef>
              <a:spcAft>
                <a:spcPts val="0"/>
              </a:spcAft>
              <a:buClr>
                <a:srgbClr val="000000"/>
              </a:buClr>
              <a:buSzPts val="1800"/>
              <a:buFont typeface="Arial"/>
              <a:buNone/>
            </a:pPr>
            <a:r>
              <a:rPr b="1" lang="es-419" sz="1400">
                <a:solidFill>
                  <a:srgbClr val="232323"/>
                </a:solidFill>
                <a:highlight>
                  <a:schemeClr val="lt1"/>
                </a:highlight>
                <a:latin typeface="Nunito"/>
                <a:ea typeface="Nunito"/>
                <a:cs typeface="Nunito"/>
                <a:sym typeface="Nunito"/>
              </a:rPr>
              <a:t>Factores ambientales: </a:t>
            </a:r>
            <a:endParaRPr b="1" sz="1400">
              <a:solidFill>
                <a:srgbClr val="232323"/>
              </a:solidFill>
              <a:highlight>
                <a:schemeClr val="lt1"/>
              </a:highlight>
              <a:latin typeface="Nunito"/>
              <a:ea typeface="Nunito"/>
              <a:cs typeface="Nunito"/>
              <a:sym typeface="Nunito"/>
            </a:endParaRPr>
          </a:p>
          <a:p>
            <a:pPr indent="0" lvl="0" marL="0" rtl="0" algn="l">
              <a:lnSpc>
                <a:spcPct val="107916"/>
              </a:lnSpc>
              <a:spcBef>
                <a:spcPts val="800"/>
              </a:spcBef>
              <a:spcAft>
                <a:spcPts val="0"/>
              </a:spcAft>
              <a:buClr>
                <a:srgbClr val="000000"/>
              </a:buClr>
              <a:buSzPts val="1800"/>
              <a:buFont typeface="Arial"/>
              <a:buNone/>
            </a:pPr>
            <a:r>
              <a:rPr lang="es-419" sz="1400">
                <a:solidFill>
                  <a:srgbClr val="232323"/>
                </a:solidFill>
                <a:highlight>
                  <a:schemeClr val="lt1"/>
                </a:highlight>
                <a:latin typeface="Nunito"/>
                <a:ea typeface="Nunito"/>
                <a:cs typeface="Nunito"/>
                <a:sym typeface="Nunito"/>
              </a:rPr>
              <a:t>El sistema inmunológico innato también puede activarse por </a:t>
            </a:r>
            <a:r>
              <a:rPr b="1" lang="es-419" sz="1400">
                <a:solidFill>
                  <a:srgbClr val="232323"/>
                </a:solidFill>
                <a:highlight>
                  <a:schemeClr val="lt1"/>
                </a:highlight>
                <a:latin typeface="Nunito"/>
                <a:ea typeface="Nunito"/>
                <a:cs typeface="Nunito"/>
                <a:sym typeface="Nunito"/>
              </a:rPr>
              <a:t>infecciones</a:t>
            </a:r>
            <a:r>
              <a:rPr lang="es-419" sz="1400">
                <a:solidFill>
                  <a:srgbClr val="232323"/>
                </a:solidFill>
                <a:highlight>
                  <a:schemeClr val="lt1"/>
                </a:highlight>
                <a:latin typeface="Nunito"/>
                <a:ea typeface="Nunito"/>
                <a:cs typeface="Nunito"/>
                <a:sym typeface="Nunito"/>
              </a:rPr>
              <a:t> (virus bacterianos o que contienen ARN o ADN). Por tanto, tanto la inmunidad innata como la adaptativa conspiran para producir autoanticuerpos continuamente; esa respuesta está regulada por unos años; si la regulación falla, se produce una enfermedad clínica.</a:t>
            </a:r>
            <a:endParaRPr sz="1400">
              <a:solidFill>
                <a:srgbClr val="232323"/>
              </a:solidFill>
              <a:highlight>
                <a:schemeClr val="lt1"/>
              </a:highlight>
              <a:latin typeface="Nunito"/>
              <a:ea typeface="Nunito"/>
              <a:cs typeface="Nunito"/>
              <a:sym typeface="Nunito"/>
            </a:endParaRPr>
          </a:p>
          <a:p>
            <a:pPr indent="0" lvl="0" marL="0" rtl="0" algn="l">
              <a:lnSpc>
                <a:spcPct val="107916"/>
              </a:lnSpc>
              <a:spcBef>
                <a:spcPts val="800"/>
              </a:spcBef>
              <a:spcAft>
                <a:spcPts val="0"/>
              </a:spcAft>
              <a:buClr>
                <a:srgbClr val="000000"/>
              </a:buClr>
              <a:buSzPts val="1800"/>
              <a:buFont typeface="Arial"/>
              <a:buNone/>
            </a:pPr>
            <a:r>
              <a:rPr lang="es-419" sz="1400">
                <a:solidFill>
                  <a:srgbClr val="232323"/>
                </a:solidFill>
                <a:highlight>
                  <a:schemeClr val="lt1"/>
                </a:highlight>
                <a:latin typeface="Nunito"/>
                <a:ea typeface="Nunito"/>
                <a:cs typeface="Nunito"/>
                <a:sym typeface="Nunito"/>
              </a:rPr>
              <a:t>La luz </a:t>
            </a:r>
            <a:r>
              <a:rPr b="1" lang="es-419" sz="1400">
                <a:solidFill>
                  <a:srgbClr val="232323"/>
                </a:solidFill>
                <a:highlight>
                  <a:schemeClr val="lt1"/>
                </a:highlight>
                <a:latin typeface="Nunito"/>
                <a:ea typeface="Nunito"/>
                <a:cs typeface="Nunito"/>
                <a:sym typeface="Nunito"/>
              </a:rPr>
              <a:t>ultravioleta</a:t>
            </a:r>
            <a:r>
              <a:rPr lang="es-419" sz="1400">
                <a:solidFill>
                  <a:srgbClr val="232323"/>
                </a:solidFill>
                <a:highlight>
                  <a:schemeClr val="lt1"/>
                </a:highlight>
                <a:latin typeface="Nunito"/>
                <a:ea typeface="Nunito"/>
                <a:cs typeface="Nunito"/>
                <a:sym typeface="Nunito"/>
              </a:rPr>
              <a:t> (UV) puede estimular a los queratinocitos para que expresen más </a:t>
            </a:r>
            <a:r>
              <a:rPr b="1" lang="es-419" sz="1400">
                <a:solidFill>
                  <a:srgbClr val="232323"/>
                </a:solidFill>
                <a:highlight>
                  <a:schemeClr val="lt1"/>
                </a:highlight>
                <a:latin typeface="Nunito"/>
                <a:ea typeface="Nunito"/>
                <a:cs typeface="Nunito"/>
                <a:sym typeface="Nunito"/>
              </a:rPr>
              <a:t>snRNP</a:t>
            </a:r>
            <a:r>
              <a:rPr lang="es-419" sz="1400">
                <a:solidFill>
                  <a:srgbClr val="232323"/>
                </a:solidFill>
                <a:highlight>
                  <a:schemeClr val="lt1"/>
                </a:highlight>
                <a:latin typeface="Nunito"/>
                <a:ea typeface="Nunito"/>
                <a:cs typeface="Nunito"/>
                <a:sym typeface="Nunito"/>
              </a:rPr>
              <a:t> en su superficie celular y secreten más IL-1, IL-3, IL-6, factor estimulante de colonias de granulocitos y macrófagos (GM-CSF) y TNF- alfa, estimulando así a las </a:t>
            </a:r>
            <a:r>
              <a:rPr b="1" lang="es-419" sz="1400">
                <a:solidFill>
                  <a:srgbClr val="232323"/>
                </a:solidFill>
                <a:highlight>
                  <a:schemeClr val="lt1"/>
                </a:highlight>
                <a:latin typeface="Nunito"/>
                <a:ea typeface="Nunito"/>
                <a:cs typeface="Nunito"/>
                <a:sym typeface="Nunito"/>
              </a:rPr>
              <a:t>células B </a:t>
            </a:r>
            <a:r>
              <a:rPr lang="es-419" sz="1400">
                <a:solidFill>
                  <a:srgbClr val="232323"/>
                </a:solidFill>
                <a:highlight>
                  <a:schemeClr val="lt1"/>
                </a:highlight>
                <a:latin typeface="Nunito"/>
                <a:ea typeface="Nunito"/>
                <a:cs typeface="Nunito"/>
                <a:sym typeface="Nunito"/>
              </a:rPr>
              <a:t>para que produzcan más anticuerpos</a:t>
            </a:r>
            <a:endParaRPr sz="1400">
              <a:solidFill>
                <a:srgbClr val="232323"/>
              </a:solidFill>
              <a:highlight>
                <a:schemeClr val="lt1"/>
              </a:highlight>
              <a:latin typeface="Nunito"/>
              <a:ea typeface="Nunito"/>
              <a:cs typeface="Nunito"/>
              <a:sym typeface="Nunito"/>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s-419" u="sng">
                <a:latin typeface="Kumbh Sans"/>
                <a:ea typeface="Kumbh Sans"/>
                <a:cs typeface="Kumbh Sans"/>
                <a:sym typeface="Kumbh Sans"/>
              </a:rPr>
              <a:t>CLÍNICA</a:t>
            </a:r>
            <a:endParaRPr u="sng">
              <a:latin typeface="Kumbh Sans"/>
              <a:ea typeface="Kumbh Sans"/>
              <a:cs typeface="Kumbh Sans"/>
              <a:sym typeface="Kumbh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SÍNTOMAS CONSTITUCIONALES</a:t>
            </a:r>
            <a:endParaRPr/>
          </a:p>
        </p:txBody>
      </p:sp>
      <p:sp>
        <p:nvSpPr>
          <p:cNvPr id="138" name="Google Shape;138;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311150" lvl="0" marL="457200" rtl="0" algn="l">
              <a:lnSpc>
                <a:spcPct val="107916"/>
              </a:lnSpc>
              <a:spcBef>
                <a:spcPts val="0"/>
              </a:spcBef>
              <a:spcAft>
                <a:spcPts val="0"/>
              </a:spcAft>
              <a:buClr>
                <a:srgbClr val="232323"/>
              </a:buClr>
              <a:buSzPts val="1300"/>
              <a:buFont typeface="Nunito"/>
              <a:buChar char="●"/>
            </a:pPr>
            <a:r>
              <a:rPr b="1" lang="es-419" sz="1300">
                <a:solidFill>
                  <a:srgbClr val="232323"/>
                </a:solidFill>
                <a:highlight>
                  <a:srgbClr val="FFFFFF"/>
                </a:highlight>
                <a:latin typeface="Nunito"/>
                <a:ea typeface="Nunito"/>
                <a:cs typeface="Nunito"/>
                <a:sym typeface="Nunito"/>
              </a:rPr>
              <a:t>Fatiga</a:t>
            </a:r>
            <a:r>
              <a:rPr lang="es-419" sz="1300">
                <a:solidFill>
                  <a:srgbClr val="232323"/>
                </a:solidFill>
                <a:highlight>
                  <a:srgbClr val="FFFFFF"/>
                </a:highlight>
                <a:latin typeface="Nunito"/>
                <a:ea typeface="Nunito"/>
                <a:cs typeface="Nunito"/>
                <a:sym typeface="Nunito"/>
              </a:rPr>
              <a:t> : es la queja más común, ocurre en el 80 al 100 % de los pacientes y, a veces, puede ser incapacitante. Su presencia no está claramente correlacionada con otras medidas de actividad de la enfermedad y se asocia más frecuentemente con depresión, alteraciones del sueño y fibromialgia concomitante.</a:t>
            </a:r>
            <a:endParaRPr sz="13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t/>
            </a:r>
            <a:endParaRPr sz="1300">
              <a:solidFill>
                <a:srgbClr val="232323"/>
              </a:solidFill>
              <a:highlight>
                <a:srgbClr val="FFFFFF"/>
              </a:highlight>
              <a:latin typeface="Nunito"/>
              <a:ea typeface="Nunito"/>
              <a:cs typeface="Nunito"/>
              <a:sym typeface="Nunito"/>
            </a:endParaRPr>
          </a:p>
          <a:p>
            <a:pPr indent="-311150" lvl="0" marL="457200" rtl="0" algn="l">
              <a:lnSpc>
                <a:spcPct val="107916"/>
              </a:lnSpc>
              <a:spcBef>
                <a:spcPts val="800"/>
              </a:spcBef>
              <a:spcAft>
                <a:spcPts val="0"/>
              </a:spcAft>
              <a:buClr>
                <a:srgbClr val="232323"/>
              </a:buClr>
              <a:buSzPts val="1300"/>
              <a:buFont typeface="Nunito"/>
              <a:buChar char="●"/>
            </a:pPr>
            <a:r>
              <a:rPr b="1" lang="es-419" sz="1300">
                <a:solidFill>
                  <a:srgbClr val="232323"/>
                </a:solidFill>
                <a:highlight>
                  <a:srgbClr val="FFFFFF"/>
                </a:highlight>
                <a:latin typeface="Nunito"/>
                <a:ea typeface="Nunito"/>
                <a:cs typeface="Nunito"/>
                <a:sym typeface="Nunito"/>
              </a:rPr>
              <a:t>Fiebre</a:t>
            </a:r>
            <a:r>
              <a:rPr lang="es-419" sz="1300">
                <a:solidFill>
                  <a:srgbClr val="232323"/>
                </a:solidFill>
                <a:highlight>
                  <a:srgbClr val="FFFFFF"/>
                </a:highlight>
                <a:latin typeface="Nunito"/>
                <a:ea typeface="Nunito"/>
                <a:cs typeface="Nunito"/>
                <a:sym typeface="Nunito"/>
              </a:rPr>
              <a:t> : puede ser una manifestación de una enfermedad activa y se observa en más del 50% de los pacientes con LES. En la práctica clínica, puede resultar difícil distinguir la fiebre asociada con un brote de lupus de otras causas de fiebre, como una infección, una reacción farmacológica o una neoplasia maligna. Clínicamente, no existen características específicas que distingan definitivamente la fiebre por LES de la fiebre por otras causas.</a:t>
            </a:r>
            <a:endParaRPr sz="13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rPr lang="es-419" sz="1300">
                <a:solidFill>
                  <a:srgbClr val="232323"/>
                </a:solidFill>
                <a:highlight>
                  <a:srgbClr val="FFFFFF"/>
                </a:highlight>
                <a:latin typeface="Nunito"/>
                <a:ea typeface="Nunito"/>
                <a:cs typeface="Nunito"/>
                <a:sym typeface="Nunito"/>
              </a:rPr>
              <a:t>Fiebre que no responde a los AINES, acetaminofén, y / o dosis bajas a moderadas de glucocorticoides deben levantar la sospecha de una etiología infecciosa o relacionada con el fármaco, ya que la mayoría de las fiebres debidas al LES activo remitirán con el uso de estos agentes.</a:t>
            </a:r>
            <a:endParaRPr sz="13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800"/>
              </a:spcAft>
              <a:buSzPts val="1800"/>
              <a:buNone/>
            </a:pPr>
            <a:r>
              <a:t/>
            </a:r>
            <a:endParaRPr sz="1200">
              <a:solidFill>
                <a:srgbClr val="232323"/>
              </a:solidFill>
              <a:highlight>
                <a:srgbClr val="FFFFFF"/>
              </a:highlight>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idx="1" type="body"/>
          </p:nvPr>
        </p:nvSpPr>
        <p:spPr>
          <a:xfrm>
            <a:off x="248875" y="1127225"/>
            <a:ext cx="85206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07916"/>
              </a:lnSpc>
              <a:spcBef>
                <a:spcPts val="0"/>
              </a:spcBef>
              <a:spcAft>
                <a:spcPts val="0"/>
              </a:spcAft>
              <a:buClr>
                <a:srgbClr val="232323"/>
              </a:buClr>
              <a:buSzPts val="1400"/>
              <a:buFont typeface="Helvetica Neue"/>
              <a:buChar char="●"/>
            </a:pPr>
            <a:r>
              <a:rPr b="1" lang="es-419" sz="1400">
                <a:solidFill>
                  <a:srgbClr val="232323"/>
                </a:solidFill>
                <a:highlight>
                  <a:srgbClr val="FFFFFF"/>
                </a:highlight>
                <a:latin typeface="Nunito"/>
                <a:ea typeface="Nunito"/>
                <a:cs typeface="Nunito"/>
                <a:sym typeface="Nunito"/>
              </a:rPr>
              <a:t>Mialgia</a:t>
            </a:r>
            <a:r>
              <a:rPr lang="es-419" sz="1400">
                <a:solidFill>
                  <a:srgbClr val="232323"/>
                </a:solidFill>
                <a:highlight>
                  <a:srgbClr val="FFFFFF"/>
                </a:highlight>
                <a:latin typeface="Nunito"/>
                <a:ea typeface="Nunito"/>
                <a:cs typeface="Nunito"/>
                <a:sym typeface="Nunito"/>
              </a:rPr>
              <a:t> : es común entre los pacientes con LES, mientras que la debilidad muscular severa o la miositis es relativamente poco común.</a:t>
            </a:r>
            <a:endParaRPr sz="14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ts val="1800"/>
              <a:buNone/>
            </a:pPr>
            <a:r>
              <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800"/>
              </a:spcBef>
              <a:spcAft>
                <a:spcPts val="0"/>
              </a:spcAft>
              <a:buClr>
                <a:srgbClr val="232323"/>
              </a:buClr>
              <a:buSzPts val="1400"/>
              <a:buFont typeface="Helvetica Neue"/>
              <a:buChar char="●"/>
            </a:pPr>
            <a:r>
              <a:rPr b="1" lang="es-419" sz="1400">
                <a:solidFill>
                  <a:srgbClr val="232323"/>
                </a:solidFill>
                <a:highlight>
                  <a:srgbClr val="FFFFFF"/>
                </a:highlight>
                <a:latin typeface="Nunito"/>
                <a:ea typeface="Nunito"/>
                <a:cs typeface="Nunito"/>
                <a:sym typeface="Nunito"/>
              </a:rPr>
              <a:t>Cambio de</a:t>
            </a:r>
            <a:r>
              <a:rPr lang="es-419" sz="1400">
                <a:solidFill>
                  <a:srgbClr val="232323"/>
                </a:solidFill>
                <a:highlight>
                  <a:srgbClr val="FFFFFF"/>
                </a:highlight>
                <a:latin typeface="Nunito"/>
                <a:ea typeface="Nunito"/>
                <a:cs typeface="Nunito"/>
                <a:sym typeface="Nunito"/>
              </a:rPr>
              <a:t> </a:t>
            </a:r>
            <a:r>
              <a:rPr b="1" lang="es-419" sz="1400">
                <a:solidFill>
                  <a:srgbClr val="232323"/>
                </a:solidFill>
                <a:highlight>
                  <a:srgbClr val="FFFFFF"/>
                </a:highlight>
                <a:latin typeface="Nunito"/>
                <a:ea typeface="Nunito"/>
                <a:cs typeface="Nunito"/>
                <a:sym typeface="Nunito"/>
              </a:rPr>
              <a:t>peso</a:t>
            </a:r>
            <a:r>
              <a:rPr lang="es-419" sz="1400">
                <a:solidFill>
                  <a:srgbClr val="232323"/>
                </a:solidFill>
                <a:highlight>
                  <a:srgbClr val="FFFFFF"/>
                </a:highlight>
                <a:latin typeface="Nunito"/>
                <a:ea typeface="Nunito"/>
                <a:cs typeface="Nunito"/>
                <a:sym typeface="Nunito"/>
              </a:rPr>
              <a:t>: pueden estar relacionados con la enfermedad o con su tratamiento. La pérdida de peso a menudo ocurre antes del diagnóstico de LES. La pérdida de peso involuntaria puede deberse a disminución del apetito, efectos secundarios de los medicamentos y enfermedades gastrointestinales (p. Ej., Reflujo gastroesofágico, dolor abdominal, úlcera péptica o pancreatitis).</a:t>
            </a:r>
            <a:endParaRPr sz="1400">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800"/>
              </a:spcAft>
              <a:buSzPts val="1800"/>
              <a:buNone/>
            </a:pPr>
            <a:r>
              <a:rPr lang="es-419" sz="1400">
                <a:solidFill>
                  <a:srgbClr val="232323"/>
                </a:solidFill>
                <a:highlight>
                  <a:srgbClr val="FFFFFF"/>
                </a:highlight>
                <a:latin typeface="Nunito"/>
                <a:ea typeface="Nunito"/>
                <a:cs typeface="Nunito"/>
                <a:sym typeface="Nunito"/>
              </a:rPr>
              <a:t>El aumento de peso en el LES puede deberse a la retención de agua y sal asociada con hipoalbuminemia (p. Ej., Debido al síndrome nefrótico o enteropatía perdedora de proteínas) o, alternativamente, al aumento del apetito asociado con el uso de glucocorticoides</a:t>
            </a:r>
            <a:endParaRPr sz="1400">
              <a:latin typeface="Nunito"/>
              <a:ea typeface="Nunito"/>
              <a:cs typeface="Nunito"/>
              <a:sym typeface="Nunito"/>
            </a:endParaRPr>
          </a:p>
        </p:txBody>
      </p:sp>
      <p:sp>
        <p:nvSpPr>
          <p:cNvPr id="144" name="Google Shape;144;p27"/>
          <p:cNvSpPr txBox="1"/>
          <p:nvPr>
            <p:ph type="title"/>
          </p:nvPr>
        </p:nvSpPr>
        <p:spPr>
          <a:xfrm>
            <a:off x="248875" y="297125"/>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SÍNTOMAS CONSTITUCIONALES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Clr>
                <a:schemeClr val="dk1"/>
              </a:buClr>
              <a:buSzPts val="1100"/>
              <a:buFont typeface="Arial"/>
              <a:buNone/>
            </a:pPr>
            <a:r>
              <a:rPr b="1" lang="es-419" sz="1400">
                <a:solidFill>
                  <a:srgbClr val="232323"/>
                </a:solidFill>
                <a:highlight>
                  <a:srgbClr val="FFFFFF"/>
                </a:highlight>
                <a:latin typeface="Nunito"/>
                <a:ea typeface="Nunito"/>
                <a:cs typeface="Nunito"/>
                <a:sym typeface="Nunito"/>
              </a:rPr>
              <a:t>Artritis y artralgias:</a:t>
            </a:r>
            <a:r>
              <a:rPr lang="es-419" sz="1400">
                <a:solidFill>
                  <a:srgbClr val="232323"/>
                </a:solidFill>
                <a:highlight>
                  <a:srgbClr val="FFFFFF"/>
                </a:highlight>
                <a:latin typeface="Nunito"/>
                <a:ea typeface="Nunito"/>
                <a:cs typeface="Nunito"/>
                <a:sym typeface="Nunito"/>
              </a:rPr>
              <a:t> la  artritis y las artralgias ocurren en más del 90% de los pacientes con LES y suelen ser una de las primeras manifestaciones.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400">
                <a:solidFill>
                  <a:srgbClr val="232323"/>
                </a:solidFill>
                <a:highlight>
                  <a:srgbClr val="FFFFFF"/>
                </a:highlight>
                <a:latin typeface="Nunito"/>
                <a:ea typeface="Nunito"/>
                <a:cs typeface="Nunito"/>
                <a:sym typeface="Nunito"/>
              </a:rPr>
              <a:t>La artritis, con inflamación demostrable, ocurre en 65 a 70% de los pacientes y tiende a ser migratoria, poliarticular y simétrica.  La artritis es moderadamente dolorosa, generalmente no causa erosión y rara vez se deforma. Sin embargo, ocasionalmente los pacientes con LES también desarrollan una artritis erosiva deformante, que es similar a la de la artritis reumatoide</a:t>
            </a:r>
            <a:endParaRPr sz="1400">
              <a:latin typeface="Nunito"/>
              <a:ea typeface="Nunito"/>
              <a:cs typeface="Nunito"/>
              <a:sym typeface="Nunito"/>
            </a:endParaRPr>
          </a:p>
        </p:txBody>
      </p:sp>
      <p:pic>
        <p:nvPicPr>
          <p:cNvPr id="150" name="Google Shape;150;p28"/>
          <p:cNvPicPr preferRelativeResize="0"/>
          <p:nvPr/>
        </p:nvPicPr>
        <p:blipFill rotWithShape="1">
          <a:blip r:embed="rId3">
            <a:alphaModFix/>
          </a:blip>
          <a:srcRect b="0" l="0" r="0" t="0"/>
          <a:stretch/>
        </p:blipFill>
        <p:spPr>
          <a:xfrm>
            <a:off x="3007929" y="1598925"/>
            <a:ext cx="3582850" cy="3372100"/>
          </a:xfrm>
          <a:prstGeom prst="rect">
            <a:avLst/>
          </a:prstGeom>
          <a:noFill/>
          <a:ln>
            <a:noFill/>
          </a:ln>
        </p:spPr>
      </p:pic>
      <p:sp>
        <p:nvSpPr>
          <p:cNvPr id="151" name="Google Shape;151;p2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AFECTACION OSTEOMUSCULAR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1000"/>
                                        <p:tgtEl>
                                          <p:spTgt spid="15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MUCOCUTÁNEA</a:t>
            </a:r>
            <a:endParaRPr/>
          </a:p>
        </p:txBody>
      </p:sp>
      <p:sp>
        <p:nvSpPr>
          <p:cNvPr id="157" name="Google Shape;157;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b="1" lang="es-419" sz="1400">
                <a:solidFill>
                  <a:srgbClr val="232323"/>
                </a:solidFill>
                <a:highlight>
                  <a:srgbClr val="FFFFFF"/>
                </a:highlight>
                <a:latin typeface="Nunito"/>
                <a:ea typeface="Nunito"/>
                <a:cs typeface="Nunito"/>
                <a:sym typeface="Nunito"/>
              </a:rPr>
              <a:t>Compromiso mucocutáneo</a:t>
            </a:r>
            <a:r>
              <a:rPr lang="es-419" sz="1400">
                <a:solidFill>
                  <a:srgbClr val="232323"/>
                </a:solidFill>
                <a:highlight>
                  <a:srgbClr val="FFFFFF"/>
                </a:highlight>
                <a:latin typeface="Nunito"/>
                <a:ea typeface="Nunito"/>
                <a:cs typeface="Nunito"/>
                <a:sym typeface="Nunito"/>
              </a:rPr>
              <a:t>: </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400">
                <a:solidFill>
                  <a:srgbClr val="232323"/>
                </a:solidFill>
                <a:highlight>
                  <a:srgbClr val="FFFFFF"/>
                </a:highlight>
                <a:latin typeface="Nunito"/>
                <a:ea typeface="Nunito"/>
                <a:cs typeface="Nunito"/>
                <a:sym typeface="Nunito"/>
              </a:rPr>
              <a:t>La  mayoría de los pacientes desarrollan lesiones en la piel y las membranas mucosas en algún momento durante el curso de su enfermedad. Existe una enorme variabilidad en el tipo de afectación cutánea en el LES. La lesión más común es una erupción facial que caracteriza el lupus eritema cutáneo agudo (también conocido como "la erupción en mariposa") que se presenta como un eritema con distribución malar sobre las mejillas y la nariz (pero sin afectar los pliegues nasolabiales) que aparece después de la exposición al sol.</a:t>
            </a:r>
            <a:endParaRPr sz="1400">
              <a:latin typeface="Nunito"/>
              <a:ea typeface="Nunito"/>
              <a:cs typeface="Nunito"/>
              <a:sym typeface="Nunito"/>
            </a:endParaRPr>
          </a:p>
        </p:txBody>
      </p:sp>
      <p:pic>
        <p:nvPicPr>
          <p:cNvPr id="158" name="Google Shape;158;p29"/>
          <p:cNvPicPr preferRelativeResize="0"/>
          <p:nvPr/>
        </p:nvPicPr>
        <p:blipFill rotWithShape="1">
          <a:blip r:embed="rId3">
            <a:alphaModFix/>
          </a:blip>
          <a:srcRect b="0" l="0" r="0" t="0"/>
          <a:stretch/>
        </p:blipFill>
        <p:spPr>
          <a:xfrm>
            <a:off x="5237328" y="2431973"/>
            <a:ext cx="3279250" cy="2456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0"/>
          <p:cNvSpPr txBox="1"/>
          <p:nvPr>
            <p:ph idx="1" type="body"/>
          </p:nvPr>
        </p:nvSpPr>
        <p:spPr>
          <a:xfrm>
            <a:off x="311700" y="514725"/>
            <a:ext cx="8520600" cy="4054200"/>
          </a:xfrm>
          <a:prstGeom prst="rect">
            <a:avLst/>
          </a:prstGeom>
          <a:noFill/>
          <a:ln>
            <a:noFill/>
          </a:ln>
        </p:spPr>
        <p:txBody>
          <a:bodyPr anchorCtr="0" anchor="t" bIns="91425" lIns="91425" spcFirstLastPara="1" rIns="91425" wrap="square" tIns="91425">
            <a:normAutofit/>
          </a:bodyPr>
          <a:lstStyle/>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Algunos pacientes pueden desarrollar </a:t>
            </a:r>
            <a:r>
              <a:rPr b="1" lang="es-419" sz="1400">
                <a:solidFill>
                  <a:srgbClr val="232323"/>
                </a:solidFill>
                <a:highlight>
                  <a:srgbClr val="FFFFFF"/>
                </a:highlight>
                <a:latin typeface="Nunito"/>
                <a:ea typeface="Nunito"/>
                <a:cs typeface="Nunito"/>
                <a:sym typeface="Nunito"/>
              </a:rPr>
              <a:t>lesiones discoides</a:t>
            </a:r>
            <a:r>
              <a:rPr lang="es-419" sz="1400">
                <a:solidFill>
                  <a:srgbClr val="232323"/>
                </a:solidFill>
                <a:highlight>
                  <a:srgbClr val="FFFFFF"/>
                </a:highlight>
                <a:latin typeface="Nunito"/>
                <a:ea typeface="Nunito"/>
                <a:cs typeface="Nunito"/>
                <a:sym typeface="Nunito"/>
              </a:rPr>
              <a:t>, más inflamatorias y con tendencia a cicatrizar.</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La </a:t>
            </a:r>
            <a:r>
              <a:rPr b="1" lang="es-419" sz="1400">
                <a:solidFill>
                  <a:srgbClr val="232323"/>
                </a:solidFill>
                <a:highlight>
                  <a:srgbClr val="FFFFFF"/>
                </a:highlight>
                <a:latin typeface="Nunito"/>
                <a:ea typeface="Nunito"/>
                <a:cs typeface="Nunito"/>
                <a:sym typeface="Nunito"/>
              </a:rPr>
              <a:t>fotosensibilidad</a:t>
            </a:r>
            <a:r>
              <a:rPr lang="es-419" sz="1400">
                <a:solidFill>
                  <a:srgbClr val="232323"/>
                </a:solidFill>
                <a:highlight>
                  <a:srgbClr val="FFFFFF"/>
                </a:highlight>
                <a:latin typeface="Nunito"/>
                <a:ea typeface="Nunito"/>
                <a:cs typeface="Nunito"/>
                <a:sym typeface="Nunito"/>
              </a:rPr>
              <a:t> también es un tema común para las lesiones cutáneas asociadas con el LES. </a:t>
            </a:r>
            <a:endParaRPr sz="1400">
              <a:solidFill>
                <a:srgbClr val="232323"/>
              </a:solidFill>
              <a:highlight>
                <a:srgbClr val="FFFFFF"/>
              </a:highlight>
              <a:latin typeface="Nunito"/>
              <a:ea typeface="Nunito"/>
              <a:cs typeface="Nunito"/>
              <a:sym typeface="Nunito"/>
            </a:endParaRPr>
          </a:p>
          <a:p>
            <a:pPr indent="-317500" lvl="0" marL="457200" rtl="0" algn="l">
              <a:lnSpc>
                <a:spcPct val="107916"/>
              </a:lnSpc>
              <a:spcBef>
                <a:spcPts val="0"/>
              </a:spcBef>
              <a:spcAft>
                <a:spcPts val="0"/>
              </a:spcAft>
              <a:buClr>
                <a:srgbClr val="232323"/>
              </a:buClr>
              <a:buSzPts val="1400"/>
              <a:buFont typeface="Nunito"/>
              <a:buChar char="●"/>
            </a:pPr>
            <a:r>
              <a:rPr lang="es-419" sz="1400">
                <a:solidFill>
                  <a:srgbClr val="232323"/>
                </a:solidFill>
                <a:highlight>
                  <a:srgbClr val="FFFFFF"/>
                </a:highlight>
                <a:latin typeface="Nunito"/>
                <a:ea typeface="Nunito"/>
                <a:cs typeface="Nunito"/>
                <a:sym typeface="Nunito"/>
              </a:rPr>
              <a:t>Muchos pacientes desarrollan </a:t>
            </a:r>
            <a:r>
              <a:rPr b="1" lang="es-419" sz="1400">
                <a:solidFill>
                  <a:srgbClr val="232323"/>
                </a:solidFill>
                <a:highlight>
                  <a:srgbClr val="FFFFFF"/>
                </a:highlight>
                <a:latin typeface="Nunito"/>
                <a:ea typeface="Nunito"/>
                <a:cs typeface="Nunito"/>
                <a:sym typeface="Nunito"/>
              </a:rPr>
              <a:t>úlceras orales y / o nasales</a:t>
            </a:r>
            <a:r>
              <a:rPr lang="es-419" sz="1400">
                <a:solidFill>
                  <a:srgbClr val="232323"/>
                </a:solidFill>
                <a:highlight>
                  <a:srgbClr val="FFFFFF"/>
                </a:highlight>
                <a:latin typeface="Nunito"/>
                <a:ea typeface="Nunito"/>
                <a:cs typeface="Nunito"/>
                <a:sym typeface="Nunito"/>
              </a:rPr>
              <a:t>, que generalmente son </a:t>
            </a:r>
            <a:r>
              <a:rPr b="1" lang="es-419" sz="1400">
                <a:solidFill>
                  <a:srgbClr val="232323"/>
                </a:solidFill>
                <a:highlight>
                  <a:srgbClr val="FFFFFF"/>
                </a:highlight>
                <a:latin typeface="Nunito"/>
                <a:ea typeface="Nunito"/>
                <a:cs typeface="Nunito"/>
                <a:sym typeface="Nunito"/>
              </a:rPr>
              <a:t>indoloras</a:t>
            </a:r>
            <a:r>
              <a:rPr lang="es-419" sz="1400">
                <a:solidFill>
                  <a:srgbClr val="232323"/>
                </a:solidFill>
                <a:highlight>
                  <a:srgbClr val="FFFFFF"/>
                </a:highlight>
                <a:latin typeface="Nunito"/>
                <a:ea typeface="Nunito"/>
                <a:cs typeface="Nunito"/>
                <a:sym typeface="Nunito"/>
              </a:rPr>
              <a:t>. Las úlceras nasales pueden provocar una perforación del tabique nasal. La </a:t>
            </a:r>
            <a:r>
              <a:rPr b="1" lang="es-419" sz="1400">
                <a:solidFill>
                  <a:srgbClr val="232323"/>
                </a:solidFill>
                <a:highlight>
                  <a:srgbClr val="FFFFFF"/>
                </a:highlight>
                <a:latin typeface="Nunito"/>
                <a:ea typeface="Nunito"/>
                <a:cs typeface="Nunito"/>
                <a:sym typeface="Nunito"/>
              </a:rPr>
              <a:t>alopecia</a:t>
            </a:r>
            <a:r>
              <a:rPr lang="es-419" sz="1400">
                <a:solidFill>
                  <a:srgbClr val="232323"/>
                </a:solidFill>
                <a:highlight>
                  <a:srgbClr val="FFFFFF"/>
                </a:highlight>
                <a:latin typeface="Nunito"/>
                <a:ea typeface="Nunito"/>
                <a:cs typeface="Nunito"/>
                <a:sym typeface="Nunito"/>
              </a:rPr>
              <a:t> no cicatricial también se observa en muchos pacientes con LES en algún momento durante el curso de su enfermedad. La alopecia cicatricial puede ocurrir en pacientes con lupus eritematoso discoide.</a:t>
            </a:r>
            <a:endParaRPr sz="1400">
              <a:latin typeface="Nunito"/>
              <a:ea typeface="Nunito"/>
              <a:cs typeface="Nunito"/>
              <a:sym typeface="Nunito"/>
            </a:endParaRPr>
          </a:p>
        </p:txBody>
      </p:sp>
      <p:pic>
        <p:nvPicPr>
          <p:cNvPr id="164" name="Google Shape;164;p30"/>
          <p:cNvPicPr preferRelativeResize="0"/>
          <p:nvPr/>
        </p:nvPicPr>
        <p:blipFill rotWithShape="1">
          <a:blip r:embed="rId3">
            <a:alphaModFix/>
          </a:blip>
          <a:srcRect b="26775" l="10864" r="36320" t="27703"/>
          <a:stretch/>
        </p:blipFill>
        <p:spPr>
          <a:xfrm>
            <a:off x="2037188" y="2481700"/>
            <a:ext cx="5069622" cy="2456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1233100"/>
            <a:ext cx="8520600" cy="16101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t/>
            </a:r>
            <a:endParaRPr/>
          </a:p>
        </p:txBody>
      </p:sp>
      <p:sp>
        <p:nvSpPr>
          <p:cNvPr id="170" name="Google Shape;170;p31"/>
          <p:cNvSpPr txBox="1"/>
          <p:nvPr>
            <p:ph idx="1" type="body"/>
          </p:nvPr>
        </p:nvSpPr>
        <p:spPr>
          <a:xfrm>
            <a:off x="311700" y="2919450"/>
            <a:ext cx="8520600" cy="1071600"/>
          </a:xfrm>
          <a:prstGeom prst="rect">
            <a:avLst/>
          </a:prstGeom>
          <a:noFill/>
          <a:ln>
            <a:noFill/>
          </a:ln>
        </p:spPr>
        <p:txBody>
          <a:bodyPr anchorCtr="0" anchor="t" bIns="91425" lIns="91425" spcFirstLastPara="1" rIns="91425" wrap="square" tIns="91425">
            <a:normAutofit/>
          </a:bodyPr>
          <a:lstStyle/>
          <a:p>
            <a:pPr indent="0" lvl="0" marL="0" rtl="0" algn="ctr">
              <a:lnSpc>
                <a:spcPct val="115000"/>
              </a:lnSpc>
              <a:spcBef>
                <a:spcPts val="0"/>
              </a:spcBef>
              <a:spcAft>
                <a:spcPts val="1200"/>
              </a:spcAft>
              <a:buSzPts val="1800"/>
              <a:buNone/>
            </a:pPr>
            <a:r>
              <a:t/>
            </a:r>
            <a:endParaRPr/>
          </a:p>
        </p:txBody>
      </p:sp>
      <p:pic>
        <p:nvPicPr>
          <p:cNvPr id="171" name="Google Shape;171;p31"/>
          <p:cNvPicPr preferRelativeResize="0"/>
          <p:nvPr/>
        </p:nvPicPr>
        <p:blipFill rotWithShape="1">
          <a:blip r:embed="rId3">
            <a:alphaModFix/>
          </a:blip>
          <a:srcRect b="0" l="0" r="0" t="0"/>
          <a:stretch/>
        </p:blipFill>
        <p:spPr>
          <a:xfrm>
            <a:off x="311700" y="542925"/>
            <a:ext cx="4147450" cy="2871300"/>
          </a:xfrm>
          <a:prstGeom prst="rect">
            <a:avLst/>
          </a:prstGeom>
          <a:noFill/>
          <a:ln>
            <a:noFill/>
          </a:ln>
        </p:spPr>
      </p:pic>
      <p:pic>
        <p:nvPicPr>
          <p:cNvPr id="172" name="Google Shape;172;p31"/>
          <p:cNvPicPr preferRelativeResize="0"/>
          <p:nvPr/>
        </p:nvPicPr>
        <p:blipFill rotWithShape="1">
          <a:blip r:embed="rId4">
            <a:alphaModFix/>
          </a:blip>
          <a:srcRect b="0" l="0" r="0" t="0"/>
          <a:stretch/>
        </p:blipFill>
        <p:spPr>
          <a:xfrm>
            <a:off x="4823825" y="1697275"/>
            <a:ext cx="3551525" cy="2989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2"/>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78" name="Google Shape;178;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79" name="Google Shape;179;p32"/>
          <p:cNvPicPr preferRelativeResize="0"/>
          <p:nvPr/>
        </p:nvPicPr>
        <p:blipFill rotWithShape="1">
          <a:blip r:embed="rId3">
            <a:alphaModFix/>
          </a:blip>
          <a:srcRect b="0" l="0" r="0" t="0"/>
          <a:stretch/>
        </p:blipFill>
        <p:spPr>
          <a:xfrm>
            <a:off x="2558200" y="540175"/>
            <a:ext cx="4324425" cy="4344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5" name="Google Shape;185;p33"/>
          <p:cNvSpPr txBox="1"/>
          <p:nvPr>
            <p:ph idx="1" type="body"/>
          </p:nvPr>
        </p:nvSpPr>
        <p:spPr>
          <a:xfrm>
            <a:off x="-653500" y="10757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86" name="Google Shape;186;p33"/>
          <p:cNvPicPr preferRelativeResize="0"/>
          <p:nvPr/>
        </p:nvPicPr>
        <p:blipFill rotWithShape="1">
          <a:blip r:embed="rId3">
            <a:alphaModFix/>
          </a:blip>
          <a:srcRect b="0" l="0" r="0" t="0"/>
          <a:stretch/>
        </p:blipFill>
        <p:spPr>
          <a:xfrm>
            <a:off x="2289300" y="734149"/>
            <a:ext cx="4919550" cy="4099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2089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CARDIACA Y VASCULAR</a:t>
            </a:r>
            <a:endParaRPr/>
          </a:p>
        </p:txBody>
      </p:sp>
      <p:sp>
        <p:nvSpPr>
          <p:cNvPr id="192" name="Google Shape;192;p34"/>
          <p:cNvSpPr txBox="1"/>
          <p:nvPr>
            <p:ph idx="1" type="body"/>
          </p:nvPr>
        </p:nvSpPr>
        <p:spPr>
          <a:xfrm>
            <a:off x="263050" y="75120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b="1" lang="es-419" sz="1400">
                <a:solidFill>
                  <a:srgbClr val="232323"/>
                </a:solidFill>
                <a:highlight>
                  <a:srgbClr val="FFFFFF"/>
                </a:highlight>
                <a:latin typeface="Nunito"/>
                <a:ea typeface="Nunito"/>
                <a:cs typeface="Nunito"/>
                <a:sym typeface="Nunito"/>
              </a:rPr>
              <a:t>Afectación cardíaca y manifestaciones vasculares </a:t>
            </a:r>
            <a:r>
              <a:rPr lang="es-419" sz="1400">
                <a:solidFill>
                  <a:srgbClr val="232323"/>
                </a:solidFill>
                <a:highlight>
                  <a:srgbClr val="FFFFFF"/>
                </a:highlight>
                <a:latin typeface="Nunito"/>
                <a:ea typeface="Nunito"/>
                <a:cs typeface="Nunito"/>
                <a:sym typeface="Nunito"/>
              </a:rPr>
              <a:t> : La enfermedad cardíaca entre los pacientes con LES es común y puede afectar el pericardio, el miocardio, las válvulas, el sistema de conducción y las arterias coronarias. La </a:t>
            </a:r>
            <a:r>
              <a:rPr b="1" lang="es-419" sz="1400">
                <a:solidFill>
                  <a:srgbClr val="232323"/>
                </a:solidFill>
                <a:highlight>
                  <a:srgbClr val="FFFFFF"/>
                </a:highlight>
                <a:latin typeface="Nunito"/>
                <a:ea typeface="Nunito"/>
                <a:cs typeface="Nunito"/>
                <a:sym typeface="Nunito"/>
              </a:rPr>
              <a:t>pericarditis</a:t>
            </a:r>
            <a:r>
              <a:rPr lang="es-419" sz="1400">
                <a:solidFill>
                  <a:srgbClr val="232323"/>
                </a:solidFill>
                <a:highlight>
                  <a:srgbClr val="FFFFFF"/>
                </a:highlight>
                <a:latin typeface="Nunito"/>
                <a:ea typeface="Nunito"/>
                <a:cs typeface="Nunito"/>
                <a:sym typeface="Nunito"/>
              </a:rPr>
              <a:t>, con o sin derrame, es la manifestación cardíaca más común del LES y se presenta en aproximadamente el 25% de los pacientes en algún momento durante el curso de la enfermedad La endocarditis verrugosa (Libman-Sacks) suele ser clínicamente silenciosa, pero puede producir insuficiencia valvular y puede servir como fuente de émbolos.</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400">
                <a:solidFill>
                  <a:srgbClr val="232323"/>
                </a:solidFill>
                <a:highlight>
                  <a:srgbClr val="FFFFFF"/>
                </a:highlight>
                <a:latin typeface="Nunito"/>
                <a:ea typeface="Nunito"/>
                <a:cs typeface="Nunito"/>
                <a:sym typeface="Nunito"/>
              </a:rPr>
              <a:t>La miocarditis es poco común, pero puede ser grave. Los pacientes con LES también tienen un mayor riesgo de enfermedad de las arterias coronarias.</a:t>
            </a:r>
            <a:endParaRPr sz="1400">
              <a:latin typeface="Nunito"/>
              <a:ea typeface="Nunito"/>
              <a:cs typeface="Nunito"/>
              <a:sym typeface="Nunito"/>
            </a:endParaRPr>
          </a:p>
        </p:txBody>
      </p:sp>
      <p:pic>
        <p:nvPicPr>
          <p:cNvPr id="193" name="Google Shape;193;p34"/>
          <p:cNvPicPr preferRelativeResize="0"/>
          <p:nvPr/>
        </p:nvPicPr>
        <p:blipFill rotWithShape="1">
          <a:blip r:embed="rId3">
            <a:alphaModFix/>
          </a:blip>
          <a:srcRect b="0" l="0" r="0" t="0"/>
          <a:stretch/>
        </p:blipFill>
        <p:spPr>
          <a:xfrm>
            <a:off x="4432425" y="2889700"/>
            <a:ext cx="4156899" cy="22170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5"/>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199" name="Google Shape;199;p35"/>
          <p:cNvPicPr preferRelativeResize="0"/>
          <p:nvPr/>
        </p:nvPicPr>
        <p:blipFill rotWithShape="1">
          <a:blip r:embed="rId3">
            <a:alphaModFix/>
          </a:blip>
          <a:srcRect b="13942" l="0" r="0" t="10898"/>
          <a:stretch/>
        </p:blipFill>
        <p:spPr>
          <a:xfrm>
            <a:off x="505000" y="1434625"/>
            <a:ext cx="3386225" cy="2892300"/>
          </a:xfrm>
          <a:prstGeom prst="rect">
            <a:avLst/>
          </a:prstGeom>
          <a:noFill/>
          <a:ln>
            <a:noFill/>
          </a:ln>
        </p:spPr>
      </p:pic>
      <p:pic>
        <p:nvPicPr>
          <p:cNvPr id="200" name="Google Shape;200;p35"/>
          <p:cNvPicPr preferRelativeResize="0"/>
          <p:nvPr/>
        </p:nvPicPr>
        <p:blipFill rotWithShape="1">
          <a:blip r:embed="rId4">
            <a:alphaModFix/>
          </a:blip>
          <a:srcRect b="5863" l="3025" r="2714" t="0"/>
          <a:stretch/>
        </p:blipFill>
        <p:spPr>
          <a:xfrm>
            <a:off x="4450426" y="1508074"/>
            <a:ext cx="3995075" cy="28188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6"/>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206" name="Google Shape;206;p36"/>
          <p:cNvPicPr preferRelativeResize="0"/>
          <p:nvPr/>
        </p:nvPicPr>
        <p:blipFill rotWithShape="1">
          <a:blip r:embed="rId3">
            <a:alphaModFix/>
          </a:blip>
          <a:srcRect b="8044" l="718" r="51372" t="0"/>
          <a:stretch/>
        </p:blipFill>
        <p:spPr>
          <a:xfrm>
            <a:off x="539800" y="1085877"/>
            <a:ext cx="3562398" cy="3150675"/>
          </a:xfrm>
          <a:prstGeom prst="rect">
            <a:avLst/>
          </a:prstGeom>
          <a:noFill/>
          <a:ln>
            <a:noFill/>
          </a:ln>
        </p:spPr>
      </p:pic>
      <p:pic>
        <p:nvPicPr>
          <p:cNvPr id="207" name="Google Shape;207;p36"/>
          <p:cNvPicPr preferRelativeResize="0"/>
          <p:nvPr/>
        </p:nvPicPr>
        <p:blipFill rotWithShape="1">
          <a:blip r:embed="rId4">
            <a:alphaModFix/>
          </a:blip>
          <a:srcRect b="13942" l="0" r="0" t="10898"/>
          <a:stretch/>
        </p:blipFill>
        <p:spPr>
          <a:xfrm>
            <a:off x="4305700" y="1085875"/>
            <a:ext cx="3794575" cy="32410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RENAL</a:t>
            </a:r>
            <a:endParaRPr/>
          </a:p>
        </p:txBody>
      </p:sp>
      <p:sp>
        <p:nvSpPr>
          <p:cNvPr id="213" name="Google Shape;213;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b="1" lang="es-419" sz="1500">
                <a:solidFill>
                  <a:srgbClr val="232323"/>
                </a:solidFill>
                <a:highlight>
                  <a:srgbClr val="FFFFFF"/>
                </a:highlight>
                <a:latin typeface="Nunito"/>
                <a:ea typeface="Nunito"/>
                <a:cs typeface="Nunito"/>
                <a:sym typeface="Nunito"/>
              </a:rPr>
              <a:t>La afectación renal</a:t>
            </a:r>
            <a:endParaRPr b="1" sz="15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500">
                <a:solidFill>
                  <a:srgbClr val="232323"/>
                </a:solidFill>
                <a:highlight>
                  <a:srgbClr val="FFFFFF"/>
                </a:highlight>
                <a:latin typeface="Nunito"/>
                <a:ea typeface="Nunito"/>
                <a:cs typeface="Nunito"/>
                <a:sym typeface="Nunito"/>
              </a:rPr>
              <a:t>Es clínicamente evidente en aproximadamente el 50 por ciento de los pacientes con LES y es una causa importante de morbilidad y la mortalidad.</a:t>
            </a:r>
            <a:endParaRPr sz="15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500">
                <a:solidFill>
                  <a:srgbClr val="232323"/>
                </a:solidFill>
                <a:highlight>
                  <a:srgbClr val="FFFFFF"/>
                </a:highlight>
                <a:latin typeface="Nunito"/>
                <a:ea typeface="Nunito"/>
                <a:cs typeface="Nunito"/>
                <a:sym typeface="Nunito"/>
              </a:rPr>
              <a:t>La detección periódica de la presencia de nefritis lúpica con análisis de orina, cuantificación de la proteinuria y estimación de la tasa de filtración glomerular es un componente importante del tratamiento continuo de los pacientes con LES. </a:t>
            </a:r>
            <a:endParaRPr sz="15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500">
                <a:solidFill>
                  <a:srgbClr val="232323"/>
                </a:solidFill>
                <a:highlight>
                  <a:srgbClr val="FFFFFF"/>
                </a:highlight>
                <a:latin typeface="Nunito"/>
                <a:ea typeface="Nunito"/>
                <a:cs typeface="Nunito"/>
                <a:sym typeface="Nunito"/>
              </a:rPr>
              <a:t>Pueden ocurrir varias formas de glomerulonefritis y la biopsia renal es útil para definir el tipo y la extensión de la afectación renal. La presentación clínica de la nefritis lúpica es muy variable, desde hematuria asintomática y / o proteinuria hasta síndrome nefrótico y glomerulonefritis rápidamente progresiva con pérdida de la función renal.</a:t>
            </a:r>
            <a:endParaRPr sz="15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500">
                <a:solidFill>
                  <a:srgbClr val="232323"/>
                </a:solidFill>
                <a:highlight>
                  <a:srgbClr val="FFFFFF"/>
                </a:highlight>
                <a:latin typeface="Nunito"/>
                <a:ea typeface="Nunito"/>
                <a:cs typeface="Nunito"/>
                <a:sym typeface="Nunito"/>
              </a:rPr>
              <a:t>Algunos pacientes con nefritis lúpica también tienen hipertensión.</a:t>
            </a:r>
            <a:endParaRPr sz="1500">
              <a:solidFill>
                <a:srgbClr val="232323"/>
              </a:solidFill>
              <a:highlight>
                <a:srgbClr val="FFFFFF"/>
              </a:highlight>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GASTROINTESTINAL Y PULMONAR</a:t>
            </a:r>
            <a:endParaRPr/>
          </a:p>
        </p:txBody>
      </p:sp>
      <p:sp>
        <p:nvSpPr>
          <p:cNvPr id="219" name="Google Shape;219;p38"/>
          <p:cNvSpPr txBox="1"/>
          <p:nvPr>
            <p:ph idx="1" type="body"/>
          </p:nvPr>
        </p:nvSpPr>
        <p:spPr>
          <a:xfrm>
            <a:off x="311700" y="15529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329150" lvl="0" marL="457200" rtl="0" algn="l">
              <a:lnSpc>
                <a:spcPct val="107916"/>
              </a:lnSpc>
              <a:spcBef>
                <a:spcPts val="0"/>
              </a:spcBef>
              <a:spcAft>
                <a:spcPts val="0"/>
              </a:spcAft>
              <a:buClr>
                <a:srgbClr val="232323"/>
              </a:buClr>
              <a:buSzPct val="100000"/>
              <a:buFont typeface="Nunito"/>
              <a:buChar char="●"/>
            </a:pPr>
            <a:r>
              <a:rPr b="1" lang="es-419" sz="1862">
                <a:solidFill>
                  <a:srgbClr val="232323"/>
                </a:solidFill>
                <a:highlight>
                  <a:srgbClr val="FFFFFF"/>
                </a:highlight>
                <a:latin typeface="Nunito"/>
                <a:ea typeface="Nunito"/>
                <a:cs typeface="Nunito"/>
                <a:sym typeface="Nunito"/>
              </a:rPr>
              <a:t>Gastrointestinales: </a:t>
            </a:r>
            <a:r>
              <a:rPr lang="es-419" sz="1862">
                <a:solidFill>
                  <a:srgbClr val="232323"/>
                </a:solidFill>
                <a:highlight>
                  <a:srgbClr val="FFFFFF"/>
                </a:highlight>
                <a:latin typeface="Nunito"/>
                <a:ea typeface="Nunito"/>
                <a:cs typeface="Nunito"/>
                <a:sym typeface="Nunito"/>
              </a:rPr>
              <a:t>son comunes en los pacientes con LES, que se produce en hasta el 40% de los pacientes. La mayoría de los síntomas gastrointestinales son causados ​​por reacciones adversas a medicamentos e infecciones virales o bacterianas. Las anomalías gastrointestinales relacionadas con el LES pueden afectar a casi cualquier órgano a lo largo del tracto gastrointestinal e incluyen esofagitis, pseudoobstrucción intestinal, enteropatía perdedora de proteínas, hepatitis lúpica, pancreatitis aguda, vasculitis o isquemia mesentérica y peritonitis. </a:t>
            </a:r>
            <a:endParaRPr sz="1862">
              <a:solidFill>
                <a:srgbClr val="232323"/>
              </a:solidFill>
              <a:highlight>
                <a:srgbClr val="FFFFFF"/>
              </a:highlight>
              <a:latin typeface="Nunito"/>
              <a:ea typeface="Nunito"/>
              <a:cs typeface="Nunito"/>
              <a:sym typeface="Nunito"/>
            </a:endParaRPr>
          </a:p>
          <a:p>
            <a:pPr indent="0" lvl="0" marL="457200" rtl="0" algn="l">
              <a:lnSpc>
                <a:spcPct val="107916"/>
              </a:lnSpc>
              <a:spcBef>
                <a:spcPts val="800"/>
              </a:spcBef>
              <a:spcAft>
                <a:spcPts val="0"/>
              </a:spcAft>
              <a:buSzPct val="96623"/>
              <a:buNone/>
            </a:pPr>
            <a:r>
              <a:t/>
            </a:r>
            <a:endParaRPr sz="1862">
              <a:solidFill>
                <a:srgbClr val="232323"/>
              </a:solidFill>
              <a:highlight>
                <a:srgbClr val="FFFFFF"/>
              </a:highlight>
              <a:latin typeface="Nunito"/>
              <a:ea typeface="Nunito"/>
              <a:cs typeface="Nunito"/>
              <a:sym typeface="Nunito"/>
            </a:endParaRPr>
          </a:p>
          <a:p>
            <a:pPr indent="-329150" lvl="0" marL="457200" rtl="0" algn="l">
              <a:lnSpc>
                <a:spcPct val="107916"/>
              </a:lnSpc>
              <a:spcBef>
                <a:spcPts val="800"/>
              </a:spcBef>
              <a:spcAft>
                <a:spcPts val="0"/>
              </a:spcAft>
              <a:buClr>
                <a:srgbClr val="232323"/>
              </a:buClr>
              <a:buSzPct val="100000"/>
              <a:buFont typeface="Nunito"/>
              <a:buChar char="●"/>
            </a:pPr>
            <a:r>
              <a:rPr b="1" lang="es-419" sz="1862">
                <a:solidFill>
                  <a:srgbClr val="232323"/>
                </a:solidFill>
                <a:highlight>
                  <a:srgbClr val="FFFFFF"/>
                </a:highlight>
                <a:latin typeface="Nunito"/>
                <a:ea typeface="Nunito"/>
                <a:cs typeface="Nunito"/>
                <a:sym typeface="Nunito"/>
              </a:rPr>
              <a:t>Pulmonar</a:t>
            </a:r>
            <a:r>
              <a:rPr lang="es-419" sz="1862">
                <a:solidFill>
                  <a:srgbClr val="232323"/>
                </a:solidFill>
                <a:highlight>
                  <a:srgbClr val="FFFFFF"/>
                </a:highlight>
                <a:latin typeface="Nunito"/>
                <a:ea typeface="Nunito"/>
                <a:cs typeface="Nunito"/>
                <a:sym typeface="Nunito"/>
              </a:rPr>
              <a:t>: Las manifestaciones pulmonares del LES incluyen pleuritis (con o sin derrame), neumonitis, enfermedad pulmonar intersticial, hipertensión pulmonar, síndrome de contracción pulmonar y hemorragia alveolar. Los síntomas respiratorios también deben distinguirse de la infección, especialmente en pacientes en tratamiento inmunosupresor. El riesgo de afectación tromboembólica aumenta en aquellos con anticuerpos antifosfolípidos o con anticoagulante lúpico.</a:t>
            </a:r>
            <a:endParaRPr sz="1200">
              <a:solidFill>
                <a:srgbClr val="232323"/>
              </a:solidFill>
              <a:highlight>
                <a:srgbClr val="FFFFFF"/>
              </a:highlight>
              <a:latin typeface="Nunito"/>
              <a:ea typeface="Nunito"/>
              <a:cs typeface="Nunito"/>
              <a:sym typeface="Nuni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9"/>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NEUROPSIQUIÁTRICA</a:t>
            </a:r>
            <a:endParaRPr/>
          </a:p>
        </p:txBody>
      </p:sp>
      <p:sp>
        <p:nvSpPr>
          <p:cNvPr id="225" name="Google Shape;225;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b="1" lang="es-419" sz="1500">
                <a:solidFill>
                  <a:srgbClr val="232323"/>
                </a:solidFill>
                <a:highlight>
                  <a:srgbClr val="FFFFFF"/>
                </a:highlight>
                <a:latin typeface="Nunito"/>
                <a:ea typeface="Nunito"/>
                <a:cs typeface="Nunito"/>
                <a:sym typeface="Nunito"/>
              </a:rPr>
              <a:t>Compromiso neuropsiquiátrico y Neurológico :</a:t>
            </a:r>
            <a:r>
              <a:rPr lang="es-419" sz="1500">
                <a:solidFill>
                  <a:srgbClr val="232323"/>
                </a:solidFill>
                <a:highlight>
                  <a:srgbClr val="FFFFFF"/>
                </a:highlight>
                <a:latin typeface="Nunito"/>
                <a:ea typeface="Nunito"/>
                <a:cs typeface="Nunito"/>
                <a:sym typeface="Nunito"/>
              </a:rPr>
              <a:t> </a:t>
            </a:r>
            <a:endParaRPr sz="15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SzPts val="1800"/>
              <a:buNone/>
            </a:pPr>
            <a:r>
              <a:rPr lang="es-419" sz="1500">
                <a:solidFill>
                  <a:srgbClr val="232323"/>
                </a:solidFill>
                <a:highlight>
                  <a:srgbClr val="FFFFFF"/>
                </a:highlight>
                <a:latin typeface="Nunito"/>
                <a:ea typeface="Nunito"/>
                <a:cs typeface="Nunito"/>
                <a:sym typeface="Nunito"/>
              </a:rPr>
              <a:t>Se compone de una amplia gama de manifestaciones neurológicas y psiquiátricas, incluyendo ictus, convulsiones, disfunción cognitiva, delirio, psicosis, y / o las neuropatías periféricas. Otros problemas menos comunes son los trastornos del movimiento, las neuropatías craneales, la mielitis y la meningitis. Los episodios tromboembólicos, a menudo asociados con anticuerpos antifosfolípidos o con anticoagulantes lúpicos, pueden producirse en una minoría sustancial (20%) de los pacientes con LES los tromboembólias arteriales pueden causar problemas neurológicos focales, como ictus o convulsiones y / o defectos cognitivos más difusos.</a:t>
            </a:r>
            <a:endParaRPr sz="1600">
              <a:latin typeface="Nunito"/>
              <a:ea typeface="Nunito"/>
              <a:cs typeface="Nunito"/>
              <a:sym typeface="Nuni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0"/>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HEMATOLÓGICA</a:t>
            </a:r>
            <a:endParaRPr/>
          </a:p>
        </p:txBody>
      </p:sp>
      <p:sp>
        <p:nvSpPr>
          <p:cNvPr id="231" name="Google Shape;231;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7916"/>
              </a:lnSpc>
              <a:spcBef>
                <a:spcPts val="0"/>
              </a:spcBef>
              <a:spcAft>
                <a:spcPts val="0"/>
              </a:spcAft>
              <a:buSzPts val="1800"/>
              <a:buNone/>
            </a:pPr>
            <a:r>
              <a:rPr b="1" lang="es-419" sz="1300">
                <a:solidFill>
                  <a:srgbClr val="232323"/>
                </a:solidFill>
                <a:highlight>
                  <a:srgbClr val="FFFFFF"/>
                </a:highlight>
                <a:latin typeface="Nunito"/>
                <a:ea typeface="Nunito"/>
                <a:cs typeface="Nunito"/>
                <a:sym typeface="Nunito"/>
              </a:rPr>
              <a:t>Anormalidades hematológicas: </a:t>
            </a:r>
            <a:r>
              <a:rPr lang="es-419" sz="1300">
                <a:solidFill>
                  <a:srgbClr val="232323"/>
                </a:solidFill>
                <a:highlight>
                  <a:srgbClr val="FFFFFF"/>
                </a:highlight>
                <a:latin typeface="Nunito"/>
                <a:ea typeface="Nunito"/>
                <a:cs typeface="Nunito"/>
                <a:sym typeface="Nunito"/>
              </a:rPr>
              <a:t> son comunes en el LES, y las tres líneas celulares de la sangre pueden ser afectados. La anemia por enfermedad crónica es el tipo de anemia más común entre los pacientes con LES. La leucopenia es común en pacientes con LES y ocurre en aproximadamente el 50% de los pacientes. La leucopenia puede deberse a linfopenia y/o neutropenia secundaria y generalmente se correlaciona con una enfermedad clínicamente activa. La neutropenia también puede resultar de la toxicidad debida a medicamentos inmunosupresores. La trombocitopenia leve también es una anomalía hematológica frecuente. </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300">
                <a:solidFill>
                  <a:srgbClr val="232323"/>
                </a:solidFill>
                <a:highlight>
                  <a:srgbClr val="FFFFFF"/>
                </a:highlight>
                <a:latin typeface="Nunito"/>
                <a:ea typeface="Nunito"/>
                <a:cs typeface="Nunito"/>
                <a:sym typeface="Nunito"/>
              </a:rPr>
              <a:t>En raras ocasiones, se puede producir una trombocitopenia grave que requiere tratamiento.</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Clr>
                <a:schemeClr val="dk1"/>
              </a:buClr>
              <a:buSzPts val="1100"/>
              <a:buFont typeface="Arial"/>
              <a:buNone/>
            </a:pPr>
            <a:r>
              <a:rPr lang="es-419" sz="1300">
                <a:solidFill>
                  <a:srgbClr val="232323"/>
                </a:solidFill>
                <a:highlight>
                  <a:srgbClr val="FFFFFF"/>
                </a:highlight>
                <a:latin typeface="Nunito"/>
                <a:ea typeface="Nunito"/>
                <a:cs typeface="Nunito"/>
                <a:sym typeface="Nunito"/>
              </a:rPr>
              <a:t>La anemia hemolítica autoinmunitaria también es relativamente rara, pero puede ser grave y requiere tratamiento inmediato.</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300">
                <a:solidFill>
                  <a:srgbClr val="232323"/>
                </a:solidFill>
                <a:highlight>
                  <a:srgbClr val="FFFFFF"/>
                </a:highlight>
                <a:latin typeface="Nunito"/>
                <a:ea typeface="Nunito"/>
                <a:cs typeface="Nunito"/>
                <a:sym typeface="Nunito"/>
              </a:rPr>
              <a:t>El agrandamiento de los ganglios linfáticos ocurre comúnmente en asociación con LES activo y por lo general involucra las regiones cervical, axilar e inguinal. </a:t>
            </a:r>
            <a:endParaRPr sz="13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Clr>
                <a:schemeClr val="dk1"/>
              </a:buClr>
              <a:buSzPts val="1100"/>
              <a:buFont typeface="Arial"/>
              <a:buNone/>
            </a:pPr>
            <a:r>
              <a:rPr lang="es-419" sz="1300">
                <a:solidFill>
                  <a:srgbClr val="232323"/>
                </a:solidFill>
                <a:highlight>
                  <a:srgbClr val="FFFFFF"/>
                </a:highlight>
                <a:latin typeface="Nunito"/>
                <a:ea typeface="Nunito"/>
                <a:cs typeface="Nunito"/>
                <a:sym typeface="Nunito"/>
              </a:rPr>
              <a:t>También se puede observar esplenomegalia entre pacientes con LES, particularmente con enfermedad activa</a:t>
            </a:r>
            <a:endParaRPr sz="1300">
              <a:solidFill>
                <a:srgbClr val="232323"/>
              </a:solidFill>
              <a:highlight>
                <a:srgbClr val="FFFFFF"/>
              </a:highlight>
              <a:latin typeface="Nunito"/>
              <a:ea typeface="Nunito"/>
              <a:cs typeface="Nunito"/>
              <a:sym typeface="Nunito"/>
            </a:endParaRPr>
          </a:p>
          <a:p>
            <a:pPr indent="0" lvl="0" marL="0" rtl="0" algn="l">
              <a:lnSpc>
                <a:spcPct val="115000"/>
              </a:lnSpc>
              <a:spcBef>
                <a:spcPts val="800"/>
              </a:spcBef>
              <a:spcAft>
                <a:spcPts val="1200"/>
              </a:spcAft>
              <a:buSzPts val="1800"/>
              <a:buNone/>
            </a:pPr>
            <a:r>
              <a:t/>
            </a:r>
            <a:endParaRPr sz="1200">
              <a:latin typeface="Nunito"/>
              <a:ea typeface="Nunito"/>
              <a:cs typeface="Nunito"/>
              <a:sym typeface="Nuni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AFECTACIÓN OFTALMOLÓGICA</a:t>
            </a:r>
            <a:endParaRPr/>
          </a:p>
        </p:txBody>
      </p:sp>
      <p:sp>
        <p:nvSpPr>
          <p:cNvPr id="237" name="Google Shape;237;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07916"/>
              </a:lnSpc>
              <a:spcBef>
                <a:spcPts val="0"/>
              </a:spcBef>
              <a:spcAft>
                <a:spcPts val="0"/>
              </a:spcAft>
              <a:buSzPts val="1800"/>
              <a:buNone/>
            </a:pPr>
            <a:r>
              <a:rPr b="1" lang="es-419" sz="1400">
                <a:solidFill>
                  <a:srgbClr val="232323"/>
                </a:solidFill>
                <a:highlight>
                  <a:srgbClr val="FFFFFF"/>
                </a:highlight>
                <a:latin typeface="Nunito"/>
                <a:ea typeface="Nunito"/>
                <a:cs typeface="Nunito"/>
                <a:sym typeface="Nunito"/>
              </a:rPr>
              <a:t>Afectación oftalmológica</a:t>
            </a:r>
            <a:r>
              <a:rPr lang="es-419" sz="1400">
                <a:solidFill>
                  <a:srgbClr val="232323"/>
                </a:solidFill>
                <a:highlight>
                  <a:srgbClr val="FFFFFF"/>
                </a:highlight>
                <a:latin typeface="Nunito"/>
                <a:ea typeface="Nunito"/>
                <a:cs typeface="Nunito"/>
                <a:sym typeface="Nunito"/>
              </a:rPr>
              <a:t>:</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400">
                <a:solidFill>
                  <a:srgbClr val="232323"/>
                </a:solidFill>
                <a:highlight>
                  <a:srgbClr val="FFFFFF"/>
                </a:highlight>
                <a:latin typeface="Nunito"/>
                <a:ea typeface="Nunito"/>
                <a:cs typeface="Nunito"/>
                <a:sym typeface="Nunito"/>
              </a:rPr>
              <a:t>Cualquier estructura del ojo puede estar involucrada en el LES, siendo la queratoconjuntivitis seca la manifestación más común como resultado del síndrome de Sjögren secundario, Otras manifestaciones oftalmológicas menos frecuentes del LES incluyen neuropatía óptica, coroidopatía, epiescleritis, escleritis y uveítis anterior (iritis, iridociclitis). </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0"/>
              </a:spcAft>
              <a:buSzPts val="1800"/>
              <a:buNone/>
            </a:pPr>
            <a:r>
              <a:rPr lang="es-419" sz="1400">
                <a:solidFill>
                  <a:srgbClr val="232323"/>
                </a:solidFill>
                <a:highlight>
                  <a:srgbClr val="FFFFFF"/>
                </a:highlight>
                <a:latin typeface="Nunito"/>
                <a:ea typeface="Nunito"/>
                <a:cs typeface="Nunito"/>
                <a:sym typeface="Nunito"/>
              </a:rPr>
              <a:t>Los tejidos orbitarios, como la glándula lagrimal (que suele dar lugar a sequedad), los músculos extraoculares y otros tejidos orbitarios también pueden estar implicados en el LES, lo que provoca dolor, proptosis, hinchazón del párpado y diplopía.</a:t>
            </a:r>
            <a:endParaRPr sz="1400">
              <a:solidFill>
                <a:srgbClr val="232323"/>
              </a:solidFill>
              <a:highlight>
                <a:srgbClr val="FFFFFF"/>
              </a:highlight>
              <a:latin typeface="Nunito"/>
              <a:ea typeface="Nunito"/>
              <a:cs typeface="Nunito"/>
              <a:sym typeface="Nunito"/>
            </a:endParaRPr>
          </a:p>
          <a:p>
            <a:pPr indent="0" lvl="0" marL="0" rtl="0" algn="l">
              <a:lnSpc>
                <a:spcPct val="107916"/>
              </a:lnSpc>
              <a:spcBef>
                <a:spcPts val="800"/>
              </a:spcBef>
              <a:spcAft>
                <a:spcPts val="800"/>
              </a:spcAft>
              <a:buClr>
                <a:schemeClr val="dk1"/>
              </a:buClr>
              <a:buSzPts val="1100"/>
              <a:buFont typeface="Arial"/>
              <a:buNone/>
            </a:pPr>
            <a:r>
              <a:rPr lang="es-419" sz="1400">
                <a:solidFill>
                  <a:srgbClr val="232323"/>
                </a:solidFill>
                <a:highlight>
                  <a:srgbClr val="FFFFFF"/>
                </a:highlight>
                <a:latin typeface="Nunito"/>
                <a:ea typeface="Nunito"/>
                <a:cs typeface="Nunito"/>
                <a:sym typeface="Nunito"/>
              </a:rPr>
              <a:t>Además, existen toxicidades oculares específicas secundarias a los medicamentos que se observan en pacientes con LES, incluido el glaucoma inducido por glucocorticoides y la toxicidad retiniana debida a la terapia antipalúdica.</a:t>
            </a:r>
            <a:endParaRPr sz="1400">
              <a:latin typeface="Nunito"/>
              <a:ea typeface="Nunito"/>
              <a:cs typeface="Nunito"/>
              <a:sym typeface="Nuni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2"/>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43" name="Google Shape;243;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44" name="Google Shape;244;p42"/>
          <p:cNvPicPr preferRelativeResize="0"/>
          <p:nvPr/>
        </p:nvPicPr>
        <p:blipFill rotWithShape="1">
          <a:blip r:embed="rId3">
            <a:alphaModFix/>
          </a:blip>
          <a:srcRect b="0" l="0" r="0" t="0"/>
          <a:stretch/>
        </p:blipFill>
        <p:spPr>
          <a:xfrm>
            <a:off x="1804686" y="732574"/>
            <a:ext cx="5816000" cy="3678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3"/>
          <p:cNvSpPr txBox="1"/>
          <p:nvPr>
            <p:ph type="title"/>
          </p:nvPr>
        </p:nvSpPr>
        <p:spPr>
          <a:xfrm>
            <a:off x="509550" y="1423875"/>
            <a:ext cx="8124900" cy="17982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800"/>
              <a:buNone/>
            </a:pPr>
            <a:r>
              <a:rPr lang="es-419" u="sng">
                <a:latin typeface="Kumbh Sans"/>
                <a:ea typeface="Kumbh Sans"/>
                <a:cs typeface="Kumbh Sans"/>
                <a:sym typeface="Kumbh Sans"/>
              </a:rPr>
              <a:t>DIAGNÓSTICO</a:t>
            </a:r>
            <a:endParaRPr u="sng">
              <a:latin typeface="Kumbh Sans"/>
              <a:ea typeface="Kumbh Sans"/>
              <a:cs typeface="Kumbh Sans"/>
              <a:sym typeface="Kumbh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4"/>
          <p:cNvSpPr txBox="1"/>
          <p:nvPr>
            <p:ph idx="1" type="body"/>
          </p:nvPr>
        </p:nvSpPr>
        <p:spPr>
          <a:xfrm>
            <a:off x="311700" y="1152475"/>
            <a:ext cx="8520600" cy="34164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Clr>
                <a:srgbClr val="232323"/>
              </a:buClr>
              <a:buSzPts val="1400"/>
              <a:buFont typeface="Nunito"/>
              <a:buChar char="●"/>
            </a:pPr>
            <a:r>
              <a:rPr lang="es-419" sz="1400">
                <a:solidFill>
                  <a:srgbClr val="232323"/>
                </a:solidFill>
                <a:latin typeface="Nunito"/>
                <a:ea typeface="Nunito"/>
                <a:cs typeface="Nunito"/>
                <a:sym typeface="Nunito"/>
              </a:rPr>
              <a:t>El diagnóstico es CLÍNICO!!</a:t>
            </a:r>
            <a:endParaRPr sz="1400">
              <a:solidFill>
                <a:srgbClr val="232323"/>
              </a:solidFill>
              <a:latin typeface="Nunito"/>
              <a:ea typeface="Nunito"/>
              <a:cs typeface="Nunito"/>
              <a:sym typeface="Nunito"/>
            </a:endParaRPr>
          </a:p>
          <a:p>
            <a:pPr indent="-317500" lvl="0" marL="457200" rtl="0" algn="l">
              <a:lnSpc>
                <a:spcPct val="115000"/>
              </a:lnSpc>
              <a:spcBef>
                <a:spcPts val="0"/>
              </a:spcBef>
              <a:spcAft>
                <a:spcPts val="0"/>
              </a:spcAft>
              <a:buClr>
                <a:srgbClr val="232323"/>
              </a:buClr>
              <a:buSzPts val="1400"/>
              <a:buFont typeface="Nunito"/>
              <a:buChar char="●"/>
            </a:pPr>
            <a:r>
              <a:rPr lang="es-419" sz="1400">
                <a:solidFill>
                  <a:srgbClr val="232323"/>
                </a:solidFill>
                <a:latin typeface="Nunito"/>
                <a:ea typeface="Nunito"/>
                <a:cs typeface="Nunito"/>
                <a:sym typeface="Nunito"/>
              </a:rPr>
              <a:t>No obstante, existen múltiples criterios clasificatorios. Actualmente, los tres utilizados son los criterios ACR (1997), los criterios SLICC (2012) y ACR-EULAR 2018.</a:t>
            </a:r>
            <a:endParaRPr sz="1400">
              <a:solidFill>
                <a:srgbClr val="232323"/>
              </a:solidFill>
              <a:latin typeface="Nunito"/>
              <a:ea typeface="Nunito"/>
              <a:cs typeface="Nunito"/>
              <a:sym typeface="Nunito"/>
            </a:endParaRPr>
          </a:p>
          <a:p>
            <a:pPr indent="-317500" lvl="0" marL="457200" rtl="0" algn="l">
              <a:lnSpc>
                <a:spcPct val="115000"/>
              </a:lnSpc>
              <a:spcBef>
                <a:spcPts val="0"/>
              </a:spcBef>
              <a:spcAft>
                <a:spcPts val="0"/>
              </a:spcAft>
              <a:buClr>
                <a:srgbClr val="232323"/>
              </a:buClr>
              <a:buSzPts val="1400"/>
              <a:buFont typeface="Nunito"/>
              <a:buChar char="●"/>
            </a:pPr>
            <a:r>
              <a:rPr lang="es-419" sz="1400">
                <a:solidFill>
                  <a:srgbClr val="232323"/>
                </a:solidFill>
                <a:latin typeface="Nunito"/>
                <a:ea typeface="Nunito"/>
                <a:cs typeface="Nunito"/>
                <a:sym typeface="Nunito"/>
              </a:rPr>
              <a:t>Los Criterios ACR 1997 tuvieron S83% y E96% en la cohorte de validación original, en tanto los SLICC 2012 presentaron S96.7% y E83.7% y ACR-EULAR S96.1% y E93.4</a:t>
            </a:r>
            <a:endParaRPr sz="1400">
              <a:solidFill>
                <a:srgbClr val="232323"/>
              </a:solidFill>
              <a:latin typeface="Nunito"/>
              <a:ea typeface="Nunito"/>
              <a:cs typeface="Nunito"/>
              <a:sym typeface="Nunito"/>
            </a:endParaRPr>
          </a:p>
          <a:p>
            <a:pPr indent="-317500" lvl="0" marL="457200" rtl="0" algn="l">
              <a:lnSpc>
                <a:spcPct val="115000"/>
              </a:lnSpc>
              <a:spcBef>
                <a:spcPts val="0"/>
              </a:spcBef>
              <a:spcAft>
                <a:spcPts val="0"/>
              </a:spcAft>
              <a:buClr>
                <a:srgbClr val="232323"/>
              </a:buClr>
              <a:buSzPts val="1400"/>
              <a:buFont typeface="Nunito"/>
              <a:buChar char="●"/>
            </a:pPr>
            <a:r>
              <a:rPr lang="es-419" sz="1400">
                <a:solidFill>
                  <a:srgbClr val="232323"/>
                </a:solidFill>
                <a:latin typeface="Nunito"/>
                <a:ea typeface="Nunito"/>
                <a:cs typeface="Nunito"/>
                <a:sym typeface="Nunito"/>
              </a:rPr>
              <a:t>No obstante, los criterios ACR-EULAR 2018 presentan una clasificación más temprana de la enfermedad.</a:t>
            </a:r>
            <a:endParaRPr sz="1400">
              <a:solidFill>
                <a:srgbClr val="232323"/>
              </a:solidFill>
              <a:latin typeface="Nunito"/>
              <a:ea typeface="Nunito"/>
              <a:cs typeface="Nunito"/>
              <a:sym typeface="Nunito"/>
            </a:endParaRPr>
          </a:p>
        </p:txBody>
      </p:sp>
      <p:sp>
        <p:nvSpPr>
          <p:cNvPr id="255" name="Google Shape;255;p44"/>
          <p:cNvSpPr txBox="1"/>
          <p:nvPr/>
        </p:nvSpPr>
        <p:spPr>
          <a:xfrm>
            <a:off x="107504" y="53561"/>
            <a:ext cx="8858400" cy="66090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E7E7E7"/>
              </a:buClr>
              <a:buSzPts val="3100"/>
              <a:buFont typeface="Lucida Sans"/>
              <a:buNone/>
            </a:pPr>
            <a:r>
              <a:rPr b="0" i="0" lang="es-419" sz="2300" u="none" cap="none" strike="noStrike">
                <a:solidFill>
                  <a:srgbClr val="FFFFFF"/>
                </a:solidFill>
                <a:latin typeface="Arial"/>
                <a:ea typeface="Arial"/>
                <a:cs typeface="Arial"/>
                <a:sym typeface="Arial"/>
              </a:rPr>
              <a:t>Diagnóstico</a:t>
            </a:r>
            <a:endParaRPr b="0" i="0" sz="2300" u="none" cap="none" strike="noStrike">
              <a:solidFill>
                <a:srgbClr val="FFFFFF"/>
              </a:solidFill>
              <a:latin typeface="Arial"/>
              <a:ea typeface="Arial"/>
              <a:cs typeface="Arial"/>
              <a:sym typeface="Arial"/>
            </a:endParaRPr>
          </a:p>
        </p:txBody>
      </p:sp>
      <p:sp>
        <p:nvSpPr>
          <p:cNvPr id="256" name="Google Shape;256;p44"/>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419"/>
              <a:t>DIAGNÓSTICO</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descr="Resultado de imagen para criterios ACR 1997 lupus" id="262" name="Google Shape;262;p45"/>
          <p:cNvPicPr preferRelativeResize="0"/>
          <p:nvPr/>
        </p:nvPicPr>
        <p:blipFill rotWithShape="1">
          <a:blip r:embed="rId3">
            <a:alphaModFix/>
          </a:blip>
          <a:srcRect b="0" l="0" r="0" t="0"/>
          <a:stretch/>
        </p:blipFill>
        <p:spPr>
          <a:xfrm>
            <a:off x="1291376" y="39000"/>
            <a:ext cx="6638451" cy="4978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Resultado de imagen para criterios SLICC 2012 lupus" id="267" name="Google Shape;267;p46"/>
          <p:cNvPicPr preferRelativeResize="0"/>
          <p:nvPr/>
        </p:nvPicPr>
        <p:blipFill rotWithShape="1">
          <a:blip r:embed="rId3">
            <a:alphaModFix/>
          </a:blip>
          <a:srcRect b="0" l="0" r="0" t="0"/>
          <a:stretch/>
        </p:blipFill>
        <p:spPr>
          <a:xfrm>
            <a:off x="1085647" y="0"/>
            <a:ext cx="6824674" cy="5102551"/>
          </a:xfrm>
          <a:prstGeom prst="rect">
            <a:avLst/>
          </a:prstGeom>
          <a:noFill/>
          <a:ln>
            <a:noFill/>
          </a:ln>
        </p:spPr>
      </p:pic>
      <p:sp>
        <p:nvSpPr>
          <p:cNvPr id="268" name="Google Shape;268;p46"/>
          <p:cNvSpPr/>
          <p:nvPr/>
        </p:nvSpPr>
        <p:spPr>
          <a:xfrm>
            <a:off x="6804575" y="-50675"/>
            <a:ext cx="1397700" cy="557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7"/>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274" name="Google Shape;274;p47"/>
          <p:cNvPicPr preferRelativeResize="0"/>
          <p:nvPr/>
        </p:nvPicPr>
        <p:blipFill rotWithShape="1">
          <a:blip r:embed="rId3">
            <a:alphaModFix/>
          </a:blip>
          <a:srcRect b="21177" l="13076" r="13786" t="15317"/>
          <a:stretch/>
        </p:blipFill>
        <p:spPr>
          <a:xfrm>
            <a:off x="622725" y="451875"/>
            <a:ext cx="7898550" cy="3855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8"/>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pic>
        <p:nvPicPr>
          <p:cNvPr id="280" name="Google Shape;280;p48"/>
          <p:cNvPicPr preferRelativeResize="0"/>
          <p:nvPr/>
        </p:nvPicPr>
        <p:blipFill rotWithShape="1">
          <a:blip r:embed="rId3">
            <a:alphaModFix/>
          </a:blip>
          <a:srcRect b="15359" l="10588" r="52142" t="36758"/>
          <a:stretch/>
        </p:blipFill>
        <p:spPr>
          <a:xfrm>
            <a:off x="1625050" y="279146"/>
            <a:ext cx="5956752" cy="43048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9"/>
          <p:cNvSpPr txBox="1"/>
          <p:nvPr>
            <p:ph type="title"/>
          </p:nvPr>
        </p:nvSpPr>
        <p:spPr>
          <a:xfrm>
            <a:off x="0" y="81425"/>
            <a:ext cx="7479300" cy="1071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10000"/>
              <a:buNone/>
            </a:pPr>
            <a:r>
              <a:rPr lang="es-419" sz="5000">
                <a:latin typeface="Kumbh Sans"/>
                <a:ea typeface="Kumbh Sans"/>
                <a:cs typeface="Kumbh Sans"/>
                <a:sym typeface="Kumbh Sans"/>
              </a:rPr>
              <a:t>MUCHAS GRACIAS!</a:t>
            </a:r>
            <a:endParaRPr sz="5000">
              <a:latin typeface="Kumbh Sans"/>
              <a:ea typeface="Kumbh Sans"/>
              <a:cs typeface="Kumbh Sans"/>
              <a:sym typeface="Kumbh Sans"/>
            </a:endParaRPr>
          </a:p>
        </p:txBody>
      </p:sp>
      <p:pic>
        <p:nvPicPr>
          <p:cNvPr id="286" name="Google Shape;286;p49"/>
          <p:cNvPicPr preferRelativeResize="0"/>
          <p:nvPr/>
        </p:nvPicPr>
        <p:blipFill>
          <a:blip r:embed="rId3">
            <a:alphaModFix/>
          </a:blip>
          <a:stretch>
            <a:fillRect/>
          </a:stretch>
        </p:blipFill>
        <p:spPr>
          <a:xfrm>
            <a:off x="2809189" y="1439902"/>
            <a:ext cx="5986628" cy="2993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