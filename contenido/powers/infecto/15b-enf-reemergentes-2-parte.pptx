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3.jpg" ContentType="image/jpg"/>
  <Override PartName="/ppt/media/image5.jpg" ContentType="image/jpg"/>
  <Override PartName="/ppt/media/image6.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328" r:id="rId2"/>
    <p:sldId id="258" r:id="rId3"/>
    <p:sldId id="338" r:id="rId4"/>
    <p:sldId id="274" r:id="rId5"/>
    <p:sldId id="262" r:id="rId6"/>
    <p:sldId id="277" r:id="rId7"/>
    <p:sldId id="298" r:id="rId8"/>
    <p:sldId id="295" r:id="rId9"/>
    <p:sldId id="285" r:id="rId10"/>
    <p:sldId id="283" r:id="rId11"/>
    <p:sldId id="282" r:id="rId12"/>
    <p:sldId id="303" r:id="rId13"/>
    <p:sldId id="319" r:id="rId14"/>
    <p:sldId id="337" r:id="rId15"/>
    <p:sldId id="320" r:id="rId16"/>
    <p:sldId id="334" r:id="rId17"/>
    <p:sldId id="321" r:id="rId18"/>
    <p:sldId id="322" r:id="rId19"/>
    <p:sldId id="323" r:id="rId20"/>
    <p:sldId id="326" r:id="rId21"/>
    <p:sldId id="327" r:id="rId22"/>
    <p:sldId id="335" r:id="rId23"/>
    <p:sldId id="329" r:id="rId24"/>
    <p:sldId id="332" r:id="rId25"/>
    <p:sldId id="33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smtClean="0"/>
              <a:t>‹Nº›</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6554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245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8240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4512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534695" y="2824269"/>
            <a:ext cx="4608576" cy="264445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454792" y="2821491"/>
            <a:ext cx="4608576" cy="2637371"/>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0576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0756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54336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253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48A87A34-81AB-432B-8DAE-1953F412C126}" type="datetimeFigureOut">
              <a:rPr lang="en-US" smtClean="0"/>
              <a:pPr/>
              <a:t>9/29/2026</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2228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0979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3072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9/29/2026</a:t>
            </a:fld>
            <a:endParaRPr lang="en-US" dirty="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‹Nº›</a:t>
            </a:fld>
            <a:endParaRPr dirty="0">
              <a:solidFill>
                <a:prstClr val="black">
                  <a:tint val="75000"/>
                </a:prstClr>
              </a:solidFill>
            </a:endParaRPr>
          </a:p>
        </p:txBody>
      </p:sp>
    </p:spTree>
    <p:extLst>
      <p:ext uri="{BB962C8B-B14F-4D97-AF65-F5344CB8AC3E}">
        <p14:creationId xmlns:p14="http://schemas.microsoft.com/office/powerpoint/2010/main" val="1695255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9/29/2026</a:t>
            </a:fld>
            <a:endParaRPr lang="en-US" dirty="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‹Nº›</a:t>
            </a:fld>
            <a:endParaRPr dirty="0">
              <a:solidFill>
                <a:prstClr val="black">
                  <a:tint val="75000"/>
                </a:prstClr>
              </a:solidFill>
            </a:endParaRPr>
          </a:p>
        </p:txBody>
      </p:sp>
    </p:spTree>
    <p:extLst>
      <p:ext uri="{BB962C8B-B14F-4D97-AF65-F5344CB8AC3E}">
        <p14:creationId xmlns:p14="http://schemas.microsoft.com/office/powerpoint/2010/main" val="2553288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5"/>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9/29/2026</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‹Nº›</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827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ENFERMEDADES REEMERGENTES</a:t>
            </a:r>
            <a:endParaRPr lang="en-US" dirty="0"/>
          </a:p>
        </p:txBody>
      </p:sp>
      <p:sp>
        <p:nvSpPr>
          <p:cNvPr id="3" name="Marcador de contenido 2"/>
          <p:cNvSpPr>
            <a:spLocks noGrp="1"/>
          </p:cNvSpPr>
          <p:nvPr>
            <p:ph idx="1"/>
          </p:nvPr>
        </p:nvSpPr>
        <p:spPr>
          <a:xfrm>
            <a:off x="1534695" y="2015732"/>
            <a:ext cx="10496195" cy="3450613"/>
          </a:xfrm>
        </p:spPr>
        <p:txBody>
          <a:bodyPr/>
          <a:lstStyle/>
          <a:p>
            <a:pPr marL="0" indent="0">
              <a:buNone/>
            </a:pPr>
            <a:endParaRPr lang="es-AR" dirty="0"/>
          </a:p>
          <a:p>
            <a:pPr marL="0" indent="0">
              <a:buNone/>
            </a:pPr>
            <a:endParaRPr lang="es-AR" dirty="0"/>
          </a:p>
          <a:p>
            <a:pPr marL="0" indent="0">
              <a:buNone/>
            </a:pPr>
            <a:endParaRPr lang="es-AR" dirty="0"/>
          </a:p>
          <a:p>
            <a:pPr marL="0" indent="0" algn="r">
              <a:buNone/>
            </a:pPr>
            <a:endParaRPr lang="es-AR" dirty="0"/>
          </a:p>
          <a:p>
            <a:pPr marL="0" indent="0" algn="ctr">
              <a:buNone/>
            </a:pPr>
            <a:r>
              <a:rPr lang="es-AR" dirty="0"/>
              <a:t>2</a:t>
            </a:r>
            <a:r>
              <a:rPr lang="es-AR" sz="2400" dirty="0"/>
              <a:t>° Parte: </a:t>
            </a:r>
            <a:r>
              <a:rPr lang="es-ES" sz="2400" dirty="0"/>
              <a:t>CHIKUNGUNYA</a:t>
            </a:r>
          </a:p>
          <a:p>
            <a:pPr marL="0" indent="0" algn="ctr">
              <a:buNone/>
            </a:pPr>
            <a:r>
              <a:rPr lang="es-ES" sz="2400" dirty="0"/>
              <a:t>                    FIEBRE AMARILLA</a:t>
            </a:r>
            <a:endParaRPr lang="en-US" sz="2400" dirty="0"/>
          </a:p>
        </p:txBody>
      </p:sp>
    </p:spTree>
    <p:extLst>
      <p:ext uri="{BB962C8B-B14F-4D97-AF65-F5344CB8AC3E}">
        <p14:creationId xmlns:p14="http://schemas.microsoft.com/office/powerpoint/2010/main" val="38508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796833"/>
          </a:xfrm>
        </p:spPr>
        <p:txBody>
          <a:bodyPr/>
          <a:lstStyle/>
          <a:p>
            <a:r>
              <a:rPr lang="es-ES" dirty="0"/>
              <a:t>CHIKUNGUNYA</a:t>
            </a:r>
            <a:endParaRPr lang="en-US" dirty="0"/>
          </a:p>
        </p:txBody>
      </p:sp>
      <p:sp>
        <p:nvSpPr>
          <p:cNvPr id="3" name="Marcador de contenido 2"/>
          <p:cNvSpPr>
            <a:spLocks noGrp="1"/>
          </p:cNvSpPr>
          <p:nvPr>
            <p:ph idx="1"/>
          </p:nvPr>
        </p:nvSpPr>
        <p:spPr>
          <a:xfrm>
            <a:off x="1350498" y="1071154"/>
            <a:ext cx="10841502" cy="5016137"/>
          </a:xfrm>
        </p:spPr>
        <p:txBody>
          <a:bodyPr>
            <a:normAutofit fontScale="92500" lnSpcReduction="10000"/>
          </a:bodyPr>
          <a:lstStyle/>
          <a:p>
            <a:r>
              <a:rPr lang="es-ES" sz="2400" dirty="0"/>
              <a:t>En términos acumulados, desde la SE 1/2024 hasta la SE 32/</a:t>
            </a:r>
            <a:r>
              <a:rPr lang="es-ES" sz="2400" b="1" dirty="0"/>
              <a:t>2024 </a:t>
            </a:r>
            <a:r>
              <a:rPr lang="es-ES" sz="2400" dirty="0"/>
              <a:t>se registraron en Argentina </a:t>
            </a:r>
            <a:r>
              <a:rPr lang="es-ES" sz="2400" b="1" dirty="0"/>
              <a:t>830 casos</a:t>
            </a:r>
            <a:r>
              <a:rPr lang="es-ES" sz="2400" dirty="0"/>
              <a:t>.</a:t>
            </a:r>
          </a:p>
          <a:p>
            <a:r>
              <a:rPr lang="es-ES" sz="2400" dirty="0"/>
              <a:t>En el período analizado se registraron casos autóctonos en 7 provincias: Buenos Aires, Córdoba y Santa Fe de la región Centro; Chaco y Misiones de la región NEA; Salta y Santiago del Estero de la región</a:t>
            </a:r>
          </a:p>
          <a:p>
            <a:r>
              <a:rPr lang="es-ES" sz="2400" dirty="0"/>
              <a:t>En lo que va de </a:t>
            </a:r>
            <a:r>
              <a:rPr lang="es-ES" sz="2400" b="1" dirty="0"/>
              <a:t>2025,</a:t>
            </a:r>
            <a:r>
              <a:rPr lang="es-ES" sz="2400" dirty="0"/>
              <a:t> la región de las Américas registró el mayor número de casos de CHIKVD notificados a nivel mundial. A mediados de </a:t>
            </a:r>
            <a:r>
              <a:rPr lang="es-ES" sz="2400" b="1" dirty="0"/>
              <a:t>julio de 2025 </a:t>
            </a:r>
            <a:r>
              <a:rPr lang="es-ES" sz="2400" dirty="0"/>
              <a:t>(datos recopilados el 14 y 15 de julio de 2025), los países que reportaron el mayor número de casos de CHIKVD fueron Brasil (185 553), Bolivia (4 721), </a:t>
            </a:r>
            <a:r>
              <a:rPr lang="es-ES" sz="2400" b="1" dirty="0"/>
              <a:t>Argentina (2 836</a:t>
            </a:r>
            <a:r>
              <a:rPr lang="es-ES" sz="2400" dirty="0"/>
              <a:t>) y Perú (55).</a:t>
            </a:r>
          </a:p>
          <a:p>
            <a:r>
              <a:rPr lang="es-ES" sz="2400" b="1" dirty="0"/>
              <a:t> “Se observó un descenso de casos en Paraguay y Brasil, mientras que en Bolivia se ha reportado un aumento de casos”.</a:t>
            </a:r>
            <a:endParaRPr lang="en-US" sz="2400" b="1" dirty="0"/>
          </a:p>
        </p:txBody>
      </p:sp>
    </p:spTree>
    <p:extLst>
      <p:ext uri="{BB962C8B-B14F-4D97-AF65-F5344CB8AC3E}">
        <p14:creationId xmlns:p14="http://schemas.microsoft.com/office/powerpoint/2010/main" val="1061100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1807FCA-536D-7644-FF5B-B25005388C81}"/>
              </a:ext>
            </a:extLst>
          </p:cNvPr>
          <p:cNvSpPr txBox="1"/>
          <p:nvPr/>
        </p:nvSpPr>
        <p:spPr>
          <a:xfrm>
            <a:off x="346364" y="754452"/>
            <a:ext cx="11582399" cy="5262979"/>
          </a:xfrm>
          <a:prstGeom prst="rect">
            <a:avLst/>
          </a:prstGeom>
          <a:noFill/>
        </p:spPr>
        <p:txBody>
          <a:bodyPr wrap="square">
            <a:spAutoFit/>
          </a:bodyPr>
          <a:lstStyle/>
          <a:p>
            <a:r>
              <a:rPr lang="es-ES" dirty="0"/>
              <a:t>                 </a:t>
            </a:r>
            <a:r>
              <a:rPr lang="es-ES" sz="2400" dirty="0"/>
              <a:t>Con la SE 31/2026 se inicia la nueva temporada epidemiológica 2026/2027.</a:t>
            </a:r>
          </a:p>
          <a:p>
            <a:pPr lvl="2"/>
            <a:r>
              <a:rPr lang="es-ES" sz="2400" dirty="0"/>
              <a:t> Se notificaron 83 casos sospechosos, 3  probables en la provincia de Salta en los departamentos de Orán, Gral. José de San Martín y Anta.</a:t>
            </a:r>
          </a:p>
          <a:p>
            <a:pPr lvl="2"/>
            <a:endParaRPr lang="es-ES" sz="2400" dirty="0"/>
          </a:p>
          <a:p>
            <a:r>
              <a:rPr lang="es-ES" sz="2400" dirty="0"/>
              <a:t>Durante el primer semestre de 2026, Argentina atravesó un brote de fiebre chikungunya que afectó principalmente a la región NOA, con predominio de casos en Salta, Tucumán y Jujuy y un pico de notificaciones en la SE 16, seguido de un descenso progresivo y sostenido.</a:t>
            </a:r>
          </a:p>
          <a:p>
            <a:r>
              <a:rPr lang="es-ES" sz="2400" dirty="0"/>
              <a:t>  </a:t>
            </a:r>
          </a:p>
          <a:p>
            <a:r>
              <a:rPr lang="es-ES" sz="2400" dirty="0"/>
              <a:t>Actualmente, no se registran casos confirmados correspondientes a la nueva temporada. No obstante, considerando el antecedente reciente de circulación de CHIKV, se recomienda mantener una vigilancia intensificada y sostener la búsqueda de chikungunya entre los casos de síndrome febril agudo inespecífico, con especial atención a la detección oportuna de posibles nuevos focos de transmisión. </a:t>
            </a:r>
            <a:endParaRPr lang="es-AR" sz="2400" dirty="0"/>
          </a:p>
        </p:txBody>
      </p:sp>
      <p:sp>
        <p:nvSpPr>
          <p:cNvPr id="4" name="Título 3">
            <a:extLst>
              <a:ext uri="{FF2B5EF4-FFF2-40B4-BE49-F238E27FC236}">
                <a16:creationId xmlns:a16="http://schemas.microsoft.com/office/drawing/2014/main" id="{368D6477-41B1-8221-2EDA-617A2FA0C2E6}"/>
              </a:ext>
            </a:extLst>
          </p:cNvPr>
          <p:cNvSpPr>
            <a:spLocks noGrp="1"/>
          </p:cNvSpPr>
          <p:nvPr>
            <p:ph type="title"/>
          </p:nvPr>
        </p:nvSpPr>
        <p:spPr>
          <a:xfrm>
            <a:off x="1534696" y="96983"/>
            <a:ext cx="9520158" cy="657468"/>
          </a:xfrm>
        </p:spPr>
        <p:txBody>
          <a:bodyPr>
            <a:normAutofit fontScale="90000"/>
          </a:bodyPr>
          <a:lstStyle/>
          <a:p>
            <a:br>
              <a:rPr lang="es-ES" dirty="0"/>
            </a:br>
            <a:br>
              <a:rPr lang="es-ES" dirty="0"/>
            </a:br>
            <a:br>
              <a:rPr lang="es-ES" dirty="0"/>
            </a:br>
            <a:br>
              <a:rPr lang="es-ES" dirty="0"/>
            </a:br>
            <a:br>
              <a:rPr lang="es-AR" dirty="0"/>
            </a:br>
            <a:r>
              <a:rPr lang="es-ES" dirty="0"/>
              <a:t>Fiebre Chikungunya en Argentina</a:t>
            </a:r>
            <a:endParaRPr lang="es-AR" dirty="0"/>
          </a:p>
        </p:txBody>
      </p:sp>
    </p:spTree>
    <p:extLst>
      <p:ext uri="{BB962C8B-B14F-4D97-AF65-F5344CB8AC3E}">
        <p14:creationId xmlns:p14="http://schemas.microsoft.com/office/powerpoint/2010/main" val="113357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ctrTitle"/>
          </p:nvPr>
        </p:nvSpPr>
        <p:spPr>
          <a:xfrm>
            <a:off x="0" y="182880"/>
            <a:ext cx="12192000" cy="6675120"/>
          </a:xfrm>
        </p:spPr>
        <p:txBody>
          <a:bodyPr>
            <a:normAutofit/>
          </a:bodyPr>
          <a:lstStyle/>
          <a:p>
            <a:br>
              <a:rPr lang="es-AR" sz="1600" dirty="0">
                <a:solidFill>
                  <a:schemeClr val="bg1"/>
                </a:solidFill>
              </a:rPr>
            </a:br>
            <a:br>
              <a:rPr lang="es-AR" sz="1600" dirty="0">
                <a:solidFill>
                  <a:schemeClr val="bg1"/>
                </a:solidFill>
              </a:rPr>
            </a:br>
            <a:br>
              <a:rPr lang="es-AR" sz="1600" dirty="0">
                <a:solidFill>
                  <a:schemeClr val="bg1"/>
                </a:solidFill>
              </a:rPr>
            </a:br>
            <a:endParaRPr lang="es-AR" sz="1600" dirty="0">
              <a:solidFill>
                <a:schemeClr val="bg1"/>
              </a:solidFill>
            </a:endParaRPr>
          </a:p>
        </p:txBody>
      </p:sp>
      <p:sp>
        <p:nvSpPr>
          <p:cNvPr id="4" name="Rectángulo 3"/>
          <p:cNvSpPr/>
          <p:nvPr/>
        </p:nvSpPr>
        <p:spPr>
          <a:xfrm>
            <a:off x="3048000" y="4629835"/>
            <a:ext cx="6096000" cy="646331"/>
          </a:xfrm>
          <a:prstGeom prst="rect">
            <a:avLst/>
          </a:prstGeom>
        </p:spPr>
        <p:txBody>
          <a:bodyPr>
            <a:spAutoFit/>
          </a:bodyPr>
          <a:lstStyle/>
          <a:p>
            <a:r>
              <a:rPr lang="es-AR" dirty="0"/>
              <a:t>https://temas.sld.cu/chikungunya/files/2014/06/estructura-del-virus-chikungunya.png</a:t>
            </a:r>
          </a:p>
        </p:txBody>
      </p:sp>
      <p:sp>
        <p:nvSpPr>
          <p:cNvPr id="5" name="Rectángulo 4"/>
          <p:cNvSpPr/>
          <p:nvPr/>
        </p:nvSpPr>
        <p:spPr>
          <a:xfrm>
            <a:off x="3048000" y="3105835"/>
            <a:ext cx="6096000" cy="646331"/>
          </a:xfrm>
          <a:prstGeom prst="rect">
            <a:avLst/>
          </a:prstGeom>
        </p:spPr>
        <p:txBody>
          <a:bodyPr>
            <a:spAutoFit/>
          </a:bodyPr>
          <a:lstStyle/>
          <a:p>
            <a:r>
              <a:rPr lang="es-AR" dirty="0"/>
              <a:t>https://temas.sld.cu/chikungunya/files/2014/06/estructura-del-virus-chikungunya.png</a:t>
            </a:r>
          </a:p>
        </p:txBody>
      </p:sp>
      <p:pic>
        <p:nvPicPr>
          <p:cNvPr id="2052" name="Picture 4" descr="https://temas.sld.cu/chikungunya/files/2014/06/estructura-del-virus-chikunguny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 y="0"/>
            <a:ext cx="1223264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012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0"/>
            <a:ext cx="9520158" cy="757646"/>
          </a:xfrm>
        </p:spPr>
        <p:txBody>
          <a:bodyPr/>
          <a:lstStyle/>
          <a:p>
            <a:r>
              <a:rPr lang="en-US" spc="-55" dirty="0"/>
              <a:t>CHIKUNGUNYA</a:t>
            </a:r>
            <a:endParaRPr lang="en-US" dirty="0"/>
          </a:p>
        </p:txBody>
      </p:sp>
      <p:sp>
        <p:nvSpPr>
          <p:cNvPr id="3" name="Marcador de contenido 2"/>
          <p:cNvSpPr>
            <a:spLocks noGrp="1"/>
          </p:cNvSpPr>
          <p:nvPr>
            <p:ph idx="1"/>
          </p:nvPr>
        </p:nvSpPr>
        <p:spPr>
          <a:xfrm>
            <a:off x="1397726" y="757646"/>
            <a:ext cx="10794274" cy="5368834"/>
          </a:xfrm>
        </p:spPr>
        <p:txBody>
          <a:bodyPr>
            <a:normAutofit/>
          </a:bodyPr>
          <a:lstStyle/>
          <a:p>
            <a:pPr marL="12065" marR="1093470" indent="0">
              <a:lnSpc>
                <a:spcPts val="2590"/>
              </a:lnSpc>
              <a:spcBef>
                <a:spcPts val="1020"/>
              </a:spcBef>
              <a:buNone/>
              <a:tabLst>
                <a:tab pos="241935" algn="l"/>
              </a:tabLst>
            </a:pPr>
            <a:r>
              <a:rPr lang="es-ES" sz="2400" spc="-15" dirty="0">
                <a:solidFill>
                  <a:prstClr val="black"/>
                </a:solidFill>
                <a:cs typeface="Calibri"/>
              </a:rPr>
              <a:t>V</a:t>
            </a:r>
            <a:r>
              <a:rPr lang="es-ES" sz="2400" dirty="0">
                <a:solidFill>
                  <a:prstClr val="black"/>
                </a:solidFill>
                <a:cs typeface="Calibri"/>
              </a:rPr>
              <a:t>irus</a:t>
            </a:r>
            <a:r>
              <a:rPr lang="es-ES" sz="2400" spc="-10" dirty="0">
                <a:solidFill>
                  <a:prstClr val="black"/>
                </a:solidFill>
                <a:cs typeface="Calibri"/>
              </a:rPr>
              <a:t> </a:t>
            </a:r>
            <a:r>
              <a:rPr lang="es-ES" sz="2400" spc="-15" dirty="0">
                <a:solidFill>
                  <a:prstClr val="black"/>
                </a:solidFill>
                <a:cs typeface="Calibri"/>
              </a:rPr>
              <a:t>Chikungunya</a:t>
            </a:r>
            <a:r>
              <a:rPr lang="es-ES" sz="2400" spc="-10" dirty="0">
                <a:solidFill>
                  <a:prstClr val="black"/>
                </a:solidFill>
                <a:cs typeface="Calibri"/>
              </a:rPr>
              <a:t> </a:t>
            </a:r>
            <a:r>
              <a:rPr lang="es-ES" sz="2400" spc="-5" dirty="0">
                <a:solidFill>
                  <a:prstClr val="black"/>
                </a:solidFill>
                <a:cs typeface="Calibri"/>
              </a:rPr>
              <a:t>(CHIKV)</a:t>
            </a:r>
            <a:r>
              <a:rPr lang="es-ES" sz="2400" spc="-15" dirty="0">
                <a:solidFill>
                  <a:prstClr val="black"/>
                </a:solidFill>
                <a:cs typeface="Calibri"/>
              </a:rPr>
              <a:t> </a:t>
            </a:r>
            <a:r>
              <a:rPr lang="es-ES" sz="2400" dirty="0">
                <a:solidFill>
                  <a:prstClr val="black"/>
                </a:solidFill>
                <a:cs typeface="Calibri"/>
              </a:rPr>
              <a:t>es </a:t>
            </a:r>
            <a:r>
              <a:rPr lang="es-ES" sz="2400" spc="-5" dirty="0">
                <a:solidFill>
                  <a:prstClr val="black"/>
                </a:solidFill>
                <a:cs typeface="Calibri"/>
              </a:rPr>
              <a:t>una </a:t>
            </a:r>
            <a:r>
              <a:rPr lang="es-ES" sz="2400" spc="-530" dirty="0">
                <a:solidFill>
                  <a:prstClr val="black"/>
                </a:solidFill>
                <a:cs typeface="Calibri"/>
              </a:rPr>
              <a:t> </a:t>
            </a:r>
            <a:r>
              <a:rPr lang="es-ES" sz="2400" spc="-10" dirty="0">
                <a:solidFill>
                  <a:prstClr val="black"/>
                </a:solidFill>
                <a:cs typeface="Calibri"/>
              </a:rPr>
              <a:t>arbovirosis, </a:t>
            </a:r>
            <a:r>
              <a:rPr lang="es-ES" sz="2400" spc="-5" dirty="0">
                <a:solidFill>
                  <a:prstClr val="black"/>
                </a:solidFill>
                <a:cs typeface="Calibri"/>
              </a:rPr>
              <a:t>del</a:t>
            </a:r>
            <a:r>
              <a:rPr lang="es-ES" sz="2400" dirty="0">
                <a:solidFill>
                  <a:prstClr val="black"/>
                </a:solidFill>
                <a:cs typeface="Calibri"/>
              </a:rPr>
              <a:t> </a:t>
            </a:r>
            <a:r>
              <a:rPr lang="es-ES" sz="2400" spc="-10" dirty="0">
                <a:solidFill>
                  <a:prstClr val="black"/>
                </a:solidFill>
                <a:cs typeface="Calibri"/>
              </a:rPr>
              <a:t>género</a:t>
            </a:r>
            <a:r>
              <a:rPr lang="es-ES" sz="2400" spc="20" dirty="0">
                <a:solidFill>
                  <a:prstClr val="black"/>
                </a:solidFill>
                <a:cs typeface="Calibri"/>
              </a:rPr>
              <a:t> </a:t>
            </a:r>
            <a:r>
              <a:rPr lang="es-ES" sz="2400" i="1" spc="-5" dirty="0">
                <a:solidFill>
                  <a:prstClr val="black"/>
                </a:solidFill>
                <a:cs typeface="Calibri"/>
              </a:rPr>
              <a:t>Alphavirus</a:t>
            </a:r>
            <a:r>
              <a:rPr lang="es-ES" sz="2400" spc="-5" dirty="0">
                <a:solidFill>
                  <a:prstClr val="black"/>
                </a:solidFill>
                <a:cs typeface="Calibri"/>
              </a:rPr>
              <a:t>,</a:t>
            </a:r>
            <a:r>
              <a:rPr lang="es-ES" sz="2400" spc="10" dirty="0">
                <a:solidFill>
                  <a:prstClr val="black"/>
                </a:solidFill>
                <a:cs typeface="Calibri"/>
              </a:rPr>
              <a:t> </a:t>
            </a:r>
            <a:r>
              <a:rPr lang="es-ES" sz="2400" spc="-10" dirty="0">
                <a:solidFill>
                  <a:prstClr val="black"/>
                </a:solidFill>
                <a:cs typeface="Calibri"/>
              </a:rPr>
              <a:t>familia</a:t>
            </a:r>
            <a:r>
              <a:rPr lang="es-ES" sz="2400" dirty="0">
                <a:solidFill>
                  <a:prstClr val="black"/>
                </a:solidFill>
                <a:cs typeface="Calibri"/>
              </a:rPr>
              <a:t> T</a:t>
            </a:r>
            <a:r>
              <a:rPr lang="es-ES" sz="2400" i="1" spc="-20" dirty="0">
                <a:solidFill>
                  <a:prstClr val="black"/>
                </a:solidFill>
                <a:cs typeface="Calibri"/>
              </a:rPr>
              <a:t>ogaviridae</a:t>
            </a:r>
            <a:r>
              <a:rPr lang="es-ES" sz="2400" spc="-20" dirty="0">
                <a:solidFill>
                  <a:prstClr val="black"/>
                </a:solidFill>
                <a:cs typeface="Calibri"/>
              </a:rPr>
              <a:t>.</a:t>
            </a:r>
          </a:p>
          <a:p>
            <a:pPr marL="12065" marR="1093470" indent="0">
              <a:lnSpc>
                <a:spcPts val="2590"/>
              </a:lnSpc>
              <a:spcBef>
                <a:spcPts val="1020"/>
              </a:spcBef>
              <a:buNone/>
              <a:tabLst>
                <a:tab pos="241935" algn="l"/>
              </a:tabLst>
            </a:pPr>
            <a:endParaRPr lang="es-ES" sz="2400" dirty="0">
              <a:solidFill>
                <a:prstClr val="black"/>
              </a:solidFill>
              <a:cs typeface="Calibri"/>
            </a:endParaRPr>
          </a:p>
          <a:p>
            <a:pPr marL="12065" indent="0">
              <a:lnSpc>
                <a:spcPts val="2735"/>
              </a:lnSpc>
              <a:spcBef>
                <a:spcPts val="670"/>
              </a:spcBef>
              <a:buNone/>
              <a:tabLst>
                <a:tab pos="241935" algn="l"/>
              </a:tabLst>
            </a:pPr>
            <a:r>
              <a:rPr lang="es-ES" sz="2400" spc="-5" dirty="0">
                <a:solidFill>
                  <a:prstClr val="black"/>
                </a:solidFill>
                <a:cs typeface="Calibri"/>
              </a:rPr>
              <a:t>Su principal</a:t>
            </a:r>
            <a:r>
              <a:rPr lang="es-ES" sz="2400" spc="-15" dirty="0">
                <a:solidFill>
                  <a:prstClr val="black"/>
                </a:solidFill>
                <a:cs typeface="Calibri"/>
              </a:rPr>
              <a:t> </a:t>
            </a:r>
            <a:r>
              <a:rPr lang="es-ES" sz="2400" spc="-10" dirty="0">
                <a:solidFill>
                  <a:prstClr val="black"/>
                </a:solidFill>
                <a:cs typeface="Calibri"/>
              </a:rPr>
              <a:t>vector</a:t>
            </a:r>
            <a:r>
              <a:rPr lang="es-ES" sz="2400" spc="-20" dirty="0">
                <a:solidFill>
                  <a:prstClr val="black"/>
                </a:solidFill>
                <a:cs typeface="Calibri"/>
              </a:rPr>
              <a:t> </a:t>
            </a:r>
            <a:r>
              <a:rPr lang="es-ES" sz="2400" spc="-5" dirty="0">
                <a:solidFill>
                  <a:prstClr val="black"/>
                </a:solidFill>
                <a:cs typeface="Calibri"/>
              </a:rPr>
              <a:t>de transmisión</a:t>
            </a:r>
            <a:r>
              <a:rPr lang="es-ES" sz="2400" spc="-20" dirty="0">
                <a:solidFill>
                  <a:prstClr val="black"/>
                </a:solidFill>
                <a:cs typeface="Calibri"/>
              </a:rPr>
              <a:t> </a:t>
            </a:r>
            <a:r>
              <a:rPr lang="es-ES" sz="2400" dirty="0">
                <a:solidFill>
                  <a:prstClr val="black"/>
                </a:solidFill>
                <a:cs typeface="Calibri"/>
              </a:rPr>
              <a:t>es</a:t>
            </a:r>
            <a:r>
              <a:rPr lang="es-ES" sz="2400" spc="5" dirty="0">
                <a:solidFill>
                  <a:prstClr val="black"/>
                </a:solidFill>
                <a:cs typeface="Calibri"/>
              </a:rPr>
              <a:t> </a:t>
            </a:r>
            <a:r>
              <a:rPr lang="es-ES" sz="2400" dirty="0">
                <a:solidFill>
                  <a:prstClr val="black"/>
                </a:solidFill>
                <a:cs typeface="Calibri"/>
              </a:rPr>
              <a:t>el </a:t>
            </a:r>
            <a:r>
              <a:rPr lang="es-ES" sz="2400" spc="-10" dirty="0">
                <a:solidFill>
                  <a:prstClr val="black"/>
                </a:solidFill>
                <a:cs typeface="Calibri"/>
              </a:rPr>
              <a:t>mosquito</a:t>
            </a:r>
            <a:r>
              <a:rPr lang="es-ES" sz="2400" spc="5" dirty="0">
                <a:solidFill>
                  <a:prstClr val="black"/>
                </a:solidFill>
                <a:cs typeface="Calibri"/>
              </a:rPr>
              <a:t> </a:t>
            </a:r>
            <a:r>
              <a:rPr lang="es-ES" sz="2400" b="1" i="1" spc="-5" dirty="0">
                <a:solidFill>
                  <a:prstClr val="black"/>
                </a:solidFill>
                <a:cs typeface="Calibri"/>
              </a:rPr>
              <a:t>Aedes</a:t>
            </a:r>
            <a:r>
              <a:rPr lang="es-ES" sz="2400" b="1" i="1" spc="-10" dirty="0">
                <a:solidFill>
                  <a:prstClr val="black"/>
                </a:solidFill>
                <a:cs typeface="Calibri"/>
              </a:rPr>
              <a:t> </a:t>
            </a:r>
            <a:r>
              <a:rPr lang="es-ES" sz="2400" b="1" i="1" spc="-5" dirty="0">
                <a:solidFill>
                  <a:prstClr val="black"/>
                </a:solidFill>
                <a:cs typeface="Calibri"/>
              </a:rPr>
              <a:t>aegypti</a:t>
            </a:r>
            <a:r>
              <a:rPr lang="es-ES" sz="2400" spc="-5" dirty="0">
                <a:solidFill>
                  <a:prstClr val="black"/>
                </a:solidFill>
                <a:cs typeface="Calibri"/>
              </a:rPr>
              <a:t>,</a:t>
            </a:r>
            <a:r>
              <a:rPr lang="es-ES" sz="2400" spc="-25" dirty="0">
                <a:solidFill>
                  <a:prstClr val="black"/>
                </a:solidFill>
                <a:cs typeface="Calibri"/>
              </a:rPr>
              <a:t> </a:t>
            </a:r>
            <a:r>
              <a:rPr lang="es-ES" sz="2400" spc="-5" dirty="0">
                <a:solidFill>
                  <a:prstClr val="black"/>
                </a:solidFill>
                <a:cs typeface="Calibri"/>
              </a:rPr>
              <a:t>también</a:t>
            </a:r>
            <a:r>
              <a:rPr lang="es-ES" sz="2400" spc="-35" dirty="0">
                <a:solidFill>
                  <a:prstClr val="black"/>
                </a:solidFill>
                <a:cs typeface="Calibri"/>
              </a:rPr>
              <a:t> puede ser </a:t>
            </a:r>
            <a:r>
              <a:rPr lang="es-ES" sz="2400" spc="-10" dirty="0">
                <a:solidFill>
                  <a:prstClr val="black"/>
                </a:solidFill>
                <a:cs typeface="Calibri"/>
              </a:rPr>
              <a:t>vector, aunque</a:t>
            </a:r>
            <a:r>
              <a:rPr lang="es-ES" sz="2400" spc="-20" dirty="0">
                <a:solidFill>
                  <a:prstClr val="black"/>
                </a:solidFill>
                <a:cs typeface="Calibri"/>
              </a:rPr>
              <a:t> </a:t>
            </a:r>
            <a:r>
              <a:rPr lang="es-ES" sz="2400" dirty="0">
                <a:solidFill>
                  <a:prstClr val="black"/>
                </a:solidFill>
                <a:cs typeface="Calibri"/>
              </a:rPr>
              <a:t>menos</a:t>
            </a:r>
            <a:r>
              <a:rPr lang="es-ES" sz="2400" spc="-5" dirty="0">
                <a:solidFill>
                  <a:prstClr val="black"/>
                </a:solidFill>
                <a:cs typeface="Calibri"/>
              </a:rPr>
              <a:t> </a:t>
            </a:r>
            <a:r>
              <a:rPr lang="es-ES" sz="2400" spc="-15" dirty="0">
                <a:solidFill>
                  <a:prstClr val="black"/>
                </a:solidFill>
                <a:cs typeface="Calibri"/>
              </a:rPr>
              <a:t>efectivo</a:t>
            </a:r>
            <a:r>
              <a:rPr lang="es-ES" sz="2400" spc="-10" dirty="0">
                <a:solidFill>
                  <a:prstClr val="black"/>
                </a:solidFill>
                <a:cs typeface="Calibri"/>
              </a:rPr>
              <a:t> </a:t>
            </a:r>
            <a:r>
              <a:rPr lang="es-ES" sz="2400" dirty="0">
                <a:solidFill>
                  <a:prstClr val="black"/>
                </a:solidFill>
                <a:cs typeface="Calibri"/>
              </a:rPr>
              <a:t>el</a:t>
            </a:r>
            <a:r>
              <a:rPr lang="es-ES" sz="2400" spc="-5" dirty="0">
                <a:solidFill>
                  <a:prstClr val="black"/>
                </a:solidFill>
                <a:cs typeface="Calibri"/>
              </a:rPr>
              <a:t> </a:t>
            </a:r>
            <a:r>
              <a:rPr lang="es-ES" sz="2400" i="1" dirty="0">
                <a:solidFill>
                  <a:prstClr val="black"/>
                </a:solidFill>
                <a:cs typeface="Calibri"/>
              </a:rPr>
              <a:t>Aedes</a:t>
            </a:r>
            <a:r>
              <a:rPr lang="es-ES" sz="2400" i="1" spc="-10" dirty="0">
                <a:solidFill>
                  <a:prstClr val="black"/>
                </a:solidFill>
                <a:cs typeface="Calibri"/>
              </a:rPr>
              <a:t> </a:t>
            </a:r>
            <a:r>
              <a:rPr lang="es-ES" sz="2400" i="1" spc="-5" dirty="0">
                <a:solidFill>
                  <a:prstClr val="black"/>
                </a:solidFill>
                <a:cs typeface="Calibri"/>
              </a:rPr>
              <a:t>albopictus</a:t>
            </a:r>
            <a:r>
              <a:rPr lang="es-ES" sz="2400" spc="-5" dirty="0">
                <a:solidFill>
                  <a:prstClr val="black"/>
                </a:solidFill>
                <a:cs typeface="Calibri"/>
              </a:rPr>
              <a:t>.</a:t>
            </a:r>
          </a:p>
          <a:p>
            <a:pPr marL="12065" indent="0">
              <a:lnSpc>
                <a:spcPts val="2735"/>
              </a:lnSpc>
              <a:spcBef>
                <a:spcPts val="670"/>
              </a:spcBef>
              <a:buNone/>
              <a:tabLst>
                <a:tab pos="241935" algn="l"/>
              </a:tabLst>
            </a:pPr>
            <a:endParaRPr lang="es-ES" sz="2400" dirty="0">
              <a:solidFill>
                <a:prstClr val="black"/>
              </a:solidFill>
              <a:cs typeface="Calibri"/>
            </a:endParaRPr>
          </a:p>
          <a:p>
            <a:pPr marL="12065" marR="22225" indent="0">
              <a:lnSpc>
                <a:spcPts val="2590"/>
              </a:lnSpc>
              <a:spcBef>
                <a:spcPts val="1035"/>
              </a:spcBef>
              <a:buNone/>
              <a:tabLst>
                <a:tab pos="309880" algn="l"/>
                <a:tab pos="310515" algn="l"/>
              </a:tabLst>
            </a:pPr>
            <a:r>
              <a:rPr lang="es-ES" sz="2400" spc="-5" dirty="0">
                <a:solidFill>
                  <a:prstClr val="black"/>
                </a:solidFill>
                <a:cs typeface="Calibri"/>
              </a:rPr>
              <a:t>El</a:t>
            </a:r>
            <a:r>
              <a:rPr lang="es-ES" sz="2400" spc="-15" dirty="0">
                <a:solidFill>
                  <a:prstClr val="black"/>
                </a:solidFill>
                <a:cs typeface="Calibri"/>
              </a:rPr>
              <a:t> </a:t>
            </a:r>
            <a:r>
              <a:rPr lang="es-ES" sz="2400" spc="-5" dirty="0">
                <a:solidFill>
                  <a:prstClr val="black"/>
                </a:solidFill>
                <a:cs typeface="Calibri"/>
              </a:rPr>
              <a:t>periodo</a:t>
            </a:r>
            <a:r>
              <a:rPr lang="es-ES" sz="2400" dirty="0">
                <a:solidFill>
                  <a:prstClr val="black"/>
                </a:solidFill>
                <a:cs typeface="Calibri"/>
              </a:rPr>
              <a:t> </a:t>
            </a:r>
            <a:r>
              <a:rPr lang="es-ES" sz="2400" spc="-5" dirty="0">
                <a:solidFill>
                  <a:prstClr val="black"/>
                </a:solidFill>
                <a:cs typeface="Calibri"/>
              </a:rPr>
              <a:t>de</a:t>
            </a:r>
            <a:r>
              <a:rPr lang="es-ES" sz="2400" dirty="0">
                <a:solidFill>
                  <a:prstClr val="black"/>
                </a:solidFill>
                <a:cs typeface="Calibri"/>
              </a:rPr>
              <a:t> </a:t>
            </a:r>
            <a:r>
              <a:rPr lang="es-ES" sz="2400" spc="-5" dirty="0">
                <a:solidFill>
                  <a:prstClr val="black"/>
                </a:solidFill>
                <a:cs typeface="Calibri"/>
              </a:rPr>
              <a:t>incubación</a:t>
            </a:r>
            <a:r>
              <a:rPr lang="es-ES" sz="2400" spc="-15" dirty="0">
                <a:solidFill>
                  <a:prstClr val="black"/>
                </a:solidFill>
                <a:cs typeface="Calibri"/>
              </a:rPr>
              <a:t> tras</a:t>
            </a:r>
            <a:r>
              <a:rPr lang="es-ES" sz="2400" spc="-10" dirty="0">
                <a:solidFill>
                  <a:prstClr val="black"/>
                </a:solidFill>
                <a:cs typeface="Calibri"/>
              </a:rPr>
              <a:t> </a:t>
            </a:r>
            <a:r>
              <a:rPr lang="es-ES" sz="2400" dirty="0">
                <a:solidFill>
                  <a:prstClr val="black"/>
                </a:solidFill>
                <a:cs typeface="Calibri"/>
              </a:rPr>
              <a:t>la</a:t>
            </a:r>
            <a:r>
              <a:rPr lang="es-ES" sz="2400" spc="-5" dirty="0">
                <a:solidFill>
                  <a:prstClr val="black"/>
                </a:solidFill>
                <a:cs typeface="Calibri"/>
              </a:rPr>
              <a:t> </a:t>
            </a:r>
            <a:r>
              <a:rPr lang="es-ES" sz="2400" spc="-10" dirty="0">
                <a:solidFill>
                  <a:prstClr val="black"/>
                </a:solidFill>
                <a:cs typeface="Calibri"/>
              </a:rPr>
              <a:t>picadura</a:t>
            </a:r>
            <a:r>
              <a:rPr lang="es-ES" sz="2400" dirty="0">
                <a:solidFill>
                  <a:prstClr val="black"/>
                </a:solidFill>
                <a:cs typeface="Calibri"/>
              </a:rPr>
              <a:t> </a:t>
            </a:r>
            <a:r>
              <a:rPr lang="es-ES" sz="2400" spc="-5" dirty="0">
                <a:solidFill>
                  <a:prstClr val="black"/>
                </a:solidFill>
                <a:cs typeface="Calibri"/>
              </a:rPr>
              <a:t>oscila </a:t>
            </a:r>
            <a:r>
              <a:rPr lang="es-ES" sz="2400" spc="-15" dirty="0">
                <a:solidFill>
                  <a:prstClr val="black"/>
                </a:solidFill>
                <a:cs typeface="Calibri"/>
              </a:rPr>
              <a:t>entre</a:t>
            </a:r>
            <a:r>
              <a:rPr lang="es-ES" sz="2400" spc="5" dirty="0">
                <a:solidFill>
                  <a:prstClr val="black"/>
                </a:solidFill>
                <a:cs typeface="Calibri"/>
              </a:rPr>
              <a:t> </a:t>
            </a:r>
            <a:r>
              <a:rPr lang="es-ES" sz="2400" spc="-5" dirty="0">
                <a:solidFill>
                  <a:prstClr val="black"/>
                </a:solidFill>
                <a:cs typeface="Calibri"/>
              </a:rPr>
              <a:t>uno</a:t>
            </a:r>
            <a:r>
              <a:rPr lang="es-ES" sz="2400" dirty="0">
                <a:solidFill>
                  <a:prstClr val="black"/>
                </a:solidFill>
                <a:cs typeface="Calibri"/>
              </a:rPr>
              <a:t> y</a:t>
            </a:r>
            <a:r>
              <a:rPr lang="es-ES" sz="2400" spc="-10" dirty="0">
                <a:solidFill>
                  <a:prstClr val="black"/>
                </a:solidFill>
                <a:cs typeface="Calibri"/>
              </a:rPr>
              <a:t> siete</a:t>
            </a:r>
            <a:r>
              <a:rPr lang="es-ES" sz="2400" spc="5" dirty="0">
                <a:solidFill>
                  <a:prstClr val="black"/>
                </a:solidFill>
                <a:cs typeface="Calibri"/>
              </a:rPr>
              <a:t> </a:t>
            </a:r>
            <a:r>
              <a:rPr lang="es-ES" sz="2400" spc="-5" dirty="0">
                <a:solidFill>
                  <a:prstClr val="black"/>
                </a:solidFill>
                <a:cs typeface="Calibri"/>
              </a:rPr>
              <a:t>días.</a:t>
            </a:r>
            <a:r>
              <a:rPr lang="es-ES" sz="2400" spc="-15" dirty="0">
                <a:solidFill>
                  <a:prstClr val="black"/>
                </a:solidFill>
                <a:cs typeface="Calibri"/>
              </a:rPr>
              <a:t> </a:t>
            </a:r>
          </a:p>
          <a:p>
            <a:pPr marL="12065" marR="22225" indent="0">
              <a:lnSpc>
                <a:spcPts val="2590"/>
              </a:lnSpc>
              <a:spcBef>
                <a:spcPts val="1035"/>
              </a:spcBef>
              <a:buNone/>
              <a:tabLst>
                <a:tab pos="309880" algn="l"/>
                <a:tab pos="310515" algn="l"/>
              </a:tabLst>
            </a:pPr>
            <a:endParaRPr lang="es-ES" sz="2400" spc="-15" dirty="0">
              <a:solidFill>
                <a:prstClr val="black"/>
              </a:solidFill>
              <a:cs typeface="Calibri"/>
            </a:endParaRPr>
          </a:p>
          <a:p>
            <a:pPr marL="12065" marR="22225" indent="0">
              <a:lnSpc>
                <a:spcPts val="2590"/>
              </a:lnSpc>
              <a:spcBef>
                <a:spcPts val="1035"/>
              </a:spcBef>
              <a:buNone/>
              <a:tabLst>
                <a:tab pos="309880" algn="l"/>
                <a:tab pos="310515" algn="l"/>
              </a:tabLst>
            </a:pPr>
            <a:r>
              <a:rPr lang="es-ES" sz="2400" spc="-5" dirty="0">
                <a:solidFill>
                  <a:prstClr val="black"/>
                </a:solidFill>
                <a:cs typeface="Calibri"/>
              </a:rPr>
              <a:t>El</a:t>
            </a:r>
            <a:r>
              <a:rPr lang="es-ES" sz="2400" dirty="0">
                <a:solidFill>
                  <a:prstClr val="black"/>
                </a:solidFill>
                <a:cs typeface="Calibri"/>
              </a:rPr>
              <a:t> </a:t>
            </a:r>
            <a:r>
              <a:rPr lang="es-ES" sz="2400" spc="-10" dirty="0">
                <a:solidFill>
                  <a:prstClr val="black"/>
                </a:solidFill>
                <a:cs typeface="Calibri"/>
              </a:rPr>
              <a:t>cuadro</a:t>
            </a:r>
            <a:r>
              <a:rPr lang="es-ES" sz="2400" spc="-20" dirty="0">
                <a:solidFill>
                  <a:prstClr val="black"/>
                </a:solidFill>
                <a:cs typeface="Calibri"/>
              </a:rPr>
              <a:t> </a:t>
            </a:r>
            <a:r>
              <a:rPr lang="es-ES" sz="2400" spc="-5" dirty="0">
                <a:solidFill>
                  <a:prstClr val="black"/>
                </a:solidFill>
                <a:cs typeface="Calibri"/>
              </a:rPr>
              <a:t>clínico </a:t>
            </a:r>
            <a:r>
              <a:rPr lang="es-ES" sz="2400" spc="-525" dirty="0">
                <a:solidFill>
                  <a:prstClr val="black"/>
                </a:solidFill>
                <a:cs typeface="Calibri"/>
              </a:rPr>
              <a:t> </a:t>
            </a:r>
            <a:r>
              <a:rPr lang="es-ES" sz="2400" dirty="0">
                <a:solidFill>
                  <a:prstClr val="black"/>
                </a:solidFill>
                <a:cs typeface="Calibri"/>
              </a:rPr>
              <a:t>tiene</a:t>
            </a:r>
            <a:r>
              <a:rPr lang="es-ES" sz="2400" spc="-10" dirty="0">
                <a:solidFill>
                  <a:prstClr val="black"/>
                </a:solidFill>
                <a:cs typeface="Calibri"/>
              </a:rPr>
              <a:t> </a:t>
            </a:r>
            <a:r>
              <a:rPr lang="es-ES" sz="2400" spc="-5" dirty="0">
                <a:solidFill>
                  <a:prstClr val="black"/>
                </a:solidFill>
                <a:cs typeface="Calibri"/>
              </a:rPr>
              <a:t>un</a:t>
            </a:r>
            <a:r>
              <a:rPr lang="es-ES" sz="2400" spc="5" dirty="0">
                <a:solidFill>
                  <a:prstClr val="black"/>
                </a:solidFill>
                <a:cs typeface="Calibri"/>
              </a:rPr>
              <a:t> </a:t>
            </a:r>
            <a:r>
              <a:rPr lang="es-ES" sz="2400" dirty="0">
                <a:solidFill>
                  <a:prstClr val="black"/>
                </a:solidFill>
                <a:cs typeface="Calibri"/>
              </a:rPr>
              <a:t>inicio</a:t>
            </a:r>
            <a:r>
              <a:rPr lang="es-ES" sz="2400" spc="-15" dirty="0">
                <a:solidFill>
                  <a:prstClr val="black"/>
                </a:solidFill>
                <a:cs typeface="Calibri"/>
              </a:rPr>
              <a:t> </a:t>
            </a:r>
            <a:r>
              <a:rPr lang="es-ES" sz="2400" spc="-10" dirty="0">
                <a:solidFill>
                  <a:prstClr val="black"/>
                </a:solidFill>
                <a:cs typeface="Calibri"/>
              </a:rPr>
              <a:t>súbito </a:t>
            </a:r>
            <a:r>
              <a:rPr lang="es-ES" sz="2400" spc="-15" dirty="0">
                <a:solidFill>
                  <a:prstClr val="black"/>
                </a:solidFill>
                <a:cs typeface="Calibri"/>
              </a:rPr>
              <a:t>consistente</a:t>
            </a:r>
            <a:r>
              <a:rPr lang="es-ES" sz="2400" spc="-5" dirty="0">
                <a:solidFill>
                  <a:prstClr val="black"/>
                </a:solidFill>
                <a:cs typeface="Calibri"/>
              </a:rPr>
              <a:t> </a:t>
            </a:r>
            <a:r>
              <a:rPr lang="es-ES" sz="2400" dirty="0">
                <a:solidFill>
                  <a:prstClr val="black"/>
                </a:solidFill>
                <a:cs typeface="Calibri"/>
              </a:rPr>
              <a:t>en </a:t>
            </a:r>
            <a:r>
              <a:rPr lang="es-ES" sz="2400" spc="-10" dirty="0">
                <a:solidFill>
                  <a:prstClr val="black"/>
                </a:solidFill>
                <a:cs typeface="Calibri"/>
              </a:rPr>
              <a:t>fiebre,</a:t>
            </a:r>
            <a:r>
              <a:rPr lang="es-ES" sz="2400" dirty="0">
                <a:solidFill>
                  <a:prstClr val="black"/>
                </a:solidFill>
                <a:cs typeface="Calibri"/>
              </a:rPr>
              <a:t> </a:t>
            </a:r>
            <a:r>
              <a:rPr lang="es-ES" sz="2400" spc="-5" dirty="0">
                <a:solidFill>
                  <a:prstClr val="black"/>
                </a:solidFill>
                <a:cs typeface="Calibri"/>
              </a:rPr>
              <a:t>escalofríos,</a:t>
            </a:r>
            <a:r>
              <a:rPr lang="es-ES" sz="2400" dirty="0">
                <a:solidFill>
                  <a:prstClr val="black"/>
                </a:solidFill>
                <a:cs typeface="Calibri"/>
              </a:rPr>
              <a:t> </a:t>
            </a:r>
            <a:r>
              <a:rPr lang="es-ES" sz="2400" spc="-10" dirty="0">
                <a:solidFill>
                  <a:prstClr val="black"/>
                </a:solidFill>
                <a:cs typeface="Calibri"/>
              </a:rPr>
              <a:t>cefalalgia, anorexia, </a:t>
            </a:r>
            <a:r>
              <a:rPr lang="es-ES" sz="2400" spc="-5" dirty="0">
                <a:solidFill>
                  <a:prstClr val="black"/>
                </a:solidFill>
                <a:cs typeface="Calibri"/>
              </a:rPr>
              <a:t> </a:t>
            </a:r>
            <a:r>
              <a:rPr lang="es-ES" sz="2400" spc="-10" dirty="0">
                <a:solidFill>
                  <a:prstClr val="black"/>
                </a:solidFill>
                <a:cs typeface="Calibri"/>
              </a:rPr>
              <a:t>conjuntivitis</a:t>
            </a:r>
            <a:r>
              <a:rPr lang="es-ES" sz="2400" spc="-5" dirty="0">
                <a:solidFill>
                  <a:prstClr val="black"/>
                </a:solidFill>
                <a:cs typeface="Calibri"/>
              </a:rPr>
              <a:t> </a:t>
            </a:r>
            <a:r>
              <a:rPr lang="es-ES" sz="2400" dirty="0">
                <a:solidFill>
                  <a:prstClr val="black"/>
                </a:solidFill>
                <a:cs typeface="Calibri"/>
              </a:rPr>
              <a:t>y</a:t>
            </a:r>
            <a:r>
              <a:rPr lang="es-ES" sz="2400" spc="-10" dirty="0">
                <a:solidFill>
                  <a:prstClr val="black"/>
                </a:solidFill>
                <a:cs typeface="Calibri"/>
              </a:rPr>
              <a:t> </a:t>
            </a:r>
            <a:r>
              <a:rPr lang="es-ES" sz="2400" b="1" spc="-5" dirty="0">
                <a:solidFill>
                  <a:prstClr val="black"/>
                </a:solidFill>
                <a:cs typeface="Calibri"/>
              </a:rPr>
              <a:t>artralgia</a:t>
            </a:r>
            <a:r>
              <a:rPr lang="es-ES" sz="2400" spc="-5" dirty="0">
                <a:solidFill>
                  <a:prstClr val="black"/>
                </a:solidFill>
                <a:cs typeface="Calibri"/>
              </a:rPr>
              <a:t>s</a:t>
            </a:r>
            <a:r>
              <a:rPr lang="es-ES" sz="2400" spc="-35" dirty="0">
                <a:solidFill>
                  <a:prstClr val="black"/>
                </a:solidFill>
                <a:cs typeface="Calibri"/>
              </a:rPr>
              <a:t> </a:t>
            </a:r>
            <a:r>
              <a:rPr lang="es-ES" sz="2400" spc="-5" dirty="0">
                <a:solidFill>
                  <a:prstClr val="black"/>
                </a:solidFill>
                <a:cs typeface="Calibri"/>
              </a:rPr>
              <a:t>que</a:t>
            </a:r>
            <a:r>
              <a:rPr lang="es-ES" sz="2400" spc="5" dirty="0">
                <a:solidFill>
                  <a:prstClr val="black"/>
                </a:solidFill>
                <a:cs typeface="Calibri"/>
              </a:rPr>
              <a:t> </a:t>
            </a:r>
            <a:r>
              <a:rPr lang="es-ES" sz="2400" spc="-5" dirty="0">
                <a:solidFill>
                  <a:prstClr val="black"/>
                </a:solidFill>
                <a:cs typeface="Calibri"/>
              </a:rPr>
              <a:t>pueden </a:t>
            </a:r>
            <a:r>
              <a:rPr lang="es-ES" sz="2400" spc="-10" dirty="0">
                <a:solidFill>
                  <a:prstClr val="black"/>
                </a:solidFill>
                <a:cs typeface="Calibri"/>
              </a:rPr>
              <a:t>llegar</a:t>
            </a:r>
            <a:r>
              <a:rPr lang="es-ES" sz="2400" spc="-15" dirty="0">
                <a:solidFill>
                  <a:prstClr val="black"/>
                </a:solidFill>
                <a:cs typeface="Calibri"/>
              </a:rPr>
              <a:t> </a:t>
            </a:r>
            <a:r>
              <a:rPr lang="es-ES" sz="2400" dirty="0">
                <a:solidFill>
                  <a:prstClr val="black"/>
                </a:solidFill>
                <a:cs typeface="Calibri"/>
              </a:rPr>
              <a:t>a </a:t>
            </a:r>
            <a:r>
              <a:rPr lang="es-ES" sz="2400" spc="-5" dirty="0">
                <a:solidFill>
                  <a:prstClr val="black"/>
                </a:solidFill>
                <a:cs typeface="Calibri"/>
              </a:rPr>
              <a:t>ser</a:t>
            </a:r>
            <a:r>
              <a:rPr lang="es-ES" sz="2400" dirty="0">
                <a:solidFill>
                  <a:prstClr val="black"/>
                </a:solidFill>
                <a:cs typeface="Calibri"/>
              </a:rPr>
              <a:t> </a:t>
            </a:r>
            <a:r>
              <a:rPr lang="es-ES" sz="2400" spc="-5" dirty="0">
                <a:solidFill>
                  <a:prstClr val="black"/>
                </a:solidFill>
                <a:cs typeface="Calibri"/>
              </a:rPr>
              <a:t>incapacitantes. En ocasiones aparece</a:t>
            </a:r>
            <a:r>
              <a:rPr lang="es-ES" sz="2400" spc="-10" dirty="0">
                <a:solidFill>
                  <a:prstClr val="black"/>
                </a:solidFill>
                <a:cs typeface="Calibri"/>
              </a:rPr>
              <a:t> </a:t>
            </a:r>
            <a:r>
              <a:rPr lang="es-ES" sz="2400" spc="-5" dirty="0">
                <a:solidFill>
                  <a:prstClr val="black"/>
                </a:solidFill>
                <a:cs typeface="Calibri"/>
              </a:rPr>
              <a:t>un</a:t>
            </a:r>
            <a:r>
              <a:rPr lang="es-ES" sz="2400" spc="10" dirty="0">
                <a:solidFill>
                  <a:prstClr val="black"/>
                </a:solidFill>
                <a:cs typeface="Calibri"/>
              </a:rPr>
              <a:t> </a:t>
            </a:r>
            <a:r>
              <a:rPr lang="es-ES" sz="2400" spc="-15" dirty="0">
                <a:solidFill>
                  <a:prstClr val="black"/>
                </a:solidFill>
                <a:cs typeface="Calibri"/>
              </a:rPr>
              <a:t>rash</a:t>
            </a:r>
            <a:r>
              <a:rPr lang="es-ES" sz="2400" spc="-20" dirty="0">
                <a:solidFill>
                  <a:prstClr val="black"/>
                </a:solidFill>
                <a:cs typeface="Calibri"/>
              </a:rPr>
              <a:t> maculo-papular.</a:t>
            </a:r>
            <a:endParaRPr lang="es-ES" sz="2400" dirty="0">
              <a:solidFill>
                <a:prstClr val="black"/>
              </a:solidFill>
              <a:cs typeface="Calibri"/>
            </a:endParaRPr>
          </a:p>
          <a:p>
            <a:pPr marL="12065" marR="412750" indent="0">
              <a:lnSpc>
                <a:spcPts val="2590"/>
              </a:lnSpc>
              <a:spcBef>
                <a:spcPts val="1035"/>
              </a:spcBef>
              <a:buNone/>
              <a:tabLst>
                <a:tab pos="241935" algn="l"/>
              </a:tabLst>
            </a:pPr>
            <a:r>
              <a:rPr lang="es-ES" sz="2400" spc="-5" dirty="0">
                <a:solidFill>
                  <a:prstClr val="black"/>
                </a:solidFill>
                <a:cs typeface="Calibri"/>
              </a:rPr>
              <a:t>La</a:t>
            </a:r>
            <a:r>
              <a:rPr lang="es-ES" sz="2400" dirty="0">
                <a:solidFill>
                  <a:prstClr val="black"/>
                </a:solidFill>
                <a:cs typeface="Calibri"/>
              </a:rPr>
              <a:t> </a:t>
            </a:r>
            <a:r>
              <a:rPr lang="es-ES" sz="2400" spc="-10" dirty="0">
                <a:solidFill>
                  <a:prstClr val="black"/>
                </a:solidFill>
                <a:cs typeface="Calibri"/>
              </a:rPr>
              <a:t>enfermedad</a:t>
            </a:r>
            <a:r>
              <a:rPr lang="es-ES" sz="2400" spc="-5" dirty="0">
                <a:solidFill>
                  <a:prstClr val="black"/>
                </a:solidFill>
                <a:cs typeface="Calibri"/>
              </a:rPr>
              <a:t> se</a:t>
            </a:r>
            <a:r>
              <a:rPr lang="es-ES" sz="2400" dirty="0">
                <a:solidFill>
                  <a:prstClr val="black"/>
                </a:solidFill>
                <a:cs typeface="Calibri"/>
              </a:rPr>
              <a:t> </a:t>
            </a:r>
            <a:r>
              <a:rPr lang="es-ES" sz="2400" spc="-10" dirty="0">
                <a:solidFill>
                  <a:prstClr val="black"/>
                </a:solidFill>
                <a:cs typeface="Calibri"/>
              </a:rPr>
              <a:t>resuelve</a:t>
            </a:r>
            <a:r>
              <a:rPr lang="es-ES" sz="2400" dirty="0">
                <a:solidFill>
                  <a:prstClr val="black"/>
                </a:solidFill>
                <a:cs typeface="Calibri"/>
              </a:rPr>
              <a:t> </a:t>
            </a:r>
            <a:r>
              <a:rPr lang="es-ES" sz="2400" spc="-5" dirty="0">
                <a:solidFill>
                  <a:prstClr val="black"/>
                </a:solidFill>
                <a:cs typeface="Calibri"/>
              </a:rPr>
              <a:t>de</a:t>
            </a:r>
            <a:r>
              <a:rPr lang="es-ES" sz="2400" spc="5" dirty="0">
                <a:solidFill>
                  <a:prstClr val="black"/>
                </a:solidFill>
                <a:cs typeface="Calibri"/>
              </a:rPr>
              <a:t> </a:t>
            </a:r>
            <a:r>
              <a:rPr lang="es-ES" sz="2400" spc="-15" dirty="0">
                <a:solidFill>
                  <a:prstClr val="black"/>
                </a:solidFill>
                <a:cs typeface="Calibri"/>
              </a:rPr>
              <a:t>forma</a:t>
            </a:r>
            <a:r>
              <a:rPr lang="es-ES" sz="2400" spc="-5" dirty="0">
                <a:solidFill>
                  <a:prstClr val="black"/>
                </a:solidFill>
                <a:cs typeface="Calibri"/>
              </a:rPr>
              <a:t> </a:t>
            </a:r>
            <a:r>
              <a:rPr lang="es-ES" sz="2400" spc="-10" dirty="0">
                <a:solidFill>
                  <a:prstClr val="black"/>
                </a:solidFill>
                <a:cs typeface="Calibri"/>
              </a:rPr>
              <a:t>espontánea </a:t>
            </a:r>
            <a:r>
              <a:rPr lang="es-ES" sz="2400" dirty="0">
                <a:solidFill>
                  <a:prstClr val="black"/>
                </a:solidFill>
                <a:cs typeface="Calibri"/>
              </a:rPr>
              <a:t>en 7-10 </a:t>
            </a:r>
            <a:r>
              <a:rPr lang="es-ES" sz="2400" spc="-5" dirty="0">
                <a:solidFill>
                  <a:prstClr val="black"/>
                </a:solidFill>
                <a:cs typeface="Calibri"/>
              </a:rPr>
              <a:t>días, </a:t>
            </a:r>
            <a:r>
              <a:rPr lang="es-ES" sz="2400" dirty="0">
                <a:solidFill>
                  <a:prstClr val="black"/>
                </a:solidFill>
                <a:cs typeface="Calibri"/>
              </a:rPr>
              <a:t>aunque las </a:t>
            </a:r>
            <a:r>
              <a:rPr lang="es-ES" sz="2400" spc="-5" dirty="0">
                <a:solidFill>
                  <a:prstClr val="black"/>
                </a:solidFill>
                <a:cs typeface="Calibri"/>
              </a:rPr>
              <a:t>artralgias </a:t>
            </a:r>
            <a:r>
              <a:rPr lang="es-ES" sz="2400" spc="-525" dirty="0">
                <a:solidFill>
                  <a:prstClr val="black"/>
                </a:solidFill>
                <a:cs typeface="Calibri"/>
              </a:rPr>
              <a:t> </a:t>
            </a:r>
            <a:r>
              <a:rPr lang="es-ES" sz="2400" spc="-5" dirty="0">
                <a:solidFill>
                  <a:prstClr val="black"/>
                </a:solidFill>
                <a:cs typeface="Calibri"/>
              </a:rPr>
              <a:t>pueden</a:t>
            </a:r>
            <a:r>
              <a:rPr lang="es-ES" sz="2400" dirty="0">
                <a:solidFill>
                  <a:prstClr val="black"/>
                </a:solidFill>
                <a:cs typeface="Calibri"/>
              </a:rPr>
              <a:t> </a:t>
            </a:r>
            <a:r>
              <a:rPr lang="es-ES" sz="2400" spc="-10" dirty="0">
                <a:solidFill>
                  <a:prstClr val="black"/>
                </a:solidFill>
                <a:cs typeface="Calibri"/>
              </a:rPr>
              <a:t>persistir</a:t>
            </a:r>
            <a:r>
              <a:rPr lang="es-ES" sz="2400" spc="-25" dirty="0">
                <a:solidFill>
                  <a:prstClr val="black"/>
                </a:solidFill>
                <a:cs typeface="Calibri"/>
              </a:rPr>
              <a:t> </a:t>
            </a:r>
            <a:r>
              <a:rPr lang="es-ES" sz="2400" spc="-20" dirty="0">
                <a:solidFill>
                  <a:prstClr val="black"/>
                </a:solidFill>
                <a:cs typeface="Calibri"/>
              </a:rPr>
              <a:t>durante</a:t>
            </a:r>
            <a:r>
              <a:rPr lang="es-ES" sz="2400" dirty="0">
                <a:solidFill>
                  <a:prstClr val="black"/>
                </a:solidFill>
                <a:cs typeface="Calibri"/>
              </a:rPr>
              <a:t> </a:t>
            </a:r>
            <a:r>
              <a:rPr lang="es-ES" sz="2400" spc="-5" dirty="0">
                <a:solidFill>
                  <a:prstClr val="black"/>
                </a:solidFill>
                <a:cs typeface="Calibri"/>
              </a:rPr>
              <a:t>semanas</a:t>
            </a:r>
            <a:r>
              <a:rPr lang="es-ES" sz="2400" spc="-20" dirty="0">
                <a:solidFill>
                  <a:prstClr val="black"/>
                </a:solidFill>
                <a:cs typeface="Calibri"/>
              </a:rPr>
              <a:t> </a:t>
            </a:r>
            <a:r>
              <a:rPr lang="es-ES" sz="2400" dirty="0">
                <a:solidFill>
                  <a:prstClr val="black"/>
                </a:solidFill>
                <a:cs typeface="Calibri"/>
              </a:rPr>
              <a:t>o</a:t>
            </a:r>
            <a:r>
              <a:rPr lang="es-ES" sz="2400" spc="-10" dirty="0">
                <a:solidFill>
                  <a:prstClr val="black"/>
                </a:solidFill>
                <a:cs typeface="Calibri"/>
              </a:rPr>
              <a:t> </a:t>
            </a:r>
            <a:r>
              <a:rPr lang="es-ES" sz="2400" spc="-5" dirty="0">
                <a:solidFill>
                  <a:prstClr val="black"/>
                </a:solidFill>
                <a:cs typeface="Calibri"/>
              </a:rPr>
              <a:t>meses.</a:t>
            </a:r>
            <a:endParaRPr lang="es-ES" sz="2400" dirty="0">
              <a:solidFill>
                <a:prstClr val="black"/>
              </a:solidFill>
              <a:cs typeface="Calibri"/>
            </a:endParaRPr>
          </a:p>
          <a:p>
            <a:endParaRPr lang="en-US" sz="2400" dirty="0"/>
          </a:p>
        </p:txBody>
      </p:sp>
    </p:spTree>
    <p:extLst>
      <p:ext uri="{BB962C8B-B14F-4D97-AF65-F5344CB8AC3E}">
        <p14:creationId xmlns:p14="http://schemas.microsoft.com/office/powerpoint/2010/main" val="3571067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9022"/>
            <a:ext cx="12192000" cy="6191794"/>
          </a:xfrm>
          <a:prstGeom prst="rect">
            <a:avLst/>
          </a:prstGeom>
        </p:spPr>
      </p:pic>
      <p:sp>
        <p:nvSpPr>
          <p:cNvPr id="4" name="CuadroTexto 3">
            <a:extLst>
              <a:ext uri="{FF2B5EF4-FFF2-40B4-BE49-F238E27FC236}">
                <a16:creationId xmlns:a16="http://schemas.microsoft.com/office/drawing/2014/main" id="{7E256B48-A018-2BAC-BEDE-2F42BB37B770}"/>
              </a:ext>
            </a:extLst>
          </p:cNvPr>
          <p:cNvSpPr txBox="1"/>
          <p:nvPr/>
        </p:nvSpPr>
        <p:spPr>
          <a:xfrm>
            <a:off x="299803" y="4923711"/>
            <a:ext cx="11587397" cy="1200329"/>
          </a:xfrm>
          <a:prstGeom prst="rect">
            <a:avLst/>
          </a:prstGeom>
          <a:noFill/>
          <a:ln w="28575">
            <a:solidFill>
              <a:schemeClr val="accent5">
                <a:lumMod val="40000"/>
                <a:lumOff val="60000"/>
              </a:schemeClr>
            </a:solidFill>
          </a:ln>
        </p:spPr>
        <p:txBody>
          <a:bodyPr wrap="square">
            <a:spAutoFit/>
          </a:bodyPr>
          <a:lstStyle/>
          <a:p>
            <a:r>
              <a:rPr lang="es-ES" sz="2400" spc="-5" dirty="0">
                <a:solidFill>
                  <a:prstClr val="black"/>
                </a:solidFill>
                <a:cs typeface="Calibri"/>
              </a:rPr>
              <a:t>El </a:t>
            </a:r>
            <a:r>
              <a:rPr lang="es-ES" sz="2400" spc="-10" dirty="0">
                <a:solidFill>
                  <a:prstClr val="black"/>
                </a:solidFill>
                <a:cs typeface="Calibri"/>
              </a:rPr>
              <a:t>nombre </a:t>
            </a:r>
            <a:r>
              <a:rPr lang="es-ES" sz="2400" spc="-5" dirty="0">
                <a:solidFill>
                  <a:prstClr val="black"/>
                </a:solidFill>
                <a:cs typeface="Calibri"/>
              </a:rPr>
              <a:t>de</a:t>
            </a:r>
            <a:r>
              <a:rPr lang="es-ES" sz="2400" spc="10" dirty="0">
                <a:solidFill>
                  <a:prstClr val="black"/>
                </a:solidFill>
                <a:cs typeface="Calibri"/>
              </a:rPr>
              <a:t> </a:t>
            </a:r>
            <a:r>
              <a:rPr lang="es-ES" sz="2400" dirty="0">
                <a:solidFill>
                  <a:prstClr val="black"/>
                </a:solidFill>
                <a:cs typeface="Calibri"/>
              </a:rPr>
              <a:t>la</a:t>
            </a:r>
            <a:r>
              <a:rPr lang="es-ES" sz="2400" spc="-10" dirty="0">
                <a:solidFill>
                  <a:prstClr val="black"/>
                </a:solidFill>
                <a:cs typeface="Calibri"/>
              </a:rPr>
              <a:t> enfermedad</a:t>
            </a:r>
            <a:r>
              <a:rPr lang="es-ES" sz="2400" dirty="0">
                <a:solidFill>
                  <a:prstClr val="black"/>
                </a:solidFill>
                <a:cs typeface="Calibri"/>
              </a:rPr>
              <a:t> </a:t>
            </a:r>
            <a:r>
              <a:rPr lang="es-ES" sz="2400" spc="-5" dirty="0">
                <a:solidFill>
                  <a:prstClr val="black"/>
                </a:solidFill>
                <a:cs typeface="Calibri"/>
              </a:rPr>
              <a:t>significa</a:t>
            </a:r>
            <a:r>
              <a:rPr lang="es-ES" sz="2400" dirty="0">
                <a:solidFill>
                  <a:prstClr val="black"/>
                </a:solidFill>
                <a:cs typeface="Calibri"/>
              </a:rPr>
              <a:t> </a:t>
            </a:r>
            <a:r>
              <a:rPr lang="es-ES" sz="2400" b="1" spc="-5" dirty="0">
                <a:solidFill>
                  <a:prstClr val="black"/>
                </a:solidFill>
                <a:cs typeface="Calibri"/>
              </a:rPr>
              <a:t>"andar</a:t>
            </a:r>
            <a:r>
              <a:rPr lang="es-ES" sz="2400" b="1" dirty="0">
                <a:solidFill>
                  <a:prstClr val="black"/>
                </a:solidFill>
                <a:cs typeface="Calibri"/>
              </a:rPr>
              <a:t> </a:t>
            </a:r>
            <a:r>
              <a:rPr lang="es-ES" sz="2400" b="1" spc="-5" dirty="0">
                <a:solidFill>
                  <a:prstClr val="black"/>
                </a:solidFill>
                <a:cs typeface="Calibri"/>
              </a:rPr>
              <a:t>doblado"</a:t>
            </a:r>
            <a:r>
              <a:rPr lang="es-ES" sz="2400" b="1" spc="-15" dirty="0">
                <a:solidFill>
                  <a:prstClr val="black"/>
                </a:solidFill>
                <a:cs typeface="Calibri"/>
              </a:rPr>
              <a:t> </a:t>
            </a:r>
            <a:r>
              <a:rPr lang="es-ES" sz="2400" dirty="0">
                <a:solidFill>
                  <a:prstClr val="black"/>
                </a:solidFill>
                <a:cs typeface="Calibri"/>
              </a:rPr>
              <a:t>en</a:t>
            </a:r>
            <a:r>
              <a:rPr lang="es-ES" sz="2400" spc="5" dirty="0">
                <a:solidFill>
                  <a:prstClr val="black"/>
                </a:solidFill>
                <a:cs typeface="Calibri"/>
              </a:rPr>
              <a:t> </a:t>
            </a:r>
            <a:r>
              <a:rPr lang="es-ES" sz="2400" dirty="0">
                <a:solidFill>
                  <a:prstClr val="black"/>
                </a:solidFill>
                <a:cs typeface="Calibri"/>
              </a:rPr>
              <a:t>el idioma</a:t>
            </a:r>
            <a:r>
              <a:rPr lang="es-ES" sz="2400" spc="-30" dirty="0">
                <a:solidFill>
                  <a:prstClr val="black"/>
                </a:solidFill>
                <a:cs typeface="Calibri"/>
              </a:rPr>
              <a:t> </a:t>
            </a:r>
            <a:r>
              <a:rPr lang="es-ES" sz="2400" spc="-15" dirty="0" err="1">
                <a:solidFill>
                  <a:prstClr val="black"/>
                </a:solidFill>
                <a:cs typeface="Calibri"/>
              </a:rPr>
              <a:t>Kimakondé</a:t>
            </a:r>
            <a:r>
              <a:rPr lang="es-ES" sz="2400" spc="-5" dirty="0">
                <a:solidFill>
                  <a:prstClr val="black"/>
                </a:solidFill>
                <a:cs typeface="Calibri"/>
              </a:rPr>
              <a:t> de</a:t>
            </a:r>
            <a:r>
              <a:rPr lang="es-ES" sz="2400" dirty="0">
                <a:solidFill>
                  <a:prstClr val="black"/>
                </a:solidFill>
                <a:cs typeface="Calibri"/>
              </a:rPr>
              <a:t> la </a:t>
            </a:r>
            <a:r>
              <a:rPr lang="es-ES" sz="2400" spc="5" dirty="0">
                <a:solidFill>
                  <a:prstClr val="black"/>
                </a:solidFill>
                <a:cs typeface="Calibri"/>
              </a:rPr>
              <a:t> </a:t>
            </a:r>
            <a:r>
              <a:rPr lang="es-ES" sz="2400" dirty="0">
                <a:solidFill>
                  <a:prstClr val="black"/>
                </a:solidFill>
                <a:cs typeface="Calibri"/>
              </a:rPr>
              <a:t>tribu</a:t>
            </a:r>
            <a:r>
              <a:rPr lang="es-ES" sz="2400" spc="-20" dirty="0">
                <a:solidFill>
                  <a:prstClr val="black"/>
                </a:solidFill>
                <a:cs typeface="Calibri"/>
              </a:rPr>
              <a:t> </a:t>
            </a:r>
            <a:r>
              <a:rPr lang="es-ES" sz="2400" spc="-15" dirty="0">
                <a:solidFill>
                  <a:prstClr val="black"/>
                </a:solidFill>
                <a:cs typeface="Calibri"/>
              </a:rPr>
              <a:t>Makonde,</a:t>
            </a:r>
            <a:r>
              <a:rPr lang="es-ES" sz="2400" spc="5" dirty="0">
                <a:solidFill>
                  <a:prstClr val="black"/>
                </a:solidFill>
                <a:cs typeface="Calibri"/>
              </a:rPr>
              <a:t> </a:t>
            </a:r>
            <a:r>
              <a:rPr lang="es-ES" sz="2400" spc="-5" dirty="0">
                <a:solidFill>
                  <a:prstClr val="black"/>
                </a:solidFill>
                <a:cs typeface="Calibri"/>
              </a:rPr>
              <a:t>que</a:t>
            </a:r>
            <a:r>
              <a:rPr lang="es-ES" sz="2400" dirty="0">
                <a:solidFill>
                  <a:prstClr val="black"/>
                </a:solidFill>
                <a:cs typeface="Calibri"/>
              </a:rPr>
              <a:t> </a:t>
            </a:r>
            <a:r>
              <a:rPr lang="es-ES" sz="2400" spc="-10" dirty="0">
                <a:solidFill>
                  <a:prstClr val="black"/>
                </a:solidFill>
                <a:cs typeface="Calibri"/>
              </a:rPr>
              <a:t>vive</a:t>
            </a:r>
            <a:r>
              <a:rPr lang="es-ES" sz="2400" spc="15" dirty="0">
                <a:solidFill>
                  <a:prstClr val="black"/>
                </a:solidFill>
                <a:cs typeface="Calibri"/>
              </a:rPr>
              <a:t> </a:t>
            </a:r>
            <a:r>
              <a:rPr lang="es-ES" sz="2400" spc="-15" dirty="0">
                <a:solidFill>
                  <a:prstClr val="black"/>
                </a:solidFill>
                <a:cs typeface="Calibri"/>
              </a:rPr>
              <a:t>entre</a:t>
            </a:r>
            <a:r>
              <a:rPr lang="es-ES" sz="2400" spc="5" dirty="0">
                <a:solidFill>
                  <a:prstClr val="black"/>
                </a:solidFill>
                <a:cs typeface="Calibri"/>
              </a:rPr>
              <a:t> </a:t>
            </a:r>
            <a:r>
              <a:rPr lang="es-ES" sz="2400" dirty="0">
                <a:solidFill>
                  <a:prstClr val="black"/>
                </a:solidFill>
                <a:cs typeface="Calibri"/>
              </a:rPr>
              <a:t>el</a:t>
            </a:r>
            <a:r>
              <a:rPr lang="es-ES" sz="2400" spc="5" dirty="0">
                <a:solidFill>
                  <a:prstClr val="black"/>
                </a:solidFill>
                <a:cs typeface="Calibri"/>
              </a:rPr>
              <a:t> </a:t>
            </a:r>
            <a:r>
              <a:rPr lang="es-ES" sz="2400" spc="-10" dirty="0">
                <a:solidFill>
                  <a:prstClr val="black"/>
                </a:solidFill>
                <a:cs typeface="Calibri"/>
              </a:rPr>
              <a:t>sudeste</a:t>
            </a:r>
            <a:r>
              <a:rPr lang="es-ES" sz="2400" spc="-5" dirty="0">
                <a:solidFill>
                  <a:prstClr val="black"/>
                </a:solidFill>
                <a:cs typeface="Calibri"/>
              </a:rPr>
              <a:t> de </a:t>
            </a:r>
            <a:r>
              <a:rPr lang="es-ES" sz="2400" spc="-30" dirty="0">
                <a:solidFill>
                  <a:prstClr val="black"/>
                </a:solidFill>
                <a:cs typeface="Calibri"/>
              </a:rPr>
              <a:t>Tanzania </a:t>
            </a:r>
            <a:r>
              <a:rPr lang="es-ES" sz="2400" spc="-525" dirty="0">
                <a:solidFill>
                  <a:prstClr val="black"/>
                </a:solidFill>
                <a:cs typeface="Calibri"/>
              </a:rPr>
              <a:t> </a:t>
            </a:r>
            <a:r>
              <a:rPr lang="es-ES" sz="2400" dirty="0">
                <a:solidFill>
                  <a:prstClr val="black"/>
                </a:solidFill>
                <a:cs typeface="Calibri"/>
              </a:rPr>
              <a:t>y</a:t>
            </a:r>
            <a:r>
              <a:rPr lang="es-ES" sz="2400" spc="-15" dirty="0">
                <a:solidFill>
                  <a:prstClr val="black"/>
                </a:solidFill>
                <a:cs typeface="Calibri"/>
              </a:rPr>
              <a:t> </a:t>
            </a:r>
            <a:r>
              <a:rPr lang="es-ES" sz="2400" dirty="0">
                <a:solidFill>
                  <a:prstClr val="black"/>
                </a:solidFill>
                <a:cs typeface="Calibri"/>
              </a:rPr>
              <a:t>el </a:t>
            </a:r>
            <a:r>
              <a:rPr lang="es-ES" sz="2400" spc="-10" dirty="0">
                <a:solidFill>
                  <a:prstClr val="black"/>
                </a:solidFill>
                <a:cs typeface="Calibri"/>
              </a:rPr>
              <a:t>norte</a:t>
            </a:r>
            <a:r>
              <a:rPr lang="es-ES" sz="2400" dirty="0">
                <a:solidFill>
                  <a:prstClr val="black"/>
                </a:solidFill>
                <a:cs typeface="Calibri"/>
              </a:rPr>
              <a:t> </a:t>
            </a:r>
            <a:r>
              <a:rPr lang="es-ES" sz="2400" spc="-5" dirty="0">
                <a:solidFill>
                  <a:prstClr val="black"/>
                </a:solidFill>
                <a:cs typeface="Calibri"/>
              </a:rPr>
              <a:t>de</a:t>
            </a:r>
            <a:r>
              <a:rPr lang="es-ES" sz="2400" dirty="0">
                <a:solidFill>
                  <a:prstClr val="black"/>
                </a:solidFill>
                <a:cs typeface="Calibri"/>
              </a:rPr>
              <a:t> </a:t>
            </a:r>
            <a:r>
              <a:rPr lang="es-ES" sz="2400" spc="-10" dirty="0">
                <a:solidFill>
                  <a:prstClr val="black"/>
                </a:solidFill>
                <a:cs typeface="Calibri"/>
              </a:rPr>
              <a:t>Mozambique </a:t>
            </a:r>
            <a:r>
              <a:rPr lang="es-ES" sz="2400" spc="-5" dirty="0">
                <a:solidFill>
                  <a:prstClr val="black"/>
                </a:solidFill>
                <a:cs typeface="Calibri"/>
              </a:rPr>
              <a:t>donde</a:t>
            </a:r>
            <a:r>
              <a:rPr lang="es-ES" sz="2400" spc="5" dirty="0">
                <a:solidFill>
                  <a:prstClr val="black"/>
                </a:solidFill>
                <a:cs typeface="Calibri"/>
              </a:rPr>
              <a:t> </a:t>
            </a:r>
            <a:r>
              <a:rPr lang="es-ES" sz="2400" spc="-5" dirty="0">
                <a:solidFill>
                  <a:prstClr val="black"/>
                </a:solidFill>
                <a:cs typeface="Calibri"/>
              </a:rPr>
              <a:t>se</a:t>
            </a:r>
            <a:r>
              <a:rPr lang="es-ES" sz="2400" spc="-10" dirty="0">
                <a:solidFill>
                  <a:prstClr val="black"/>
                </a:solidFill>
                <a:cs typeface="Calibri"/>
              </a:rPr>
              <a:t> detectó</a:t>
            </a:r>
            <a:r>
              <a:rPr lang="es-ES" sz="2400" spc="-25" dirty="0">
                <a:solidFill>
                  <a:prstClr val="black"/>
                </a:solidFill>
                <a:cs typeface="Calibri"/>
              </a:rPr>
              <a:t> </a:t>
            </a:r>
            <a:r>
              <a:rPr lang="es-ES" sz="2400" spc="-5" dirty="0">
                <a:solidFill>
                  <a:prstClr val="black"/>
                </a:solidFill>
                <a:cs typeface="Calibri"/>
              </a:rPr>
              <a:t>por </a:t>
            </a:r>
            <a:r>
              <a:rPr lang="es-ES" sz="2400" spc="-10" dirty="0">
                <a:solidFill>
                  <a:prstClr val="black"/>
                </a:solidFill>
                <a:cs typeface="Calibri"/>
              </a:rPr>
              <a:t>primera</a:t>
            </a:r>
            <a:r>
              <a:rPr lang="es-ES" sz="2400" spc="-25" dirty="0">
                <a:solidFill>
                  <a:prstClr val="black"/>
                </a:solidFill>
                <a:cs typeface="Calibri"/>
              </a:rPr>
              <a:t> </a:t>
            </a:r>
            <a:r>
              <a:rPr lang="es-ES" sz="2400" spc="-20" dirty="0">
                <a:solidFill>
                  <a:prstClr val="black"/>
                </a:solidFill>
                <a:cs typeface="Calibri"/>
              </a:rPr>
              <a:t>vez</a:t>
            </a:r>
            <a:r>
              <a:rPr lang="es-ES" sz="2400" spc="5" dirty="0">
                <a:solidFill>
                  <a:prstClr val="black"/>
                </a:solidFill>
                <a:cs typeface="Calibri"/>
              </a:rPr>
              <a:t> </a:t>
            </a:r>
            <a:r>
              <a:rPr lang="es-ES" sz="2400" dirty="0">
                <a:solidFill>
                  <a:prstClr val="black"/>
                </a:solidFill>
                <a:cs typeface="Calibri"/>
              </a:rPr>
              <a:t>el</a:t>
            </a:r>
            <a:r>
              <a:rPr lang="es-ES" sz="2400" spc="-10" dirty="0">
                <a:solidFill>
                  <a:prstClr val="black"/>
                </a:solidFill>
                <a:cs typeface="Calibri"/>
              </a:rPr>
              <a:t> </a:t>
            </a:r>
            <a:r>
              <a:rPr lang="es-ES" sz="2400" dirty="0">
                <a:solidFill>
                  <a:prstClr val="black"/>
                </a:solidFill>
                <a:cs typeface="Calibri"/>
              </a:rPr>
              <a:t>virus</a:t>
            </a:r>
            <a:r>
              <a:rPr lang="es-ES" sz="1800" dirty="0">
                <a:solidFill>
                  <a:prstClr val="black"/>
                </a:solidFill>
                <a:cs typeface="Calibri"/>
              </a:rPr>
              <a:t>.</a:t>
            </a:r>
          </a:p>
        </p:txBody>
      </p:sp>
    </p:spTree>
    <p:extLst>
      <p:ext uri="{BB962C8B-B14F-4D97-AF65-F5344CB8AC3E}">
        <p14:creationId xmlns:p14="http://schemas.microsoft.com/office/powerpoint/2010/main" val="1079033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5" y="1"/>
            <a:ext cx="9520157" cy="936977"/>
          </a:xfrm>
        </p:spPr>
        <p:txBody>
          <a:bodyPr/>
          <a:lstStyle/>
          <a:p>
            <a:r>
              <a:rPr lang="es-AR" dirty="0"/>
              <a:t>Laboratorio</a:t>
            </a:r>
            <a:endParaRPr lang="en-US" dirty="0"/>
          </a:p>
        </p:txBody>
      </p:sp>
      <p:sp>
        <p:nvSpPr>
          <p:cNvPr id="3" name="Marcador de contenido 2"/>
          <p:cNvSpPr>
            <a:spLocks noGrp="1"/>
          </p:cNvSpPr>
          <p:nvPr>
            <p:ph sz="half" idx="1"/>
          </p:nvPr>
        </p:nvSpPr>
        <p:spPr>
          <a:xfrm>
            <a:off x="1123407" y="1524000"/>
            <a:ext cx="6283234" cy="4511041"/>
          </a:xfrm>
        </p:spPr>
        <p:txBody>
          <a:bodyPr>
            <a:normAutofit/>
          </a:bodyPr>
          <a:lstStyle/>
          <a:p>
            <a:pPr algn="just" eaLnBrk="0" fontAlgn="auto" hangingPunct="0">
              <a:lnSpc>
                <a:spcPts val="3500"/>
              </a:lnSpc>
              <a:spcBef>
                <a:spcPts val="0"/>
              </a:spcBef>
              <a:spcAft>
                <a:spcPts val="0"/>
              </a:spcAft>
              <a:defRPr/>
            </a:pPr>
            <a:r>
              <a:rPr lang="es-AR" b="1" dirty="0">
                <a:ea typeface="Times New Roman" pitchFamily="18" charset="0"/>
              </a:rPr>
              <a:t>Métodos Directos:</a:t>
            </a:r>
          </a:p>
          <a:p>
            <a:pPr marL="0" indent="0" algn="just" eaLnBrk="0" fontAlgn="auto" hangingPunct="0">
              <a:lnSpc>
                <a:spcPts val="3500"/>
              </a:lnSpc>
              <a:spcBef>
                <a:spcPts val="0"/>
              </a:spcBef>
              <a:spcAft>
                <a:spcPts val="0"/>
              </a:spcAft>
              <a:buNone/>
              <a:defRPr/>
            </a:pPr>
            <a:r>
              <a:rPr lang="es-AR" b="1" dirty="0">
                <a:ea typeface="Times New Roman" pitchFamily="18" charset="0"/>
              </a:rPr>
              <a:t>      </a:t>
            </a:r>
            <a:r>
              <a:rPr lang="es-AR" b="1" i="1" dirty="0">
                <a:ea typeface="Times New Roman" pitchFamily="18" charset="0"/>
              </a:rPr>
              <a:t>- Aislamiento viral</a:t>
            </a:r>
          </a:p>
          <a:p>
            <a:pPr marL="0" indent="0" algn="just" eaLnBrk="0" fontAlgn="auto" hangingPunct="0">
              <a:lnSpc>
                <a:spcPts val="3500"/>
              </a:lnSpc>
              <a:spcBef>
                <a:spcPts val="0"/>
              </a:spcBef>
              <a:spcAft>
                <a:spcPts val="0"/>
              </a:spcAft>
              <a:buNone/>
              <a:defRPr/>
            </a:pPr>
            <a:r>
              <a:rPr lang="es-AR" b="1" i="1" dirty="0">
                <a:ea typeface="Times New Roman" pitchFamily="18" charset="0"/>
              </a:rPr>
              <a:t>      - RT-PCR (específica y genérica)</a:t>
            </a:r>
          </a:p>
          <a:p>
            <a:pPr marL="0" indent="0" algn="just" eaLnBrk="0" fontAlgn="auto" hangingPunct="0">
              <a:lnSpc>
                <a:spcPts val="3500"/>
              </a:lnSpc>
              <a:spcBef>
                <a:spcPts val="0"/>
              </a:spcBef>
              <a:spcAft>
                <a:spcPts val="0"/>
              </a:spcAft>
              <a:buNone/>
              <a:defRPr/>
            </a:pPr>
            <a:r>
              <a:rPr lang="es-AR" b="1" i="1" dirty="0">
                <a:ea typeface="Times New Roman" pitchFamily="18" charset="0"/>
              </a:rPr>
              <a:t>      - PCR en tiempo real</a:t>
            </a:r>
          </a:p>
          <a:p>
            <a:pPr marL="0" indent="0" algn="just" eaLnBrk="0" fontAlgn="auto" hangingPunct="0">
              <a:lnSpc>
                <a:spcPts val="3500"/>
              </a:lnSpc>
              <a:spcBef>
                <a:spcPts val="0"/>
              </a:spcBef>
              <a:spcAft>
                <a:spcPts val="0"/>
              </a:spcAft>
              <a:buNone/>
              <a:defRPr/>
            </a:pPr>
            <a:endParaRPr lang="es-AR" b="1" i="1" dirty="0">
              <a:ea typeface="Times New Roman" pitchFamily="18" charset="0"/>
            </a:endParaRPr>
          </a:p>
          <a:p>
            <a:pPr algn="just" eaLnBrk="0" fontAlgn="auto" hangingPunct="0">
              <a:lnSpc>
                <a:spcPts val="3500"/>
              </a:lnSpc>
              <a:spcBef>
                <a:spcPts val="0"/>
              </a:spcBef>
              <a:spcAft>
                <a:spcPts val="0"/>
              </a:spcAft>
              <a:defRPr/>
            </a:pPr>
            <a:r>
              <a:rPr lang="es-AR" b="1" dirty="0">
                <a:ea typeface="Times New Roman" pitchFamily="18" charset="0"/>
              </a:rPr>
              <a:t>Métodos Indirectos o serológicos</a:t>
            </a:r>
            <a:r>
              <a:rPr lang="es-AR" b="1" i="1" dirty="0">
                <a:ea typeface="Times New Roman" pitchFamily="18" charset="0"/>
              </a:rPr>
              <a:t>:      </a:t>
            </a:r>
          </a:p>
          <a:p>
            <a:pPr marL="0" indent="0" eaLnBrk="0" fontAlgn="auto" hangingPunct="0">
              <a:lnSpc>
                <a:spcPts val="3500"/>
              </a:lnSpc>
              <a:spcBef>
                <a:spcPts val="0"/>
              </a:spcBef>
              <a:spcAft>
                <a:spcPts val="0"/>
              </a:spcAft>
              <a:buNone/>
              <a:defRPr/>
            </a:pPr>
            <a:r>
              <a:rPr lang="es-AR" b="1" i="1" dirty="0">
                <a:ea typeface="Times New Roman" pitchFamily="18" charset="0"/>
              </a:rPr>
              <a:t>      - ELISA (IgM e IgG)</a:t>
            </a:r>
          </a:p>
          <a:p>
            <a:pPr marL="0" indent="0" eaLnBrk="0" fontAlgn="auto" hangingPunct="0">
              <a:lnSpc>
                <a:spcPts val="3500"/>
              </a:lnSpc>
              <a:spcBef>
                <a:spcPts val="0"/>
              </a:spcBef>
              <a:spcAft>
                <a:spcPts val="0"/>
              </a:spcAft>
              <a:buNone/>
              <a:defRPr/>
            </a:pPr>
            <a:r>
              <a:rPr lang="es-AR" b="1" i="1" dirty="0">
                <a:ea typeface="Times New Roman" pitchFamily="18" charset="0"/>
              </a:rPr>
              <a:t>      </a:t>
            </a:r>
            <a:r>
              <a:rPr lang="es-AR" b="1" dirty="0">
                <a:ea typeface="Times New Roman" pitchFamily="18" charset="0"/>
              </a:rPr>
              <a:t>- </a:t>
            </a:r>
            <a:r>
              <a:rPr lang="es-AR" b="1" i="1" dirty="0">
                <a:ea typeface="Times New Roman" pitchFamily="18" charset="0"/>
              </a:rPr>
              <a:t>Neutralización</a:t>
            </a:r>
            <a:r>
              <a:rPr lang="es-AR" b="1" dirty="0">
                <a:ea typeface="Times New Roman" pitchFamily="18" charset="0"/>
              </a:rPr>
              <a:t> por  reducción de placas (PRNT)</a:t>
            </a:r>
          </a:p>
          <a:p>
            <a:pPr marL="0" indent="0" eaLnBrk="0" fontAlgn="auto" hangingPunct="0">
              <a:lnSpc>
                <a:spcPts val="3500"/>
              </a:lnSpc>
              <a:spcBef>
                <a:spcPts val="0"/>
              </a:spcBef>
              <a:spcAft>
                <a:spcPts val="0"/>
              </a:spcAft>
              <a:buNone/>
              <a:defRPr/>
            </a:pPr>
            <a:r>
              <a:rPr lang="es-AR" b="1" dirty="0">
                <a:ea typeface="Times New Roman" pitchFamily="18" charset="0"/>
              </a:rPr>
              <a:t>      - IHA</a:t>
            </a:r>
          </a:p>
        </p:txBody>
      </p:sp>
      <p:pic>
        <p:nvPicPr>
          <p:cNvPr id="5" name="Marcador de contenido 3"/>
          <p:cNvPicPr>
            <a:picLocks noGrp="1" noChangeAspect="1"/>
          </p:cNvPicPr>
          <p:nvPr>
            <p:ph sz="half" idx="2"/>
          </p:nvPr>
        </p:nvPicPr>
        <p:blipFill>
          <a:blip r:embed="rId2"/>
          <a:stretch>
            <a:fillRect/>
          </a:stretch>
        </p:blipFill>
        <p:spPr>
          <a:xfrm>
            <a:off x="7406640" y="1524001"/>
            <a:ext cx="4785360" cy="4511040"/>
          </a:xfrm>
          <a:prstGeom prst="rect">
            <a:avLst/>
          </a:prstGeom>
        </p:spPr>
      </p:pic>
    </p:spTree>
    <p:extLst>
      <p:ext uri="{BB962C8B-B14F-4D97-AF65-F5344CB8AC3E}">
        <p14:creationId xmlns:p14="http://schemas.microsoft.com/office/powerpoint/2010/main" val="21973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30630"/>
            <a:ext cx="9520158" cy="1110342"/>
          </a:xfrm>
        </p:spPr>
        <p:txBody>
          <a:bodyPr/>
          <a:lstStyle/>
          <a:p>
            <a:r>
              <a:rPr lang="es-ES" b="1" spc="-10" dirty="0">
                <a:solidFill>
                  <a:prstClr val="black"/>
                </a:solidFill>
                <a:cs typeface="Calibri"/>
              </a:rPr>
              <a:t>Definición</a:t>
            </a:r>
            <a:r>
              <a:rPr lang="es-ES" b="1" spc="10" dirty="0">
                <a:solidFill>
                  <a:prstClr val="black"/>
                </a:solidFill>
                <a:cs typeface="Calibri"/>
              </a:rPr>
              <a:t> </a:t>
            </a:r>
            <a:r>
              <a:rPr lang="es-ES" b="1" spc="-5" dirty="0">
                <a:solidFill>
                  <a:prstClr val="black"/>
                </a:solidFill>
                <a:cs typeface="Calibri"/>
              </a:rPr>
              <a:t>de</a:t>
            </a:r>
            <a:r>
              <a:rPr lang="es-ES" b="1" dirty="0">
                <a:solidFill>
                  <a:prstClr val="black"/>
                </a:solidFill>
                <a:cs typeface="Calibri"/>
              </a:rPr>
              <a:t> </a:t>
            </a:r>
            <a:r>
              <a:rPr lang="es-ES" b="1" spc="-10" dirty="0">
                <a:solidFill>
                  <a:prstClr val="black"/>
                </a:solidFill>
                <a:cs typeface="Calibri"/>
              </a:rPr>
              <a:t>Caso </a:t>
            </a:r>
            <a:r>
              <a:rPr lang="es-ES" b="1" spc="-5" dirty="0">
                <a:solidFill>
                  <a:prstClr val="black"/>
                </a:solidFill>
                <a:cs typeface="Calibri"/>
              </a:rPr>
              <a:t>de</a:t>
            </a:r>
            <a:r>
              <a:rPr lang="es-ES" b="1" spc="45" dirty="0">
                <a:solidFill>
                  <a:prstClr val="black"/>
                </a:solidFill>
                <a:cs typeface="Calibri"/>
              </a:rPr>
              <a:t> </a:t>
            </a:r>
            <a:r>
              <a:rPr lang="es-ES" b="1" spc="-35" dirty="0">
                <a:solidFill>
                  <a:prstClr val="black"/>
                </a:solidFill>
                <a:cs typeface="Calibri"/>
              </a:rPr>
              <a:t>CHIKUNGUNYA</a:t>
            </a:r>
            <a:br>
              <a:rPr lang="es-ES" dirty="0">
                <a:solidFill>
                  <a:prstClr val="black"/>
                </a:solidFill>
                <a:cs typeface="Calibri"/>
              </a:rPr>
            </a:br>
            <a:endParaRPr lang="en-US" dirty="0"/>
          </a:p>
        </p:txBody>
      </p:sp>
      <p:sp>
        <p:nvSpPr>
          <p:cNvPr id="3" name="Marcador de contenido 2"/>
          <p:cNvSpPr>
            <a:spLocks noGrp="1"/>
          </p:cNvSpPr>
          <p:nvPr>
            <p:ph idx="1"/>
          </p:nvPr>
        </p:nvSpPr>
        <p:spPr>
          <a:xfrm>
            <a:off x="1371600" y="862150"/>
            <a:ext cx="10820400" cy="5329644"/>
          </a:xfrm>
        </p:spPr>
        <p:txBody>
          <a:bodyPr/>
          <a:lstStyle/>
          <a:p>
            <a:pPr marL="241300" marR="34925">
              <a:lnSpc>
                <a:spcPct val="90000"/>
              </a:lnSpc>
              <a:spcBef>
                <a:spcPts val="1035"/>
              </a:spcBef>
              <a:buFont typeface="Arial"/>
              <a:buChar char="•"/>
              <a:tabLst>
                <a:tab pos="309245" algn="l"/>
                <a:tab pos="309880" algn="l"/>
              </a:tabLst>
            </a:pPr>
            <a:endParaRPr lang="es-ES" spc="-5" dirty="0">
              <a:solidFill>
                <a:prstClr val="black"/>
              </a:solidFill>
              <a:cs typeface="Calibri"/>
            </a:endParaRPr>
          </a:p>
          <a:p>
            <a:pPr marL="241300" marR="34925">
              <a:lnSpc>
                <a:spcPct val="90000"/>
              </a:lnSpc>
              <a:spcBef>
                <a:spcPts val="1035"/>
              </a:spcBef>
              <a:buFont typeface="Arial"/>
              <a:buChar char="•"/>
              <a:tabLst>
                <a:tab pos="309245" algn="l"/>
                <a:tab pos="309880" algn="l"/>
              </a:tabLst>
            </a:pPr>
            <a:r>
              <a:rPr lang="es-ES" spc="-5" dirty="0">
                <a:solidFill>
                  <a:prstClr val="black"/>
                </a:solidFill>
                <a:cs typeface="Calibri"/>
              </a:rPr>
              <a:t>CASO</a:t>
            </a:r>
            <a:r>
              <a:rPr lang="es-ES" spc="-25" dirty="0">
                <a:solidFill>
                  <a:prstClr val="black"/>
                </a:solidFill>
                <a:cs typeface="Calibri"/>
              </a:rPr>
              <a:t> </a:t>
            </a:r>
            <a:r>
              <a:rPr lang="es-ES" spc="-10" dirty="0">
                <a:solidFill>
                  <a:prstClr val="black"/>
                </a:solidFill>
                <a:cs typeface="Calibri"/>
              </a:rPr>
              <a:t>SOSPECHOSO:</a:t>
            </a:r>
            <a:r>
              <a:rPr lang="es-ES" spc="5" dirty="0">
                <a:solidFill>
                  <a:prstClr val="black"/>
                </a:solidFill>
                <a:cs typeface="Calibri"/>
              </a:rPr>
              <a:t> P</a:t>
            </a:r>
            <a:r>
              <a:rPr lang="es-ES" spc="-10" dirty="0">
                <a:solidFill>
                  <a:prstClr val="black"/>
                </a:solidFill>
                <a:cs typeface="Calibri"/>
              </a:rPr>
              <a:t>aciente</a:t>
            </a:r>
            <a:r>
              <a:rPr lang="es-ES" spc="-20" dirty="0">
                <a:solidFill>
                  <a:prstClr val="black"/>
                </a:solidFill>
                <a:cs typeface="Calibri"/>
              </a:rPr>
              <a:t> </a:t>
            </a:r>
            <a:r>
              <a:rPr lang="es-ES" spc="-10" dirty="0">
                <a:solidFill>
                  <a:prstClr val="black"/>
                </a:solidFill>
                <a:cs typeface="Calibri"/>
              </a:rPr>
              <a:t>con</a:t>
            </a:r>
            <a:r>
              <a:rPr lang="es-ES" spc="-5" dirty="0">
                <a:solidFill>
                  <a:prstClr val="black"/>
                </a:solidFill>
                <a:cs typeface="Calibri"/>
              </a:rPr>
              <a:t> </a:t>
            </a:r>
            <a:r>
              <a:rPr lang="es-ES" dirty="0">
                <a:solidFill>
                  <a:prstClr val="black"/>
                </a:solidFill>
                <a:cs typeface="Calibri"/>
              </a:rPr>
              <a:t>inicio</a:t>
            </a:r>
            <a:r>
              <a:rPr lang="es-ES" spc="-10" dirty="0">
                <a:solidFill>
                  <a:prstClr val="black"/>
                </a:solidFill>
                <a:cs typeface="Calibri"/>
              </a:rPr>
              <a:t> </a:t>
            </a:r>
            <a:r>
              <a:rPr lang="es-ES" dirty="0">
                <a:solidFill>
                  <a:prstClr val="black"/>
                </a:solidFill>
                <a:cs typeface="Calibri"/>
              </a:rPr>
              <a:t>agudo</a:t>
            </a:r>
            <a:r>
              <a:rPr lang="es-ES" spc="-10" dirty="0">
                <a:solidFill>
                  <a:prstClr val="black"/>
                </a:solidFill>
                <a:cs typeface="Calibri"/>
              </a:rPr>
              <a:t> </a:t>
            </a:r>
            <a:r>
              <a:rPr lang="es-ES" spc="-5" dirty="0">
                <a:solidFill>
                  <a:prstClr val="black"/>
                </a:solidFill>
                <a:cs typeface="Calibri"/>
              </a:rPr>
              <a:t>de</a:t>
            </a:r>
            <a:r>
              <a:rPr lang="es-ES" dirty="0">
                <a:solidFill>
                  <a:prstClr val="black"/>
                </a:solidFill>
                <a:cs typeface="Calibri"/>
              </a:rPr>
              <a:t> </a:t>
            </a:r>
            <a:r>
              <a:rPr lang="es-ES" spc="-10" dirty="0">
                <a:solidFill>
                  <a:prstClr val="black"/>
                </a:solidFill>
                <a:cs typeface="Calibri"/>
              </a:rPr>
              <a:t>fiebre</a:t>
            </a:r>
            <a:r>
              <a:rPr lang="es-ES" spc="15" dirty="0">
                <a:solidFill>
                  <a:prstClr val="black"/>
                </a:solidFill>
                <a:cs typeface="Calibri"/>
              </a:rPr>
              <a:t> </a:t>
            </a:r>
            <a:r>
              <a:rPr lang="es-ES" spc="-15" dirty="0">
                <a:solidFill>
                  <a:prstClr val="black"/>
                </a:solidFill>
                <a:cs typeface="Calibri"/>
              </a:rPr>
              <a:t>mayor</a:t>
            </a:r>
            <a:r>
              <a:rPr lang="es-ES" spc="-30" dirty="0">
                <a:solidFill>
                  <a:prstClr val="black"/>
                </a:solidFill>
                <a:cs typeface="Calibri"/>
              </a:rPr>
              <a:t> </a:t>
            </a:r>
            <a:r>
              <a:rPr lang="es-ES" spc="-5" dirty="0">
                <a:solidFill>
                  <a:prstClr val="black"/>
                </a:solidFill>
                <a:cs typeface="Calibri"/>
              </a:rPr>
              <a:t>de </a:t>
            </a:r>
            <a:r>
              <a:rPr lang="es-ES" dirty="0">
                <a:solidFill>
                  <a:prstClr val="black"/>
                </a:solidFill>
                <a:cs typeface="Calibri"/>
              </a:rPr>
              <a:t> </a:t>
            </a:r>
            <a:r>
              <a:rPr lang="es-ES" spc="-5" dirty="0">
                <a:solidFill>
                  <a:prstClr val="black"/>
                </a:solidFill>
                <a:cs typeface="Calibri"/>
              </a:rPr>
              <a:t>38,5ºC </a:t>
            </a:r>
            <a:r>
              <a:rPr lang="es-ES" dirty="0">
                <a:solidFill>
                  <a:prstClr val="black"/>
                </a:solidFill>
                <a:cs typeface="Calibri"/>
              </a:rPr>
              <a:t>y </a:t>
            </a:r>
            <a:r>
              <a:rPr lang="es-ES" spc="-5" dirty="0">
                <a:solidFill>
                  <a:prstClr val="black"/>
                </a:solidFill>
                <a:cs typeface="Calibri"/>
              </a:rPr>
              <a:t>artralgias </a:t>
            </a:r>
            <a:r>
              <a:rPr lang="es-ES" spc="-20" dirty="0">
                <a:solidFill>
                  <a:prstClr val="black"/>
                </a:solidFill>
                <a:cs typeface="Calibri"/>
              </a:rPr>
              <a:t>graves </a:t>
            </a:r>
            <a:r>
              <a:rPr lang="es-ES" spc="-10" dirty="0">
                <a:solidFill>
                  <a:prstClr val="black"/>
                </a:solidFill>
                <a:cs typeface="Calibri"/>
              </a:rPr>
              <a:t>discapacitantes </a:t>
            </a:r>
            <a:r>
              <a:rPr lang="es-ES" dirty="0">
                <a:solidFill>
                  <a:prstClr val="black"/>
                </a:solidFill>
                <a:cs typeface="Calibri"/>
              </a:rPr>
              <a:t>o artritis </a:t>
            </a:r>
            <a:r>
              <a:rPr lang="es-ES" spc="-5" dirty="0">
                <a:solidFill>
                  <a:prstClr val="black"/>
                </a:solidFill>
                <a:cs typeface="Calibri"/>
              </a:rPr>
              <a:t>no </a:t>
            </a:r>
            <a:r>
              <a:rPr lang="es-ES" spc="-10" dirty="0">
                <a:solidFill>
                  <a:prstClr val="black"/>
                </a:solidFill>
                <a:cs typeface="Calibri"/>
              </a:rPr>
              <a:t>explicada </a:t>
            </a:r>
            <a:r>
              <a:rPr lang="es-ES" spc="-5" dirty="0">
                <a:solidFill>
                  <a:prstClr val="black"/>
                </a:solidFill>
                <a:cs typeface="Calibri"/>
              </a:rPr>
              <a:t>por </a:t>
            </a:r>
            <a:r>
              <a:rPr lang="es-ES" spc="-20" dirty="0">
                <a:solidFill>
                  <a:prstClr val="black"/>
                </a:solidFill>
                <a:cs typeface="Calibri"/>
              </a:rPr>
              <a:t>otra </a:t>
            </a:r>
            <a:r>
              <a:rPr lang="es-ES" spc="-10" dirty="0">
                <a:solidFill>
                  <a:prstClr val="black"/>
                </a:solidFill>
                <a:cs typeface="Calibri"/>
              </a:rPr>
              <a:t>condición </a:t>
            </a:r>
            <a:r>
              <a:rPr lang="es-ES" spc="-5" dirty="0">
                <a:solidFill>
                  <a:prstClr val="black"/>
                </a:solidFill>
                <a:cs typeface="Calibri"/>
              </a:rPr>
              <a:t> médica,</a:t>
            </a:r>
            <a:r>
              <a:rPr lang="es-ES" spc="-15" dirty="0">
                <a:solidFill>
                  <a:prstClr val="black"/>
                </a:solidFill>
                <a:cs typeface="Calibri"/>
              </a:rPr>
              <a:t> </a:t>
            </a:r>
            <a:r>
              <a:rPr lang="es-ES" dirty="0">
                <a:solidFill>
                  <a:prstClr val="black"/>
                </a:solidFill>
                <a:cs typeface="Calibri"/>
              </a:rPr>
              <a:t>y</a:t>
            </a:r>
            <a:r>
              <a:rPr lang="es-ES" spc="-5" dirty="0">
                <a:solidFill>
                  <a:prstClr val="black"/>
                </a:solidFill>
                <a:cs typeface="Calibri"/>
              </a:rPr>
              <a:t> que</a:t>
            </a:r>
            <a:r>
              <a:rPr lang="es-ES" dirty="0">
                <a:solidFill>
                  <a:prstClr val="black"/>
                </a:solidFill>
                <a:cs typeface="Calibri"/>
              </a:rPr>
              <a:t> </a:t>
            </a:r>
            <a:r>
              <a:rPr lang="es-ES" spc="-10" dirty="0">
                <a:solidFill>
                  <a:prstClr val="black"/>
                </a:solidFill>
                <a:cs typeface="Calibri"/>
              </a:rPr>
              <a:t>reside</a:t>
            </a:r>
            <a:r>
              <a:rPr lang="es-ES" spc="15" dirty="0">
                <a:solidFill>
                  <a:prstClr val="black"/>
                </a:solidFill>
                <a:cs typeface="Calibri"/>
              </a:rPr>
              <a:t> </a:t>
            </a:r>
            <a:r>
              <a:rPr lang="es-ES" dirty="0">
                <a:solidFill>
                  <a:prstClr val="black"/>
                </a:solidFill>
                <a:cs typeface="Calibri"/>
              </a:rPr>
              <a:t>o</a:t>
            </a:r>
            <a:r>
              <a:rPr lang="es-ES" spc="-5" dirty="0">
                <a:solidFill>
                  <a:prstClr val="black"/>
                </a:solidFill>
                <a:cs typeface="Calibri"/>
              </a:rPr>
              <a:t> ha</a:t>
            </a:r>
            <a:r>
              <a:rPr lang="es-ES" spc="-10" dirty="0">
                <a:solidFill>
                  <a:prstClr val="black"/>
                </a:solidFill>
                <a:cs typeface="Calibri"/>
              </a:rPr>
              <a:t> </a:t>
            </a:r>
            <a:r>
              <a:rPr lang="es-ES" spc="-5" dirty="0">
                <a:solidFill>
                  <a:prstClr val="black"/>
                </a:solidFill>
                <a:cs typeface="Calibri"/>
              </a:rPr>
              <a:t>visitado</a:t>
            </a:r>
            <a:r>
              <a:rPr lang="es-ES" dirty="0">
                <a:solidFill>
                  <a:prstClr val="black"/>
                </a:solidFill>
                <a:cs typeface="Calibri"/>
              </a:rPr>
              <a:t> </a:t>
            </a:r>
            <a:r>
              <a:rPr lang="es-ES" spc="-10" dirty="0">
                <a:solidFill>
                  <a:prstClr val="black"/>
                </a:solidFill>
                <a:cs typeface="Calibri"/>
              </a:rPr>
              <a:t>áreas</a:t>
            </a:r>
            <a:r>
              <a:rPr lang="es-ES" dirty="0">
                <a:solidFill>
                  <a:prstClr val="black"/>
                </a:solidFill>
                <a:cs typeface="Calibri"/>
              </a:rPr>
              <a:t> </a:t>
            </a:r>
            <a:r>
              <a:rPr lang="es-ES" spc="-5" dirty="0">
                <a:solidFill>
                  <a:prstClr val="black"/>
                </a:solidFill>
                <a:cs typeface="Calibri"/>
              </a:rPr>
              <a:t>endémicas</a:t>
            </a:r>
            <a:r>
              <a:rPr lang="es-ES" spc="-10" dirty="0">
                <a:solidFill>
                  <a:prstClr val="black"/>
                </a:solidFill>
                <a:cs typeface="Calibri"/>
              </a:rPr>
              <a:t> </a:t>
            </a:r>
            <a:r>
              <a:rPr lang="es-ES" spc="-15" dirty="0">
                <a:solidFill>
                  <a:prstClr val="black"/>
                </a:solidFill>
                <a:cs typeface="Calibri"/>
              </a:rPr>
              <a:t>dentro</a:t>
            </a:r>
            <a:r>
              <a:rPr lang="es-ES" spc="-5" dirty="0">
                <a:solidFill>
                  <a:prstClr val="black"/>
                </a:solidFill>
                <a:cs typeface="Calibri"/>
              </a:rPr>
              <a:t> de</a:t>
            </a:r>
            <a:r>
              <a:rPr lang="es-ES" dirty="0">
                <a:solidFill>
                  <a:prstClr val="black"/>
                </a:solidFill>
                <a:cs typeface="Calibri"/>
              </a:rPr>
              <a:t> </a:t>
            </a:r>
            <a:r>
              <a:rPr lang="es-ES" spc="-5" dirty="0">
                <a:solidFill>
                  <a:prstClr val="black"/>
                </a:solidFill>
                <a:cs typeface="Calibri"/>
              </a:rPr>
              <a:t>dos</a:t>
            </a:r>
            <a:r>
              <a:rPr lang="es-ES" spc="-10" dirty="0">
                <a:solidFill>
                  <a:prstClr val="black"/>
                </a:solidFill>
                <a:cs typeface="Calibri"/>
              </a:rPr>
              <a:t> </a:t>
            </a:r>
            <a:r>
              <a:rPr lang="es-ES" spc="-5" dirty="0">
                <a:solidFill>
                  <a:prstClr val="black"/>
                </a:solidFill>
                <a:cs typeface="Calibri"/>
              </a:rPr>
              <a:t>(2)</a:t>
            </a:r>
            <a:r>
              <a:rPr lang="es-ES" spc="-10" dirty="0">
                <a:solidFill>
                  <a:prstClr val="black"/>
                </a:solidFill>
                <a:cs typeface="Calibri"/>
              </a:rPr>
              <a:t> </a:t>
            </a:r>
            <a:r>
              <a:rPr lang="es-ES" spc="-5" dirty="0">
                <a:solidFill>
                  <a:prstClr val="black"/>
                </a:solidFill>
                <a:cs typeface="Calibri"/>
              </a:rPr>
              <a:t>semanas</a:t>
            </a:r>
            <a:r>
              <a:rPr lang="es-ES" spc="-15" dirty="0">
                <a:solidFill>
                  <a:prstClr val="black"/>
                </a:solidFill>
                <a:cs typeface="Calibri"/>
              </a:rPr>
              <a:t> </a:t>
            </a:r>
            <a:r>
              <a:rPr lang="es-ES" spc="-10" dirty="0">
                <a:solidFill>
                  <a:prstClr val="black"/>
                </a:solidFill>
                <a:cs typeface="Calibri"/>
              </a:rPr>
              <a:t>previas </a:t>
            </a:r>
            <a:r>
              <a:rPr lang="es-ES" spc="-525" dirty="0">
                <a:solidFill>
                  <a:prstClr val="black"/>
                </a:solidFill>
                <a:cs typeface="Calibri"/>
              </a:rPr>
              <a:t> </a:t>
            </a:r>
            <a:r>
              <a:rPr lang="es-ES" dirty="0">
                <a:solidFill>
                  <a:prstClr val="black"/>
                </a:solidFill>
                <a:cs typeface="Calibri"/>
              </a:rPr>
              <a:t>al</a:t>
            </a:r>
            <a:r>
              <a:rPr lang="es-ES" spc="-20" dirty="0">
                <a:solidFill>
                  <a:prstClr val="black"/>
                </a:solidFill>
                <a:cs typeface="Calibri"/>
              </a:rPr>
              <a:t> </a:t>
            </a:r>
            <a:r>
              <a:rPr lang="es-ES" dirty="0">
                <a:solidFill>
                  <a:prstClr val="black"/>
                </a:solidFill>
                <a:cs typeface="Calibri"/>
              </a:rPr>
              <a:t>inicio </a:t>
            </a:r>
            <a:r>
              <a:rPr lang="es-ES" spc="-5" dirty="0">
                <a:solidFill>
                  <a:prstClr val="black"/>
                </a:solidFill>
                <a:cs typeface="Calibri"/>
              </a:rPr>
              <a:t>de </a:t>
            </a:r>
            <a:r>
              <a:rPr lang="es-ES" dirty="0">
                <a:solidFill>
                  <a:prstClr val="black"/>
                </a:solidFill>
                <a:cs typeface="Calibri"/>
              </a:rPr>
              <a:t>los</a:t>
            </a:r>
            <a:r>
              <a:rPr lang="es-ES" spc="-10" dirty="0">
                <a:solidFill>
                  <a:prstClr val="black"/>
                </a:solidFill>
                <a:cs typeface="Calibri"/>
              </a:rPr>
              <a:t> </a:t>
            </a:r>
            <a:r>
              <a:rPr lang="es-ES" spc="-15" dirty="0">
                <a:solidFill>
                  <a:prstClr val="black"/>
                </a:solidFill>
                <a:cs typeface="Calibri"/>
              </a:rPr>
              <a:t>síntomas.</a:t>
            </a:r>
          </a:p>
          <a:p>
            <a:pPr marL="241300" marR="34925">
              <a:lnSpc>
                <a:spcPct val="90000"/>
              </a:lnSpc>
              <a:spcBef>
                <a:spcPts val="1035"/>
              </a:spcBef>
              <a:buFont typeface="Arial"/>
              <a:buChar char="•"/>
              <a:tabLst>
                <a:tab pos="309245" algn="l"/>
                <a:tab pos="309880" algn="l"/>
              </a:tabLst>
            </a:pPr>
            <a:endParaRPr lang="es-ES" dirty="0">
              <a:solidFill>
                <a:prstClr val="black"/>
              </a:solidFill>
              <a:cs typeface="Calibri"/>
            </a:endParaRPr>
          </a:p>
          <a:p>
            <a:pPr marL="241300" marR="737870" algn="just">
              <a:lnSpc>
                <a:spcPct val="90000"/>
              </a:lnSpc>
              <a:spcBef>
                <a:spcPts val="994"/>
              </a:spcBef>
              <a:buFont typeface="Arial"/>
              <a:buChar char="•"/>
              <a:tabLst>
                <a:tab pos="309880" algn="l"/>
              </a:tabLst>
            </a:pPr>
            <a:r>
              <a:rPr lang="es-ES" dirty="0">
                <a:solidFill>
                  <a:prstClr val="black"/>
                </a:solidFill>
              </a:rPr>
              <a:t>	</a:t>
            </a:r>
            <a:r>
              <a:rPr lang="es-ES" spc="-5" dirty="0">
                <a:solidFill>
                  <a:prstClr val="black"/>
                </a:solidFill>
                <a:cs typeface="Calibri"/>
              </a:rPr>
              <a:t>CASO </a:t>
            </a:r>
            <a:r>
              <a:rPr lang="es-ES" spc="-10" dirty="0">
                <a:solidFill>
                  <a:prstClr val="black"/>
                </a:solidFill>
                <a:cs typeface="Calibri"/>
              </a:rPr>
              <a:t>CONFIRMADO: </a:t>
            </a:r>
            <a:r>
              <a:rPr lang="es-ES" spc="-5" dirty="0">
                <a:solidFill>
                  <a:prstClr val="black"/>
                </a:solidFill>
                <a:cs typeface="Calibri"/>
              </a:rPr>
              <a:t>Es un Caso sospechoso </a:t>
            </a:r>
            <a:r>
              <a:rPr lang="es-ES" spc="-10" dirty="0">
                <a:solidFill>
                  <a:prstClr val="black"/>
                </a:solidFill>
                <a:cs typeface="Calibri"/>
              </a:rPr>
              <a:t>con </a:t>
            </a:r>
            <a:r>
              <a:rPr lang="es-ES" dirty="0">
                <a:solidFill>
                  <a:prstClr val="black"/>
                </a:solidFill>
                <a:cs typeface="Calibri"/>
              </a:rPr>
              <a:t>al menos </a:t>
            </a:r>
            <a:r>
              <a:rPr lang="es-ES" spc="-5" dirty="0">
                <a:solidFill>
                  <a:prstClr val="black"/>
                </a:solidFill>
                <a:cs typeface="Calibri"/>
              </a:rPr>
              <a:t>uno de los </a:t>
            </a:r>
            <a:r>
              <a:rPr lang="es-ES" spc="-10" dirty="0">
                <a:solidFill>
                  <a:prstClr val="black"/>
                </a:solidFill>
                <a:cs typeface="Calibri"/>
              </a:rPr>
              <a:t>siguientes </a:t>
            </a:r>
            <a:r>
              <a:rPr lang="es-ES" spc="-530" dirty="0">
                <a:solidFill>
                  <a:prstClr val="black"/>
                </a:solidFill>
                <a:cs typeface="Calibri"/>
              </a:rPr>
              <a:t> </a:t>
            </a:r>
            <a:r>
              <a:rPr lang="es-ES" spc="-10" dirty="0">
                <a:solidFill>
                  <a:prstClr val="black"/>
                </a:solidFill>
                <a:cs typeface="Calibri"/>
              </a:rPr>
              <a:t>resultados </a:t>
            </a:r>
            <a:r>
              <a:rPr lang="es-ES" spc="-5" dirty="0">
                <a:solidFill>
                  <a:prstClr val="black"/>
                </a:solidFill>
                <a:cs typeface="Calibri"/>
              </a:rPr>
              <a:t>de </a:t>
            </a:r>
            <a:r>
              <a:rPr lang="es-ES" spc="-10" dirty="0">
                <a:solidFill>
                  <a:prstClr val="black"/>
                </a:solidFill>
                <a:cs typeface="Calibri"/>
              </a:rPr>
              <a:t>laboratorio: </a:t>
            </a:r>
            <a:r>
              <a:rPr lang="es-ES" spc="-15" dirty="0">
                <a:solidFill>
                  <a:prstClr val="black"/>
                </a:solidFill>
                <a:cs typeface="Calibri"/>
              </a:rPr>
              <a:t>seroconversión </a:t>
            </a:r>
            <a:r>
              <a:rPr lang="es-ES" spc="-5" dirty="0">
                <a:solidFill>
                  <a:prstClr val="black"/>
                </a:solidFill>
                <a:cs typeface="Calibri"/>
              </a:rPr>
              <a:t>de anticuerpos </a:t>
            </a:r>
            <a:r>
              <a:rPr lang="es-ES" dirty="0">
                <a:solidFill>
                  <a:prstClr val="black"/>
                </a:solidFill>
                <a:cs typeface="Calibri"/>
              </a:rPr>
              <a:t>IgM o IgG en </a:t>
            </a:r>
            <a:r>
              <a:rPr lang="es-ES" spc="-10" dirty="0">
                <a:solidFill>
                  <a:prstClr val="black"/>
                </a:solidFill>
                <a:cs typeface="Calibri"/>
              </a:rPr>
              <a:t>muestras </a:t>
            </a:r>
            <a:r>
              <a:rPr lang="es-ES" spc="-530" dirty="0">
                <a:solidFill>
                  <a:prstClr val="black"/>
                </a:solidFill>
                <a:cs typeface="Calibri"/>
              </a:rPr>
              <a:t> </a:t>
            </a:r>
            <a:r>
              <a:rPr lang="es-ES" spc="-10" dirty="0">
                <a:solidFill>
                  <a:prstClr val="black"/>
                </a:solidFill>
                <a:cs typeface="Calibri"/>
              </a:rPr>
              <a:t>pareadas,</a:t>
            </a:r>
            <a:r>
              <a:rPr lang="es-ES" spc="-5" dirty="0">
                <a:solidFill>
                  <a:prstClr val="black"/>
                </a:solidFill>
                <a:cs typeface="Calibri"/>
              </a:rPr>
              <a:t> aislamiento</a:t>
            </a:r>
            <a:r>
              <a:rPr lang="es-ES" spc="-25" dirty="0">
                <a:solidFill>
                  <a:prstClr val="black"/>
                </a:solidFill>
                <a:cs typeface="Calibri"/>
              </a:rPr>
              <a:t> </a:t>
            </a:r>
            <a:r>
              <a:rPr lang="es-ES" spc="-5" dirty="0">
                <a:solidFill>
                  <a:prstClr val="black"/>
                </a:solidFill>
                <a:cs typeface="Calibri"/>
              </a:rPr>
              <a:t>de </a:t>
            </a:r>
            <a:r>
              <a:rPr lang="es-ES" dirty="0">
                <a:solidFill>
                  <a:prstClr val="black"/>
                </a:solidFill>
                <a:cs typeface="Calibri"/>
              </a:rPr>
              <a:t>virus </a:t>
            </a:r>
            <a:r>
              <a:rPr lang="es-ES" spc="-15" dirty="0">
                <a:solidFill>
                  <a:prstClr val="black"/>
                </a:solidFill>
                <a:cs typeface="Calibri"/>
              </a:rPr>
              <a:t>y/o</a:t>
            </a:r>
            <a:r>
              <a:rPr lang="es-ES" spc="-25" dirty="0">
                <a:solidFill>
                  <a:prstClr val="black"/>
                </a:solidFill>
                <a:cs typeface="Calibri"/>
              </a:rPr>
              <a:t> </a:t>
            </a:r>
            <a:r>
              <a:rPr lang="es-ES" spc="-5" dirty="0">
                <a:solidFill>
                  <a:prstClr val="black"/>
                </a:solidFill>
                <a:cs typeface="Calibri"/>
              </a:rPr>
              <a:t>detección</a:t>
            </a:r>
            <a:r>
              <a:rPr lang="es-ES" spc="-15" dirty="0">
                <a:solidFill>
                  <a:prstClr val="black"/>
                </a:solidFill>
                <a:cs typeface="Calibri"/>
              </a:rPr>
              <a:t> </a:t>
            </a:r>
            <a:r>
              <a:rPr lang="es-ES" spc="-5" dirty="0">
                <a:solidFill>
                  <a:prstClr val="black"/>
                </a:solidFill>
                <a:cs typeface="Calibri"/>
              </a:rPr>
              <a:t>molecular</a:t>
            </a:r>
            <a:r>
              <a:rPr lang="es-ES" spc="-25" dirty="0">
                <a:solidFill>
                  <a:prstClr val="black"/>
                </a:solidFill>
                <a:cs typeface="Calibri"/>
              </a:rPr>
              <a:t> </a:t>
            </a:r>
            <a:r>
              <a:rPr lang="es-ES" spc="-5" dirty="0">
                <a:solidFill>
                  <a:prstClr val="black"/>
                </a:solidFill>
                <a:cs typeface="Calibri"/>
              </a:rPr>
              <a:t>del genoma</a:t>
            </a:r>
            <a:r>
              <a:rPr lang="es-ES" spc="20" dirty="0">
                <a:solidFill>
                  <a:prstClr val="black"/>
                </a:solidFill>
                <a:cs typeface="Calibri"/>
              </a:rPr>
              <a:t> </a:t>
            </a:r>
            <a:r>
              <a:rPr lang="es-ES" spc="-10" dirty="0">
                <a:solidFill>
                  <a:prstClr val="black"/>
                </a:solidFill>
                <a:cs typeface="Calibri"/>
              </a:rPr>
              <a:t>viral.</a:t>
            </a:r>
          </a:p>
          <a:p>
            <a:pPr marL="241300" marR="737870" algn="just">
              <a:lnSpc>
                <a:spcPct val="90000"/>
              </a:lnSpc>
              <a:spcBef>
                <a:spcPts val="994"/>
              </a:spcBef>
              <a:buFont typeface="Arial"/>
              <a:buChar char="•"/>
              <a:tabLst>
                <a:tab pos="309880" algn="l"/>
              </a:tabLst>
            </a:pPr>
            <a:endParaRPr lang="es-ES" dirty="0">
              <a:solidFill>
                <a:prstClr val="black"/>
              </a:solidFill>
              <a:cs typeface="Calibri"/>
            </a:endParaRPr>
          </a:p>
          <a:p>
            <a:pPr marL="241300" marR="5080">
              <a:lnSpc>
                <a:spcPct val="90100"/>
              </a:lnSpc>
              <a:spcBef>
                <a:spcPts val="995"/>
              </a:spcBef>
              <a:buFont typeface="Arial"/>
              <a:buChar char="•"/>
              <a:tabLst>
                <a:tab pos="309245" algn="l"/>
                <a:tab pos="309880" algn="l"/>
              </a:tabLst>
            </a:pPr>
            <a:r>
              <a:rPr lang="es-ES" dirty="0">
                <a:solidFill>
                  <a:prstClr val="black"/>
                </a:solidFill>
              </a:rPr>
              <a:t>	</a:t>
            </a:r>
            <a:r>
              <a:rPr lang="es-ES" spc="-5" dirty="0">
                <a:solidFill>
                  <a:prstClr val="black"/>
                </a:solidFill>
                <a:cs typeface="Calibri"/>
              </a:rPr>
              <a:t>CASO </a:t>
            </a:r>
            <a:r>
              <a:rPr lang="es-ES" spc="-10" dirty="0">
                <a:solidFill>
                  <a:prstClr val="black"/>
                </a:solidFill>
                <a:cs typeface="Calibri"/>
              </a:rPr>
              <a:t>CONFIRMADO </a:t>
            </a:r>
            <a:r>
              <a:rPr lang="es-ES" spc="-5" dirty="0">
                <a:solidFill>
                  <a:prstClr val="black"/>
                </a:solidFill>
                <a:cs typeface="Calibri"/>
              </a:rPr>
              <a:t>POR </a:t>
            </a:r>
            <a:r>
              <a:rPr lang="es-ES" spc="-20" dirty="0">
                <a:solidFill>
                  <a:prstClr val="black"/>
                </a:solidFill>
                <a:cs typeface="Calibri"/>
              </a:rPr>
              <a:t>NEXO </a:t>
            </a:r>
            <a:r>
              <a:rPr lang="es-ES" spc="-10" dirty="0">
                <a:solidFill>
                  <a:prstClr val="black"/>
                </a:solidFill>
                <a:cs typeface="Calibri"/>
              </a:rPr>
              <a:t>EPIDEMIOLÓGICO: </a:t>
            </a:r>
            <a:r>
              <a:rPr lang="es-ES" spc="-5" dirty="0">
                <a:solidFill>
                  <a:prstClr val="black"/>
                </a:solidFill>
                <a:cs typeface="Calibri"/>
              </a:rPr>
              <a:t>En una situación de </a:t>
            </a:r>
            <a:r>
              <a:rPr lang="es-ES" spc="-15" dirty="0">
                <a:solidFill>
                  <a:prstClr val="black"/>
                </a:solidFill>
                <a:cs typeface="Calibri"/>
              </a:rPr>
              <a:t>brote </a:t>
            </a:r>
            <a:r>
              <a:rPr lang="es-ES" spc="-5" dirty="0">
                <a:solidFill>
                  <a:prstClr val="black"/>
                </a:solidFill>
                <a:cs typeface="Calibri"/>
              </a:rPr>
              <a:t>luego de </a:t>
            </a:r>
            <a:r>
              <a:rPr lang="es-ES" spc="-530" dirty="0">
                <a:solidFill>
                  <a:prstClr val="black"/>
                </a:solidFill>
                <a:cs typeface="Calibri"/>
              </a:rPr>
              <a:t> </a:t>
            </a:r>
            <a:r>
              <a:rPr lang="es-ES" dirty="0">
                <a:solidFill>
                  <a:prstClr val="black"/>
                </a:solidFill>
                <a:cs typeface="Calibri"/>
              </a:rPr>
              <a:t>la </a:t>
            </a:r>
            <a:r>
              <a:rPr lang="es-ES" spc="-10" dirty="0">
                <a:solidFill>
                  <a:prstClr val="black"/>
                </a:solidFill>
                <a:cs typeface="Calibri"/>
              </a:rPr>
              <a:t>confirmación </a:t>
            </a:r>
            <a:r>
              <a:rPr lang="es-ES" spc="-5" dirty="0">
                <a:solidFill>
                  <a:prstClr val="black"/>
                </a:solidFill>
                <a:cs typeface="Calibri"/>
              </a:rPr>
              <a:t>de circulación del virus </a:t>
            </a:r>
            <a:r>
              <a:rPr lang="es-ES" spc="-10" dirty="0">
                <a:solidFill>
                  <a:prstClr val="black"/>
                </a:solidFill>
                <a:cs typeface="Calibri"/>
              </a:rPr>
              <a:t>mediante </a:t>
            </a:r>
            <a:r>
              <a:rPr lang="es-ES" dirty="0">
                <a:solidFill>
                  <a:prstClr val="black"/>
                </a:solidFill>
                <a:cs typeface="Calibri"/>
              </a:rPr>
              <a:t>las </a:t>
            </a:r>
            <a:r>
              <a:rPr lang="es-ES" spc="-5" dirty="0">
                <a:solidFill>
                  <a:prstClr val="black"/>
                </a:solidFill>
                <a:cs typeface="Calibri"/>
              </a:rPr>
              <a:t>pruebas de </a:t>
            </a:r>
            <a:r>
              <a:rPr lang="es-ES" spc="-15" dirty="0">
                <a:solidFill>
                  <a:prstClr val="black"/>
                </a:solidFill>
                <a:cs typeface="Calibri"/>
              </a:rPr>
              <a:t>laboratorio </a:t>
            </a:r>
            <a:r>
              <a:rPr lang="es-ES" spc="-10" dirty="0">
                <a:solidFill>
                  <a:prstClr val="black"/>
                </a:solidFill>
                <a:cs typeface="Calibri"/>
              </a:rPr>
              <a:t> </a:t>
            </a:r>
            <a:r>
              <a:rPr lang="es-ES" dirty="0">
                <a:solidFill>
                  <a:prstClr val="black"/>
                </a:solidFill>
                <a:cs typeface="Calibri"/>
              </a:rPr>
              <a:t>mencionadas,</a:t>
            </a:r>
            <a:r>
              <a:rPr lang="es-ES" spc="-15" dirty="0">
                <a:solidFill>
                  <a:prstClr val="black"/>
                </a:solidFill>
                <a:cs typeface="Calibri"/>
              </a:rPr>
              <a:t> </a:t>
            </a:r>
            <a:r>
              <a:rPr lang="es-ES" dirty="0">
                <a:solidFill>
                  <a:prstClr val="black"/>
                </a:solidFill>
                <a:cs typeface="Calibri"/>
              </a:rPr>
              <a:t>los</a:t>
            </a:r>
            <a:r>
              <a:rPr lang="es-ES" spc="-5" dirty="0">
                <a:solidFill>
                  <a:prstClr val="black"/>
                </a:solidFill>
                <a:cs typeface="Calibri"/>
              </a:rPr>
              <a:t> </a:t>
            </a:r>
            <a:r>
              <a:rPr lang="es-ES" spc="-10" dirty="0">
                <a:solidFill>
                  <a:prstClr val="black"/>
                </a:solidFill>
                <a:cs typeface="Calibri"/>
              </a:rPr>
              <a:t>siguientes</a:t>
            </a:r>
            <a:r>
              <a:rPr lang="es-ES" spc="-15" dirty="0">
                <a:solidFill>
                  <a:prstClr val="black"/>
                </a:solidFill>
                <a:cs typeface="Calibri"/>
              </a:rPr>
              <a:t> </a:t>
            </a:r>
            <a:r>
              <a:rPr lang="es-ES" spc="-5" dirty="0">
                <a:solidFill>
                  <a:prstClr val="black"/>
                </a:solidFill>
                <a:cs typeface="Calibri"/>
              </a:rPr>
              <a:t>casos se</a:t>
            </a:r>
            <a:r>
              <a:rPr lang="es-ES" dirty="0">
                <a:solidFill>
                  <a:prstClr val="black"/>
                </a:solidFill>
                <a:cs typeface="Calibri"/>
              </a:rPr>
              <a:t> </a:t>
            </a:r>
            <a:r>
              <a:rPr lang="es-ES" spc="-10" dirty="0">
                <a:solidFill>
                  <a:prstClr val="black"/>
                </a:solidFill>
                <a:cs typeface="Calibri"/>
              </a:rPr>
              <a:t>confirman </a:t>
            </a:r>
            <a:r>
              <a:rPr lang="es-ES" spc="-5" dirty="0">
                <a:solidFill>
                  <a:prstClr val="black"/>
                </a:solidFill>
                <a:cs typeface="Calibri"/>
              </a:rPr>
              <a:t>por</a:t>
            </a:r>
            <a:r>
              <a:rPr lang="es-ES" dirty="0">
                <a:solidFill>
                  <a:prstClr val="black"/>
                </a:solidFill>
                <a:cs typeface="Calibri"/>
              </a:rPr>
              <a:t> </a:t>
            </a:r>
            <a:r>
              <a:rPr lang="es-ES" spc="-5" dirty="0">
                <a:solidFill>
                  <a:prstClr val="black"/>
                </a:solidFill>
                <a:cs typeface="Calibri"/>
              </a:rPr>
              <a:t>criterios</a:t>
            </a:r>
            <a:r>
              <a:rPr lang="es-ES" spc="-20" dirty="0">
                <a:solidFill>
                  <a:prstClr val="black"/>
                </a:solidFill>
                <a:cs typeface="Calibri"/>
              </a:rPr>
              <a:t> </a:t>
            </a:r>
            <a:r>
              <a:rPr lang="es-ES" spc="-5" dirty="0">
                <a:solidFill>
                  <a:prstClr val="black"/>
                </a:solidFill>
                <a:cs typeface="Calibri"/>
              </a:rPr>
              <a:t>clínico-epidemiológicos.</a:t>
            </a:r>
          </a:p>
          <a:p>
            <a:pPr marL="241300" marR="5080">
              <a:lnSpc>
                <a:spcPct val="90100"/>
              </a:lnSpc>
              <a:spcBef>
                <a:spcPts val="995"/>
              </a:spcBef>
              <a:buFont typeface="Arial"/>
              <a:buChar char="•"/>
              <a:tabLst>
                <a:tab pos="309245" algn="l"/>
                <a:tab pos="309880" algn="l"/>
              </a:tabLst>
            </a:pPr>
            <a:endParaRPr lang="es-ES" dirty="0">
              <a:solidFill>
                <a:prstClr val="black"/>
              </a:solidFill>
              <a:cs typeface="Calibri"/>
            </a:endParaRPr>
          </a:p>
          <a:p>
            <a:pPr marL="241300" marR="81915">
              <a:lnSpc>
                <a:spcPts val="2590"/>
              </a:lnSpc>
              <a:spcBef>
                <a:spcPts val="1045"/>
              </a:spcBef>
              <a:buFont typeface="Arial"/>
              <a:buChar char="•"/>
              <a:tabLst>
                <a:tab pos="309245" algn="l"/>
                <a:tab pos="309880" algn="l"/>
              </a:tabLst>
            </a:pPr>
            <a:r>
              <a:rPr lang="es-ES" dirty="0">
                <a:solidFill>
                  <a:prstClr val="black"/>
                </a:solidFill>
              </a:rPr>
              <a:t>	</a:t>
            </a:r>
            <a:r>
              <a:rPr lang="es-ES" spc="-5" dirty="0">
                <a:solidFill>
                  <a:prstClr val="black"/>
                </a:solidFill>
                <a:cs typeface="Calibri"/>
              </a:rPr>
              <a:t>CASO </a:t>
            </a:r>
            <a:r>
              <a:rPr lang="es-ES" spc="-25" dirty="0">
                <a:solidFill>
                  <a:prstClr val="black"/>
                </a:solidFill>
                <a:cs typeface="Calibri"/>
              </a:rPr>
              <a:t>DESCARTADO: </a:t>
            </a:r>
            <a:r>
              <a:rPr lang="es-ES" spc="-5" dirty="0">
                <a:solidFill>
                  <a:prstClr val="black"/>
                </a:solidFill>
                <a:cs typeface="Calibri"/>
              </a:rPr>
              <a:t>casos que no reúnen </a:t>
            </a:r>
            <a:r>
              <a:rPr lang="es-ES" dirty="0">
                <a:solidFill>
                  <a:prstClr val="black"/>
                </a:solidFill>
                <a:cs typeface="Calibri"/>
              </a:rPr>
              <a:t>la </a:t>
            </a:r>
            <a:r>
              <a:rPr lang="es-ES" spc="-10" dirty="0">
                <a:solidFill>
                  <a:prstClr val="black"/>
                </a:solidFill>
                <a:cs typeface="Calibri"/>
              </a:rPr>
              <a:t>definición </a:t>
            </a:r>
            <a:r>
              <a:rPr lang="es-ES" spc="-5" dirty="0">
                <a:solidFill>
                  <a:prstClr val="black"/>
                </a:solidFill>
                <a:cs typeface="Calibri"/>
              </a:rPr>
              <a:t>de </a:t>
            </a:r>
            <a:r>
              <a:rPr lang="es-ES" spc="-15" dirty="0">
                <a:solidFill>
                  <a:prstClr val="black"/>
                </a:solidFill>
                <a:cs typeface="Calibri"/>
              </a:rPr>
              <a:t>caso, </a:t>
            </a:r>
            <a:r>
              <a:rPr lang="es-ES" dirty="0">
                <a:solidFill>
                  <a:prstClr val="black"/>
                </a:solidFill>
                <a:cs typeface="Calibri"/>
              </a:rPr>
              <a:t>o </a:t>
            </a:r>
            <a:r>
              <a:rPr lang="es-ES" spc="-5" dirty="0">
                <a:solidFill>
                  <a:prstClr val="black"/>
                </a:solidFill>
                <a:cs typeface="Calibri"/>
              </a:rPr>
              <a:t>cuyos </a:t>
            </a:r>
            <a:r>
              <a:rPr lang="es-ES" spc="-10" dirty="0">
                <a:solidFill>
                  <a:prstClr val="black"/>
                </a:solidFill>
                <a:cs typeface="Calibri"/>
              </a:rPr>
              <a:t>resultados </a:t>
            </a:r>
            <a:r>
              <a:rPr lang="es-ES" spc="-5" dirty="0">
                <a:solidFill>
                  <a:prstClr val="black"/>
                </a:solidFill>
                <a:cs typeface="Calibri"/>
              </a:rPr>
              <a:t>de </a:t>
            </a:r>
            <a:r>
              <a:rPr lang="es-ES" spc="-530" dirty="0">
                <a:solidFill>
                  <a:prstClr val="black"/>
                </a:solidFill>
                <a:cs typeface="Calibri"/>
              </a:rPr>
              <a:t> </a:t>
            </a:r>
            <a:r>
              <a:rPr lang="es-ES" spc="-15" dirty="0">
                <a:solidFill>
                  <a:prstClr val="black"/>
                </a:solidFill>
                <a:cs typeface="Calibri"/>
              </a:rPr>
              <a:t>laboratorio</a:t>
            </a:r>
            <a:r>
              <a:rPr lang="es-ES" spc="-30" dirty="0">
                <a:solidFill>
                  <a:prstClr val="black"/>
                </a:solidFill>
                <a:cs typeface="Calibri"/>
              </a:rPr>
              <a:t> </a:t>
            </a:r>
            <a:r>
              <a:rPr lang="es-ES" spc="-5" dirty="0">
                <a:solidFill>
                  <a:prstClr val="black"/>
                </a:solidFill>
                <a:cs typeface="Calibri"/>
              </a:rPr>
              <a:t>han sido </a:t>
            </a:r>
            <a:r>
              <a:rPr lang="es-ES" spc="-15" dirty="0">
                <a:solidFill>
                  <a:prstClr val="black"/>
                </a:solidFill>
                <a:cs typeface="Calibri"/>
              </a:rPr>
              <a:t>negativos.</a:t>
            </a:r>
            <a:endParaRPr lang="es-ES" dirty="0">
              <a:solidFill>
                <a:prstClr val="black"/>
              </a:solidFill>
              <a:cs typeface="Calibri"/>
            </a:endParaRPr>
          </a:p>
        </p:txBody>
      </p:sp>
    </p:spTree>
    <p:extLst>
      <p:ext uri="{BB962C8B-B14F-4D97-AF65-F5344CB8AC3E}">
        <p14:creationId xmlns:p14="http://schemas.microsoft.com/office/powerpoint/2010/main" val="1669831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0"/>
            <a:ext cx="3095625" cy="444500"/>
          </a:xfrm>
        </p:spPr>
        <p:txBody>
          <a:bodyPr>
            <a:normAutofit fontScale="90000"/>
          </a:bodyPr>
          <a:lstStyle/>
          <a:p>
            <a:r>
              <a:rPr lang="es-AR" b="1" dirty="0">
                <a:latin typeface="Calibri" panose="020F0502020204030204" pitchFamily="34" charset="0"/>
              </a:rPr>
              <a:t>CASO CLÍNICO</a:t>
            </a:r>
            <a:endParaRPr lang="es-AR" dirty="0"/>
          </a:p>
        </p:txBody>
      </p:sp>
      <p:sp>
        <p:nvSpPr>
          <p:cNvPr id="3" name="Marcador de contenido 2"/>
          <p:cNvSpPr>
            <a:spLocks noGrp="1"/>
          </p:cNvSpPr>
          <p:nvPr>
            <p:ph idx="4294967295"/>
          </p:nvPr>
        </p:nvSpPr>
        <p:spPr>
          <a:xfrm>
            <a:off x="0" y="444500"/>
            <a:ext cx="12192000" cy="5629275"/>
          </a:xfrm>
        </p:spPr>
        <p:txBody>
          <a:bodyPr>
            <a:normAutofit/>
          </a:bodyPr>
          <a:lstStyle/>
          <a:p>
            <a:endParaRPr lang="es-AR" sz="1400" dirty="0">
              <a:solidFill>
                <a:srgbClr val="000000"/>
              </a:solidFill>
              <a:latin typeface="Calibri" panose="020F0502020204030204" pitchFamily="34" charset="0"/>
            </a:endParaRPr>
          </a:p>
          <a:p>
            <a:r>
              <a:rPr lang="es-AR" dirty="0">
                <a:latin typeface="Calibri" panose="020F0502020204030204" pitchFamily="34" charset="0"/>
              </a:rPr>
              <a:t>Varón 41 años, sin reacciones adversas a medicamentos, bebedor ocasional, no tomaba medicación de forma habitual. Natural de Venezuela, vive en Madrid, no ha viajado a otros países. Cartilla de vacunación actualizada, incluyendo fiebre amarilla y hepatitis B.</a:t>
            </a:r>
          </a:p>
          <a:p>
            <a:r>
              <a:rPr lang="es-AR" dirty="0">
                <a:latin typeface="Calibri" panose="020F0502020204030204" pitchFamily="34" charset="0"/>
              </a:rPr>
              <a:t>Viajó a Venezuela para visitar a sus familiares. En los alrededores del domicilio familiar observó abundantes zonas de agua estancada e insectos. Varios familiares que convivían con él y vecinos sufrieron cuadros febriles siendo diagnosticados de enfermedad por virus Chikungunya. Sufrió múltiples picaduras de insectos. No refiere clínica significativa ni otros riesgos epidemiológicos.</a:t>
            </a:r>
          </a:p>
          <a:p>
            <a:r>
              <a:rPr lang="es-AR" dirty="0">
                <a:latin typeface="Calibri" panose="020F0502020204030204" pitchFamily="34" charset="0"/>
              </a:rPr>
              <a:t>Regresó a Madrid tras un mes de estancia en Venezuela. Desde su llegada comenzó con un cuadro  febril controlado con termómetro con escalofríos, asociada a debilidad generalizada, artromialgias y astenia intensa.</a:t>
            </a:r>
          </a:p>
          <a:p>
            <a:r>
              <a:rPr lang="es-AR" dirty="0">
                <a:latin typeface="Calibri" panose="020F0502020204030204" pitchFamily="34" charset="0"/>
              </a:rPr>
              <a:t>Se automedicó con Ibuprofeno 600 mg vía oral cada 8 horas sin mejoría, por lo que al segundo día de iniciada la clínica acudió a Urgencias.</a:t>
            </a:r>
          </a:p>
          <a:p>
            <a:endParaRPr lang="es-AR" dirty="0">
              <a:latin typeface="Calibri" panose="020F0502020204030204" pitchFamily="34" charset="0"/>
            </a:endParaRPr>
          </a:p>
          <a:p>
            <a:endParaRPr lang="es-AR" dirty="0">
              <a:solidFill>
                <a:srgbClr val="FFFF00"/>
              </a:solidFill>
            </a:endParaRPr>
          </a:p>
        </p:txBody>
      </p:sp>
    </p:spTree>
    <p:extLst>
      <p:ext uri="{BB962C8B-B14F-4D97-AF65-F5344CB8AC3E}">
        <p14:creationId xmlns:p14="http://schemas.microsoft.com/office/powerpoint/2010/main" val="1401320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idx="4294967295"/>
          </p:nvPr>
        </p:nvSpPr>
        <p:spPr>
          <a:xfrm>
            <a:off x="1" y="0"/>
            <a:ext cx="12192000" cy="6218238"/>
          </a:xfrm>
        </p:spPr>
        <p:txBody>
          <a:bodyPr>
            <a:normAutofit fontScale="90000"/>
          </a:bodyPr>
          <a:lstStyle/>
          <a:p>
            <a:br>
              <a:rPr lang="es-AR" sz="2400" dirty="0">
                <a:solidFill>
                  <a:srgbClr val="FFFF00"/>
                </a:solidFill>
                <a:latin typeface="Calibri" panose="020F0502020204030204" pitchFamily="34" charset="0"/>
              </a:rPr>
            </a:br>
            <a:r>
              <a:rPr lang="es-AR" sz="2700" dirty="0">
                <a:latin typeface="Calibri" panose="020F0502020204030204" pitchFamily="34" charset="0"/>
              </a:rPr>
              <a:t>Al Examen físico:  temperatura de 38,3 ° f.c. 100 latidos x minuto.</a:t>
            </a:r>
            <a:br>
              <a:rPr lang="es-AR" sz="2700" dirty="0">
                <a:latin typeface="Calibri" panose="020F0502020204030204" pitchFamily="34" charset="0"/>
              </a:rPr>
            </a:br>
            <a:r>
              <a:rPr lang="es-AR" sz="2700" dirty="0">
                <a:latin typeface="Calibri" panose="020F0502020204030204" pitchFamily="34" charset="0"/>
              </a:rPr>
              <a:t>Laboratorio: GOT de 33 U/l, GPT de 47 U/l, proteína C reactiva de 2,13 mg/dl, linfocitos normales. El resto normal.</a:t>
            </a:r>
            <a:br>
              <a:rPr lang="es-AR" sz="2700" dirty="0">
                <a:latin typeface="Calibri" panose="020F0502020204030204" pitchFamily="34" charset="0"/>
              </a:rPr>
            </a:br>
            <a:br>
              <a:rPr lang="es-AR" sz="2700" dirty="0">
                <a:latin typeface="Calibri" panose="020F0502020204030204" pitchFamily="34" charset="0"/>
              </a:rPr>
            </a:br>
            <a:r>
              <a:rPr lang="es-AR" sz="2700" dirty="0">
                <a:latin typeface="Calibri" panose="020F0502020204030204" pitchFamily="34" charset="0"/>
              </a:rPr>
              <a:t>Se tomaron muestras para hemocultivo y urocultivo, y ante la estabilidad clínica y con sospecha diagnóstica de enfermedad por virus Chikungunya se decidió dar de alta a domicilio y continuar el estudios de laboratorio forma ambulatoria.</a:t>
            </a:r>
            <a:br>
              <a:rPr lang="es-AR" sz="2700" dirty="0">
                <a:latin typeface="Calibri" panose="020F0502020204030204" pitchFamily="34" charset="0"/>
              </a:rPr>
            </a:br>
            <a:br>
              <a:rPr lang="es-AR" sz="2700" dirty="0">
                <a:latin typeface="Calibri" panose="020F0502020204030204" pitchFamily="34" charset="0"/>
              </a:rPr>
            </a:br>
            <a:r>
              <a:rPr lang="es-AR" sz="2700" dirty="0">
                <a:latin typeface="Calibri" panose="020F0502020204030204" pitchFamily="34" charset="0"/>
              </a:rPr>
              <a:t>El paciente no acudió a la extracción de sangre hasta 6 días después. Refería mejoría paulatina. La fiebre duró 3 días y los dolores articulares generalizados disminuyeron de forma clara al ceder la fiebre, aunque persistieron molestias, junto con astenia.</a:t>
            </a:r>
            <a:br>
              <a:rPr lang="es-AR" sz="2700" dirty="0">
                <a:latin typeface="Calibri" panose="020F0502020204030204" pitchFamily="34" charset="0"/>
              </a:rPr>
            </a:br>
            <a:r>
              <a:rPr lang="es-AR" sz="2700" dirty="0">
                <a:latin typeface="Calibri" panose="020F0502020204030204" pitchFamily="34" charset="0"/>
              </a:rPr>
              <a:t> </a:t>
            </a:r>
            <a:br>
              <a:rPr lang="es-AR" sz="2700" dirty="0">
                <a:latin typeface="Calibri" panose="020F0502020204030204" pitchFamily="34" charset="0"/>
              </a:rPr>
            </a:br>
            <a:r>
              <a:rPr lang="es-AR" sz="2700" dirty="0">
                <a:latin typeface="Calibri" panose="020F0502020204030204" pitchFamily="34" charset="0"/>
              </a:rPr>
              <a:t>Se tomaron muestras para serología de virus de hepatitis A, B, C, VIH y sífilis como primera aproximación para un diagnóstico diferencial (dentro del estudio habitual solicitado para estudio de fiebre importada) y se envió una muestra para diagnóstico serológico al centro de referencia, para CHIKV y dengue.</a:t>
            </a:r>
            <a:br>
              <a:rPr lang="es-AR" sz="2700" dirty="0">
                <a:latin typeface="Calibri" panose="020F0502020204030204" pitchFamily="34" charset="0"/>
              </a:rPr>
            </a:br>
            <a:br>
              <a:rPr lang="es-AR" sz="3200" dirty="0">
                <a:latin typeface="Calibri" panose="020F0502020204030204" pitchFamily="34" charset="0"/>
              </a:rPr>
            </a:br>
            <a:endParaRPr lang="es-AR" sz="3200" dirty="0"/>
          </a:p>
        </p:txBody>
      </p:sp>
    </p:spTree>
    <p:extLst>
      <p:ext uri="{BB962C8B-B14F-4D97-AF65-F5344CB8AC3E}">
        <p14:creationId xmlns:p14="http://schemas.microsoft.com/office/powerpoint/2010/main" val="360102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12192000" cy="6247864"/>
          </a:xfrm>
          <a:prstGeom prst="rect">
            <a:avLst/>
          </a:prstGeom>
        </p:spPr>
        <p:txBody>
          <a:bodyPr wrap="square">
            <a:spAutoFit/>
          </a:bodyPr>
          <a:lstStyle/>
          <a:p>
            <a:endParaRPr lang="es-AR" sz="1200" dirty="0">
              <a:solidFill>
                <a:srgbClr val="000000"/>
              </a:solidFill>
              <a:latin typeface="Calibri" panose="020F0502020204030204" pitchFamily="34" charset="0"/>
            </a:endParaRPr>
          </a:p>
          <a:p>
            <a:endParaRPr lang="es-AR" sz="2800" dirty="0">
              <a:latin typeface="Calibri" panose="020F0502020204030204" pitchFamily="34" charset="0"/>
            </a:endParaRPr>
          </a:p>
          <a:p>
            <a:r>
              <a:rPr lang="es-AR" sz="2800" dirty="0">
                <a:latin typeface="Calibri" panose="020F0502020204030204" pitchFamily="34" charset="0"/>
              </a:rPr>
              <a:t>Serologías:  IgM positiva con IgG negativa frente a CHIKV (IFI), con serología negativa a dengue.</a:t>
            </a:r>
          </a:p>
          <a:p>
            <a:endParaRPr lang="es-AR" sz="2800" dirty="0">
              <a:latin typeface="Calibri" panose="020F0502020204030204" pitchFamily="34" charset="0"/>
            </a:endParaRPr>
          </a:p>
          <a:p>
            <a:r>
              <a:rPr lang="es-AR" sz="2800" dirty="0">
                <a:latin typeface="Calibri" panose="020F0502020204030204" pitchFamily="34" charset="0"/>
              </a:rPr>
              <a:t>Se confirmó el diagnóstico de sospecha de infección reciente. </a:t>
            </a:r>
          </a:p>
          <a:p>
            <a:endParaRPr lang="es-AR" sz="2800" dirty="0">
              <a:latin typeface="Calibri" panose="020F0502020204030204" pitchFamily="34" charset="0"/>
            </a:endParaRPr>
          </a:p>
          <a:p>
            <a:r>
              <a:rPr lang="es-AR" sz="2800" dirty="0">
                <a:latin typeface="Calibri" panose="020F0502020204030204" pitchFamily="34" charset="0"/>
              </a:rPr>
              <a:t>El resto de resultados serológicos fueron negativos, solo inmunidad a la hepatitis B. </a:t>
            </a:r>
          </a:p>
          <a:p>
            <a:r>
              <a:rPr lang="es-AR" sz="2800" dirty="0">
                <a:latin typeface="Calibri" panose="020F0502020204030204" pitchFamily="34" charset="0"/>
              </a:rPr>
              <a:t>El paciente se encontraba asintomático a los 10 días del inicio del cuadro.</a:t>
            </a:r>
          </a:p>
          <a:p>
            <a:r>
              <a:rPr lang="es-AR" sz="2800" dirty="0">
                <a:latin typeface="Calibri" panose="020F0502020204030204" pitchFamily="34" charset="0"/>
              </a:rPr>
              <a:t> </a:t>
            </a:r>
          </a:p>
          <a:p>
            <a:r>
              <a:rPr lang="es-AR" sz="2800" dirty="0">
                <a:latin typeface="Calibri" panose="020F0502020204030204" pitchFamily="34" charset="0"/>
              </a:rPr>
              <a:t>Un mes más tarde se envió una nueva muestra de seguimiento al Centro Nacional de Microbiología, que reveló la seroconversión de IgG frente a CHIKV mediante IFI.</a:t>
            </a:r>
          </a:p>
          <a:p>
            <a:endParaRPr lang="es-AR" sz="2800" dirty="0">
              <a:solidFill>
                <a:srgbClr val="FFFF00"/>
              </a:solidFill>
              <a:latin typeface="Calibri" panose="020F0502020204030204" pitchFamily="34" charset="0"/>
            </a:endParaRPr>
          </a:p>
          <a:p>
            <a:r>
              <a:rPr lang="es-AR" sz="2800" dirty="0">
                <a:solidFill>
                  <a:srgbClr val="FFFF00"/>
                </a:solidFill>
                <a:latin typeface="Arial" panose="020B0604020202020204" pitchFamily="34" charset="0"/>
              </a:rPr>
              <a:t>•</a:t>
            </a:r>
          </a:p>
          <a:p>
            <a:endParaRPr lang="es-AR" sz="2400" dirty="0">
              <a:solidFill>
                <a:srgbClr val="FFFF00"/>
              </a:solidFill>
              <a:latin typeface="Arial" panose="020B0604020202020204" pitchFamily="34" charset="0"/>
            </a:endParaRPr>
          </a:p>
        </p:txBody>
      </p:sp>
    </p:spTree>
    <p:extLst>
      <p:ext uri="{BB962C8B-B14F-4D97-AF65-F5344CB8AC3E}">
        <p14:creationId xmlns:p14="http://schemas.microsoft.com/office/powerpoint/2010/main" val="881900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809896"/>
          </a:xfrm>
        </p:spPr>
        <p:txBody>
          <a:bodyPr/>
          <a:lstStyle/>
          <a:p>
            <a:r>
              <a:rPr lang="es-AR" dirty="0"/>
              <a:t>FIEBRE AMARILLA: Arbovirus (</a:t>
            </a:r>
            <a:r>
              <a:rPr lang="es-AR" i="1" dirty="0"/>
              <a:t>Flia</a:t>
            </a:r>
            <a:r>
              <a:rPr lang="es-AR" dirty="0"/>
              <a:t> </a:t>
            </a:r>
            <a:r>
              <a:rPr lang="es-AR" i="1" dirty="0"/>
              <a:t>Flaviviridae</a:t>
            </a:r>
            <a:r>
              <a:rPr lang="es-AR" dirty="0"/>
              <a:t>)</a:t>
            </a:r>
            <a:endParaRPr lang="en-US" dirty="0"/>
          </a:p>
        </p:txBody>
      </p:sp>
      <p:sp>
        <p:nvSpPr>
          <p:cNvPr id="3" name="Marcador de contenido 2"/>
          <p:cNvSpPr>
            <a:spLocks noGrp="1"/>
          </p:cNvSpPr>
          <p:nvPr>
            <p:ph idx="1"/>
          </p:nvPr>
        </p:nvSpPr>
        <p:spPr>
          <a:xfrm>
            <a:off x="1332411" y="959556"/>
            <a:ext cx="10859589" cy="5153860"/>
          </a:xfrm>
        </p:spPr>
        <p:txBody>
          <a:bodyPr>
            <a:normAutofit fontScale="92500" lnSpcReduction="10000"/>
          </a:bodyPr>
          <a:lstStyle/>
          <a:p>
            <a:r>
              <a:rPr lang="es-ES" sz="2400" dirty="0"/>
              <a:t>Hay 2 ciclos de transmisión: el selvático y el urbano. </a:t>
            </a:r>
          </a:p>
          <a:p>
            <a:r>
              <a:rPr lang="es-ES" sz="2400" dirty="0"/>
              <a:t>En el ciclo selvático los vectores los mosquitos de los géneros Haemagogus y Sabethes. En el ciclo urbano es el mosquito Aedes aegypti, que tiene características domésticas.</a:t>
            </a:r>
          </a:p>
          <a:p>
            <a:r>
              <a:rPr lang="es-ES" sz="2400" dirty="0"/>
              <a:t>En el </a:t>
            </a:r>
            <a:r>
              <a:rPr lang="es-ES" sz="2400" b="1" dirty="0"/>
              <a:t>ciclo selvático </a:t>
            </a:r>
            <a:r>
              <a:rPr lang="es-ES" sz="2400" dirty="0"/>
              <a:t>la aparición en humanos es precedida por la circulación viral entre monos (epizootias), la picadura previa a monos virémicos. En general se da en hombres jóvenes no vacunados cuando ingresan a las áreas selváticas.</a:t>
            </a:r>
          </a:p>
          <a:p>
            <a:r>
              <a:rPr lang="es-ES" sz="2400" dirty="0"/>
              <a:t>En el </a:t>
            </a:r>
            <a:r>
              <a:rPr lang="es-ES" sz="2400" b="1" dirty="0"/>
              <a:t>ciclo urbano </a:t>
            </a:r>
            <a:r>
              <a:rPr lang="es-ES" sz="2400" dirty="0"/>
              <a:t>la circulación de virus es entre personas virémicas y personas susceptibles, a través del vector. El virus desarrolla un ciclo “extrínseco” en el vector. </a:t>
            </a:r>
          </a:p>
          <a:p>
            <a:endParaRPr lang="es-ES" sz="2400" dirty="0"/>
          </a:p>
          <a:p>
            <a:r>
              <a:rPr lang="es-ES" sz="2400" dirty="0"/>
              <a:t>Se transmite a través de la picadura de mosquitos hematófagos que, para poder transmitir la enfermedad, deben estar infectados previamente por el virus. </a:t>
            </a:r>
          </a:p>
          <a:p>
            <a:endParaRPr lang="en-US" sz="2400" dirty="0"/>
          </a:p>
          <a:p>
            <a:endParaRPr lang="en-US" dirty="0"/>
          </a:p>
        </p:txBody>
      </p:sp>
      <p:sp>
        <p:nvSpPr>
          <p:cNvPr id="4" name="Rectángulo redondeado 3"/>
          <p:cNvSpPr/>
          <p:nvPr/>
        </p:nvSpPr>
        <p:spPr>
          <a:xfrm>
            <a:off x="1332411" y="6113416"/>
            <a:ext cx="10859588" cy="7445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No se transmite por contacto directo de una persona sana a una enferma, ni a través de secreciones, ni de vehículos comunes</a:t>
            </a:r>
          </a:p>
        </p:txBody>
      </p:sp>
    </p:spTree>
    <p:extLst>
      <p:ext uri="{BB962C8B-B14F-4D97-AF65-F5344CB8AC3E}">
        <p14:creationId xmlns:p14="http://schemas.microsoft.com/office/powerpoint/2010/main" val="119902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812799"/>
          </a:xfrm>
        </p:spPr>
        <p:txBody>
          <a:bodyPr/>
          <a:lstStyle/>
          <a:p>
            <a:r>
              <a:rPr lang="es-AR" dirty="0"/>
              <a:t>Transmisión</a:t>
            </a:r>
            <a:endParaRPr lang="en-US" dirty="0"/>
          </a:p>
        </p:txBody>
      </p:sp>
      <p:sp>
        <p:nvSpPr>
          <p:cNvPr id="3" name="Marcador de contenido 2"/>
          <p:cNvSpPr>
            <a:spLocks noGrp="1"/>
          </p:cNvSpPr>
          <p:nvPr>
            <p:ph idx="1"/>
          </p:nvPr>
        </p:nvSpPr>
        <p:spPr>
          <a:xfrm>
            <a:off x="1534696" y="948267"/>
            <a:ext cx="10657304" cy="5125961"/>
          </a:xfrm>
        </p:spPr>
        <p:txBody>
          <a:bodyPr>
            <a:normAutofit/>
          </a:bodyPr>
          <a:lstStyle/>
          <a:p>
            <a:r>
              <a:rPr lang="es-ES" dirty="0"/>
              <a:t>Período de transmisibilidad:  La sangre de los enfermos es infectante para los mosquitos desde 24 hasta 48 horas antes de aparecer la fiebre, y luego de tres a cinco días del inicio del cuadro. </a:t>
            </a:r>
          </a:p>
          <a:p>
            <a:r>
              <a:rPr lang="es-ES" dirty="0"/>
              <a:t>Se debe evitar el contacto de mosquitos con el paciente por lo menos durante 5 días desde el comienzo de la enfermedad, por medio de mosquiteros, en lo posible rociados con insecticidas de acción residual, o usando repelentes, o con mallas metálicas.</a:t>
            </a:r>
          </a:p>
          <a:p>
            <a:r>
              <a:rPr lang="es-ES" dirty="0"/>
              <a:t>El ciclo extrínseco en el vector dura 9 a 12 días. Los mosquitos pueden permanecer infectados por el resto de su vida adulta, que es de entre 4 días a más de 30 días según las condiciones ambientales. </a:t>
            </a:r>
          </a:p>
          <a:p>
            <a:r>
              <a:rPr lang="es-ES" dirty="0"/>
              <a:t>La enfermedad confiere inmunidad por largo tiempo y no se conocen segundos ataques. La inmunidad pasiva por anticuerpos maternos, dura aproximadamente 6 meses.</a:t>
            </a:r>
            <a:endParaRPr lang="en-US" dirty="0"/>
          </a:p>
        </p:txBody>
      </p:sp>
    </p:spTree>
    <p:extLst>
      <p:ext uri="{BB962C8B-B14F-4D97-AF65-F5344CB8AC3E}">
        <p14:creationId xmlns:p14="http://schemas.microsoft.com/office/powerpoint/2010/main" val="549829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01600" y="29613"/>
            <a:ext cx="12293600" cy="6152444"/>
          </a:xfrm>
          <a:prstGeom prst="rect">
            <a:avLst/>
          </a:prstGeom>
        </p:spPr>
      </p:pic>
      <p:sp>
        <p:nvSpPr>
          <p:cNvPr id="2" name="object 2"/>
          <p:cNvSpPr txBox="1">
            <a:spLocks noGrp="1"/>
          </p:cNvSpPr>
          <p:nvPr>
            <p:ph type="title"/>
          </p:nvPr>
        </p:nvSpPr>
        <p:spPr>
          <a:xfrm>
            <a:off x="4899785" y="1152153"/>
            <a:ext cx="2787947" cy="505908"/>
          </a:xfrm>
          <a:prstGeom prst="rect">
            <a:avLst/>
          </a:prstGeom>
        </p:spPr>
        <p:txBody>
          <a:bodyPr vert="horz" wrap="square" lIns="0" tIns="13335" rIns="0" bIns="0" rtlCol="0">
            <a:spAutoFit/>
          </a:bodyPr>
          <a:lstStyle/>
          <a:p>
            <a:pPr marL="12700">
              <a:lnSpc>
                <a:spcPct val="100000"/>
              </a:lnSpc>
              <a:spcBef>
                <a:spcPts val="105"/>
              </a:spcBef>
            </a:pPr>
            <a:r>
              <a:rPr sz="3200" spc="-30" dirty="0"/>
              <a:t>TRANSMISIÓN</a:t>
            </a:r>
            <a:endParaRPr sz="3200" dirty="0"/>
          </a:p>
        </p:txBody>
      </p:sp>
      <p:sp>
        <p:nvSpPr>
          <p:cNvPr id="5" name="Rectángulo 4"/>
          <p:cNvSpPr/>
          <p:nvPr/>
        </p:nvSpPr>
        <p:spPr>
          <a:xfrm>
            <a:off x="316088" y="6276622"/>
            <a:ext cx="11582401" cy="496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Es fundamental que los pacientes sean protegidos de las picaduras de mosquitos</a:t>
            </a:r>
            <a:endParaRPr lang="en-US" sz="2400" dirty="0"/>
          </a:p>
        </p:txBody>
      </p:sp>
    </p:spTree>
    <p:extLst>
      <p:ext uri="{BB962C8B-B14F-4D97-AF65-F5344CB8AC3E}">
        <p14:creationId xmlns:p14="http://schemas.microsoft.com/office/powerpoint/2010/main" val="1709753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822959"/>
          </a:xfrm>
        </p:spPr>
        <p:txBody>
          <a:bodyPr/>
          <a:lstStyle/>
          <a:p>
            <a:r>
              <a:rPr lang="es-ES" dirty="0"/>
              <a:t>Manifestaciones clínicas</a:t>
            </a:r>
            <a:endParaRPr lang="en-US" dirty="0"/>
          </a:p>
        </p:txBody>
      </p:sp>
      <p:sp>
        <p:nvSpPr>
          <p:cNvPr id="3" name="Marcador de contenido 2"/>
          <p:cNvSpPr>
            <a:spLocks noGrp="1"/>
          </p:cNvSpPr>
          <p:nvPr>
            <p:ph idx="1"/>
          </p:nvPr>
        </p:nvSpPr>
        <p:spPr>
          <a:xfrm>
            <a:off x="1397726" y="1027289"/>
            <a:ext cx="10794274" cy="5112254"/>
          </a:xfrm>
        </p:spPr>
        <p:txBody>
          <a:bodyPr>
            <a:normAutofit/>
          </a:bodyPr>
          <a:lstStyle/>
          <a:p>
            <a:r>
              <a:rPr lang="es-ES" sz="2400" dirty="0"/>
              <a:t>Formas asintomáticas, </a:t>
            </a:r>
            <a:r>
              <a:rPr lang="es-ES" sz="2400" b="1" i="1" dirty="0"/>
              <a:t>leves</a:t>
            </a:r>
            <a:r>
              <a:rPr lang="es-ES" sz="2400" dirty="0"/>
              <a:t> con sintomatología inespecífica, hasta la fiebre hemorrágica clásica. En alrededor del 85% de los casos la enfermedad es autolimitada. </a:t>
            </a:r>
          </a:p>
          <a:p>
            <a:endParaRPr lang="es-ES" sz="2400" dirty="0"/>
          </a:p>
          <a:p>
            <a:r>
              <a:rPr lang="es-ES" sz="2400" dirty="0"/>
              <a:t>En el 15% restante, que evolucionan a casos </a:t>
            </a:r>
            <a:r>
              <a:rPr lang="es-ES" sz="2400" b="1" i="1" dirty="0"/>
              <a:t>graves</a:t>
            </a:r>
            <a:r>
              <a:rPr lang="es-ES" sz="2400" dirty="0"/>
              <a:t> con manifestaciones hemorrágicas, la tasa de mortalidad puede llegar al 50% o 60%. </a:t>
            </a:r>
          </a:p>
          <a:p>
            <a:endParaRPr lang="es-ES" sz="2400" dirty="0"/>
          </a:p>
          <a:p>
            <a:r>
              <a:rPr lang="es-ES" sz="2400" dirty="0"/>
              <a:t>La forma </a:t>
            </a:r>
            <a:r>
              <a:rPr lang="es-ES" sz="2400" b="1" i="1" dirty="0"/>
              <a:t>maligna</a:t>
            </a:r>
            <a:r>
              <a:rPr lang="es-ES" sz="2400" dirty="0"/>
              <a:t> se manifiesta con fiebre, postración, compromiso hepatorrenal y cardíaco, manifestaciones hemorrágicas y shock. </a:t>
            </a:r>
          </a:p>
          <a:p>
            <a:endParaRPr lang="es-ES" sz="2400" dirty="0"/>
          </a:p>
        </p:txBody>
      </p:sp>
    </p:spTree>
    <p:extLst>
      <p:ext uri="{BB962C8B-B14F-4D97-AF65-F5344CB8AC3E}">
        <p14:creationId xmlns:p14="http://schemas.microsoft.com/office/powerpoint/2010/main" val="583937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43466"/>
          </a:xfrm>
        </p:spPr>
        <p:txBody>
          <a:bodyPr>
            <a:normAutofit fontScale="90000"/>
          </a:bodyPr>
          <a:lstStyle/>
          <a:p>
            <a:r>
              <a:rPr lang="es-AR" dirty="0"/>
              <a:t>Evolución: 3 periodos (Infección- Remisión- Intoxicación)</a:t>
            </a:r>
            <a:endParaRPr lang="en-US" dirty="0"/>
          </a:p>
        </p:txBody>
      </p:sp>
      <p:sp>
        <p:nvSpPr>
          <p:cNvPr id="3" name="Marcador de contenido 2"/>
          <p:cNvSpPr>
            <a:spLocks noGrp="1"/>
          </p:cNvSpPr>
          <p:nvPr>
            <p:ph idx="1"/>
          </p:nvPr>
        </p:nvSpPr>
        <p:spPr>
          <a:xfrm>
            <a:off x="1365956" y="993422"/>
            <a:ext cx="10826044" cy="5147734"/>
          </a:xfrm>
        </p:spPr>
        <p:txBody>
          <a:bodyPr>
            <a:noAutofit/>
          </a:bodyPr>
          <a:lstStyle/>
          <a:p>
            <a:pPr marL="0" indent="0">
              <a:buNone/>
            </a:pPr>
            <a:r>
              <a:rPr lang="es-ES" b="1" dirty="0"/>
              <a:t>Período de infección</a:t>
            </a:r>
            <a:r>
              <a:rPr lang="es-ES" dirty="0"/>
              <a:t>: Aparece 3 a 6 días después de la picadura del mosquito, inicio abrupto de los síntomas. </a:t>
            </a:r>
          </a:p>
          <a:p>
            <a:pPr marL="0" indent="0">
              <a:buNone/>
            </a:pPr>
            <a:r>
              <a:rPr lang="es-ES" dirty="0"/>
              <a:t>Fiebre mayor de 39 grados, escalofríos, cefalea, náuseas, mareos, malestar general y dolor muscular, congestión facial y bradicardia relativa (disociación entre pulso y temperatura que se conoce como Signo de Faget). </a:t>
            </a:r>
          </a:p>
          <a:p>
            <a:pPr marL="0" indent="0">
              <a:buNone/>
            </a:pPr>
            <a:r>
              <a:rPr lang="es-ES" dirty="0"/>
              <a:t>Laboratorio: leucopenia con neutropenia relativa, aumento de las transaminasas y albuminuria. </a:t>
            </a:r>
          </a:p>
          <a:p>
            <a:pPr marL="0" indent="0">
              <a:buNone/>
            </a:pPr>
            <a:r>
              <a:rPr lang="es-ES" dirty="0"/>
              <a:t>Este período es corto, dura de 3 a 6 días. El paciente está virémico y puede servir de fuente de infección de mosquitos para iniciar un nuevo ciclo. </a:t>
            </a:r>
          </a:p>
          <a:p>
            <a:pPr marL="0" indent="0">
              <a:buNone/>
            </a:pPr>
            <a:r>
              <a:rPr lang="es-ES" b="1" dirty="0"/>
              <a:t>Período es el de remisión</a:t>
            </a:r>
            <a:r>
              <a:rPr lang="es-ES" dirty="0"/>
              <a:t>: Puede durar de 2 a 48 hs.</a:t>
            </a:r>
          </a:p>
          <a:p>
            <a:pPr marL="0" indent="0">
              <a:buNone/>
            </a:pPr>
            <a:r>
              <a:rPr lang="es-ES" dirty="0"/>
              <a:t>Los síntomas ceden y el estado general mejora. Desaparece la viremia. Se inicia la etapa de recuperación que dura entre 2 a 4 semanas y el paciente solo se encuentra asténico. </a:t>
            </a:r>
          </a:p>
          <a:p>
            <a:pPr marL="0" indent="0">
              <a:buNone/>
            </a:pPr>
            <a:endParaRPr lang="es-ES" dirty="0"/>
          </a:p>
          <a:p>
            <a:pPr marL="0" indent="0">
              <a:buNone/>
            </a:pPr>
            <a:endParaRPr lang="es-ES" dirty="0"/>
          </a:p>
          <a:p>
            <a:pPr marL="0" indent="0">
              <a:buNone/>
            </a:pPr>
            <a:r>
              <a:rPr lang="es-ES" dirty="0"/>
              <a:t>.</a:t>
            </a:r>
            <a:endParaRPr lang="en-US" dirty="0"/>
          </a:p>
        </p:txBody>
      </p:sp>
      <p:sp>
        <p:nvSpPr>
          <p:cNvPr id="4" name="Rectángulo redondeado 3"/>
          <p:cNvSpPr/>
          <p:nvPr/>
        </p:nvSpPr>
        <p:spPr>
          <a:xfrm>
            <a:off x="1365956" y="6287911"/>
            <a:ext cx="10543822" cy="4741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2000" dirty="0"/>
              <a:t>Entre el 15 al 25% de los casos, los síntomas reaparecerán en forma más grave y tenemos:</a:t>
            </a:r>
          </a:p>
        </p:txBody>
      </p:sp>
    </p:spTree>
    <p:extLst>
      <p:ext uri="{BB962C8B-B14F-4D97-AF65-F5344CB8AC3E}">
        <p14:creationId xmlns:p14="http://schemas.microsoft.com/office/powerpoint/2010/main" val="319065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43466"/>
          </a:xfrm>
        </p:spPr>
        <p:txBody>
          <a:bodyPr/>
          <a:lstStyle/>
          <a:p>
            <a:r>
              <a:rPr lang="es-AR" dirty="0"/>
              <a:t>Intoxicación</a:t>
            </a:r>
            <a:endParaRPr lang="en-US" dirty="0"/>
          </a:p>
        </p:txBody>
      </p:sp>
      <p:sp>
        <p:nvSpPr>
          <p:cNvPr id="3" name="Marcador de contenido 2"/>
          <p:cNvSpPr>
            <a:spLocks noGrp="1"/>
          </p:cNvSpPr>
          <p:nvPr>
            <p:ph idx="1"/>
          </p:nvPr>
        </p:nvSpPr>
        <p:spPr>
          <a:xfrm>
            <a:off x="1534696" y="824089"/>
            <a:ext cx="10657304" cy="5276265"/>
          </a:xfrm>
        </p:spPr>
        <p:txBody>
          <a:bodyPr>
            <a:normAutofit lnSpcReduction="10000"/>
          </a:bodyPr>
          <a:lstStyle/>
          <a:p>
            <a:pPr marL="0" indent="0">
              <a:buNone/>
            </a:pPr>
            <a:r>
              <a:rPr lang="es-ES" sz="2400" b="1" dirty="0"/>
              <a:t>Período de intoxicación: </a:t>
            </a:r>
            <a:r>
              <a:rPr lang="es-ES" sz="2400" dirty="0"/>
              <a:t>Predominan síntomas de insuficiencia hepática y renal con necrosis hepática, colestasis y presencia de albuminuria. </a:t>
            </a:r>
          </a:p>
          <a:p>
            <a:pPr marL="0" indent="0">
              <a:buNone/>
            </a:pPr>
            <a:r>
              <a:rPr lang="es-ES" sz="2400" dirty="0"/>
              <a:t>El paciente en este período presenta ictericia, dolor epigástrico, manifestaciones hemorrágicas como epistaxis, gingivorragia, hematemesis y melena, alteración de las funciones hepática y renal (oliguria o anuria). </a:t>
            </a:r>
          </a:p>
          <a:p>
            <a:pPr marL="0" indent="0">
              <a:buNone/>
            </a:pPr>
            <a:r>
              <a:rPr lang="es-ES" sz="2400" dirty="0"/>
              <a:t>En los casos fatales, además de la hepatitis, pueden ocurrir miocarditis (con disfunción miocárdica y arritmias) y encefalitis (con diferentes grados de alteración del estado de la conciencia; pueden observarse episodios convulsivos).</a:t>
            </a:r>
          </a:p>
          <a:p>
            <a:pPr marL="0" indent="0">
              <a:buNone/>
            </a:pPr>
            <a:endParaRPr lang="es-ES" sz="2400" dirty="0"/>
          </a:p>
          <a:p>
            <a:pPr marL="0" indent="0">
              <a:buNone/>
            </a:pPr>
            <a:r>
              <a:rPr lang="es-ES" sz="2400" dirty="0"/>
              <a:t>En Período de Intoxicación la letalidad es del 50% en promedio</a:t>
            </a:r>
          </a:p>
          <a:p>
            <a:pPr marL="0" indent="0">
              <a:buNone/>
            </a:pPr>
            <a:endParaRPr lang="en-US" sz="2400" dirty="0"/>
          </a:p>
        </p:txBody>
      </p:sp>
    </p:spTree>
    <p:extLst>
      <p:ext uri="{BB962C8B-B14F-4D97-AF65-F5344CB8AC3E}">
        <p14:creationId xmlns:p14="http://schemas.microsoft.com/office/powerpoint/2010/main" val="2855598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53142"/>
          </a:xfrm>
        </p:spPr>
        <p:txBody>
          <a:bodyPr/>
          <a:lstStyle/>
          <a:p>
            <a:r>
              <a:rPr lang="es-AR" dirty="0"/>
              <a:t>Diagnostico Diferencial </a:t>
            </a:r>
            <a:endParaRPr lang="en-US" dirty="0"/>
          </a:p>
        </p:txBody>
      </p:sp>
      <p:sp>
        <p:nvSpPr>
          <p:cNvPr id="3" name="Marcador de contenido 2"/>
          <p:cNvSpPr>
            <a:spLocks noGrp="1"/>
          </p:cNvSpPr>
          <p:nvPr>
            <p:ph idx="1"/>
          </p:nvPr>
        </p:nvSpPr>
        <p:spPr>
          <a:xfrm>
            <a:off x="1371600" y="901337"/>
            <a:ext cx="10820400" cy="5185953"/>
          </a:xfrm>
        </p:spPr>
        <p:txBody>
          <a:bodyPr>
            <a:normAutofit/>
          </a:bodyPr>
          <a:lstStyle/>
          <a:p>
            <a:r>
              <a:rPr lang="es-ES" dirty="0"/>
              <a:t>Las distintas formas clínicas de la fiebre amarilla también pueden encontrarse en otras enfermedades febriles que evolucionan con ictericia y signos de sangrado como el dengue y otras fiebres hemorrágicas, la leptospirosis, el paludismo. </a:t>
            </a:r>
          </a:p>
          <a:p>
            <a:pPr marL="0" indent="0">
              <a:buNone/>
            </a:pPr>
            <a:r>
              <a:rPr lang="es-ES" b="1" dirty="0"/>
              <a:t>¿Cuándo sospecho Fiebre amarilla?</a:t>
            </a:r>
          </a:p>
          <a:p>
            <a:r>
              <a:rPr lang="es-ES" dirty="0"/>
              <a:t>En todo caso de Síndrome Febril Inespecífico (SFI) definido como: persona de cualquier edad y sexo que presenta fiebre de menos de siete (7) días de duración, acompañada de mialgias o cefalea, sin afección de las vías aéreas superiores y sin etiología definida.</a:t>
            </a:r>
          </a:p>
          <a:p>
            <a:r>
              <a:rPr lang="es-ES" dirty="0"/>
              <a:t>Procedente de área de riesgo para fiebre amarilla y/o de ocurrencia de casos de fiebre amarilla y sin vacuna antiamarílica previa. </a:t>
            </a:r>
          </a:p>
          <a:p>
            <a:r>
              <a:rPr lang="es-ES" dirty="0"/>
              <a:t>El cuadro es más sospechoso aún en presencia de ictericia, signos de sangrado o insuficiencia renal</a:t>
            </a:r>
          </a:p>
          <a:p>
            <a:r>
              <a:rPr lang="es-ES" dirty="0"/>
              <a:t>En estos casos solicitar inmediatamente: hemograma, hepatograma, función renal.</a:t>
            </a:r>
            <a:endParaRPr lang="en-US" dirty="0"/>
          </a:p>
        </p:txBody>
      </p:sp>
    </p:spTree>
    <p:extLst>
      <p:ext uri="{BB962C8B-B14F-4D97-AF65-F5344CB8AC3E}">
        <p14:creationId xmlns:p14="http://schemas.microsoft.com/office/powerpoint/2010/main" val="1290314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40079"/>
          </a:xfrm>
        </p:spPr>
        <p:txBody>
          <a:bodyPr/>
          <a:lstStyle/>
          <a:p>
            <a:r>
              <a:rPr lang="es-ES" dirty="0"/>
              <a:t>Diagnóstico</a:t>
            </a:r>
            <a:endParaRPr lang="en-US" dirty="0"/>
          </a:p>
        </p:txBody>
      </p:sp>
      <p:sp>
        <p:nvSpPr>
          <p:cNvPr id="3" name="Marcador de contenido 2"/>
          <p:cNvSpPr>
            <a:spLocks noGrp="1"/>
          </p:cNvSpPr>
          <p:nvPr>
            <p:ph idx="1"/>
          </p:nvPr>
        </p:nvSpPr>
        <p:spPr>
          <a:xfrm>
            <a:off x="1384663" y="640080"/>
            <a:ext cx="10807337" cy="5525193"/>
          </a:xfrm>
        </p:spPr>
        <p:txBody>
          <a:bodyPr>
            <a:normAutofit fontScale="47500" lnSpcReduction="20000"/>
          </a:bodyPr>
          <a:lstStyle/>
          <a:p>
            <a:pPr marL="0" indent="0">
              <a:buNone/>
            </a:pPr>
            <a:r>
              <a:rPr lang="es-ES" sz="4200" b="1" dirty="0"/>
              <a:t>Si la muestra es tomada dentro de los 5 días de iniciados los síntomas</a:t>
            </a:r>
            <a:r>
              <a:rPr lang="es-ES" sz="3600" dirty="0"/>
              <a:t>: </a:t>
            </a:r>
          </a:p>
          <a:p>
            <a:pPr marL="0" indent="0">
              <a:buNone/>
            </a:pPr>
            <a:r>
              <a:rPr lang="es-ES" sz="3600" dirty="0"/>
              <a:t>• </a:t>
            </a:r>
            <a:r>
              <a:rPr lang="es-ES" sz="4200" dirty="0"/>
              <a:t>Aislamiento del virus de la fiebre amarilla</a:t>
            </a:r>
            <a:r>
              <a:rPr lang="es-ES" sz="3600" dirty="0"/>
              <a:t>, </a:t>
            </a:r>
          </a:p>
          <a:p>
            <a:pPr marL="0" indent="0">
              <a:buNone/>
            </a:pPr>
            <a:r>
              <a:rPr lang="es-ES" sz="3600" dirty="0"/>
              <a:t>• </a:t>
            </a:r>
            <a:r>
              <a:rPr lang="es-ES" sz="4200" dirty="0"/>
              <a:t>Detección de secuencias genómicas virales</a:t>
            </a:r>
            <a:r>
              <a:rPr lang="es-ES" sz="3600" dirty="0"/>
              <a:t>. </a:t>
            </a:r>
          </a:p>
          <a:p>
            <a:pPr marL="0" indent="0">
              <a:buNone/>
            </a:pPr>
            <a:r>
              <a:rPr lang="es-ES" sz="4200" b="1" dirty="0"/>
              <a:t>Si la muestra es tomada más de 5 días después de iniciados los síntomas</a:t>
            </a:r>
            <a:r>
              <a:rPr lang="es-ES" sz="3600" dirty="0"/>
              <a:t>: </a:t>
            </a:r>
            <a:endParaRPr lang="es-ES" sz="3600" b="1" dirty="0"/>
          </a:p>
          <a:p>
            <a:pPr marL="0" indent="0">
              <a:buNone/>
            </a:pPr>
            <a:r>
              <a:rPr lang="es-ES" sz="3600" b="1" dirty="0"/>
              <a:t>Ig M</a:t>
            </a:r>
            <a:r>
              <a:rPr lang="es-ES" sz="3600" dirty="0"/>
              <a:t>: </a:t>
            </a:r>
            <a:r>
              <a:rPr lang="es-ES" sz="4200" dirty="0"/>
              <a:t>Es actualmente la técnica más utilizada y difundida, por  su alta sensibilidad y especificidad. </a:t>
            </a:r>
          </a:p>
          <a:p>
            <a:pPr marL="0" indent="0">
              <a:buNone/>
            </a:pPr>
            <a:r>
              <a:rPr lang="es-ES" sz="4200" dirty="0"/>
              <a:t>Pueden ser  detectados  a partir del séptimo día y  perdurar en circulación por varios meses. </a:t>
            </a:r>
          </a:p>
          <a:p>
            <a:pPr marL="0" indent="0">
              <a:buNone/>
            </a:pPr>
            <a:r>
              <a:rPr lang="es-ES" sz="4200" dirty="0"/>
              <a:t>Deben confirmarse los resultados mediante la detección de una seroconversión.</a:t>
            </a:r>
            <a:endParaRPr lang="es-ES" sz="3600" b="1" dirty="0"/>
          </a:p>
          <a:p>
            <a:pPr marL="0" indent="0">
              <a:buNone/>
            </a:pPr>
            <a:r>
              <a:rPr lang="es-ES" sz="3600" b="1" dirty="0"/>
              <a:t>Ig G</a:t>
            </a:r>
            <a:r>
              <a:rPr lang="es-ES" sz="3600" dirty="0"/>
              <a:t>: </a:t>
            </a:r>
            <a:r>
              <a:rPr lang="es-ES" sz="4200" dirty="0"/>
              <a:t>Aumento de por lo menos 4 veces de los anticuerpos de IG G del virus de la fiebre amarilla (seroconversión) en muestras de suero obtenidas en fase aguda y de convalecencia, (con más de 14 días) en pacientes sin historia reciente de vacunación, y descartando reacciones cruzadas con otros flavivirus. </a:t>
            </a:r>
          </a:p>
          <a:p>
            <a:pPr marL="0" indent="0">
              <a:buNone/>
            </a:pPr>
            <a:endParaRPr lang="es-ES" sz="4200" dirty="0"/>
          </a:p>
          <a:p>
            <a:pPr marL="0" indent="0">
              <a:buNone/>
            </a:pPr>
            <a:r>
              <a:rPr lang="es-ES" dirty="0"/>
              <a:t>.</a:t>
            </a:r>
            <a:endParaRPr lang="en-US" dirty="0"/>
          </a:p>
        </p:txBody>
      </p:sp>
    </p:spTree>
    <p:extLst>
      <p:ext uri="{BB962C8B-B14F-4D97-AF65-F5344CB8AC3E}">
        <p14:creationId xmlns:p14="http://schemas.microsoft.com/office/powerpoint/2010/main" val="189298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0"/>
            <a:ext cx="12192000" cy="652463"/>
          </a:xfrm>
        </p:spPr>
        <p:txBody>
          <a:bodyPr>
            <a:normAutofit fontScale="90000"/>
          </a:bodyPr>
          <a:lstStyle/>
          <a:p>
            <a:r>
              <a:rPr lang="es-ES" dirty="0"/>
              <a:t>¿Qué se debe hacer si se confirma un caso sospechoso de fiebre amarilla?</a:t>
            </a:r>
            <a:endParaRPr lang="en-US" dirty="0"/>
          </a:p>
        </p:txBody>
      </p:sp>
      <p:sp>
        <p:nvSpPr>
          <p:cNvPr id="3" name="Marcador de contenido 2"/>
          <p:cNvSpPr>
            <a:spLocks noGrp="1"/>
          </p:cNvSpPr>
          <p:nvPr>
            <p:ph idx="4294967295"/>
          </p:nvPr>
        </p:nvSpPr>
        <p:spPr>
          <a:xfrm>
            <a:off x="0" y="939800"/>
            <a:ext cx="12192000" cy="5265738"/>
          </a:xfrm>
        </p:spPr>
        <p:txBody>
          <a:bodyPr>
            <a:noAutofit/>
          </a:bodyPr>
          <a:lstStyle/>
          <a:p>
            <a:pPr marL="0" indent="0">
              <a:buNone/>
            </a:pPr>
            <a:r>
              <a:rPr lang="es-ES" sz="2400" dirty="0"/>
              <a:t>• </a:t>
            </a:r>
            <a:r>
              <a:rPr lang="es-ES" sz="2400" b="1" dirty="0"/>
              <a:t>Si Ud. se encuentra en una zona de riesgo de fiebre amarilla. </a:t>
            </a:r>
          </a:p>
          <a:p>
            <a:pPr marL="0" indent="0">
              <a:buNone/>
            </a:pPr>
            <a:r>
              <a:rPr lang="es-ES" sz="2400" dirty="0"/>
              <a:t>Vacunar con vacuna antiamarílica a los no inmunizados, y remarcar los métodos de prevención. </a:t>
            </a:r>
          </a:p>
          <a:p>
            <a:pPr marL="0" indent="0">
              <a:buNone/>
            </a:pPr>
            <a:r>
              <a:rPr lang="es-ES" sz="2400" dirty="0"/>
              <a:t>Vigilar la aparición de los casos de Síndrome Febril Inespecífico si se hubiere detectado un caso sospechoso. Buscar los signos de alarma: Sangrado, Ictericia, Oliguria. </a:t>
            </a:r>
          </a:p>
          <a:p>
            <a:pPr marL="0" indent="0">
              <a:buNone/>
            </a:pPr>
            <a:endParaRPr lang="es-ES" sz="2400" dirty="0"/>
          </a:p>
          <a:p>
            <a:pPr marL="0" indent="0">
              <a:buNone/>
            </a:pPr>
            <a:r>
              <a:rPr lang="es-ES" sz="2400" dirty="0"/>
              <a:t>• </a:t>
            </a:r>
            <a:r>
              <a:rPr lang="es-ES" sz="2400" b="1" dirty="0"/>
              <a:t>Si Ud. NO se encuentra en una zona de riesgo de fiebre amarilla:</a:t>
            </a:r>
          </a:p>
          <a:p>
            <a:pPr marL="0" indent="0">
              <a:buNone/>
            </a:pPr>
            <a:r>
              <a:rPr lang="es-ES" sz="2400" dirty="0"/>
              <a:t>Investigar los sitios a los que concurrió el paciente 3 a 6 días previos a la aparición de la enfermedad, manteniendo en especial vigilancia a todas aquellas personas no inmunizadas. </a:t>
            </a:r>
          </a:p>
          <a:p>
            <a:pPr marL="0" indent="0">
              <a:buNone/>
            </a:pPr>
            <a:endParaRPr lang="en-US" sz="2400" dirty="0"/>
          </a:p>
        </p:txBody>
      </p:sp>
      <p:sp>
        <p:nvSpPr>
          <p:cNvPr id="4" name="Rectángulo redondeado 3"/>
          <p:cNvSpPr/>
          <p:nvPr/>
        </p:nvSpPr>
        <p:spPr>
          <a:xfrm>
            <a:off x="225778" y="6205538"/>
            <a:ext cx="11763021" cy="6524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Informar al paciente, la familia y la comunidad sobre la enfermedad, el mosquito, el modo de transmisión y los métodos de prevención</a:t>
            </a:r>
            <a:endParaRPr lang="en-US" sz="2000" dirty="0"/>
          </a:p>
        </p:txBody>
      </p:sp>
    </p:spTree>
    <p:extLst>
      <p:ext uri="{BB962C8B-B14F-4D97-AF65-F5344CB8AC3E}">
        <p14:creationId xmlns:p14="http://schemas.microsoft.com/office/powerpoint/2010/main" val="124353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10657304" cy="598310"/>
          </a:xfrm>
        </p:spPr>
        <p:txBody>
          <a:bodyPr>
            <a:normAutofit fontScale="90000"/>
          </a:bodyPr>
          <a:lstStyle/>
          <a:p>
            <a:br>
              <a:rPr lang="es-ES" dirty="0"/>
            </a:br>
            <a:r>
              <a:rPr lang="es-ES" dirty="0"/>
              <a:t>Prevención de fiebre amarilla</a:t>
            </a:r>
            <a:endParaRPr lang="en-US" dirty="0"/>
          </a:p>
        </p:txBody>
      </p:sp>
      <p:sp>
        <p:nvSpPr>
          <p:cNvPr id="3" name="Marcador de contenido 2"/>
          <p:cNvSpPr>
            <a:spLocks noGrp="1"/>
          </p:cNvSpPr>
          <p:nvPr>
            <p:ph idx="1"/>
          </p:nvPr>
        </p:nvSpPr>
        <p:spPr>
          <a:xfrm>
            <a:off x="1399822" y="857956"/>
            <a:ext cx="10792178" cy="5307713"/>
          </a:xfrm>
        </p:spPr>
        <p:txBody>
          <a:bodyPr>
            <a:normAutofit fontScale="92500"/>
          </a:bodyPr>
          <a:lstStyle/>
          <a:p>
            <a:r>
              <a:rPr lang="es-ES" sz="2400" b="1" dirty="0"/>
              <a:t>Vacunación: </a:t>
            </a:r>
            <a:r>
              <a:rPr lang="es-ES" sz="2400" dirty="0"/>
              <a:t>la vacunación de los pacientes que viven en zona de riesgo y viajeros.</a:t>
            </a:r>
          </a:p>
          <a:p>
            <a:pPr marL="0" indent="0">
              <a:buNone/>
            </a:pPr>
            <a:r>
              <a:rPr lang="es-ES" sz="2400" dirty="0"/>
              <a:t> Se debe aplicar a partir del año de vida y hasta los 60 años en todos los  que viven o viajan a zonas de riesgo. (Resolución 857/2007). </a:t>
            </a:r>
          </a:p>
          <a:p>
            <a:pPr marL="0" indent="0">
              <a:buNone/>
            </a:pPr>
            <a:r>
              <a:rPr lang="es-ES" sz="2400" dirty="0"/>
              <a:t>La vacuna es segura, tiene una eficacia mayor al 95% y protege a partir de los 10 días de su aplicación. </a:t>
            </a:r>
          </a:p>
          <a:p>
            <a:pPr marL="0" indent="0">
              <a:buNone/>
            </a:pPr>
            <a:r>
              <a:rPr lang="es-ES" sz="2400" dirty="0"/>
              <a:t>Las personas mayores de 60 años tienen mayor riesgo de reacciones adversas graves. </a:t>
            </a:r>
          </a:p>
          <a:p>
            <a:pPr marL="0" indent="0">
              <a:buNone/>
            </a:pPr>
            <a:r>
              <a:rPr lang="es-ES" sz="2400" dirty="0"/>
              <a:t>Las contraindicaciones son: Niños menores de 6 meses de vida, antecedentes de alergia al huevo, los pacientes timectomizados, con miastenia gravis, o inmunocomprometidos.</a:t>
            </a:r>
          </a:p>
          <a:p>
            <a:r>
              <a:rPr lang="es-ES" sz="2400" b="1" dirty="0"/>
              <a:t>Control del vector</a:t>
            </a:r>
          </a:p>
          <a:p>
            <a:pPr marL="0" indent="0" algn="ctr">
              <a:buNone/>
            </a:pPr>
            <a:endParaRPr lang="en-US" dirty="0"/>
          </a:p>
        </p:txBody>
      </p:sp>
      <p:sp>
        <p:nvSpPr>
          <p:cNvPr id="4" name="Rectángulo redondeado 3"/>
          <p:cNvSpPr/>
          <p:nvPr/>
        </p:nvSpPr>
        <p:spPr>
          <a:xfrm>
            <a:off x="361244" y="6165669"/>
            <a:ext cx="11446933" cy="692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i="1" dirty="0"/>
              <a:t>La prevención de la fiebre amarilla selvática solamente es posible por medio de la vacunación, pero para prevenir la fiebre amarilla urbana, son útiles además los programas de control del vector.</a:t>
            </a:r>
          </a:p>
        </p:txBody>
      </p:sp>
    </p:spTree>
    <p:extLst>
      <p:ext uri="{BB962C8B-B14F-4D97-AF65-F5344CB8AC3E}">
        <p14:creationId xmlns:p14="http://schemas.microsoft.com/office/powerpoint/2010/main" val="1421677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9975" y="1047445"/>
            <a:ext cx="2406015" cy="574675"/>
          </a:xfrm>
          <a:prstGeom prst="rect">
            <a:avLst/>
          </a:prstGeom>
        </p:spPr>
        <p:txBody>
          <a:bodyPr vert="horz" wrap="square" lIns="0" tIns="12700" rIns="0" bIns="0" rtlCol="0">
            <a:spAutoFit/>
          </a:bodyPr>
          <a:lstStyle/>
          <a:p>
            <a:pPr marL="12700">
              <a:lnSpc>
                <a:spcPct val="100000"/>
              </a:lnSpc>
              <a:spcBef>
                <a:spcPts val="100"/>
              </a:spcBef>
            </a:pPr>
            <a:r>
              <a:rPr spc="-20" dirty="0"/>
              <a:t>P</a:t>
            </a:r>
            <a:r>
              <a:rPr spc="-25" dirty="0"/>
              <a:t>R</a:t>
            </a:r>
            <a:r>
              <a:rPr spc="-35" dirty="0"/>
              <a:t>E</a:t>
            </a:r>
            <a:r>
              <a:rPr spc="-45" dirty="0"/>
              <a:t>V</a:t>
            </a:r>
            <a:r>
              <a:rPr spc="-35" dirty="0"/>
              <a:t>E</a:t>
            </a:r>
            <a:r>
              <a:rPr spc="-45" dirty="0"/>
              <a:t>NC</a:t>
            </a:r>
            <a:r>
              <a:rPr spc="-15" dirty="0"/>
              <a:t>I</a:t>
            </a:r>
            <a:r>
              <a:rPr spc="-45" dirty="0"/>
              <a:t>Ó</a:t>
            </a:r>
            <a:r>
              <a:rPr dirty="0"/>
              <a:t>N</a:t>
            </a:r>
          </a:p>
        </p:txBody>
      </p:sp>
      <p:pic>
        <p:nvPicPr>
          <p:cNvPr id="3" name="object 3"/>
          <p:cNvPicPr/>
          <p:nvPr/>
        </p:nvPicPr>
        <p:blipFill>
          <a:blip r:embed="rId2" cstate="print"/>
          <a:stretch>
            <a:fillRect/>
          </a:stretch>
        </p:blipFill>
        <p:spPr>
          <a:xfrm>
            <a:off x="0" y="101600"/>
            <a:ext cx="12192000" cy="6062132"/>
          </a:xfrm>
          <a:prstGeom prst="rect">
            <a:avLst/>
          </a:prstGeom>
        </p:spPr>
      </p:pic>
    </p:spTree>
    <p:extLst>
      <p:ext uri="{BB962C8B-B14F-4D97-AF65-F5344CB8AC3E}">
        <p14:creationId xmlns:p14="http://schemas.microsoft.com/office/powerpoint/2010/main" val="127838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13953"/>
          </a:xfrm>
        </p:spPr>
        <p:txBody>
          <a:bodyPr/>
          <a:lstStyle/>
          <a:p>
            <a:r>
              <a:rPr lang="es-AR" dirty="0"/>
              <a:t>Caso clínico 1</a:t>
            </a:r>
            <a:endParaRPr lang="en-US" dirty="0"/>
          </a:p>
        </p:txBody>
      </p:sp>
      <p:sp>
        <p:nvSpPr>
          <p:cNvPr id="3" name="Marcador de contenido 2"/>
          <p:cNvSpPr>
            <a:spLocks noGrp="1"/>
          </p:cNvSpPr>
          <p:nvPr>
            <p:ph idx="1"/>
          </p:nvPr>
        </p:nvSpPr>
        <p:spPr>
          <a:xfrm>
            <a:off x="1397726" y="613954"/>
            <a:ext cx="10794274" cy="5564777"/>
          </a:xfrm>
        </p:spPr>
        <p:txBody>
          <a:bodyPr>
            <a:normAutofit/>
          </a:bodyPr>
          <a:lstStyle/>
          <a:p>
            <a:pPr marL="0" indent="0">
              <a:buNone/>
            </a:pPr>
            <a:r>
              <a:rPr lang="es-ES" dirty="0"/>
              <a:t>Mujer, 22 años, ingresa el 24/02/18, por 5 días de fiebre, escalofríos, mioartralgias, cefalea, dolor abdominal y diarrea autolimitada. Antecedentes viaje a Brasil del 12-12/17 al 23/02/18. </a:t>
            </a:r>
          </a:p>
          <a:p>
            <a:pPr marL="0" indent="0">
              <a:buNone/>
            </a:pPr>
            <a:r>
              <a:rPr lang="es-ES" dirty="0"/>
              <a:t>1° consulta el 19/02/18 en R. de Janeiro por fiebre, cefalea y malestar general, diagnosticó Dengue. T.A 90/60 mmHg; frecuencia cardiaca: 58 x minuto, t° 37,8ºC y dolor abdominal en cuadrante superior derecho. Al 3° día mejora. 5° día se otorga alta.</a:t>
            </a:r>
          </a:p>
          <a:p>
            <a:pPr marL="0" indent="0">
              <a:buNone/>
            </a:pPr>
            <a:r>
              <a:rPr lang="es-ES" dirty="0"/>
              <a:t>Ecografía: hepatomegalia Laboratorio: PCR para FA en sangre y orina positiva.</a:t>
            </a:r>
          </a:p>
        </p:txBody>
      </p:sp>
      <p:pic>
        <p:nvPicPr>
          <p:cNvPr id="5" name="Marcador de contenido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744" y="3187337"/>
            <a:ext cx="8686800" cy="2895730"/>
          </a:xfrm>
          <a:prstGeom prst="rect">
            <a:avLst/>
          </a:prstGeom>
        </p:spPr>
      </p:pic>
    </p:spTree>
    <p:extLst>
      <p:ext uri="{BB962C8B-B14F-4D97-AF65-F5344CB8AC3E}">
        <p14:creationId xmlns:p14="http://schemas.microsoft.com/office/powerpoint/2010/main" val="3233526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757645"/>
          </a:xfrm>
        </p:spPr>
        <p:txBody>
          <a:bodyPr/>
          <a:lstStyle/>
          <a:p>
            <a:r>
              <a:rPr lang="es-AR" dirty="0"/>
              <a:t>Caso clínico 2 </a:t>
            </a:r>
            <a:endParaRPr lang="en-US" dirty="0"/>
          </a:p>
        </p:txBody>
      </p:sp>
      <p:sp>
        <p:nvSpPr>
          <p:cNvPr id="3" name="Marcador de contenido 2"/>
          <p:cNvSpPr>
            <a:spLocks noGrp="1"/>
          </p:cNvSpPr>
          <p:nvPr>
            <p:ph idx="1"/>
          </p:nvPr>
        </p:nvSpPr>
        <p:spPr>
          <a:xfrm>
            <a:off x="1534696" y="757646"/>
            <a:ext cx="10657304" cy="5316583"/>
          </a:xfrm>
        </p:spPr>
        <p:txBody>
          <a:bodyPr/>
          <a:lstStyle/>
          <a:p>
            <a:r>
              <a:rPr lang="es-ES" dirty="0"/>
              <a:t>Mujer, 27 años, ingresó al hospital el 21/03/18, por 4 días de fiebre, dolor abdominal y retroocular, lumbalgia, cefalea, mialgias, náuseas, vómitos y diarrea autolimitada. Epidemiologia viaje a Brasil (R de Janeiro, Ihla Grande y Buzios) del 9 al 19/3/18. </a:t>
            </a:r>
          </a:p>
          <a:p>
            <a:r>
              <a:rPr lang="es-ES" dirty="0"/>
              <a:t>Examen físico: Febril y con dolor abdominal difuso. Ecografía abdominal hepatomegalia</a:t>
            </a:r>
          </a:p>
          <a:p>
            <a:r>
              <a:rPr lang="es-ES" dirty="0"/>
              <a:t>Al 2° día mejora. 6° día se otorga alta.</a:t>
            </a:r>
          </a:p>
          <a:p>
            <a:endParaRPr lang="es-ES" dirty="0"/>
          </a:p>
          <a:p>
            <a:endParaRPr lang="en-US" dirty="0"/>
          </a:p>
        </p:txBody>
      </p:sp>
      <p:pic>
        <p:nvPicPr>
          <p:cNvPr id="5" name="Marcador de contenido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549" y="3082989"/>
            <a:ext cx="8934994" cy="2991239"/>
          </a:xfrm>
          <a:prstGeom prst="rect">
            <a:avLst/>
          </a:prstGeom>
        </p:spPr>
      </p:pic>
    </p:spTree>
    <p:extLst>
      <p:ext uri="{BB962C8B-B14F-4D97-AF65-F5344CB8AC3E}">
        <p14:creationId xmlns:p14="http://schemas.microsoft.com/office/powerpoint/2010/main" val="2615168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34696" y="1"/>
            <a:ext cx="9520158" cy="666205"/>
          </a:xfrm>
        </p:spPr>
        <p:txBody>
          <a:bodyPr/>
          <a:lstStyle/>
          <a:p>
            <a:r>
              <a:rPr lang="es-ES" cap="all" dirty="0"/>
              <a:t>DISCUSIÓN</a:t>
            </a:r>
            <a:endParaRPr lang="en-US" dirty="0"/>
          </a:p>
        </p:txBody>
      </p:sp>
      <p:sp>
        <p:nvSpPr>
          <p:cNvPr id="3" name="Marcador de contenido 2"/>
          <p:cNvSpPr>
            <a:spLocks noGrp="1"/>
          </p:cNvSpPr>
          <p:nvPr>
            <p:ph idx="1"/>
          </p:nvPr>
        </p:nvSpPr>
        <p:spPr>
          <a:xfrm>
            <a:off x="1410789" y="666206"/>
            <a:ext cx="10781211" cy="5486400"/>
          </a:xfrm>
        </p:spPr>
        <p:txBody>
          <a:bodyPr>
            <a:normAutofit lnSpcReduction="10000"/>
          </a:bodyPr>
          <a:lstStyle/>
          <a:p>
            <a:r>
              <a:rPr lang="es-ES" dirty="0"/>
              <a:t>Ambas negaron vacunación para FA., serologías hepatitis A, B y C, dengue, Zika, Chikungunya, gota gruesa, hemocultivos y urocultivo: negativos. Tratamiento ambos casos fue sintomático, hidratación y monitoreo.</a:t>
            </a:r>
          </a:p>
          <a:p>
            <a:r>
              <a:rPr lang="es-ES" dirty="0"/>
              <a:t>Los 2 casos eran provenientes de zona de brote de FA: uno hepatitis aguda y otro con síndrome febril inespecífico. </a:t>
            </a:r>
          </a:p>
          <a:p>
            <a:r>
              <a:rPr lang="es-ES" dirty="0"/>
              <a:t>Diagnósticos diferenciales: Dengue, Zika, Chikungunya, hepatitis virales, malaria y sepsis. </a:t>
            </a:r>
          </a:p>
          <a:p>
            <a:endParaRPr lang="es-ES" dirty="0"/>
          </a:p>
          <a:p>
            <a:r>
              <a:rPr lang="es-ES" b="1" cap="all" dirty="0"/>
              <a:t>CONCLUSIÓN:</a:t>
            </a:r>
          </a:p>
          <a:p>
            <a:r>
              <a:rPr lang="es-ES" dirty="0"/>
              <a:t>Ante síndrome de sospecha clínica, sin vacunación para FA y con antecedente de residencia o viaje en los 15 días previos a zona de riesgo.</a:t>
            </a:r>
          </a:p>
          <a:p>
            <a:r>
              <a:rPr lang="es-ES" dirty="0"/>
              <a:t>Control estricto y alerta ante la aparición de signos de alarma para el ingreso hospitalario.</a:t>
            </a:r>
          </a:p>
          <a:p>
            <a:r>
              <a:rPr lang="es-ES" dirty="0"/>
              <a:t>La letalidad es alta, la prevención con vacunación es crucial para reducir el riesgo de enfermedad y mortalidad.</a:t>
            </a:r>
          </a:p>
        </p:txBody>
      </p:sp>
    </p:spTree>
    <p:extLst>
      <p:ext uri="{BB962C8B-B14F-4D97-AF65-F5344CB8AC3E}">
        <p14:creationId xmlns:p14="http://schemas.microsoft.com/office/powerpoint/2010/main" val="217746779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TM10001114[[fn=Galería]]</Template>
  <TotalTime>918</TotalTime>
  <Words>2829</Words>
  <Application>Microsoft Office PowerPoint</Application>
  <PresentationFormat>Panorámica</PresentationFormat>
  <Paragraphs>160</Paragraphs>
  <Slides>25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Calibri</vt:lpstr>
      <vt:lpstr>Calibri Light</vt:lpstr>
      <vt:lpstr>Palatino Linotype</vt:lpstr>
      <vt:lpstr>Times New Roman</vt:lpstr>
      <vt:lpstr>Gallery</vt:lpstr>
      <vt:lpstr>ENFERMEDADES REEMERGENTES</vt:lpstr>
      <vt:lpstr>CHIKUNGUNYA</vt:lpstr>
      <vt:lpstr>     Fiebre Chikungunya en Argentina</vt:lpstr>
      <vt:lpstr>   </vt:lpstr>
      <vt:lpstr>CHIKUNGUNYA</vt:lpstr>
      <vt:lpstr>Presentación de PowerPoint</vt:lpstr>
      <vt:lpstr>Laboratorio</vt:lpstr>
      <vt:lpstr>Definición de Caso de CHIKUNGUNYA </vt:lpstr>
      <vt:lpstr>CASO CLÍNICO</vt:lpstr>
      <vt:lpstr> Al Examen físico:  temperatura de 38,3 ° f.c. 100 latidos x minuto. Laboratorio: GOT de 33 U/l, GPT de 47 U/l, proteína C reactiva de 2,13 mg/dl, linfocitos normales. El resto normal.  Se tomaron muestras para hemocultivo y urocultivo, y ante la estabilidad clínica y con sospecha diagnóstica de enfermedad por virus Chikungunya se decidió dar de alta a domicilio y continuar el estudios de laboratorio forma ambulatoria.  El paciente no acudió a la extracción de sangre hasta 6 días después. Refería mejoría paulatina. La fiebre duró 3 días y los dolores articulares generalizados disminuyeron de forma clara al ceder la fiebre, aunque persistieron molestias, junto con astenia.   Se tomaron muestras para serología de virus de hepatitis A, B, C, VIH y sífilis como primera aproximación para un diagnóstico diferencial (dentro del estudio habitual solicitado para estudio de fiebre importada) y se envió una muestra para diagnóstico serológico al centro de referencia, para CHIKV y dengue.  </vt:lpstr>
      <vt:lpstr>Presentación de PowerPoint</vt:lpstr>
      <vt:lpstr>FIEBRE AMARILLA: Arbovirus (Flia Flaviviridae)</vt:lpstr>
      <vt:lpstr>Transmisión</vt:lpstr>
      <vt:lpstr>TRANSMISIÓN</vt:lpstr>
      <vt:lpstr>Manifestaciones clínicas</vt:lpstr>
      <vt:lpstr>Evolución: 3 periodos (Infección- Remisión- Intoxicación)</vt:lpstr>
      <vt:lpstr>Intoxicación</vt:lpstr>
      <vt:lpstr>Diagnostico Diferencial </vt:lpstr>
      <vt:lpstr>Diagnóstico</vt:lpstr>
      <vt:lpstr>¿Qué se debe hacer si se confirma un caso sospechoso de fiebre amarilla?</vt:lpstr>
      <vt:lpstr> Prevención de fiebre amarilla</vt:lpstr>
      <vt:lpstr>PREVENCIÓN</vt:lpstr>
      <vt:lpstr>Caso clínico 1</vt:lpstr>
      <vt:lpstr>Caso clínico 2 </vt:lpstr>
      <vt:lpstr>DISCUSIÓN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Enfermedades emergentes-reemergentes y regionales U.T. N° 5</dc:title>
  <dc:creator>WIN-10</dc:creator>
  <cp:lastModifiedBy>WIN-10</cp:lastModifiedBy>
  <cp:revision>83</cp:revision>
  <dcterms:created xsi:type="dcterms:W3CDTF">2023-07-20T13:26:06Z</dcterms:created>
  <dcterms:modified xsi:type="dcterms:W3CDTF">2026-09-29T15:18:51Z</dcterms:modified>
</cp:coreProperties>
</file>