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sldIdLst>
    <p:sldId id="256" r:id="rId2"/>
    <p:sldId id="260" r:id="rId3"/>
    <p:sldId id="261" r:id="rId4"/>
    <p:sldId id="257" r:id="rId5"/>
    <p:sldId id="262" r:id="rId6"/>
    <p:sldId id="319" r:id="rId7"/>
    <p:sldId id="310" r:id="rId8"/>
    <p:sldId id="265" r:id="rId9"/>
    <p:sldId id="270" r:id="rId10"/>
    <p:sldId id="264" r:id="rId11"/>
    <p:sldId id="308" r:id="rId12"/>
    <p:sldId id="267" r:id="rId13"/>
    <p:sldId id="272" r:id="rId14"/>
    <p:sldId id="312" r:id="rId15"/>
    <p:sldId id="323" r:id="rId16"/>
    <p:sldId id="274" r:id="rId17"/>
    <p:sldId id="322" r:id="rId18"/>
    <p:sldId id="275" r:id="rId19"/>
    <p:sldId id="282" r:id="rId20"/>
    <p:sldId id="277" r:id="rId21"/>
    <p:sldId id="278" r:id="rId22"/>
    <p:sldId id="279" r:id="rId23"/>
    <p:sldId id="284" r:id="rId24"/>
    <p:sldId id="313" r:id="rId25"/>
    <p:sldId id="314" r:id="rId26"/>
    <p:sldId id="287" r:id="rId27"/>
    <p:sldId id="290" r:id="rId28"/>
    <p:sldId id="294" r:id="rId29"/>
    <p:sldId id="295" r:id="rId30"/>
    <p:sldId id="306" r:id="rId31"/>
    <p:sldId id="300" r:id="rId32"/>
    <p:sldId id="299" r:id="rId33"/>
    <p:sldId id="324" r:id="rId34"/>
    <p:sldId id="316" r:id="rId35"/>
    <p:sldId id="317" r:id="rId36"/>
    <p:sldId id="318" r:id="rId37"/>
    <p:sldId id="325" r:id="rId38"/>
    <p:sldId id="326" r:id="rId39"/>
    <p:sldId id="327" r:id="rId40"/>
    <p:sldId id="328" r:id="rId41"/>
    <p:sldId id="330" r:id="rId42"/>
    <p:sldId id="307" r:id="rId43"/>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69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05406E-3FAA-9741-DA0A-9151D4FFCFD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D64A332F-E747-0BAB-5EA9-F02DCBEE03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2AFA7536-2359-91A1-C552-B4FB12DFF81C}"/>
              </a:ext>
            </a:extLst>
          </p:cNvPr>
          <p:cNvSpPr>
            <a:spLocks noGrp="1"/>
          </p:cNvSpPr>
          <p:nvPr>
            <p:ph type="dt" sz="half" idx="10"/>
          </p:nvPr>
        </p:nvSpPr>
        <p:spPr/>
        <p:txBody>
          <a:bodyPr/>
          <a:lstStyle/>
          <a:p>
            <a:fld id="{1160EA64-D806-43AC-9DF2-F8C432F32B4C}" type="datetimeFigureOut">
              <a:rPr lang="en-US" smtClean="0"/>
              <a:t>8/30/2026</a:t>
            </a:fld>
            <a:endParaRPr lang="en-US" dirty="0"/>
          </a:p>
        </p:txBody>
      </p:sp>
      <p:sp>
        <p:nvSpPr>
          <p:cNvPr id="5" name="Marcador de pie de página 4">
            <a:extLst>
              <a:ext uri="{FF2B5EF4-FFF2-40B4-BE49-F238E27FC236}">
                <a16:creationId xmlns:a16="http://schemas.microsoft.com/office/drawing/2014/main" id="{40F313ED-742F-215A-E5D5-6BCCB629B2F8}"/>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16F911CD-8420-B6AD-F8E3-DC807355E350}"/>
              </a:ext>
            </a:extLst>
          </p:cNvPr>
          <p:cNvSpPr>
            <a:spLocks noGrp="1"/>
          </p:cNvSpPr>
          <p:nvPr>
            <p:ph type="sldNum" sz="quarter" idx="12"/>
          </p:nvPr>
        </p:nvSpPr>
        <p:spPr/>
        <p:txBody>
          <a:bodyPr/>
          <a:lstStyle/>
          <a:p>
            <a:fld id="{8A7A6979-0714-4377-B894-6BE4C2D6E202}" type="slidenum">
              <a:rPr lang="en-US" smtClean="0"/>
              <a:pPr/>
              <a:t>‹Nº›</a:t>
            </a:fld>
            <a:endParaRPr lang="en-US" dirty="0"/>
          </a:p>
        </p:txBody>
      </p:sp>
    </p:spTree>
    <p:extLst>
      <p:ext uri="{BB962C8B-B14F-4D97-AF65-F5344CB8AC3E}">
        <p14:creationId xmlns:p14="http://schemas.microsoft.com/office/powerpoint/2010/main" val="3630067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A16BC5-366E-968F-A8CA-05F182DACCAD}"/>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6B5DD4BD-FA66-899C-AE94-A2BDA591883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37171B9B-7508-C01A-6E89-E4044E7128CC}"/>
              </a:ext>
            </a:extLst>
          </p:cNvPr>
          <p:cNvSpPr>
            <a:spLocks noGrp="1"/>
          </p:cNvSpPr>
          <p:nvPr>
            <p:ph type="dt" sz="half" idx="10"/>
          </p:nvPr>
        </p:nvSpPr>
        <p:spPr/>
        <p:txBody>
          <a:bodyPr/>
          <a:lstStyle/>
          <a:p>
            <a:fld id="{F070A7B3-6521-4DCA-87E5-044747A908C1}" type="datetimeFigureOut">
              <a:rPr lang="en-US" smtClean="0"/>
              <a:t>8/30/2026</a:t>
            </a:fld>
            <a:endParaRPr lang="en-US" dirty="0"/>
          </a:p>
        </p:txBody>
      </p:sp>
      <p:sp>
        <p:nvSpPr>
          <p:cNvPr id="5" name="Marcador de pie de página 4">
            <a:extLst>
              <a:ext uri="{FF2B5EF4-FFF2-40B4-BE49-F238E27FC236}">
                <a16:creationId xmlns:a16="http://schemas.microsoft.com/office/drawing/2014/main" id="{93293CAE-C5EB-96E2-8AB3-954DE1059FF7}"/>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71D5D5EA-A3C7-A8E5-03EF-E140B79A7C39}"/>
              </a:ext>
            </a:extLst>
          </p:cNvPr>
          <p:cNvSpPr>
            <a:spLocks noGrp="1"/>
          </p:cNvSpPr>
          <p:nvPr>
            <p:ph type="sldNum" sz="quarter" idx="12"/>
          </p:nvPr>
        </p:nvSpPr>
        <p:spPr/>
        <p:txBody>
          <a:bodyPr/>
          <a:lstStyle/>
          <a:p>
            <a:fld id="{8A7A6979-0714-4377-B894-6BE4C2D6E202}" type="slidenum">
              <a:rPr lang="en-US" smtClean="0"/>
              <a:pPr/>
              <a:t>‹Nº›</a:t>
            </a:fld>
            <a:endParaRPr lang="en-US" dirty="0"/>
          </a:p>
        </p:txBody>
      </p:sp>
    </p:spTree>
    <p:extLst>
      <p:ext uri="{BB962C8B-B14F-4D97-AF65-F5344CB8AC3E}">
        <p14:creationId xmlns:p14="http://schemas.microsoft.com/office/powerpoint/2010/main" val="345675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E147D9-65E0-31FA-9F42-A02B65300AF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75D1B966-F7D1-C01C-FD87-EF0A7E1528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B375829-DBB5-3F2A-AD22-AF4FCEFD9B06}"/>
              </a:ext>
            </a:extLst>
          </p:cNvPr>
          <p:cNvSpPr>
            <a:spLocks noGrp="1"/>
          </p:cNvSpPr>
          <p:nvPr>
            <p:ph type="dt" sz="half" idx="10"/>
          </p:nvPr>
        </p:nvSpPr>
        <p:spPr/>
        <p:txBody>
          <a:bodyPr/>
          <a:lstStyle/>
          <a:p>
            <a:fld id="{1160EA64-D806-43AC-9DF2-F8C432F32B4C}" type="datetimeFigureOut">
              <a:rPr lang="en-US" smtClean="0"/>
              <a:t>8/30/2026</a:t>
            </a:fld>
            <a:endParaRPr lang="en-US" dirty="0"/>
          </a:p>
        </p:txBody>
      </p:sp>
      <p:sp>
        <p:nvSpPr>
          <p:cNvPr id="5" name="Marcador de pie de página 4">
            <a:extLst>
              <a:ext uri="{FF2B5EF4-FFF2-40B4-BE49-F238E27FC236}">
                <a16:creationId xmlns:a16="http://schemas.microsoft.com/office/drawing/2014/main" id="{4308B5F0-4C15-B032-81FD-DF439C5CDDB7}"/>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A3D0AF0C-2293-C914-8DFA-407A5AF5803F}"/>
              </a:ext>
            </a:extLst>
          </p:cNvPr>
          <p:cNvSpPr>
            <a:spLocks noGrp="1"/>
          </p:cNvSpPr>
          <p:nvPr>
            <p:ph type="sldNum" sz="quarter" idx="12"/>
          </p:nvPr>
        </p:nvSpPr>
        <p:spPr/>
        <p:txBody>
          <a:bodyPr/>
          <a:lstStyle/>
          <a:p>
            <a:fld id="{8A7A6979-0714-4377-B894-6BE4C2D6E202}" type="slidenum">
              <a:rPr lang="en-US" smtClean="0"/>
              <a:pPr/>
              <a:t>‹Nº›</a:t>
            </a:fld>
            <a:endParaRPr lang="en-US" dirty="0"/>
          </a:p>
        </p:txBody>
      </p:sp>
    </p:spTree>
    <p:extLst>
      <p:ext uri="{BB962C8B-B14F-4D97-AF65-F5344CB8AC3E}">
        <p14:creationId xmlns:p14="http://schemas.microsoft.com/office/powerpoint/2010/main" val="32333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316BB8-60DB-01BB-16F0-FB5C32A2ADAE}"/>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1DD231CB-C888-D848-D4D6-57189FA3A22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7332902E-46B6-FDD8-C3D0-18AFA28631C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6EDEEF39-792F-A1DB-0936-CD93EF4C8DB2}"/>
              </a:ext>
            </a:extLst>
          </p:cNvPr>
          <p:cNvSpPr>
            <a:spLocks noGrp="1"/>
          </p:cNvSpPr>
          <p:nvPr>
            <p:ph type="dt" sz="half" idx="10"/>
          </p:nvPr>
        </p:nvSpPr>
        <p:spPr/>
        <p:txBody>
          <a:bodyPr/>
          <a:lstStyle/>
          <a:p>
            <a:fld id="{AB134690-1557-4C89-A502-4959FE7FAD70}" type="datetimeFigureOut">
              <a:rPr lang="en-US" smtClean="0"/>
              <a:t>8/30/2026</a:t>
            </a:fld>
            <a:endParaRPr lang="en-US" dirty="0"/>
          </a:p>
        </p:txBody>
      </p:sp>
      <p:sp>
        <p:nvSpPr>
          <p:cNvPr id="6" name="Marcador de pie de página 5">
            <a:extLst>
              <a:ext uri="{FF2B5EF4-FFF2-40B4-BE49-F238E27FC236}">
                <a16:creationId xmlns:a16="http://schemas.microsoft.com/office/drawing/2014/main" id="{7AACBF84-C372-8390-FA7B-0F9E7CC9710D}"/>
              </a:ext>
            </a:extLst>
          </p:cNvPr>
          <p:cNvSpPr>
            <a:spLocks noGrp="1"/>
          </p:cNvSpPr>
          <p:nvPr>
            <p:ph type="ftr" sz="quarter" idx="11"/>
          </p:nvPr>
        </p:nvSpPr>
        <p:spPr/>
        <p:txBody>
          <a:bodyPr/>
          <a:lstStyle/>
          <a:p>
            <a:endParaRPr lang="en-US" dirty="0"/>
          </a:p>
        </p:txBody>
      </p:sp>
      <p:sp>
        <p:nvSpPr>
          <p:cNvPr id="7" name="Marcador de número de diapositiva 6">
            <a:extLst>
              <a:ext uri="{FF2B5EF4-FFF2-40B4-BE49-F238E27FC236}">
                <a16:creationId xmlns:a16="http://schemas.microsoft.com/office/drawing/2014/main" id="{72832BFC-2900-C244-1544-DCB4714BCD67}"/>
              </a:ext>
            </a:extLst>
          </p:cNvPr>
          <p:cNvSpPr>
            <a:spLocks noGrp="1"/>
          </p:cNvSpPr>
          <p:nvPr>
            <p:ph type="sldNum" sz="quarter" idx="12"/>
          </p:nvPr>
        </p:nvSpPr>
        <p:spPr/>
        <p:txBody>
          <a:bodyPr/>
          <a:lstStyle/>
          <a:p>
            <a:fld id="{8A7A6979-0714-4377-B894-6BE4C2D6E202}" type="slidenum">
              <a:rPr lang="en-US" smtClean="0"/>
              <a:t>‹Nº›</a:t>
            </a:fld>
            <a:endParaRPr lang="en-US" dirty="0"/>
          </a:p>
        </p:txBody>
      </p:sp>
    </p:spTree>
    <p:extLst>
      <p:ext uri="{BB962C8B-B14F-4D97-AF65-F5344CB8AC3E}">
        <p14:creationId xmlns:p14="http://schemas.microsoft.com/office/powerpoint/2010/main" val="2486289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CC461E-5E94-28E2-228D-2C4002C00D3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45EA2B99-96E8-4316-FB44-9673B74866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AD6718EC-6D36-5AA1-AEB5-7368CC39DF3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5E776BA9-4132-4F17-FB0D-A4784B100F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8FD96E6-AABD-7993-4C23-9AEEBEE047A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CE3D3FCE-F8D5-5B70-E472-EFE7AAA701A3}"/>
              </a:ext>
            </a:extLst>
          </p:cNvPr>
          <p:cNvSpPr>
            <a:spLocks noGrp="1"/>
          </p:cNvSpPr>
          <p:nvPr>
            <p:ph type="dt" sz="half" idx="10"/>
          </p:nvPr>
        </p:nvSpPr>
        <p:spPr/>
        <p:txBody>
          <a:bodyPr/>
          <a:lstStyle/>
          <a:p>
            <a:fld id="{1160EA64-D806-43AC-9DF2-F8C432F32B4C}" type="datetimeFigureOut">
              <a:rPr lang="en-US" smtClean="0"/>
              <a:t>8/30/2026</a:t>
            </a:fld>
            <a:endParaRPr lang="en-US" dirty="0"/>
          </a:p>
        </p:txBody>
      </p:sp>
      <p:sp>
        <p:nvSpPr>
          <p:cNvPr id="8" name="Marcador de pie de página 7">
            <a:extLst>
              <a:ext uri="{FF2B5EF4-FFF2-40B4-BE49-F238E27FC236}">
                <a16:creationId xmlns:a16="http://schemas.microsoft.com/office/drawing/2014/main" id="{EB8703AB-22C6-1B50-9C05-FD2CB814E6CC}"/>
              </a:ext>
            </a:extLst>
          </p:cNvPr>
          <p:cNvSpPr>
            <a:spLocks noGrp="1"/>
          </p:cNvSpPr>
          <p:nvPr>
            <p:ph type="ftr" sz="quarter" idx="11"/>
          </p:nvPr>
        </p:nvSpPr>
        <p:spPr/>
        <p:txBody>
          <a:bodyPr/>
          <a:lstStyle/>
          <a:p>
            <a:endParaRPr lang="en-US" dirty="0"/>
          </a:p>
        </p:txBody>
      </p:sp>
      <p:sp>
        <p:nvSpPr>
          <p:cNvPr id="9" name="Marcador de número de diapositiva 8">
            <a:extLst>
              <a:ext uri="{FF2B5EF4-FFF2-40B4-BE49-F238E27FC236}">
                <a16:creationId xmlns:a16="http://schemas.microsoft.com/office/drawing/2014/main" id="{C2DDDDA2-7047-79F2-E53E-597CD45C501D}"/>
              </a:ext>
            </a:extLst>
          </p:cNvPr>
          <p:cNvSpPr>
            <a:spLocks noGrp="1"/>
          </p:cNvSpPr>
          <p:nvPr>
            <p:ph type="sldNum" sz="quarter" idx="12"/>
          </p:nvPr>
        </p:nvSpPr>
        <p:spPr/>
        <p:txBody>
          <a:bodyPr/>
          <a:lstStyle/>
          <a:p>
            <a:fld id="{8A7A6979-0714-4377-B894-6BE4C2D6E202}" type="slidenum">
              <a:rPr lang="en-US" smtClean="0"/>
              <a:pPr/>
              <a:t>‹Nº›</a:t>
            </a:fld>
            <a:endParaRPr lang="en-US" dirty="0"/>
          </a:p>
        </p:txBody>
      </p:sp>
    </p:spTree>
    <p:extLst>
      <p:ext uri="{BB962C8B-B14F-4D97-AF65-F5344CB8AC3E}">
        <p14:creationId xmlns:p14="http://schemas.microsoft.com/office/powerpoint/2010/main" val="197697547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1D05F9-8D78-94ED-7541-3DD17B967ADD}"/>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517F05E7-0FC2-0EAF-C109-380C9F6C15BB}"/>
              </a:ext>
            </a:extLst>
          </p:cNvPr>
          <p:cNvSpPr>
            <a:spLocks noGrp="1"/>
          </p:cNvSpPr>
          <p:nvPr>
            <p:ph type="dt" sz="half" idx="10"/>
          </p:nvPr>
        </p:nvSpPr>
        <p:spPr/>
        <p:txBody>
          <a:bodyPr/>
          <a:lstStyle/>
          <a:p>
            <a:fld id="{E1037C31-9E7A-4F99-8774-A0E530DE1A42}" type="datetimeFigureOut">
              <a:rPr lang="en-US" smtClean="0"/>
              <a:t>8/30/2026</a:t>
            </a:fld>
            <a:endParaRPr lang="en-US" dirty="0"/>
          </a:p>
        </p:txBody>
      </p:sp>
      <p:sp>
        <p:nvSpPr>
          <p:cNvPr id="4" name="Marcador de pie de página 3">
            <a:extLst>
              <a:ext uri="{FF2B5EF4-FFF2-40B4-BE49-F238E27FC236}">
                <a16:creationId xmlns:a16="http://schemas.microsoft.com/office/drawing/2014/main" id="{1F17B81B-CF17-7C7A-B6C6-811EED9A9DAF}"/>
              </a:ext>
            </a:extLst>
          </p:cNvPr>
          <p:cNvSpPr>
            <a:spLocks noGrp="1"/>
          </p:cNvSpPr>
          <p:nvPr>
            <p:ph type="ftr" sz="quarter" idx="11"/>
          </p:nvPr>
        </p:nvSpPr>
        <p:spPr/>
        <p:txBody>
          <a:bodyPr/>
          <a:lstStyle/>
          <a:p>
            <a:endParaRPr lang="en-US" dirty="0"/>
          </a:p>
        </p:txBody>
      </p:sp>
      <p:sp>
        <p:nvSpPr>
          <p:cNvPr id="5" name="Marcador de número de diapositiva 4">
            <a:extLst>
              <a:ext uri="{FF2B5EF4-FFF2-40B4-BE49-F238E27FC236}">
                <a16:creationId xmlns:a16="http://schemas.microsoft.com/office/drawing/2014/main" id="{9347B19C-75D8-794D-9952-6123E0E9F5F4}"/>
              </a:ext>
            </a:extLst>
          </p:cNvPr>
          <p:cNvSpPr>
            <a:spLocks noGrp="1"/>
          </p:cNvSpPr>
          <p:nvPr>
            <p:ph type="sldNum" sz="quarter" idx="12"/>
          </p:nvPr>
        </p:nvSpPr>
        <p:spPr/>
        <p:txBody>
          <a:bodyPr/>
          <a:lstStyle/>
          <a:p>
            <a:fld id="{8A7A6979-0714-4377-B894-6BE4C2D6E202}" type="slidenum">
              <a:rPr lang="en-US" smtClean="0"/>
              <a:t>‹Nº›</a:t>
            </a:fld>
            <a:endParaRPr lang="en-US" dirty="0"/>
          </a:p>
        </p:txBody>
      </p:sp>
    </p:spTree>
    <p:extLst>
      <p:ext uri="{BB962C8B-B14F-4D97-AF65-F5344CB8AC3E}">
        <p14:creationId xmlns:p14="http://schemas.microsoft.com/office/powerpoint/2010/main" val="1854535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40D5C91-D39D-05B7-B0F2-A166BA6BAFEE}"/>
              </a:ext>
            </a:extLst>
          </p:cNvPr>
          <p:cNvSpPr>
            <a:spLocks noGrp="1"/>
          </p:cNvSpPr>
          <p:nvPr>
            <p:ph type="dt" sz="half" idx="10"/>
          </p:nvPr>
        </p:nvSpPr>
        <p:spPr/>
        <p:txBody>
          <a:bodyPr/>
          <a:lstStyle/>
          <a:p>
            <a:fld id="{C278504F-A551-4DE0-9316-4DCD1D8CC752}" type="datetimeFigureOut">
              <a:rPr lang="en-US" smtClean="0"/>
              <a:t>8/30/2026</a:t>
            </a:fld>
            <a:endParaRPr lang="en-US" dirty="0"/>
          </a:p>
        </p:txBody>
      </p:sp>
      <p:sp>
        <p:nvSpPr>
          <p:cNvPr id="3" name="Marcador de pie de página 2">
            <a:extLst>
              <a:ext uri="{FF2B5EF4-FFF2-40B4-BE49-F238E27FC236}">
                <a16:creationId xmlns:a16="http://schemas.microsoft.com/office/drawing/2014/main" id="{DB76E4D0-39C2-E077-23E1-5D20C1C8FD0D}"/>
              </a:ext>
            </a:extLst>
          </p:cNvPr>
          <p:cNvSpPr>
            <a:spLocks noGrp="1"/>
          </p:cNvSpPr>
          <p:nvPr>
            <p:ph type="ftr" sz="quarter" idx="11"/>
          </p:nvPr>
        </p:nvSpPr>
        <p:spPr/>
        <p:txBody>
          <a:bodyPr/>
          <a:lstStyle/>
          <a:p>
            <a:endParaRPr lang="en-US" dirty="0"/>
          </a:p>
        </p:txBody>
      </p:sp>
      <p:sp>
        <p:nvSpPr>
          <p:cNvPr id="4" name="Marcador de número de diapositiva 3">
            <a:extLst>
              <a:ext uri="{FF2B5EF4-FFF2-40B4-BE49-F238E27FC236}">
                <a16:creationId xmlns:a16="http://schemas.microsoft.com/office/drawing/2014/main" id="{20E91CA1-7C68-F352-6282-1F5C60F8012D}"/>
              </a:ext>
            </a:extLst>
          </p:cNvPr>
          <p:cNvSpPr>
            <a:spLocks noGrp="1"/>
          </p:cNvSpPr>
          <p:nvPr>
            <p:ph type="sldNum" sz="quarter" idx="12"/>
          </p:nvPr>
        </p:nvSpPr>
        <p:spPr/>
        <p:txBody>
          <a:bodyPr/>
          <a:lstStyle/>
          <a:p>
            <a:fld id="{8A7A6979-0714-4377-B894-6BE4C2D6E202}" type="slidenum">
              <a:rPr lang="en-US" smtClean="0"/>
              <a:t>‹Nº›</a:t>
            </a:fld>
            <a:endParaRPr lang="en-US" dirty="0"/>
          </a:p>
        </p:txBody>
      </p:sp>
    </p:spTree>
    <p:extLst>
      <p:ext uri="{BB962C8B-B14F-4D97-AF65-F5344CB8AC3E}">
        <p14:creationId xmlns:p14="http://schemas.microsoft.com/office/powerpoint/2010/main" val="232905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6C10F8-823C-5E51-3BCE-5C2E573F13A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271FF8B9-4A3C-2214-D7A3-76F32F563A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88707195-9CB8-6D7E-837D-0DF5668523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1E7BFDC-0225-9F89-29DF-1D2249CE3DDD}"/>
              </a:ext>
            </a:extLst>
          </p:cNvPr>
          <p:cNvSpPr>
            <a:spLocks noGrp="1"/>
          </p:cNvSpPr>
          <p:nvPr>
            <p:ph type="dt" sz="half" idx="10"/>
          </p:nvPr>
        </p:nvSpPr>
        <p:spPr/>
        <p:txBody>
          <a:bodyPr/>
          <a:lstStyle/>
          <a:p>
            <a:fld id="{D1BE4249-C0D0-4B06-8692-E8BB871AF643}" type="datetimeFigureOut">
              <a:rPr lang="en-US" smtClean="0"/>
              <a:t>8/30/2026</a:t>
            </a:fld>
            <a:endParaRPr lang="en-US" dirty="0"/>
          </a:p>
        </p:txBody>
      </p:sp>
      <p:sp>
        <p:nvSpPr>
          <p:cNvPr id="6" name="Marcador de pie de página 5">
            <a:extLst>
              <a:ext uri="{FF2B5EF4-FFF2-40B4-BE49-F238E27FC236}">
                <a16:creationId xmlns:a16="http://schemas.microsoft.com/office/drawing/2014/main" id="{E4447DE7-5F0C-A0D3-94F2-CAA73CAA8BE1}"/>
              </a:ext>
            </a:extLst>
          </p:cNvPr>
          <p:cNvSpPr>
            <a:spLocks noGrp="1"/>
          </p:cNvSpPr>
          <p:nvPr>
            <p:ph type="ftr" sz="quarter" idx="11"/>
          </p:nvPr>
        </p:nvSpPr>
        <p:spPr/>
        <p:txBody>
          <a:bodyPr/>
          <a:lstStyle/>
          <a:p>
            <a:endParaRPr lang="en-US" dirty="0"/>
          </a:p>
        </p:txBody>
      </p:sp>
      <p:sp>
        <p:nvSpPr>
          <p:cNvPr id="7" name="Marcador de número de diapositiva 6">
            <a:extLst>
              <a:ext uri="{FF2B5EF4-FFF2-40B4-BE49-F238E27FC236}">
                <a16:creationId xmlns:a16="http://schemas.microsoft.com/office/drawing/2014/main" id="{30B6D2E0-DCA4-341C-6777-1A7EAA8151F2}"/>
              </a:ext>
            </a:extLst>
          </p:cNvPr>
          <p:cNvSpPr>
            <a:spLocks noGrp="1"/>
          </p:cNvSpPr>
          <p:nvPr>
            <p:ph type="sldNum" sz="quarter" idx="12"/>
          </p:nvPr>
        </p:nvSpPr>
        <p:spPr/>
        <p:txBody>
          <a:bodyPr/>
          <a:lstStyle/>
          <a:p>
            <a:fld id="{8A7A6979-0714-4377-B894-6BE4C2D6E202}" type="slidenum">
              <a:rPr lang="en-US" smtClean="0"/>
              <a:t>‹Nº›</a:t>
            </a:fld>
            <a:endParaRPr lang="en-US" dirty="0"/>
          </a:p>
        </p:txBody>
      </p:sp>
    </p:spTree>
    <p:extLst>
      <p:ext uri="{BB962C8B-B14F-4D97-AF65-F5344CB8AC3E}">
        <p14:creationId xmlns:p14="http://schemas.microsoft.com/office/powerpoint/2010/main" val="658351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0556C2-DC96-E86C-CD49-CE4996BC954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F0CB426F-5612-FB17-8F20-664E7D22A078}"/>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dirty="0"/>
          </a:p>
        </p:txBody>
      </p:sp>
      <p:sp>
        <p:nvSpPr>
          <p:cNvPr id="4" name="Marcador de texto 3">
            <a:extLst>
              <a:ext uri="{FF2B5EF4-FFF2-40B4-BE49-F238E27FC236}">
                <a16:creationId xmlns:a16="http://schemas.microsoft.com/office/drawing/2014/main" id="{EFF4A70C-5212-3A87-0597-AD36D156C9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F97BD38-2CAF-E37C-478E-C70F5FD5D5B9}"/>
              </a:ext>
            </a:extLst>
          </p:cNvPr>
          <p:cNvSpPr>
            <a:spLocks noGrp="1"/>
          </p:cNvSpPr>
          <p:nvPr>
            <p:ph type="dt" sz="half" idx="10"/>
          </p:nvPr>
        </p:nvSpPr>
        <p:spPr/>
        <p:txBody>
          <a:bodyPr/>
          <a:lstStyle/>
          <a:p>
            <a:fld id="{042B0DB6-F5C7-45FB-8CF3-31B45F9C2DAC}" type="datetimeFigureOut">
              <a:rPr lang="en-US" smtClean="0"/>
              <a:t>8/30/2026</a:t>
            </a:fld>
            <a:endParaRPr lang="en-US" dirty="0"/>
          </a:p>
        </p:txBody>
      </p:sp>
      <p:sp>
        <p:nvSpPr>
          <p:cNvPr id="6" name="Marcador de pie de página 5">
            <a:extLst>
              <a:ext uri="{FF2B5EF4-FFF2-40B4-BE49-F238E27FC236}">
                <a16:creationId xmlns:a16="http://schemas.microsoft.com/office/drawing/2014/main" id="{B6B756AA-336C-CBBD-3BEF-99738E5B0F8F}"/>
              </a:ext>
            </a:extLst>
          </p:cNvPr>
          <p:cNvSpPr>
            <a:spLocks noGrp="1"/>
          </p:cNvSpPr>
          <p:nvPr>
            <p:ph type="ftr" sz="quarter" idx="11"/>
          </p:nvPr>
        </p:nvSpPr>
        <p:spPr/>
        <p:txBody>
          <a:bodyPr/>
          <a:lstStyle/>
          <a:p>
            <a:endParaRPr lang="en-US" dirty="0"/>
          </a:p>
        </p:txBody>
      </p:sp>
      <p:sp>
        <p:nvSpPr>
          <p:cNvPr id="7" name="Marcador de número de diapositiva 6">
            <a:extLst>
              <a:ext uri="{FF2B5EF4-FFF2-40B4-BE49-F238E27FC236}">
                <a16:creationId xmlns:a16="http://schemas.microsoft.com/office/drawing/2014/main" id="{AA9D646B-06C1-A689-F85F-AE2E024B8E43}"/>
              </a:ext>
            </a:extLst>
          </p:cNvPr>
          <p:cNvSpPr>
            <a:spLocks noGrp="1"/>
          </p:cNvSpPr>
          <p:nvPr>
            <p:ph type="sldNum" sz="quarter" idx="12"/>
          </p:nvPr>
        </p:nvSpPr>
        <p:spPr/>
        <p:txBody>
          <a:bodyPr/>
          <a:lstStyle/>
          <a:p>
            <a:fld id="{8A7A6979-0714-4377-B894-6BE4C2D6E202}" type="slidenum">
              <a:rPr lang="en-US" smtClean="0"/>
              <a:t>‹Nº›</a:t>
            </a:fld>
            <a:endParaRPr lang="en-US" dirty="0"/>
          </a:p>
        </p:txBody>
      </p:sp>
    </p:spTree>
    <p:extLst>
      <p:ext uri="{BB962C8B-B14F-4D97-AF65-F5344CB8AC3E}">
        <p14:creationId xmlns:p14="http://schemas.microsoft.com/office/powerpoint/2010/main" val="508225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D5B92A-D572-CAD3-0ECB-3394DCB6274C}"/>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6016E7C1-8179-5F21-556C-26DDC7A8CF9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4061AE55-7D3B-8C9C-2064-23E9005D23ED}"/>
              </a:ext>
            </a:extLst>
          </p:cNvPr>
          <p:cNvSpPr>
            <a:spLocks noGrp="1"/>
          </p:cNvSpPr>
          <p:nvPr>
            <p:ph type="dt" sz="half" idx="10"/>
          </p:nvPr>
        </p:nvSpPr>
        <p:spPr/>
        <p:txBody>
          <a:bodyPr/>
          <a:lstStyle/>
          <a:p>
            <a:fld id="{E9F9C37B-1D36-470B-8223-D6C91242EC14}" type="datetimeFigureOut">
              <a:rPr lang="en-US" smtClean="0"/>
              <a:t>8/30/2026</a:t>
            </a:fld>
            <a:endParaRPr lang="en-US" dirty="0"/>
          </a:p>
        </p:txBody>
      </p:sp>
      <p:sp>
        <p:nvSpPr>
          <p:cNvPr id="5" name="Marcador de pie de página 4">
            <a:extLst>
              <a:ext uri="{FF2B5EF4-FFF2-40B4-BE49-F238E27FC236}">
                <a16:creationId xmlns:a16="http://schemas.microsoft.com/office/drawing/2014/main" id="{74AE20F5-B166-4905-D263-08FFE616956C}"/>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21602F1E-3C41-93B5-C9E2-975DBAAF77E7}"/>
              </a:ext>
            </a:extLst>
          </p:cNvPr>
          <p:cNvSpPr>
            <a:spLocks noGrp="1"/>
          </p:cNvSpPr>
          <p:nvPr>
            <p:ph type="sldNum" sz="quarter" idx="12"/>
          </p:nvPr>
        </p:nvSpPr>
        <p:spPr/>
        <p:txBody>
          <a:bodyPr/>
          <a:lstStyle/>
          <a:p>
            <a:fld id="{8A7A6979-0714-4377-B894-6BE4C2D6E202}" type="slidenum">
              <a:rPr lang="en-US" smtClean="0"/>
              <a:t>‹Nº›</a:t>
            </a:fld>
            <a:endParaRPr lang="en-US" dirty="0"/>
          </a:p>
        </p:txBody>
      </p:sp>
    </p:spTree>
    <p:extLst>
      <p:ext uri="{BB962C8B-B14F-4D97-AF65-F5344CB8AC3E}">
        <p14:creationId xmlns:p14="http://schemas.microsoft.com/office/powerpoint/2010/main" val="858554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9696D5A-2488-1D2B-DE7A-4F89D55236C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18EC4AB9-BE4B-D056-99B1-398F10BC8632}"/>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28DFD2C0-70E0-501D-A796-67DF0837428A}"/>
              </a:ext>
            </a:extLst>
          </p:cNvPr>
          <p:cNvSpPr>
            <a:spLocks noGrp="1"/>
          </p:cNvSpPr>
          <p:nvPr>
            <p:ph type="dt" sz="half" idx="10"/>
          </p:nvPr>
        </p:nvSpPr>
        <p:spPr/>
        <p:txBody>
          <a:bodyPr/>
          <a:lstStyle/>
          <a:p>
            <a:fld id="{67C6F52A-A82B-47A2-A83A-8C4C91F2D59F}" type="datetimeFigureOut">
              <a:rPr lang="en-US" smtClean="0"/>
              <a:t>8/30/2026</a:t>
            </a:fld>
            <a:endParaRPr lang="en-US" dirty="0"/>
          </a:p>
        </p:txBody>
      </p:sp>
      <p:sp>
        <p:nvSpPr>
          <p:cNvPr id="5" name="Marcador de pie de página 4">
            <a:extLst>
              <a:ext uri="{FF2B5EF4-FFF2-40B4-BE49-F238E27FC236}">
                <a16:creationId xmlns:a16="http://schemas.microsoft.com/office/drawing/2014/main" id="{4BF98741-1355-6D48-6632-4FA5694B8D11}"/>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5FDE2E42-7A03-239E-02DE-3C53416708CB}"/>
              </a:ext>
            </a:extLst>
          </p:cNvPr>
          <p:cNvSpPr>
            <a:spLocks noGrp="1"/>
          </p:cNvSpPr>
          <p:nvPr>
            <p:ph type="sldNum" sz="quarter" idx="12"/>
          </p:nvPr>
        </p:nvSpPr>
        <p:spPr/>
        <p:txBody>
          <a:bodyPr/>
          <a:lstStyle/>
          <a:p>
            <a:fld id="{8A7A6979-0714-4377-B894-6BE4C2D6E202}" type="slidenum">
              <a:rPr lang="en-US" smtClean="0"/>
              <a:t>‹Nº›</a:t>
            </a:fld>
            <a:endParaRPr lang="en-US" dirty="0"/>
          </a:p>
        </p:txBody>
      </p:sp>
    </p:spTree>
    <p:extLst>
      <p:ext uri="{BB962C8B-B14F-4D97-AF65-F5344CB8AC3E}">
        <p14:creationId xmlns:p14="http://schemas.microsoft.com/office/powerpoint/2010/main" val="1071046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45EAA9C-1E83-D2F3-9F29-CCEF86E4AC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F3B3CCCA-7C31-23FD-3883-DE60C1DFC4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F32154FD-A226-CBA3-29BC-C7BC627F63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60EA64-D806-43AC-9DF2-F8C432F32B4C}" type="datetimeFigureOut">
              <a:rPr lang="en-US" smtClean="0"/>
              <a:t>8/30/2026</a:t>
            </a:fld>
            <a:endParaRPr lang="en-US" dirty="0"/>
          </a:p>
        </p:txBody>
      </p:sp>
      <p:sp>
        <p:nvSpPr>
          <p:cNvPr id="5" name="Marcador de pie de página 4">
            <a:extLst>
              <a:ext uri="{FF2B5EF4-FFF2-40B4-BE49-F238E27FC236}">
                <a16:creationId xmlns:a16="http://schemas.microsoft.com/office/drawing/2014/main" id="{C9749FA6-CA14-2645-14F2-F885DCA480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Marcador de número de diapositiva 5">
            <a:extLst>
              <a:ext uri="{FF2B5EF4-FFF2-40B4-BE49-F238E27FC236}">
                <a16:creationId xmlns:a16="http://schemas.microsoft.com/office/drawing/2014/main" id="{072CC03D-F439-94EA-9927-D900766C0A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7A6979-0714-4377-B894-6BE4C2D6E202}" type="slidenum">
              <a:rPr lang="en-US" smtClean="0"/>
              <a:pPr/>
              <a:t>‹Nº›</a:t>
            </a:fld>
            <a:endParaRPr lang="en-US" dirty="0"/>
          </a:p>
        </p:txBody>
      </p:sp>
    </p:spTree>
    <p:extLst>
      <p:ext uri="{BB962C8B-B14F-4D97-AF65-F5344CB8AC3E}">
        <p14:creationId xmlns:p14="http://schemas.microsoft.com/office/powerpoint/2010/main" val="1173412920"/>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tmp"/><Relationship Id="rId7" Type="http://schemas.openxmlformats.org/officeDocument/2006/relationships/image" Target="../media/image21.tmp"/><Relationship Id="rId2" Type="http://schemas.openxmlformats.org/officeDocument/2006/relationships/image" Target="../media/image16.tmp"/><Relationship Id="rId1" Type="http://schemas.openxmlformats.org/officeDocument/2006/relationships/slideLayout" Target="../slideLayouts/slideLayout7.xml"/><Relationship Id="rId6" Type="http://schemas.openxmlformats.org/officeDocument/2006/relationships/image" Target="../media/image20.tmp"/><Relationship Id="rId5" Type="http://schemas.openxmlformats.org/officeDocument/2006/relationships/image" Target="../media/image19.tmp"/><Relationship Id="rId4" Type="http://schemas.openxmlformats.org/officeDocument/2006/relationships/image" Target="../media/image18.tmp"/></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737358" y="174172"/>
            <a:ext cx="8334105" cy="1114301"/>
          </a:xfrm>
        </p:spPr>
        <p:txBody>
          <a:bodyPr>
            <a:normAutofit/>
          </a:bodyPr>
          <a:lstStyle/>
          <a:p>
            <a:pPr>
              <a:tabLst>
                <a:tab pos="720725" algn="l"/>
              </a:tabLst>
            </a:pPr>
            <a:r>
              <a:rPr lang="en-US" sz="3600" dirty="0">
                <a:solidFill>
                  <a:schemeClr val="accent1">
                    <a:lumMod val="75000"/>
                  </a:schemeClr>
                </a:solidFill>
                <a:latin typeface="+mn-lt"/>
              </a:rPr>
              <a:t>ENFOQUE OBSTETRICO Y PEDIATRICO DE LAS INFECCIONES</a:t>
            </a:r>
          </a:p>
        </p:txBody>
      </p:sp>
      <p:sp>
        <p:nvSpPr>
          <p:cNvPr id="3" name="Subtítulo 2"/>
          <p:cNvSpPr>
            <a:spLocks noGrp="1"/>
          </p:cNvSpPr>
          <p:nvPr>
            <p:ph type="subTitle" idx="1"/>
          </p:nvPr>
        </p:nvSpPr>
        <p:spPr>
          <a:xfrm>
            <a:off x="6296296" y="5982789"/>
            <a:ext cx="5895703" cy="779254"/>
          </a:xfrm>
        </p:spPr>
        <p:txBody>
          <a:bodyPr>
            <a:normAutofit fontScale="92500" lnSpcReduction="10000"/>
          </a:bodyPr>
          <a:lstStyle/>
          <a:p>
            <a:pPr algn="r"/>
            <a:r>
              <a:rPr lang="es-AR" dirty="0"/>
              <a:t>Dra Cristina Salvador -  Enfermedades Infecciosas </a:t>
            </a:r>
          </a:p>
          <a:p>
            <a:pPr algn="r"/>
            <a:r>
              <a:rPr lang="es-AR" dirty="0"/>
              <a:t>Facultad de Ciencias Medicas- U.M. San Rafael</a:t>
            </a:r>
            <a:endParaRPr lang="en-US" dirty="0"/>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5282" y="1525979"/>
            <a:ext cx="5598256" cy="4219303"/>
          </a:xfrm>
          <a:prstGeom prst="rect">
            <a:avLst/>
          </a:prstGeom>
          <a:ln>
            <a:solidFill>
              <a:schemeClr val="accent1">
                <a:lumMod val="20000"/>
                <a:lumOff val="80000"/>
              </a:schemeClr>
            </a:solidFill>
          </a:ln>
        </p:spPr>
      </p:pic>
    </p:spTree>
    <p:extLst>
      <p:ext uri="{BB962C8B-B14F-4D97-AF65-F5344CB8AC3E}">
        <p14:creationId xmlns:p14="http://schemas.microsoft.com/office/powerpoint/2010/main" val="3489959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1999" cy="1027289"/>
          </a:xfrm>
        </p:spPr>
        <p:txBody>
          <a:bodyPr>
            <a:normAutofit/>
          </a:bodyPr>
          <a:lstStyle/>
          <a:p>
            <a:pPr algn="ctr"/>
            <a:r>
              <a:rPr lang="es-ES" sz="4000" dirty="0"/>
              <a:t>Evaluación serológica precoz durante la gestación</a:t>
            </a:r>
            <a:endParaRPr lang="en-US" sz="4000" dirty="0"/>
          </a:p>
        </p:txBody>
      </p:sp>
      <p:sp>
        <p:nvSpPr>
          <p:cNvPr id="3" name="Marcador de contenido 2"/>
          <p:cNvSpPr>
            <a:spLocks noGrp="1"/>
          </p:cNvSpPr>
          <p:nvPr>
            <p:ph idx="1"/>
          </p:nvPr>
        </p:nvSpPr>
        <p:spPr>
          <a:xfrm>
            <a:off x="0" y="831273"/>
            <a:ext cx="12192000" cy="6026727"/>
          </a:xfrm>
        </p:spPr>
        <p:txBody>
          <a:bodyPr>
            <a:normAutofit/>
          </a:bodyPr>
          <a:lstStyle/>
          <a:p>
            <a:pPr marL="0" indent="0">
              <a:buNone/>
            </a:pPr>
            <a:r>
              <a:rPr lang="es-ES" b="1" dirty="0"/>
              <a:t>Siempre: </a:t>
            </a:r>
          </a:p>
          <a:p>
            <a:pPr marL="0" indent="0">
              <a:buNone/>
            </a:pPr>
            <a:r>
              <a:rPr lang="es-ES" sz="2000" dirty="0"/>
              <a:t>                   </a:t>
            </a:r>
            <a:r>
              <a:rPr lang="es-ES" sz="2400" dirty="0"/>
              <a:t>• VDRL </a:t>
            </a:r>
          </a:p>
          <a:p>
            <a:pPr marL="0" indent="0">
              <a:buNone/>
            </a:pPr>
            <a:r>
              <a:rPr lang="es-ES" sz="2400" dirty="0"/>
              <a:t>                • HIV (ELISA) (a menos que tenga infección documentada previa al embarazo) </a:t>
            </a:r>
          </a:p>
          <a:p>
            <a:pPr marL="0" indent="0">
              <a:buNone/>
            </a:pPr>
            <a:r>
              <a:rPr lang="es-ES" sz="2400" dirty="0"/>
              <a:t>                • Ag sup HB (a menos que tenga Ac HBs positivos por enfermedad previa o vacuna). </a:t>
            </a:r>
          </a:p>
          <a:p>
            <a:pPr marL="0" indent="0">
              <a:buNone/>
            </a:pPr>
            <a:r>
              <a:rPr lang="es-ES" sz="2400" dirty="0"/>
              <a:t>                • CHAGAS: IgG por 2 métodos diferentes, a menos que tenga Chagas crónico. </a:t>
            </a:r>
          </a:p>
          <a:p>
            <a:pPr marL="0" indent="0">
              <a:buNone/>
            </a:pPr>
            <a:r>
              <a:rPr lang="es-ES" sz="2400" dirty="0"/>
              <a:t>                • Urocultivo (no solo sedimento de orina) </a:t>
            </a:r>
          </a:p>
          <a:p>
            <a:pPr marL="0" indent="0">
              <a:buNone/>
            </a:pPr>
            <a:r>
              <a:rPr lang="es-ES" b="1" dirty="0"/>
              <a:t>Si no tiene controles previos o son (-):</a:t>
            </a:r>
            <a:r>
              <a:rPr lang="es-ES" dirty="0"/>
              <a:t> </a:t>
            </a:r>
            <a:r>
              <a:rPr lang="es-ES" sz="2400" dirty="0"/>
              <a:t>IgG p/ toxoplasmosis (ELISA) -   IgG p/ rubéola (ELISA) </a:t>
            </a:r>
          </a:p>
          <a:p>
            <a:pPr marL="0" indent="0">
              <a:buNone/>
            </a:pPr>
            <a:r>
              <a:rPr lang="es-ES" b="1" dirty="0"/>
              <a:t>Si no tiene antecedentes de varicela, ni sarampión </a:t>
            </a:r>
            <a:r>
              <a:rPr lang="es-ES" dirty="0"/>
              <a:t>(o tiene menos de 2 dosis de vacuna sarampión): </a:t>
            </a:r>
            <a:r>
              <a:rPr lang="es-ES" sz="2400" dirty="0"/>
              <a:t>IgG p/ varicela (ELISA) -   IgG p/ sarampión (ELISA) </a:t>
            </a:r>
          </a:p>
          <a:p>
            <a:pPr marL="0" indent="0">
              <a:buNone/>
            </a:pPr>
            <a:r>
              <a:rPr lang="es-ES" b="1" dirty="0"/>
              <a:t>Si tuvo hepatitis o recibió transfusiones de sangre: </a:t>
            </a:r>
            <a:r>
              <a:rPr lang="es-ES" sz="2000" dirty="0"/>
              <a:t> </a:t>
            </a:r>
            <a:r>
              <a:rPr lang="es-ES" sz="2400" dirty="0"/>
              <a:t>IgG p/ hepatitis C (ELISA) </a:t>
            </a:r>
          </a:p>
          <a:p>
            <a:pPr marL="0" indent="0">
              <a:buNone/>
            </a:pPr>
            <a:r>
              <a:rPr lang="es-ES" b="1" dirty="0"/>
              <a:t>Si convive con niños menores de 6 año</a:t>
            </a:r>
            <a:r>
              <a:rPr lang="es-ES" dirty="0"/>
              <a:t>s</a:t>
            </a:r>
            <a:r>
              <a:rPr lang="es-ES" sz="2600" dirty="0"/>
              <a:t>:  </a:t>
            </a:r>
            <a:r>
              <a:rPr lang="es-ES" sz="2400" dirty="0"/>
              <a:t>Medidas higiénicas para prevenir CMV </a:t>
            </a:r>
            <a:endParaRPr lang="en-US" sz="2400" dirty="0"/>
          </a:p>
        </p:txBody>
      </p:sp>
      <p:sp>
        <p:nvSpPr>
          <p:cNvPr id="4" name="Rectángulo 3"/>
          <p:cNvSpPr/>
          <p:nvPr/>
        </p:nvSpPr>
        <p:spPr>
          <a:xfrm>
            <a:off x="5195455" y="831273"/>
            <a:ext cx="6636326" cy="71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000" dirty="0"/>
              <a:t>VDRL-HIV-HBSAG-CHAGAS-UROCULTIVO-TOXO-RUBEOLA</a:t>
            </a:r>
            <a:endParaRPr lang="en-US" sz="2000" dirty="0"/>
          </a:p>
        </p:txBody>
      </p:sp>
    </p:spTree>
    <p:extLst>
      <p:ext uri="{BB962C8B-B14F-4D97-AF65-F5344CB8AC3E}">
        <p14:creationId xmlns:p14="http://schemas.microsoft.com/office/powerpoint/2010/main" val="3078114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562495" y="0"/>
            <a:ext cx="7067005" cy="756356"/>
          </a:xfrm>
        </p:spPr>
        <p:txBody>
          <a:bodyPr/>
          <a:lstStyle/>
          <a:p>
            <a:r>
              <a:rPr lang="es-ES" dirty="0"/>
              <a:t>Repetir durante el embarazo</a:t>
            </a:r>
            <a:endParaRPr lang="en-US" dirty="0"/>
          </a:p>
        </p:txBody>
      </p:sp>
      <p:sp>
        <p:nvSpPr>
          <p:cNvPr id="3" name="Marcador de contenido 2"/>
          <p:cNvSpPr>
            <a:spLocks noGrp="1"/>
          </p:cNvSpPr>
          <p:nvPr>
            <p:ph idx="1"/>
          </p:nvPr>
        </p:nvSpPr>
        <p:spPr>
          <a:xfrm>
            <a:off x="0" y="835378"/>
            <a:ext cx="12192000" cy="6022622"/>
          </a:xfrm>
        </p:spPr>
        <p:txBody>
          <a:bodyPr>
            <a:normAutofit/>
          </a:bodyPr>
          <a:lstStyle/>
          <a:p>
            <a:pPr marL="0" indent="0">
              <a:buNone/>
            </a:pPr>
            <a:endParaRPr lang="es-ES" sz="2000" dirty="0"/>
          </a:p>
          <a:p>
            <a:pPr marL="0" indent="0">
              <a:buNone/>
            </a:pPr>
            <a:endParaRPr lang="es-ES" sz="2000" dirty="0"/>
          </a:p>
          <a:p>
            <a:pPr marL="0" indent="0">
              <a:buNone/>
            </a:pPr>
            <a:endParaRPr lang="es-ES" sz="2000" dirty="0"/>
          </a:p>
          <a:p>
            <a:pPr marL="0" indent="0">
              <a:buNone/>
            </a:pPr>
            <a:endParaRPr lang="es-ES" sz="2000" dirty="0"/>
          </a:p>
          <a:p>
            <a:pPr marL="0" indent="0">
              <a:buNone/>
            </a:pPr>
            <a:r>
              <a:rPr lang="es-ES" sz="2000" dirty="0"/>
              <a:t>Las guías nacionales en Argentina recomiendan: </a:t>
            </a:r>
          </a:p>
          <a:p>
            <a:pPr marL="0" indent="0">
              <a:buNone/>
            </a:pPr>
            <a:r>
              <a:rPr lang="es-ES" sz="2400" b="1" dirty="0"/>
              <a:t>Repetir 3° trimestre</a:t>
            </a:r>
            <a:r>
              <a:rPr lang="es-ES" sz="2400" dirty="0"/>
              <a:t>. </a:t>
            </a:r>
          </a:p>
          <a:p>
            <a:pPr marL="0" indent="0">
              <a:buNone/>
            </a:pPr>
            <a:r>
              <a:rPr lang="es-ES" sz="2400" dirty="0"/>
              <a:t>• </a:t>
            </a:r>
            <a:r>
              <a:rPr lang="es-ES" sz="2400" b="1" dirty="0"/>
              <a:t>Toxoplasmosi</a:t>
            </a:r>
            <a:r>
              <a:rPr lang="es-ES" sz="2400" dirty="0"/>
              <a:t>s, con serología inicial (-), una vez por trimestre (IgG) y asesorar sobre las medidas higiénico-dietéticas. </a:t>
            </a:r>
          </a:p>
          <a:p>
            <a:pPr marL="0" indent="0">
              <a:buNone/>
            </a:pPr>
            <a:r>
              <a:rPr lang="es-ES" sz="2400" dirty="0"/>
              <a:t>• </a:t>
            </a:r>
            <a:r>
              <a:rPr lang="es-ES" sz="2400" b="1" dirty="0"/>
              <a:t>Urocultivo</a:t>
            </a:r>
            <a:r>
              <a:rPr lang="es-ES" sz="2400" dirty="0"/>
              <a:t>, en pacientes con Infección urinaria recurrente, litiasis renal, alteraciones anatómicas y/o funcionales de la vía urinaria. </a:t>
            </a:r>
          </a:p>
          <a:p>
            <a:pPr marL="0" indent="0">
              <a:buNone/>
            </a:pPr>
            <a:r>
              <a:rPr lang="es-ES" sz="2400" b="1" dirty="0"/>
              <a:t>Después de las 35 - 37 sem. de gestación</a:t>
            </a:r>
            <a:r>
              <a:rPr lang="es-ES" sz="2400" dirty="0"/>
              <a:t>: </a:t>
            </a:r>
          </a:p>
          <a:p>
            <a:pPr marL="0" indent="0">
              <a:buNone/>
            </a:pPr>
            <a:r>
              <a:rPr lang="es-ES" sz="2400" dirty="0"/>
              <a:t>• Cultivo vaginal y rectal, búsqueda de EGB (</a:t>
            </a:r>
            <a:r>
              <a:rPr lang="es-ES" sz="2400" i="1" dirty="0"/>
              <a:t>estreptococo beta hemolítico Grupo B</a:t>
            </a:r>
            <a:r>
              <a:rPr lang="es-ES" sz="2400" dirty="0"/>
              <a:t>). </a:t>
            </a:r>
          </a:p>
          <a:p>
            <a:pPr marL="0" indent="0">
              <a:buNone/>
            </a:pPr>
            <a:r>
              <a:rPr lang="es-ES" sz="2400" dirty="0"/>
              <a:t>• Si tiene antecedente de herpes genital, comenzar con Aciclovir 400mg/dosis, 2 veces por día, hasta el part</a:t>
            </a:r>
            <a:r>
              <a:rPr lang="es-ES" sz="2000" dirty="0"/>
              <a:t>o. </a:t>
            </a:r>
            <a:endParaRPr lang="en-US" sz="2000" dirty="0"/>
          </a:p>
        </p:txBody>
      </p:sp>
      <p:sp>
        <p:nvSpPr>
          <p:cNvPr id="5" name="Elipse 4"/>
          <p:cNvSpPr/>
          <p:nvPr/>
        </p:nvSpPr>
        <p:spPr>
          <a:xfrm>
            <a:off x="1729538" y="756356"/>
            <a:ext cx="8732917" cy="1700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2000" dirty="0"/>
              <a:t>                                  </a:t>
            </a:r>
          </a:p>
          <a:p>
            <a:r>
              <a:rPr lang="es-ES" sz="2000" dirty="0"/>
              <a:t>                   </a:t>
            </a:r>
            <a:r>
              <a:rPr lang="es-ES" sz="2400" dirty="0">
                <a:solidFill>
                  <a:schemeClr val="bg1"/>
                </a:solidFill>
              </a:rPr>
              <a:t>HIV: 2° y 3° trimestre</a:t>
            </a:r>
          </a:p>
          <a:p>
            <a:r>
              <a:rPr lang="es-ES" sz="2400" dirty="0">
                <a:solidFill>
                  <a:schemeClr val="bg1"/>
                </a:solidFill>
              </a:rPr>
              <a:t>                VDRL: 2°-3° y puerperio.</a:t>
            </a:r>
          </a:p>
          <a:p>
            <a:r>
              <a:rPr lang="es-ES" sz="2400" dirty="0">
                <a:solidFill>
                  <a:schemeClr val="bg1"/>
                </a:solidFill>
              </a:rPr>
              <a:t>                Ag S HB:  sólo con factores de riesgo</a:t>
            </a:r>
          </a:p>
          <a:p>
            <a:endParaRPr lang="es-ES" sz="2000" dirty="0"/>
          </a:p>
        </p:txBody>
      </p:sp>
    </p:spTree>
    <p:extLst>
      <p:ext uri="{BB962C8B-B14F-4D97-AF65-F5344CB8AC3E}">
        <p14:creationId xmlns:p14="http://schemas.microsoft.com/office/powerpoint/2010/main" val="364378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11015" y="0"/>
            <a:ext cx="11633982" cy="1128889"/>
          </a:xfrm>
        </p:spPr>
        <p:txBody>
          <a:bodyPr>
            <a:normAutofit fontScale="90000"/>
          </a:bodyPr>
          <a:lstStyle/>
          <a:p>
            <a:pPr algn="ctr"/>
            <a:r>
              <a:rPr lang="es-ES" dirty="0"/>
              <a:t>Abordaje diagnóstico en la embarazada y recién nacido de las infecciones mas importantes</a:t>
            </a:r>
            <a:endParaRPr lang="en-US" dirty="0"/>
          </a:p>
        </p:txBody>
      </p:sp>
      <p:sp>
        <p:nvSpPr>
          <p:cNvPr id="3" name="Marcador de contenido 2"/>
          <p:cNvSpPr>
            <a:spLocks noGrp="1"/>
          </p:cNvSpPr>
          <p:nvPr>
            <p:ph idx="1"/>
          </p:nvPr>
        </p:nvSpPr>
        <p:spPr>
          <a:xfrm>
            <a:off x="0" y="1241779"/>
            <a:ext cx="12192000" cy="5616222"/>
          </a:xfrm>
        </p:spPr>
        <p:txBody>
          <a:bodyPr>
            <a:normAutofit fontScale="70000" lnSpcReduction="20000"/>
          </a:bodyPr>
          <a:lstStyle/>
          <a:p>
            <a:endParaRPr lang="es-ES" dirty="0"/>
          </a:p>
          <a:p>
            <a:r>
              <a:rPr lang="es-ES" sz="4000" dirty="0"/>
              <a:t>La palabra TORCHS (toxoplasmosis, otras, rubeola, citomegalovirus, herpes, Sífilis) </a:t>
            </a:r>
          </a:p>
          <a:p>
            <a:pPr marL="457200" lvl="1" indent="0">
              <a:buNone/>
            </a:pPr>
            <a:r>
              <a:rPr lang="es-ES" sz="3600" dirty="0">
                <a:latin typeface="Calibri" panose="020F0502020204030204" pitchFamily="34" charset="0"/>
              </a:rPr>
              <a:t>Otras: </a:t>
            </a:r>
            <a:r>
              <a:rPr lang="es-AR" sz="3600" dirty="0">
                <a:latin typeface="Calibri" panose="020F0502020204030204" pitchFamily="34" charset="0"/>
              </a:rPr>
              <a:t>varicela, parotiditis, parvovirus y VIH.</a:t>
            </a:r>
          </a:p>
          <a:p>
            <a:endParaRPr lang="es-ES" sz="4000" dirty="0"/>
          </a:p>
          <a:p>
            <a:r>
              <a:rPr lang="es-ES" sz="4000" dirty="0"/>
              <a:t>Identifica a varios agentes causales con riesgo potencial de infección intrauterina. Algunos utilizan el termino para identificar un conjunto de síntomas o signos que nos hacen sospechar una infección congénita.</a:t>
            </a:r>
          </a:p>
          <a:p>
            <a:endParaRPr lang="es-ES" sz="4000" dirty="0"/>
          </a:p>
          <a:p>
            <a:r>
              <a:rPr lang="es-ES" sz="4000" dirty="0"/>
              <a:t>La probabilidad: &lt; 1%. </a:t>
            </a:r>
          </a:p>
          <a:p>
            <a:endParaRPr lang="es-ES" sz="4000" dirty="0"/>
          </a:p>
          <a:p>
            <a:r>
              <a:rPr lang="es-ES" sz="4000" dirty="0"/>
              <a:t>Difícil diagnostico: Muchas infecciones son asintomáticas.</a:t>
            </a:r>
          </a:p>
          <a:p>
            <a:pPr marL="0" indent="0">
              <a:buNone/>
            </a:pPr>
            <a:r>
              <a:rPr lang="es-ES" sz="4000" dirty="0"/>
              <a:t>   La mayoría de los RN están bien de salud al nacer.</a:t>
            </a:r>
          </a:p>
          <a:p>
            <a:pPr marL="0" indent="0">
              <a:buNone/>
            </a:pPr>
            <a:endParaRPr lang="es-ES" sz="4000" dirty="0"/>
          </a:p>
          <a:p>
            <a:r>
              <a:rPr lang="es-ES" sz="4000" dirty="0"/>
              <a:t>Prevención: Adecuado control preconcepcional y prenatal.</a:t>
            </a:r>
          </a:p>
          <a:p>
            <a:endParaRPr lang="es-ES" sz="3400" dirty="0"/>
          </a:p>
          <a:p>
            <a:endParaRPr lang="es-ES" sz="2000" dirty="0"/>
          </a:p>
          <a:p>
            <a:endParaRPr lang="en-US"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46364" y="4049890"/>
            <a:ext cx="3445636" cy="2615737"/>
          </a:xfrm>
          <a:prstGeom prst="rect">
            <a:avLst/>
          </a:prstGeom>
        </p:spPr>
      </p:pic>
    </p:spTree>
    <p:extLst>
      <p:ext uri="{BB962C8B-B14F-4D97-AF65-F5344CB8AC3E}">
        <p14:creationId xmlns:p14="http://schemas.microsoft.com/office/powerpoint/2010/main" val="3592944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349500" y="110837"/>
            <a:ext cx="7696200" cy="581890"/>
          </a:xfrm>
        </p:spPr>
        <p:txBody>
          <a:bodyPr>
            <a:normAutofit fontScale="90000"/>
          </a:bodyPr>
          <a:lstStyle/>
          <a:p>
            <a:pPr algn="ctr"/>
            <a:r>
              <a:rPr lang="es-ES" dirty="0"/>
              <a:t>RN con sospecha de TORCH</a:t>
            </a:r>
            <a:endParaRPr lang="en-US" dirty="0"/>
          </a:p>
        </p:txBody>
      </p:sp>
      <p:pic>
        <p:nvPicPr>
          <p:cNvPr id="6" name="Marcador de contenido 3"/>
          <p:cNvPicPr>
            <a:picLocks noGrp="1" noChangeAspect="1"/>
          </p:cNvPicPr>
          <p:nvPr>
            <p:ph sz="half" idx="4294967295"/>
          </p:nvPr>
        </p:nvPicPr>
        <p:blipFill>
          <a:blip r:embed="rId2">
            <a:extLst>
              <a:ext uri="{28A0092B-C50C-407E-A947-70E740481C1C}">
                <a14:useLocalDpi xmlns:a14="http://schemas.microsoft.com/office/drawing/2010/main" val="0"/>
              </a:ext>
            </a:extLst>
          </a:blip>
          <a:stretch>
            <a:fillRect/>
          </a:stretch>
        </p:blipFill>
        <p:spPr>
          <a:xfrm>
            <a:off x="1444625" y="789710"/>
            <a:ext cx="9302750" cy="4696690"/>
          </a:xfrm>
        </p:spPr>
      </p:pic>
      <p:sp>
        <p:nvSpPr>
          <p:cNvPr id="9" name="Rectángulo redondeado 8"/>
          <p:cNvSpPr/>
          <p:nvPr/>
        </p:nvSpPr>
        <p:spPr>
          <a:xfrm>
            <a:off x="297873" y="5693944"/>
            <a:ext cx="11596254" cy="10532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Recordar </a:t>
            </a:r>
          </a:p>
          <a:p>
            <a:r>
              <a:rPr lang="es-ES" sz="2400" dirty="0"/>
              <a:t>IgG atraviesan la placenta, tienen una vida media de seis a nueve meses.</a:t>
            </a:r>
          </a:p>
          <a:p>
            <a:r>
              <a:rPr lang="es-ES" sz="2400" dirty="0"/>
              <a:t>IgM pueden tener resultados falsos positivos, por lo que se prefieren los métodos directos</a:t>
            </a:r>
            <a:endParaRPr lang="en-US" sz="2400" dirty="0"/>
          </a:p>
        </p:txBody>
      </p:sp>
    </p:spTree>
    <p:extLst>
      <p:ext uri="{BB962C8B-B14F-4D97-AF65-F5344CB8AC3E}">
        <p14:creationId xmlns:p14="http://schemas.microsoft.com/office/powerpoint/2010/main" val="3813402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EAE1EC-5D88-7AAE-15B6-21646A7EA546}"/>
              </a:ext>
            </a:extLst>
          </p:cNvPr>
          <p:cNvSpPr>
            <a:spLocks noGrp="1"/>
          </p:cNvSpPr>
          <p:nvPr>
            <p:ph type="title"/>
          </p:nvPr>
        </p:nvSpPr>
        <p:spPr>
          <a:xfrm>
            <a:off x="2231136" y="193965"/>
            <a:ext cx="7729728" cy="720436"/>
          </a:xfrm>
        </p:spPr>
        <p:txBody>
          <a:bodyPr>
            <a:normAutofit/>
          </a:bodyPr>
          <a:lstStyle/>
          <a:p>
            <a:pPr algn="ctr"/>
            <a:r>
              <a:rPr lang="es-AR" b="1" dirty="0">
                <a:solidFill>
                  <a:schemeClr val="accent1"/>
                </a:solidFill>
              </a:rPr>
              <a:t>TOXOPLASMOSIS</a:t>
            </a:r>
          </a:p>
        </p:txBody>
      </p:sp>
      <p:sp>
        <p:nvSpPr>
          <p:cNvPr id="4" name="CuadroTexto 3">
            <a:extLst>
              <a:ext uri="{FF2B5EF4-FFF2-40B4-BE49-F238E27FC236}">
                <a16:creationId xmlns:a16="http://schemas.microsoft.com/office/drawing/2014/main" id="{29C6B3A3-DEEA-B508-DE01-B278F77533F7}"/>
              </a:ext>
            </a:extLst>
          </p:cNvPr>
          <p:cNvSpPr txBox="1"/>
          <p:nvPr/>
        </p:nvSpPr>
        <p:spPr>
          <a:xfrm>
            <a:off x="152400" y="914401"/>
            <a:ext cx="11887200" cy="6894195"/>
          </a:xfrm>
          <a:prstGeom prst="rect">
            <a:avLst/>
          </a:prstGeom>
          <a:noFill/>
        </p:spPr>
        <p:txBody>
          <a:bodyPr wrap="square">
            <a:spAutoFit/>
          </a:bodyPr>
          <a:lstStyle/>
          <a:p>
            <a:pPr marL="457200" indent="-457200">
              <a:spcBef>
                <a:spcPts val="1600"/>
              </a:spcBef>
              <a:buFont typeface="Arial" panose="020B0604020202020204" pitchFamily="34" charset="0"/>
              <a:buChar char="•"/>
            </a:pPr>
            <a:r>
              <a:rPr lang="es-AR" sz="2800" dirty="0"/>
              <a:t>Zoonosis más frecuente en humanos. Es una </a:t>
            </a:r>
            <a:r>
              <a:rPr lang="es-ES" sz="2800" dirty="0"/>
              <a:t>Infección cosmopolita.</a:t>
            </a:r>
          </a:p>
          <a:p>
            <a:pPr marL="457200" indent="-457200">
              <a:spcBef>
                <a:spcPts val="1600"/>
              </a:spcBef>
              <a:buFont typeface="Arial" panose="020B0604020202020204" pitchFamily="34" charset="0"/>
              <a:buChar char="•"/>
            </a:pPr>
            <a:r>
              <a:rPr lang="es-AR" sz="2800" dirty="0"/>
              <a:t>Etiología: </a:t>
            </a:r>
            <a:r>
              <a:rPr lang="es-AR" sz="2800" b="1" i="1" dirty="0"/>
              <a:t>Toxoplasma gondii</a:t>
            </a:r>
          </a:p>
          <a:p>
            <a:pPr marL="457200" indent="-457200">
              <a:spcBef>
                <a:spcPts val="1600"/>
              </a:spcBef>
              <a:buFont typeface="Arial" panose="020B0604020202020204" pitchFamily="34" charset="0"/>
              <a:buChar char="•"/>
            </a:pPr>
            <a:r>
              <a:rPr lang="es-AR" sz="2800" dirty="0"/>
              <a:t>Riesgo de transmisión vertical, si la </a:t>
            </a:r>
            <a:r>
              <a:rPr lang="es-AR" sz="2800" b="1" dirty="0"/>
              <a:t>primoinfección</a:t>
            </a:r>
            <a:r>
              <a:rPr lang="es-AR" sz="2800" dirty="0"/>
              <a:t> es durante la gestación.</a:t>
            </a:r>
          </a:p>
          <a:p>
            <a:pPr marL="457200" indent="-457200">
              <a:spcBef>
                <a:spcPts val="1600"/>
              </a:spcBef>
              <a:buFont typeface="Arial" panose="020B0604020202020204" pitchFamily="34" charset="0"/>
              <a:buChar char="•"/>
            </a:pPr>
            <a:r>
              <a:rPr lang="es-AR" sz="2800" dirty="0"/>
              <a:t>Morbimortalidad significativa en el feto  y recién nacido con posibles secuelas</a:t>
            </a:r>
            <a:br>
              <a:rPr lang="es-AR" sz="2800" dirty="0"/>
            </a:br>
            <a:r>
              <a:rPr lang="es-AR" sz="2800" dirty="0"/>
              <a:t> a largo plazo en niños y adultos.</a:t>
            </a:r>
          </a:p>
          <a:p>
            <a:pPr marL="457200" indent="-457200">
              <a:spcBef>
                <a:spcPts val="1600"/>
              </a:spcBef>
              <a:buFont typeface="Arial" panose="020B0604020202020204" pitchFamily="34" charset="0"/>
              <a:buChar char="•"/>
            </a:pPr>
            <a:r>
              <a:rPr lang="es-AR" sz="2800" dirty="0"/>
              <a:t>Ansiedad, preocupación y dudas en gestantes y familiares, muchas veces sin  lograr disiparlas.</a:t>
            </a:r>
          </a:p>
          <a:p>
            <a:pPr marL="457200" indent="-457200">
              <a:spcBef>
                <a:spcPts val="1600"/>
              </a:spcBef>
              <a:buFont typeface="Arial" panose="020B0604020202020204" pitchFamily="34" charset="0"/>
              <a:buChar char="•"/>
            </a:pPr>
            <a:r>
              <a:rPr lang="es-AR" sz="2800" dirty="0"/>
              <a:t>No se contraindica lactancia.</a:t>
            </a:r>
          </a:p>
          <a:p>
            <a:pPr marL="457200" indent="-457200">
              <a:spcBef>
                <a:spcPts val="1600"/>
              </a:spcBef>
              <a:buClr>
                <a:srgbClr val="0DB7C4"/>
              </a:buClr>
              <a:buSzPts val="2400"/>
              <a:buFont typeface="Arial" panose="020B0604020202020204" pitchFamily="34" charset="0"/>
              <a:buChar char="•"/>
            </a:pPr>
            <a:r>
              <a:rPr lang="es-ES" sz="2800" dirty="0"/>
              <a:t>Reagudizaciones principalmente en HIV (Estadio SIDA).</a:t>
            </a:r>
          </a:p>
          <a:p>
            <a:pPr>
              <a:spcBef>
                <a:spcPts val="1600"/>
              </a:spcBef>
            </a:pPr>
            <a:endParaRPr lang="es-ES" sz="2800" dirty="0"/>
          </a:p>
          <a:p>
            <a:pPr>
              <a:spcBef>
                <a:spcPts val="1600"/>
              </a:spcBef>
            </a:pPr>
            <a:endParaRPr lang="es-AR" sz="2400" dirty="0"/>
          </a:p>
          <a:p>
            <a:pPr>
              <a:spcBef>
                <a:spcPts val="1600"/>
              </a:spcBef>
            </a:pPr>
            <a:endParaRPr lang="es-AR" dirty="0"/>
          </a:p>
        </p:txBody>
      </p:sp>
    </p:spTree>
    <p:extLst>
      <p:ext uri="{BB962C8B-B14F-4D97-AF65-F5344CB8AC3E}">
        <p14:creationId xmlns:p14="http://schemas.microsoft.com/office/powerpoint/2010/main" val="2838568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1177C402-E214-D82E-3EC2-5FCC52116447}"/>
              </a:ext>
            </a:extLst>
          </p:cNvPr>
          <p:cNvSpPr>
            <a:spLocks noGrp="1"/>
          </p:cNvSpPr>
          <p:nvPr>
            <p:ph type="title"/>
          </p:nvPr>
        </p:nvSpPr>
        <p:spPr>
          <a:xfrm>
            <a:off x="2231136" y="154745"/>
            <a:ext cx="7729728" cy="689317"/>
          </a:xfrm>
        </p:spPr>
        <p:txBody>
          <a:bodyPr>
            <a:normAutofit fontScale="90000"/>
          </a:bodyPr>
          <a:lstStyle/>
          <a:p>
            <a:r>
              <a:rPr lang="es-AR" dirty="0"/>
              <a:t>Transmisión de Toxoplasmosis</a:t>
            </a:r>
          </a:p>
        </p:txBody>
      </p:sp>
      <p:pic>
        <p:nvPicPr>
          <p:cNvPr id="5" name="Marcador de contenido 4">
            <a:extLst>
              <a:ext uri="{FF2B5EF4-FFF2-40B4-BE49-F238E27FC236}">
                <a16:creationId xmlns:a16="http://schemas.microsoft.com/office/drawing/2014/main" id="{443D8D96-C22B-80A3-C936-48890A91C50C}"/>
              </a:ext>
            </a:extLst>
          </p:cNvPr>
          <p:cNvPicPr>
            <a:picLocks noGrp="1" noChangeAspect="1"/>
          </p:cNvPicPr>
          <p:nvPr>
            <p:ph sz="half" idx="1"/>
          </p:nvPr>
        </p:nvPicPr>
        <p:blipFill>
          <a:blip r:embed="rId2"/>
          <a:stretch>
            <a:fillRect/>
          </a:stretch>
        </p:blipFill>
        <p:spPr>
          <a:xfrm>
            <a:off x="320253" y="1125415"/>
            <a:ext cx="4797082" cy="5601419"/>
          </a:xfrm>
        </p:spPr>
      </p:pic>
      <p:sp>
        <p:nvSpPr>
          <p:cNvPr id="7" name="Marcador de contenido 6">
            <a:extLst>
              <a:ext uri="{FF2B5EF4-FFF2-40B4-BE49-F238E27FC236}">
                <a16:creationId xmlns:a16="http://schemas.microsoft.com/office/drawing/2014/main" id="{94A9197C-661A-4D67-6E44-EF019664F40C}"/>
              </a:ext>
            </a:extLst>
          </p:cNvPr>
          <p:cNvSpPr>
            <a:spLocks noGrp="1"/>
          </p:cNvSpPr>
          <p:nvPr>
            <p:ph sz="half" idx="2"/>
          </p:nvPr>
        </p:nvSpPr>
        <p:spPr>
          <a:xfrm>
            <a:off x="5190979" y="1125415"/>
            <a:ext cx="6888478" cy="5601419"/>
          </a:xfrm>
        </p:spPr>
        <p:txBody>
          <a:bodyPr/>
          <a:lstStyle/>
          <a:p>
            <a:pPr>
              <a:buSzPts val="2400"/>
            </a:pPr>
            <a:r>
              <a:rPr lang="es-ES" sz="2400" b="1" i="0" dirty="0">
                <a:solidFill>
                  <a:schemeClr val="tx1"/>
                </a:solidFill>
                <a:effectLst/>
                <a:latin typeface="+mj-lt"/>
              </a:rPr>
              <a:t>Oral: </a:t>
            </a:r>
            <a:r>
              <a:rPr lang="es-ES" sz="2400" i="0" dirty="0">
                <a:solidFill>
                  <a:schemeClr val="tx1"/>
                </a:solidFill>
                <a:effectLst/>
                <a:latin typeface="+mj-lt"/>
              </a:rPr>
              <a:t>Contacto con  la materia fecal del gato o ingesta de carne mal cocida de mamíferos, donde anidan en los tejidos los quistes y pseudoquiste.</a:t>
            </a:r>
            <a:r>
              <a:rPr lang="es-ES" sz="2400" dirty="0"/>
              <a:t> Consumo de cerdo podría ser la carne más implicada.</a:t>
            </a:r>
          </a:p>
          <a:p>
            <a:pPr>
              <a:buSzPts val="2400"/>
            </a:pPr>
            <a:endParaRPr lang="es-ES" sz="2400" dirty="0"/>
          </a:p>
          <a:p>
            <a:r>
              <a:rPr lang="es-ES" sz="2400" b="1" i="0" dirty="0">
                <a:solidFill>
                  <a:schemeClr val="tx1"/>
                </a:solidFill>
                <a:effectLst/>
                <a:latin typeface="+mj-lt"/>
              </a:rPr>
              <a:t>Vertical:</a:t>
            </a:r>
            <a:r>
              <a:rPr lang="es-ES" sz="2400" i="0" dirty="0">
                <a:solidFill>
                  <a:schemeClr val="tx1"/>
                </a:solidFill>
                <a:effectLst/>
                <a:latin typeface="+mj-lt"/>
              </a:rPr>
              <a:t>  por placenta, por leche materna. </a:t>
            </a:r>
          </a:p>
          <a:p>
            <a:endParaRPr lang="es-ES" sz="2400" dirty="0">
              <a:latin typeface="+mj-lt"/>
            </a:endParaRPr>
          </a:p>
          <a:p>
            <a:r>
              <a:rPr lang="es-ES" sz="2400" b="1" i="0" dirty="0">
                <a:solidFill>
                  <a:schemeClr val="tx1"/>
                </a:solidFill>
                <a:effectLst/>
                <a:latin typeface="+mj-lt"/>
              </a:rPr>
              <a:t>Transfusional</a:t>
            </a:r>
            <a:r>
              <a:rPr lang="es-ES" sz="2400" i="0" dirty="0">
                <a:solidFill>
                  <a:schemeClr val="tx1"/>
                </a:solidFill>
                <a:effectLst/>
                <a:latin typeface="+mj-lt"/>
              </a:rPr>
              <a:t> (donde el parásito puede vivir hasta 40 días en sangre citratada).</a:t>
            </a:r>
          </a:p>
          <a:p>
            <a:endParaRPr lang="es-ES" sz="2400" i="0" dirty="0">
              <a:solidFill>
                <a:schemeClr val="tx1"/>
              </a:solidFill>
              <a:effectLst/>
              <a:latin typeface="+mj-lt"/>
            </a:endParaRPr>
          </a:p>
          <a:p>
            <a:endParaRPr lang="es-AR" dirty="0"/>
          </a:p>
        </p:txBody>
      </p:sp>
      <p:sp>
        <p:nvSpPr>
          <p:cNvPr id="2" name="Rectángulo: esquinas redondeadas 1">
            <a:extLst>
              <a:ext uri="{FF2B5EF4-FFF2-40B4-BE49-F238E27FC236}">
                <a16:creationId xmlns:a16="http://schemas.microsoft.com/office/drawing/2014/main" id="{490BC3B7-5C22-15A0-3989-376C479DED0F}"/>
              </a:ext>
            </a:extLst>
          </p:cNvPr>
          <p:cNvSpPr/>
          <p:nvPr/>
        </p:nvSpPr>
        <p:spPr>
          <a:xfrm>
            <a:off x="5264622" y="5732585"/>
            <a:ext cx="6741191" cy="6921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800" dirty="0">
                <a:solidFill>
                  <a:schemeClr val="bg1"/>
                </a:solidFill>
              </a:rPr>
              <a:t>Inmunocompetentes:  90% es asintomática</a:t>
            </a:r>
            <a:r>
              <a:rPr lang="es-ES" dirty="0">
                <a:solidFill>
                  <a:schemeClr val="bg1"/>
                </a:solidFill>
              </a:rPr>
              <a:t> </a:t>
            </a:r>
          </a:p>
        </p:txBody>
      </p:sp>
    </p:spTree>
    <p:extLst>
      <p:ext uri="{BB962C8B-B14F-4D97-AF65-F5344CB8AC3E}">
        <p14:creationId xmlns:p14="http://schemas.microsoft.com/office/powerpoint/2010/main" val="155201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31136" y="135467"/>
            <a:ext cx="7729728" cy="666391"/>
          </a:xfrm>
        </p:spPr>
        <p:txBody>
          <a:bodyPr>
            <a:normAutofit fontScale="90000"/>
          </a:bodyPr>
          <a:lstStyle/>
          <a:p>
            <a:r>
              <a:rPr lang="es-ES" dirty="0"/>
              <a:t>Toxoplasmosis Congénita</a:t>
            </a:r>
            <a:endParaRPr lang="en-US" dirty="0"/>
          </a:p>
        </p:txBody>
      </p:sp>
      <p:sp>
        <p:nvSpPr>
          <p:cNvPr id="3" name="Marcador de contenido 2"/>
          <p:cNvSpPr>
            <a:spLocks noGrp="1"/>
          </p:cNvSpPr>
          <p:nvPr>
            <p:ph idx="1"/>
          </p:nvPr>
        </p:nvSpPr>
        <p:spPr>
          <a:xfrm>
            <a:off x="0" y="1413164"/>
            <a:ext cx="12192000" cy="5281147"/>
          </a:xfrm>
        </p:spPr>
        <p:txBody>
          <a:bodyPr>
            <a:normAutofit/>
          </a:bodyPr>
          <a:lstStyle/>
          <a:p>
            <a:r>
              <a:rPr lang="es-ES" sz="2800" dirty="0"/>
              <a:t>Ocurre cuando la mujer susceptible adquiere la infección durante el embarazo.</a:t>
            </a:r>
          </a:p>
          <a:p>
            <a:r>
              <a:rPr lang="es-ES" sz="2800" dirty="0"/>
              <a:t>Las mujeres con serología positiva previa al embarazo se consideran población inmune y no requieren nuevos controles, en futuros embarazos.</a:t>
            </a:r>
          </a:p>
          <a:p>
            <a:r>
              <a:rPr lang="es-ES" sz="2800" dirty="0"/>
              <a:t>Las gestantes susceptibles  deben ser monitoreadas con pruebas serológicas al menos una vez por trimestre y recomendar medidas higiénico-dietéticas, para minimizar el riesgo de infección durante el embarazo.</a:t>
            </a:r>
          </a:p>
          <a:p>
            <a:r>
              <a:rPr lang="es-ES" sz="2800" dirty="0"/>
              <a:t>La transmisión placentaria es baja en el primer trimestre y aumenta hacia el final del embarazo. Siendo aproximadamente del 15%, 50% y 75% para cada uno de los trimestres del embarazo. </a:t>
            </a:r>
          </a:p>
          <a:p>
            <a:endParaRPr lang="es-ES" sz="2800" dirty="0"/>
          </a:p>
          <a:p>
            <a:endParaRPr lang="en-US" sz="2000" dirty="0"/>
          </a:p>
        </p:txBody>
      </p:sp>
    </p:spTree>
    <p:extLst>
      <p:ext uri="{BB962C8B-B14F-4D97-AF65-F5344CB8AC3E}">
        <p14:creationId xmlns:p14="http://schemas.microsoft.com/office/powerpoint/2010/main" val="928588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31136" y="0"/>
            <a:ext cx="7729728" cy="778933"/>
          </a:xfrm>
        </p:spPr>
        <p:txBody>
          <a:bodyPr/>
          <a:lstStyle/>
          <a:p>
            <a:r>
              <a:rPr lang="es-ES" dirty="0"/>
              <a:t>Toxoplasmosis congénita</a:t>
            </a:r>
            <a:endParaRPr lang="en-US" dirty="0"/>
          </a:p>
        </p:txBody>
      </p:sp>
      <p:sp>
        <p:nvSpPr>
          <p:cNvPr id="3" name="Marcador de contenido 2"/>
          <p:cNvSpPr>
            <a:spLocks noGrp="1"/>
          </p:cNvSpPr>
          <p:nvPr>
            <p:ph idx="1"/>
          </p:nvPr>
        </p:nvSpPr>
        <p:spPr>
          <a:xfrm>
            <a:off x="0" y="869244"/>
            <a:ext cx="12192000" cy="5988756"/>
          </a:xfrm>
        </p:spPr>
        <p:txBody>
          <a:bodyPr>
            <a:normAutofit/>
          </a:bodyPr>
          <a:lstStyle/>
          <a:p>
            <a:endParaRPr lang="es-ES" sz="2000" dirty="0"/>
          </a:p>
          <a:p>
            <a:r>
              <a:rPr lang="es-ES" sz="2600" dirty="0"/>
              <a:t>Cerca del 75% de los RN con T. Congénita son asintomáticos al momento de nacer. </a:t>
            </a:r>
          </a:p>
          <a:p>
            <a:endParaRPr lang="es-ES" sz="2600" dirty="0"/>
          </a:p>
        </p:txBody>
      </p:sp>
      <p:pic>
        <p:nvPicPr>
          <p:cNvPr id="5" name="Imagen 4">
            <a:extLst>
              <a:ext uri="{FF2B5EF4-FFF2-40B4-BE49-F238E27FC236}">
                <a16:creationId xmlns:a16="http://schemas.microsoft.com/office/drawing/2014/main" id="{1FE4F2DD-02EB-8EE2-C213-FA16249D3AA1}"/>
              </a:ext>
            </a:extLst>
          </p:cNvPr>
          <p:cNvPicPr>
            <a:picLocks noChangeAspect="1"/>
          </p:cNvPicPr>
          <p:nvPr/>
        </p:nvPicPr>
        <p:blipFill>
          <a:blip r:embed="rId2"/>
          <a:stretch>
            <a:fillRect/>
          </a:stretch>
        </p:blipFill>
        <p:spPr>
          <a:xfrm>
            <a:off x="6248402" y="1925782"/>
            <a:ext cx="5846616" cy="4835235"/>
          </a:xfrm>
          <a:prstGeom prst="rect">
            <a:avLst/>
          </a:prstGeom>
        </p:spPr>
      </p:pic>
      <p:sp>
        <p:nvSpPr>
          <p:cNvPr id="6" name="Rectángulo 5">
            <a:extLst>
              <a:ext uri="{FF2B5EF4-FFF2-40B4-BE49-F238E27FC236}">
                <a16:creationId xmlns:a16="http://schemas.microsoft.com/office/drawing/2014/main" id="{D9AFD4C8-4D58-43CA-199D-4B7DAC7540B0}"/>
              </a:ext>
            </a:extLst>
          </p:cNvPr>
          <p:cNvSpPr/>
          <p:nvPr/>
        </p:nvSpPr>
        <p:spPr>
          <a:xfrm>
            <a:off x="318655" y="2776040"/>
            <a:ext cx="5624944" cy="21751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buClr>
                <a:schemeClr val="accent2"/>
              </a:buClr>
            </a:pPr>
            <a:r>
              <a:rPr lang="es-ES" sz="2400" dirty="0"/>
              <a:t>El riesgo de secuelas severas en infecciones tardías es menor,  ya que ha terminado la etapa de organogénesis fetal.</a:t>
            </a:r>
            <a:endParaRPr lang="es-AR" sz="2400" dirty="0"/>
          </a:p>
        </p:txBody>
      </p:sp>
    </p:spTree>
    <p:extLst>
      <p:ext uri="{BB962C8B-B14F-4D97-AF65-F5344CB8AC3E}">
        <p14:creationId xmlns:p14="http://schemas.microsoft.com/office/powerpoint/2010/main" val="2069353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51709" y="209006"/>
            <a:ext cx="9213273" cy="556935"/>
          </a:xfrm>
        </p:spPr>
        <p:txBody>
          <a:bodyPr>
            <a:normAutofit fontScale="90000"/>
          </a:bodyPr>
          <a:lstStyle/>
          <a:p>
            <a:r>
              <a:rPr lang="es-AR" dirty="0"/>
              <a:t>Diagnóstico de toxoplasmosis congénita</a:t>
            </a:r>
            <a:endParaRPr lang="en-US" dirty="0"/>
          </a:p>
        </p:txBody>
      </p:sp>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772" y="2030965"/>
            <a:ext cx="5477831" cy="4782706"/>
          </a:xfrm>
        </p:spPr>
      </p:pic>
      <p:sp>
        <p:nvSpPr>
          <p:cNvPr id="7" name="Rectángulo: esquinas redondeadas 6">
            <a:extLst>
              <a:ext uri="{FF2B5EF4-FFF2-40B4-BE49-F238E27FC236}">
                <a16:creationId xmlns:a16="http://schemas.microsoft.com/office/drawing/2014/main" id="{3830D99E-C22D-CD62-87A7-DF4DE5EB8A33}"/>
              </a:ext>
            </a:extLst>
          </p:cNvPr>
          <p:cNvSpPr/>
          <p:nvPr/>
        </p:nvSpPr>
        <p:spPr>
          <a:xfrm>
            <a:off x="1080247" y="905010"/>
            <a:ext cx="10031505" cy="98688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dirty="0"/>
              <a:t>Realizar  IgG antes del embarazo o lo más temprano posible. </a:t>
            </a:r>
          </a:p>
          <a:p>
            <a:pPr algn="ctr"/>
            <a:r>
              <a:rPr lang="es-ES" sz="2400" dirty="0"/>
              <a:t>Resultado negativo: control durante el embarazo y prevención. </a:t>
            </a:r>
            <a:endParaRPr lang="en-US" sz="2400" dirty="0"/>
          </a:p>
        </p:txBody>
      </p:sp>
      <p:pic>
        <p:nvPicPr>
          <p:cNvPr id="10" name="Imagen 9">
            <a:extLst>
              <a:ext uri="{FF2B5EF4-FFF2-40B4-BE49-F238E27FC236}">
                <a16:creationId xmlns:a16="http://schemas.microsoft.com/office/drawing/2014/main" id="{18DF1A5E-4747-16E9-B703-1993A765C2FB}"/>
              </a:ext>
            </a:extLst>
          </p:cNvPr>
          <p:cNvPicPr>
            <a:picLocks noChangeAspect="1"/>
          </p:cNvPicPr>
          <p:nvPr/>
        </p:nvPicPr>
        <p:blipFill>
          <a:blip r:embed="rId3"/>
          <a:stretch>
            <a:fillRect/>
          </a:stretch>
        </p:blipFill>
        <p:spPr>
          <a:xfrm>
            <a:off x="5661774" y="2030965"/>
            <a:ext cx="6479454" cy="4782706"/>
          </a:xfrm>
          <a:prstGeom prst="rect">
            <a:avLst/>
          </a:prstGeom>
        </p:spPr>
      </p:pic>
    </p:spTree>
    <p:extLst>
      <p:ext uri="{BB962C8B-B14F-4D97-AF65-F5344CB8AC3E}">
        <p14:creationId xmlns:p14="http://schemas.microsoft.com/office/powerpoint/2010/main" val="2166055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373C73-DD28-E341-62BF-695D15D7602E}"/>
              </a:ext>
            </a:extLst>
          </p:cNvPr>
          <p:cNvSpPr>
            <a:spLocks noGrp="1"/>
          </p:cNvSpPr>
          <p:nvPr>
            <p:ph type="title"/>
          </p:nvPr>
        </p:nvSpPr>
        <p:spPr>
          <a:xfrm>
            <a:off x="351693" y="126608"/>
            <a:ext cx="11479236" cy="1026944"/>
          </a:xfrm>
        </p:spPr>
        <p:txBody>
          <a:bodyPr>
            <a:normAutofit fontScale="90000"/>
          </a:bodyPr>
          <a:lstStyle/>
          <a:p>
            <a:pPr algn="ctr"/>
            <a:r>
              <a:rPr lang="es-ES" b="1" i="0" dirty="0">
                <a:solidFill>
                  <a:schemeClr val="tx1"/>
                </a:solidFill>
                <a:effectLst/>
              </a:rPr>
              <a:t>Dificultades en la detección precoz de la primoinfección en embarazadas</a:t>
            </a:r>
            <a:endParaRPr lang="es-AR" dirty="0"/>
          </a:p>
        </p:txBody>
      </p:sp>
      <p:sp>
        <p:nvSpPr>
          <p:cNvPr id="3" name="Marcador de contenido 2">
            <a:extLst>
              <a:ext uri="{FF2B5EF4-FFF2-40B4-BE49-F238E27FC236}">
                <a16:creationId xmlns:a16="http://schemas.microsoft.com/office/drawing/2014/main" id="{B7175848-D082-AB74-1315-D2E3A1520509}"/>
              </a:ext>
            </a:extLst>
          </p:cNvPr>
          <p:cNvSpPr>
            <a:spLocks noGrp="1"/>
          </p:cNvSpPr>
          <p:nvPr>
            <p:ph idx="1"/>
          </p:nvPr>
        </p:nvSpPr>
        <p:spPr>
          <a:xfrm>
            <a:off x="351692" y="1153552"/>
            <a:ext cx="11648050" cy="5704448"/>
          </a:xfrm>
        </p:spPr>
        <p:txBody>
          <a:bodyPr>
            <a:normAutofit/>
          </a:bodyPr>
          <a:lstStyle/>
          <a:p>
            <a:pPr algn="just" fontAlgn="base">
              <a:spcAft>
                <a:spcPts val="1500"/>
              </a:spcAft>
            </a:pPr>
            <a:r>
              <a:rPr lang="es-ES" sz="2400" i="0" dirty="0">
                <a:solidFill>
                  <a:schemeClr val="tx1"/>
                </a:solidFill>
                <a:effectLst/>
                <a:latin typeface="Calibri" panose="020F0502020204030204" pitchFamily="34" charset="0"/>
                <a:cs typeface="Calibri" panose="020F0502020204030204" pitchFamily="34" charset="0"/>
              </a:rPr>
              <a:t>Las IgM pueden persistir en el suero por meses e incluso años ( hasta 2 años). </a:t>
            </a:r>
          </a:p>
          <a:p>
            <a:pPr algn="just" fontAlgn="base">
              <a:spcAft>
                <a:spcPts val="1500"/>
              </a:spcAft>
            </a:pPr>
            <a:r>
              <a:rPr lang="es-ES" sz="2400" dirty="0">
                <a:latin typeface="Calibri" panose="020F0502020204030204" pitchFamily="34" charset="0"/>
                <a:cs typeface="Calibri" panose="020F0502020204030204" pitchFamily="34" charset="0"/>
              </a:rPr>
              <a:t>IgM positiva, si bien está presente en los procesos agudos, también puede persistir con títulos positivos más largo tiempo o ser un falso positivo, y esto no significa riesgo fetal. </a:t>
            </a:r>
            <a:endParaRPr lang="es-ES" sz="2400" i="0" dirty="0">
              <a:solidFill>
                <a:schemeClr val="tx1"/>
              </a:solidFill>
              <a:effectLst/>
              <a:latin typeface="Calibri" panose="020F0502020204030204" pitchFamily="34" charset="0"/>
              <a:cs typeface="Calibri" panose="020F0502020204030204" pitchFamily="34" charset="0"/>
            </a:endParaRPr>
          </a:p>
          <a:p>
            <a:pPr algn="just" fontAlgn="base">
              <a:spcAft>
                <a:spcPts val="1500"/>
              </a:spcAft>
            </a:pPr>
            <a:r>
              <a:rPr lang="es-ES" sz="2400" i="0" dirty="0">
                <a:solidFill>
                  <a:schemeClr val="tx1"/>
                </a:solidFill>
                <a:effectLst/>
                <a:latin typeface="Calibri" panose="020F0502020204030204" pitchFamily="34" charset="0"/>
                <a:cs typeface="Calibri" panose="020F0502020204030204" pitchFamily="34" charset="0"/>
              </a:rPr>
              <a:t>Test de avidez de las IgG: </a:t>
            </a:r>
            <a:r>
              <a:rPr lang="es-ES" sz="2400" dirty="0">
                <a:solidFill>
                  <a:schemeClr val="tx1"/>
                </a:solidFill>
                <a:latin typeface="Calibri" panose="020F0502020204030204" pitchFamily="34" charset="0"/>
                <a:cs typeface="Calibri" panose="020F0502020204030204" pitchFamily="34" charset="0"/>
              </a:rPr>
              <a:t>Sirve pa</a:t>
            </a:r>
            <a:r>
              <a:rPr lang="es-ES" sz="2400" i="0" dirty="0">
                <a:solidFill>
                  <a:schemeClr val="tx1"/>
                </a:solidFill>
                <a:effectLst/>
                <a:latin typeface="Calibri" panose="020F0502020204030204" pitchFamily="34" charset="0"/>
                <a:cs typeface="Calibri" panose="020F0502020204030204" pitchFamily="34" charset="0"/>
              </a:rPr>
              <a:t>ra excluir una infección aguda (en los 4 meses anteriores). Determina la afinidad funcional de unión de los anticuerpos IgG anti-Toxoplasma gondii producidos durante la fase tardía de la infección (después del 4to mes).</a:t>
            </a:r>
          </a:p>
          <a:p>
            <a:pPr algn="just" fontAlgn="base">
              <a:spcAft>
                <a:spcPts val="1500"/>
              </a:spcAft>
            </a:pPr>
            <a:r>
              <a:rPr lang="es-ES" sz="2400" i="0" dirty="0">
                <a:solidFill>
                  <a:schemeClr val="tx1"/>
                </a:solidFill>
                <a:effectLst/>
                <a:latin typeface="Calibri" panose="020F0502020204030204" pitchFamily="34" charset="0"/>
                <a:cs typeface="Calibri" panose="020F0502020204030204" pitchFamily="34" charset="0"/>
              </a:rPr>
              <a:t> Los tests de avidez deben efectuarse en la fase temprana de la gestación puesto que un resultado de alta avidez, después del 4to mes de gestación, no puede excluir que en una fase más temprana de la gestación haya tenido lugar la infección primaria.</a:t>
            </a:r>
          </a:p>
          <a:p>
            <a:endParaRPr lang="es-AR" dirty="0">
              <a:solidFill>
                <a:schemeClr val="tx1"/>
              </a:solidFill>
            </a:endParaRPr>
          </a:p>
        </p:txBody>
      </p:sp>
      <p:sp>
        <p:nvSpPr>
          <p:cNvPr id="4" name="Rectángulo: esquinas redondeadas 3">
            <a:extLst>
              <a:ext uri="{FF2B5EF4-FFF2-40B4-BE49-F238E27FC236}">
                <a16:creationId xmlns:a16="http://schemas.microsoft.com/office/drawing/2014/main" id="{D2C64346-8B36-1FDA-8DAC-1F6646E7E98D}"/>
              </a:ext>
            </a:extLst>
          </p:cNvPr>
          <p:cNvSpPr/>
          <p:nvPr/>
        </p:nvSpPr>
        <p:spPr>
          <a:xfrm>
            <a:off x="548640" y="5852160"/>
            <a:ext cx="11127545" cy="8792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800" i="0" dirty="0">
                <a:solidFill>
                  <a:schemeClr val="bg1"/>
                </a:solidFill>
                <a:effectLst/>
                <a:latin typeface="+mj-lt"/>
              </a:rPr>
              <a:t>El diagnóstico de una infección primaria de reciente adquisición no es fácil</a:t>
            </a:r>
            <a:endParaRPr lang="es-AR" sz="2800" dirty="0">
              <a:solidFill>
                <a:schemeClr val="bg1"/>
              </a:solidFill>
            </a:endParaRPr>
          </a:p>
        </p:txBody>
      </p:sp>
    </p:spTree>
    <p:extLst>
      <p:ext uri="{BB962C8B-B14F-4D97-AF65-F5344CB8AC3E}">
        <p14:creationId xmlns:p14="http://schemas.microsoft.com/office/powerpoint/2010/main" val="2303474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58129" y="0"/>
            <a:ext cx="11029071" cy="880533"/>
          </a:xfrm>
        </p:spPr>
        <p:txBody>
          <a:bodyPr>
            <a:normAutofit/>
          </a:bodyPr>
          <a:lstStyle/>
          <a:p>
            <a:pPr algn="ctr"/>
            <a:r>
              <a:rPr lang="es-ES" sz="3600" dirty="0">
                <a:latin typeface="+mn-lt"/>
              </a:rPr>
              <a:t>Indicadores de Infección</a:t>
            </a:r>
            <a:endParaRPr lang="en-US" sz="3600" dirty="0">
              <a:latin typeface="+mn-lt"/>
            </a:endParaRPr>
          </a:p>
        </p:txBody>
      </p:sp>
      <p:sp>
        <p:nvSpPr>
          <p:cNvPr id="3" name="Marcador de contenido 2"/>
          <p:cNvSpPr>
            <a:spLocks noGrp="1"/>
          </p:cNvSpPr>
          <p:nvPr>
            <p:ph idx="1"/>
          </p:nvPr>
        </p:nvSpPr>
        <p:spPr>
          <a:xfrm>
            <a:off x="0" y="1016000"/>
            <a:ext cx="12192000" cy="5757333"/>
          </a:xfrm>
        </p:spPr>
        <p:txBody>
          <a:bodyPr>
            <a:normAutofit/>
          </a:bodyPr>
          <a:lstStyle/>
          <a:p>
            <a:r>
              <a:rPr lang="es-ES" sz="2400" dirty="0"/>
              <a:t>Títulos de IgG en ascenso, en muestras pareadas, obtenidas con 14 a 21 días de diferencia.</a:t>
            </a:r>
          </a:p>
          <a:p>
            <a:r>
              <a:rPr lang="es-ES" sz="2400" dirty="0"/>
              <a:t>Títulos de IgG positivos en el primer trimestre es poco probable que sea una infección aguda  y dado el escaso pasaje transplacentario en esta etapa, tiene poca repercusión en la salud fetal. </a:t>
            </a:r>
          </a:p>
          <a:p>
            <a:r>
              <a:rPr lang="es-ES" sz="2400" dirty="0"/>
              <a:t>IgG (+) en el 1er trimestre puede interpretarse como previa al embarazo, o de bajo riesgo.</a:t>
            </a:r>
          </a:p>
          <a:p>
            <a:r>
              <a:rPr lang="es-ES" sz="2400" i="0" dirty="0">
                <a:solidFill>
                  <a:schemeClr val="tx1"/>
                </a:solidFill>
                <a:effectLst/>
              </a:rPr>
              <a:t>La de</a:t>
            </a:r>
            <a:r>
              <a:rPr lang="es-ES" sz="2400" i="0" dirty="0">
                <a:solidFill>
                  <a:schemeClr val="tx1"/>
                </a:solidFill>
                <a:effectLst/>
                <a:cs typeface="Calibri" panose="020F0502020204030204" pitchFamily="34" charset="0"/>
              </a:rPr>
              <a:t>tec</a:t>
            </a:r>
            <a:r>
              <a:rPr lang="es-ES" sz="2400" i="0" dirty="0">
                <a:solidFill>
                  <a:schemeClr val="tx1"/>
                </a:solidFill>
                <a:effectLst/>
              </a:rPr>
              <a:t>ción de alta avidez de IgG durante el primer trimestre del embarazo puede considerarse como buen indicador de una infección pasada. </a:t>
            </a:r>
          </a:p>
          <a:p>
            <a:endParaRPr lang="es-ES" sz="2400" i="0" dirty="0">
              <a:solidFill>
                <a:schemeClr val="tx1"/>
              </a:solidFill>
              <a:effectLst/>
            </a:endParaRPr>
          </a:p>
          <a:p>
            <a:pPr marL="0" indent="0" algn="ctr">
              <a:buNone/>
            </a:pPr>
            <a:r>
              <a:rPr lang="es-ES" sz="2400" b="1" dirty="0"/>
              <a:t>Diagnóstico de infección fetal </a:t>
            </a:r>
          </a:p>
          <a:p>
            <a:r>
              <a:rPr lang="es-ES" sz="2400" dirty="0"/>
              <a:t>Se puede realizar en líquido amniótico mediante la técnica de PCR. </a:t>
            </a:r>
          </a:p>
          <a:p>
            <a:r>
              <a:rPr lang="es-ES" sz="2400" dirty="0"/>
              <a:t>Estudios de LA se recomiendan a pacientes con infección aguda confirmada y deben realizarse después de transcurridas como mínimo 6 semanas, después de la infección aguda. </a:t>
            </a:r>
            <a:endParaRPr lang="en-US" sz="2400" dirty="0"/>
          </a:p>
          <a:p>
            <a:endParaRPr lang="en-US" sz="2000" dirty="0"/>
          </a:p>
        </p:txBody>
      </p:sp>
      <p:sp>
        <p:nvSpPr>
          <p:cNvPr id="5" name="CuadroTexto 4">
            <a:extLst>
              <a:ext uri="{FF2B5EF4-FFF2-40B4-BE49-F238E27FC236}">
                <a16:creationId xmlns:a16="http://schemas.microsoft.com/office/drawing/2014/main" id="{56C69F46-1BC7-D041-5741-BA4FE26E2F9C}"/>
              </a:ext>
            </a:extLst>
          </p:cNvPr>
          <p:cNvSpPr txBox="1"/>
          <p:nvPr/>
        </p:nvSpPr>
        <p:spPr>
          <a:xfrm>
            <a:off x="858129" y="5679427"/>
            <a:ext cx="10932089" cy="830997"/>
          </a:xfrm>
          <a:prstGeom prst="rect">
            <a:avLst/>
          </a:prstGeom>
          <a:noFill/>
        </p:spPr>
        <p:txBody>
          <a:bodyPr wrap="square">
            <a:spAutoFit/>
          </a:bodyPr>
          <a:lstStyle/>
          <a:p>
            <a:pPr algn="ctr"/>
            <a:r>
              <a:rPr lang="es-ES" sz="2400" b="1" dirty="0">
                <a:solidFill>
                  <a:schemeClr val="accent1">
                    <a:lumMod val="75000"/>
                  </a:schemeClr>
                </a:solidFill>
              </a:rPr>
              <a:t>El niño será considerado libre de infección cuando las IgG, de origen materno, se hayan negativizado entre los 9 y 10 meses de vida</a:t>
            </a:r>
            <a:endParaRPr lang="es-AR" sz="2400" b="1" dirty="0">
              <a:solidFill>
                <a:schemeClr val="accent1">
                  <a:lumMod val="75000"/>
                </a:schemeClr>
              </a:solidFill>
            </a:endParaRPr>
          </a:p>
        </p:txBody>
      </p:sp>
    </p:spTree>
    <p:extLst>
      <p:ext uri="{BB962C8B-B14F-4D97-AF65-F5344CB8AC3E}">
        <p14:creationId xmlns:p14="http://schemas.microsoft.com/office/powerpoint/2010/main" val="2445109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31136" y="1"/>
            <a:ext cx="7729728" cy="863600"/>
          </a:xfrm>
        </p:spPr>
        <p:txBody>
          <a:bodyPr>
            <a:normAutofit/>
          </a:bodyPr>
          <a:lstStyle/>
          <a:p>
            <a:pPr algn="ctr"/>
            <a:r>
              <a:rPr lang="es-ES" dirty="0">
                <a:latin typeface="+mn-lt"/>
              </a:rPr>
              <a:t>Infección Neonatal</a:t>
            </a:r>
            <a:endParaRPr lang="en-US" dirty="0">
              <a:latin typeface="+mn-lt"/>
            </a:endParaRPr>
          </a:p>
        </p:txBody>
      </p:sp>
      <p:sp>
        <p:nvSpPr>
          <p:cNvPr id="3" name="Marcador de contenido 2"/>
          <p:cNvSpPr>
            <a:spLocks noGrp="1"/>
          </p:cNvSpPr>
          <p:nvPr>
            <p:ph idx="1"/>
          </p:nvPr>
        </p:nvSpPr>
        <p:spPr>
          <a:xfrm>
            <a:off x="0" y="925689"/>
            <a:ext cx="12192000" cy="5779911"/>
          </a:xfrm>
        </p:spPr>
        <p:txBody>
          <a:bodyPr>
            <a:normAutofit lnSpcReduction="10000"/>
          </a:bodyPr>
          <a:lstStyle/>
          <a:p>
            <a:pPr marL="0" indent="0">
              <a:buNone/>
            </a:pPr>
            <a:r>
              <a:rPr lang="es-ES" sz="2400" dirty="0"/>
              <a:t>MANIFESTACIONES CLÍNICAS: </a:t>
            </a:r>
          </a:p>
          <a:p>
            <a:pPr marL="0" indent="0">
              <a:buNone/>
            </a:pPr>
            <a:r>
              <a:rPr lang="es-ES" sz="2400" dirty="0"/>
              <a:t>Hepatoesplenomegalia, ictericia, linfadenopatía, vómitos, diarrea, rash cutáneo, neumonitis, eosinofília y trastornos de la coagulación.</a:t>
            </a:r>
            <a:endParaRPr lang="en-US" sz="2400" dirty="0"/>
          </a:p>
          <a:p>
            <a:pPr marL="0" indent="0">
              <a:buNone/>
            </a:pPr>
            <a:r>
              <a:rPr lang="en-US" sz="2400" dirty="0"/>
              <a:t>Manifestaciones neurológicas: coriorretinitis, calcificaciones intracraneales diseminadas, convulsiones, hidrocefalia, microcefalia, microftalmos, atrofia del nervio óptico, y glaucoma.</a:t>
            </a:r>
          </a:p>
          <a:p>
            <a:endParaRPr lang="en-US" sz="2000" dirty="0"/>
          </a:p>
          <a:p>
            <a:endParaRPr lang="en-US" dirty="0"/>
          </a:p>
          <a:p>
            <a:endParaRPr lang="es-ES" dirty="0"/>
          </a:p>
          <a:p>
            <a:endParaRPr lang="es-ES" dirty="0"/>
          </a:p>
          <a:p>
            <a:endParaRPr lang="es-ES" dirty="0"/>
          </a:p>
          <a:p>
            <a:pPr marL="0" indent="0">
              <a:buNone/>
            </a:pPr>
            <a:r>
              <a:rPr lang="es-ES" sz="2400" dirty="0"/>
              <a:t>SECUELAS NEUROLÓGICAS: </a:t>
            </a:r>
          </a:p>
          <a:p>
            <a:pPr marL="0" indent="0">
              <a:buNone/>
            </a:pPr>
            <a:r>
              <a:rPr lang="es-ES" sz="2400" dirty="0"/>
              <a:t>Convulsiones- Pobre desarrollo madurativo-</a:t>
            </a:r>
          </a:p>
          <a:p>
            <a:pPr marL="0" indent="0">
              <a:buNone/>
            </a:pPr>
            <a:r>
              <a:rPr lang="es-ES" sz="2400" dirty="0"/>
              <a:t>Espasticidad- Parálisis-</a:t>
            </a:r>
          </a:p>
          <a:p>
            <a:pPr marL="0" indent="0">
              <a:buNone/>
            </a:pPr>
            <a:r>
              <a:rPr lang="es-ES" sz="2400" dirty="0"/>
              <a:t>Alteraciones de la visión (menos probable de la audición)</a:t>
            </a:r>
            <a:r>
              <a:rPr lang="es-ES" sz="2000" dirty="0"/>
              <a:t>.</a:t>
            </a:r>
            <a:endParaRPr lang="en-US" sz="2000" dirty="0"/>
          </a:p>
        </p:txBody>
      </p:sp>
      <p:sp>
        <p:nvSpPr>
          <p:cNvPr id="4" name="Rectángulo redondeado 3"/>
          <p:cNvSpPr/>
          <p:nvPr/>
        </p:nvSpPr>
        <p:spPr>
          <a:xfrm>
            <a:off x="714792" y="2750273"/>
            <a:ext cx="10762415" cy="67872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Tríada clásica:  Coriorretinitis - Calcificaciones Cerebrales - Hidrocefalia</a:t>
            </a:r>
          </a:p>
        </p:txBody>
      </p:sp>
      <p:pic>
        <p:nvPicPr>
          <p:cNvPr id="6" name="Imagen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83236" y="4231903"/>
            <a:ext cx="3593971" cy="2535785"/>
          </a:xfrm>
          <a:prstGeom prst="rect">
            <a:avLst/>
          </a:prstGeom>
        </p:spPr>
      </p:pic>
      <p:sp>
        <p:nvSpPr>
          <p:cNvPr id="10" name="Rectángulo: esquinas redondeadas 9">
            <a:extLst>
              <a:ext uri="{FF2B5EF4-FFF2-40B4-BE49-F238E27FC236}">
                <a16:creationId xmlns:a16="http://schemas.microsoft.com/office/drawing/2014/main" id="{56EEF5E1-F39D-BD4A-A016-FB7A0B3B782F}"/>
              </a:ext>
            </a:extLst>
          </p:cNvPr>
          <p:cNvSpPr/>
          <p:nvPr/>
        </p:nvSpPr>
        <p:spPr>
          <a:xfrm>
            <a:off x="714792" y="3491088"/>
            <a:ext cx="10762415" cy="67872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AR" sz="2400" dirty="0"/>
              <a:t>Tétrada de Sabin: Coriorretinitis, calcificaciones, hidrocefalia y retardo madurativo </a:t>
            </a:r>
          </a:p>
        </p:txBody>
      </p:sp>
    </p:spTree>
    <p:extLst>
      <p:ext uri="{BB962C8B-B14F-4D97-AF65-F5344CB8AC3E}">
        <p14:creationId xmlns:p14="http://schemas.microsoft.com/office/powerpoint/2010/main" val="15354812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31136" y="1"/>
            <a:ext cx="7729728" cy="665018"/>
          </a:xfrm>
        </p:spPr>
        <p:txBody>
          <a:bodyPr>
            <a:normAutofit fontScale="90000"/>
          </a:bodyPr>
          <a:lstStyle/>
          <a:p>
            <a:pPr algn="ctr"/>
            <a:r>
              <a:rPr lang="es-ES" dirty="0">
                <a:latin typeface="+mn-lt"/>
              </a:rPr>
              <a:t>Tratamiento en embarazo</a:t>
            </a:r>
            <a:endParaRPr lang="en-US" dirty="0">
              <a:latin typeface="+mn-lt"/>
            </a:endParaRPr>
          </a:p>
        </p:txBody>
      </p:sp>
      <p:sp>
        <p:nvSpPr>
          <p:cNvPr id="3" name="Marcador de contenido 2"/>
          <p:cNvSpPr>
            <a:spLocks noGrp="1"/>
          </p:cNvSpPr>
          <p:nvPr>
            <p:ph idx="1"/>
          </p:nvPr>
        </p:nvSpPr>
        <p:spPr>
          <a:xfrm>
            <a:off x="0" y="768667"/>
            <a:ext cx="12192000" cy="6089333"/>
          </a:xfrm>
        </p:spPr>
        <p:txBody>
          <a:bodyPr>
            <a:normAutofit/>
          </a:bodyPr>
          <a:lstStyle/>
          <a:p>
            <a:r>
              <a:rPr lang="es-ES" sz="2400" dirty="0"/>
              <a:t>Primoinfección durante el embarazo, tratamiento hasta el parto.</a:t>
            </a:r>
          </a:p>
          <a:p>
            <a:r>
              <a:rPr lang="es-ES" sz="2400" dirty="0"/>
              <a:t>El esquema terapéutico se elegirá según la evaluación clínica serológica, ecográfica, resultado de PCR en LA, y el momento del embarazo en el cual se comienza el tratamiento. </a:t>
            </a:r>
          </a:p>
          <a:p>
            <a:r>
              <a:rPr lang="es-ES" sz="2400" dirty="0"/>
              <a:t>Esquema 1: Cuidado en 1° y 3° trimestre del embarazo - Hemogramas periódicos. </a:t>
            </a:r>
            <a:endParaRPr lang="en-US" sz="2400"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1568" y="2805317"/>
            <a:ext cx="7928864" cy="3650096"/>
          </a:xfrm>
          <a:prstGeom prst="rect">
            <a:avLst/>
          </a:prstGeom>
        </p:spPr>
      </p:pic>
    </p:spTree>
    <p:extLst>
      <p:ext uri="{BB962C8B-B14F-4D97-AF65-F5344CB8AC3E}">
        <p14:creationId xmlns:p14="http://schemas.microsoft.com/office/powerpoint/2010/main" val="709246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E40CFF94-5F00-CAFC-7694-E45ADF713696}"/>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83374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04672" y="496711"/>
            <a:ext cx="4486656" cy="891822"/>
          </a:xfrm>
        </p:spPr>
        <p:txBody>
          <a:bodyPr>
            <a:normAutofit/>
          </a:bodyPr>
          <a:lstStyle/>
          <a:p>
            <a:r>
              <a:rPr lang="es-AR" sz="4000" dirty="0">
                <a:latin typeface="Calibri" panose="020F0502020204030204" pitchFamily="34" charset="0"/>
                <a:cs typeface="Calibri" panose="020F0502020204030204" pitchFamily="34" charset="0"/>
              </a:rPr>
              <a:t>Tratamiento del niño</a:t>
            </a:r>
            <a:endParaRPr lang="en-US" sz="4000" dirty="0">
              <a:latin typeface="Calibri" panose="020F0502020204030204" pitchFamily="34" charset="0"/>
              <a:cs typeface="Calibri" panose="020F0502020204030204" pitchFamily="34" charset="0"/>
            </a:endParaRPr>
          </a:p>
        </p:txBody>
      </p:sp>
      <p:sp>
        <p:nvSpPr>
          <p:cNvPr id="3" name="Marcador de contenido 2"/>
          <p:cNvSpPr>
            <a:spLocks noGrp="1"/>
          </p:cNvSpPr>
          <p:nvPr>
            <p:ph idx="1"/>
          </p:nvPr>
        </p:nvSpPr>
        <p:spPr>
          <a:xfrm>
            <a:off x="6518366" y="1027288"/>
            <a:ext cx="5504301" cy="5271912"/>
          </a:xfrm>
        </p:spPr>
        <p:txBody>
          <a:bodyPr>
            <a:normAutofit/>
          </a:bodyPr>
          <a:lstStyle/>
          <a:p>
            <a:pPr marL="0" indent="0" algn="ctr">
              <a:buNone/>
            </a:pPr>
            <a:r>
              <a:rPr lang="es-ES" sz="3200" dirty="0"/>
              <a:t>Si se hubiera infectado</a:t>
            </a:r>
          </a:p>
          <a:p>
            <a:pPr marL="0" indent="0" algn="ctr">
              <a:buNone/>
            </a:pPr>
            <a:endParaRPr lang="es-ES" sz="3200" dirty="0"/>
          </a:p>
          <a:p>
            <a:pPr marL="0" indent="0">
              <a:buNone/>
            </a:pPr>
            <a:endParaRPr lang="es-ES" sz="3200" dirty="0"/>
          </a:p>
          <a:p>
            <a:pPr marL="0" indent="0" algn="ctr">
              <a:buNone/>
            </a:pPr>
            <a:endParaRPr lang="es-ES" sz="3200" dirty="0"/>
          </a:p>
          <a:p>
            <a:pPr marL="0" indent="0">
              <a:buNone/>
            </a:pPr>
            <a:r>
              <a:rPr lang="es-ES" sz="3200" dirty="0"/>
              <a:t>Tratamiento es durante el primer año de vida, para prevenir la progresión o recurrencia de la enfermedad</a:t>
            </a:r>
            <a:endParaRPr lang="en-US" sz="3200" dirty="0"/>
          </a:p>
        </p:txBody>
      </p:sp>
      <p:sp>
        <p:nvSpPr>
          <p:cNvPr id="4" name="Marcador de texto 3"/>
          <p:cNvSpPr>
            <a:spLocks noGrp="1"/>
          </p:cNvSpPr>
          <p:nvPr>
            <p:ph type="body" sz="half" idx="2"/>
          </p:nvPr>
        </p:nvSpPr>
        <p:spPr/>
        <p:txBody>
          <a:bodyPr/>
          <a:lstStyle/>
          <a:p>
            <a:endParaRPr lang="en-US" dirty="0"/>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503" y="1919112"/>
            <a:ext cx="5878286" cy="4797778"/>
          </a:xfrm>
          <a:prstGeom prst="rect">
            <a:avLst/>
          </a:prstGeom>
        </p:spPr>
      </p:pic>
      <p:sp>
        <p:nvSpPr>
          <p:cNvPr id="6" name="Flecha abajo 5"/>
          <p:cNvSpPr/>
          <p:nvPr/>
        </p:nvSpPr>
        <p:spPr>
          <a:xfrm>
            <a:off x="8638960" y="1642533"/>
            <a:ext cx="484632" cy="128320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346959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a:extLst>
              <a:ext uri="{FF2B5EF4-FFF2-40B4-BE49-F238E27FC236}">
                <a16:creationId xmlns:a16="http://schemas.microsoft.com/office/drawing/2014/main" id="{2A4984CD-3CD4-F35B-A8F3-6BA5B09580AA}"/>
              </a:ext>
            </a:extLst>
          </p:cNvPr>
          <p:cNvSpPr>
            <a:spLocks noGrp="1"/>
          </p:cNvSpPr>
          <p:nvPr>
            <p:ph type="title"/>
          </p:nvPr>
        </p:nvSpPr>
        <p:spPr>
          <a:xfrm>
            <a:off x="3360004" y="138112"/>
            <a:ext cx="5471991" cy="707015"/>
          </a:xfrm>
        </p:spPr>
        <p:txBody>
          <a:bodyPr>
            <a:normAutofit/>
          </a:bodyPr>
          <a:lstStyle/>
          <a:p>
            <a:r>
              <a:rPr lang="es-AR" dirty="0">
                <a:latin typeface="+mn-lt"/>
              </a:rPr>
              <a:t>Prevención</a:t>
            </a:r>
          </a:p>
        </p:txBody>
      </p:sp>
      <p:sp>
        <p:nvSpPr>
          <p:cNvPr id="14" name="Marcador de contenido 13">
            <a:extLst>
              <a:ext uri="{FF2B5EF4-FFF2-40B4-BE49-F238E27FC236}">
                <a16:creationId xmlns:a16="http://schemas.microsoft.com/office/drawing/2014/main" id="{254E0F50-BBBC-6F48-AF23-B0B9B950E055}"/>
              </a:ext>
            </a:extLst>
          </p:cNvPr>
          <p:cNvSpPr>
            <a:spLocks noGrp="1"/>
          </p:cNvSpPr>
          <p:nvPr>
            <p:ph sz="half" idx="4294967295"/>
          </p:nvPr>
        </p:nvSpPr>
        <p:spPr>
          <a:xfrm>
            <a:off x="0" y="1108075"/>
            <a:ext cx="7121525" cy="5611813"/>
          </a:xfrm>
        </p:spPr>
        <p:txBody>
          <a:bodyPr>
            <a:normAutofit/>
          </a:bodyPr>
          <a:lstStyle/>
          <a:p>
            <a:r>
              <a:rPr lang="es-ES" sz="2800" dirty="0">
                <a:solidFill>
                  <a:schemeClr val="tx2"/>
                </a:solidFill>
                <a:cs typeface="Arial" panose="020B0604020202020204" pitchFamily="34" charset="0"/>
              </a:rPr>
              <a:t>Comer carne bien cocida. </a:t>
            </a:r>
          </a:p>
          <a:p>
            <a:r>
              <a:rPr lang="es-ES" sz="2800" dirty="0">
                <a:solidFill>
                  <a:schemeClr val="tx2"/>
                </a:solidFill>
                <a:cs typeface="Arial" panose="020B0604020202020204" pitchFamily="34" charset="0"/>
              </a:rPr>
              <a:t>Lavarse bien las manos luego de manipular carne cruda o vegetales frescos. </a:t>
            </a:r>
          </a:p>
          <a:p>
            <a:r>
              <a:rPr lang="es-ES" sz="2800" dirty="0">
                <a:solidFill>
                  <a:schemeClr val="tx2"/>
                </a:solidFill>
                <a:cs typeface="Arial" panose="020B0604020202020204" pitchFamily="34" charset="0"/>
              </a:rPr>
              <a:t> Limpiar bien las superficies y utensilios que tuvieron contacto con la carne cruda. </a:t>
            </a:r>
          </a:p>
          <a:p>
            <a:r>
              <a:rPr lang="es-ES" sz="2800" dirty="0">
                <a:solidFill>
                  <a:schemeClr val="tx2"/>
                </a:solidFill>
                <a:cs typeface="Arial" panose="020B0604020202020204" pitchFamily="34" charset="0"/>
              </a:rPr>
              <a:t>No ingerir vegetales crudos, si no se pueda asegurar que fueron bien lavados. </a:t>
            </a:r>
          </a:p>
          <a:p>
            <a:r>
              <a:rPr lang="es-ES" sz="2800" dirty="0">
                <a:solidFill>
                  <a:schemeClr val="tx2"/>
                </a:solidFill>
                <a:cs typeface="Arial" panose="020B0604020202020204" pitchFamily="34" charset="0"/>
              </a:rPr>
              <a:t>Si realiza trabajos de jardinería, usar guantes y luego lavarse bien las manos. </a:t>
            </a:r>
          </a:p>
          <a:p>
            <a:r>
              <a:rPr lang="es-ES" sz="2800" dirty="0">
                <a:solidFill>
                  <a:schemeClr val="tx2"/>
                </a:solidFill>
                <a:cs typeface="Arial" panose="020B0604020202020204" pitchFamily="34" charset="0"/>
              </a:rPr>
              <a:t>Evitar el contacto con gatos y sus excretas</a:t>
            </a:r>
            <a:r>
              <a:rPr lang="es-ES" sz="2800" dirty="0">
                <a:solidFill>
                  <a:schemeClr val="bg1"/>
                </a:solidFill>
                <a:cs typeface="Arial" panose="020B0604020202020204" pitchFamily="34" charset="0"/>
              </a:rPr>
              <a:t>.</a:t>
            </a:r>
            <a:endParaRPr lang="en-US" sz="2800" dirty="0">
              <a:solidFill>
                <a:schemeClr val="bg1"/>
              </a:solidFill>
              <a:cs typeface="Arial" panose="020B0604020202020204" pitchFamily="34" charset="0"/>
            </a:endParaRPr>
          </a:p>
          <a:p>
            <a:endParaRPr lang="es-AR" dirty="0"/>
          </a:p>
        </p:txBody>
      </p:sp>
      <p:pic>
        <p:nvPicPr>
          <p:cNvPr id="17" name="Imagen 16">
            <a:extLst>
              <a:ext uri="{FF2B5EF4-FFF2-40B4-BE49-F238E27FC236}">
                <a16:creationId xmlns:a16="http://schemas.microsoft.com/office/drawing/2014/main" id="{95AAE972-F50E-9F36-B29C-96361BF6C2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94122" y="1385455"/>
            <a:ext cx="4124992" cy="3699162"/>
          </a:xfrm>
          <a:prstGeom prst="rect">
            <a:avLst/>
          </a:prstGeom>
        </p:spPr>
      </p:pic>
      <p:cxnSp>
        <p:nvCxnSpPr>
          <p:cNvPr id="3" name="Conector recto 2">
            <a:extLst>
              <a:ext uri="{FF2B5EF4-FFF2-40B4-BE49-F238E27FC236}">
                <a16:creationId xmlns:a16="http://schemas.microsoft.com/office/drawing/2014/main" id="{C2C7F9DA-5565-980D-83B0-EDEE0C662336}"/>
              </a:ext>
            </a:extLst>
          </p:cNvPr>
          <p:cNvCxnSpPr>
            <a:cxnSpLocks/>
          </p:cNvCxnSpPr>
          <p:nvPr/>
        </p:nvCxnSpPr>
        <p:spPr>
          <a:xfrm flipH="1">
            <a:off x="7594122" y="1385455"/>
            <a:ext cx="4124992" cy="3699162"/>
          </a:xfrm>
          <a:prstGeom prst="line">
            <a:avLst/>
          </a:prstGeom>
          <a:ln w="57150">
            <a:solidFill>
              <a:srgbClr val="EE0000"/>
            </a:solidFill>
          </a:ln>
        </p:spPr>
        <p:style>
          <a:lnRef idx="1">
            <a:schemeClr val="accent1"/>
          </a:lnRef>
          <a:fillRef idx="0">
            <a:schemeClr val="accent1"/>
          </a:fillRef>
          <a:effectRef idx="0">
            <a:schemeClr val="accent1"/>
          </a:effectRef>
          <a:fontRef idx="minor">
            <a:schemeClr val="tx1"/>
          </a:fontRef>
        </p:style>
      </p:cxnSp>
      <p:cxnSp>
        <p:nvCxnSpPr>
          <p:cNvPr id="7" name="Conector recto 6">
            <a:extLst>
              <a:ext uri="{FF2B5EF4-FFF2-40B4-BE49-F238E27FC236}">
                <a16:creationId xmlns:a16="http://schemas.microsoft.com/office/drawing/2014/main" id="{A0E2E76B-03D8-6DFD-F241-F22FF17D79C2}"/>
              </a:ext>
            </a:extLst>
          </p:cNvPr>
          <p:cNvCxnSpPr>
            <a:cxnSpLocks/>
          </p:cNvCxnSpPr>
          <p:nvPr/>
        </p:nvCxnSpPr>
        <p:spPr>
          <a:xfrm>
            <a:off x="7594122" y="1385455"/>
            <a:ext cx="4124992" cy="3699162"/>
          </a:xfrm>
          <a:prstGeom prst="line">
            <a:avLst/>
          </a:prstGeom>
          <a:ln w="57150">
            <a:solidFill>
              <a:srgbClr val="EE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13301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a:xfrm>
            <a:off x="2231136" y="90312"/>
            <a:ext cx="7439337" cy="688621"/>
          </a:xfrm>
        </p:spPr>
        <p:txBody>
          <a:bodyPr>
            <a:normAutofit fontScale="90000"/>
          </a:bodyPr>
          <a:lstStyle/>
          <a:p>
            <a:pPr algn="ctr"/>
            <a:r>
              <a:rPr lang="es-AR" dirty="0">
                <a:latin typeface="+mn-lt"/>
              </a:rPr>
              <a:t>RUBEOLA</a:t>
            </a:r>
            <a:endParaRPr lang="en-US" dirty="0">
              <a:latin typeface="+mn-lt"/>
            </a:endParaRPr>
          </a:p>
        </p:txBody>
      </p:sp>
      <p:sp>
        <p:nvSpPr>
          <p:cNvPr id="6" name="Marcador de contenido 5"/>
          <p:cNvSpPr>
            <a:spLocks noGrp="1"/>
          </p:cNvSpPr>
          <p:nvPr>
            <p:ph idx="1"/>
          </p:nvPr>
        </p:nvSpPr>
        <p:spPr>
          <a:xfrm>
            <a:off x="0" y="891822"/>
            <a:ext cx="12192000" cy="5966178"/>
          </a:xfrm>
        </p:spPr>
        <p:txBody>
          <a:bodyPr>
            <a:noAutofit/>
          </a:bodyPr>
          <a:lstStyle/>
          <a:p>
            <a:pPr marL="0" indent="0">
              <a:buNone/>
            </a:pPr>
            <a:r>
              <a:rPr lang="es-ES" sz="2400" dirty="0"/>
              <a:t>La Rubeola es benigna, auto limitada, de etiología viral, inmuno prevenible por vacuna, (2 Dosis).</a:t>
            </a:r>
          </a:p>
          <a:p>
            <a:pPr marL="0" indent="0">
              <a:buNone/>
            </a:pPr>
            <a:r>
              <a:rPr lang="es-ES" sz="2400" dirty="0"/>
              <a:t>El síndrome de rubeola congénita (SRC) tiene alta morbilidad.</a:t>
            </a:r>
            <a:r>
              <a:rPr lang="es-ES" sz="2000" dirty="0"/>
              <a:t> </a:t>
            </a:r>
          </a:p>
          <a:p>
            <a:r>
              <a:rPr lang="es-ES" sz="2400" b="1" dirty="0"/>
              <a:t>Periodo de incubación</a:t>
            </a:r>
            <a:r>
              <a:rPr lang="es-ES" sz="2400" dirty="0"/>
              <a:t>: Es de 14 a 21 días (media: 18 días). </a:t>
            </a:r>
          </a:p>
          <a:p>
            <a:r>
              <a:rPr lang="es-ES" sz="2400" b="1" dirty="0"/>
              <a:t>Transmisibilidad</a:t>
            </a:r>
            <a:r>
              <a:rPr lang="es-ES" sz="2400" dirty="0"/>
              <a:t>:  Contacto con secreciones del tracto respiratorio superior, ocurre 1 semana antes y 2 semanas posteriores al inicio del rash. Mayor infectividad  5 días antes y 6 días dps al inicio del mismo</a:t>
            </a:r>
            <a:r>
              <a:rPr lang="es-ES" sz="2000" dirty="0"/>
              <a:t>. </a:t>
            </a:r>
          </a:p>
          <a:p>
            <a:r>
              <a:rPr lang="es-ES" sz="2400" b="1" dirty="0"/>
              <a:t>Manifestaciones clínicas</a:t>
            </a:r>
            <a:r>
              <a:rPr lang="es-ES" sz="2400" dirty="0"/>
              <a:t>: </a:t>
            </a:r>
          </a:p>
          <a:p>
            <a:pPr marL="0" indent="0">
              <a:buNone/>
            </a:pPr>
            <a:r>
              <a:rPr lang="es-ES" sz="2400" dirty="0"/>
              <a:t>Enfermedad leve y usualmente asintomática (50%). </a:t>
            </a:r>
          </a:p>
          <a:p>
            <a:pPr marL="0" indent="0">
              <a:buNone/>
            </a:pPr>
            <a:r>
              <a:rPr lang="es-ES" sz="2400" dirty="0"/>
              <a:t>El rash leve en la cara, se disemina posteriormente en dirección cefalocaudal y dura  2 a 3 días. </a:t>
            </a:r>
          </a:p>
          <a:p>
            <a:pPr marL="0" indent="0">
              <a:buNone/>
            </a:pPr>
            <a:r>
              <a:rPr lang="es-ES" sz="2400" dirty="0"/>
              <a:t>Ganglios linfáticos región posterior auricular y suboccipitales. </a:t>
            </a:r>
          </a:p>
          <a:p>
            <a:pPr marL="0" indent="0">
              <a:buNone/>
            </a:pPr>
            <a:r>
              <a:rPr lang="es-ES" sz="2400" dirty="0"/>
              <a:t>En mujeres adultas puede observarse frecuentemente poliartralgias transitorias y poliartritis. </a:t>
            </a:r>
          </a:p>
          <a:p>
            <a:pPr marL="0" indent="0">
              <a:buNone/>
            </a:pPr>
            <a:r>
              <a:rPr lang="es-ES" sz="2400" dirty="0"/>
              <a:t>Durante el embarazo suele pasar desapercibida</a:t>
            </a:r>
            <a:r>
              <a:rPr lang="es-ES" sz="2000" dirty="0"/>
              <a:t>.</a:t>
            </a:r>
          </a:p>
        </p:txBody>
      </p:sp>
    </p:spTree>
    <p:extLst>
      <p:ext uri="{BB962C8B-B14F-4D97-AF65-F5344CB8AC3E}">
        <p14:creationId xmlns:p14="http://schemas.microsoft.com/office/powerpoint/2010/main" val="37920884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a:xfrm>
            <a:off x="2231136" y="158044"/>
            <a:ext cx="8381446" cy="677334"/>
          </a:xfrm>
        </p:spPr>
        <p:txBody>
          <a:bodyPr>
            <a:normAutofit fontScale="90000"/>
          </a:bodyPr>
          <a:lstStyle/>
          <a:p>
            <a:r>
              <a:rPr lang="pt-BR" dirty="0">
                <a:latin typeface="+mn-lt"/>
              </a:rPr>
              <a:t>Síndrome de Rubéola Congénita (SRC)</a:t>
            </a:r>
            <a:endParaRPr lang="en-US" dirty="0">
              <a:latin typeface="+mn-lt"/>
            </a:endParaRPr>
          </a:p>
        </p:txBody>
      </p:sp>
      <p:sp>
        <p:nvSpPr>
          <p:cNvPr id="6" name="Marcador de contenido 5"/>
          <p:cNvSpPr>
            <a:spLocks noGrp="1"/>
          </p:cNvSpPr>
          <p:nvPr>
            <p:ph sz="half" idx="1"/>
          </p:nvPr>
        </p:nvSpPr>
        <p:spPr>
          <a:xfrm>
            <a:off x="135467" y="835378"/>
            <a:ext cx="7123289" cy="6022621"/>
          </a:xfrm>
        </p:spPr>
        <p:txBody>
          <a:bodyPr>
            <a:noAutofit/>
          </a:bodyPr>
          <a:lstStyle/>
          <a:p>
            <a:pPr marL="0" indent="0">
              <a:buNone/>
            </a:pPr>
            <a:r>
              <a:rPr lang="es-ES" sz="2400" dirty="0">
                <a:solidFill>
                  <a:schemeClr val="tx1"/>
                </a:solidFill>
              </a:rPr>
              <a:t>Es una de las infecciones virales más teratogénicas, puede producir aborto, muerte fetal, SRC o infección inaparente. </a:t>
            </a:r>
          </a:p>
          <a:p>
            <a:pPr marL="0" indent="0">
              <a:buNone/>
            </a:pPr>
            <a:r>
              <a:rPr lang="es-ES" sz="2400" dirty="0">
                <a:solidFill>
                  <a:schemeClr val="tx1"/>
                </a:solidFill>
              </a:rPr>
              <a:t>La mayoría de las manifestaciones aparecen cuando se produce la infección en los cuatro primeros meses de embarazo (el 90%, en el primer trimestre). </a:t>
            </a:r>
          </a:p>
          <a:p>
            <a:pPr marL="0" indent="0">
              <a:buNone/>
            </a:pPr>
            <a:r>
              <a:rPr lang="es-ES" sz="2400" dirty="0">
                <a:solidFill>
                  <a:schemeClr val="tx1"/>
                </a:solidFill>
              </a:rPr>
              <a:t>Exposiciones mas tardías provocan infecciones silentes en los RN, con secuelas tardías (ej. sordera) </a:t>
            </a:r>
          </a:p>
          <a:p>
            <a:pPr marL="0" indent="0">
              <a:buNone/>
            </a:pPr>
            <a:endParaRPr lang="es-ES" sz="2400" dirty="0">
              <a:solidFill>
                <a:schemeClr val="tx1"/>
              </a:solidFill>
            </a:endParaRPr>
          </a:p>
          <a:p>
            <a:pPr marL="0" indent="0">
              <a:buNone/>
            </a:pPr>
            <a:r>
              <a:rPr lang="es-ES" sz="2400" dirty="0">
                <a:solidFill>
                  <a:schemeClr val="tx1"/>
                </a:solidFill>
              </a:rPr>
              <a:t>Existe correlación entre el compromiso fetal y el momento de infección materna.</a:t>
            </a:r>
          </a:p>
          <a:p>
            <a:pPr marL="0" indent="0">
              <a:buNone/>
            </a:pPr>
            <a:r>
              <a:rPr lang="es-ES" sz="2400" b="1" dirty="0">
                <a:solidFill>
                  <a:schemeClr val="tx1"/>
                </a:solidFill>
              </a:rPr>
              <a:t>3-8 semanas: Se correlaciona con Cataratas</a:t>
            </a:r>
          </a:p>
          <a:p>
            <a:pPr marL="0" indent="0">
              <a:buNone/>
            </a:pPr>
            <a:r>
              <a:rPr lang="es-ES" sz="2400" b="1" dirty="0">
                <a:solidFill>
                  <a:schemeClr val="tx1"/>
                </a:solidFill>
              </a:rPr>
              <a:t>3-10 semanas: Aparición de Cardiopatías</a:t>
            </a:r>
          </a:p>
          <a:p>
            <a:pPr marL="0" indent="0">
              <a:buNone/>
            </a:pPr>
            <a:r>
              <a:rPr lang="es-ES" sz="2400" b="1" dirty="0">
                <a:solidFill>
                  <a:schemeClr val="tx1"/>
                </a:solidFill>
              </a:rPr>
              <a:t>3-18 semanas:  Compromiso Auditivo</a:t>
            </a:r>
            <a:endParaRPr lang="en-US" sz="2400" b="1" dirty="0">
              <a:solidFill>
                <a:schemeClr val="tx1"/>
              </a:solidFill>
            </a:endParaRPr>
          </a:p>
        </p:txBody>
      </p:sp>
      <p:pic>
        <p:nvPicPr>
          <p:cNvPr id="8" name="Marcador de contenido 10"/>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258756" y="1812439"/>
            <a:ext cx="4872444" cy="4068499"/>
          </a:xfrm>
        </p:spPr>
      </p:pic>
    </p:spTree>
    <p:extLst>
      <p:ext uri="{BB962C8B-B14F-4D97-AF65-F5344CB8AC3E}">
        <p14:creationId xmlns:p14="http://schemas.microsoft.com/office/powerpoint/2010/main" val="1548307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31136" y="0"/>
            <a:ext cx="7729728" cy="581891"/>
          </a:xfrm>
        </p:spPr>
        <p:txBody>
          <a:bodyPr>
            <a:normAutofit fontScale="90000"/>
          </a:bodyPr>
          <a:lstStyle/>
          <a:p>
            <a:r>
              <a:rPr lang="es-AR" dirty="0">
                <a:latin typeface="+mn-lt"/>
              </a:rPr>
              <a:t>Manifestaciones clínicas de SRC</a:t>
            </a:r>
            <a:endParaRPr lang="en-US" dirty="0">
              <a:latin typeface="+mn-lt"/>
            </a:endParaRPr>
          </a:p>
        </p:txBody>
      </p:sp>
      <p:sp>
        <p:nvSpPr>
          <p:cNvPr id="3" name="Marcador de contenido 2"/>
          <p:cNvSpPr>
            <a:spLocks noGrp="1"/>
          </p:cNvSpPr>
          <p:nvPr>
            <p:ph idx="1"/>
          </p:nvPr>
        </p:nvSpPr>
        <p:spPr>
          <a:xfrm>
            <a:off x="180622" y="845127"/>
            <a:ext cx="12011378" cy="6012873"/>
          </a:xfrm>
        </p:spPr>
        <p:txBody>
          <a:bodyPr>
            <a:noAutofit/>
          </a:bodyPr>
          <a:lstStyle/>
          <a:p>
            <a:r>
              <a:rPr lang="es-ES" sz="2000" b="1" dirty="0"/>
              <a:t>TRANSITORIAS PRECOCES</a:t>
            </a:r>
            <a:r>
              <a:rPr lang="es-ES" sz="2000" dirty="0"/>
              <a:t>: Se resuelven en días o semanas, sin secuelas.</a:t>
            </a:r>
          </a:p>
          <a:p>
            <a:pPr>
              <a:buFont typeface="Wingdings" panose="05000000000000000000" pitchFamily="2" charset="2"/>
              <a:buChar char="ü"/>
            </a:pPr>
            <a:r>
              <a:rPr lang="es-ES" sz="2000" dirty="0"/>
              <a:t>Diarrea, Linfoadenopatías generalizadas, hepatoesplenomegalia, hepatitis, ictericia, anemia hemolítica, púrpura trombocitopénica, neumonitis, meningoencefalitis, opacidad corneal, retardo en el crecimiento intrauterino, huesos radiolúcidos.</a:t>
            </a:r>
          </a:p>
          <a:p>
            <a:pPr marL="0" indent="0">
              <a:buNone/>
            </a:pPr>
            <a:r>
              <a:rPr lang="es-ES" sz="2000" dirty="0"/>
              <a:t> </a:t>
            </a:r>
            <a:endParaRPr lang="es-ES" sz="2000" b="1" dirty="0"/>
          </a:p>
          <a:p>
            <a:r>
              <a:rPr lang="es-ES" sz="2000" b="1" dirty="0"/>
              <a:t>PERMANENTES O PROGRESIVAS</a:t>
            </a:r>
            <a:r>
              <a:rPr lang="es-ES" sz="2000" dirty="0"/>
              <a:t>: Pueden afectar </a:t>
            </a:r>
          </a:p>
          <a:p>
            <a:pPr>
              <a:buFont typeface="Wingdings" panose="05000000000000000000" pitchFamily="2" charset="2"/>
              <a:buChar char="ü"/>
            </a:pPr>
            <a:r>
              <a:rPr lang="es-ES" sz="2000" dirty="0"/>
              <a:t>Corazón: Ductus arterioso persistente,  estenosis de la arteria pulmonar y  defectos del septum ventricular (50%).</a:t>
            </a:r>
          </a:p>
          <a:p>
            <a:pPr>
              <a:buFont typeface="Wingdings" panose="05000000000000000000" pitchFamily="2" charset="2"/>
              <a:buChar char="ü"/>
            </a:pPr>
            <a:r>
              <a:rPr lang="es-ES" sz="2000" dirty="0"/>
              <a:t>Ojo: Retinopatía en “sal y pimienta”,  cataratas, retinopatía ocurre en el 20% al 50%, microftalmia 60 %.</a:t>
            </a:r>
          </a:p>
          <a:p>
            <a:pPr>
              <a:buFont typeface="Wingdings" panose="05000000000000000000" pitchFamily="2" charset="2"/>
              <a:buChar char="ü"/>
            </a:pPr>
            <a:r>
              <a:rPr lang="es-ES" sz="2000" dirty="0"/>
              <a:t>Cerebro y Sistema auditivo: Sordera neurosensorial. </a:t>
            </a:r>
          </a:p>
          <a:p>
            <a:pPr>
              <a:buFont typeface="Wingdings" panose="05000000000000000000" pitchFamily="2" charset="2"/>
              <a:buChar char="ü"/>
            </a:pPr>
            <a:endParaRPr lang="es-ES" sz="2000" dirty="0"/>
          </a:p>
          <a:p>
            <a:r>
              <a:rPr lang="es-ES" sz="2000" b="1" dirty="0"/>
              <a:t>TARDÍAS: </a:t>
            </a:r>
          </a:p>
          <a:p>
            <a:pPr>
              <a:buFont typeface="Wingdings" panose="05000000000000000000" pitchFamily="2" charset="2"/>
              <a:buChar char="ü"/>
            </a:pPr>
            <a:r>
              <a:rPr lang="es-ES" sz="2000" dirty="0"/>
              <a:t>Endocrinopatías: Diabetes insulino- dependiente , hipertiroidismo, hipotiroidismo y tiroiditis</a:t>
            </a:r>
          </a:p>
          <a:p>
            <a:pPr>
              <a:buFont typeface="Wingdings" panose="05000000000000000000" pitchFamily="2" charset="2"/>
              <a:buChar char="ü"/>
            </a:pPr>
            <a:r>
              <a:rPr lang="es-ES" sz="2000" dirty="0"/>
              <a:t>Defectos inmunológicos crónicos – Compromiso vascular</a:t>
            </a:r>
          </a:p>
          <a:p>
            <a:pPr>
              <a:buFont typeface="Wingdings" panose="05000000000000000000" pitchFamily="2" charset="2"/>
              <a:buChar char="ü"/>
            </a:pPr>
            <a:r>
              <a:rPr lang="es-ES" sz="2000" dirty="0"/>
              <a:t>Disfunción auditiva y ocular: En el 20% de los pacientes con SRC, déficit auditivo se identifica entre los 4 a 6 años </a:t>
            </a:r>
          </a:p>
          <a:p>
            <a:pPr>
              <a:buFont typeface="Wingdings" panose="05000000000000000000" pitchFamily="2" charset="2"/>
              <a:buChar char="ü"/>
            </a:pPr>
            <a:r>
              <a:rPr lang="es-ES" sz="2000" dirty="0"/>
              <a:t>SNC: retardo mental, microcefalia, trastornos de conducta (autismo) y encefalitis crónica. (10%).</a:t>
            </a:r>
            <a:endParaRPr lang="en-US" sz="2000" dirty="0"/>
          </a:p>
        </p:txBody>
      </p:sp>
    </p:spTree>
    <p:extLst>
      <p:ext uri="{BB962C8B-B14F-4D97-AF65-F5344CB8AC3E}">
        <p14:creationId xmlns:p14="http://schemas.microsoft.com/office/powerpoint/2010/main" val="4216134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31136" y="0"/>
            <a:ext cx="7729728" cy="778933"/>
          </a:xfrm>
        </p:spPr>
        <p:txBody>
          <a:bodyPr>
            <a:normAutofit fontScale="90000"/>
          </a:bodyPr>
          <a:lstStyle/>
          <a:p>
            <a:r>
              <a:rPr lang="es-AR" dirty="0">
                <a:latin typeface="+mn-lt"/>
              </a:rPr>
              <a:t>Diagnóstico en pacientes expuestas </a:t>
            </a:r>
            <a:endParaRPr lang="en-US" dirty="0">
              <a:latin typeface="+mn-lt"/>
            </a:endParaRPr>
          </a:p>
        </p:txBody>
      </p:sp>
      <p:sp>
        <p:nvSpPr>
          <p:cNvPr id="3" name="Marcador de contenido 2"/>
          <p:cNvSpPr>
            <a:spLocks noGrp="1"/>
          </p:cNvSpPr>
          <p:nvPr>
            <p:ph idx="1"/>
          </p:nvPr>
        </p:nvSpPr>
        <p:spPr>
          <a:xfrm>
            <a:off x="0" y="1027290"/>
            <a:ext cx="12192000" cy="5830710"/>
          </a:xfrm>
        </p:spPr>
        <p:txBody>
          <a:bodyPr>
            <a:normAutofit lnSpcReduction="10000"/>
          </a:bodyPr>
          <a:lstStyle/>
          <a:p>
            <a:r>
              <a:rPr lang="es-ES" sz="2400" b="1" dirty="0"/>
              <a:t>IgM:</a:t>
            </a:r>
            <a:r>
              <a:rPr lang="es-ES" sz="2400" dirty="0"/>
              <a:t> Positiviza desde el 5° día del rash y persiste positiva entre 3-4 semanas). </a:t>
            </a:r>
          </a:p>
          <a:p>
            <a:r>
              <a:rPr lang="es-ES" sz="2400" b="1" dirty="0"/>
              <a:t>Ig G</a:t>
            </a:r>
            <a:r>
              <a:rPr lang="es-ES" sz="2400" dirty="0"/>
              <a:t>:  Aumenta entre los días 15- 21 del momento de la infección y persisten de por vida.</a:t>
            </a:r>
          </a:p>
          <a:p>
            <a:endParaRPr lang="es-ES" sz="2400" dirty="0"/>
          </a:p>
          <a:p>
            <a:pPr marL="0" indent="0">
              <a:buNone/>
            </a:pPr>
            <a:r>
              <a:rPr lang="es-ES" sz="2400" dirty="0"/>
              <a:t>   Si hay IgM (+) y/o aumento Ig G </a:t>
            </a:r>
          </a:p>
          <a:p>
            <a:pPr marL="0" indent="0" algn="ctr">
              <a:buNone/>
            </a:pPr>
            <a:r>
              <a:rPr lang="es-ES" sz="2400" dirty="0"/>
              <a:t>Se recomienda confirmación con </a:t>
            </a:r>
            <a:r>
              <a:rPr lang="es-ES" sz="2400" i="1" dirty="0"/>
              <a:t>test de avidez de Ig G.</a:t>
            </a:r>
          </a:p>
          <a:p>
            <a:pPr marL="0" indent="0">
              <a:buNone/>
            </a:pPr>
            <a:r>
              <a:rPr lang="es-ES" sz="2400" dirty="0"/>
              <a:t> Test baja avidez de Ig G:  expresa infección reciente primaria. </a:t>
            </a:r>
          </a:p>
          <a:p>
            <a:pPr marL="0" indent="0">
              <a:buNone/>
            </a:pPr>
            <a:r>
              <a:rPr lang="es-ES" sz="2400" dirty="0"/>
              <a:t> Test de alta avidez de Ig G: expresa infección pasada o reinfección. </a:t>
            </a:r>
          </a:p>
          <a:p>
            <a:pPr marL="0" indent="0">
              <a:buNone/>
            </a:pPr>
            <a:endParaRPr lang="es-ES" sz="2400" dirty="0"/>
          </a:p>
          <a:p>
            <a:pPr marL="0" indent="0" algn="ctr">
              <a:buNone/>
            </a:pPr>
            <a:r>
              <a:rPr lang="es-ES" sz="2400" dirty="0"/>
              <a:t> </a:t>
            </a:r>
            <a:r>
              <a:rPr lang="es-ES" sz="2400" i="1" dirty="0"/>
              <a:t>El aumento de títulos de IgG que cuadriplique el valor inicial </a:t>
            </a:r>
            <a:r>
              <a:rPr lang="es-ES" sz="2400" dirty="0"/>
              <a:t>también es confirmación diagnóstica. </a:t>
            </a:r>
          </a:p>
          <a:p>
            <a:r>
              <a:rPr lang="es-ES" sz="2400" dirty="0"/>
              <a:t>Mujeres con bajos títulos de Ac (10- 30UI) pueden presentar re infecciones.</a:t>
            </a:r>
          </a:p>
          <a:p>
            <a:r>
              <a:rPr lang="es-ES" sz="2400" b="1" dirty="0"/>
              <a:t>Diagnóstico fetal</a:t>
            </a:r>
            <a:r>
              <a:rPr lang="es-ES" sz="2400" dirty="0"/>
              <a:t>: PCR en LA o vellosidades coriónicas, (luego de las 20-22 semanas de EG), pero su positividad no define el grado de afectación fetal. Hallazgos ecográficos orientadores no definen etiología.</a:t>
            </a:r>
          </a:p>
        </p:txBody>
      </p:sp>
      <p:sp>
        <p:nvSpPr>
          <p:cNvPr id="9" name="Flecha: a la derecha 8">
            <a:extLst>
              <a:ext uri="{FF2B5EF4-FFF2-40B4-BE49-F238E27FC236}">
                <a16:creationId xmlns:a16="http://schemas.microsoft.com/office/drawing/2014/main" id="{DB51DC5C-57DE-C3B7-8920-4678A4CAC441}"/>
              </a:ext>
            </a:extLst>
          </p:cNvPr>
          <p:cNvSpPr/>
          <p:nvPr/>
        </p:nvSpPr>
        <p:spPr>
          <a:xfrm>
            <a:off x="1863713" y="2774760"/>
            <a:ext cx="734845" cy="2178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spTree>
    <p:extLst>
      <p:ext uri="{BB962C8B-B14F-4D97-AF65-F5344CB8AC3E}">
        <p14:creationId xmlns:p14="http://schemas.microsoft.com/office/powerpoint/2010/main" val="37017511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31136" y="0"/>
            <a:ext cx="8326028" cy="857956"/>
          </a:xfrm>
        </p:spPr>
        <p:txBody>
          <a:bodyPr>
            <a:normAutofit fontScale="90000"/>
          </a:bodyPr>
          <a:lstStyle/>
          <a:p>
            <a:r>
              <a:rPr lang="es-ES" dirty="0"/>
              <a:t>Síndrome de Rubeola Congénita (SRC )</a:t>
            </a:r>
            <a:endParaRPr lang="en-US" dirty="0"/>
          </a:p>
        </p:txBody>
      </p:sp>
      <p:sp>
        <p:nvSpPr>
          <p:cNvPr id="3" name="Marcador de contenido 2"/>
          <p:cNvSpPr>
            <a:spLocks noGrp="1"/>
          </p:cNvSpPr>
          <p:nvPr>
            <p:ph idx="1"/>
          </p:nvPr>
        </p:nvSpPr>
        <p:spPr>
          <a:xfrm>
            <a:off x="0" y="1004711"/>
            <a:ext cx="12192000" cy="5734755"/>
          </a:xfrm>
        </p:spPr>
        <p:txBody>
          <a:bodyPr>
            <a:normAutofit/>
          </a:bodyPr>
          <a:lstStyle/>
          <a:p>
            <a:endParaRPr lang="es-ES" dirty="0"/>
          </a:p>
          <a:p>
            <a:endParaRPr lang="es-ES" dirty="0"/>
          </a:p>
          <a:p>
            <a:endParaRPr lang="es-ES" dirty="0"/>
          </a:p>
          <a:p>
            <a:r>
              <a:rPr lang="es-ES" sz="2000" dirty="0"/>
              <a:t>DIAGNÓSTICO RN:</a:t>
            </a:r>
          </a:p>
          <a:p>
            <a:pPr marL="0" indent="0">
              <a:buNone/>
            </a:pPr>
            <a:r>
              <a:rPr lang="es-ES" sz="2000" dirty="0"/>
              <a:t>Detección viral: PCR en  muestras de nasofaringe-orina o LCR</a:t>
            </a:r>
          </a:p>
          <a:p>
            <a:pPr marL="0" indent="0">
              <a:buNone/>
            </a:pPr>
            <a:r>
              <a:rPr lang="es-ES" sz="2000" dirty="0"/>
              <a:t>Detección de Ig M: en sangre cordón o suero del recién nacido. (puede dar falsos positivos). </a:t>
            </a:r>
          </a:p>
          <a:p>
            <a:pPr marL="0" indent="0">
              <a:buNone/>
            </a:pPr>
            <a:r>
              <a:rPr lang="es-ES" sz="2000" dirty="0"/>
              <a:t>Detección de Ig G: persistentes o en aumento indican infección congénita. (Mediciones a los 3 y 6 meses)</a:t>
            </a:r>
          </a:p>
          <a:p>
            <a:endParaRPr lang="es-ES" sz="2000" dirty="0"/>
          </a:p>
          <a:p>
            <a:r>
              <a:rPr lang="es-ES" sz="2000" dirty="0"/>
              <a:t>TRATAMIENTO: No hay tratamiento disponible </a:t>
            </a:r>
          </a:p>
          <a:p>
            <a:r>
              <a:rPr lang="es-ES" sz="2000" dirty="0"/>
              <a:t>PROFILAXIS POST EXPOSICIÓN: el uso de inmunoglobulinas no se recomienda.</a:t>
            </a:r>
          </a:p>
          <a:p>
            <a:r>
              <a:rPr lang="es-ES" sz="2000" dirty="0"/>
              <a:t>PREVENCIÓN: La vacuna de rubéola está contraindicada en mujeres embarazadas, e indicada en el puerperio de las mujeres susceptibles. </a:t>
            </a:r>
          </a:p>
          <a:p>
            <a:r>
              <a:rPr lang="es-ES" sz="2000" dirty="0"/>
              <a:t>Se recomienda evitar el embarazo en el mes posterior a la vacunación</a:t>
            </a:r>
            <a:r>
              <a:rPr lang="es-ES" dirty="0"/>
              <a:t>.</a:t>
            </a:r>
            <a:endParaRPr lang="en-US" dirty="0"/>
          </a:p>
        </p:txBody>
      </p:sp>
      <p:sp>
        <p:nvSpPr>
          <p:cNvPr id="4" name="Rectángulo 3"/>
          <p:cNvSpPr/>
          <p:nvPr/>
        </p:nvSpPr>
        <p:spPr>
          <a:xfrm>
            <a:off x="575733" y="1004711"/>
            <a:ext cx="11017956" cy="10611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Los lactantes con infección congénita pueden portar el virus en nasofaringe y orina hasta el año de vida, pudiendo transmitir la rubeola a individuos susceptibles</a:t>
            </a:r>
            <a:endParaRPr lang="en-US" sz="2400" dirty="0"/>
          </a:p>
        </p:txBody>
      </p:sp>
    </p:spTree>
    <p:extLst>
      <p:ext uri="{BB962C8B-B14F-4D97-AF65-F5344CB8AC3E}">
        <p14:creationId xmlns:p14="http://schemas.microsoft.com/office/powerpoint/2010/main" val="3041700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31136" y="0"/>
            <a:ext cx="7729728" cy="711200"/>
          </a:xfrm>
        </p:spPr>
        <p:txBody>
          <a:bodyPr>
            <a:normAutofit/>
          </a:bodyPr>
          <a:lstStyle/>
          <a:p>
            <a:r>
              <a:rPr lang="es-ES" dirty="0">
                <a:latin typeface="+mn-lt"/>
              </a:rPr>
              <a:t>CITOMEGALOVIRUS (CMV)</a:t>
            </a:r>
            <a:endParaRPr lang="en-US" dirty="0">
              <a:latin typeface="+mn-lt"/>
            </a:endParaRPr>
          </a:p>
        </p:txBody>
      </p:sp>
      <p:sp>
        <p:nvSpPr>
          <p:cNvPr id="3" name="Marcador de contenido 2"/>
          <p:cNvSpPr>
            <a:spLocks noGrp="1"/>
          </p:cNvSpPr>
          <p:nvPr>
            <p:ph idx="1"/>
          </p:nvPr>
        </p:nvSpPr>
        <p:spPr>
          <a:xfrm>
            <a:off x="0" y="1004711"/>
            <a:ext cx="12191999" cy="5853289"/>
          </a:xfrm>
        </p:spPr>
        <p:txBody>
          <a:bodyPr>
            <a:normAutofit/>
          </a:bodyPr>
          <a:lstStyle/>
          <a:p>
            <a:r>
              <a:rPr lang="es-ES" sz="2400" dirty="0"/>
              <a:t>Familia </a:t>
            </a:r>
            <a:r>
              <a:rPr lang="es-ES" sz="2400" i="1" dirty="0"/>
              <a:t>herpes viridae</a:t>
            </a:r>
            <a:r>
              <a:rPr lang="es-ES" sz="2400" dirty="0"/>
              <a:t>. Existen diferentes genotipos. </a:t>
            </a:r>
          </a:p>
          <a:p>
            <a:r>
              <a:rPr lang="es-ES" sz="2400" dirty="0"/>
              <a:t>El hombre es el único reservorio. </a:t>
            </a:r>
          </a:p>
          <a:p>
            <a:r>
              <a:rPr lang="es-ES" sz="2400" dirty="0"/>
              <a:t>El virus se excreta en orina, secreciones genitales, leche materna, saliva, semen. </a:t>
            </a:r>
          </a:p>
          <a:p>
            <a:r>
              <a:rPr lang="es-ES" sz="2400" dirty="0"/>
              <a:t>El período de viremia es corto</a:t>
            </a:r>
          </a:p>
          <a:p>
            <a:r>
              <a:rPr lang="es-ES" sz="2400" dirty="0"/>
              <a:t>En los niños y adultos la infección es asintomática en el 90% de los casos. </a:t>
            </a:r>
          </a:p>
          <a:p>
            <a:r>
              <a:rPr lang="es-ES" sz="2400" dirty="0"/>
              <a:t>El cuadro clínico sintomático puede manifestarse como un síndrome mononucleósico. </a:t>
            </a:r>
          </a:p>
          <a:p>
            <a:r>
              <a:rPr lang="es-ES" sz="2400" dirty="0"/>
              <a:t>La infección en la embarazada puede ser 1ria o 2ria( reactivación o infección con nueva cepa). </a:t>
            </a:r>
          </a:p>
          <a:p>
            <a:r>
              <a:rPr lang="es-ES" sz="2400" dirty="0"/>
              <a:t>El feto puede infectarse por vía transplacentaria. </a:t>
            </a:r>
          </a:p>
          <a:p>
            <a:r>
              <a:rPr lang="es-ES" sz="2400" dirty="0"/>
              <a:t>La infección 1ria materna:  riesgo de infección fetal de 30 al 40% - la 2 ria: riesgo de 1 a 2%. </a:t>
            </a:r>
          </a:p>
          <a:p>
            <a:r>
              <a:rPr lang="es-ES" sz="2400" dirty="0"/>
              <a:t>la mayor morbilidad fetal, es en el 1er trimestre de embarazo.</a:t>
            </a:r>
          </a:p>
          <a:p>
            <a:r>
              <a:rPr lang="es-ES" sz="2400" dirty="0"/>
              <a:t>Es la infección perinatal más frecuente en todo el mundo. </a:t>
            </a:r>
          </a:p>
          <a:p>
            <a:endParaRPr lang="es-ES" sz="2000" dirty="0"/>
          </a:p>
        </p:txBody>
      </p:sp>
    </p:spTree>
    <p:extLst>
      <p:ext uri="{BB962C8B-B14F-4D97-AF65-F5344CB8AC3E}">
        <p14:creationId xmlns:p14="http://schemas.microsoft.com/office/powerpoint/2010/main" val="1069991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82443E-6B42-2405-AEA8-DD740E85A469}"/>
              </a:ext>
            </a:extLst>
          </p:cNvPr>
          <p:cNvSpPr>
            <a:spLocks noGrp="1"/>
          </p:cNvSpPr>
          <p:nvPr>
            <p:ph type="title"/>
          </p:nvPr>
        </p:nvSpPr>
        <p:spPr>
          <a:xfrm>
            <a:off x="2468715" y="1"/>
            <a:ext cx="7254569" cy="706581"/>
          </a:xfrm>
        </p:spPr>
        <p:txBody>
          <a:bodyPr/>
          <a:lstStyle/>
          <a:p>
            <a:r>
              <a:rPr lang="es-AR" dirty="0">
                <a:latin typeface="+mn-lt"/>
              </a:rPr>
              <a:t>Riesgo de transmisión de CMV</a:t>
            </a:r>
          </a:p>
        </p:txBody>
      </p:sp>
      <p:pic>
        <p:nvPicPr>
          <p:cNvPr id="5" name="Marcador de contenido 4">
            <a:extLst>
              <a:ext uri="{FF2B5EF4-FFF2-40B4-BE49-F238E27FC236}">
                <a16:creationId xmlns:a16="http://schemas.microsoft.com/office/drawing/2014/main" id="{F84B924C-7BF8-82EF-DB6E-7324CD611F59}"/>
              </a:ext>
            </a:extLst>
          </p:cNvPr>
          <p:cNvPicPr>
            <a:picLocks noGrp="1" noChangeAspect="1"/>
          </p:cNvPicPr>
          <p:nvPr>
            <p:ph idx="1"/>
          </p:nvPr>
        </p:nvPicPr>
        <p:blipFill>
          <a:blip r:embed="rId2"/>
          <a:stretch>
            <a:fillRect/>
          </a:stretch>
        </p:blipFill>
        <p:spPr>
          <a:xfrm>
            <a:off x="2230583" y="706582"/>
            <a:ext cx="7492702" cy="6151417"/>
          </a:xfrm>
        </p:spPr>
      </p:pic>
    </p:spTree>
    <p:extLst>
      <p:ext uri="{BB962C8B-B14F-4D97-AF65-F5344CB8AC3E}">
        <p14:creationId xmlns:p14="http://schemas.microsoft.com/office/powerpoint/2010/main" val="35922766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0455B9-110A-EC23-F198-C91D6974AE13}"/>
              </a:ext>
            </a:extLst>
          </p:cNvPr>
          <p:cNvSpPr>
            <a:spLocks noGrp="1"/>
          </p:cNvSpPr>
          <p:nvPr>
            <p:ph type="title"/>
          </p:nvPr>
        </p:nvSpPr>
        <p:spPr>
          <a:xfrm>
            <a:off x="304799" y="152401"/>
            <a:ext cx="11748655" cy="751408"/>
          </a:xfrm>
        </p:spPr>
        <p:txBody>
          <a:bodyPr>
            <a:normAutofit fontScale="90000"/>
          </a:bodyPr>
          <a:lstStyle/>
          <a:p>
            <a:r>
              <a:rPr lang="es-AR" dirty="0">
                <a:latin typeface="+mn-lt"/>
              </a:rPr>
              <a:t>Diagnóstico de infección por CMV en mujer embarazada </a:t>
            </a:r>
          </a:p>
        </p:txBody>
      </p:sp>
      <p:pic>
        <p:nvPicPr>
          <p:cNvPr id="5" name="Marcador de contenido 4">
            <a:extLst>
              <a:ext uri="{FF2B5EF4-FFF2-40B4-BE49-F238E27FC236}">
                <a16:creationId xmlns:a16="http://schemas.microsoft.com/office/drawing/2014/main" id="{77EFE1D8-0562-EA27-A3CC-158FE811AB9E}"/>
              </a:ext>
            </a:extLst>
          </p:cNvPr>
          <p:cNvPicPr>
            <a:picLocks noGrp="1" noChangeAspect="1"/>
          </p:cNvPicPr>
          <p:nvPr>
            <p:ph idx="1"/>
          </p:nvPr>
        </p:nvPicPr>
        <p:blipFill>
          <a:blip r:embed="rId2"/>
          <a:stretch>
            <a:fillRect/>
          </a:stretch>
        </p:blipFill>
        <p:spPr>
          <a:xfrm>
            <a:off x="1241673" y="903809"/>
            <a:ext cx="9708654" cy="5801790"/>
          </a:xfrm>
        </p:spPr>
      </p:pic>
    </p:spTree>
    <p:extLst>
      <p:ext uri="{BB962C8B-B14F-4D97-AF65-F5344CB8AC3E}">
        <p14:creationId xmlns:p14="http://schemas.microsoft.com/office/powerpoint/2010/main" val="26900747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842654" y="0"/>
            <a:ext cx="8118209" cy="778933"/>
          </a:xfrm>
        </p:spPr>
        <p:txBody>
          <a:bodyPr>
            <a:normAutofit/>
          </a:bodyPr>
          <a:lstStyle/>
          <a:p>
            <a:pPr algn="ctr"/>
            <a:r>
              <a:rPr lang="es-AR" dirty="0"/>
              <a:t>Indicadores de Infección por CMV</a:t>
            </a:r>
            <a:endParaRPr lang="en-US" dirty="0"/>
          </a:p>
        </p:txBody>
      </p:sp>
      <p:sp>
        <p:nvSpPr>
          <p:cNvPr id="3" name="Marcador de contenido 2"/>
          <p:cNvSpPr>
            <a:spLocks noGrp="1"/>
          </p:cNvSpPr>
          <p:nvPr>
            <p:ph idx="1"/>
          </p:nvPr>
        </p:nvSpPr>
        <p:spPr>
          <a:xfrm>
            <a:off x="0" y="778933"/>
            <a:ext cx="12191999" cy="6079067"/>
          </a:xfrm>
        </p:spPr>
        <p:txBody>
          <a:bodyPr>
            <a:normAutofit/>
          </a:bodyPr>
          <a:lstStyle/>
          <a:p>
            <a:pPr marL="0" indent="0">
              <a:buNone/>
            </a:pPr>
            <a:r>
              <a:rPr lang="es-ES" sz="2000" dirty="0"/>
              <a:t>El mayor riesgo de infección en el embarazo es la exposición prolongada a niños &lt; de 2 años y el personal de guarderías, pediatría y neonatología. </a:t>
            </a:r>
          </a:p>
          <a:p>
            <a:pPr marL="0" indent="0" algn="ctr">
              <a:buNone/>
            </a:pPr>
            <a:r>
              <a:rPr lang="es-ES" sz="2000" dirty="0"/>
              <a:t> </a:t>
            </a:r>
          </a:p>
          <a:p>
            <a:r>
              <a:rPr lang="es-ES" sz="2400" b="1" dirty="0"/>
              <a:t>Diagnóstico en embarazo</a:t>
            </a:r>
          </a:p>
          <a:p>
            <a:pPr marL="0" indent="0">
              <a:buNone/>
            </a:pPr>
            <a:r>
              <a:rPr lang="es-ES" sz="2000" dirty="0"/>
              <a:t>Antes de 20 semanas:  IGG + test avidez con alta avidez:  Inmunidad previa al embarazo.</a:t>
            </a:r>
          </a:p>
          <a:p>
            <a:pPr marL="0" indent="0">
              <a:buNone/>
            </a:pPr>
            <a:r>
              <a:rPr lang="es-ES" sz="2000" dirty="0"/>
              <a:t>Dps de 20 semanas: Ig M + test avidez con baja avidez y curvas de IG G:  Infección aguda.</a:t>
            </a:r>
          </a:p>
          <a:p>
            <a:pPr marL="0" indent="0">
              <a:buNone/>
            </a:pPr>
            <a:endParaRPr lang="es-ES" sz="2000" dirty="0"/>
          </a:p>
          <a:p>
            <a:r>
              <a:rPr lang="es-ES" sz="2400" b="1" dirty="0"/>
              <a:t>Diagnóstico en el recién nacido</a:t>
            </a:r>
            <a:r>
              <a:rPr lang="es-ES" sz="2400" dirty="0"/>
              <a:t>:</a:t>
            </a:r>
            <a:r>
              <a:rPr lang="es-ES" sz="2000" dirty="0"/>
              <a:t>                  </a:t>
            </a:r>
          </a:p>
          <a:p>
            <a:pPr marL="0" indent="0">
              <a:buNone/>
            </a:pPr>
            <a:r>
              <a:rPr lang="es-ES" sz="2000" dirty="0"/>
              <a:t>Clínica: Visceromegalias, microcefalia, purpura, hepatitis, alteraciones visuales, auditivas, neurológicas </a:t>
            </a:r>
          </a:p>
          <a:p>
            <a:pPr marL="0" indent="0">
              <a:buNone/>
            </a:pPr>
            <a:r>
              <a:rPr lang="es-ES" sz="2000" dirty="0"/>
              <a:t>Laboratorio: PCR CMV en orina del RN en los primeros 14 a 21 días de vida. </a:t>
            </a:r>
          </a:p>
          <a:p>
            <a:r>
              <a:rPr lang="es-ES" sz="2400" b="1" dirty="0"/>
              <a:t>Diagnostico Infección postnatal</a:t>
            </a:r>
            <a:r>
              <a:rPr lang="es-ES" sz="2400" dirty="0"/>
              <a:t>:  </a:t>
            </a:r>
          </a:p>
          <a:p>
            <a:pPr marL="0" indent="0">
              <a:buNone/>
            </a:pPr>
            <a:r>
              <a:rPr lang="es-ES" sz="2000" dirty="0"/>
              <a:t>RN prematuros con sepsis en los primeros meses de vida.  (transfusiones o lactancia) Dg por clínica y PCR orina</a:t>
            </a:r>
          </a:p>
          <a:p>
            <a:pPr marL="0" indent="0">
              <a:buNone/>
            </a:pPr>
            <a:endParaRPr lang="es-ES" sz="2000" dirty="0"/>
          </a:p>
          <a:p>
            <a:pPr marL="0" indent="0">
              <a:buNone/>
            </a:pPr>
            <a:endParaRPr lang="es-ES" sz="2000" dirty="0"/>
          </a:p>
          <a:p>
            <a:pPr marL="0" indent="0">
              <a:buNone/>
            </a:pPr>
            <a:endParaRPr lang="es-ES" sz="2000" dirty="0"/>
          </a:p>
          <a:p>
            <a:pPr marL="0" indent="0">
              <a:buNone/>
            </a:pPr>
            <a:endParaRPr lang="es-ES" sz="2000" dirty="0"/>
          </a:p>
          <a:p>
            <a:pPr marL="0" indent="0">
              <a:buNone/>
            </a:pPr>
            <a:endParaRPr lang="es-ES" sz="2000" dirty="0"/>
          </a:p>
          <a:p>
            <a:endParaRPr lang="es-ES" dirty="0"/>
          </a:p>
        </p:txBody>
      </p:sp>
      <p:sp>
        <p:nvSpPr>
          <p:cNvPr id="6" name="Rectángulo 5"/>
          <p:cNvSpPr/>
          <p:nvPr/>
        </p:nvSpPr>
        <p:spPr>
          <a:xfrm>
            <a:off x="79022" y="5937956"/>
            <a:ext cx="12011378" cy="7676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2000" dirty="0"/>
              <a:t>Evaluar al RN con PCR (+) en orina, hemograma y hepatograma, fondo de ojo, ecografía cerebral o resonancia magnética cerebral y oto-emisiones acústicas ( y potenciales evocados en algunos casos). </a:t>
            </a:r>
          </a:p>
        </p:txBody>
      </p:sp>
      <p:sp>
        <p:nvSpPr>
          <p:cNvPr id="4" name="Elipse 3"/>
          <p:cNvSpPr/>
          <p:nvPr/>
        </p:nvSpPr>
        <p:spPr>
          <a:xfrm>
            <a:off x="6095999" y="1242710"/>
            <a:ext cx="5520429" cy="8800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Pedir serología pre-embarazo para ver inmunidad</a:t>
            </a:r>
            <a:endParaRPr lang="en-US" sz="2400" dirty="0"/>
          </a:p>
        </p:txBody>
      </p:sp>
      <p:sp>
        <p:nvSpPr>
          <p:cNvPr id="8" name="Elipse 7"/>
          <p:cNvSpPr/>
          <p:nvPr/>
        </p:nvSpPr>
        <p:spPr>
          <a:xfrm>
            <a:off x="6095999" y="3110023"/>
            <a:ext cx="5520429" cy="7676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IgG negativa en la madre descarta  infección en RN</a:t>
            </a:r>
          </a:p>
        </p:txBody>
      </p:sp>
    </p:spTree>
    <p:extLst>
      <p:ext uri="{BB962C8B-B14F-4D97-AF65-F5344CB8AC3E}">
        <p14:creationId xmlns:p14="http://schemas.microsoft.com/office/powerpoint/2010/main" val="20363035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31136" y="203200"/>
            <a:ext cx="7729728" cy="802640"/>
          </a:xfrm>
        </p:spPr>
        <p:txBody>
          <a:bodyPr>
            <a:normAutofit/>
          </a:bodyPr>
          <a:lstStyle/>
          <a:p>
            <a:r>
              <a:rPr lang="es-AR" dirty="0"/>
              <a:t>Tratamiento- Seguimiento</a:t>
            </a:r>
            <a:endParaRPr lang="en-US" dirty="0"/>
          </a:p>
        </p:txBody>
      </p:sp>
      <p:sp>
        <p:nvSpPr>
          <p:cNvPr id="3" name="Marcador de contenido 2"/>
          <p:cNvSpPr>
            <a:spLocks noGrp="1"/>
          </p:cNvSpPr>
          <p:nvPr>
            <p:ph idx="1"/>
          </p:nvPr>
        </p:nvSpPr>
        <p:spPr>
          <a:xfrm>
            <a:off x="0" y="1320800"/>
            <a:ext cx="12192000" cy="5537200"/>
          </a:xfrm>
        </p:spPr>
        <p:txBody>
          <a:bodyPr>
            <a:normAutofit/>
          </a:bodyPr>
          <a:lstStyle/>
          <a:p>
            <a:r>
              <a:rPr lang="es-ES" sz="2400" b="1" dirty="0"/>
              <a:t>Tratamiento:</a:t>
            </a:r>
          </a:p>
          <a:p>
            <a:pPr marL="0" indent="0">
              <a:buNone/>
            </a:pPr>
            <a:r>
              <a:rPr lang="es-ES" sz="2400" dirty="0"/>
              <a:t>EMBARAZO: Controversias respecto al tratamiento. ( Hay protocolos con Ig y tb ganciclovir).</a:t>
            </a:r>
          </a:p>
          <a:p>
            <a:pPr marL="0" indent="0">
              <a:buNone/>
            </a:pPr>
            <a:r>
              <a:rPr lang="es-ES" sz="2400" dirty="0"/>
              <a:t>R.N. SINTOMÁTICO: Ganciclovir o Valganciclovir. </a:t>
            </a:r>
          </a:p>
          <a:p>
            <a:pPr marL="0" indent="0">
              <a:buNone/>
            </a:pPr>
            <a:r>
              <a:rPr lang="es-ES" sz="2400" dirty="0"/>
              <a:t>INFECCIÓN POSTNATAL:  RN prematuros con cuadro sepsis en los primeros meses de vida.  (por transfusiones o la lecha materna). tratamiento antiviral </a:t>
            </a:r>
          </a:p>
          <a:p>
            <a:pPr marL="0" indent="0">
              <a:buNone/>
            </a:pPr>
            <a:endParaRPr lang="es-ES" sz="2400" b="1" dirty="0"/>
          </a:p>
          <a:p>
            <a:r>
              <a:rPr lang="es-ES" sz="2400" b="1" dirty="0"/>
              <a:t>Seguimiento:</a:t>
            </a:r>
            <a:r>
              <a:rPr lang="es-ES" sz="2400" dirty="0"/>
              <a:t> </a:t>
            </a:r>
          </a:p>
          <a:p>
            <a:pPr marL="0" indent="0">
              <a:buNone/>
            </a:pPr>
            <a:r>
              <a:rPr lang="es-ES" sz="2400" dirty="0"/>
              <a:t>Control auditivo cada 6 meses en los 1ros 3 años de vida y luego anual hasta los 6 años. </a:t>
            </a:r>
          </a:p>
          <a:p>
            <a:pPr marL="0" indent="0">
              <a:buNone/>
            </a:pPr>
            <a:r>
              <a:rPr lang="es-ES" sz="2400" dirty="0"/>
              <a:t>Según la condición clínica controles oftalmológicos, o neurológicos y estimulación temprana</a:t>
            </a:r>
            <a:endParaRPr lang="en-US" sz="2400" dirty="0"/>
          </a:p>
          <a:p>
            <a:pPr marL="0" indent="0">
              <a:buNone/>
            </a:pPr>
            <a:endParaRPr lang="es-ES" sz="2400" dirty="0"/>
          </a:p>
        </p:txBody>
      </p:sp>
    </p:spTree>
    <p:extLst>
      <p:ext uri="{BB962C8B-B14F-4D97-AF65-F5344CB8AC3E}">
        <p14:creationId xmlns:p14="http://schemas.microsoft.com/office/powerpoint/2010/main" val="1139560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31136" y="0"/>
            <a:ext cx="7065264" cy="1038578"/>
          </a:xfrm>
        </p:spPr>
        <p:txBody>
          <a:bodyPr/>
          <a:lstStyle/>
          <a:p>
            <a:pPr algn="ctr"/>
            <a:r>
              <a:rPr lang="es-AR" dirty="0">
                <a:latin typeface="+mn-lt"/>
              </a:rPr>
              <a:t>Prevención</a:t>
            </a:r>
            <a:endParaRPr lang="en-US" dirty="0">
              <a:latin typeface="+mn-lt"/>
            </a:endParaRPr>
          </a:p>
        </p:txBody>
      </p:sp>
      <p:sp>
        <p:nvSpPr>
          <p:cNvPr id="3" name="Marcador de contenido 2"/>
          <p:cNvSpPr>
            <a:spLocks noGrp="1"/>
          </p:cNvSpPr>
          <p:nvPr>
            <p:ph idx="1"/>
          </p:nvPr>
        </p:nvSpPr>
        <p:spPr>
          <a:xfrm>
            <a:off x="0" y="1444978"/>
            <a:ext cx="12192000" cy="5413022"/>
          </a:xfrm>
        </p:spPr>
        <p:txBody>
          <a:bodyPr>
            <a:normAutofit/>
          </a:bodyPr>
          <a:lstStyle/>
          <a:p>
            <a:r>
              <a:rPr lang="es-ES" sz="2400" dirty="0"/>
              <a:t>MEDIDAS HIGIÉNICAS DE PREVENCIÓN. </a:t>
            </a:r>
          </a:p>
          <a:p>
            <a:pPr marL="0" indent="0">
              <a:buNone/>
            </a:pPr>
            <a:r>
              <a:rPr lang="es-ES" sz="2400" dirty="0"/>
              <a:t>Ø Evitar el contacto con saliva, secreciones respiratorias y orina, de niños menores de 2-4 años. </a:t>
            </a:r>
          </a:p>
          <a:p>
            <a:pPr marL="0" indent="0">
              <a:buNone/>
            </a:pPr>
            <a:r>
              <a:rPr lang="es-ES" sz="2400" dirty="0"/>
              <a:t>Ø No compartir los utensilios de cocina. </a:t>
            </a:r>
          </a:p>
          <a:p>
            <a:pPr marL="0" indent="0">
              <a:buNone/>
            </a:pPr>
            <a:r>
              <a:rPr lang="es-ES" sz="2400" dirty="0"/>
              <a:t>Ø No comer los restos de comida que dejan en el plato. </a:t>
            </a:r>
          </a:p>
          <a:p>
            <a:pPr marL="0" indent="0">
              <a:buNone/>
            </a:pPr>
            <a:r>
              <a:rPr lang="es-ES" sz="2400" dirty="0"/>
              <a:t>Ø No limpiar con su boca el chupete de su hijo. </a:t>
            </a:r>
          </a:p>
          <a:p>
            <a:pPr marL="0" indent="0">
              <a:buNone/>
            </a:pPr>
            <a:r>
              <a:rPr lang="es-ES" sz="2400" dirty="0"/>
              <a:t>Ø Lavarse las manos luego de cambiarle los pañales, acompañarlo al baño o limpiarle la nariz. </a:t>
            </a:r>
          </a:p>
          <a:p>
            <a:pPr marL="0" indent="0">
              <a:buNone/>
            </a:pPr>
            <a:r>
              <a:rPr lang="es-ES" sz="2400" dirty="0"/>
              <a:t>Ø Lavar periódicamente los juguetes que se llevan a la boca. </a:t>
            </a:r>
          </a:p>
          <a:p>
            <a:pPr marL="0" indent="0">
              <a:buNone/>
            </a:pPr>
            <a:endParaRPr lang="es-ES" sz="2400" dirty="0"/>
          </a:p>
          <a:p>
            <a:pPr marL="0" indent="0">
              <a:buNone/>
            </a:pPr>
            <a:endParaRPr lang="es-ES" sz="2400" dirty="0"/>
          </a:p>
          <a:p>
            <a:r>
              <a:rPr lang="es-ES" sz="2400" dirty="0"/>
              <a:t>Las vacunas por el momento están en etapa de investigación.</a:t>
            </a:r>
            <a:endParaRPr lang="en-US" sz="2400" dirty="0"/>
          </a:p>
        </p:txBody>
      </p:sp>
    </p:spTree>
    <p:extLst>
      <p:ext uri="{BB962C8B-B14F-4D97-AF65-F5344CB8AC3E}">
        <p14:creationId xmlns:p14="http://schemas.microsoft.com/office/powerpoint/2010/main" val="17340811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38409" y="0"/>
            <a:ext cx="7729728" cy="692727"/>
          </a:xfrm>
        </p:spPr>
        <p:txBody>
          <a:bodyPr>
            <a:normAutofit fontScale="90000"/>
          </a:bodyPr>
          <a:lstStyle/>
          <a:p>
            <a:pPr algn="ctr"/>
            <a:r>
              <a:rPr lang="es-ES" dirty="0">
                <a:latin typeface="Calibri" panose="020F0502020204030204" pitchFamily="34" charset="0"/>
                <a:cs typeface="Calibri" panose="020F0502020204030204" pitchFamily="34" charset="0"/>
              </a:rPr>
              <a:t>HERPES SIMPLEX</a:t>
            </a:r>
            <a:endParaRPr lang="en-US" dirty="0">
              <a:latin typeface="Calibri" panose="020F0502020204030204" pitchFamily="34" charset="0"/>
              <a:cs typeface="Calibri" panose="020F0502020204030204" pitchFamily="34" charset="0"/>
            </a:endParaRPr>
          </a:p>
        </p:txBody>
      </p:sp>
      <p:sp>
        <p:nvSpPr>
          <p:cNvPr id="3" name="Marcador de contenido 2"/>
          <p:cNvSpPr>
            <a:spLocks noGrp="1"/>
          </p:cNvSpPr>
          <p:nvPr>
            <p:ph idx="1"/>
          </p:nvPr>
        </p:nvSpPr>
        <p:spPr>
          <a:xfrm>
            <a:off x="135467" y="692728"/>
            <a:ext cx="12056533" cy="6165272"/>
          </a:xfrm>
        </p:spPr>
        <p:txBody>
          <a:bodyPr>
            <a:normAutofit/>
          </a:bodyPr>
          <a:lstStyle/>
          <a:p>
            <a:r>
              <a:rPr lang="es-ES" sz="2400" dirty="0"/>
              <a:t>HSV-1: causa gingivoestomatitis y faringitis.</a:t>
            </a:r>
          </a:p>
          <a:p>
            <a:r>
              <a:rPr lang="es-ES" sz="2400" dirty="0"/>
              <a:t>HSV-2: Herpes genital.  Usualmente, se adquiere por contacto sexual.</a:t>
            </a:r>
          </a:p>
          <a:p>
            <a:r>
              <a:rPr lang="es-ES" sz="2400" dirty="0"/>
              <a:t>Puede haber infecciones de la cavidad oral por HSV tipo II y lesiones genitales por HSV tipo I. </a:t>
            </a:r>
          </a:p>
          <a:p>
            <a:r>
              <a:rPr lang="es-ES" sz="2400" dirty="0"/>
              <a:t>Se estima que un 25 a 30 % de las mujeres en edad fértil han tenido contacto con estos virus, solo de 5 al 10 % tienen antecedentes de episodios sintomáticos en alguna etapa de su vida y el 2 % de las mujeres pueden adquirir una infección primaria en el embarazo.</a:t>
            </a:r>
          </a:p>
          <a:p>
            <a:r>
              <a:rPr lang="es-ES" sz="2400" dirty="0"/>
              <a:t>El virus se replica en el epitelio y luego se disemina por el nervio sensitivo hasta el ganglio dorsal de la raíz sacra.</a:t>
            </a:r>
          </a:p>
          <a:p>
            <a:pPr marL="0" indent="0">
              <a:buNone/>
            </a:pPr>
            <a:r>
              <a:rPr lang="es-ES" sz="2400" b="1" dirty="0"/>
              <a:t>Tratamiento para un primer episodio de Herpes genital sintomático</a:t>
            </a:r>
            <a:r>
              <a:rPr lang="es-ES" sz="2400" dirty="0"/>
              <a:t>: </a:t>
            </a:r>
          </a:p>
          <a:p>
            <a:r>
              <a:rPr lang="es-ES" sz="2400" dirty="0"/>
              <a:t>Aciclovir: 400 mg cada 8 horas durante 7 días.</a:t>
            </a:r>
          </a:p>
          <a:p>
            <a:r>
              <a:rPr lang="es-ES" sz="2400" dirty="0"/>
              <a:t>Valaciclovir: 1.000 mg cada 12 horas por 10 días.</a:t>
            </a:r>
          </a:p>
          <a:p>
            <a:r>
              <a:rPr lang="es-ES" sz="2400" dirty="0"/>
              <a:t>Famciclovir: 250 mg cada 8 horas por 5 a 10 días.</a:t>
            </a:r>
          </a:p>
          <a:p>
            <a:endParaRPr lang="es-ES" sz="2000" dirty="0"/>
          </a:p>
          <a:p>
            <a:endParaRPr lang="es-ES" sz="2000" dirty="0"/>
          </a:p>
        </p:txBody>
      </p:sp>
      <p:sp>
        <p:nvSpPr>
          <p:cNvPr id="4" name="Rectángulo 3">
            <a:extLst>
              <a:ext uri="{FF2B5EF4-FFF2-40B4-BE49-F238E27FC236}">
                <a16:creationId xmlns:a16="http://schemas.microsoft.com/office/drawing/2014/main" id="{7A6B3396-1F25-2735-4939-F81611C22C28}"/>
              </a:ext>
            </a:extLst>
          </p:cNvPr>
          <p:cNvSpPr/>
          <p:nvPr/>
        </p:nvSpPr>
        <p:spPr>
          <a:xfrm>
            <a:off x="644236" y="5846617"/>
            <a:ext cx="10903527" cy="8872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dirty="0"/>
              <a:t>La principal medida para la prevención del Herpes neonatal es la identificación de las mujeres embarazadas con Herpes genital</a:t>
            </a:r>
            <a:endParaRPr lang="en-US" sz="2400" dirty="0"/>
          </a:p>
        </p:txBody>
      </p:sp>
    </p:spTree>
    <p:extLst>
      <p:ext uri="{BB962C8B-B14F-4D97-AF65-F5344CB8AC3E}">
        <p14:creationId xmlns:p14="http://schemas.microsoft.com/office/powerpoint/2010/main" val="26893958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a:xfrm>
            <a:off x="2231136" y="101600"/>
            <a:ext cx="7729728" cy="699911"/>
          </a:xfrm>
        </p:spPr>
        <p:txBody>
          <a:bodyPr>
            <a:normAutofit/>
          </a:bodyPr>
          <a:lstStyle/>
          <a:p>
            <a:pPr algn="ctr"/>
            <a:r>
              <a:rPr lang="es-AR" dirty="0">
                <a:latin typeface="+mn-lt"/>
              </a:rPr>
              <a:t>Herpes Neonatal</a:t>
            </a:r>
            <a:endParaRPr lang="en-US" dirty="0">
              <a:latin typeface="+mn-lt"/>
            </a:endParaRPr>
          </a:p>
        </p:txBody>
      </p:sp>
      <p:sp>
        <p:nvSpPr>
          <p:cNvPr id="6" name="Marcador de contenido 5"/>
          <p:cNvSpPr>
            <a:spLocks noGrp="1"/>
          </p:cNvSpPr>
          <p:nvPr>
            <p:ph idx="1"/>
          </p:nvPr>
        </p:nvSpPr>
        <p:spPr>
          <a:xfrm>
            <a:off x="0" y="925690"/>
            <a:ext cx="12192000" cy="5932310"/>
          </a:xfrm>
        </p:spPr>
        <p:txBody>
          <a:bodyPr>
            <a:normAutofit/>
          </a:bodyPr>
          <a:lstStyle/>
          <a:p>
            <a:r>
              <a:rPr lang="es-ES" sz="2400" b="1" dirty="0"/>
              <a:t>Vías de transmisión:</a:t>
            </a:r>
          </a:p>
          <a:p>
            <a:pPr>
              <a:buFont typeface="Wingdings" panose="05000000000000000000" pitchFamily="2" charset="2"/>
              <a:buChar char="ü"/>
            </a:pPr>
            <a:r>
              <a:rPr lang="es-ES" sz="2400" dirty="0"/>
              <a:t>Canal del parto: ( 80 %) por exposición directa al virus contenido en lesiones o secreciones infectadas</a:t>
            </a:r>
          </a:p>
          <a:p>
            <a:pPr>
              <a:buFont typeface="Wingdings" panose="05000000000000000000" pitchFamily="2" charset="2"/>
              <a:buChar char="ü"/>
            </a:pPr>
            <a:r>
              <a:rPr lang="es-ES" sz="2400" dirty="0"/>
              <a:t>Intrauterina: ( 5 %) por vía transplacentaria o ascendente</a:t>
            </a:r>
          </a:p>
          <a:p>
            <a:pPr>
              <a:buFont typeface="Wingdings" panose="05000000000000000000" pitchFamily="2" charset="2"/>
              <a:buChar char="ü"/>
            </a:pPr>
            <a:r>
              <a:rPr lang="es-ES" sz="2400" dirty="0"/>
              <a:t>Postnatal (10 %)  por contacto con lesiones orales o de manos (panadizo herpético). El HSV 1 es más frecuente</a:t>
            </a:r>
            <a:r>
              <a:rPr lang="es-ES" dirty="0"/>
              <a:t>.</a:t>
            </a:r>
          </a:p>
          <a:p>
            <a:pPr>
              <a:buFont typeface="Wingdings" panose="05000000000000000000" pitchFamily="2" charset="2"/>
              <a:buChar char="ü"/>
            </a:pPr>
            <a:endParaRPr lang="es-ES" dirty="0"/>
          </a:p>
          <a:p>
            <a:r>
              <a:rPr lang="es-ES" sz="2400" dirty="0"/>
              <a:t>En el recién nacido de una madre con lesiones genitales en el momento del parto, después de las 48 horas de vida debe realizarse un hisopado de la superficie corporal (conjuntivas, conducto auditivo externo, región umbilical, fauces) para cultivo.</a:t>
            </a:r>
          </a:p>
          <a:p>
            <a:r>
              <a:rPr lang="es-ES" sz="2400" dirty="0"/>
              <a:t>Algunos autores recomiendan el tratamiento preventivo de los hijos de madres con lesiones activas en el momento del parto y cultivos positivo.</a:t>
            </a:r>
          </a:p>
        </p:txBody>
      </p:sp>
    </p:spTree>
    <p:extLst>
      <p:ext uri="{BB962C8B-B14F-4D97-AF65-F5344CB8AC3E}">
        <p14:creationId xmlns:p14="http://schemas.microsoft.com/office/powerpoint/2010/main" val="24554634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22764" y="104166"/>
            <a:ext cx="8852500" cy="699911"/>
          </a:xfrm>
        </p:spPr>
        <p:txBody>
          <a:bodyPr>
            <a:normAutofit fontScale="90000"/>
          </a:bodyPr>
          <a:lstStyle/>
          <a:p>
            <a:r>
              <a:rPr lang="es-AR" dirty="0">
                <a:latin typeface="+mn-lt"/>
              </a:rPr>
              <a:t>Manifestaciones  clínicas Herpes Neonatal</a:t>
            </a:r>
            <a:endParaRPr lang="en-US" dirty="0">
              <a:latin typeface="+mn-lt"/>
            </a:endParaRPr>
          </a:p>
        </p:txBody>
      </p:sp>
      <p:sp>
        <p:nvSpPr>
          <p:cNvPr id="3" name="Marcador de contenido 2"/>
          <p:cNvSpPr>
            <a:spLocks noGrp="1"/>
          </p:cNvSpPr>
          <p:nvPr>
            <p:ph idx="1"/>
          </p:nvPr>
        </p:nvSpPr>
        <p:spPr>
          <a:xfrm>
            <a:off x="0" y="997526"/>
            <a:ext cx="12192000" cy="5860473"/>
          </a:xfrm>
        </p:spPr>
        <p:txBody>
          <a:bodyPr>
            <a:normAutofit/>
          </a:bodyPr>
          <a:lstStyle/>
          <a:p>
            <a:pPr marL="0" indent="0">
              <a:buNone/>
            </a:pPr>
            <a:r>
              <a:rPr lang="es-ES" sz="2400" dirty="0"/>
              <a:t>Inicio de síntomas: desde la 1° a la 3° semana.</a:t>
            </a:r>
          </a:p>
          <a:p>
            <a:r>
              <a:rPr lang="es-ES" sz="2400" dirty="0"/>
              <a:t>Infección localizada en la piel, ojos y/o boca. (35 % del total)</a:t>
            </a:r>
          </a:p>
          <a:p>
            <a:r>
              <a:rPr lang="es-ES" sz="2400" dirty="0"/>
              <a:t>Las lesiones oculares:  Queratoconjuntivitis, la microftalmia, displasia de retina y la coriorretinitis.</a:t>
            </a:r>
          </a:p>
          <a:p>
            <a:r>
              <a:rPr lang="es-ES" sz="2400" dirty="0"/>
              <a:t>Síndrome febril sin foco (32 % del total) </a:t>
            </a:r>
          </a:p>
          <a:p>
            <a:r>
              <a:rPr lang="es-ES" sz="2400" dirty="0"/>
              <a:t>Infección diseminada: Semejante a sepsis bacteriana.</a:t>
            </a:r>
          </a:p>
          <a:p>
            <a:r>
              <a:rPr lang="es-ES" sz="2400" dirty="0"/>
              <a:t>Encefalitis (33 % del total).</a:t>
            </a:r>
          </a:p>
          <a:p>
            <a:r>
              <a:rPr lang="es-ES" sz="2400" dirty="0"/>
              <a:t>Convulsiones, letargia o irritabilidad, temblores,  fontanela tensa, inestabilidad térmica y pobre alimentación con pérdida del reflejo deglutorio.</a:t>
            </a:r>
          </a:p>
          <a:p>
            <a:r>
              <a:rPr lang="es-ES" sz="2400" dirty="0"/>
              <a:t>Las lesiones cerebrales pueden ser:  microcefalia, hidroanencefalia, quistes encefálicos. </a:t>
            </a:r>
          </a:p>
          <a:p>
            <a:r>
              <a:rPr lang="es-ES" sz="2400" dirty="0"/>
              <a:t>Pueden presentar retraso psicomotriz, espasticidad, ceguera y trastornos del aprendizaje.</a:t>
            </a:r>
          </a:p>
        </p:txBody>
      </p:sp>
      <p:sp>
        <p:nvSpPr>
          <p:cNvPr id="4" name="Rectángulo 3">
            <a:extLst>
              <a:ext uri="{FF2B5EF4-FFF2-40B4-BE49-F238E27FC236}">
                <a16:creationId xmlns:a16="http://schemas.microsoft.com/office/drawing/2014/main" id="{3C2A02EE-138E-DF7E-79BF-5FB738DA3A1D}"/>
              </a:ext>
            </a:extLst>
          </p:cNvPr>
          <p:cNvSpPr/>
          <p:nvPr/>
        </p:nvSpPr>
        <p:spPr>
          <a:xfrm>
            <a:off x="1440873" y="6137564"/>
            <a:ext cx="9989127" cy="6162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2800" dirty="0"/>
              <a:t>La mortalidad asciende al 50 % si no se realiza terapia antiviral</a:t>
            </a:r>
            <a:endParaRPr lang="en-US" sz="2800" dirty="0"/>
          </a:p>
        </p:txBody>
      </p:sp>
    </p:spTree>
    <p:extLst>
      <p:ext uri="{BB962C8B-B14F-4D97-AF65-F5344CB8AC3E}">
        <p14:creationId xmlns:p14="http://schemas.microsoft.com/office/powerpoint/2010/main" val="6861747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2161309" y="332509"/>
            <a:ext cx="7772400" cy="581891"/>
          </a:xfrm>
        </p:spPr>
        <p:txBody>
          <a:bodyPr>
            <a:normAutofit fontScale="90000"/>
          </a:bodyPr>
          <a:lstStyle/>
          <a:p>
            <a:pPr algn="ctr"/>
            <a:r>
              <a:rPr lang="en-US" dirty="0"/>
              <a:t>Tratamiento </a:t>
            </a:r>
          </a:p>
        </p:txBody>
      </p:sp>
      <p:sp>
        <p:nvSpPr>
          <p:cNvPr id="9" name="CuadroTexto 8">
            <a:extLst>
              <a:ext uri="{FF2B5EF4-FFF2-40B4-BE49-F238E27FC236}">
                <a16:creationId xmlns:a16="http://schemas.microsoft.com/office/drawing/2014/main" id="{9D9BD799-FCE6-D499-8F6F-51B33E6D86BD}"/>
              </a:ext>
            </a:extLst>
          </p:cNvPr>
          <p:cNvSpPr txBox="1"/>
          <p:nvPr/>
        </p:nvSpPr>
        <p:spPr>
          <a:xfrm>
            <a:off x="256309" y="914400"/>
            <a:ext cx="11679382" cy="5678478"/>
          </a:xfrm>
          <a:prstGeom prst="rect">
            <a:avLst/>
          </a:prstGeom>
          <a:noFill/>
        </p:spPr>
        <p:txBody>
          <a:bodyPr wrap="square">
            <a:spAutoFit/>
          </a:bodyPr>
          <a:lstStyle/>
          <a:p>
            <a:pPr>
              <a:spcBef>
                <a:spcPts val="1800"/>
              </a:spcBef>
              <a:buSzPts val="2400"/>
            </a:pPr>
            <a:r>
              <a:rPr lang="es-ES" sz="2400" b="1" dirty="0"/>
              <a:t>- Primo-infección: Aciclovir</a:t>
            </a:r>
            <a:r>
              <a:rPr lang="es-ES" sz="2400" dirty="0"/>
              <a:t> VO 400mg cada 8hs, 7 a 10 días     </a:t>
            </a:r>
          </a:p>
          <a:p>
            <a:pPr>
              <a:spcBef>
                <a:spcPts val="1800"/>
              </a:spcBef>
              <a:buSzPts val="2400"/>
            </a:pPr>
            <a:r>
              <a:rPr lang="es-ES" sz="2400" dirty="0"/>
              <a:t>                                 </a:t>
            </a:r>
            <a:r>
              <a:rPr lang="es-ES" sz="2400" b="1" dirty="0"/>
              <a:t>Valaciclovi</a:t>
            </a:r>
            <a:r>
              <a:rPr lang="es-ES" sz="2400" dirty="0"/>
              <a:t>r 1g cada 12hs, 7 a 10 días.</a:t>
            </a:r>
            <a:br>
              <a:rPr lang="es-ES" sz="2400" dirty="0"/>
            </a:br>
            <a:r>
              <a:rPr lang="es-ES" sz="2400" dirty="0"/>
              <a:t>Se puede extender mas días si aun no se logró la cicatrización.</a:t>
            </a:r>
            <a:br>
              <a:rPr lang="es-ES" sz="2400" dirty="0"/>
            </a:br>
            <a:r>
              <a:rPr lang="es-ES" sz="2400" i="1" dirty="0"/>
              <a:t>Reiniciar a las 36 semanas: terapia de supresión.</a:t>
            </a:r>
            <a:br>
              <a:rPr lang="es-ES" sz="2400" i="1" dirty="0"/>
            </a:br>
            <a:r>
              <a:rPr lang="es-ES" sz="2400" i="1" dirty="0"/>
              <a:t>Si la infección es en el 3er trimestre considerar tratamiento hasta el parto</a:t>
            </a:r>
            <a:r>
              <a:rPr lang="es-ES" sz="1800" dirty="0"/>
              <a:t>.</a:t>
            </a:r>
            <a:endParaRPr lang="es-ES" sz="1100" dirty="0"/>
          </a:p>
          <a:p>
            <a:pPr>
              <a:spcBef>
                <a:spcPts val="1800"/>
              </a:spcBef>
              <a:buSzPts val="2400"/>
            </a:pPr>
            <a:r>
              <a:rPr lang="es-ES" sz="2400" b="1" dirty="0"/>
              <a:t>- Recurrencia</a:t>
            </a:r>
            <a:r>
              <a:rPr lang="es-ES" sz="2400" dirty="0"/>
              <a:t>: </a:t>
            </a:r>
            <a:r>
              <a:rPr lang="es-ES" sz="2400" b="1" dirty="0"/>
              <a:t>Aciclovir</a:t>
            </a:r>
            <a:r>
              <a:rPr lang="es-ES" sz="2400" dirty="0"/>
              <a:t> VO 800mg cada 12hs por 5 días ú 800mg cada 8 hs por 2 días,</a:t>
            </a:r>
            <a:br>
              <a:rPr lang="es-ES" sz="2400" dirty="0"/>
            </a:br>
            <a:r>
              <a:rPr lang="es-ES" sz="2400" dirty="0"/>
              <a:t>                          </a:t>
            </a:r>
            <a:r>
              <a:rPr lang="es-ES" sz="2400" b="1" dirty="0"/>
              <a:t>Valaciclovir</a:t>
            </a:r>
            <a:r>
              <a:rPr lang="es-ES" sz="2400" dirty="0"/>
              <a:t> 500g cada 12hs por tres días, o 1g cada 24hs por 5 días.</a:t>
            </a:r>
          </a:p>
          <a:p>
            <a:pPr marL="76199">
              <a:spcBef>
                <a:spcPts val="1800"/>
              </a:spcBef>
              <a:buClr>
                <a:srgbClr val="0DB7C4"/>
              </a:buClr>
              <a:buSzPts val="2400"/>
            </a:pPr>
            <a:r>
              <a:rPr lang="es-ES" sz="2400" b="1" dirty="0"/>
              <a:t>- Compromiso del SNC / VHS diseminado</a:t>
            </a:r>
            <a:r>
              <a:rPr lang="es-ES" sz="2400" dirty="0"/>
              <a:t>:</a:t>
            </a:r>
            <a:br>
              <a:rPr lang="es-ES" dirty="0"/>
            </a:br>
            <a:r>
              <a:rPr lang="es-ES" sz="2400" dirty="0"/>
              <a:t>Se sugiere </a:t>
            </a:r>
            <a:r>
              <a:rPr lang="es-ES" sz="2400" b="1" dirty="0"/>
              <a:t>Aciclovir IV </a:t>
            </a:r>
            <a:r>
              <a:rPr lang="es-ES" sz="2400" dirty="0"/>
              <a:t>5-10mg/kg c/8 hs.</a:t>
            </a:r>
            <a:endParaRPr lang="es-ES" b="1" dirty="0">
              <a:solidFill>
                <a:schemeClr val="accent6"/>
              </a:solidFill>
            </a:endParaRPr>
          </a:p>
          <a:p>
            <a:pPr marL="76199">
              <a:spcBef>
                <a:spcPts val="1800"/>
              </a:spcBef>
              <a:buClr>
                <a:srgbClr val="0DB7C4"/>
              </a:buClr>
              <a:buSzPts val="2400"/>
            </a:pPr>
            <a:r>
              <a:rPr lang="es-AR" sz="2400" b="1" dirty="0"/>
              <a:t>- Terapia de supresión diaria:</a:t>
            </a:r>
            <a:r>
              <a:rPr lang="es-ES" sz="2400" dirty="0"/>
              <a:t> Aciclovir VO 400mg cada 8hs o Valaciclovir 500 mg cada 12 hs. </a:t>
            </a:r>
          </a:p>
          <a:p>
            <a:pPr marL="76199">
              <a:spcBef>
                <a:spcPts val="1800"/>
              </a:spcBef>
              <a:buClr>
                <a:srgbClr val="0DB7C4"/>
              </a:buClr>
              <a:buSzPts val="2400"/>
            </a:pPr>
            <a:r>
              <a:rPr lang="es-AR" sz="2400" dirty="0"/>
              <a:t>Terapia de supresión se indica desde las 36 semanas de gestación hasta el inicio del trabajo de parto y </a:t>
            </a:r>
            <a:r>
              <a:rPr lang="es-ES" sz="2400" dirty="0"/>
              <a:t>luego de cualquier forma clínica.                                                                                         </a:t>
            </a:r>
            <a:endParaRPr lang="es-ES" sz="1800" dirty="0"/>
          </a:p>
        </p:txBody>
      </p:sp>
    </p:spTree>
    <p:extLst>
      <p:ext uri="{BB962C8B-B14F-4D97-AF65-F5344CB8AC3E}">
        <p14:creationId xmlns:p14="http://schemas.microsoft.com/office/powerpoint/2010/main" val="30263919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8AF448-758B-9C05-F086-F32B0F72AF96}"/>
              </a:ext>
            </a:extLst>
          </p:cNvPr>
          <p:cNvSpPr>
            <a:spLocks noGrp="1"/>
          </p:cNvSpPr>
          <p:nvPr>
            <p:ph type="title"/>
          </p:nvPr>
        </p:nvSpPr>
        <p:spPr>
          <a:xfrm>
            <a:off x="838200" y="1"/>
            <a:ext cx="10515600" cy="898901"/>
          </a:xfrm>
        </p:spPr>
        <p:txBody>
          <a:bodyPr/>
          <a:lstStyle/>
          <a:p>
            <a:pPr algn="ctr"/>
            <a:r>
              <a:rPr lang="es-AR" dirty="0"/>
              <a:t>Vías de parto</a:t>
            </a:r>
          </a:p>
        </p:txBody>
      </p:sp>
      <p:sp>
        <p:nvSpPr>
          <p:cNvPr id="3" name="Marcador de contenido 2">
            <a:extLst>
              <a:ext uri="{FF2B5EF4-FFF2-40B4-BE49-F238E27FC236}">
                <a16:creationId xmlns:a16="http://schemas.microsoft.com/office/drawing/2014/main" id="{A50167F2-7831-D6FA-9F77-4594B9412621}"/>
              </a:ext>
            </a:extLst>
          </p:cNvPr>
          <p:cNvSpPr>
            <a:spLocks noGrp="1"/>
          </p:cNvSpPr>
          <p:nvPr>
            <p:ph idx="1"/>
          </p:nvPr>
        </p:nvSpPr>
        <p:spPr>
          <a:xfrm>
            <a:off x="0" y="898902"/>
            <a:ext cx="11980190" cy="5060196"/>
          </a:xfrm>
        </p:spPr>
        <p:txBody>
          <a:bodyPr>
            <a:normAutofit/>
          </a:bodyPr>
          <a:lstStyle/>
          <a:p>
            <a:pPr>
              <a:buClr>
                <a:srgbClr val="0DB7C4"/>
              </a:buClr>
              <a:buSzPts val="2400"/>
            </a:pPr>
            <a:r>
              <a:rPr lang="es-AR" sz="2600" dirty="0"/>
              <a:t>Evitar procedimientos obstétricos antes del parto, principalmente los transcervicales.</a:t>
            </a:r>
          </a:p>
          <a:p>
            <a:pPr>
              <a:buClr>
                <a:srgbClr val="0DB7C4"/>
              </a:buClr>
              <a:buSzPts val="2400"/>
            </a:pPr>
            <a:r>
              <a:rPr lang="es-AR" sz="2600" dirty="0"/>
              <a:t>Se recomienda cesárea, lo antes posible luego del inicio del trabajo de parto / RPM (hasta 6 hs) en pacientes con antecedentes de VHS genital y lesiones genitales activas (incluido costras) o síntomas prodrómicos (dolor o ardor genital).</a:t>
            </a:r>
          </a:p>
          <a:p>
            <a:pPr>
              <a:buClr>
                <a:srgbClr val="0DB7C4"/>
              </a:buClr>
              <a:buSzPts val="2400"/>
            </a:pPr>
            <a:r>
              <a:rPr lang="es-AR" sz="2600" dirty="0"/>
              <a:t>En pacientes sin lesiones activas, considerar si fue primoinfección en la gesta actual y si la infección fue en el tercer trimestre.</a:t>
            </a:r>
          </a:p>
          <a:p>
            <a:pPr>
              <a:buClr>
                <a:srgbClr val="0DB7C4"/>
              </a:buClr>
              <a:buSzPts val="2400"/>
            </a:pPr>
            <a:r>
              <a:rPr lang="es-AR" sz="2600" dirty="0"/>
              <a:t>En infecciones recurrentes, no se justifica la cesárea por el bajo riesgo de transmisión.</a:t>
            </a:r>
          </a:p>
          <a:p>
            <a:pPr>
              <a:spcBef>
                <a:spcPts val="1800"/>
              </a:spcBef>
            </a:pPr>
            <a:r>
              <a:rPr lang="es-AR" sz="2600" dirty="0"/>
              <a:t>Algunas Guías lo proponen </a:t>
            </a:r>
            <a:r>
              <a:rPr lang="en" sz="2600" dirty="0"/>
              <a:t>SCREENING DE RUTINA</a:t>
            </a:r>
            <a:r>
              <a:rPr lang="es-AR" sz="2600" dirty="0"/>
              <a:t>, con el objetivo de: </a:t>
            </a:r>
          </a:p>
          <a:p>
            <a:pPr marL="457200" lvl="1" indent="0">
              <a:spcBef>
                <a:spcPts val="1800"/>
              </a:spcBef>
              <a:buNone/>
            </a:pPr>
            <a:r>
              <a:rPr lang="es-AR" sz="2600" dirty="0"/>
              <a:t>Identificar a pacientes seronegativas </a:t>
            </a:r>
            <a:r>
              <a:rPr lang="es-AR" sz="2600" dirty="0">
                <a:sym typeface="Wingdings" panose="05000000000000000000" pitchFamily="2" charset="2"/>
              </a:rPr>
              <a:t> Prevención.</a:t>
            </a:r>
          </a:p>
          <a:p>
            <a:pPr marL="457200" lvl="1" indent="0">
              <a:spcBef>
                <a:spcPts val="1800"/>
              </a:spcBef>
              <a:buNone/>
            </a:pPr>
            <a:r>
              <a:rPr lang="es-AR" sz="2600" dirty="0"/>
              <a:t>Identificar a pacientes seropositivas </a:t>
            </a:r>
            <a:r>
              <a:rPr lang="es-AR" sz="2600" dirty="0">
                <a:sym typeface="Wingdings" panose="05000000000000000000" pitchFamily="2" charset="2"/>
              </a:rPr>
              <a:t> T</a:t>
            </a:r>
            <a:r>
              <a:rPr lang="es-AR" sz="2600" dirty="0"/>
              <a:t>erapia de supresión a partir de semana 36</a:t>
            </a:r>
            <a:r>
              <a:rPr lang="es-AR" dirty="0"/>
              <a:t>.</a:t>
            </a:r>
          </a:p>
          <a:p>
            <a:pPr>
              <a:buClr>
                <a:srgbClr val="0DB7C4"/>
              </a:buClr>
              <a:buSzPts val="2400"/>
            </a:pPr>
            <a:endParaRPr lang="es-AR" dirty="0"/>
          </a:p>
          <a:p>
            <a:endParaRPr lang="es-AR" dirty="0"/>
          </a:p>
        </p:txBody>
      </p:sp>
      <p:sp>
        <p:nvSpPr>
          <p:cNvPr id="6" name="Rectángulo 5">
            <a:extLst>
              <a:ext uri="{FF2B5EF4-FFF2-40B4-BE49-F238E27FC236}">
                <a16:creationId xmlns:a16="http://schemas.microsoft.com/office/drawing/2014/main" id="{83EBE600-916D-34AE-4A6D-4F60D408F5E9}"/>
              </a:ext>
            </a:extLst>
          </p:cNvPr>
          <p:cNvSpPr/>
          <p:nvPr/>
        </p:nvSpPr>
        <p:spPr>
          <a:xfrm>
            <a:off x="201479" y="5959098"/>
            <a:ext cx="11375756" cy="751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Clr>
                <a:srgbClr val="0DB7C4"/>
              </a:buClr>
              <a:buSzPts val="2400"/>
            </a:pPr>
            <a:r>
              <a:rPr lang="es-AR" sz="2400" dirty="0">
                <a:solidFill>
                  <a:schemeClr val="bg1"/>
                </a:solidFill>
              </a:rPr>
              <a:t>La evidencia disponible a la fecha indica que la detección del VHS no cumple aun con los criterios habituales para una estrategia preventiva eficaz</a:t>
            </a:r>
          </a:p>
        </p:txBody>
      </p:sp>
    </p:spTree>
    <p:extLst>
      <p:ext uri="{BB962C8B-B14F-4D97-AF65-F5344CB8AC3E}">
        <p14:creationId xmlns:p14="http://schemas.microsoft.com/office/powerpoint/2010/main" val="14138993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A30596-1F69-5833-DBF2-D5DAD2A9692E}"/>
              </a:ext>
            </a:extLst>
          </p:cNvPr>
          <p:cNvSpPr>
            <a:spLocks noGrp="1"/>
          </p:cNvSpPr>
          <p:nvPr>
            <p:ph type="title"/>
          </p:nvPr>
        </p:nvSpPr>
        <p:spPr>
          <a:xfrm>
            <a:off x="2231136" y="98474"/>
            <a:ext cx="7729728" cy="928468"/>
          </a:xfrm>
        </p:spPr>
        <p:txBody>
          <a:bodyPr>
            <a:normAutofit/>
          </a:bodyPr>
          <a:lstStyle/>
          <a:p>
            <a:r>
              <a:rPr lang="es-AR" dirty="0">
                <a:latin typeface="+mn-lt"/>
              </a:rPr>
              <a:t>SÍFILIS Y EMBARAZO </a:t>
            </a:r>
            <a:r>
              <a:rPr lang="es-AR" dirty="0"/>
              <a:t>- Estrategias</a:t>
            </a:r>
          </a:p>
        </p:txBody>
      </p:sp>
      <p:sp>
        <p:nvSpPr>
          <p:cNvPr id="3" name="Marcador de contenido 2">
            <a:extLst>
              <a:ext uri="{FF2B5EF4-FFF2-40B4-BE49-F238E27FC236}">
                <a16:creationId xmlns:a16="http://schemas.microsoft.com/office/drawing/2014/main" id="{264AC30B-C929-FD86-4D4A-1DF1221B50E4}"/>
              </a:ext>
            </a:extLst>
          </p:cNvPr>
          <p:cNvSpPr>
            <a:spLocks noGrp="1"/>
          </p:cNvSpPr>
          <p:nvPr>
            <p:ph idx="1"/>
          </p:nvPr>
        </p:nvSpPr>
        <p:spPr>
          <a:xfrm>
            <a:off x="0" y="787791"/>
            <a:ext cx="12192000" cy="6070210"/>
          </a:xfrm>
        </p:spPr>
        <p:txBody>
          <a:bodyPr>
            <a:noAutofit/>
          </a:bodyPr>
          <a:lstStyle/>
          <a:p>
            <a:endParaRPr lang="es-ES" sz="2800" dirty="0"/>
          </a:p>
          <a:p>
            <a:r>
              <a:rPr lang="es-ES" sz="2800" dirty="0"/>
              <a:t>Diagnóstico precoz y tratamiento oportuno en la embarazada y/o de su pareja. </a:t>
            </a:r>
          </a:p>
          <a:p>
            <a:r>
              <a:rPr lang="es-ES" sz="2800" dirty="0"/>
              <a:t>Confirmar  PNT (+), aunque los títulos sean bajos, con una prueba treponémica. </a:t>
            </a:r>
          </a:p>
          <a:p>
            <a:r>
              <a:rPr lang="es-ES" sz="2800" dirty="0"/>
              <a:t> Tratamiento con 3 Ds penicilina benzatínica de 2,4 millones I.M ( una x semana). </a:t>
            </a:r>
          </a:p>
          <a:p>
            <a:r>
              <a:rPr lang="es-ES" sz="2800" dirty="0"/>
              <a:t>1° dosis de penicilina mientras se espera el resultado de la prueba confirmatoria. </a:t>
            </a:r>
          </a:p>
          <a:p>
            <a:r>
              <a:rPr lang="es-ES" sz="2800" dirty="0"/>
              <a:t>Si  la confirmación no está disponible se realizar tratamiento completo con 3 Ds. </a:t>
            </a:r>
          </a:p>
          <a:p>
            <a:r>
              <a:rPr lang="es-ES" sz="2800" dirty="0"/>
              <a:t>Considerar alérgica a la penicilina solo a un fenómeno alérgico mayor.</a:t>
            </a:r>
          </a:p>
          <a:p>
            <a:r>
              <a:rPr lang="es-ES" sz="2800" dirty="0"/>
              <a:t>Confirmar que la pareja haya recibido tratamiento.</a:t>
            </a:r>
          </a:p>
          <a:p>
            <a:r>
              <a:rPr lang="es-ES" sz="2800" dirty="0"/>
              <a:t>Si se interrumpe el tratamiento por más de una semana, se debe recomenzar el tratamiento y aplicar una vez por semana el número total de dosis.</a:t>
            </a:r>
            <a:endParaRPr lang="es-AR" sz="2800" dirty="0"/>
          </a:p>
        </p:txBody>
      </p:sp>
    </p:spTree>
    <p:extLst>
      <p:ext uri="{BB962C8B-B14F-4D97-AF65-F5344CB8AC3E}">
        <p14:creationId xmlns:p14="http://schemas.microsoft.com/office/powerpoint/2010/main" val="5027489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425FAB-4F4D-AE2D-5A5C-0601A1CA9BFE}"/>
              </a:ext>
            </a:extLst>
          </p:cNvPr>
          <p:cNvSpPr>
            <a:spLocks noGrp="1"/>
          </p:cNvSpPr>
          <p:nvPr>
            <p:ph type="title"/>
          </p:nvPr>
        </p:nvSpPr>
        <p:spPr>
          <a:xfrm>
            <a:off x="168813" y="182881"/>
            <a:ext cx="11662116" cy="911628"/>
          </a:xfrm>
        </p:spPr>
        <p:txBody>
          <a:bodyPr>
            <a:normAutofit/>
          </a:bodyPr>
          <a:lstStyle/>
          <a:p>
            <a:r>
              <a:rPr lang="es-ES" dirty="0">
                <a:latin typeface="+mn-lt"/>
              </a:rPr>
              <a:t>Una mujer embarazada con diagnóstico de Sífilis, </a:t>
            </a:r>
            <a:endParaRPr lang="es-AR" dirty="0">
              <a:latin typeface="+mn-lt"/>
            </a:endParaRPr>
          </a:p>
        </p:txBody>
      </p:sp>
      <p:sp>
        <p:nvSpPr>
          <p:cNvPr id="3" name="Marcador de contenido 2">
            <a:extLst>
              <a:ext uri="{FF2B5EF4-FFF2-40B4-BE49-F238E27FC236}">
                <a16:creationId xmlns:a16="http://schemas.microsoft.com/office/drawing/2014/main" id="{6215D477-F010-1B7C-4FA6-F29718210DF4}"/>
              </a:ext>
            </a:extLst>
          </p:cNvPr>
          <p:cNvSpPr>
            <a:spLocks noGrp="1"/>
          </p:cNvSpPr>
          <p:nvPr>
            <p:ph idx="1"/>
          </p:nvPr>
        </p:nvSpPr>
        <p:spPr>
          <a:xfrm>
            <a:off x="168812" y="1260764"/>
            <a:ext cx="11662116" cy="5414356"/>
          </a:xfrm>
        </p:spPr>
        <p:txBody>
          <a:bodyPr>
            <a:noAutofit/>
          </a:bodyPr>
          <a:lstStyle/>
          <a:p>
            <a:pPr marL="0" indent="0">
              <a:buNone/>
            </a:pPr>
            <a:r>
              <a:rPr lang="es-ES" sz="3200" dirty="0">
                <a:latin typeface="+mn-lt"/>
              </a:rPr>
              <a:t>Se considera adecuadamente tratada y con seguimiento correcto cuando:</a:t>
            </a:r>
          </a:p>
          <a:p>
            <a:pPr marL="0" indent="0">
              <a:buNone/>
            </a:pPr>
            <a:endParaRPr lang="es-ES" sz="3200" dirty="0"/>
          </a:p>
          <a:p>
            <a:pPr marL="0" indent="0">
              <a:buNone/>
            </a:pPr>
            <a:r>
              <a:rPr lang="es-ES" sz="3200" dirty="0"/>
              <a:t>• Se realizó el tratamiento con penicilina. </a:t>
            </a:r>
          </a:p>
          <a:p>
            <a:pPr marL="0" indent="0">
              <a:buNone/>
            </a:pPr>
            <a:r>
              <a:rPr lang="es-ES" sz="3200" dirty="0"/>
              <a:t>• Recibió 3 dosis separadas por una semana cada una. </a:t>
            </a:r>
          </a:p>
          <a:p>
            <a:pPr marL="0" indent="0">
              <a:buNone/>
            </a:pPr>
            <a:r>
              <a:rPr lang="es-ES" sz="3200" dirty="0"/>
              <a:t>• Se le administró la última dosis un mes antes del parto. </a:t>
            </a:r>
          </a:p>
          <a:p>
            <a:pPr marL="0" indent="0">
              <a:buNone/>
            </a:pPr>
            <a:r>
              <a:rPr lang="es-ES" sz="3200" dirty="0"/>
              <a:t>• Tiene control de PNT cada dos meses y posee títulos estables o en descenso. </a:t>
            </a:r>
            <a:endParaRPr lang="es-AR" sz="3200" dirty="0"/>
          </a:p>
        </p:txBody>
      </p:sp>
    </p:spTree>
    <p:extLst>
      <p:ext uri="{BB962C8B-B14F-4D97-AF65-F5344CB8AC3E}">
        <p14:creationId xmlns:p14="http://schemas.microsoft.com/office/powerpoint/2010/main" val="24814382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A7EEDC-5DCC-D61D-4DA5-A11C70CB1446}"/>
              </a:ext>
            </a:extLst>
          </p:cNvPr>
          <p:cNvSpPr>
            <a:spLocks noGrp="1"/>
          </p:cNvSpPr>
          <p:nvPr>
            <p:ph type="title"/>
          </p:nvPr>
        </p:nvSpPr>
        <p:spPr>
          <a:xfrm>
            <a:off x="2231136" y="96982"/>
            <a:ext cx="7729728" cy="942109"/>
          </a:xfrm>
        </p:spPr>
        <p:txBody>
          <a:bodyPr>
            <a:normAutofit/>
          </a:bodyPr>
          <a:lstStyle/>
          <a:p>
            <a:r>
              <a:rPr lang="es-AR" dirty="0">
                <a:latin typeface="+mn-lt"/>
              </a:rPr>
              <a:t>Se considera SIFILIS CONGENITA</a:t>
            </a:r>
          </a:p>
        </p:txBody>
      </p:sp>
      <p:sp>
        <p:nvSpPr>
          <p:cNvPr id="3" name="Marcador de contenido 2">
            <a:extLst>
              <a:ext uri="{FF2B5EF4-FFF2-40B4-BE49-F238E27FC236}">
                <a16:creationId xmlns:a16="http://schemas.microsoft.com/office/drawing/2014/main" id="{9BE3A0F3-480F-064E-0B36-F9A15990C257}"/>
              </a:ext>
            </a:extLst>
          </p:cNvPr>
          <p:cNvSpPr>
            <a:spLocks noGrp="1"/>
          </p:cNvSpPr>
          <p:nvPr>
            <p:ph idx="1"/>
          </p:nvPr>
        </p:nvSpPr>
        <p:spPr>
          <a:xfrm>
            <a:off x="154745" y="1406769"/>
            <a:ext cx="12037255" cy="5254283"/>
          </a:xfrm>
        </p:spPr>
        <p:txBody>
          <a:bodyPr>
            <a:noAutofit/>
          </a:bodyPr>
          <a:lstStyle/>
          <a:p>
            <a:r>
              <a:rPr lang="es-ES" sz="2400" b="1" dirty="0"/>
              <a:t>Todo RN cuya madre tuvo sífilis no tratada </a:t>
            </a:r>
            <a:r>
              <a:rPr lang="es-ES" sz="2400" dirty="0"/>
              <a:t>o inadecuadamente tratada, independientemente de la presencia de signos, síntomas o resultados de laboratorio. </a:t>
            </a:r>
          </a:p>
          <a:p>
            <a:r>
              <a:rPr lang="es-ES" sz="2400" b="1" dirty="0"/>
              <a:t>Todo RN con evidencias clínicas</a:t>
            </a:r>
            <a:r>
              <a:rPr lang="es-ES" sz="2400" dirty="0"/>
              <a:t>:  (hidrops fetal no inmunológico, lesiones ampollares, exantema macular, rinitis mucosa o hemorrágica, hepatoespelnomegalia, ictericia, adenopatías generalizadas, neumonitis, compromiso del SNC. </a:t>
            </a:r>
          </a:p>
          <a:p>
            <a:pPr marL="0" indent="0">
              <a:buNone/>
            </a:pPr>
            <a:r>
              <a:rPr lang="es-ES" sz="2400" dirty="0"/>
              <a:t>   Lesiones de aparición más tardía: condilomas planos, síndrome nefrótico, alteraciones      oculares, nariz en silla de montar, dientes de Hutchinson.</a:t>
            </a:r>
          </a:p>
          <a:p>
            <a:pPr marL="0" indent="0">
              <a:buNone/>
            </a:pPr>
            <a:r>
              <a:rPr lang="es-ES" sz="2400" dirty="0"/>
              <a:t>   En estudios complementarios: osteocondritis, anemia hemolítica y plaquetopenia. </a:t>
            </a:r>
          </a:p>
          <a:p>
            <a:r>
              <a:rPr lang="es-ES" sz="2400" b="1" dirty="0"/>
              <a:t>Todo niño menor de 18 meses con pruebas </a:t>
            </a:r>
            <a:r>
              <a:rPr lang="es-ES" sz="2400" dirty="0"/>
              <a:t>no treponémicas o treponémicas </a:t>
            </a:r>
            <a:r>
              <a:rPr lang="es-ES" sz="2400" b="1" dirty="0"/>
              <a:t>reactivas</a:t>
            </a:r>
            <a:r>
              <a:rPr lang="es-ES" sz="2400" dirty="0"/>
              <a:t> (en los que no se pueda constatar el adecuado tratamiento de la madre).</a:t>
            </a:r>
          </a:p>
          <a:p>
            <a:r>
              <a:rPr lang="es-ES" sz="2400" b="1" dirty="0"/>
              <a:t>Todo niño mayor de 18 meses con pruebas</a:t>
            </a:r>
            <a:r>
              <a:rPr lang="es-ES" sz="2400" dirty="0"/>
              <a:t> treponémicas </a:t>
            </a:r>
            <a:r>
              <a:rPr lang="es-ES" sz="2400" b="1" dirty="0"/>
              <a:t>positivas</a:t>
            </a:r>
            <a:r>
              <a:rPr lang="es-ES" sz="2400" dirty="0"/>
              <a:t> en los que se hubiese descartado abuso sexual.</a:t>
            </a:r>
            <a:endParaRPr lang="es-AR" sz="2400" dirty="0"/>
          </a:p>
        </p:txBody>
      </p:sp>
    </p:spTree>
    <p:extLst>
      <p:ext uri="{BB962C8B-B14F-4D97-AF65-F5344CB8AC3E}">
        <p14:creationId xmlns:p14="http://schemas.microsoft.com/office/powerpoint/2010/main" val="39495173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4579C2-CE55-528F-43A9-55A75B8310C3}"/>
              </a:ext>
            </a:extLst>
          </p:cNvPr>
          <p:cNvSpPr>
            <a:spLocks noGrp="1"/>
          </p:cNvSpPr>
          <p:nvPr>
            <p:ph type="title"/>
          </p:nvPr>
        </p:nvSpPr>
        <p:spPr>
          <a:xfrm>
            <a:off x="838200" y="108489"/>
            <a:ext cx="10515600" cy="945396"/>
          </a:xfrm>
        </p:spPr>
        <p:txBody>
          <a:bodyPr/>
          <a:lstStyle/>
          <a:p>
            <a:r>
              <a:rPr lang="es-AR" i="1" dirty="0">
                <a:latin typeface="+mn-lt"/>
              </a:rPr>
              <a:t>Streptococcus agalactiae (SGB) </a:t>
            </a:r>
            <a:r>
              <a:rPr lang="es-AR" dirty="0">
                <a:latin typeface="+mn-lt"/>
              </a:rPr>
              <a:t>y Embarazo</a:t>
            </a:r>
          </a:p>
        </p:txBody>
      </p:sp>
      <p:sp>
        <p:nvSpPr>
          <p:cNvPr id="5" name="Rectángulo 4">
            <a:extLst>
              <a:ext uri="{FF2B5EF4-FFF2-40B4-BE49-F238E27FC236}">
                <a16:creationId xmlns:a16="http://schemas.microsoft.com/office/drawing/2014/main" id="{FCAE2C09-2F23-17E3-36DB-B2A6A5176DC1}"/>
              </a:ext>
            </a:extLst>
          </p:cNvPr>
          <p:cNvSpPr/>
          <p:nvPr/>
        </p:nvSpPr>
        <p:spPr>
          <a:xfrm>
            <a:off x="1627322" y="6245817"/>
            <a:ext cx="9577953" cy="5036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3" name="Marcador de contenido 2">
            <a:extLst>
              <a:ext uri="{FF2B5EF4-FFF2-40B4-BE49-F238E27FC236}">
                <a16:creationId xmlns:a16="http://schemas.microsoft.com/office/drawing/2014/main" id="{E8007342-1E5C-B13E-7C24-3B74E5E2961B}"/>
              </a:ext>
            </a:extLst>
          </p:cNvPr>
          <p:cNvSpPr>
            <a:spLocks noGrp="1"/>
          </p:cNvSpPr>
          <p:nvPr>
            <p:ph idx="1"/>
          </p:nvPr>
        </p:nvSpPr>
        <p:spPr>
          <a:xfrm>
            <a:off x="154983" y="1053884"/>
            <a:ext cx="11887200" cy="5804115"/>
          </a:xfrm>
        </p:spPr>
        <p:style>
          <a:lnRef idx="2">
            <a:schemeClr val="accent6"/>
          </a:lnRef>
          <a:fillRef idx="1">
            <a:schemeClr val="lt1"/>
          </a:fillRef>
          <a:effectRef idx="0">
            <a:schemeClr val="accent6"/>
          </a:effectRef>
          <a:fontRef idx="minor">
            <a:schemeClr val="dk1"/>
          </a:fontRef>
        </p:style>
        <p:txBody>
          <a:bodyPr>
            <a:normAutofit/>
          </a:bodyPr>
          <a:lstStyle/>
          <a:p>
            <a:pPr>
              <a:spcBef>
                <a:spcPts val="0"/>
              </a:spcBef>
              <a:buClr>
                <a:srgbClr val="0DB7C4"/>
              </a:buClr>
              <a:buSzPts val="2400"/>
            </a:pPr>
            <a:r>
              <a:rPr lang="es-AR" sz="2400" dirty="0"/>
              <a:t>Diplococo gram +, Beta hemolítico</a:t>
            </a:r>
          </a:p>
          <a:p>
            <a:pPr>
              <a:spcBef>
                <a:spcPts val="600"/>
              </a:spcBef>
              <a:buClr>
                <a:srgbClr val="0DB7C4"/>
              </a:buClr>
              <a:buSzPts val="2400"/>
            </a:pPr>
            <a:r>
              <a:rPr lang="es-AR" sz="2400" dirty="0"/>
              <a:t>Coloniza tracto genitourinario y gastrointestinal en 10–40% de adultos sanos</a:t>
            </a:r>
          </a:p>
          <a:p>
            <a:pPr>
              <a:spcBef>
                <a:spcPts val="600"/>
              </a:spcBef>
              <a:buClr>
                <a:srgbClr val="0DB7C4"/>
              </a:buClr>
              <a:buSzPts val="2400"/>
            </a:pPr>
            <a:r>
              <a:rPr lang="es-AR" sz="2400" dirty="0"/>
              <a:t>Colonización puede ser crónica o recurrente, </a:t>
            </a:r>
            <a:r>
              <a:rPr lang="es-ES" sz="2400" dirty="0"/>
              <a:t>es &gt; en las menores de 20 años y &lt; en multíparas</a:t>
            </a:r>
          </a:p>
          <a:p>
            <a:pPr>
              <a:spcBef>
                <a:spcPts val="0"/>
              </a:spcBef>
              <a:buClr>
                <a:srgbClr val="0DB7C4"/>
              </a:buClr>
              <a:buSzPts val="2400"/>
            </a:pPr>
            <a:r>
              <a:rPr lang="es-ES" sz="2400" dirty="0"/>
              <a:t>Puede comportarse como un “comensal”, o también causar infecciones invasivas en huéspedes susceptibles</a:t>
            </a:r>
          </a:p>
          <a:p>
            <a:pPr lvl="1">
              <a:spcBef>
                <a:spcPts val="520"/>
              </a:spcBef>
            </a:pPr>
            <a:r>
              <a:rPr lang="es-ES" dirty="0"/>
              <a:t>Neonatos</a:t>
            </a:r>
          </a:p>
          <a:p>
            <a:pPr lvl="1">
              <a:spcBef>
                <a:spcPts val="520"/>
              </a:spcBef>
            </a:pPr>
            <a:r>
              <a:rPr lang="es-ES" dirty="0"/>
              <a:t>Embarazadas</a:t>
            </a:r>
          </a:p>
          <a:p>
            <a:pPr lvl="3">
              <a:spcBef>
                <a:spcPts val="400"/>
              </a:spcBef>
            </a:pPr>
            <a:r>
              <a:rPr lang="es-ES" sz="2400" dirty="0"/>
              <a:t>ITU</a:t>
            </a:r>
          </a:p>
          <a:p>
            <a:pPr lvl="3">
              <a:spcBef>
                <a:spcPts val="400"/>
              </a:spcBef>
            </a:pPr>
            <a:r>
              <a:rPr lang="es-ES" sz="2400" dirty="0"/>
              <a:t>Infecciones ovulares</a:t>
            </a:r>
          </a:p>
          <a:p>
            <a:pPr lvl="3">
              <a:spcBef>
                <a:spcPts val="400"/>
              </a:spcBef>
            </a:pPr>
            <a:r>
              <a:rPr lang="es-ES" sz="2400" dirty="0"/>
              <a:t>Endometritis</a:t>
            </a:r>
          </a:p>
          <a:p>
            <a:pPr lvl="1">
              <a:spcBef>
                <a:spcPts val="520"/>
              </a:spcBef>
            </a:pPr>
            <a:r>
              <a:rPr lang="es-ES" dirty="0"/>
              <a:t>Enfermos crónicos</a:t>
            </a:r>
          </a:p>
          <a:p>
            <a:pPr marL="822960" lvl="1" indent="-285750" algn="ctr">
              <a:spcBef>
                <a:spcPts val="520"/>
              </a:spcBef>
              <a:buSzPts val="2470"/>
              <a:buNone/>
            </a:pPr>
            <a:endParaRPr lang="es-ES" b="1" dirty="0">
              <a:solidFill>
                <a:srgbClr val="FFFF00"/>
              </a:solidFill>
            </a:endParaRPr>
          </a:p>
          <a:p>
            <a:pPr marL="822960" lvl="1" indent="-285750" algn="ctr">
              <a:spcBef>
                <a:spcPts val="520"/>
              </a:spcBef>
              <a:buSzPts val="2470"/>
              <a:buNone/>
            </a:pPr>
            <a:r>
              <a:rPr lang="es-ES" sz="2800" b="1" dirty="0">
                <a:solidFill>
                  <a:schemeClr val="accent5">
                    <a:lumMod val="75000"/>
                  </a:schemeClr>
                </a:solidFill>
              </a:rPr>
              <a:t>Causa principal de Sepsis, Neumonía y Meningitis en Neonatos </a:t>
            </a:r>
          </a:p>
        </p:txBody>
      </p:sp>
    </p:spTree>
    <p:extLst>
      <p:ext uri="{BB962C8B-B14F-4D97-AF65-F5344CB8AC3E}">
        <p14:creationId xmlns:p14="http://schemas.microsoft.com/office/powerpoint/2010/main" val="7517870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18C905-2EA1-BD63-6AA0-EC888EAF8F0D}"/>
              </a:ext>
            </a:extLst>
          </p:cNvPr>
          <p:cNvSpPr>
            <a:spLocks noGrp="1"/>
          </p:cNvSpPr>
          <p:nvPr>
            <p:ph type="title"/>
          </p:nvPr>
        </p:nvSpPr>
        <p:spPr>
          <a:xfrm>
            <a:off x="1148166" y="154984"/>
            <a:ext cx="10515600" cy="790414"/>
          </a:xfrm>
        </p:spPr>
        <p:txBody>
          <a:bodyPr>
            <a:normAutofit fontScale="90000"/>
          </a:bodyPr>
          <a:lstStyle/>
          <a:p>
            <a:pPr>
              <a:buClr>
                <a:srgbClr val="0DB7C4"/>
              </a:buClr>
              <a:buSzPct val="80000"/>
            </a:pPr>
            <a:br>
              <a:rPr lang="es-AR" dirty="0">
                <a:latin typeface="+mn-lt"/>
              </a:rPr>
            </a:br>
            <a:r>
              <a:rPr lang="es-AR" dirty="0">
                <a:latin typeface="+mn-lt"/>
              </a:rPr>
              <a:t>Transmisión SGB</a:t>
            </a:r>
            <a:r>
              <a:rPr lang="es-ES" dirty="0">
                <a:latin typeface="+mn-lt"/>
              </a:rPr>
              <a:t>: </a:t>
            </a:r>
            <a:r>
              <a:rPr lang="es-ES" sz="3600" dirty="0">
                <a:latin typeface="+mn-lt"/>
              </a:rPr>
              <a:t>40 al 70% Sin prevención  </a:t>
            </a:r>
            <a:br>
              <a:rPr lang="es-ES" dirty="0"/>
            </a:br>
            <a:endParaRPr lang="es-AR" dirty="0"/>
          </a:p>
        </p:txBody>
      </p:sp>
      <p:sp>
        <p:nvSpPr>
          <p:cNvPr id="3" name="Marcador de contenido 2">
            <a:extLst>
              <a:ext uri="{FF2B5EF4-FFF2-40B4-BE49-F238E27FC236}">
                <a16:creationId xmlns:a16="http://schemas.microsoft.com/office/drawing/2014/main" id="{0B980B91-A4E2-2C6A-67B6-B6533F23FBBB}"/>
              </a:ext>
            </a:extLst>
          </p:cNvPr>
          <p:cNvSpPr>
            <a:spLocks noGrp="1"/>
          </p:cNvSpPr>
          <p:nvPr>
            <p:ph idx="1"/>
          </p:nvPr>
        </p:nvSpPr>
        <p:spPr>
          <a:xfrm>
            <a:off x="0" y="945397"/>
            <a:ext cx="12192000" cy="6121830"/>
          </a:xfrm>
        </p:spPr>
        <p:txBody>
          <a:bodyPr>
            <a:normAutofit/>
          </a:bodyPr>
          <a:lstStyle/>
          <a:p>
            <a:pPr>
              <a:spcBef>
                <a:spcPts val="0"/>
              </a:spcBef>
              <a:buClr>
                <a:srgbClr val="0DB7C4"/>
              </a:buClr>
              <a:buSzPct val="80000"/>
            </a:pPr>
            <a:r>
              <a:rPr lang="es-AR" dirty="0"/>
              <a:t>Exposición del feto:</a:t>
            </a:r>
          </a:p>
          <a:p>
            <a:pPr lvl="1">
              <a:spcBef>
                <a:spcPts val="481"/>
              </a:spcBef>
            </a:pPr>
            <a:r>
              <a:rPr lang="es-AR" sz="2800" dirty="0"/>
              <a:t>Vía ascendente: por membranas sanas o rotas</a:t>
            </a:r>
          </a:p>
          <a:p>
            <a:pPr lvl="1">
              <a:spcBef>
                <a:spcPts val="481"/>
              </a:spcBef>
            </a:pPr>
            <a:r>
              <a:rPr lang="es-AR" sz="2800" dirty="0"/>
              <a:t>Canal de parto</a:t>
            </a:r>
          </a:p>
          <a:p>
            <a:pPr>
              <a:spcBef>
                <a:spcPts val="555"/>
              </a:spcBef>
              <a:buClr>
                <a:srgbClr val="0DB7C4"/>
              </a:buClr>
              <a:buSzPct val="80000"/>
            </a:pPr>
            <a:r>
              <a:rPr lang="es-AR" dirty="0"/>
              <a:t>Factores de riesgo:</a:t>
            </a:r>
          </a:p>
          <a:p>
            <a:pPr lvl="1">
              <a:spcBef>
                <a:spcPts val="481"/>
              </a:spcBef>
            </a:pPr>
            <a:r>
              <a:rPr lang="es-AR" sz="2800" dirty="0"/>
              <a:t>Ruptura prolongada de membranas (&gt; 12 hs)</a:t>
            </a:r>
          </a:p>
          <a:p>
            <a:pPr lvl="1">
              <a:spcBef>
                <a:spcPts val="481"/>
              </a:spcBef>
            </a:pPr>
            <a:r>
              <a:rPr lang="es-AR" sz="2800" dirty="0"/>
              <a:t>Parto pretérmino</a:t>
            </a:r>
          </a:p>
          <a:p>
            <a:pPr lvl="1">
              <a:spcBef>
                <a:spcPts val="481"/>
              </a:spcBef>
            </a:pPr>
            <a:r>
              <a:rPr lang="es-AR" sz="2800" dirty="0"/>
              <a:t>Trabajo de parto prolongado</a:t>
            </a:r>
          </a:p>
          <a:p>
            <a:pPr lvl="1">
              <a:spcBef>
                <a:spcPts val="481"/>
              </a:spcBef>
            </a:pPr>
            <a:r>
              <a:rPr lang="es-AR" sz="2800" dirty="0"/>
              <a:t>Infecciones ovulares</a:t>
            </a:r>
          </a:p>
          <a:p>
            <a:pPr lvl="1">
              <a:spcBef>
                <a:spcPts val="481"/>
              </a:spcBef>
            </a:pPr>
            <a:r>
              <a:rPr lang="es-AR" sz="2800" dirty="0"/>
              <a:t>Parto previo con recién nacido con infección invasiva por </a:t>
            </a:r>
            <a:r>
              <a:rPr lang="es-AR" sz="2800" i="1" dirty="0"/>
              <a:t>SGB</a:t>
            </a:r>
          </a:p>
          <a:p>
            <a:pPr lvl="1">
              <a:spcBef>
                <a:spcPts val="481"/>
              </a:spcBef>
            </a:pPr>
            <a:r>
              <a:rPr lang="es-AR" sz="2800" i="1" dirty="0"/>
              <a:t>N° de tactos</a:t>
            </a:r>
          </a:p>
          <a:p>
            <a:pPr>
              <a:spcBef>
                <a:spcPts val="0"/>
              </a:spcBef>
              <a:buClr>
                <a:srgbClr val="0DB7C4"/>
              </a:buClr>
              <a:buSzPct val="80000"/>
            </a:pPr>
            <a:endParaRPr lang="es-ES" b="1" dirty="0"/>
          </a:p>
          <a:p>
            <a:pPr>
              <a:spcBef>
                <a:spcPts val="0"/>
              </a:spcBef>
              <a:buClr>
                <a:srgbClr val="0DB7C4"/>
              </a:buClr>
              <a:buSzPct val="80000"/>
            </a:pPr>
            <a:r>
              <a:rPr lang="es-ES" b="1" dirty="0"/>
              <a:t>Hisopado: </a:t>
            </a:r>
            <a:r>
              <a:rPr lang="es-ES" dirty="0"/>
              <a:t>Entre 35 y 37 semanas (aún en </a:t>
            </a:r>
            <a:r>
              <a:rPr lang="es-ES" dirty="0" err="1"/>
              <a:t>cesarea</a:t>
            </a:r>
            <a:r>
              <a:rPr lang="es-ES" dirty="0"/>
              <a:t> programada) </a:t>
            </a:r>
          </a:p>
          <a:p>
            <a:pPr marL="0" indent="0">
              <a:spcBef>
                <a:spcPts val="0"/>
              </a:spcBef>
              <a:buClr>
                <a:srgbClr val="0DB7C4"/>
              </a:buClr>
              <a:buSzPct val="80000"/>
              <a:buNone/>
            </a:pPr>
            <a:r>
              <a:rPr lang="es-ES" dirty="0"/>
              <a:t>                      Tiene &gt; rendimiento el hisopado recto-vaginal combinado. </a:t>
            </a:r>
          </a:p>
          <a:p>
            <a:pPr>
              <a:spcBef>
                <a:spcPts val="510"/>
              </a:spcBef>
              <a:buClr>
                <a:srgbClr val="0DB7C4"/>
              </a:buClr>
              <a:buSzPct val="80000"/>
            </a:pPr>
            <a:endParaRPr lang="es-ES" b="1" dirty="0"/>
          </a:p>
          <a:p>
            <a:endParaRPr lang="es-AR" dirty="0"/>
          </a:p>
        </p:txBody>
      </p:sp>
    </p:spTree>
    <p:extLst>
      <p:ext uri="{BB962C8B-B14F-4D97-AF65-F5344CB8AC3E}">
        <p14:creationId xmlns:p14="http://schemas.microsoft.com/office/powerpoint/2010/main" val="9173846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81415A-2858-10F7-E253-8FE2242CFDE6}"/>
              </a:ext>
            </a:extLst>
          </p:cNvPr>
          <p:cNvSpPr>
            <a:spLocks noGrp="1"/>
          </p:cNvSpPr>
          <p:nvPr>
            <p:ph type="title"/>
          </p:nvPr>
        </p:nvSpPr>
        <p:spPr>
          <a:xfrm>
            <a:off x="838200" y="0"/>
            <a:ext cx="10515600" cy="976393"/>
          </a:xfrm>
        </p:spPr>
        <p:txBody>
          <a:bodyPr/>
          <a:lstStyle/>
          <a:p>
            <a:r>
              <a:rPr lang="es-AR" dirty="0">
                <a:latin typeface="+mn-lt"/>
              </a:rPr>
              <a:t>Indicaciones de profilaxis intraparto</a:t>
            </a:r>
          </a:p>
        </p:txBody>
      </p:sp>
      <p:sp>
        <p:nvSpPr>
          <p:cNvPr id="3" name="Marcador de contenido 2">
            <a:extLst>
              <a:ext uri="{FF2B5EF4-FFF2-40B4-BE49-F238E27FC236}">
                <a16:creationId xmlns:a16="http://schemas.microsoft.com/office/drawing/2014/main" id="{C764AADD-9022-8E8F-E712-AA392413A1CF}"/>
              </a:ext>
            </a:extLst>
          </p:cNvPr>
          <p:cNvSpPr>
            <a:spLocks noGrp="1"/>
          </p:cNvSpPr>
          <p:nvPr>
            <p:ph idx="1"/>
          </p:nvPr>
        </p:nvSpPr>
        <p:spPr>
          <a:xfrm>
            <a:off x="247973" y="976394"/>
            <a:ext cx="11944027" cy="5649130"/>
          </a:xfrm>
        </p:spPr>
        <p:txBody>
          <a:bodyPr>
            <a:noAutofit/>
          </a:bodyPr>
          <a:lstStyle/>
          <a:p>
            <a:pPr>
              <a:buClr>
                <a:srgbClr val="0DB7C4"/>
              </a:buClr>
              <a:buSzPts val="1440"/>
            </a:pPr>
            <a:r>
              <a:rPr lang="es-ES" sz="2400" dirty="0"/>
              <a:t>Hijo anterior con enfermedad  invasiva por EGB </a:t>
            </a:r>
          </a:p>
          <a:p>
            <a:pPr>
              <a:buClr>
                <a:srgbClr val="0DB7C4"/>
              </a:buClr>
              <a:buSzPts val="1440"/>
            </a:pPr>
            <a:r>
              <a:rPr lang="es-ES" sz="2400" dirty="0"/>
              <a:t>Bacteriuria por EGB durante el embarazo actual, en cualquier trimestre </a:t>
            </a:r>
          </a:p>
          <a:p>
            <a:pPr>
              <a:buClr>
                <a:srgbClr val="0DB7C4"/>
              </a:buClr>
              <a:buSzPts val="1440"/>
            </a:pPr>
            <a:r>
              <a:rPr lang="es-ES" sz="2400" dirty="0"/>
              <a:t>Cultivo de screening vaginal/anal positivo en embarazo tardío (35 a 37 semanas)</a:t>
            </a:r>
          </a:p>
          <a:p>
            <a:pPr>
              <a:buClr>
                <a:srgbClr val="0DB7C4"/>
              </a:buClr>
              <a:buSzPts val="1440"/>
            </a:pPr>
            <a:r>
              <a:rPr lang="es-ES" sz="2400" dirty="0"/>
              <a:t>Estado de portación desconocido y cualquiera de los siguientes:</a:t>
            </a:r>
          </a:p>
          <a:p>
            <a:pPr marL="0" indent="0">
              <a:buClr>
                <a:srgbClr val="0DB7C4"/>
              </a:buClr>
              <a:buSzPts val="1440"/>
              <a:buNone/>
            </a:pPr>
            <a:r>
              <a:rPr lang="es-ES" sz="2400" i="1" dirty="0"/>
              <a:t>Parto menor de 37 semanas - Ruptura de membranas &gt; 0 = a 18 horas - T° intraparto &gt;38°C.  </a:t>
            </a:r>
          </a:p>
          <a:p>
            <a:pPr marL="0" indent="0">
              <a:buClr>
                <a:srgbClr val="0DB7C4"/>
              </a:buClr>
              <a:buSzPts val="1440"/>
              <a:buNone/>
            </a:pPr>
            <a:endParaRPr lang="es-AR" sz="2400" dirty="0"/>
          </a:p>
          <a:p>
            <a:pPr marL="0" indent="0">
              <a:buClr>
                <a:srgbClr val="0DB7C4"/>
              </a:buClr>
              <a:buSzPts val="1440"/>
              <a:buNone/>
            </a:pPr>
            <a:r>
              <a:rPr lang="es-AR" sz="2400" dirty="0"/>
              <a:t>Profilaxis no indicada: </a:t>
            </a:r>
          </a:p>
          <a:p>
            <a:pPr>
              <a:buClr>
                <a:srgbClr val="0DB7C4"/>
              </a:buClr>
              <a:buSzPts val="1440"/>
            </a:pPr>
            <a:r>
              <a:rPr lang="es-ES" sz="2400" dirty="0"/>
              <a:t>Colonización por EGB en embarazos previos ( sin indicación actual)</a:t>
            </a:r>
          </a:p>
          <a:p>
            <a:pPr>
              <a:buClr>
                <a:srgbClr val="0DB7C4"/>
              </a:buClr>
              <a:buSzPts val="1440"/>
            </a:pPr>
            <a:r>
              <a:rPr lang="es-ES" sz="2400" dirty="0"/>
              <a:t>Bacteriuria en embarazos previos.</a:t>
            </a:r>
          </a:p>
          <a:p>
            <a:pPr>
              <a:buClr>
                <a:srgbClr val="0DB7C4"/>
              </a:buClr>
              <a:buSzPts val="1440"/>
            </a:pPr>
            <a:r>
              <a:rPr lang="es-ES" sz="2400" dirty="0"/>
              <a:t>Cultivo vaginal/anal negativo en el presente embarazo</a:t>
            </a:r>
          </a:p>
          <a:p>
            <a:pPr>
              <a:buClr>
                <a:srgbClr val="0DB7C4"/>
              </a:buClr>
              <a:buSzPts val="1440"/>
            </a:pPr>
            <a:r>
              <a:rPr lang="es-ES" sz="2400" dirty="0"/>
              <a:t>Finalización embarazado por Cesárea programada</a:t>
            </a:r>
            <a:endParaRPr lang="es-AR" sz="2400" dirty="0"/>
          </a:p>
        </p:txBody>
      </p:sp>
    </p:spTree>
    <p:extLst>
      <p:ext uri="{BB962C8B-B14F-4D97-AF65-F5344CB8AC3E}">
        <p14:creationId xmlns:p14="http://schemas.microsoft.com/office/powerpoint/2010/main" val="38501441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4A3C12-0E8A-BD26-5C73-7BF3F37232FB}"/>
              </a:ext>
            </a:extLst>
          </p:cNvPr>
          <p:cNvSpPr>
            <a:spLocks noGrp="1"/>
          </p:cNvSpPr>
          <p:nvPr>
            <p:ph type="title"/>
          </p:nvPr>
        </p:nvSpPr>
        <p:spPr>
          <a:xfrm>
            <a:off x="838200" y="201477"/>
            <a:ext cx="10515600" cy="836909"/>
          </a:xfrm>
        </p:spPr>
        <p:txBody>
          <a:bodyPr/>
          <a:lstStyle/>
          <a:p>
            <a:pPr algn="ctr"/>
            <a:r>
              <a:rPr lang="es-AR" dirty="0">
                <a:latin typeface="+mn-lt"/>
              </a:rPr>
              <a:t>Profilaxis SGB</a:t>
            </a:r>
          </a:p>
        </p:txBody>
      </p:sp>
      <p:sp>
        <p:nvSpPr>
          <p:cNvPr id="3" name="Marcador de contenido 2">
            <a:extLst>
              <a:ext uri="{FF2B5EF4-FFF2-40B4-BE49-F238E27FC236}">
                <a16:creationId xmlns:a16="http://schemas.microsoft.com/office/drawing/2014/main" id="{8C7D0E47-7761-02EA-D633-A9E51A8FA311}"/>
              </a:ext>
            </a:extLst>
          </p:cNvPr>
          <p:cNvSpPr>
            <a:spLocks noGrp="1"/>
          </p:cNvSpPr>
          <p:nvPr>
            <p:ph idx="1"/>
          </p:nvPr>
        </p:nvSpPr>
        <p:spPr>
          <a:xfrm>
            <a:off x="838200" y="1038386"/>
            <a:ext cx="10515600" cy="5819614"/>
          </a:xfrm>
        </p:spPr>
        <p:txBody>
          <a:bodyPr>
            <a:normAutofit/>
          </a:bodyPr>
          <a:lstStyle/>
          <a:p>
            <a:pPr>
              <a:spcBef>
                <a:spcPts val="465"/>
              </a:spcBef>
              <a:buClr>
                <a:srgbClr val="0DB7C4"/>
              </a:buClr>
              <a:buSzPct val="80000"/>
            </a:pPr>
            <a:r>
              <a:rPr lang="es-ES" dirty="0"/>
              <a:t>ELECCIÓN:</a:t>
            </a:r>
          </a:p>
          <a:p>
            <a:pPr lvl="1">
              <a:spcBef>
                <a:spcPts val="403"/>
              </a:spcBef>
            </a:pPr>
            <a:r>
              <a:rPr lang="es-ES" dirty="0"/>
              <a:t>Penicilina (AI)</a:t>
            </a:r>
          </a:p>
          <a:p>
            <a:pPr lvl="2">
              <a:spcBef>
                <a:spcPts val="372"/>
              </a:spcBef>
            </a:pPr>
            <a:r>
              <a:rPr lang="es-ES" dirty="0"/>
              <a:t>5 millones EV, seguido de  2.5–3.0 millones EV c/4 horas (AII)</a:t>
            </a:r>
          </a:p>
          <a:p>
            <a:pPr marL="1106424" lvl="2" indent="-110489">
              <a:spcBef>
                <a:spcPts val="372"/>
              </a:spcBef>
              <a:buSzPct val="100000"/>
              <a:buNone/>
            </a:pPr>
            <a:endParaRPr lang="es-ES" dirty="0"/>
          </a:p>
          <a:p>
            <a:pPr lvl="1">
              <a:spcBef>
                <a:spcPts val="403"/>
              </a:spcBef>
            </a:pPr>
            <a:r>
              <a:rPr lang="es-ES" dirty="0"/>
              <a:t>Ampicilina</a:t>
            </a:r>
          </a:p>
          <a:p>
            <a:pPr lvl="2">
              <a:spcBef>
                <a:spcPts val="372"/>
              </a:spcBef>
            </a:pPr>
            <a:r>
              <a:rPr lang="es-ES" dirty="0"/>
              <a:t>2gr de carga, luego 1gr cada 4 hs EV</a:t>
            </a:r>
          </a:p>
          <a:p>
            <a:pPr marL="1106424" lvl="2" indent="-110489">
              <a:spcBef>
                <a:spcPts val="372"/>
              </a:spcBef>
              <a:buSzPct val="100000"/>
              <a:buNone/>
            </a:pPr>
            <a:endParaRPr lang="es-ES" dirty="0"/>
          </a:p>
          <a:p>
            <a:pPr>
              <a:spcBef>
                <a:spcPts val="465"/>
              </a:spcBef>
              <a:buClr>
                <a:srgbClr val="0DB7C4"/>
              </a:buClr>
              <a:buSzPct val="80000"/>
            </a:pPr>
            <a:r>
              <a:rPr lang="es-ES" dirty="0"/>
              <a:t>Alternativa:  </a:t>
            </a:r>
          </a:p>
          <a:p>
            <a:pPr lvl="1">
              <a:spcBef>
                <a:spcPts val="403"/>
              </a:spcBef>
            </a:pPr>
            <a:r>
              <a:rPr lang="es-ES" dirty="0"/>
              <a:t>Cefazolina: si alcanza concentraciones en LA</a:t>
            </a:r>
          </a:p>
          <a:p>
            <a:pPr lvl="1">
              <a:spcBef>
                <a:spcPts val="403"/>
              </a:spcBef>
            </a:pPr>
            <a:r>
              <a:rPr lang="es-ES" dirty="0"/>
              <a:t>Clindamicina</a:t>
            </a:r>
          </a:p>
          <a:p>
            <a:pPr lvl="1">
              <a:spcBef>
                <a:spcPts val="403"/>
              </a:spcBef>
            </a:pPr>
            <a:r>
              <a:rPr lang="es-ES" dirty="0"/>
              <a:t>Vancomicina </a:t>
            </a:r>
          </a:p>
          <a:p>
            <a:pPr>
              <a:spcBef>
                <a:spcPts val="465"/>
              </a:spcBef>
              <a:buClr>
                <a:srgbClr val="0DB7C4"/>
              </a:buClr>
              <a:buSzPct val="80000"/>
            </a:pPr>
            <a:r>
              <a:rPr lang="es-ES" dirty="0"/>
              <a:t>Duración: 4 hs antes del Parto</a:t>
            </a:r>
          </a:p>
          <a:p>
            <a:endParaRPr lang="es-AR" dirty="0"/>
          </a:p>
        </p:txBody>
      </p:sp>
      <p:sp>
        <p:nvSpPr>
          <p:cNvPr id="4" name="Rectángulo 3">
            <a:extLst>
              <a:ext uri="{FF2B5EF4-FFF2-40B4-BE49-F238E27FC236}">
                <a16:creationId xmlns:a16="http://schemas.microsoft.com/office/drawing/2014/main" id="{4F8505DA-056D-F8E4-E5C0-420C705CD3EA}"/>
              </a:ext>
            </a:extLst>
          </p:cNvPr>
          <p:cNvSpPr/>
          <p:nvPr/>
        </p:nvSpPr>
        <p:spPr>
          <a:xfrm>
            <a:off x="2174929" y="6106332"/>
            <a:ext cx="7842142" cy="5501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0"/>
              </a:spcBef>
              <a:buClr>
                <a:srgbClr val="0DB7C4"/>
              </a:buClr>
              <a:buSzPct val="80000"/>
            </a:pPr>
            <a:r>
              <a:rPr lang="es-ES" sz="2800" dirty="0">
                <a:solidFill>
                  <a:schemeClr val="bg1"/>
                </a:solidFill>
              </a:rPr>
              <a:t>Efectividad en prevención de SGB de 86-89%</a:t>
            </a:r>
          </a:p>
        </p:txBody>
      </p:sp>
    </p:spTree>
    <p:extLst>
      <p:ext uri="{BB962C8B-B14F-4D97-AF65-F5344CB8AC3E}">
        <p14:creationId xmlns:p14="http://schemas.microsoft.com/office/powerpoint/2010/main" val="42260470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8F120-A02B-A77E-5F89-7272AAC1C88E}"/>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9E35D278-B62F-EC7C-600F-0B3620A1715E}"/>
              </a:ext>
            </a:extLst>
          </p:cNvPr>
          <p:cNvSpPr txBox="1"/>
          <p:nvPr/>
        </p:nvSpPr>
        <p:spPr>
          <a:xfrm>
            <a:off x="1812842" y="0"/>
            <a:ext cx="8498476" cy="707886"/>
          </a:xfrm>
          <a:prstGeom prst="rect">
            <a:avLst/>
          </a:prstGeom>
          <a:noFill/>
        </p:spPr>
        <p:txBody>
          <a:bodyPr wrap="square" rtlCol="0">
            <a:spAutoFit/>
          </a:bodyPr>
          <a:lstStyle/>
          <a:p>
            <a:pPr algn="ctr"/>
            <a:r>
              <a:rPr lang="es-AR" sz="4000" dirty="0">
                <a:solidFill>
                  <a:schemeClr val="accent1"/>
                </a:solidFill>
              </a:rPr>
              <a:t>CONCEPCIÓN SEGURA</a:t>
            </a:r>
          </a:p>
        </p:txBody>
      </p:sp>
      <p:sp>
        <p:nvSpPr>
          <p:cNvPr id="4" name="CuadroTexto 3">
            <a:extLst>
              <a:ext uri="{FF2B5EF4-FFF2-40B4-BE49-F238E27FC236}">
                <a16:creationId xmlns:a16="http://schemas.microsoft.com/office/drawing/2014/main" id="{A91A7A48-0CA9-8729-8411-D8EB818BA5A7}"/>
              </a:ext>
            </a:extLst>
          </p:cNvPr>
          <p:cNvSpPr txBox="1"/>
          <p:nvPr/>
        </p:nvSpPr>
        <p:spPr>
          <a:xfrm>
            <a:off x="1439836" y="853002"/>
            <a:ext cx="8767065" cy="830997"/>
          </a:xfrm>
          <a:prstGeom prst="rect">
            <a:avLst/>
          </a:prstGeom>
          <a:noFill/>
          <a:ln>
            <a:solidFill>
              <a:schemeClr val="accent1">
                <a:shade val="15000"/>
              </a:schemeClr>
            </a:solidFill>
          </a:ln>
        </p:spPr>
        <p:txBody>
          <a:bodyPr wrap="square" rtlCol="0">
            <a:spAutoFit/>
          </a:bodyPr>
          <a:lstStyle/>
          <a:p>
            <a:r>
              <a:rPr lang="es-AR" sz="2400" b="1" dirty="0"/>
              <a:t>MOMENTOS CLAVES PARA LA PREVENCIÓN DE LA TRANSMISIÓN </a:t>
            </a:r>
          </a:p>
          <a:p>
            <a:r>
              <a:rPr lang="es-AR" sz="2400" b="1" dirty="0"/>
              <a:t>PERINATAL</a:t>
            </a:r>
          </a:p>
        </p:txBody>
      </p:sp>
      <p:pic>
        <p:nvPicPr>
          <p:cNvPr id="7" name="Imagen 6" descr="Icono&#10;&#10;Descripción generada automáticamente">
            <a:extLst>
              <a:ext uri="{FF2B5EF4-FFF2-40B4-BE49-F238E27FC236}">
                <a16:creationId xmlns:a16="http://schemas.microsoft.com/office/drawing/2014/main" id="{7EA7DAC9-784E-C22F-FB20-9F5EAE18F6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1" y="1838366"/>
            <a:ext cx="2529590" cy="4166632"/>
          </a:xfrm>
          <a:prstGeom prst="rect">
            <a:avLst/>
          </a:prstGeom>
        </p:spPr>
      </p:pic>
      <p:pic>
        <p:nvPicPr>
          <p:cNvPr id="8" name="Imagen 7" descr="Icono&#10;&#10;Descripción generada automáticamente">
            <a:extLst>
              <a:ext uri="{FF2B5EF4-FFF2-40B4-BE49-F238E27FC236}">
                <a16:creationId xmlns:a16="http://schemas.microsoft.com/office/drawing/2014/main" id="{48D7D358-55BD-2124-B2E1-06161D1C43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3779" y="1877119"/>
            <a:ext cx="2529590" cy="4166632"/>
          </a:xfrm>
          <a:prstGeom prst="rect">
            <a:avLst/>
          </a:prstGeom>
        </p:spPr>
      </p:pic>
      <p:pic>
        <p:nvPicPr>
          <p:cNvPr id="9" name="Imagen 8" descr="Icono&#10;&#10;Descripción generada automáticamente">
            <a:extLst>
              <a:ext uri="{FF2B5EF4-FFF2-40B4-BE49-F238E27FC236}">
                <a16:creationId xmlns:a16="http://schemas.microsoft.com/office/drawing/2014/main" id="{265261CE-DCBF-124A-5C1C-FBB2950471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63554" y="1877119"/>
            <a:ext cx="2529590" cy="4166632"/>
          </a:xfrm>
          <a:prstGeom prst="rect">
            <a:avLst/>
          </a:prstGeom>
        </p:spPr>
      </p:pic>
      <p:pic>
        <p:nvPicPr>
          <p:cNvPr id="10" name="Imagen 9" descr="Icono&#10;&#10;Descripción generada automáticamente">
            <a:extLst>
              <a:ext uri="{FF2B5EF4-FFF2-40B4-BE49-F238E27FC236}">
                <a16:creationId xmlns:a16="http://schemas.microsoft.com/office/drawing/2014/main" id="{ACE1468C-11C9-BC02-E07B-04D911F352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2052" y="1877119"/>
            <a:ext cx="2529590" cy="4166632"/>
          </a:xfrm>
          <a:prstGeom prst="rect">
            <a:avLst/>
          </a:prstGeom>
        </p:spPr>
      </p:pic>
      <p:pic>
        <p:nvPicPr>
          <p:cNvPr id="12" name="Imagen 11" descr="Forma&#10;&#10;Descripción generada automáticamente">
            <a:extLst>
              <a:ext uri="{FF2B5EF4-FFF2-40B4-BE49-F238E27FC236}">
                <a16:creationId xmlns:a16="http://schemas.microsoft.com/office/drawing/2014/main" id="{252318E5-21EA-87B3-FF8C-B0C0F4F2A1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98223" y="2348886"/>
            <a:ext cx="1371600" cy="3495367"/>
          </a:xfrm>
          <a:prstGeom prst="rect">
            <a:avLst/>
          </a:prstGeom>
        </p:spPr>
      </p:pic>
      <p:sp>
        <p:nvSpPr>
          <p:cNvPr id="19" name="CuadroTexto 18">
            <a:extLst>
              <a:ext uri="{FF2B5EF4-FFF2-40B4-BE49-F238E27FC236}">
                <a16:creationId xmlns:a16="http://schemas.microsoft.com/office/drawing/2014/main" id="{C4A58B31-B9EB-9056-0039-0FF49707EFF4}"/>
              </a:ext>
            </a:extLst>
          </p:cNvPr>
          <p:cNvSpPr txBox="1"/>
          <p:nvPr/>
        </p:nvSpPr>
        <p:spPr>
          <a:xfrm>
            <a:off x="1835811" y="4137110"/>
            <a:ext cx="1523903" cy="307777"/>
          </a:xfrm>
          <a:prstGeom prst="rect">
            <a:avLst/>
          </a:prstGeom>
          <a:noFill/>
        </p:spPr>
        <p:txBody>
          <a:bodyPr wrap="square">
            <a:spAutoFit/>
          </a:bodyPr>
          <a:lstStyle/>
          <a:p>
            <a:r>
              <a:rPr lang="es-AR" sz="1400" dirty="0">
                <a:solidFill>
                  <a:schemeClr val="bg1"/>
                </a:solidFill>
              </a:rPr>
              <a:t>PRECONCEPCIÓN</a:t>
            </a:r>
          </a:p>
        </p:txBody>
      </p:sp>
      <p:sp>
        <p:nvSpPr>
          <p:cNvPr id="21" name="CuadroTexto 20">
            <a:extLst>
              <a:ext uri="{FF2B5EF4-FFF2-40B4-BE49-F238E27FC236}">
                <a16:creationId xmlns:a16="http://schemas.microsoft.com/office/drawing/2014/main" id="{17BA562D-BFAC-D59D-C4AC-967AA81CCA67}"/>
              </a:ext>
            </a:extLst>
          </p:cNvPr>
          <p:cNvSpPr txBox="1"/>
          <p:nvPr/>
        </p:nvSpPr>
        <p:spPr>
          <a:xfrm>
            <a:off x="3801954" y="4112156"/>
            <a:ext cx="1141918" cy="307777"/>
          </a:xfrm>
          <a:prstGeom prst="rect">
            <a:avLst/>
          </a:prstGeom>
          <a:noFill/>
        </p:spPr>
        <p:txBody>
          <a:bodyPr wrap="square">
            <a:spAutoFit/>
          </a:bodyPr>
          <a:lstStyle/>
          <a:p>
            <a:r>
              <a:rPr lang="en-US" sz="1400" dirty="0">
                <a:solidFill>
                  <a:schemeClr val="bg1"/>
                </a:solidFill>
                <a:latin typeface="Calibri" pitchFamily="34" charset="0"/>
                <a:cs typeface="Calibri" pitchFamily="34" charset="0"/>
              </a:rPr>
              <a:t>EMBARAZO</a:t>
            </a:r>
            <a:endParaRPr lang="es-AR" sz="1400" dirty="0">
              <a:solidFill>
                <a:schemeClr val="bg1"/>
              </a:solidFill>
              <a:latin typeface="Calibri" pitchFamily="34" charset="0"/>
              <a:cs typeface="Calibri" pitchFamily="34" charset="0"/>
            </a:endParaRPr>
          </a:p>
        </p:txBody>
      </p:sp>
      <p:sp>
        <p:nvSpPr>
          <p:cNvPr id="23" name="CuadroTexto 22">
            <a:extLst>
              <a:ext uri="{FF2B5EF4-FFF2-40B4-BE49-F238E27FC236}">
                <a16:creationId xmlns:a16="http://schemas.microsoft.com/office/drawing/2014/main" id="{5D6FA81D-7583-47AF-AA13-33FB4176BF06}"/>
              </a:ext>
            </a:extLst>
          </p:cNvPr>
          <p:cNvSpPr txBox="1"/>
          <p:nvPr/>
        </p:nvSpPr>
        <p:spPr>
          <a:xfrm>
            <a:off x="5279702" y="3946942"/>
            <a:ext cx="1504385" cy="738664"/>
          </a:xfrm>
          <a:prstGeom prst="rect">
            <a:avLst/>
          </a:prstGeom>
          <a:noFill/>
        </p:spPr>
        <p:txBody>
          <a:bodyPr wrap="square">
            <a:spAutoFit/>
          </a:bodyPr>
          <a:lstStyle/>
          <a:p>
            <a:pPr algn="ctr"/>
            <a:r>
              <a:rPr lang="en-US" sz="1400" dirty="0">
                <a:solidFill>
                  <a:schemeClr val="bg1"/>
                </a:solidFill>
              </a:rPr>
              <a:t>MODO DE FINALIZACIÓN DEL EMBARAZO</a:t>
            </a:r>
            <a:endParaRPr lang="es-AR" sz="1400" dirty="0">
              <a:solidFill>
                <a:schemeClr val="bg1"/>
              </a:solidFill>
            </a:endParaRPr>
          </a:p>
        </p:txBody>
      </p:sp>
      <p:sp>
        <p:nvSpPr>
          <p:cNvPr id="25" name="CuadroTexto 24">
            <a:extLst>
              <a:ext uri="{FF2B5EF4-FFF2-40B4-BE49-F238E27FC236}">
                <a16:creationId xmlns:a16="http://schemas.microsoft.com/office/drawing/2014/main" id="{D7914F5F-0961-4459-D0B6-EBB9A022F632}"/>
              </a:ext>
            </a:extLst>
          </p:cNvPr>
          <p:cNvSpPr txBox="1"/>
          <p:nvPr/>
        </p:nvSpPr>
        <p:spPr>
          <a:xfrm>
            <a:off x="7128448" y="3992910"/>
            <a:ext cx="1655480" cy="523220"/>
          </a:xfrm>
          <a:prstGeom prst="rect">
            <a:avLst/>
          </a:prstGeom>
          <a:noFill/>
        </p:spPr>
        <p:txBody>
          <a:bodyPr wrap="square">
            <a:spAutoFit/>
          </a:bodyPr>
          <a:lstStyle/>
          <a:p>
            <a:pPr algn="ctr"/>
            <a:r>
              <a:rPr lang="en-US" sz="1400" dirty="0">
                <a:solidFill>
                  <a:schemeClr val="bg1"/>
                </a:solidFill>
                <a:latin typeface="Trebuchet MS" panose="020B0603020202020204" pitchFamily="34" charset="0"/>
              </a:rPr>
              <a:t>COMPONENTE NEONATAL</a:t>
            </a:r>
            <a:endParaRPr lang="es-AR" sz="1400" dirty="0">
              <a:solidFill>
                <a:schemeClr val="bg1"/>
              </a:solidFill>
            </a:endParaRPr>
          </a:p>
        </p:txBody>
      </p:sp>
      <p:sp>
        <p:nvSpPr>
          <p:cNvPr id="27" name="CuadroTexto 26">
            <a:extLst>
              <a:ext uri="{FF2B5EF4-FFF2-40B4-BE49-F238E27FC236}">
                <a16:creationId xmlns:a16="http://schemas.microsoft.com/office/drawing/2014/main" id="{5019994B-C37E-7CED-11A4-B79924D9217B}"/>
              </a:ext>
            </a:extLst>
          </p:cNvPr>
          <p:cNvSpPr txBox="1"/>
          <p:nvPr/>
        </p:nvSpPr>
        <p:spPr>
          <a:xfrm>
            <a:off x="8904330" y="3894546"/>
            <a:ext cx="1365511" cy="738664"/>
          </a:xfrm>
          <a:prstGeom prst="rect">
            <a:avLst/>
          </a:prstGeom>
          <a:noFill/>
        </p:spPr>
        <p:txBody>
          <a:bodyPr wrap="square">
            <a:spAutoFit/>
          </a:bodyPr>
          <a:lstStyle/>
          <a:p>
            <a:pPr algn="ctr"/>
            <a:r>
              <a:rPr lang="en-US" sz="1400" dirty="0">
                <a:solidFill>
                  <a:schemeClr val="bg1"/>
                </a:solidFill>
                <a:latin typeface="Trebuchet MS" panose="020B0603020202020204" pitchFamily="34" charset="0"/>
              </a:rPr>
              <a:t>MODO DE ALMENTACIÓN DEL RN</a:t>
            </a:r>
            <a:endParaRPr lang="es-AR" sz="1400" dirty="0"/>
          </a:p>
        </p:txBody>
      </p:sp>
      <p:sp>
        <p:nvSpPr>
          <p:cNvPr id="6" name="Elipse 5" descr="Un dibujo en blanco y negro&#10;&#10;Descripción generada automáticamente con confianza baja">
            <a:extLst>
              <a:ext uri="{FF2B5EF4-FFF2-40B4-BE49-F238E27FC236}">
                <a16:creationId xmlns:a16="http://schemas.microsoft.com/office/drawing/2014/main" id="{7DCC611D-5603-8022-A16A-4EA307BBE257}"/>
              </a:ext>
            </a:extLst>
          </p:cNvPr>
          <p:cNvSpPr/>
          <p:nvPr/>
        </p:nvSpPr>
        <p:spPr>
          <a:xfrm>
            <a:off x="5755143" y="2667515"/>
            <a:ext cx="681718" cy="923330"/>
          </a:xfrm>
          <a:prstGeom prst="ellipse">
            <a:avLst/>
          </a:prstGeom>
          <a:blipFill>
            <a:blip r:embed="rId4">
              <a:extLst>
                <a:ext uri="{28A0092B-C50C-407E-A947-70E740481C1C}">
                  <a14:useLocalDpi xmlns:a14="http://schemas.microsoft.com/office/drawing/2010/main" val="0"/>
                </a:ext>
              </a:extLst>
            </a:blip>
            <a:srcRect/>
            <a:stretch>
              <a:fillRect l="-14000" r="-14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s-AR"/>
          </a:p>
        </p:txBody>
      </p:sp>
      <p:sp>
        <p:nvSpPr>
          <p:cNvPr id="11" name="Elipse 10">
            <a:extLst>
              <a:ext uri="{FF2B5EF4-FFF2-40B4-BE49-F238E27FC236}">
                <a16:creationId xmlns:a16="http://schemas.microsoft.com/office/drawing/2014/main" id="{2EF94762-C29C-2435-DD44-676330B0B39E}"/>
              </a:ext>
            </a:extLst>
          </p:cNvPr>
          <p:cNvSpPr/>
          <p:nvPr/>
        </p:nvSpPr>
        <p:spPr>
          <a:xfrm>
            <a:off x="3977235" y="2627781"/>
            <a:ext cx="682684" cy="963117"/>
          </a:xfrm>
          <a:prstGeom prst="ellipse">
            <a:avLst/>
          </a:prstGeom>
          <a:blipFill>
            <a:blip r:embed="rId5">
              <a:extLst>
                <a:ext uri="{28A0092B-C50C-407E-A947-70E740481C1C}">
                  <a14:useLocalDpi xmlns:a14="http://schemas.microsoft.com/office/drawing/2010/main" val="0"/>
                </a:ext>
              </a:extLst>
            </a:blip>
            <a:srcRect/>
            <a:stretch>
              <a:fillRect t="-15000" b="-15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s-AR"/>
          </a:p>
        </p:txBody>
      </p:sp>
      <p:sp>
        <p:nvSpPr>
          <p:cNvPr id="18" name="Elipse 17">
            <a:extLst>
              <a:ext uri="{FF2B5EF4-FFF2-40B4-BE49-F238E27FC236}">
                <a16:creationId xmlns:a16="http://schemas.microsoft.com/office/drawing/2014/main" id="{8856C4C6-9C8B-DECC-9AA2-06E1B4795628}"/>
              </a:ext>
            </a:extLst>
          </p:cNvPr>
          <p:cNvSpPr/>
          <p:nvPr/>
        </p:nvSpPr>
        <p:spPr>
          <a:xfrm>
            <a:off x="7544287" y="2628865"/>
            <a:ext cx="747635" cy="996846"/>
          </a:xfrm>
          <a:prstGeom prst="ellipse">
            <a:avLst/>
          </a:prstGeom>
          <a:blipFill>
            <a:blip r:embed="rId6">
              <a:extLst>
                <a:ext uri="{28A0092B-C50C-407E-A947-70E740481C1C}">
                  <a14:useLocalDpi xmlns:a14="http://schemas.microsoft.com/office/drawing/2010/main" val="0"/>
                </a:ext>
              </a:extLst>
            </a:blip>
            <a:srcRect/>
            <a:stretch>
              <a:fillRect t="-18000" b="-18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s-AR"/>
          </a:p>
        </p:txBody>
      </p:sp>
      <p:sp>
        <p:nvSpPr>
          <p:cNvPr id="20" name="Elipse 19">
            <a:extLst>
              <a:ext uri="{FF2B5EF4-FFF2-40B4-BE49-F238E27FC236}">
                <a16:creationId xmlns:a16="http://schemas.microsoft.com/office/drawing/2014/main" id="{779487C8-D765-F4D7-0AD0-5952FC73DE28}"/>
              </a:ext>
            </a:extLst>
          </p:cNvPr>
          <p:cNvSpPr/>
          <p:nvPr/>
        </p:nvSpPr>
        <p:spPr>
          <a:xfrm>
            <a:off x="9210067" y="2579670"/>
            <a:ext cx="773867" cy="1031823"/>
          </a:xfrm>
          <a:prstGeom prst="ellipse">
            <a:avLst/>
          </a:prstGeom>
          <a:blipFill>
            <a:blip r:embed="rId7">
              <a:extLst>
                <a:ext uri="{28A0092B-C50C-407E-A947-70E740481C1C}">
                  <a14:useLocalDpi xmlns:a14="http://schemas.microsoft.com/office/drawing/2010/main" val="0"/>
                </a:ext>
              </a:extLst>
            </a:blip>
            <a:srcRect/>
            <a:stretch>
              <a:fillRect t="-15000" b="-15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s-AR"/>
          </a:p>
        </p:txBody>
      </p:sp>
      <p:sp>
        <p:nvSpPr>
          <p:cNvPr id="22" name="Elipse 21" descr="Icono&#10;&#10;Descripción generada automáticamente">
            <a:extLst>
              <a:ext uri="{FF2B5EF4-FFF2-40B4-BE49-F238E27FC236}">
                <a16:creationId xmlns:a16="http://schemas.microsoft.com/office/drawing/2014/main" id="{7246E917-A968-FE6D-DF3E-2FF03BBAB25A}"/>
              </a:ext>
            </a:extLst>
          </p:cNvPr>
          <p:cNvSpPr/>
          <p:nvPr/>
        </p:nvSpPr>
        <p:spPr>
          <a:xfrm>
            <a:off x="2128195" y="2584802"/>
            <a:ext cx="761946" cy="1040963"/>
          </a:xfrm>
          <a:prstGeom prst="ellipse">
            <a:avLst/>
          </a:prstGeom>
          <a:blipFill>
            <a:blip r:embed="rId8" cstate="print">
              <a:extLst>
                <a:ext uri="{28A0092B-C50C-407E-A947-70E740481C1C}">
                  <a14:useLocalDpi xmlns:a14="http://schemas.microsoft.com/office/drawing/2010/main" val="0"/>
                </a:ext>
              </a:extLst>
            </a:blip>
            <a:srcRect/>
            <a:stretch>
              <a:fillRect l="-12000" r="-12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s-AR"/>
          </a:p>
        </p:txBody>
      </p:sp>
    </p:spTree>
    <p:extLst>
      <p:ext uri="{BB962C8B-B14F-4D97-AF65-F5344CB8AC3E}">
        <p14:creationId xmlns:p14="http://schemas.microsoft.com/office/powerpoint/2010/main" val="4042323270"/>
      </p:ext>
    </p:extLst>
  </p:cSld>
  <p:clrMapOvr>
    <a:masterClrMapping/>
  </p:clrMapOvr>
  <p:transition spd="slow">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48364" y="2408420"/>
            <a:ext cx="4486656" cy="1141497"/>
          </a:xfrm>
        </p:spPr>
        <p:txBody>
          <a:bodyPr>
            <a:normAutofit/>
          </a:bodyPr>
          <a:lstStyle/>
          <a:p>
            <a:br>
              <a:rPr lang="en-US" dirty="0">
                <a:solidFill>
                  <a:schemeClr val="accent1">
                    <a:lumMod val="75000"/>
                  </a:schemeClr>
                </a:solidFill>
              </a:rPr>
            </a:br>
            <a:endParaRPr lang="en-US" dirty="0">
              <a:solidFill>
                <a:schemeClr val="accent1">
                  <a:lumMod val="75000"/>
                </a:schemeClr>
              </a:solidFill>
            </a:endParaRPr>
          </a:p>
        </p:txBody>
      </p:sp>
      <p:pic>
        <p:nvPicPr>
          <p:cNvPr id="5" name="Marcador de contenido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17920" y="1422873"/>
            <a:ext cx="5830388" cy="4254089"/>
          </a:xfrm>
        </p:spPr>
      </p:pic>
      <p:sp>
        <p:nvSpPr>
          <p:cNvPr id="4" name="Marcador de texto 3"/>
          <p:cNvSpPr>
            <a:spLocks noGrp="1"/>
          </p:cNvSpPr>
          <p:nvPr>
            <p:ph type="body" sz="half" idx="2"/>
          </p:nvPr>
        </p:nvSpPr>
        <p:spPr>
          <a:xfrm>
            <a:off x="1115568" y="4480560"/>
            <a:ext cx="3794760" cy="783771"/>
          </a:xfrm>
        </p:spPr>
        <p:txBody>
          <a:bodyPr>
            <a:normAutofit fontScale="92500" lnSpcReduction="20000"/>
          </a:bodyPr>
          <a:lstStyle/>
          <a:p>
            <a:pPr algn="ctr"/>
            <a:r>
              <a:rPr lang="es-AR" sz="3200" dirty="0">
                <a:solidFill>
                  <a:schemeClr val="accent1">
                    <a:lumMod val="50000"/>
                  </a:schemeClr>
                </a:solidFill>
              </a:rPr>
              <a:t>¡¡Muchas gracias por cuidarme!!</a:t>
            </a:r>
            <a:endParaRPr lang="en-US" sz="3200" dirty="0">
              <a:solidFill>
                <a:schemeClr val="accent1">
                  <a:lumMod val="50000"/>
                </a:schemeClr>
              </a:solidFill>
            </a:endParaRPr>
          </a:p>
        </p:txBody>
      </p:sp>
    </p:spTree>
    <p:extLst>
      <p:ext uri="{BB962C8B-B14F-4D97-AF65-F5344CB8AC3E}">
        <p14:creationId xmlns:p14="http://schemas.microsoft.com/office/powerpoint/2010/main" val="111613059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1910</TotalTime>
  <Words>4105</Words>
  <Application>Microsoft Office PowerPoint</Application>
  <PresentationFormat>Panorámica</PresentationFormat>
  <Paragraphs>371</Paragraphs>
  <Slides>42</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42</vt:i4>
      </vt:variant>
    </vt:vector>
  </HeadingPairs>
  <TitlesOfParts>
    <vt:vector size="48" baseType="lpstr">
      <vt:lpstr>Arial</vt:lpstr>
      <vt:lpstr>Calibri</vt:lpstr>
      <vt:lpstr>Calibri Light</vt:lpstr>
      <vt:lpstr>Trebuchet MS</vt:lpstr>
      <vt:lpstr>Wingdings</vt:lpstr>
      <vt:lpstr>Tema de Office</vt:lpstr>
      <vt:lpstr>ENFOQUE OBSTETRICO Y PEDIATRICO DE LAS INFECCIONES</vt:lpstr>
      <vt:lpstr>Evaluación serológica precoz durante la gestación</vt:lpstr>
      <vt:lpstr>Repetir durante el embarazo</vt:lpstr>
      <vt:lpstr>Abordaje diagnóstico en la embarazada y recién nacido de las infecciones mas importantes</vt:lpstr>
      <vt:lpstr>RN con sospecha de TORCH</vt:lpstr>
      <vt:lpstr>TOXOPLASMOSIS</vt:lpstr>
      <vt:lpstr>Transmisión de Toxoplasmosis</vt:lpstr>
      <vt:lpstr>Toxoplasmosis Congénita</vt:lpstr>
      <vt:lpstr>Toxoplasmosis congénita</vt:lpstr>
      <vt:lpstr>Diagnóstico de toxoplasmosis congénita</vt:lpstr>
      <vt:lpstr>Dificultades en la detección precoz de la primoinfección en embarazadas</vt:lpstr>
      <vt:lpstr>Indicadores de Infección</vt:lpstr>
      <vt:lpstr>Infección Neonatal</vt:lpstr>
      <vt:lpstr>Tratamiento en embarazo</vt:lpstr>
      <vt:lpstr>Presentación de PowerPoint</vt:lpstr>
      <vt:lpstr>Tratamiento del niño</vt:lpstr>
      <vt:lpstr>Prevención</vt:lpstr>
      <vt:lpstr>RUBEOLA</vt:lpstr>
      <vt:lpstr>Síndrome de Rubéola Congénita (SRC)</vt:lpstr>
      <vt:lpstr>Manifestaciones clínicas de SRC</vt:lpstr>
      <vt:lpstr>Diagnóstico en pacientes expuestas </vt:lpstr>
      <vt:lpstr>Síndrome de Rubeola Congénita (SRC )</vt:lpstr>
      <vt:lpstr>CITOMEGALOVIRUS (CMV)</vt:lpstr>
      <vt:lpstr>Riesgo de transmisión de CMV</vt:lpstr>
      <vt:lpstr>Diagnóstico de infección por CMV en mujer embarazada </vt:lpstr>
      <vt:lpstr>Indicadores de Infección por CMV</vt:lpstr>
      <vt:lpstr>Tratamiento- Seguimiento</vt:lpstr>
      <vt:lpstr>Prevención</vt:lpstr>
      <vt:lpstr>HERPES SIMPLEX</vt:lpstr>
      <vt:lpstr>Herpes Neonatal</vt:lpstr>
      <vt:lpstr>Manifestaciones  clínicas Herpes Neonatal</vt:lpstr>
      <vt:lpstr>Tratamiento </vt:lpstr>
      <vt:lpstr>Vías de parto</vt:lpstr>
      <vt:lpstr>SÍFILIS Y EMBARAZO - Estrategias</vt:lpstr>
      <vt:lpstr>Una mujer embarazada con diagnóstico de Sífilis, </vt:lpstr>
      <vt:lpstr>Se considera SIFILIS CONGENITA</vt:lpstr>
      <vt:lpstr>Streptococcus agalactiae (SGB) y Embarazo</vt:lpstr>
      <vt:lpstr> Transmisión SGB: 40 al 70% Sin prevención   </vt:lpstr>
      <vt:lpstr>Indicaciones de profilaxis intraparto</vt:lpstr>
      <vt:lpstr>Profilaxis SGB</vt:lpstr>
      <vt:lpstr>Presentación de PowerPoint</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Hepatitis  virales</dc:title>
  <dc:creator>WIN-10</dc:creator>
  <cp:lastModifiedBy>WIN-10</cp:lastModifiedBy>
  <cp:revision>89</cp:revision>
  <dcterms:created xsi:type="dcterms:W3CDTF">2023-08-18T15:54:53Z</dcterms:created>
  <dcterms:modified xsi:type="dcterms:W3CDTF">2026-08-30T22:06:18Z</dcterms:modified>
</cp:coreProperties>
</file>