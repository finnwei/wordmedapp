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4.jpg" ContentType="image/jpg"/>
  <Override PartName="/ppt/media/image5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328" r:id="rId4"/>
    <p:sldId id="265" r:id="rId5"/>
    <p:sldId id="300" r:id="rId6"/>
    <p:sldId id="266" r:id="rId7"/>
    <p:sldId id="268" r:id="rId8"/>
    <p:sldId id="264" r:id="rId9"/>
    <p:sldId id="273" r:id="rId10"/>
    <p:sldId id="299" r:id="rId11"/>
    <p:sldId id="332" r:id="rId12"/>
    <p:sldId id="301" r:id="rId13"/>
    <p:sldId id="334" r:id="rId14"/>
    <p:sldId id="335" r:id="rId15"/>
    <p:sldId id="347" r:id="rId16"/>
    <p:sldId id="344" r:id="rId17"/>
    <p:sldId id="340" r:id="rId18"/>
    <p:sldId id="341" r:id="rId19"/>
    <p:sldId id="302" r:id="rId20"/>
    <p:sldId id="304" r:id="rId21"/>
    <p:sldId id="342" r:id="rId22"/>
    <p:sldId id="272" r:id="rId23"/>
    <p:sldId id="333" r:id="rId24"/>
    <p:sldId id="330" r:id="rId25"/>
    <p:sldId id="308" r:id="rId26"/>
    <p:sldId id="292" r:id="rId27"/>
    <p:sldId id="293" r:id="rId28"/>
    <p:sldId id="294" r:id="rId29"/>
    <p:sldId id="287" r:id="rId30"/>
    <p:sldId id="309" r:id="rId31"/>
    <p:sldId id="310" r:id="rId32"/>
    <p:sldId id="311" r:id="rId33"/>
    <p:sldId id="312" r:id="rId34"/>
    <p:sldId id="313" r:id="rId35"/>
    <p:sldId id="315" r:id="rId36"/>
    <p:sldId id="314" r:id="rId37"/>
    <p:sldId id="317" r:id="rId38"/>
    <p:sldId id="259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2634" autoAdjust="0"/>
  </p:normalViewPr>
  <p:slideViewPr>
    <p:cSldViewPr snapToGrid="0">
      <p:cViewPr varScale="1">
        <p:scale>
          <a:sx n="63" d="100"/>
          <a:sy n="63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3105" y="802298"/>
            <a:ext cx="8561747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3106" y="3531204"/>
            <a:ext cx="8561746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93105" y="329307"/>
            <a:ext cx="4897310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334637" y="798973"/>
            <a:ext cx="0" cy="2544756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6554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454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813" y="1756130"/>
            <a:ext cx="8562580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3806195"/>
            <a:ext cx="854999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284510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8240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889"/>
            <a:ext cx="9520157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4695" y="2010878"/>
            <a:ext cx="4608576" cy="343814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4793" y="2017343"/>
            <a:ext cx="4604130" cy="344152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4512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163"/>
            <a:ext cx="9520157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2019549"/>
            <a:ext cx="460857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4695" y="2824269"/>
            <a:ext cx="4608576" cy="2644457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4791" y="2023003"/>
            <a:ext cx="4608576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4792" y="2821491"/>
            <a:ext cx="4608576" cy="2637371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0576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0756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365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42" y="798973"/>
            <a:ext cx="3183128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205491"/>
            <a:ext cx="3184989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224711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253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prstMaterial="matte">
              <a:bevelT w="133350" h="50800" prst="divo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5694" y="1129513"/>
            <a:ext cx="544784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145992"/>
            <a:ext cx="544003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34695" y="5469856"/>
            <a:ext cx="5440038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34910" y="318640"/>
            <a:ext cx="5453475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71687" y="798973"/>
            <a:ext cx="0" cy="2161124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2228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0979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883863"/>
            <a:ext cx="1615742" cy="45749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694" y="883863"/>
            <a:ext cx="7738807" cy="4574999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9439111" y="719272"/>
            <a:ext cx="1615742" cy="0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30727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5255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6" y="2015732"/>
            <a:ext cx="9520158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34695" y="329307"/>
            <a:ext cx="5855719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1827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gentina.gob.ar/noticias/salud-actualiza-la-situacion-epidemiologica-de-dengue-y-chikungunya-en-argentina-y-3" TargetMode="External"/><Relationship Id="rId2" Type="http://schemas.openxmlformats.org/officeDocument/2006/relationships/hyperlink" Target="https://www.argentina.gob.ar/sinagir/epidemias-pandemia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ancos.salud.gob.ar/sites/default/files/2018-10/0000000064cnt-01-guia-fiebre-amarilla.pdf" TargetMode="External"/><Relationship Id="rId4" Type="http://schemas.openxmlformats.org/officeDocument/2006/relationships/hyperlink" Target="https://iris.paho.org/handle/10665.2/5632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325189" y="802298"/>
            <a:ext cx="9866811" cy="1549016"/>
          </a:xfrm>
        </p:spPr>
        <p:txBody>
          <a:bodyPr>
            <a:normAutofit/>
          </a:bodyPr>
          <a:lstStyle/>
          <a:p>
            <a:r>
              <a:rPr lang="es-AR" sz="4400" noProof="0" dirty="0"/>
              <a:t>ENFERMEDADES REEMERGENTES 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827416" y="4506686"/>
            <a:ext cx="8364583" cy="1554480"/>
          </a:xfrm>
        </p:spPr>
        <p:txBody>
          <a:bodyPr>
            <a:normAutofit fontScale="85000" lnSpcReduction="20000"/>
          </a:bodyPr>
          <a:lstStyle/>
          <a:p>
            <a:endParaRPr lang="es-AR" noProof="0" dirty="0"/>
          </a:p>
          <a:p>
            <a:pPr algn="r"/>
            <a:r>
              <a:rPr lang="es-AR" noProof="0" dirty="0"/>
              <a:t>                                Dra Cristina Salvador -  Enfermedades Infecciosas </a:t>
            </a:r>
          </a:p>
          <a:p>
            <a:pPr algn="r"/>
            <a:r>
              <a:rPr lang="es-AR" noProof="0" dirty="0"/>
              <a:t>Facultad de Ciencias Medicas- U.M. San Rafael</a:t>
            </a:r>
          </a:p>
          <a:p>
            <a:r>
              <a:rPr lang="es-AR" noProof="0" dirty="0"/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1304810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4294967295"/>
          </p:nvPr>
        </p:nvSpPr>
        <p:spPr>
          <a:xfrm>
            <a:off x="374073" y="277091"/>
            <a:ext cx="11817927" cy="5861771"/>
          </a:xfrm>
        </p:spPr>
        <p:txBody>
          <a:bodyPr>
            <a:normAutofit/>
          </a:bodyPr>
          <a:lstStyle/>
          <a:p>
            <a:r>
              <a:rPr lang="es-AR" sz="2400" b="1" noProof="0" dirty="0"/>
              <a:t>ENFERMEDADES REEMERGENTES:</a:t>
            </a:r>
            <a:r>
              <a:rPr lang="es-AR" sz="2400" noProof="0" dirty="0"/>
              <a:t> Son las que han vuelto a aparecer después de que su incidencia había disminuido significativamente. Por ej. El dengue, era una enfermedad común cuya incidencia se redujo considerablemente durante los años sesenta y setenta. En los ochenta, el mosquito regresó con todo su ímpetu. </a:t>
            </a:r>
            <a:r>
              <a:rPr lang="es-AR" sz="2400" b="1" noProof="0" dirty="0"/>
              <a:t>Dengue-Zika- Chikungunya- Fiebre amarilla</a:t>
            </a:r>
            <a:endParaRPr lang="es-AR" sz="2400" noProof="0" dirty="0"/>
          </a:p>
          <a:p>
            <a:r>
              <a:rPr lang="es-AR" sz="2400" b="1" noProof="0" dirty="0"/>
              <a:t>ENFERMEDADES REGIONALES O ENDÉMICAS: </a:t>
            </a:r>
            <a:r>
              <a:rPr lang="es-AR" sz="2400" noProof="0" dirty="0"/>
              <a:t>Son aquellas enfermedades infecciosas que afectan de forma permanente, o en determinados períodos, a una región, sin presentar fluctuaciones importantes. </a:t>
            </a:r>
            <a:r>
              <a:rPr lang="es-AR" sz="2400" b="1" noProof="0" dirty="0"/>
              <a:t>Chagas- Bruselosis- Hidatidosis- Triquinosis- Fiebre hemorrágica argentina</a:t>
            </a:r>
          </a:p>
          <a:p>
            <a:r>
              <a:rPr lang="es-AR" sz="2400" b="1" dirty="0"/>
              <a:t>ENFERMEDADES EMERGENTES:</a:t>
            </a:r>
            <a:r>
              <a:rPr lang="es-AR" sz="2400" dirty="0"/>
              <a:t> Son aquellas cuya incidencia ha aumentado en los seres humanos en los 20 últimos años. </a:t>
            </a:r>
            <a:r>
              <a:rPr lang="es-AR" sz="2400" b="1" dirty="0"/>
              <a:t>SIDA: </a:t>
            </a:r>
            <a:r>
              <a:rPr lang="es-AR" sz="2400" dirty="0"/>
              <a:t>Se desconocía hasta principios de los años ochenta, desde entonces, el VIH se ha difundido por todo el mundo. </a:t>
            </a:r>
          </a:p>
          <a:p>
            <a:pPr marL="0" indent="0">
              <a:buNone/>
            </a:pPr>
            <a:endParaRPr lang="es-AR" b="1" noProof="0" dirty="0"/>
          </a:p>
        </p:txBody>
      </p:sp>
    </p:spTree>
    <p:extLst>
      <p:ext uri="{BB962C8B-B14F-4D97-AF65-F5344CB8AC3E}">
        <p14:creationId xmlns:p14="http://schemas.microsoft.com/office/powerpoint/2010/main" val="3718610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34696" y="195944"/>
            <a:ext cx="9520158" cy="887790"/>
          </a:xfrm>
        </p:spPr>
        <p:txBody>
          <a:bodyPr>
            <a:normAutofit/>
          </a:bodyPr>
          <a:lstStyle/>
          <a:p>
            <a:r>
              <a:rPr lang="es-AR" noProof="0" dirty="0"/>
              <a:t>Enfermedades Reemergentes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534696" y="1306286"/>
            <a:ext cx="10657304" cy="4872445"/>
          </a:xfrm>
        </p:spPr>
        <p:txBody>
          <a:bodyPr/>
          <a:lstStyle/>
          <a:p>
            <a:r>
              <a:rPr lang="es-AR" sz="2400" noProof="0" dirty="0"/>
              <a:t>Dengue</a:t>
            </a:r>
          </a:p>
          <a:p>
            <a:r>
              <a:rPr lang="es-AR" sz="2400" noProof="0" dirty="0"/>
              <a:t>Zika</a:t>
            </a:r>
          </a:p>
          <a:p>
            <a:r>
              <a:rPr lang="es-AR" sz="2400" noProof="0" dirty="0"/>
              <a:t>Chikungunya</a:t>
            </a:r>
          </a:p>
          <a:p>
            <a:r>
              <a:rPr lang="es-AR" sz="2400" noProof="0" dirty="0"/>
              <a:t>Fiebre amarilla</a:t>
            </a:r>
          </a:p>
          <a:p>
            <a:endParaRPr lang="es-AR" sz="2400" b="1" noProof="0" dirty="0"/>
          </a:p>
          <a:p>
            <a:pPr marL="0" indent="0" algn="ctr">
              <a:buNone/>
            </a:pPr>
            <a:r>
              <a:rPr lang="es-AR" sz="2400" b="1" noProof="0" dirty="0"/>
              <a:t>PRIMERA PARTE: </a:t>
            </a:r>
          </a:p>
          <a:p>
            <a:pPr marL="0" indent="0" algn="ctr">
              <a:buNone/>
            </a:pPr>
            <a:r>
              <a:rPr lang="es-AR" sz="2400" b="1" noProof="0" dirty="0"/>
              <a:t>ARBORIVUS EN GENERAL – DENGUE – ZIKA.</a:t>
            </a:r>
            <a:endParaRPr lang="es-AR" noProof="0" dirty="0"/>
          </a:p>
        </p:txBody>
      </p:sp>
    </p:spTree>
    <p:extLst>
      <p:ext uri="{BB962C8B-B14F-4D97-AF65-F5344CB8AC3E}">
        <p14:creationId xmlns:p14="http://schemas.microsoft.com/office/powerpoint/2010/main" val="2253396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34696" y="2"/>
            <a:ext cx="10657304" cy="1267096"/>
          </a:xfrm>
        </p:spPr>
        <p:txBody>
          <a:bodyPr>
            <a:normAutofit/>
          </a:bodyPr>
          <a:lstStyle/>
          <a:p>
            <a:r>
              <a:rPr lang="es-AR" sz="2800" noProof="0" dirty="0"/>
              <a:t>Los arbovirus: Virus transmitidos por artrópodos, especialmente insectos (moscas y mosquitos) y arácnidos (garrapatas).</a:t>
            </a:r>
          </a:p>
        </p:txBody>
      </p:sp>
      <p:pic>
        <p:nvPicPr>
          <p:cNvPr id="1030" name="Picture 6" descr="Arbovirus en Latinoamérica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8251" y="1423851"/>
            <a:ext cx="8307978" cy="4741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888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2926080" y="0"/>
            <a:ext cx="8128772" cy="927463"/>
          </a:xfrm>
        </p:spPr>
        <p:txBody>
          <a:bodyPr/>
          <a:lstStyle/>
          <a:p>
            <a:r>
              <a:rPr lang="es-AR" noProof="0" dirty="0"/>
              <a:t>ARBOVIRUS : Flia Flaviviradae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half" idx="1"/>
          </p:nvPr>
        </p:nvSpPr>
        <p:spPr>
          <a:xfrm>
            <a:off x="1366714" y="1037903"/>
            <a:ext cx="5623752" cy="5016137"/>
          </a:xfrm>
        </p:spPr>
        <p:txBody>
          <a:bodyPr>
            <a:normAutofit/>
          </a:bodyPr>
          <a:lstStyle/>
          <a:p>
            <a:r>
              <a:rPr lang="es-AR" sz="2800" noProof="0" dirty="0"/>
              <a:t>Estructura Icosaedrica</a:t>
            </a:r>
          </a:p>
          <a:p>
            <a:endParaRPr lang="es-AR" sz="2800" noProof="0" dirty="0"/>
          </a:p>
          <a:p>
            <a:r>
              <a:rPr lang="es-AR" sz="2800" noProof="0" dirty="0"/>
              <a:t>Envoltura lipídica con proyecciones de sup.: Proteína M y Proteína E</a:t>
            </a:r>
          </a:p>
          <a:p>
            <a:endParaRPr lang="es-AR" sz="2800" noProof="0" dirty="0"/>
          </a:p>
          <a:p>
            <a:r>
              <a:rPr lang="es-AR" sz="2800" noProof="0" dirty="0"/>
              <a:t>También tiene proteínas no estructurales NS</a:t>
            </a:r>
          </a:p>
        </p:txBody>
      </p:sp>
      <p:pic>
        <p:nvPicPr>
          <p:cNvPr id="8" name="Picture 4" descr="Resultado de imagen para imagen virus  zika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0466" y="1635528"/>
            <a:ext cx="5201534" cy="3820886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512906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34696" y="1"/>
            <a:ext cx="9520158" cy="653142"/>
          </a:xfrm>
        </p:spPr>
        <p:txBody>
          <a:bodyPr/>
          <a:lstStyle/>
          <a:p>
            <a:r>
              <a:rPr lang="es-AR" noProof="0" dirty="0"/>
              <a:t>Estructura: genoma de los arbovirus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384663" y="849086"/>
            <a:ext cx="10807337" cy="5316584"/>
          </a:xfrm>
        </p:spPr>
        <p:txBody>
          <a:bodyPr>
            <a:noAutofit/>
          </a:bodyPr>
          <a:lstStyle/>
          <a:p>
            <a:r>
              <a:rPr lang="es-AR" sz="2400" noProof="0" dirty="0"/>
              <a:t>Tienen </a:t>
            </a:r>
            <a:r>
              <a:rPr lang="es-AR" sz="2400" b="1" noProof="0" dirty="0"/>
              <a:t>envoltura y su material genético es una sola cadena de ARN</a:t>
            </a:r>
            <a:r>
              <a:rPr lang="es-AR" sz="2400" noProof="0" dirty="0"/>
              <a:t> monocatenario.</a:t>
            </a:r>
          </a:p>
          <a:p>
            <a:pPr marL="0" indent="0">
              <a:buNone/>
            </a:pPr>
            <a:r>
              <a:rPr lang="es-AR" sz="2400" noProof="0" dirty="0"/>
              <a:t>Implicaciones para la detección viral: </a:t>
            </a:r>
          </a:p>
          <a:p>
            <a:pPr marL="0" indent="0">
              <a:buNone/>
            </a:pPr>
            <a:r>
              <a:rPr lang="es-AR" sz="2400" noProof="0" dirty="0"/>
              <a:t>1) los virus envueltos suelen ser menos estables, afecta el aislamiento viral. </a:t>
            </a:r>
          </a:p>
          <a:p>
            <a:pPr marL="0" indent="0">
              <a:buNone/>
            </a:pPr>
            <a:r>
              <a:rPr lang="es-AR" sz="2400" noProof="0" dirty="0"/>
              <a:t>2) El ARN monocatenario es químicamente lábil y se degrada con facilidad. </a:t>
            </a:r>
          </a:p>
          <a:p>
            <a:pPr marL="0" indent="0">
              <a:buNone/>
            </a:pPr>
            <a:r>
              <a:rPr lang="es-AR" sz="2400" noProof="0" dirty="0"/>
              <a:t>3) La variabilidad genética de los virus ARN afecta el diagnóstico molecular. </a:t>
            </a:r>
          </a:p>
          <a:p>
            <a:pPr marL="0" indent="0">
              <a:buNone/>
            </a:pPr>
            <a:r>
              <a:rPr lang="es-AR" sz="2400" noProof="0" dirty="0"/>
              <a:t>4) Dentro de cada familia de arbovirus existen similitudes y diferencias estructurales y genéticas que pueden afectar la capacidad para detectar estos virus en forma específica.</a:t>
            </a:r>
          </a:p>
        </p:txBody>
      </p:sp>
    </p:spTree>
    <p:extLst>
      <p:ext uri="{BB962C8B-B14F-4D97-AF65-F5344CB8AC3E}">
        <p14:creationId xmlns:p14="http://schemas.microsoft.com/office/powerpoint/2010/main" val="3255090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34696" y="1"/>
            <a:ext cx="9520158" cy="875210"/>
          </a:xfrm>
        </p:spPr>
        <p:txBody>
          <a:bodyPr/>
          <a:lstStyle/>
          <a:p>
            <a:r>
              <a:rPr lang="es-AR" noProof="0" dirty="0"/>
              <a:t>Modos de transmisión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358537" y="1031966"/>
            <a:ext cx="10833463" cy="5159828"/>
          </a:xfrm>
        </p:spPr>
        <p:txBody>
          <a:bodyPr>
            <a:normAutofit lnSpcReduction="10000"/>
          </a:bodyPr>
          <a:lstStyle/>
          <a:p>
            <a:r>
              <a:rPr lang="es-AR" sz="2400" noProof="0" dirty="0"/>
              <a:t>Transmitidos por artrópodos hematófagos: los mosquitos y las garrapatas. </a:t>
            </a:r>
          </a:p>
          <a:p>
            <a:r>
              <a:rPr lang="es-AR" sz="2400" noProof="0" dirty="0"/>
              <a:t>Transmisión biológica: requiere que el virus produzca una viremia alta en el huésped vertebrado y se replique en los tejidos de un artrópodo infectado. </a:t>
            </a:r>
          </a:p>
          <a:p>
            <a:r>
              <a:rPr lang="es-AR" sz="2400" noProof="0" dirty="0"/>
              <a:t>Los artrópodos son infectados cuando ingieren sangre del vertebrado que contiene el virus. </a:t>
            </a:r>
          </a:p>
          <a:p>
            <a:r>
              <a:rPr lang="es-AR" sz="2400" noProof="0" dirty="0"/>
              <a:t>El virus infecta las células del intestino medio, llega al hemocele y luego a diversos tejidos, incluyendo las glándulas salivales, y puede transmitir el virus a otro huésped vertebrado cuando se alimenta de sangre. </a:t>
            </a:r>
            <a:endParaRPr lang="es-AR" dirty="0"/>
          </a:p>
          <a:p>
            <a:pPr marL="0" indent="0">
              <a:buNone/>
            </a:pPr>
            <a:endParaRPr lang="es-AR" noProof="0" dirty="0"/>
          </a:p>
          <a:p>
            <a:pPr marL="0" indent="0" algn="ctr">
              <a:buNone/>
            </a:pPr>
            <a:r>
              <a:rPr lang="es-AR" sz="2400" b="1" noProof="0" dirty="0"/>
              <a:t>Para que ocurran casos autóctonos de dengue en una población, se requiere la presencia del virus, del mosquito y de personas susceptibles.</a:t>
            </a:r>
          </a:p>
        </p:txBody>
      </p:sp>
    </p:spTree>
    <p:extLst>
      <p:ext uri="{BB962C8B-B14F-4D97-AF65-F5344CB8AC3E}">
        <p14:creationId xmlns:p14="http://schemas.microsoft.com/office/powerpoint/2010/main" val="1343168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34696" y="1"/>
            <a:ext cx="9520158" cy="561702"/>
          </a:xfrm>
        </p:spPr>
        <p:txBody>
          <a:bodyPr/>
          <a:lstStyle/>
          <a:p>
            <a:r>
              <a:rPr lang="es-AR" noProof="0" dirty="0"/>
              <a:t>Favorecen la transmisión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410789" y="561703"/>
            <a:ext cx="10781211" cy="5630091"/>
          </a:xfrm>
        </p:spPr>
        <p:txBody>
          <a:bodyPr>
            <a:normAutofit/>
          </a:bodyPr>
          <a:lstStyle/>
          <a:p>
            <a:pPr marL="241300" marR="508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endParaRPr lang="es-AR" spc="-620" noProof="0" dirty="0">
              <a:solidFill>
                <a:prstClr val="black"/>
              </a:solidFill>
              <a:cs typeface="Calibri"/>
            </a:endParaRPr>
          </a:p>
          <a:p>
            <a:pPr marL="241300" marR="508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lang="es-AR" sz="2400" spc="5" noProof="0" dirty="0">
                <a:solidFill>
                  <a:prstClr val="black"/>
                </a:solidFill>
                <a:cs typeface="Calibri"/>
              </a:rPr>
              <a:t>Fa</a:t>
            </a:r>
            <a:r>
              <a:rPr lang="es-AR" sz="2400" spc="-20" noProof="0" dirty="0">
                <a:solidFill>
                  <a:prstClr val="black"/>
                </a:solidFill>
                <a:cs typeface="Calibri"/>
              </a:rPr>
              <a:t>ctores</a:t>
            </a:r>
            <a:r>
              <a:rPr lang="es-AR" sz="2400" spc="5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10" noProof="0" dirty="0">
                <a:solidFill>
                  <a:prstClr val="black"/>
                </a:solidFill>
                <a:cs typeface="Calibri"/>
              </a:rPr>
              <a:t>ambientales</a:t>
            </a:r>
            <a:r>
              <a:rPr lang="es-AR" sz="2400" spc="15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10" noProof="0" dirty="0">
                <a:solidFill>
                  <a:prstClr val="black"/>
                </a:solidFill>
                <a:cs typeface="Calibri"/>
              </a:rPr>
              <a:t>como</a:t>
            </a:r>
            <a:r>
              <a:rPr lang="es-AR" sz="2400" spc="15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5" noProof="0" dirty="0">
                <a:solidFill>
                  <a:prstClr val="black"/>
                </a:solidFill>
                <a:cs typeface="Calibri"/>
              </a:rPr>
              <a:t>la </a:t>
            </a:r>
            <a:r>
              <a:rPr lang="es-AR" sz="2400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20" noProof="0" dirty="0">
                <a:solidFill>
                  <a:prstClr val="black"/>
                </a:solidFill>
                <a:cs typeface="Calibri"/>
              </a:rPr>
              <a:t>temperatura. </a:t>
            </a:r>
            <a:r>
              <a:rPr lang="es-AR" sz="2400" noProof="0" dirty="0"/>
              <a:t>El cambio climático, Todo esto se ha asociado a la mayor dispersión de los vectores y, por lo tanto, se lo considera otro factor de importancia en la reemergencia.</a:t>
            </a:r>
          </a:p>
          <a:p>
            <a:pPr marL="241300" marR="508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endParaRPr lang="es-AR" sz="2400" noProof="0" dirty="0"/>
          </a:p>
          <a:p>
            <a:pPr marL="241300" marR="508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lang="es-AR" sz="2400" noProof="0" dirty="0"/>
              <a:t>Las zonas rurales cercanas a bosques, la caza, la deforestación, la minería. </a:t>
            </a:r>
          </a:p>
          <a:p>
            <a:pPr marL="241300" marR="508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endParaRPr lang="es-AR" sz="2400" noProof="0" dirty="0"/>
          </a:p>
          <a:p>
            <a:pPr marL="241300" marR="508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endParaRPr lang="es-AR" sz="2400" spc="-20" noProof="0" dirty="0">
              <a:solidFill>
                <a:prstClr val="black"/>
              </a:solidFill>
              <a:cs typeface="Calibri"/>
            </a:endParaRPr>
          </a:p>
          <a:p>
            <a:pPr marL="241300" marR="508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lang="es-AR" sz="2400" spc="-20" noProof="0" dirty="0">
                <a:solidFill>
                  <a:prstClr val="black"/>
                </a:solidFill>
                <a:cs typeface="Calibri"/>
              </a:rPr>
              <a:t>Estas</a:t>
            </a:r>
            <a:r>
              <a:rPr lang="es-AR" sz="2400" spc="20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15" noProof="0" dirty="0">
                <a:solidFill>
                  <a:prstClr val="black"/>
                </a:solidFill>
                <a:cs typeface="Calibri"/>
              </a:rPr>
              <a:t>patologías</a:t>
            </a:r>
            <a:r>
              <a:rPr lang="es-AR" sz="2400" spc="5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10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10" noProof="0" dirty="0">
                <a:solidFill>
                  <a:prstClr val="black"/>
                </a:solidFill>
                <a:cs typeface="Calibri"/>
              </a:rPr>
              <a:t>(dengue,</a:t>
            </a:r>
            <a:r>
              <a:rPr lang="es-AR" sz="2400" spc="60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20" noProof="0" dirty="0">
                <a:solidFill>
                  <a:prstClr val="black"/>
                </a:solidFill>
                <a:cs typeface="Calibri"/>
              </a:rPr>
              <a:t>chikungunya,</a:t>
            </a:r>
            <a:r>
              <a:rPr lang="es-AR" sz="2400" spc="70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20" noProof="0" dirty="0">
                <a:solidFill>
                  <a:prstClr val="black"/>
                </a:solidFill>
                <a:cs typeface="Calibri"/>
              </a:rPr>
              <a:t>Zika</a:t>
            </a:r>
            <a:r>
              <a:rPr lang="es-AR" sz="2400" spc="10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5" noProof="0" dirty="0">
                <a:solidFill>
                  <a:prstClr val="black"/>
                </a:solidFill>
                <a:cs typeface="Calibri"/>
              </a:rPr>
              <a:t>y</a:t>
            </a:r>
            <a:r>
              <a:rPr lang="es-AR" sz="2400" spc="10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15" noProof="0" dirty="0">
                <a:solidFill>
                  <a:prstClr val="black"/>
                </a:solidFill>
                <a:cs typeface="Calibri"/>
              </a:rPr>
              <a:t>fiebre</a:t>
            </a:r>
            <a:r>
              <a:rPr lang="es-AR" sz="2400" spc="10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5" noProof="0" dirty="0">
                <a:solidFill>
                  <a:prstClr val="black"/>
                </a:solidFill>
                <a:cs typeface="Calibri"/>
              </a:rPr>
              <a:t>amarilla)</a:t>
            </a:r>
            <a:r>
              <a:rPr lang="es-AR" sz="2400" spc="10" noProof="0" dirty="0">
                <a:solidFill>
                  <a:prstClr val="black"/>
                </a:solidFill>
                <a:cs typeface="Calibri"/>
              </a:rPr>
              <a:t> tienen </a:t>
            </a:r>
            <a:r>
              <a:rPr lang="es-AR" sz="2400" spc="-5" noProof="0" dirty="0">
                <a:solidFill>
                  <a:prstClr val="black"/>
                </a:solidFill>
                <a:cs typeface="Calibri"/>
              </a:rPr>
              <a:t>en </a:t>
            </a:r>
            <a:r>
              <a:rPr lang="es-AR" sz="2400" spc="-620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10" noProof="0" dirty="0">
                <a:solidFill>
                  <a:prstClr val="black"/>
                </a:solidFill>
                <a:cs typeface="Calibri"/>
              </a:rPr>
              <a:t>común</a:t>
            </a:r>
            <a:r>
              <a:rPr lang="es-AR" sz="2400" spc="5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10" noProof="0" dirty="0">
                <a:solidFill>
                  <a:prstClr val="black"/>
                </a:solidFill>
                <a:cs typeface="Calibri"/>
              </a:rPr>
              <a:t>que</a:t>
            </a:r>
            <a:r>
              <a:rPr lang="es-AR" sz="2400" spc="20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5" noProof="0" dirty="0">
                <a:solidFill>
                  <a:prstClr val="black"/>
                </a:solidFill>
                <a:cs typeface="Calibri"/>
              </a:rPr>
              <a:t>son</a:t>
            </a:r>
            <a:r>
              <a:rPr lang="es-AR" sz="2400" spc="15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10" noProof="0" dirty="0">
                <a:solidFill>
                  <a:prstClr val="black"/>
                </a:solidFill>
                <a:cs typeface="Calibri"/>
              </a:rPr>
              <a:t>transmitidos</a:t>
            </a:r>
            <a:r>
              <a:rPr lang="es-AR" sz="2400" spc="35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5" noProof="0" dirty="0">
                <a:solidFill>
                  <a:prstClr val="black"/>
                </a:solidFill>
                <a:cs typeface="Calibri"/>
              </a:rPr>
              <a:t>por</a:t>
            </a:r>
            <a:r>
              <a:rPr lang="es-AR" sz="2400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5" noProof="0" dirty="0">
                <a:solidFill>
                  <a:prstClr val="black"/>
                </a:solidFill>
                <a:cs typeface="Calibri"/>
              </a:rPr>
              <a:t>el</a:t>
            </a:r>
            <a:r>
              <a:rPr lang="es-AR" sz="2400" spc="20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10" noProof="0" dirty="0">
                <a:solidFill>
                  <a:prstClr val="black"/>
                </a:solidFill>
                <a:cs typeface="Calibri"/>
              </a:rPr>
              <a:t>mismo</a:t>
            </a:r>
            <a:r>
              <a:rPr lang="es-AR" sz="2400" spc="15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45" noProof="0" dirty="0">
                <a:solidFill>
                  <a:prstClr val="black"/>
                </a:solidFill>
                <a:cs typeface="Calibri"/>
              </a:rPr>
              <a:t>vector,</a:t>
            </a:r>
            <a:r>
              <a:rPr lang="es-AR" sz="2400" spc="-15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10" noProof="0" dirty="0">
                <a:solidFill>
                  <a:prstClr val="black"/>
                </a:solidFill>
                <a:cs typeface="Calibri"/>
              </a:rPr>
              <a:t>comparten</a:t>
            </a:r>
            <a:r>
              <a:rPr lang="es-AR" sz="2400" spc="15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5" noProof="0" dirty="0">
                <a:solidFill>
                  <a:prstClr val="black"/>
                </a:solidFill>
                <a:cs typeface="Calibri"/>
              </a:rPr>
              <a:t>los </a:t>
            </a:r>
            <a:r>
              <a:rPr lang="es-AR" sz="2400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5" noProof="0" dirty="0">
                <a:solidFill>
                  <a:prstClr val="black"/>
                </a:solidFill>
                <a:cs typeface="Calibri"/>
              </a:rPr>
              <a:t>mismos</a:t>
            </a:r>
            <a:r>
              <a:rPr lang="es-AR" sz="2400" spc="15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20" noProof="0" dirty="0">
                <a:solidFill>
                  <a:prstClr val="black"/>
                </a:solidFill>
                <a:cs typeface="Calibri"/>
              </a:rPr>
              <a:t>tratamientos</a:t>
            </a:r>
            <a:r>
              <a:rPr lang="es-AR" sz="2400" spc="20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5" noProof="0" dirty="0">
                <a:solidFill>
                  <a:prstClr val="black"/>
                </a:solidFill>
                <a:cs typeface="Calibri"/>
              </a:rPr>
              <a:t>y</a:t>
            </a:r>
            <a:r>
              <a:rPr lang="es-AR" sz="2400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5" noProof="0" dirty="0">
                <a:solidFill>
                  <a:prstClr val="black"/>
                </a:solidFill>
                <a:cs typeface="Calibri"/>
              </a:rPr>
              <a:t>las medidas</a:t>
            </a:r>
            <a:r>
              <a:rPr lang="es-AR" sz="2400" spc="30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20" noProof="0" dirty="0">
                <a:solidFill>
                  <a:prstClr val="black"/>
                </a:solidFill>
                <a:cs typeface="Calibri"/>
              </a:rPr>
              <a:t>preventivas.</a:t>
            </a:r>
          </a:p>
          <a:p>
            <a:pPr marL="241300" marR="508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endParaRPr lang="es-AR" sz="2400" noProof="0" dirty="0">
              <a:solidFill>
                <a:prstClr val="black"/>
              </a:solidFill>
              <a:cs typeface="Calibri"/>
            </a:endParaRPr>
          </a:p>
          <a:p>
            <a:pPr marL="241300" marR="69215">
              <a:lnSpc>
                <a:spcPts val="302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lang="es-AR" sz="2400" spc="-10" noProof="0" dirty="0">
                <a:solidFill>
                  <a:prstClr val="black"/>
                </a:solidFill>
                <a:cs typeface="Calibri"/>
              </a:rPr>
              <a:t>Las</a:t>
            </a:r>
            <a:r>
              <a:rPr lang="es-AR" sz="2400" spc="10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15" noProof="0" dirty="0">
                <a:solidFill>
                  <a:prstClr val="black"/>
                </a:solidFill>
                <a:cs typeface="Calibri"/>
              </a:rPr>
              <a:t>diferencias</a:t>
            </a:r>
            <a:r>
              <a:rPr lang="es-AR" sz="2400" spc="25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10" noProof="0" dirty="0">
                <a:solidFill>
                  <a:prstClr val="black"/>
                </a:solidFill>
                <a:cs typeface="Calibri"/>
              </a:rPr>
              <a:t>marcadas</a:t>
            </a:r>
            <a:r>
              <a:rPr lang="es-AR" sz="2400" spc="5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20" noProof="0" dirty="0">
                <a:solidFill>
                  <a:prstClr val="black"/>
                </a:solidFill>
                <a:cs typeface="Calibri"/>
              </a:rPr>
              <a:t>radican</a:t>
            </a:r>
            <a:r>
              <a:rPr lang="es-AR" sz="2400" spc="25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5" noProof="0" dirty="0">
                <a:solidFill>
                  <a:prstClr val="black"/>
                </a:solidFill>
                <a:cs typeface="Calibri"/>
              </a:rPr>
              <a:t>en</a:t>
            </a:r>
            <a:r>
              <a:rPr lang="es-AR" sz="2400" spc="10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5" noProof="0" dirty="0">
                <a:solidFill>
                  <a:prstClr val="black"/>
                </a:solidFill>
                <a:cs typeface="Calibri"/>
              </a:rPr>
              <a:t>la</a:t>
            </a:r>
            <a:r>
              <a:rPr lang="es-AR" sz="2400" spc="-15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20" noProof="0" dirty="0">
                <a:solidFill>
                  <a:prstClr val="black"/>
                </a:solidFill>
                <a:cs typeface="Calibri"/>
              </a:rPr>
              <a:t>gravedad</a:t>
            </a:r>
            <a:r>
              <a:rPr lang="es-AR" sz="2400" spc="15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10" noProof="0" dirty="0">
                <a:solidFill>
                  <a:prstClr val="black"/>
                </a:solidFill>
                <a:cs typeface="Calibri"/>
              </a:rPr>
              <a:t>que</a:t>
            </a:r>
            <a:r>
              <a:rPr lang="es-AR" sz="2400" spc="5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10" noProof="0" dirty="0">
                <a:solidFill>
                  <a:prstClr val="black"/>
                </a:solidFill>
                <a:cs typeface="Calibri"/>
              </a:rPr>
              <a:t>puedan</a:t>
            </a:r>
            <a:r>
              <a:rPr lang="es-AR" sz="2400" spc="40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10" noProof="0" dirty="0">
                <a:solidFill>
                  <a:prstClr val="black"/>
                </a:solidFill>
                <a:cs typeface="Calibri"/>
              </a:rPr>
              <a:t>tener</a:t>
            </a:r>
            <a:r>
              <a:rPr lang="es-AR" sz="2400" spc="-5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10" noProof="0" dirty="0">
                <a:solidFill>
                  <a:prstClr val="black"/>
                </a:solidFill>
                <a:cs typeface="Calibri"/>
              </a:rPr>
              <a:t>cada </a:t>
            </a:r>
            <a:r>
              <a:rPr lang="es-AR" sz="2400" spc="-620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10" noProof="0" dirty="0">
                <a:solidFill>
                  <a:prstClr val="black"/>
                </a:solidFill>
                <a:cs typeface="Calibri"/>
              </a:rPr>
              <a:t>una</a:t>
            </a:r>
            <a:r>
              <a:rPr lang="es-AR" sz="2400" spc="15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5" noProof="0" dirty="0">
                <a:solidFill>
                  <a:prstClr val="black"/>
                </a:solidFill>
                <a:cs typeface="Calibri"/>
              </a:rPr>
              <a:t>de</a:t>
            </a:r>
            <a:r>
              <a:rPr lang="es-AR" sz="2400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5" noProof="0" dirty="0">
                <a:solidFill>
                  <a:prstClr val="black"/>
                </a:solidFill>
                <a:cs typeface="Calibri"/>
              </a:rPr>
              <a:t>ellas</a:t>
            </a:r>
            <a:r>
              <a:rPr lang="es-AR" sz="2400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15" noProof="0" dirty="0">
                <a:solidFill>
                  <a:prstClr val="black"/>
                </a:solidFill>
                <a:cs typeface="Calibri"/>
              </a:rPr>
              <a:t>sobre</a:t>
            </a:r>
            <a:r>
              <a:rPr lang="es-AR" sz="2400" spc="20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15" noProof="0" dirty="0">
                <a:solidFill>
                  <a:prstClr val="black"/>
                </a:solidFill>
                <a:cs typeface="Calibri"/>
              </a:rPr>
              <a:t>todo</a:t>
            </a:r>
            <a:r>
              <a:rPr lang="es-AR" sz="2400" spc="-5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15" noProof="0" dirty="0">
                <a:solidFill>
                  <a:prstClr val="black"/>
                </a:solidFill>
                <a:cs typeface="Calibri"/>
              </a:rPr>
              <a:t>fiebre</a:t>
            </a:r>
            <a:r>
              <a:rPr lang="es-AR" sz="2400" spc="10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5" noProof="0" dirty="0">
                <a:solidFill>
                  <a:prstClr val="black"/>
                </a:solidFill>
                <a:cs typeface="Calibri"/>
              </a:rPr>
              <a:t>amarilla</a:t>
            </a:r>
            <a:r>
              <a:rPr lang="es-AR" sz="2400" spc="-10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5" noProof="0" dirty="0">
                <a:solidFill>
                  <a:prstClr val="black"/>
                </a:solidFill>
                <a:cs typeface="Calibri"/>
              </a:rPr>
              <a:t>y</a:t>
            </a:r>
            <a:r>
              <a:rPr lang="es-AR" sz="2400" noProof="0" dirty="0">
                <a:solidFill>
                  <a:prstClr val="black"/>
                </a:solidFill>
                <a:cs typeface="Calibri"/>
              </a:rPr>
              <a:t> </a:t>
            </a:r>
            <a:r>
              <a:rPr lang="es-AR" sz="2400" spc="-10" noProof="0" dirty="0">
                <a:solidFill>
                  <a:prstClr val="black"/>
                </a:solidFill>
                <a:cs typeface="Calibri"/>
              </a:rPr>
              <a:t>Dengue.</a:t>
            </a:r>
            <a:endParaRPr lang="es-AR" sz="2400" noProof="0" dirty="0"/>
          </a:p>
        </p:txBody>
      </p:sp>
    </p:spTree>
    <p:extLst>
      <p:ext uri="{BB962C8B-B14F-4D97-AF65-F5344CB8AC3E}">
        <p14:creationId xmlns:p14="http://schemas.microsoft.com/office/powerpoint/2010/main" val="1534351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087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166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34695" y="130629"/>
            <a:ext cx="9520157" cy="757645"/>
          </a:xfrm>
        </p:spPr>
        <p:txBody>
          <a:bodyPr/>
          <a:lstStyle/>
          <a:p>
            <a:r>
              <a:rPr lang="es-AR" noProof="0" dirty="0"/>
              <a:t>Características del vector: Aedes aegypti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397726" y="1188719"/>
            <a:ext cx="6126480" cy="4950823"/>
          </a:xfrm>
        </p:spPr>
        <p:txBody>
          <a:bodyPr>
            <a:normAutofit/>
          </a:bodyPr>
          <a:lstStyle/>
          <a:p>
            <a:r>
              <a:rPr lang="es-AR" noProof="0" dirty="0"/>
              <a:t>Es una especie diurna, con mayor actividad de picadura dos horas después de la puesta de sol y varias horas antes del amanecer. </a:t>
            </a:r>
          </a:p>
          <a:p>
            <a:r>
              <a:rPr lang="es-AR" noProof="0" dirty="0"/>
              <a:t>Vive y deposita sus huevos en los alrededores e interior de las casas, en recipientes utilizados para el almacenamiento de agua, en jarrones, tarros, neumáticos viejos y otros objetos que hagan las veces de envase de agua. </a:t>
            </a:r>
          </a:p>
          <a:p>
            <a:r>
              <a:rPr lang="es-AR" noProof="0" dirty="0"/>
              <a:t>Su </a:t>
            </a:r>
            <a:r>
              <a:rPr lang="es-AR" b="1" noProof="0" dirty="0"/>
              <a:t>capacidad de vuelo es cerca de 100 </a:t>
            </a:r>
            <a:r>
              <a:rPr lang="es-AR" noProof="0" dirty="0"/>
              <a:t>m, por lo que el mosquito que pica es el mismo que uno ha “criado”. </a:t>
            </a:r>
          </a:p>
        </p:txBody>
      </p:sp>
      <p:pic>
        <p:nvPicPr>
          <p:cNvPr id="5" name="object 2"/>
          <p:cNvPicPr>
            <a:picLocks noGrp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7524206" y="1188720"/>
            <a:ext cx="4667793" cy="495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771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A6BC3C3-E506-CAEF-97E2-5982621538C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258958" y="-1"/>
            <a:ext cx="9528312" cy="5691051"/>
          </a:xfr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64797A4C-44CF-EBBF-BDD6-86C39F1624C9}"/>
              </a:ext>
            </a:extLst>
          </p:cNvPr>
          <p:cNvSpPr txBox="1"/>
          <p:nvPr/>
        </p:nvSpPr>
        <p:spPr>
          <a:xfrm>
            <a:off x="0" y="5691050"/>
            <a:ext cx="12191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noProof="0" dirty="0"/>
              <a:t>La incidencia acumulada más elevada se observa en personas entre 20 y 29 años, seguida por 30 a 39 y 10 a 19 años</a:t>
            </a:r>
          </a:p>
        </p:txBody>
      </p:sp>
    </p:spTree>
    <p:extLst>
      <p:ext uri="{BB962C8B-B14F-4D97-AF65-F5344CB8AC3E}">
        <p14:creationId xmlns:p14="http://schemas.microsoft.com/office/powerpoint/2010/main" val="1177289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34696" y="0"/>
            <a:ext cx="9520158" cy="535577"/>
          </a:xfrm>
        </p:spPr>
        <p:txBody>
          <a:bodyPr>
            <a:normAutofit/>
          </a:bodyPr>
          <a:lstStyle/>
          <a:p>
            <a:pPr algn="ctr"/>
            <a:r>
              <a:rPr lang="es-AR" noProof="0" dirty="0"/>
              <a:t>DENGUE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358537" y="744583"/>
            <a:ext cx="10833463" cy="53949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noProof="0" dirty="0"/>
              <a:t>Durante la temporada </a:t>
            </a:r>
            <a:r>
              <a:rPr lang="es-AR" sz="2400" b="1" noProof="0" dirty="0"/>
              <a:t>2023-2024,</a:t>
            </a:r>
            <a:r>
              <a:rPr lang="es-AR" sz="2400" noProof="0" dirty="0"/>
              <a:t> (30 de julio de 2023 al 27 de julio de 2024 ), se han notificado 583.297 casos de dengue (95% autóctonos), de los cuales 566.015 (97%) en el año 2024.</a:t>
            </a:r>
          </a:p>
          <a:p>
            <a:pPr marL="0" indent="0">
              <a:buNone/>
            </a:pPr>
            <a:r>
              <a:rPr lang="es-AR" sz="2400" noProof="0" dirty="0"/>
              <a:t>Representa </a:t>
            </a:r>
            <a:r>
              <a:rPr lang="es-AR" sz="2400" b="1" noProof="0" dirty="0"/>
              <a:t>más de tres veces los casos en la misma temporada anterior </a:t>
            </a:r>
            <a:r>
              <a:rPr lang="es-AR" sz="2400" noProof="0" dirty="0"/>
              <a:t>2022/2023 y </a:t>
            </a:r>
            <a:r>
              <a:rPr lang="es-AR" sz="2400" b="1" noProof="0" dirty="0"/>
              <a:t>más de ocho veces lo registrado en el mismo período en 2019/2020</a:t>
            </a:r>
            <a:r>
              <a:rPr lang="es-AR" sz="2400" noProof="0" dirty="0"/>
              <a:t>.</a:t>
            </a:r>
          </a:p>
          <a:p>
            <a:pPr marL="0" indent="0">
              <a:buNone/>
            </a:pPr>
            <a:r>
              <a:rPr lang="es-AR" sz="2400" noProof="0" dirty="0"/>
              <a:t>La región del Centro aportó el mayor número de casos (60,2%), seguido por el NOA (27,7%) y el NEA (10%), las regiones Cuyo y Sur aportaron el 2,2%. </a:t>
            </a:r>
          </a:p>
          <a:p>
            <a:pPr marL="0" indent="0">
              <a:buNone/>
            </a:pPr>
            <a:r>
              <a:rPr lang="es-AR" sz="2400" noProof="0" dirty="0"/>
              <a:t>Dengue grave 1.638 casos (0,28%), y 419 casos fallecidos. </a:t>
            </a:r>
          </a:p>
          <a:p>
            <a:pPr marL="0" indent="0">
              <a:buNone/>
            </a:pPr>
            <a:r>
              <a:rPr lang="es-AR" sz="2400" noProof="0" dirty="0"/>
              <a:t>La letalidad global durante la temporada fue de 0,072%.</a:t>
            </a:r>
          </a:p>
          <a:p>
            <a:pPr marL="0" indent="0">
              <a:buNone/>
            </a:pPr>
            <a:endParaRPr lang="es-AR" noProof="0" dirty="0"/>
          </a:p>
          <a:p>
            <a:endParaRPr lang="es-AR" noProof="0" dirty="0"/>
          </a:p>
        </p:txBody>
      </p:sp>
    </p:spTree>
    <p:extLst>
      <p:ext uri="{BB962C8B-B14F-4D97-AF65-F5344CB8AC3E}">
        <p14:creationId xmlns:p14="http://schemas.microsoft.com/office/powerpoint/2010/main" val="464424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CFF8BFA-881C-30BA-A796-BDEF4BD70917}"/>
              </a:ext>
            </a:extLst>
          </p:cNvPr>
          <p:cNvSpPr txBox="1"/>
          <p:nvPr/>
        </p:nvSpPr>
        <p:spPr>
          <a:xfrm>
            <a:off x="257332" y="208807"/>
            <a:ext cx="11677336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/>
              <a:t>A la semana epidemiológica (SE) 29 del 2025</a:t>
            </a:r>
          </a:p>
          <a:p>
            <a:r>
              <a:rPr lang="es-ES" sz="2800" i="1" dirty="0"/>
              <a:t>Región de las Américas</a:t>
            </a:r>
            <a:r>
              <a:rPr lang="es-ES" sz="2800" b="1" dirty="0"/>
              <a:t>: </a:t>
            </a:r>
            <a:r>
              <a:rPr lang="es-ES" sz="2800" dirty="0"/>
              <a:t>3.558.860 casos sospechosos de dengue. </a:t>
            </a:r>
          </a:p>
          <a:p>
            <a:r>
              <a:rPr lang="es-ES" sz="2800" dirty="0"/>
              <a:t>Representa una disminución de 69% en comparación con el mismo periodo del 2024 y 11% con respecto al promedio de los últimos 5 años</a:t>
            </a:r>
            <a:r>
              <a:rPr lang="es-ES" sz="3200" dirty="0"/>
              <a:t>.</a:t>
            </a:r>
          </a:p>
          <a:p>
            <a:endParaRPr lang="es-ES" sz="3200" dirty="0"/>
          </a:p>
          <a:p>
            <a:r>
              <a:rPr lang="es-ES" sz="2800" i="1" dirty="0"/>
              <a:t>Subregión Cono Sur</a:t>
            </a:r>
            <a:r>
              <a:rPr lang="es-ES" sz="2800" dirty="0"/>
              <a:t>: 18.507 nuevos casos sospechosos de dengue</a:t>
            </a:r>
          </a:p>
          <a:p>
            <a:r>
              <a:rPr lang="es-ES" sz="2800" dirty="0"/>
              <a:t>Disminución de 69% en comparación con el mismo periodo del 2024 y 9% con respecto al promedio de los últimos 5 años</a:t>
            </a:r>
            <a:r>
              <a:rPr lang="es-ES" sz="2800" b="1" dirty="0"/>
              <a:t>.</a:t>
            </a:r>
          </a:p>
          <a:p>
            <a:endParaRPr lang="es-ES" sz="2800" b="1" dirty="0"/>
          </a:p>
          <a:p>
            <a:r>
              <a:rPr lang="es-ES" sz="2800" b="1" dirty="0"/>
              <a:t>SE36/2026</a:t>
            </a:r>
          </a:p>
          <a:p>
            <a:r>
              <a:rPr lang="es-ES" sz="2800" dirty="0"/>
              <a:t>El número de casos se mantiene en niveles bajos, sin cambios con respecto de la temporada anterior y considerablemente por debajo de los máximos registrados durante los años epidémicos.</a:t>
            </a:r>
            <a:endParaRPr lang="es-AR" sz="3200" dirty="0"/>
          </a:p>
        </p:txBody>
      </p:sp>
    </p:spTree>
    <p:extLst>
      <p:ext uri="{BB962C8B-B14F-4D97-AF65-F5344CB8AC3E}">
        <p14:creationId xmlns:p14="http://schemas.microsoft.com/office/powerpoint/2010/main" val="4158284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493D30A-1CA2-E379-34E1-77E0E1628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52" y="179882"/>
            <a:ext cx="11737299" cy="5816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08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E024054-9EB0-0117-19CB-5824F29F5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641" y="0"/>
            <a:ext cx="9118717" cy="611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169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5FE1135-08A8-04D1-18A6-EB760C93151A}"/>
              </a:ext>
            </a:extLst>
          </p:cNvPr>
          <p:cNvSpPr/>
          <p:nvPr/>
        </p:nvSpPr>
        <p:spPr>
          <a:xfrm>
            <a:off x="426720" y="288005"/>
            <a:ext cx="11369040" cy="23942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2800" dirty="0">
                <a:latin typeface="Calibri Light" panose="020F0302020204030204" pitchFamily="34" charset="0"/>
                <a:cs typeface="Calibri Light" panose="020F0302020204030204" pitchFamily="34" charset="0"/>
              </a:rPr>
              <a:t>Desde la reemergencia del dengue en Argentina en 1997, los años 2023 y 2024 se han constituido como las temporadas epidémicas de mayor magnitud registradas hasta la fecha, concentrando en conjunto aproximadamente el 82% del total de casos acumulados en la serie histórica</a:t>
            </a:r>
            <a:r>
              <a:rPr lang="es-ES" dirty="0"/>
              <a:t>. </a:t>
            </a:r>
            <a:endParaRPr lang="es-AR" dirty="0"/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6D6D191A-065D-001E-6F36-90187F289703}"/>
              </a:ext>
            </a:extLst>
          </p:cNvPr>
          <p:cNvSpPr/>
          <p:nvPr/>
        </p:nvSpPr>
        <p:spPr>
          <a:xfrm>
            <a:off x="426720" y="3261360"/>
            <a:ext cx="11369040" cy="262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2800" dirty="0">
                <a:latin typeface="Calibri Light" panose="020F0302020204030204" pitchFamily="34" charset="0"/>
                <a:cs typeface="Calibri Light" panose="020F0302020204030204" pitchFamily="34" charset="0"/>
              </a:rPr>
              <a:t>La tendencia en descenso en 2025 y 2026 sugiere una interrupción de la transmisión viral sostenida en el territorio nacional; no obstante, persiste la necesidad de mantener una vigilancia intensificada, principalmente, en áreas con condiciones favorables para la transmisión</a:t>
            </a:r>
            <a:endParaRPr lang="es-AR" sz="2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669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6CA4A5D-F8EF-BFC2-0284-6C46932B9BA9}"/>
              </a:ext>
            </a:extLst>
          </p:cNvPr>
          <p:cNvSpPr txBox="1"/>
          <p:nvPr/>
        </p:nvSpPr>
        <p:spPr>
          <a:xfrm>
            <a:off x="419725" y="119921"/>
            <a:ext cx="11302583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/>
              <a:t>VIGILANCIA ENTOMOLÓGICA POR SENSORES DE OVIPOSICIÓN</a:t>
            </a:r>
          </a:p>
          <a:p>
            <a:endParaRPr lang="es-ES" sz="2800" dirty="0"/>
          </a:p>
          <a:p>
            <a:r>
              <a:rPr lang="es-ES" sz="2800" dirty="0"/>
              <a:t>Se utiliza dos indicadores:</a:t>
            </a:r>
          </a:p>
          <a:p>
            <a:r>
              <a:rPr lang="es-ES" sz="2800" dirty="0"/>
              <a:t> ● </a:t>
            </a:r>
            <a:r>
              <a:rPr lang="es-ES" sz="2800" b="1" dirty="0"/>
              <a:t>Índice de Positividad de </a:t>
            </a:r>
            <a:r>
              <a:rPr lang="es-ES" sz="2800" b="1" dirty="0" err="1"/>
              <a:t>Ovitrampas</a:t>
            </a:r>
            <a:r>
              <a:rPr lang="es-ES" sz="2800" b="1" dirty="0"/>
              <a:t> (IPO): </a:t>
            </a:r>
            <a:r>
              <a:rPr lang="es-ES" sz="2800" dirty="0"/>
              <a:t>Expresa la relación entre sensores positivos y examinados, estimando el riesgo entomológico. Este índice permite categorizar el riesgo como bajo (IPO &lt; 40%), moderado (IPO entre 40% y 70%) o alto (IPO &gt; 70%). </a:t>
            </a:r>
          </a:p>
          <a:p>
            <a:endParaRPr lang="es-ES" sz="2800" dirty="0"/>
          </a:p>
          <a:p>
            <a:r>
              <a:rPr lang="es-ES" sz="2800" dirty="0"/>
              <a:t>● </a:t>
            </a:r>
            <a:r>
              <a:rPr lang="es-ES" sz="2800" b="1" dirty="0"/>
              <a:t>Índice de Densidad de Huevos (IDH)</a:t>
            </a:r>
            <a:r>
              <a:rPr lang="es-ES" sz="2800" dirty="0"/>
              <a:t>: Mide la relación entre la cantidad de huevos registrados y los sensores positivos, proporcionando información indirecta sobre la densidad del vector en el ambiente y permitiendo identificar temporadas de mayor y menor actividad reproductiva. </a:t>
            </a:r>
            <a:endParaRPr lang="es-AR" sz="2800" dirty="0"/>
          </a:p>
        </p:txBody>
      </p:sp>
    </p:spTree>
    <p:extLst>
      <p:ext uri="{BB962C8B-B14F-4D97-AF65-F5344CB8AC3E}">
        <p14:creationId xmlns:p14="http://schemas.microsoft.com/office/powerpoint/2010/main" val="2729559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0E49D9E-5474-D265-4121-24B5CCF4B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69" y="1"/>
            <a:ext cx="10583056" cy="6100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8219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34696" y="1"/>
            <a:ext cx="9520158" cy="711199"/>
          </a:xfrm>
        </p:spPr>
        <p:txBody>
          <a:bodyPr/>
          <a:lstStyle/>
          <a:p>
            <a:r>
              <a:rPr lang="es-AR" noProof="0" dirty="0"/>
              <a:t>Formas Clínicas-Dengue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384663" y="901337"/>
            <a:ext cx="10807337" cy="523820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AR" noProof="0" dirty="0"/>
              <a:t>Existen 4 serotipos (DENV 1, 2, 3 y 4). Se puede tener hasta 4 veces dengue, solo se visto hasta 3 infecciones en un mismo individuo.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AR" noProof="0" dirty="0"/>
              <a:t>La enfermedad hemorrágica grave y mortal se asocia más frecuentemente con las infecciones de DENV 2 y 3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AR" sz="2200" noProof="0" dirty="0"/>
              <a:t>Período de incubación: 5 a 7 días (3 hasta 14 días)</a:t>
            </a:r>
          </a:p>
          <a:p>
            <a:pPr marL="0" indent="0">
              <a:buNone/>
            </a:pPr>
            <a:r>
              <a:rPr lang="es-AR" sz="2000" b="1" noProof="0" dirty="0"/>
              <a:t>OPS</a:t>
            </a:r>
          </a:p>
          <a:p>
            <a:r>
              <a:rPr lang="es-AR" sz="2000" b="1" noProof="0" dirty="0"/>
              <a:t>Fases: Febril</a:t>
            </a:r>
          </a:p>
          <a:p>
            <a:pPr marL="0" indent="0">
              <a:buNone/>
            </a:pPr>
            <a:r>
              <a:rPr lang="es-AR" sz="2000" b="1" noProof="0" dirty="0"/>
              <a:t>               Crítica</a:t>
            </a:r>
          </a:p>
          <a:p>
            <a:pPr marL="0" indent="0">
              <a:buNone/>
            </a:pPr>
            <a:r>
              <a:rPr lang="es-AR" sz="2000" b="1" noProof="0" dirty="0"/>
              <a:t>               Recuperación </a:t>
            </a:r>
          </a:p>
          <a:p>
            <a:pPr marL="0" indent="0">
              <a:buNone/>
            </a:pPr>
            <a:endParaRPr lang="es-AR" sz="2200" noProof="0" dirty="0"/>
          </a:p>
          <a:p>
            <a:pPr marL="0" indent="0">
              <a:buNone/>
            </a:pPr>
            <a:endParaRPr lang="es-AR" sz="2200" noProof="0" dirty="0"/>
          </a:p>
        </p:txBody>
      </p:sp>
    </p:spTree>
    <p:extLst>
      <p:ext uri="{BB962C8B-B14F-4D97-AF65-F5344CB8AC3E}">
        <p14:creationId xmlns:p14="http://schemas.microsoft.com/office/powerpoint/2010/main" val="41692095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34696" y="1"/>
            <a:ext cx="9520158" cy="744583"/>
          </a:xfrm>
        </p:spPr>
        <p:txBody>
          <a:bodyPr/>
          <a:lstStyle/>
          <a:p>
            <a:r>
              <a:rPr lang="es-AR" noProof="0" dirty="0"/>
              <a:t>Manifestaciones Clínicas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534696" y="940905"/>
            <a:ext cx="10657304" cy="5172512"/>
          </a:xfrm>
        </p:spPr>
        <p:txBody>
          <a:bodyPr>
            <a:normAutofit/>
          </a:bodyPr>
          <a:lstStyle/>
          <a:p>
            <a:r>
              <a:rPr lang="es-AR" sz="2400" b="1" noProof="0" dirty="0"/>
              <a:t>Asintomático</a:t>
            </a:r>
          </a:p>
          <a:p>
            <a:r>
              <a:rPr lang="es-AR" sz="2400" b="1" noProof="0" dirty="0"/>
              <a:t>Fiebre del Dengue (FD)-Dengue Clásico</a:t>
            </a:r>
            <a:r>
              <a:rPr lang="es-AR" sz="2400" noProof="0" dirty="0"/>
              <a:t>: Cuadro febril dura de 2 a 7 días. </a:t>
            </a:r>
          </a:p>
          <a:p>
            <a:r>
              <a:rPr lang="es-AR" sz="2400" b="1" noProof="0" dirty="0"/>
              <a:t>Fiebre Hemorrágica del Dengue (FHD): </a:t>
            </a:r>
            <a:r>
              <a:rPr lang="es-AR" sz="2400" noProof="0" dirty="0"/>
              <a:t>Sangrado de las encías, nariz, hematuria, sangrado debajo de la piel (hematoma).</a:t>
            </a:r>
          </a:p>
          <a:p>
            <a:r>
              <a:rPr lang="es-AR" sz="2400" b="1" noProof="0" dirty="0"/>
              <a:t>Fiebre Hemorrágica del Dengue con Síndrome de choque (FHD-SCD): </a:t>
            </a:r>
            <a:r>
              <a:rPr lang="es-AR" sz="2400" noProof="0" dirty="0"/>
              <a:t>pérdida de plasma debido al aumento permeabilidad vascular (aumento de Hto), presencia de liquido en cavidades serosas (derrame pleural, ascitis y derrame pericárdico), puede llevar a shock.</a:t>
            </a:r>
            <a:endParaRPr lang="es-AR" sz="2400" b="1" noProof="0" dirty="0"/>
          </a:p>
          <a:p>
            <a:endParaRPr lang="es-AR" sz="2400" noProof="0" dirty="0"/>
          </a:p>
        </p:txBody>
      </p:sp>
    </p:spTree>
    <p:extLst>
      <p:ext uri="{BB962C8B-B14F-4D97-AF65-F5344CB8AC3E}">
        <p14:creationId xmlns:p14="http://schemas.microsoft.com/office/powerpoint/2010/main" val="3580807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32319A7-2C63-5531-19AB-D77587900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6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2191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6136" y="1"/>
            <a:ext cx="9520158" cy="836022"/>
          </a:xfrm>
        </p:spPr>
        <p:txBody>
          <a:bodyPr/>
          <a:lstStyle/>
          <a:p>
            <a:r>
              <a:rPr lang="es-AR" noProof="0" dirty="0"/>
              <a:t>Diagnóstico de Dengue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534696" y="1058091"/>
            <a:ext cx="10657304" cy="5094515"/>
          </a:xfrm>
        </p:spPr>
        <p:txBody>
          <a:bodyPr/>
          <a:lstStyle/>
          <a:p>
            <a:r>
              <a:rPr lang="es-AR" sz="2400" b="1" noProof="0" dirty="0"/>
              <a:t>Técnicas directas</a:t>
            </a:r>
            <a:r>
              <a:rPr lang="es-AR" sz="2400" noProof="0" dirty="0"/>
              <a:t>: Muestra tomada dentro de 5 días de iniciado el cuadro </a:t>
            </a:r>
          </a:p>
          <a:p>
            <a:pPr marL="0" indent="0">
              <a:buNone/>
            </a:pPr>
            <a:r>
              <a:rPr lang="es-AR" noProof="0" dirty="0"/>
              <a:t>• Aislamiento viral</a:t>
            </a:r>
          </a:p>
          <a:p>
            <a:pPr marL="0" indent="0">
              <a:buNone/>
            </a:pPr>
            <a:r>
              <a:rPr lang="es-AR" noProof="0" dirty="0"/>
              <a:t>• Detección del genoma viral: PCR (sensible) Sangre: limitación por baja carga viral </a:t>
            </a:r>
          </a:p>
          <a:p>
            <a:pPr marL="0" indent="0">
              <a:buNone/>
            </a:pPr>
            <a:r>
              <a:rPr lang="es-AR" noProof="0" dirty="0"/>
              <a:t>• </a:t>
            </a:r>
            <a:r>
              <a:rPr lang="es-AR" b="1" noProof="0" dirty="0"/>
              <a:t>Detección del Ag </a:t>
            </a:r>
            <a:r>
              <a:rPr lang="es-AR" noProof="0" dirty="0"/>
              <a:t>NS1 </a:t>
            </a:r>
          </a:p>
          <a:p>
            <a:pPr marL="0" indent="0">
              <a:buNone/>
            </a:pPr>
            <a:endParaRPr lang="es-AR" noProof="0" dirty="0"/>
          </a:p>
          <a:p>
            <a:r>
              <a:rPr lang="es-AR" sz="2400" b="1" noProof="0" dirty="0"/>
              <a:t>Técnicas indirectas</a:t>
            </a:r>
            <a:r>
              <a:rPr lang="es-AR" sz="2400" noProof="0" dirty="0"/>
              <a:t>: Serología </a:t>
            </a:r>
          </a:p>
          <a:p>
            <a:pPr marL="0" indent="0">
              <a:buNone/>
            </a:pPr>
            <a:r>
              <a:rPr lang="es-AR" noProof="0" dirty="0"/>
              <a:t>• Ac específicos de tipo IgM (ELISA) Limitación: amplia reactividad cruzada entre los serotipos de DENV y con otros flavivirus. -IgM se detecta desde el 6 día hasta 2 a 3 meses, en infecciones primarias y secundarias . </a:t>
            </a:r>
          </a:p>
          <a:p>
            <a:pPr marL="0" indent="0">
              <a:buNone/>
            </a:pPr>
            <a:r>
              <a:rPr lang="es-AR" noProof="0" dirty="0"/>
              <a:t>• La detección de IgG (ELISA) es útil para estudios seroepidemiológicos.</a:t>
            </a:r>
          </a:p>
        </p:txBody>
      </p:sp>
    </p:spTree>
    <p:extLst>
      <p:ext uri="{BB962C8B-B14F-4D97-AF65-F5344CB8AC3E}">
        <p14:creationId xmlns:p14="http://schemas.microsoft.com/office/powerpoint/2010/main" val="6489474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DFAD72-FFE4-03CC-6A84-D91F21B38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5" y="106018"/>
            <a:ext cx="10445269" cy="755373"/>
          </a:xfrm>
        </p:spPr>
        <p:txBody>
          <a:bodyPr>
            <a:normAutofit/>
          </a:bodyPr>
          <a:lstStyle/>
          <a:p>
            <a:r>
              <a:rPr lang="es-AR" sz="2800" noProof="0" dirty="0"/>
              <a:t>VACUNACIÓN CONTRA EL DENGUE EN ARGENTINA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6BF154-3D9F-0EDE-1E1C-AFC62D6DF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226" y="1232452"/>
            <a:ext cx="10813774" cy="4996070"/>
          </a:xfrm>
        </p:spPr>
        <p:txBody>
          <a:bodyPr/>
          <a:lstStyle/>
          <a:p>
            <a:r>
              <a:rPr lang="es-AR" noProof="0" dirty="0"/>
              <a:t>En abril de 2023, la vacuna QDENGA® del laboratorio Takeda fue aprobada en Argentina por ANMAT para personas a partir de los 4 años de edad y hasta los 60 años, con un esquema de dos dosis separadas de tres meses, hayan tenido o no la enfermedad.</a:t>
            </a:r>
          </a:p>
          <a:p>
            <a:r>
              <a:rPr lang="es-AR" noProof="0" dirty="0"/>
              <a:t>Esta vacuna se comercializa en nuestro país desde octubre del año 2023. </a:t>
            </a:r>
          </a:p>
          <a:p>
            <a:r>
              <a:rPr lang="es-AR" noProof="0" dirty="0"/>
              <a:t>la vacuna tetravalente provoca memoria celular de tipo B tetravalente( para los 4 serotipos de Dengue).</a:t>
            </a:r>
          </a:p>
          <a:p>
            <a:r>
              <a:rPr lang="es-AR" noProof="0" dirty="0"/>
              <a:t>Es a virus vivos atenuados. Formulación basada en los componentes 1, 3 y 4, en una recombinación entre el genoma de una cepa atenuada de DENV-2.</a:t>
            </a:r>
          </a:p>
          <a:p>
            <a:pPr marL="0" indent="0" algn="ctr">
              <a:buNone/>
            </a:pPr>
            <a:r>
              <a:rPr lang="es-AR" b="1" i="0" noProof="0" dirty="0">
                <a:solidFill>
                  <a:srgbClr val="141414"/>
                </a:solidFill>
                <a:effectLst/>
                <a:latin typeface="Montserrat" panose="00000500000000000000" pitchFamily="2" charset="0"/>
              </a:rPr>
              <a:t>Comisión Nacional de Inmunizaciones (CoNaIn) recomendó no incorporar al Calendario Nacional de Vacunación, ni implementar en todas las jurisdicciones del país (Abril 2024)</a:t>
            </a:r>
          </a:p>
          <a:p>
            <a:endParaRPr lang="es-AR" noProof="0" dirty="0"/>
          </a:p>
        </p:txBody>
      </p:sp>
    </p:spTree>
    <p:extLst>
      <p:ext uri="{BB962C8B-B14F-4D97-AF65-F5344CB8AC3E}">
        <p14:creationId xmlns:p14="http://schemas.microsoft.com/office/powerpoint/2010/main" val="42113758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DBEBFF4-0613-F016-4884-3BB341D9A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"/>
            <a:ext cx="9674087" cy="5300868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95E4D4D-7181-62B2-57F7-0F8BBE01C66D}"/>
              </a:ext>
            </a:extLst>
          </p:cNvPr>
          <p:cNvSpPr txBox="1"/>
          <p:nvPr/>
        </p:nvSpPr>
        <p:spPr>
          <a:xfrm>
            <a:off x="192156" y="5300869"/>
            <a:ext cx="118076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s-AR" sz="2000" b="1" noProof="0" dirty="0">
                <a:solidFill>
                  <a:srgbClr val="141414"/>
                </a:solidFill>
                <a:effectLst/>
                <a:latin typeface="Montserrat" panose="00000500000000000000" pitchFamily="2" charset="0"/>
              </a:rPr>
              <a:t>Se iniciará la vacunación en NOA, NEA y Centro a personas de 15 a 39 años que residen en departamentos priorizados.</a:t>
            </a:r>
          </a:p>
        </p:txBody>
      </p:sp>
    </p:spTree>
    <p:extLst>
      <p:ext uri="{BB962C8B-B14F-4D97-AF65-F5344CB8AC3E}">
        <p14:creationId xmlns:p14="http://schemas.microsoft.com/office/powerpoint/2010/main" val="17415336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34696" y="104503"/>
            <a:ext cx="9520158" cy="640080"/>
          </a:xfrm>
        </p:spPr>
        <p:txBody>
          <a:bodyPr>
            <a:normAutofit/>
          </a:bodyPr>
          <a:lstStyle/>
          <a:p>
            <a:r>
              <a:rPr lang="es-AR" noProof="0" dirty="0"/>
              <a:t>Control Vector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534696" y="1005840"/>
            <a:ext cx="10657304" cy="5094514"/>
          </a:xfrm>
        </p:spPr>
        <p:txBody>
          <a:bodyPr/>
          <a:lstStyle/>
          <a:p>
            <a:pPr marL="0" indent="0">
              <a:buNone/>
            </a:pPr>
            <a:r>
              <a:rPr lang="es-AR" noProof="0" dirty="0"/>
              <a:t> </a:t>
            </a:r>
            <a:r>
              <a:rPr lang="es-AR" sz="2800" noProof="0" dirty="0"/>
              <a:t>la vacunación no es, ni debe ser la única estrategia de prevención, aun cuando pudiera contarse con vacunas eficaces, seguras y económicas. </a:t>
            </a:r>
          </a:p>
          <a:p>
            <a:pPr marL="0" indent="0">
              <a:buNone/>
            </a:pPr>
            <a:endParaRPr lang="es-AR" sz="2800" noProof="0" dirty="0"/>
          </a:p>
          <a:p>
            <a:pPr marL="0" indent="0">
              <a:buNone/>
            </a:pPr>
            <a:r>
              <a:rPr lang="es-AR" sz="2800" noProof="0" dirty="0"/>
              <a:t>Cabe destacar que el mismo vector Aedes aegypti es capaz de transmitir otros virus como el zika y el chikungunya, enfermedades para las cuales aún no se cuenta con vacunas.</a:t>
            </a:r>
          </a:p>
        </p:txBody>
      </p:sp>
    </p:spTree>
    <p:extLst>
      <p:ext uri="{BB962C8B-B14F-4D97-AF65-F5344CB8AC3E}">
        <p14:creationId xmlns:p14="http://schemas.microsoft.com/office/powerpoint/2010/main" val="34635464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815736" y="1"/>
            <a:ext cx="9538063" cy="731519"/>
          </a:xfrm>
        </p:spPr>
        <p:txBody>
          <a:bodyPr>
            <a:normAutofit/>
          </a:bodyPr>
          <a:lstStyle/>
          <a:p>
            <a:r>
              <a:rPr lang="es-AR" b="1" i="1" noProof="0" dirty="0"/>
              <a:t>Caso clínico  </a:t>
            </a:r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1502228" y="934720"/>
            <a:ext cx="10547531" cy="59232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noProof="0" dirty="0">
                <a:latin typeface="Calibri" panose="020F0502020204030204" pitchFamily="34" charset="0"/>
              </a:rPr>
              <a:t>Bebé de sexo femenino derivada por microcefalia congénita a los 6 días de vida, sin antecedentes familiares relevantes. Durante la gestación, la madre había presentado un cuadro febril de causa desconocida. Nació por parto vaginal, de término, con peso adecuado y perímetro cefálico (PC) de 29 cm. </a:t>
            </a:r>
          </a:p>
          <a:p>
            <a:pPr marL="0" indent="0">
              <a:buNone/>
            </a:pPr>
            <a:r>
              <a:rPr lang="es-AR" noProof="0" dirty="0">
                <a:latin typeface="Calibri" panose="020F0502020204030204" pitchFamily="34" charset="0"/>
              </a:rPr>
              <a:t>Presentó microcefalia grave, desproporción craneofacial, suturas cabalgadas, cuero cabelludo redundante, puente nasal ancho, reflejo cocleopalpebral ausente e hipertonía. Otoemisiones acústicas (OEA) ausentes, electroencefalograma sin focos ni paroxismos y evaluación oftalmológica normal. En la tomografía computada (TC) de cerebro, se observó lisencefalia*, calcificaciones corticosubcorticales y ventriculomegalia(Figura 2).</a:t>
            </a:r>
          </a:p>
          <a:p>
            <a:pPr marL="0" indent="0">
              <a:buNone/>
            </a:pPr>
            <a:r>
              <a:rPr lang="es-AR" noProof="0" dirty="0">
                <a:latin typeface="Calibri" panose="020F0502020204030204" pitchFamily="34" charset="0"/>
              </a:rPr>
              <a:t>*</a:t>
            </a:r>
            <a:r>
              <a:rPr lang="es-AR" b="1" noProof="0" dirty="0">
                <a:latin typeface="Calibri" panose="020F0502020204030204" pitchFamily="34" charset="0"/>
              </a:rPr>
              <a:t>lisencefalia: E</a:t>
            </a:r>
            <a:r>
              <a:rPr lang="es-AR" noProof="0" dirty="0">
                <a:latin typeface="Calibri" panose="020F0502020204030204" pitchFamily="34" charset="0"/>
              </a:rPr>
              <a:t>s un conjunto de trastornos que se caracterizan por un alisamiento de regiones del cerebro en las que por lo general hay pliegues y hendiduras. Estas malformaciones provocan con frecuencia alteraciones en el desarrollo del sistema nervioso y por tanto de las funciones cognitivas y psicomotoras.</a:t>
            </a:r>
            <a:endParaRPr lang="es-AR" noProof="0" dirty="0"/>
          </a:p>
          <a:p>
            <a:endParaRPr lang="es-AR" sz="1400" noProof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4045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34695" y="1"/>
            <a:ext cx="9520157" cy="849085"/>
          </a:xfrm>
        </p:spPr>
        <p:txBody>
          <a:bodyPr/>
          <a:lstStyle/>
          <a:p>
            <a:r>
              <a:rPr lang="es-AR" noProof="0" dirty="0"/>
              <a:t>Diagnóstico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358538" y="979715"/>
            <a:ext cx="5603964" cy="51337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noProof="0" dirty="0">
                <a:latin typeface="Calibri" panose="020F0502020204030204" pitchFamily="34" charset="0"/>
              </a:rPr>
              <a:t>Serologías para ZIKV de la madre:  (IgM)</a:t>
            </a:r>
          </a:p>
          <a:p>
            <a:pPr marL="0" indent="0">
              <a:buNone/>
            </a:pPr>
            <a:r>
              <a:rPr lang="es-AR" sz="2400" noProof="0" dirty="0">
                <a:latin typeface="Calibri" panose="020F0502020204030204" pitchFamily="34" charset="0"/>
              </a:rPr>
              <a:t>-ELISA: </a:t>
            </a:r>
            <a:r>
              <a:rPr lang="es-AR" sz="2400" b="1" noProof="0" dirty="0">
                <a:latin typeface="Calibri" panose="020F0502020204030204" pitchFamily="34" charset="0"/>
              </a:rPr>
              <a:t>indeterminado </a:t>
            </a:r>
          </a:p>
          <a:p>
            <a:pPr marL="0" indent="0">
              <a:buNone/>
            </a:pPr>
            <a:r>
              <a:rPr lang="es-AR" sz="2400" noProof="0" dirty="0">
                <a:latin typeface="Calibri" panose="020F0502020204030204" pitchFamily="34" charset="0"/>
              </a:rPr>
              <a:t>-PRNT: </a:t>
            </a:r>
            <a:r>
              <a:rPr lang="es-AR" sz="2400" b="1" noProof="0" dirty="0">
                <a:latin typeface="Calibri" panose="020F0502020204030204" pitchFamily="34" charset="0"/>
              </a:rPr>
              <a:t>positiva</a:t>
            </a:r>
            <a:r>
              <a:rPr lang="es-AR" sz="2400" noProof="0" dirty="0">
                <a:latin typeface="Calibri" panose="020F0502020204030204" pitchFamily="34" charset="0"/>
              </a:rPr>
              <a:t> </a:t>
            </a:r>
          </a:p>
          <a:p>
            <a:pPr marL="0" indent="0">
              <a:buNone/>
            </a:pPr>
            <a:r>
              <a:rPr lang="es-AR" noProof="0" dirty="0">
                <a:latin typeface="Calibri" panose="020F0502020204030204" pitchFamily="34" charset="0"/>
              </a:rPr>
              <a:t>PRNT Es prueba de neutralización por reducción de placas (plaque reduction neutralizationtest) </a:t>
            </a:r>
          </a:p>
          <a:p>
            <a:pPr marL="0" indent="0">
              <a:buNone/>
            </a:pPr>
            <a:r>
              <a:rPr lang="es-AR" sz="2400" noProof="0" dirty="0">
                <a:latin typeface="Calibri" panose="020F0502020204030204" pitchFamily="34" charset="0"/>
              </a:rPr>
              <a:t>Serologías para ZIKV del bebé: IgM</a:t>
            </a:r>
          </a:p>
          <a:p>
            <a:pPr marL="0" indent="0">
              <a:buNone/>
            </a:pPr>
            <a:r>
              <a:rPr lang="es-AR" sz="2400" noProof="0" dirty="0">
                <a:latin typeface="Calibri" panose="020F0502020204030204" pitchFamily="34" charset="0"/>
              </a:rPr>
              <a:t>-ELISA </a:t>
            </a:r>
            <a:r>
              <a:rPr lang="es-AR" sz="2400" b="1" noProof="0" dirty="0">
                <a:latin typeface="Calibri" panose="020F0502020204030204" pitchFamily="34" charset="0"/>
              </a:rPr>
              <a:t>positivo </a:t>
            </a:r>
          </a:p>
          <a:p>
            <a:pPr marL="0" indent="0">
              <a:buNone/>
            </a:pPr>
            <a:r>
              <a:rPr lang="es-AR" sz="2400" noProof="0" dirty="0">
                <a:latin typeface="Calibri" panose="020F0502020204030204" pitchFamily="34" charset="0"/>
              </a:rPr>
              <a:t>-PRNT </a:t>
            </a:r>
            <a:r>
              <a:rPr lang="es-AR" sz="2400" b="1" noProof="0" dirty="0">
                <a:latin typeface="Calibri" panose="020F0502020204030204" pitchFamily="34" charset="0"/>
              </a:rPr>
              <a:t>positiva</a:t>
            </a:r>
            <a:r>
              <a:rPr lang="es-AR" sz="2400" noProof="0" dirty="0">
                <a:latin typeface="Calibri" panose="020F0502020204030204" pitchFamily="34" charset="0"/>
              </a:rPr>
              <a:t>. </a:t>
            </a:r>
          </a:p>
        </p:txBody>
      </p:sp>
      <p:pic>
        <p:nvPicPr>
          <p:cNvPr id="5" name="Marcador de contenido 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962502" y="979714"/>
            <a:ext cx="5229497" cy="513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971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1534696" y="359764"/>
            <a:ext cx="9520158" cy="1233906"/>
          </a:xfrm>
        </p:spPr>
        <p:txBody>
          <a:bodyPr>
            <a:normAutofit fontScale="90000"/>
          </a:bodyPr>
          <a:lstStyle/>
          <a:p>
            <a:br>
              <a:rPr lang="es-AR" noProof="0" dirty="0">
                <a:latin typeface="Calibri" panose="020F0502020204030204" pitchFamily="34" charset="0"/>
              </a:rPr>
            </a:br>
            <a:br>
              <a:rPr lang="es-AR" noProof="0" dirty="0">
                <a:latin typeface="Calibri" panose="020F0502020204030204" pitchFamily="34" charset="0"/>
              </a:rPr>
            </a:br>
            <a:r>
              <a:rPr lang="es-AR" noProof="0" dirty="0">
                <a:latin typeface="Calibri" panose="020F0502020204030204" pitchFamily="34" charset="0"/>
              </a:rPr>
              <a:t>EVOLUCIÓN</a:t>
            </a:r>
            <a:br>
              <a:rPr lang="es-AR" noProof="0" dirty="0">
                <a:latin typeface="Calibri" panose="020F0502020204030204" pitchFamily="34" charset="0"/>
              </a:rPr>
            </a:br>
            <a:endParaRPr lang="es-AR" noProof="0" dirty="0"/>
          </a:p>
        </p:txBody>
      </p:sp>
      <p:sp>
        <p:nvSpPr>
          <p:cNvPr id="6" name="Marcador de contenido 5"/>
          <p:cNvSpPr>
            <a:spLocks noGrp="1"/>
          </p:cNvSpPr>
          <p:nvPr>
            <p:ph idx="1"/>
          </p:nvPr>
        </p:nvSpPr>
        <p:spPr>
          <a:xfrm>
            <a:off x="1384663" y="1593669"/>
            <a:ext cx="10685417" cy="4572000"/>
          </a:xfrm>
        </p:spPr>
        <p:txBody>
          <a:bodyPr>
            <a:normAutofit/>
          </a:bodyPr>
          <a:lstStyle/>
          <a:p>
            <a:r>
              <a:rPr lang="es-AR" sz="3200" noProof="0" dirty="0">
                <a:latin typeface="Calibri" panose="020F0502020204030204" pitchFamily="34" charset="0"/>
              </a:rPr>
              <a:t>Otras serologías para TORCHS fueron negativas. </a:t>
            </a:r>
          </a:p>
          <a:p>
            <a:r>
              <a:rPr lang="es-AR" sz="3200" noProof="0" dirty="0">
                <a:latin typeface="Calibri" panose="020F0502020204030204" pitchFamily="34" charset="0"/>
              </a:rPr>
              <a:t>Evolucionó con retraso madurativo global grave</a:t>
            </a:r>
          </a:p>
          <a:p>
            <a:r>
              <a:rPr lang="es-AR" sz="3200" noProof="0" dirty="0">
                <a:latin typeface="Calibri" panose="020F0502020204030204" pitchFamily="34" charset="0"/>
              </a:rPr>
              <a:t>A los 9 meses, desarrolló epilepsia. </a:t>
            </a:r>
          </a:p>
          <a:p>
            <a:r>
              <a:rPr lang="es-AR" sz="3200" noProof="0" dirty="0">
                <a:latin typeface="Calibri" panose="020F0502020204030204" pitchFamily="34" charset="0"/>
              </a:rPr>
              <a:t>Actualmente, se encuentra en seguimiento multidisciplinario y neurorehabilitación</a:t>
            </a:r>
          </a:p>
          <a:p>
            <a:r>
              <a:rPr lang="es-AR" sz="3200" dirty="0">
                <a:latin typeface="Calibri" panose="020F0502020204030204" pitchFamily="34" charset="0"/>
              </a:rPr>
              <a:t>DIAGNÓSTICO: </a:t>
            </a:r>
            <a:r>
              <a:rPr lang="es-AR" sz="3200" dirty="0" err="1">
                <a:latin typeface="Calibri" panose="020F0502020204030204" pitchFamily="34" charset="0"/>
              </a:rPr>
              <a:t>S°</a:t>
            </a:r>
            <a:r>
              <a:rPr lang="es-AR" sz="3200" dirty="0">
                <a:latin typeface="Calibri" panose="020F0502020204030204" pitchFamily="34" charset="0"/>
              </a:rPr>
              <a:t> DE ZIKA CONGENITO</a:t>
            </a:r>
            <a:endParaRPr lang="es-AR" sz="3200" noProof="0" dirty="0"/>
          </a:p>
        </p:txBody>
      </p:sp>
    </p:spTree>
    <p:extLst>
      <p:ext uri="{BB962C8B-B14F-4D97-AF65-F5344CB8AC3E}">
        <p14:creationId xmlns:p14="http://schemas.microsoft.com/office/powerpoint/2010/main" val="23281186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32856" y="1"/>
            <a:ext cx="9720943" cy="485421"/>
          </a:xfrm>
        </p:spPr>
        <p:txBody>
          <a:bodyPr>
            <a:normAutofit fontScale="90000"/>
          </a:bodyPr>
          <a:lstStyle/>
          <a:p>
            <a:r>
              <a:rPr lang="es-AR" b="1" noProof="0" dirty="0"/>
              <a:t>Conclusiones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365956" y="485422"/>
            <a:ext cx="10826044" cy="5691541"/>
          </a:xfrm>
        </p:spPr>
        <p:txBody>
          <a:bodyPr>
            <a:normAutofit fontScale="77500" lnSpcReduction="20000"/>
          </a:bodyPr>
          <a:lstStyle/>
          <a:p>
            <a:endParaRPr lang="es-AR" sz="1200" noProof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s-AR" sz="3600" noProof="0" dirty="0">
                <a:latin typeface="Calibri" panose="020F0502020204030204" pitchFamily="34" charset="0"/>
              </a:rPr>
              <a:t>El ZIKV es un nuevo miembro del grupo de las enfermedades infecciosas TORCHS (por las siglas de toxoplasmosis, otras enfermedades [como varicela, parotiditis, parvovirus y virus de la inmunodeficiencia humana], rubeola, citomegalovirus, herpes simple y sífilis).</a:t>
            </a:r>
          </a:p>
          <a:p>
            <a:r>
              <a:rPr lang="es-AR" sz="3600" noProof="0" dirty="0">
                <a:latin typeface="Calibri" panose="020F0502020204030204" pitchFamily="34" charset="0"/>
              </a:rPr>
              <a:t>El SZC se caracteriza por manifestaciones clínicas y radiológicas similares a las otras infecciones congénitas del grupo TORCHS. </a:t>
            </a:r>
          </a:p>
          <a:p>
            <a:r>
              <a:rPr lang="es-AR" sz="3600" noProof="0" dirty="0">
                <a:latin typeface="Calibri" panose="020F0502020204030204" pitchFamily="34" charset="0"/>
              </a:rPr>
              <a:t>El SZC presenta, principalmente, </a:t>
            </a:r>
            <a:r>
              <a:rPr lang="es-AR" sz="3600" b="1" noProof="0" dirty="0">
                <a:latin typeface="Calibri" panose="020F0502020204030204" pitchFamily="34" charset="0"/>
              </a:rPr>
              <a:t>microcefalia </a:t>
            </a:r>
            <a:r>
              <a:rPr lang="es-AR" sz="3600" noProof="0" dirty="0">
                <a:latin typeface="Calibri" panose="020F0502020204030204" pitchFamily="34" charset="0"/>
              </a:rPr>
              <a:t>asociada a </a:t>
            </a:r>
            <a:r>
              <a:rPr lang="es-AR" sz="3600" b="1" noProof="0" dirty="0">
                <a:latin typeface="Calibri" panose="020F0502020204030204" pitchFamily="34" charset="0"/>
              </a:rPr>
              <a:t>anomalías cerebrales estructurales,</a:t>
            </a:r>
            <a:r>
              <a:rPr lang="es-AR" sz="3600" b="1" i="1" noProof="0" dirty="0">
                <a:latin typeface="Calibri" panose="020F0502020204030204" pitchFamily="34" charset="0"/>
              </a:rPr>
              <a:t> </a:t>
            </a:r>
            <a:r>
              <a:rPr lang="es-AR" sz="3600" b="1" noProof="0" dirty="0">
                <a:latin typeface="Calibri" panose="020F0502020204030204" pitchFamily="34" charset="0"/>
              </a:rPr>
              <a:t>oculares, alteraciones craneales e hipoacusia neurosensorial, con escasa repercusión sistémica</a:t>
            </a:r>
            <a:r>
              <a:rPr lang="es-AR" sz="3600" noProof="0" dirty="0">
                <a:latin typeface="Calibri" panose="020F0502020204030204" pitchFamily="34" charset="0"/>
              </a:rPr>
              <a:t>. </a:t>
            </a:r>
          </a:p>
          <a:p>
            <a:r>
              <a:rPr lang="es-AR" sz="3600" noProof="0" dirty="0">
                <a:latin typeface="Calibri" panose="020F0502020204030204" pitchFamily="34" charset="0"/>
              </a:rPr>
              <a:t>El riesgo de desarrollar SZC cuando la infección ocurre en el primer trimestre es del 1-13 %.</a:t>
            </a:r>
          </a:p>
          <a:p>
            <a:endParaRPr lang="es-AR" sz="3600" noProof="0" dirty="0"/>
          </a:p>
          <a:p>
            <a:endParaRPr lang="es-AR" sz="3600" noProof="0" dirty="0">
              <a:latin typeface="Calibri" panose="020F0502020204030204" pitchFamily="34" charset="0"/>
            </a:endParaRPr>
          </a:p>
          <a:p>
            <a:endParaRPr lang="es-AR" noProof="0" dirty="0"/>
          </a:p>
        </p:txBody>
      </p:sp>
    </p:spTree>
    <p:extLst>
      <p:ext uri="{BB962C8B-B14F-4D97-AF65-F5344CB8AC3E}">
        <p14:creationId xmlns:p14="http://schemas.microsoft.com/office/powerpoint/2010/main" val="8657412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34696" y="1"/>
            <a:ext cx="9520158" cy="767643"/>
          </a:xfrm>
        </p:spPr>
        <p:txBody>
          <a:bodyPr>
            <a:normAutofit/>
          </a:bodyPr>
          <a:lstStyle/>
          <a:p>
            <a:r>
              <a:rPr lang="es-AR" noProof="0" dirty="0"/>
              <a:t>Enfermedad por virus Zika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417130" y="982133"/>
            <a:ext cx="10774869" cy="5157410"/>
          </a:xfrm>
        </p:spPr>
        <p:txBody>
          <a:bodyPr>
            <a:normAutofit/>
          </a:bodyPr>
          <a:lstStyle/>
          <a:p>
            <a:r>
              <a:rPr lang="es-AR" sz="2400" noProof="0" dirty="0"/>
              <a:t>De las enfermedades emergentes del Siglo XXI, el Zika se encuentra entre las mayores preocupaciones para la salud pública a nivel mundial. </a:t>
            </a:r>
          </a:p>
          <a:p>
            <a:r>
              <a:rPr lang="es-AR" sz="2400" noProof="0" dirty="0"/>
              <a:t>El virus se aisló por primera vez en 1947 en los bosques de Zika (Uganda).</a:t>
            </a:r>
          </a:p>
          <a:p>
            <a:r>
              <a:rPr lang="es-AR" sz="2400" noProof="0" dirty="0"/>
              <a:t>Desde el año 2014 se ha detectado la circulación autóctona de virus Zika en las Américas.</a:t>
            </a:r>
          </a:p>
          <a:p>
            <a:r>
              <a:rPr lang="es-AR" sz="2400" noProof="0" dirty="0"/>
              <a:t>El período de incubación extrínseca del virus en los mosquitos es de alrededor de 10 días (similares a los 8 a 12 días del Dengue). </a:t>
            </a:r>
          </a:p>
          <a:p>
            <a:r>
              <a:rPr lang="es-AR" sz="2400" noProof="0" dirty="0"/>
              <a:t>En los seres humanos el período de incubación es de 3 a 12 días</a:t>
            </a:r>
          </a:p>
          <a:p>
            <a:r>
              <a:rPr lang="es-AR" sz="2400" noProof="0" dirty="0"/>
              <a:t>Período de transmisión: Es el período de viremia en los seres humanos, dura entre 5 y 7 días después de la aparición de los síntomas. </a:t>
            </a:r>
          </a:p>
          <a:p>
            <a:endParaRPr lang="es-AR" sz="2400" noProof="0" dirty="0"/>
          </a:p>
          <a:p>
            <a:endParaRPr lang="es-AR" noProof="0" dirty="0"/>
          </a:p>
          <a:p>
            <a:endParaRPr lang="es-AR" noProof="0" dirty="0"/>
          </a:p>
        </p:txBody>
      </p:sp>
    </p:spTree>
    <p:extLst>
      <p:ext uri="{BB962C8B-B14F-4D97-AF65-F5344CB8AC3E}">
        <p14:creationId xmlns:p14="http://schemas.microsoft.com/office/powerpoint/2010/main" val="16441926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34696" y="1"/>
            <a:ext cx="9520158" cy="880532"/>
          </a:xfrm>
        </p:spPr>
        <p:txBody>
          <a:bodyPr/>
          <a:lstStyle/>
          <a:p>
            <a:r>
              <a:rPr lang="es-AR" noProof="0" dirty="0"/>
              <a:t>Transmisión sexual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384663" y="880533"/>
            <a:ext cx="10807337" cy="5232884"/>
          </a:xfrm>
        </p:spPr>
        <p:txBody>
          <a:bodyPr>
            <a:normAutofit fontScale="92500" lnSpcReduction="20000"/>
          </a:bodyPr>
          <a:lstStyle/>
          <a:p>
            <a:r>
              <a:rPr lang="es-AR" sz="2400" noProof="0" dirty="0"/>
              <a:t>Los informes indican que las concentraciones de virus Zika detectable en semen van disminuyendo después de la infección. </a:t>
            </a:r>
          </a:p>
          <a:p>
            <a:r>
              <a:rPr lang="es-AR" sz="2400" noProof="0" dirty="0"/>
              <a:t>El período más largo de detección reportado fue de 188 días después del inicio de los síntomas. </a:t>
            </a:r>
          </a:p>
          <a:p>
            <a:r>
              <a:rPr lang="es-AR" sz="2400" noProof="0" dirty="0"/>
              <a:t>Sin embargo, la detección de ARN de </a:t>
            </a:r>
            <a:r>
              <a:rPr lang="es-AR" sz="2400" b="1" noProof="0" dirty="0"/>
              <a:t>virus Zika en el semen </a:t>
            </a:r>
            <a:r>
              <a:rPr lang="es-AR" sz="2400" noProof="0" dirty="0"/>
              <a:t>no necesariamente indica la presencia de virus infeccioso y por lo tanto, el </a:t>
            </a:r>
            <a:r>
              <a:rPr lang="es-AR" sz="2400" b="1" noProof="0" dirty="0"/>
              <a:t>potencial de transmisión sexual. </a:t>
            </a:r>
          </a:p>
          <a:p>
            <a:r>
              <a:rPr lang="es-AR" sz="2400" noProof="0" dirty="0"/>
              <a:t>Si hay síntomas de la infección, las acciones de prevención deben mantenerse durante al menos </a:t>
            </a:r>
            <a:r>
              <a:rPr lang="es-AR" sz="2400" b="1" noProof="0" dirty="0"/>
              <a:t>6 meses en los hombres, y 8 semanas en  las mujere</a:t>
            </a:r>
            <a:r>
              <a:rPr lang="es-AR" sz="2400" noProof="0" dirty="0"/>
              <a:t>s.</a:t>
            </a:r>
          </a:p>
          <a:p>
            <a:r>
              <a:rPr lang="es-AR" sz="2400" noProof="0" dirty="0"/>
              <a:t>Las mujeres que hayan tenido infección clínica o que hayan estado expuestas al virus deben considerar esperar 8 semanas antes de intentar el embarazo. </a:t>
            </a:r>
          </a:p>
          <a:p>
            <a:r>
              <a:rPr lang="es-AR" sz="2400" noProof="0" dirty="0"/>
              <a:t>En caso de ser el hombre quien haya tenido infección o haya estado expuesto, el plazo se amplía a 6 meses.</a:t>
            </a:r>
          </a:p>
        </p:txBody>
      </p:sp>
    </p:spTree>
    <p:extLst>
      <p:ext uri="{BB962C8B-B14F-4D97-AF65-F5344CB8AC3E}">
        <p14:creationId xmlns:p14="http://schemas.microsoft.com/office/powerpoint/2010/main" val="32856419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34696" y="1"/>
            <a:ext cx="9520158" cy="677332"/>
          </a:xfrm>
        </p:spPr>
        <p:txBody>
          <a:bodyPr/>
          <a:lstStyle/>
          <a:p>
            <a:r>
              <a:rPr lang="es-AR" noProof="0" dirty="0"/>
              <a:t>Manifestaciones Clínicas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534696" y="1016000"/>
            <a:ext cx="10657304" cy="5162732"/>
          </a:xfrm>
        </p:spPr>
        <p:txBody>
          <a:bodyPr>
            <a:normAutofit/>
          </a:bodyPr>
          <a:lstStyle/>
          <a:p>
            <a:r>
              <a:rPr lang="es-AR" sz="2400" noProof="0" dirty="0"/>
              <a:t>El edema de miembros y la conjuntivitis parecerían ser más comunes en las infecciones por virus Zika que en el dengue o el chikungunya, mientras que la hepatomegalia, leucopenia y trombocitopenia fueron menos comunes en infecciones por Zika. </a:t>
            </a:r>
          </a:p>
          <a:p>
            <a:r>
              <a:rPr lang="es-AR" sz="2400" noProof="0" dirty="0"/>
              <a:t>La evidencia disponible en bebés y niños infectados a través de picaduras de mosquitos indica que la mayoría de los niños no presentan síntomas o tienen una enfermedad leve, similar a los resultados en adultos infectados con la enfermedad por virus Zika.</a:t>
            </a:r>
          </a:p>
          <a:p>
            <a:r>
              <a:rPr lang="es-AR" sz="2400" noProof="0" dirty="0"/>
              <a:t>Es poco común que la gravedad de la enfermedad requiera hospitalización y la muerte por infección por el virus Zika en adultos es poco frecuente.</a:t>
            </a:r>
          </a:p>
        </p:txBody>
      </p:sp>
    </p:spTree>
    <p:extLst>
      <p:ext uri="{BB962C8B-B14F-4D97-AF65-F5344CB8AC3E}">
        <p14:creationId xmlns:p14="http://schemas.microsoft.com/office/powerpoint/2010/main" val="317188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34696" y="1"/>
            <a:ext cx="9520158" cy="849085"/>
          </a:xfrm>
        </p:spPr>
        <p:txBody>
          <a:bodyPr/>
          <a:lstStyle/>
          <a:p>
            <a:r>
              <a:rPr lang="es-AR" noProof="0" dirty="0"/>
              <a:t>ZIKA EN EL EMBARAZO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345474" y="849086"/>
            <a:ext cx="10846526" cy="5303520"/>
          </a:xfrm>
        </p:spPr>
        <p:txBody>
          <a:bodyPr>
            <a:normAutofit/>
          </a:bodyPr>
          <a:lstStyle/>
          <a:p>
            <a:r>
              <a:rPr lang="es-AR" sz="2400" noProof="0" dirty="0"/>
              <a:t>La mayoría de las embarazadas con infección presentan exantema maculopapular y pruriginoso. Pueden tener fiebre, conjuntivitis, artralgia, dolor de cabeza, dolor muscular y cansancio. </a:t>
            </a:r>
          </a:p>
          <a:p>
            <a:r>
              <a:rPr lang="es-AR" sz="2400" noProof="0" dirty="0"/>
              <a:t>Los síntomas duran de 2 a 7 días y son en general autolimitados. En algunos casos el rash puede persistir hasta 15 días</a:t>
            </a:r>
          </a:p>
          <a:p>
            <a:r>
              <a:rPr lang="es-AR" sz="2400" b="1" noProof="0" dirty="0"/>
              <a:t>El verdadero riesgo </a:t>
            </a:r>
            <a:r>
              <a:rPr lang="es-AR" sz="2400" noProof="0" dirty="0"/>
              <a:t>en las embarazadas afectadas por el virus Zika reside en el potencial del virus para producir anomalías del sistema nervioso central del feto, restricción del crecimiento intrauterino (RCIU), mortalidad fetal o abortos espontáneos como consecuencias de una infección congénita. </a:t>
            </a:r>
          </a:p>
          <a:p>
            <a:r>
              <a:rPr lang="es-AR" sz="2400" noProof="0" dirty="0"/>
              <a:t>La asociación observada con mayor frecuencia ha sido con microcefalia, aunque han descripto también otras anomalías intracraneales y esqueléticas. </a:t>
            </a:r>
          </a:p>
        </p:txBody>
      </p:sp>
    </p:spTree>
    <p:extLst>
      <p:ext uri="{BB962C8B-B14F-4D97-AF65-F5344CB8AC3E}">
        <p14:creationId xmlns:p14="http://schemas.microsoft.com/office/powerpoint/2010/main" val="15334104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34696" y="104504"/>
            <a:ext cx="10657304" cy="679268"/>
          </a:xfrm>
        </p:spPr>
        <p:txBody>
          <a:bodyPr>
            <a:normAutofit/>
          </a:bodyPr>
          <a:lstStyle/>
          <a:p>
            <a:r>
              <a:rPr lang="es-AR" sz="2800" noProof="0" dirty="0"/>
              <a:t>SÍNDROME DE INFECCIÓN CONGÉNITA POR EL VIRUS ZIKA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411111" y="927463"/>
            <a:ext cx="10780889" cy="5185953"/>
          </a:xfrm>
        </p:spPr>
        <p:txBody>
          <a:bodyPr>
            <a:normAutofit/>
          </a:bodyPr>
          <a:lstStyle/>
          <a:p>
            <a:r>
              <a:rPr lang="es-AR" noProof="0" dirty="0"/>
              <a:t>El síndrome microcefalia, desproporción cráneo-facial, cuero cabelludo redundante con rugosidades, hipertonía o espasticidad, irritabilidad, secuelas cognitivas y crisis epilépticas. </a:t>
            </a:r>
          </a:p>
          <a:p>
            <a:r>
              <a:rPr lang="es-AR" noProof="0" dirty="0"/>
              <a:t>En SNC se observó hipoplasia cerebral, así como hipoplasia o agenesia del cuerpo calloso. Es característica la presencia de calcificaciones cerebrales (principalmente corticales y subcorticales), alteraciones de los ventrículos cerebrales, anomalías de la fosa posterior y lisencefalia, así como anormalidades auditivas y visuales, tales como hipoacusia central, alteraciones pigmentarias focales de la retina y atrofia coriorretiniana, predominantemente en el polo posterior, especialmente en la mácula e hipoplasia del nervio óptico. </a:t>
            </a:r>
          </a:p>
          <a:p>
            <a:r>
              <a:rPr lang="es-AR" noProof="0" dirty="0"/>
              <a:t>También se ha observado compromiso articular entre los recién nacidos. Éste puede ser secundario al compromiso grave del sistema nervioso central o a una acción directa del virus Zika en los tejidos articulares y óseos.</a:t>
            </a:r>
          </a:p>
        </p:txBody>
      </p:sp>
    </p:spTree>
    <p:extLst>
      <p:ext uri="{BB962C8B-B14F-4D97-AF65-F5344CB8AC3E}">
        <p14:creationId xmlns:p14="http://schemas.microsoft.com/office/powerpoint/2010/main" val="32661374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34696" y="1"/>
            <a:ext cx="10657304" cy="757645"/>
          </a:xfrm>
        </p:spPr>
        <p:txBody>
          <a:bodyPr>
            <a:normAutofit/>
          </a:bodyPr>
          <a:lstStyle/>
          <a:p>
            <a:r>
              <a:rPr lang="es-AR" sz="2800" noProof="0" dirty="0"/>
              <a:t>SÍNDROME DE INFECCIÓN CONGÉNITA POR EL VIRUS ZIKA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534696" y="914400"/>
            <a:ext cx="10657304" cy="5277394"/>
          </a:xfrm>
        </p:spPr>
        <p:txBody>
          <a:bodyPr>
            <a:normAutofit/>
          </a:bodyPr>
          <a:lstStyle/>
          <a:p>
            <a:r>
              <a:rPr lang="es-AR" noProof="0" dirty="0"/>
              <a:t>Ante la detección de anomalías ecográficas del SNC. </a:t>
            </a:r>
          </a:p>
          <a:p>
            <a:r>
              <a:rPr lang="es-AR" noProof="0" dirty="0"/>
              <a:t>Se puede realizar punción, se ha logrado detectar el virus en las </a:t>
            </a:r>
            <a:r>
              <a:rPr lang="es-AR" b="1" noProof="0" dirty="0"/>
              <a:t>muestras de líquido amniótico</a:t>
            </a:r>
            <a:r>
              <a:rPr lang="es-AR" noProof="0" dirty="0"/>
              <a:t>, aun cuando las muestras maternas de suero y orina fueron negativas.</a:t>
            </a:r>
          </a:p>
          <a:p>
            <a:r>
              <a:rPr lang="es-AR" noProof="0" dirty="0"/>
              <a:t>El estudio de líquido amniótico también permite determinar el cariotipo fetal para el diagnóstico anomalías cromosómicas. </a:t>
            </a:r>
          </a:p>
          <a:p>
            <a:r>
              <a:rPr lang="es-AR" noProof="0" dirty="0"/>
              <a:t>El procedimiento podrá realizarse sólo después de la semana 16 de gestación, para poder obtener un volumen de muestra de al menos 22 cc. </a:t>
            </a:r>
          </a:p>
          <a:p>
            <a:r>
              <a:rPr lang="es-AR" noProof="0" dirty="0"/>
              <a:t>No existe ninguna indicación para cambiar la vía de parto obstétrica, es decir, la infección por el virus Zika o la microcefalia en sí mismos no son indicaciones de cesárea.</a:t>
            </a:r>
          </a:p>
          <a:p>
            <a:r>
              <a:rPr lang="es-AR" noProof="0" dirty="0"/>
              <a:t>No estaría indicado suspender la lactancia.</a:t>
            </a:r>
          </a:p>
        </p:txBody>
      </p:sp>
    </p:spTree>
    <p:extLst>
      <p:ext uri="{BB962C8B-B14F-4D97-AF65-F5344CB8AC3E}">
        <p14:creationId xmlns:p14="http://schemas.microsoft.com/office/powerpoint/2010/main" val="8415560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34696" y="1"/>
            <a:ext cx="9520158" cy="901336"/>
          </a:xfrm>
        </p:spPr>
        <p:txBody>
          <a:bodyPr/>
          <a:lstStyle/>
          <a:p>
            <a:r>
              <a:rPr lang="es-AR" noProof="0" dirty="0"/>
              <a:t>Diagnóstico virológico y serológico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534696" y="1058091"/>
            <a:ext cx="10657304" cy="4963885"/>
          </a:xfrm>
        </p:spPr>
        <p:txBody>
          <a:bodyPr>
            <a:normAutofit/>
          </a:bodyPr>
          <a:lstStyle/>
          <a:p>
            <a:r>
              <a:rPr lang="es-AR" noProof="0" dirty="0"/>
              <a:t>La elección de la metodología dependerá del tiempo de evolución del cuadro al momento de la toma de muestra, considerando duración de la viremia, tipo de muestra y excreción de virus y el inicio de la respuesta inmune. </a:t>
            </a:r>
          </a:p>
          <a:p>
            <a:endParaRPr lang="es-AR" noProof="0" dirty="0"/>
          </a:p>
          <a:p>
            <a:r>
              <a:rPr lang="es-AR" sz="2400" i="1" noProof="0" dirty="0"/>
              <a:t>El diagnóstico virológico</a:t>
            </a:r>
            <a:r>
              <a:rPr lang="es-AR" noProof="0" dirty="0"/>
              <a:t>:  Técnicas moleculares en muestras de </a:t>
            </a:r>
            <a:r>
              <a:rPr lang="es-AR" b="1" noProof="0" dirty="0"/>
              <a:t>suero hasta el sexto día del inicio de los síntomas</a:t>
            </a:r>
            <a:r>
              <a:rPr lang="es-AR" noProof="0" dirty="0"/>
              <a:t>, o en orina desde el día 5 al 15-20. </a:t>
            </a:r>
          </a:p>
          <a:p>
            <a:pPr marL="0" indent="0">
              <a:buNone/>
            </a:pPr>
            <a:r>
              <a:rPr lang="es-AR" noProof="0" dirty="0"/>
              <a:t>Dado que la enfermedad por virus Zika suele ser leve, los síntomas iniciales pueden pasar desapercibidos lo cual disminuye la oportunidad para la toma de la muestra.</a:t>
            </a:r>
          </a:p>
          <a:p>
            <a:pPr marL="0" indent="0">
              <a:buNone/>
            </a:pPr>
            <a:r>
              <a:rPr lang="es-AR" noProof="0" dirty="0"/>
              <a:t> </a:t>
            </a:r>
          </a:p>
          <a:p>
            <a:r>
              <a:rPr lang="es-AR" sz="2400" i="1" noProof="0" dirty="0"/>
              <a:t>El diagnóstico serológico: M</a:t>
            </a:r>
            <a:r>
              <a:rPr lang="es-AR" noProof="0" dirty="0"/>
              <a:t>uestras de </a:t>
            </a:r>
            <a:r>
              <a:rPr lang="es-AR" b="1" noProof="0" dirty="0"/>
              <a:t>suero a partir del sexto día </a:t>
            </a:r>
            <a:r>
              <a:rPr lang="es-AR" noProof="0" dirty="0"/>
              <a:t>del inicio de síntomas.</a:t>
            </a:r>
          </a:p>
        </p:txBody>
      </p:sp>
    </p:spTree>
    <p:extLst>
      <p:ext uri="{BB962C8B-B14F-4D97-AF65-F5344CB8AC3E}">
        <p14:creationId xmlns:p14="http://schemas.microsoft.com/office/powerpoint/2010/main" val="29740027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71517" y="104504"/>
            <a:ext cx="10561510" cy="822959"/>
          </a:xfrm>
        </p:spPr>
        <p:txBody>
          <a:bodyPr>
            <a:normAutofit/>
          </a:bodyPr>
          <a:lstStyle/>
          <a:p>
            <a:r>
              <a:rPr lang="es-AR" sz="2800" noProof="0" dirty="0"/>
              <a:t>PREVENCIÓN DE LA ENFERMEDAD POR VIRUS ZIKA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534696" y="1254034"/>
            <a:ext cx="10657304" cy="4820195"/>
          </a:xfrm>
        </p:spPr>
        <p:txBody>
          <a:bodyPr>
            <a:normAutofit lnSpcReduction="10000"/>
          </a:bodyPr>
          <a:lstStyle/>
          <a:p>
            <a:r>
              <a:rPr lang="es-AR" noProof="0" dirty="0"/>
              <a:t>PREVENCIÓN DE LA INFECCIÓN TRANSMITIDA POR MOSQUITOS</a:t>
            </a:r>
          </a:p>
          <a:p>
            <a:r>
              <a:rPr lang="es-AR" noProof="0" dirty="0"/>
              <a:t>PREVENCIÓN DE LA INFECCIÓN POR TRANSMISIÓN SEXUAL </a:t>
            </a:r>
          </a:p>
          <a:p>
            <a:r>
              <a:rPr lang="es-AR" noProof="0" dirty="0"/>
              <a:t>PREVENCIÓN DE LA INFECCIÓN CONGÉNITA. </a:t>
            </a:r>
          </a:p>
          <a:p>
            <a:endParaRPr lang="es-AR" noProof="0" dirty="0"/>
          </a:p>
          <a:p>
            <a:r>
              <a:rPr lang="es-AR" noProof="0" dirty="0"/>
              <a:t>Si hay síntomas de la infección, las acciones de prevención deben mantenerse durante al menos 6 meses luego de padecer la enfermedad en el caso de los hombres, y 8 semanas en caso de las mujeres.</a:t>
            </a:r>
          </a:p>
          <a:p>
            <a:r>
              <a:rPr lang="es-AR" noProof="0" dirty="0"/>
              <a:t>Las mujeres que hayan tenido infección clínica o que hayan estado expuestas al virus deben considerar esperar 8 semanas antes de intentar el embarazo. </a:t>
            </a:r>
          </a:p>
          <a:p>
            <a:r>
              <a:rPr lang="es-AR" noProof="0" dirty="0"/>
              <a:t>En caso de ser el hombre quien haya tenido infección o haya estado expuesto, el plazo se amplía a 6 meses. </a:t>
            </a:r>
          </a:p>
        </p:txBody>
      </p:sp>
    </p:spTree>
    <p:extLst>
      <p:ext uri="{BB962C8B-B14F-4D97-AF65-F5344CB8AC3E}">
        <p14:creationId xmlns:p14="http://schemas.microsoft.com/office/powerpoint/2010/main" val="826158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34696" y="1"/>
            <a:ext cx="9520158" cy="757004"/>
          </a:xfrm>
        </p:spPr>
        <p:txBody>
          <a:bodyPr/>
          <a:lstStyle/>
          <a:p>
            <a:r>
              <a:rPr lang="es-AR" noProof="0" dirty="0"/>
              <a:t>Bibliografía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534696" y="914401"/>
            <a:ext cx="9520158" cy="5186596"/>
          </a:xfrm>
        </p:spPr>
        <p:txBody>
          <a:bodyPr>
            <a:normAutofit fontScale="85000" lnSpcReduction="10000"/>
          </a:bodyPr>
          <a:lstStyle/>
          <a:p>
            <a:r>
              <a:rPr lang="es-AR" noProof="0" dirty="0">
                <a:hlinkClick r:id="rId2"/>
              </a:rPr>
              <a:t>https://www.argentina.gob.ar/sinagir/epidemias-pandemias</a:t>
            </a:r>
            <a:endParaRPr lang="es-AR" noProof="0" dirty="0"/>
          </a:p>
          <a:p>
            <a:r>
              <a:rPr lang="es-AR" noProof="0" dirty="0">
                <a:hlinkClick r:id="rId3"/>
              </a:rPr>
              <a:t>https://www.argentina.gob.ar/noticias/salud-actualiza-la-situacion-epidemiologica-de-dengue-y-chikungunya-en-argentina-y-3</a:t>
            </a:r>
            <a:endParaRPr lang="es-AR" noProof="0" dirty="0"/>
          </a:p>
          <a:p>
            <a:r>
              <a:rPr lang="es-AR" b="1" noProof="0" dirty="0"/>
              <a:t>Recomendaciones para la detección y el diagnóstico por laboratorio de infecciones por arbovirus en la Región de las Américas: </a:t>
            </a:r>
            <a:r>
              <a:rPr lang="es-AR" b="1" noProof="0" dirty="0">
                <a:hlinkClick r:id="rId4"/>
              </a:rPr>
              <a:t>https://iris.paho.org/handle/10665.2/56321</a:t>
            </a:r>
            <a:r>
              <a:rPr lang="es-AR" b="1" noProof="0" dirty="0"/>
              <a:t> (</a:t>
            </a:r>
            <a:r>
              <a:rPr lang="es-AR" noProof="0" dirty="0"/>
              <a:t>2022-08-29)</a:t>
            </a:r>
          </a:p>
          <a:p>
            <a:r>
              <a:rPr lang="es-ES" b="1" dirty="0"/>
              <a:t>BEN 770 SE 33 (10 al 16 de Agosto 2025)</a:t>
            </a:r>
          </a:p>
          <a:p>
            <a:r>
              <a:rPr lang="es-ES" b="1" dirty="0"/>
              <a:t>BEN 769 SE 32 (3 al 9 de Agosto 2025) Contiene información sobre: </a:t>
            </a:r>
            <a:r>
              <a:rPr lang="es-ES" dirty="0"/>
              <a:t>Dengue y otros arbovirus</a:t>
            </a:r>
          </a:p>
          <a:p>
            <a:r>
              <a:rPr lang="es-ES" b="1" noProof="0" dirty="0"/>
              <a:t>“Guía de Práctica Clínica sobre diagnóstico y tratamiento del dengue. Adaptación de la Guía de la Organización Panamericana de la Salud (OPS)”. Disponible en: https://www.argentina.gob.ar/sites/default/files/2024/09/gpc_dengue_vc_10120 25.pdf Y su versión breve, disponible en: https://www.argentina.gob.ar/sites/default/files/2024/09/gpc_dengue_vb_1012 025.pdf</a:t>
            </a:r>
            <a:endParaRPr lang="es-AR" b="1" noProof="0" dirty="0"/>
          </a:p>
          <a:p>
            <a:r>
              <a:rPr lang="es-AR" noProof="0" dirty="0"/>
              <a:t>Fiebre amarilla </a:t>
            </a:r>
            <a:r>
              <a:rPr lang="es-AR" noProof="0" dirty="0">
                <a:hlinkClick r:id="rId5"/>
              </a:rPr>
              <a:t>https://bancos.salud.gob.ar/sites/default/files/2018-10/0000000064cnt-01-guia-fiebre-amarilla.pdf</a:t>
            </a:r>
            <a:endParaRPr lang="es-AR" noProof="0" dirty="0"/>
          </a:p>
          <a:p>
            <a:endParaRPr lang="es-AR" noProof="0" dirty="0"/>
          </a:p>
          <a:p>
            <a:endParaRPr lang="es-AR" noProof="0" dirty="0"/>
          </a:p>
          <a:p>
            <a:endParaRPr lang="es-AR" noProof="0" dirty="0"/>
          </a:p>
        </p:txBody>
      </p:sp>
    </p:spTree>
    <p:extLst>
      <p:ext uri="{BB962C8B-B14F-4D97-AF65-F5344CB8AC3E}">
        <p14:creationId xmlns:p14="http://schemas.microsoft.com/office/powerpoint/2010/main" val="87455946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EDEBE7"/>
      </a:lt2>
      <a:accent1>
        <a:srgbClr val="5FA534"/>
      </a:accent1>
      <a:accent2>
        <a:srgbClr val="DCAB34"/>
      </a:accent2>
      <a:accent3>
        <a:srgbClr val="D26D23"/>
      </a:accent3>
      <a:accent4>
        <a:srgbClr val="972323"/>
      </a:accent4>
      <a:accent5>
        <a:srgbClr val="236797"/>
      </a:accent5>
      <a:accent6>
        <a:srgbClr val="2FB6C6"/>
      </a:accent6>
      <a:hlink>
        <a:srgbClr val="8FC639"/>
      </a:hlink>
      <a:folHlink>
        <a:srgbClr val="E7C272"/>
      </a:folHlink>
    </a:clrScheme>
    <a:fontScheme name="Gallery">
      <a:majorFont>
        <a:latin typeface="Palatino Linotype" panose="020405020505050303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AC464412-510E-4F2B-8947-A0DDBD0289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TM10001114[[fn=Galería]]</Template>
  <TotalTime>1348</TotalTime>
  <Words>3214</Words>
  <Application>Microsoft Office PowerPoint</Application>
  <PresentationFormat>Panorámica</PresentationFormat>
  <Paragraphs>192</Paragraphs>
  <Slides>38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5" baseType="lpstr">
      <vt:lpstr>Arial</vt:lpstr>
      <vt:lpstr>Calibri</vt:lpstr>
      <vt:lpstr>Calibri Light</vt:lpstr>
      <vt:lpstr>Montserrat</vt:lpstr>
      <vt:lpstr>Palatino Linotype</vt:lpstr>
      <vt:lpstr>Wingdings</vt:lpstr>
      <vt:lpstr>Gallery</vt:lpstr>
      <vt:lpstr>ENFERMEDADES REEMERGENTES </vt:lpstr>
      <vt:lpstr>Presentación de PowerPoint</vt:lpstr>
      <vt:lpstr>Enfermedades Reemergentes</vt:lpstr>
      <vt:lpstr>Los arbovirus: Virus transmitidos por artrópodos, especialmente insectos (moscas y mosquitos) y arácnidos (garrapatas).</vt:lpstr>
      <vt:lpstr>ARBOVIRUS : Flia Flaviviradae</vt:lpstr>
      <vt:lpstr>Estructura: genoma de los arbovirus</vt:lpstr>
      <vt:lpstr>Modos de transmisión</vt:lpstr>
      <vt:lpstr>Favorecen la transmisión</vt:lpstr>
      <vt:lpstr>Presentación de PowerPoint</vt:lpstr>
      <vt:lpstr>Características del vector: Aedes aegypti</vt:lpstr>
      <vt:lpstr>Presentación de PowerPoint</vt:lpstr>
      <vt:lpstr>DENGUE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Formas Clínicas-Dengue</vt:lpstr>
      <vt:lpstr>Manifestaciones Clínicas</vt:lpstr>
      <vt:lpstr>Presentación de PowerPoint</vt:lpstr>
      <vt:lpstr>Diagnóstico de Dengue</vt:lpstr>
      <vt:lpstr>VACUNACIÓN CONTRA EL DENGUE EN ARGENTINA</vt:lpstr>
      <vt:lpstr>Presentación de PowerPoint</vt:lpstr>
      <vt:lpstr>Control Vector</vt:lpstr>
      <vt:lpstr>Caso clínico  </vt:lpstr>
      <vt:lpstr>Diagnóstico</vt:lpstr>
      <vt:lpstr>  EVOLUCIÓN </vt:lpstr>
      <vt:lpstr>Conclusiones</vt:lpstr>
      <vt:lpstr>Enfermedad por virus Zika</vt:lpstr>
      <vt:lpstr>Transmisión sexual</vt:lpstr>
      <vt:lpstr>Manifestaciones Clínicas</vt:lpstr>
      <vt:lpstr>ZIKA EN EL EMBARAZO </vt:lpstr>
      <vt:lpstr>SÍNDROME DE INFECCIÓN CONGÉNITA POR EL VIRUS ZIKA</vt:lpstr>
      <vt:lpstr>SÍNDROME DE INFECCIÓN CONGÉNITA POR EL VIRUS ZIKA</vt:lpstr>
      <vt:lpstr>Diagnóstico virológico y serológico </vt:lpstr>
      <vt:lpstr>PREVENCIÓN DE LA ENFERMEDAD POR VIRUS ZIKA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Enfermedades emergentes-reemergentes y regionales U.T. N° 5</dc:title>
  <dc:creator>WIN-10</dc:creator>
  <cp:lastModifiedBy>WIN-10</cp:lastModifiedBy>
  <cp:revision>78</cp:revision>
  <dcterms:created xsi:type="dcterms:W3CDTF">2023-07-20T13:26:06Z</dcterms:created>
  <dcterms:modified xsi:type="dcterms:W3CDTF">2026-09-29T15:19:15Z</dcterms:modified>
</cp:coreProperties>
</file>