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64" r:id="rId1"/>
  </p:sldMasterIdLst>
  <p:sldIdLst>
    <p:sldId id="256" r:id="rId2"/>
    <p:sldId id="257" r:id="rId3"/>
    <p:sldId id="281" r:id="rId4"/>
    <p:sldId id="258" r:id="rId5"/>
    <p:sldId id="259" r:id="rId6"/>
    <p:sldId id="260" r:id="rId7"/>
    <p:sldId id="261" r:id="rId8"/>
    <p:sldId id="262" r:id="rId9"/>
    <p:sldId id="263" r:id="rId10"/>
    <p:sldId id="264" r:id="rId11"/>
    <p:sldId id="271" r:id="rId12"/>
    <p:sldId id="268" r:id="rId13"/>
    <p:sldId id="269" r:id="rId14"/>
    <p:sldId id="284" r:id="rId15"/>
    <p:sldId id="272" r:id="rId16"/>
    <p:sldId id="282" r:id="rId17"/>
    <p:sldId id="283" r:id="rId18"/>
    <p:sldId id="267" r:id="rId19"/>
    <p:sldId id="273" r:id="rId20"/>
    <p:sldId id="280" r:id="rId21"/>
    <p:sldId id="274" r:id="rId22"/>
    <p:sldId id="275" r:id="rId23"/>
    <p:sldId id="285" r:id="rId24"/>
    <p:sldId id="288" r:id="rId25"/>
    <p:sldId id="289" r:id="rId26"/>
    <p:sldId id="290" r:id="rId27"/>
    <p:sldId id="291" r:id="rId28"/>
    <p:sldId id="292" r:id="rId29"/>
    <p:sldId id="293" r:id="rId30"/>
    <p:sldId id="294" r:id="rId31"/>
    <p:sldId id="295" r:id="rId32"/>
    <p:sldId id="296" r:id="rId33"/>
    <p:sldId id="297" r:id="rId34"/>
    <p:sldId id="298" r:id="rId35"/>
    <p:sldId id="299" r:id="rId36"/>
    <p:sldId id="300" r:id="rId37"/>
    <p:sldId id="301" r:id="rId38"/>
    <p:sldId id="302" r:id="rId39"/>
    <p:sldId id="303" r:id="rId40"/>
    <p:sldId id="304" r:id="rId41"/>
    <p:sldId id="305" r:id="rId42"/>
    <p:sldId id="306" r:id="rId43"/>
    <p:sldId id="307" r:id="rId44"/>
    <p:sldId id="308" r:id="rId45"/>
    <p:sldId id="309" r:id="rId46"/>
    <p:sldId id="310" r:id="rId47"/>
    <p:sldId id="311" r:id="rId48"/>
    <p:sldId id="312" r:id="rId49"/>
    <p:sldId id="313" r:id="rId50"/>
    <p:sldId id="314" r:id="rId51"/>
    <p:sldId id="315" r:id="rId52"/>
    <p:sldId id="316" r:id="rId53"/>
    <p:sldId id="317" r:id="rId54"/>
    <p:sldId id="318" r:id="rId55"/>
    <p:sldId id="319" r:id="rId56"/>
    <p:sldId id="320" r:id="rId57"/>
    <p:sldId id="321" r:id="rId58"/>
    <p:sldId id="322" r:id="rId59"/>
    <p:sldId id="323" r:id="rId60"/>
    <p:sldId id="324" r:id="rId61"/>
    <p:sldId id="325" r:id="rId62"/>
    <p:sldId id="326" r:id="rId63"/>
    <p:sldId id="327" r:id="rId64"/>
    <p:sldId id="328" r:id="rId65"/>
    <p:sldId id="329" r:id="rId66"/>
    <p:sldId id="330" r:id="rId67"/>
    <p:sldId id="331" r:id="rId68"/>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10" name="9 Triángulo rectángulo"/>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8 Título"/>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s-ES" smtClean="0"/>
              <a:t>Haga clic para modificar el estilo de título del patrón</a:t>
            </a:r>
            <a:endParaRPr kumimoji="0" lang="en-US"/>
          </a:p>
        </p:txBody>
      </p:sp>
      <p:sp>
        <p:nvSpPr>
          <p:cNvPr id="17" name="16 Subtítulo"/>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s-ES" smtClean="0"/>
              <a:t>Haga clic para modificar el estilo de subtítulo del patrón</a:t>
            </a:r>
            <a:endParaRPr kumimoji="0" lang="en-US"/>
          </a:p>
        </p:txBody>
      </p:sp>
      <p:grpSp>
        <p:nvGrpSpPr>
          <p:cNvPr id="2" name="1 Grupo"/>
          <p:cNvGrpSpPr/>
          <p:nvPr/>
        </p:nvGrpSpPr>
        <p:grpSpPr>
          <a:xfrm>
            <a:off x="-3765" y="4953000"/>
            <a:ext cx="9147765" cy="1912088"/>
            <a:chOff x="-3765" y="4832896"/>
            <a:chExt cx="9147765" cy="2032192"/>
          </a:xfrm>
        </p:grpSpPr>
        <p:sp>
          <p:nvSpPr>
            <p:cNvPr id="7" name="6 Forma libre"/>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7 Forma libre"/>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10 Forma libre"/>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11 Conector recto"/>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29 Marcador de fecha"/>
          <p:cNvSpPr>
            <a:spLocks noGrp="1"/>
          </p:cNvSpPr>
          <p:nvPr>
            <p:ph type="dt" sz="half" idx="10"/>
          </p:nvPr>
        </p:nvSpPr>
        <p:spPr/>
        <p:txBody>
          <a:bodyPr/>
          <a:lstStyle>
            <a:lvl1pPr>
              <a:defRPr>
                <a:solidFill>
                  <a:srgbClr val="FFFFFF"/>
                </a:solidFill>
              </a:defRPr>
            </a:lvl1pPr>
            <a:extLst/>
          </a:lstStyle>
          <a:p>
            <a:fld id="{7E82D465-E72D-4C88-893D-384A46F73A66}" type="datetimeFigureOut">
              <a:rPr lang="es-ES" smtClean="0"/>
              <a:t>30/10/2022</a:t>
            </a:fld>
            <a:endParaRPr lang="es-ES"/>
          </a:p>
        </p:txBody>
      </p:sp>
      <p:sp>
        <p:nvSpPr>
          <p:cNvPr id="19" name="18 Marcador de pie de página"/>
          <p:cNvSpPr>
            <a:spLocks noGrp="1"/>
          </p:cNvSpPr>
          <p:nvPr>
            <p:ph type="ftr" sz="quarter" idx="11"/>
          </p:nvPr>
        </p:nvSpPr>
        <p:spPr/>
        <p:txBody>
          <a:bodyPr/>
          <a:lstStyle>
            <a:lvl1pPr>
              <a:defRPr>
                <a:solidFill>
                  <a:schemeClr val="accent1">
                    <a:tint val="20000"/>
                  </a:schemeClr>
                </a:solidFill>
              </a:defRPr>
            </a:lvl1pPr>
            <a:extLst/>
          </a:lstStyle>
          <a:p>
            <a:endParaRPr lang="es-ES"/>
          </a:p>
        </p:txBody>
      </p:sp>
      <p:sp>
        <p:nvSpPr>
          <p:cNvPr id="27" name="26 Marcador de número de diapositiva"/>
          <p:cNvSpPr>
            <a:spLocks noGrp="1"/>
          </p:cNvSpPr>
          <p:nvPr>
            <p:ph type="sldNum" sz="quarter" idx="12"/>
          </p:nvPr>
        </p:nvSpPr>
        <p:spPr/>
        <p:txBody>
          <a:bodyPr/>
          <a:lstStyle>
            <a:lvl1pPr>
              <a:defRPr>
                <a:solidFill>
                  <a:srgbClr val="FFFFFF"/>
                </a:solidFill>
              </a:defRPr>
            </a:lvl1pPr>
            <a:extLst/>
          </a:lstStyle>
          <a:p>
            <a:fld id="{67CD68BD-B130-4BBF-B134-050142515A95}" type="slidenum">
              <a:rPr lang="es-ES" smtClean="0"/>
              <a:t>‹Nº›</a:t>
            </a:fld>
            <a:endParaRPr lang="es-E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7E82D465-E72D-4C88-893D-384A46F73A66}" type="datetimeFigureOut">
              <a:rPr lang="es-ES" smtClean="0"/>
              <a:t>30/10/2022</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67CD68BD-B130-4BBF-B134-050142515A95}" type="slidenum">
              <a:rPr lang="es-ES" smtClean="0"/>
              <a:t>‹Nº›</a:t>
            </a:fld>
            <a:endParaRPr lang="es-ES"/>
          </a:p>
        </p:txBody>
      </p:sp>
      <p:sp>
        <p:nvSpPr>
          <p:cNvPr id="7" name="6 Título"/>
          <p:cNvSpPr>
            <a:spLocks noGrp="1"/>
          </p:cNvSpPr>
          <p:nvPr>
            <p:ph type="title"/>
          </p:nvPr>
        </p:nvSpPr>
        <p:spPr/>
        <p:txBody>
          <a:bodyPr rtlCol="0"/>
          <a:lstStyle/>
          <a:p>
            <a:r>
              <a:rPr kumimoji="0" lang="es-ES" smtClean="0"/>
              <a:t>Haga clic para modificar el estilo de título del patrón</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bg>
      <p:bgRef idx="1002">
        <a:schemeClr val="bg1"/>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s-ES" smtClean="0"/>
              <a:t>Haga clic para modificar el estilo de texto del patrón</a:t>
            </a:r>
          </a:p>
        </p:txBody>
      </p:sp>
      <p:sp>
        <p:nvSpPr>
          <p:cNvPr id="4" name="3 Marcador de fecha"/>
          <p:cNvSpPr>
            <a:spLocks noGrp="1"/>
          </p:cNvSpPr>
          <p:nvPr>
            <p:ph type="dt" sz="half" idx="10"/>
          </p:nvPr>
        </p:nvSpPr>
        <p:spPr/>
        <p:txBody>
          <a:bodyPr/>
          <a:lstStyle/>
          <a:p>
            <a:fld id="{7E82D465-E72D-4C88-893D-384A46F73A66}" type="datetimeFigureOut">
              <a:rPr lang="es-ES" smtClean="0"/>
              <a:t>30/10/2022</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67CD68BD-B130-4BBF-B134-050142515A95}" type="slidenum">
              <a:rPr lang="es-ES" smtClean="0"/>
              <a:t>‹Nº›</a:t>
            </a:fld>
            <a:endParaRPr lang="es-ES"/>
          </a:p>
        </p:txBody>
      </p:sp>
      <p:sp>
        <p:nvSpPr>
          <p:cNvPr id="7" name="6 Cheurón"/>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7 Cheurón"/>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bg>
      <p:bgRef idx="1002">
        <a:schemeClr val="bg1"/>
      </p:bgRef>
    </p:bg>
    <p:spTree>
      <p:nvGrpSpPr>
        <p:cNvPr id="1" name=""/>
        <p:cNvGrpSpPr/>
        <p:nvPr/>
      </p:nvGrpSpPr>
      <p:grpSpPr>
        <a:xfrm>
          <a:off x="0" y="0"/>
          <a:ext cx="0" cy="0"/>
          <a:chOff x="0" y="0"/>
          <a:chExt cx="0" cy="0"/>
        </a:xfrm>
      </p:grpSpPr>
      <p:sp>
        <p:nvSpPr>
          <p:cNvPr id="3" name="2 Marcador de contenido"/>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contenido"/>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5" name="4 Marcador de fecha"/>
          <p:cNvSpPr>
            <a:spLocks noGrp="1"/>
          </p:cNvSpPr>
          <p:nvPr>
            <p:ph type="dt" sz="half" idx="10"/>
          </p:nvPr>
        </p:nvSpPr>
        <p:spPr/>
        <p:txBody>
          <a:bodyPr/>
          <a:lstStyle/>
          <a:p>
            <a:fld id="{7E82D465-E72D-4C88-893D-384A46F73A66}" type="datetimeFigureOut">
              <a:rPr lang="es-ES" smtClean="0"/>
              <a:t>30/10/2022</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67CD68BD-B130-4BBF-B134-050142515A95}" type="slidenum">
              <a:rPr lang="es-ES" smtClean="0"/>
              <a:t>‹Nº›</a:t>
            </a:fld>
            <a:endParaRPr lang="es-ES"/>
          </a:p>
        </p:txBody>
      </p:sp>
      <p:sp>
        <p:nvSpPr>
          <p:cNvPr id="8" name="7 Título"/>
          <p:cNvSpPr>
            <a:spLocks noGrp="1"/>
          </p:cNvSpPr>
          <p:nvPr>
            <p:ph type="title"/>
          </p:nvPr>
        </p:nvSpPr>
        <p:spPr/>
        <p:txBody>
          <a:bodyPr rtlCol="0"/>
          <a:lstStyle/>
          <a:p>
            <a:r>
              <a:rPr kumimoji="0" lang="es-ES" smtClean="0"/>
              <a:t>Haga clic para modificar el estilo de título del patrón</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ción">
    <p:bg>
      <p:bgRef idx="1003">
        <a:schemeClr val="bg1"/>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8229600" cy="1143000"/>
          </a:xfrm>
        </p:spPr>
        <p:txBody>
          <a:bodyPr anchor="ctr"/>
          <a:lstStyle>
            <a:lvl1pPr>
              <a:defRPr/>
            </a:lvl1pPr>
            <a:extLst/>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s-ES" smtClean="0"/>
              <a:t>Haga clic para modificar el estilo de texto del patrón</a:t>
            </a:r>
          </a:p>
        </p:txBody>
      </p:sp>
      <p:sp>
        <p:nvSpPr>
          <p:cNvPr id="4" name="3 Marcador de texto"/>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s-ES" smtClean="0"/>
              <a:t>Haga clic para modificar el estilo de texto del patrón</a:t>
            </a:r>
          </a:p>
        </p:txBody>
      </p:sp>
      <p:sp>
        <p:nvSpPr>
          <p:cNvPr id="5" name="4 Marcador de contenido"/>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6" name="5 Marcador de contenido"/>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7" name="6 Marcador de fecha"/>
          <p:cNvSpPr>
            <a:spLocks noGrp="1"/>
          </p:cNvSpPr>
          <p:nvPr>
            <p:ph type="dt" sz="half" idx="10"/>
          </p:nvPr>
        </p:nvSpPr>
        <p:spPr/>
        <p:txBody>
          <a:bodyPr/>
          <a:lstStyle/>
          <a:p>
            <a:fld id="{7E82D465-E72D-4C88-893D-384A46F73A66}" type="datetimeFigureOut">
              <a:rPr lang="es-ES" smtClean="0"/>
              <a:t>30/10/2022</a:t>
            </a:fld>
            <a:endParaRPr lang="es-ES"/>
          </a:p>
        </p:txBody>
      </p:sp>
      <p:sp>
        <p:nvSpPr>
          <p:cNvPr id="8" name="7 Marcador de pie de página"/>
          <p:cNvSpPr>
            <a:spLocks noGrp="1"/>
          </p:cNvSpPr>
          <p:nvPr>
            <p:ph type="ftr" sz="quarter" idx="11"/>
          </p:nvPr>
        </p:nvSpPr>
        <p:spPr/>
        <p:txBody>
          <a:bodyPr/>
          <a:lstStyle/>
          <a:p>
            <a:endParaRPr lang="es-ES"/>
          </a:p>
        </p:txBody>
      </p:sp>
      <p:sp>
        <p:nvSpPr>
          <p:cNvPr id="9" name="8 Marcador de número de diapositiva"/>
          <p:cNvSpPr>
            <a:spLocks noGrp="1"/>
          </p:cNvSpPr>
          <p:nvPr>
            <p:ph type="sldNum" sz="quarter" idx="12"/>
          </p:nvPr>
        </p:nvSpPr>
        <p:spPr/>
        <p:txBody>
          <a:bodyPr/>
          <a:lstStyle/>
          <a:p>
            <a:fld id="{67CD68BD-B130-4BBF-B134-050142515A95}" type="slidenum">
              <a:rPr lang="es-ES" smtClean="0"/>
              <a:t>‹Nº›</a:t>
            </a:fld>
            <a:endParaRPr lang="es-E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bg>
      <p:bgRef idx="1002">
        <a:schemeClr val="bg1"/>
      </p:bgRef>
    </p:bg>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7E82D465-E72D-4C88-893D-384A46F73A66}" type="datetimeFigureOut">
              <a:rPr lang="es-ES" smtClean="0"/>
              <a:t>30/10/2022</a:t>
            </a:fld>
            <a:endParaRPr lang="es-ES"/>
          </a:p>
        </p:txBody>
      </p:sp>
      <p:sp>
        <p:nvSpPr>
          <p:cNvPr id="4" name="3 Marcador de pie de página"/>
          <p:cNvSpPr>
            <a:spLocks noGrp="1"/>
          </p:cNvSpPr>
          <p:nvPr>
            <p:ph type="ftr" sz="quarter" idx="11"/>
          </p:nvPr>
        </p:nvSpPr>
        <p:spPr/>
        <p:txBody>
          <a:bodyPr/>
          <a:lstStyle/>
          <a:p>
            <a:endParaRPr lang="es-ES"/>
          </a:p>
        </p:txBody>
      </p:sp>
      <p:sp>
        <p:nvSpPr>
          <p:cNvPr id="5" name="4 Marcador de número de diapositiva"/>
          <p:cNvSpPr>
            <a:spLocks noGrp="1"/>
          </p:cNvSpPr>
          <p:nvPr>
            <p:ph type="sldNum" sz="quarter" idx="12"/>
          </p:nvPr>
        </p:nvSpPr>
        <p:spPr/>
        <p:txBody>
          <a:bodyPr/>
          <a:lstStyle/>
          <a:p>
            <a:fld id="{67CD68BD-B130-4BBF-B134-050142515A95}" type="slidenum">
              <a:rPr lang="es-ES" smtClean="0"/>
              <a:t>‹Nº›</a:t>
            </a:fld>
            <a:endParaRPr lang="es-ES"/>
          </a:p>
        </p:txBody>
      </p:sp>
      <p:sp>
        <p:nvSpPr>
          <p:cNvPr id="6" name="5 Título"/>
          <p:cNvSpPr>
            <a:spLocks noGrp="1"/>
          </p:cNvSpPr>
          <p:nvPr>
            <p:ph type="title"/>
          </p:nvPr>
        </p:nvSpPr>
        <p:spPr/>
        <p:txBody>
          <a:bodyPr rtlCol="0"/>
          <a:lstStyle/>
          <a:p>
            <a:r>
              <a:rPr kumimoji="0" lang="es-ES" smtClean="0"/>
              <a:t>Haga clic para modificar el estilo de título del patrón</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7E82D465-E72D-4C88-893D-384A46F73A66}" type="datetimeFigureOut">
              <a:rPr lang="es-ES" smtClean="0"/>
              <a:t>30/10/2022</a:t>
            </a:fld>
            <a:endParaRPr lang="es-ES"/>
          </a:p>
        </p:txBody>
      </p:sp>
      <p:sp>
        <p:nvSpPr>
          <p:cNvPr id="3" name="2 Marcador de pie de página"/>
          <p:cNvSpPr>
            <a:spLocks noGrp="1"/>
          </p:cNvSpPr>
          <p:nvPr>
            <p:ph type="ftr" sz="quarter" idx="11"/>
          </p:nvPr>
        </p:nvSpPr>
        <p:spPr/>
        <p:txBody>
          <a:bodyPr/>
          <a:lstStyle/>
          <a:p>
            <a:endParaRPr lang="es-ES"/>
          </a:p>
        </p:txBody>
      </p:sp>
      <p:sp>
        <p:nvSpPr>
          <p:cNvPr id="4" name="3 Marcador de número de diapositiva"/>
          <p:cNvSpPr>
            <a:spLocks noGrp="1"/>
          </p:cNvSpPr>
          <p:nvPr>
            <p:ph type="sldNum" sz="quarter" idx="12"/>
          </p:nvPr>
        </p:nvSpPr>
        <p:spPr/>
        <p:txBody>
          <a:bodyPr/>
          <a:lstStyle/>
          <a:p>
            <a:fld id="{67CD68BD-B130-4BBF-B134-050142515A95}" type="slidenum">
              <a:rPr lang="es-ES" smtClean="0"/>
              <a:t>‹Nº›</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bg>
      <p:bgRef idx="1003">
        <a:schemeClr val="bg1"/>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s-ES" smtClean="0"/>
              <a:t>Haga clic para modificar el estilo de título del patrón</a:t>
            </a:r>
            <a:endParaRPr kumimoji="0" lang="en-US"/>
          </a:p>
        </p:txBody>
      </p:sp>
      <p:sp>
        <p:nvSpPr>
          <p:cNvPr id="3" name="2 Marcador de texto"/>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s-ES" smtClean="0"/>
              <a:t>Haga clic para modificar el estilo de texto del patrón</a:t>
            </a:r>
          </a:p>
        </p:txBody>
      </p:sp>
      <p:sp>
        <p:nvSpPr>
          <p:cNvPr id="4" name="3 Marcador de contenido"/>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5" name="4 Marcador de fecha"/>
          <p:cNvSpPr>
            <a:spLocks noGrp="1"/>
          </p:cNvSpPr>
          <p:nvPr>
            <p:ph type="dt" sz="half" idx="10"/>
          </p:nvPr>
        </p:nvSpPr>
        <p:spPr>
          <a:xfrm>
            <a:off x="6727032" y="6407944"/>
            <a:ext cx="1920240" cy="365760"/>
          </a:xfrm>
        </p:spPr>
        <p:txBody>
          <a:bodyPr/>
          <a:lstStyle/>
          <a:p>
            <a:fld id="{7E82D465-E72D-4C88-893D-384A46F73A66}" type="datetimeFigureOut">
              <a:rPr lang="es-ES" smtClean="0"/>
              <a:t>30/10/2022</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67CD68BD-B130-4BBF-B134-050142515A95}" type="slidenum">
              <a:rPr lang="es-ES" smtClean="0"/>
              <a:t>‹Nº›</a:t>
            </a:fld>
            <a:endParaRPr lang="es-E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bg>
      <p:bgRef idx="1002">
        <a:schemeClr val="bg1"/>
      </p:bgRef>
    </p:bg>
    <p:spTree>
      <p:nvGrpSpPr>
        <p:cNvPr id="1" name=""/>
        <p:cNvGrpSpPr/>
        <p:nvPr/>
      </p:nvGrpSpPr>
      <p:grpSpPr>
        <a:xfrm>
          <a:off x="0" y="0"/>
          <a:ext cx="0" cy="0"/>
          <a:chOff x="0" y="0"/>
          <a:chExt cx="0" cy="0"/>
        </a:xfrm>
      </p:grpSpPr>
      <p:sp>
        <p:nvSpPr>
          <p:cNvPr id="4" name="3 Marcador de texto"/>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s-ES" smtClean="0"/>
              <a:t>Haga clic para modificar el estilo de texto del patrón</a:t>
            </a:r>
          </a:p>
        </p:txBody>
      </p:sp>
      <p:sp>
        <p:nvSpPr>
          <p:cNvPr id="3" name="2 Marcador de posición de imagen"/>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s-ES" smtClean="0"/>
              <a:t>Haga clic en el icono para agregar una imagen</a:t>
            </a:r>
            <a:endParaRPr kumimoji="0" lang="en-US" dirty="0"/>
          </a:p>
        </p:txBody>
      </p:sp>
      <p:sp>
        <p:nvSpPr>
          <p:cNvPr id="5" name="4 Marcador de fecha"/>
          <p:cNvSpPr>
            <a:spLocks noGrp="1"/>
          </p:cNvSpPr>
          <p:nvPr>
            <p:ph type="dt" sz="half" idx="10"/>
          </p:nvPr>
        </p:nvSpPr>
        <p:spPr/>
        <p:txBody>
          <a:bodyPr/>
          <a:lstStyle>
            <a:lvl1pPr>
              <a:defRPr>
                <a:solidFill>
                  <a:schemeClr val="tx1"/>
                </a:solidFill>
              </a:defRPr>
            </a:lvl1pPr>
            <a:extLst/>
          </a:lstStyle>
          <a:p>
            <a:fld id="{7E82D465-E72D-4C88-893D-384A46F73A66}" type="datetimeFigureOut">
              <a:rPr lang="es-ES" smtClean="0"/>
              <a:t>30/10/2022</a:t>
            </a:fld>
            <a:endParaRPr lang="es-ES"/>
          </a:p>
        </p:txBody>
      </p:sp>
      <p:sp>
        <p:nvSpPr>
          <p:cNvPr id="6" name="5 Marcador de pie de página"/>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s-ES"/>
          </a:p>
        </p:txBody>
      </p:sp>
      <p:sp>
        <p:nvSpPr>
          <p:cNvPr id="7" name="6 Marcador de número de diapositiva"/>
          <p:cNvSpPr>
            <a:spLocks noGrp="1"/>
          </p:cNvSpPr>
          <p:nvPr>
            <p:ph type="sldNum" sz="quarter" idx="12"/>
          </p:nvPr>
        </p:nvSpPr>
        <p:spPr/>
        <p:txBody>
          <a:bodyPr/>
          <a:lstStyle>
            <a:lvl1pPr>
              <a:defRPr>
                <a:solidFill>
                  <a:schemeClr val="tx1"/>
                </a:solidFill>
              </a:defRPr>
            </a:lvl1pPr>
            <a:extLst/>
          </a:lstStyle>
          <a:p>
            <a:fld id="{67CD68BD-B130-4BBF-B134-050142515A95}" type="slidenum">
              <a:rPr lang="es-ES" smtClean="0"/>
              <a:t>‹Nº›</a:t>
            </a:fld>
            <a:endParaRPr lang="es-ES"/>
          </a:p>
        </p:txBody>
      </p:sp>
      <p:sp>
        <p:nvSpPr>
          <p:cNvPr id="2" name="1 Título"/>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s-ES" smtClean="0"/>
              <a:t>Haga clic para modificar el estilo de título del patrón</a:t>
            </a:r>
            <a:endParaRPr kumimoji="0" lang="en-US"/>
          </a:p>
        </p:txBody>
      </p:sp>
      <p:sp>
        <p:nvSpPr>
          <p:cNvPr id="8" name="7 Forma libre"/>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8 Forma libre"/>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9 Triángulo rectángulo"/>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10 Conector recto"/>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11 Cheurón"/>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12 Cheurón"/>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a:xfrm>
            <a:off x="457200" y="1481329"/>
            <a:ext cx="8229600" cy="4386071"/>
          </a:xfrm>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7E82D465-E72D-4C88-893D-384A46F73A66}" type="datetimeFigureOut">
              <a:rPr lang="es-ES" smtClean="0"/>
              <a:t>30/10/2022</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67CD68BD-B130-4BBF-B134-050142515A95}" type="slidenum">
              <a:rPr lang="es-ES" smtClean="0"/>
              <a:t>‹Nº›</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844013" y="274640"/>
            <a:ext cx="1777470" cy="5592761"/>
          </a:xfrm>
        </p:spPr>
        <p:txBody>
          <a:bodyPr vert="eaVert"/>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a:xfrm>
            <a:off x="457200" y="274641"/>
            <a:ext cx="6324600" cy="5592760"/>
          </a:xfrm>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7E82D465-E72D-4C88-893D-384A46F73A66}" type="datetimeFigureOut">
              <a:rPr lang="es-ES" smtClean="0"/>
              <a:t>30/10/2022</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67CD68BD-B130-4BBF-B134-050142515A95}" type="slidenum">
              <a:rPr lang="es-ES" smtClean="0"/>
              <a:t>‹Nº›</a:t>
            </a:fld>
            <a:endParaRPr lang="es-E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12 Forma libre"/>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11 Forma libre"/>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13 Triángulo rectángulo"/>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14 Conector recto"/>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8 Marcador de título"/>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s-ES" smtClean="0"/>
              <a:t>Haga clic para modificar el estilo de título del patrón</a:t>
            </a:r>
            <a:endParaRPr kumimoji="0" lang="en-US"/>
          </a:p>
        </p:txBody>
      </p:sp>
      <p:sp>
        <p:nvSpPr>
          <p:cNvPr id="30" name="29 Marcador de texto"/>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s-ES" smtClean="0"/>
              <a:t>Haga clic para modificar el estilo de texto del patrón</a:t>
            </a:r>
          </a:p>
          <a:p>
            <a:pPr lvl="1" eaLnBrk="1" latinLnBrk="0" hangingPunct="1"/>
            <a:r>
              <a:rPr kumimoji="0" lang="es-ES" smtClean="0"/>
              <a:t>Segundo nivel</a:t>
            </a:r>
          </a:p>
          <a:p>
            <a:pPr lvl="2" eaLnBrk="1" latinLnBrk="0" hangingPunct="1"/>
            <a:r>
              <a:rPr kumimoji="0" lang="es-ES" smtClean="0"/>
              <a:t>Tercer nivel</a:t>
            </a:r>
          </a:p>
          <a:p>
            <a:pPr lvl="3" eaLnBrk="1" latinLnBrk="0" hangingPunct="1"/>
            <a:r>
              <a:rPr kumimoji="0" lang="es-ES" smtClean="0"/>
              <a:t>Cuarto nivel</a:t>
            </a:r>
          </a:p>
          <a:p>
            <a:pPr lvl="4" eaLnBrk="1" latinLnBrk="0" hangingPunct="1"/>
            <a:r>
              <a:rPr kumimoji="0" lang="es-ES" smtClean="0"/>
              <a:t>Quinto nivel</a:t>
            </a:r>
            <a:endParaRPr kumimoji="0" lang="en-US"/>
          </a:p>
        </p:txBody>
      </p:sp>
      <p:sp>
        <p:nvSpPr>
          <p:cNvPr id="10" name="9 Marcador de fecha"/>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7E82D465-E72D-4C88-893D-384A46F73A66}" type="datetimeFigureOut">
              <a:rPr lang="es-ES" smtClean="0"/>
              <a:t>30/10/2022</a:t>
            </a:fld>
            <a:endParaRPr lang="es-ES"/>
          </a:p>
        </p:txBody>
      </p:sp>
      <p:sp>
        <p:nvSpPr>
          <p:cNvPr id="22" name="21 Marcador de pie de página"/>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s-ES"/>
          </a:p>
        </p:txBody>
      </p:sp>
      <p:sp>
        <p:nvSpPr>
          <p:cNvPr id="18" name="17 Marcador de número de diapositiva"/>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67CD68BD-B130-4BBF-B134-050142515A95}" type="slidenum">
              <a:rPr lang="es-ES" smtClean="0"/>
              <a:t>‹Nº›</a:t>
            </a:fld>
            <a:endParaRPr lang="es-ES"/>
          </a:p>
        </p:txBody>
      </p:sp>
    </p:spTree>
  </p:cSld>
  <p:clrMap bg1="lt1" tx1="dk1" bg2="lt2" tx2="dk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69" r:id="rId5"/>
    <p:sldLayoutId id="2147483870" r:id="rId6"/>
    <p:sldLayoutId id="2147483871" r:id="rId7"/>
    <p:sldLayoutId id="2147483872" r:id="rId8"/>
    <p:sldLayoutId id="2147483873" r:id="rId9"/>
    <p:sldLayoutId id="2147483874" r:id="rId10"/>
    <p:sldLayoutId id="2147483875"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755576" y="188640"/>
            <a:ext cx="7344816" cy="2952328"/>
          </a:xfrm>
        </p:spPr>
        <p:txBody>
          <a:bodyPr>
            <a:normAutofit/>
          </a:bodyPr>
          <a:lstStyle/>
          <a:p>
            <a:pPr algn="ctr"/>
            <a:r>
              <a:rPr lang="es-ES" sz="5400" dirty="0" smtClean="0"/>
              <a:t>SEMIOLOGÍA PSIQUIÁTRICA </a:t>
            </a:r>
            <a:endParaRPr lang="es-ES" sz="5400" dirty="0"/>
          </a:p>
        </p:txBody>
      </p:sp>
      <p:sp>
        <p:nvSpPr>
          <p:cNvPr id="3" name="2 Subtítulo"/>
          <p:cNvSpPr>
            <a:spLocks noGrp="1"/>
          </p:cNvSpPr>
          <p:nvPr>
            <p:ph type="subTitle" idx="1"/>
          </p:nvPr>
        </p:nvSpPr>
        <p:spPr>
          <a:xfrm>
            <a:off x="2339752" y="3477847"/>
            <a:ext cx="6480048" cy="1752600"/>
          </a:xfrm>
        </p:spPr>
        <p:txBody>
          <a:bodyPr>
            <a:normAutofit fontScale="85000" lnSpcReduction="20000"/>
          </a:bodyPr>
          <a:lstStyle/>
          <a:p>
            <a:r>
              <a:rPr lang="es-ES" b="1" dirty="0" smtClean="0"/>
              <a:t>Dr. Fabián S. Romeo</a:t>
            </a:r>
          </a:p>
          <a:p>
            <a:r>
              <a:rPr lang="es-ES" dirty="0" smtClean="0"/>
              <a:t>Médico Psiquiatra</a:t>
            </a:r>
          </a:p>
          <a:p>
            <a:r>
              <a:rPr lang="es-ES" dirty="0" smtClean="0"/>
              <a:t>Hospital Regional </a:t>
            </a:r>
            <a:r>
              <a:rPr lang="es-ES" dirty="0" err="1" smtClean="0"/>
              <a:t>Malargüe</a:t>
            </a:r>
            <a:endParaRPr lang="es-ES" dirty="0" smtClean="0"/>
          </a:p>
          <a:p>
            <a:r>
              <a:rPr lang="es-ES" dirty="0" smtClean="0"/>
              <a:t>Hospital Teodoro J. </a:t>
            </a:r>
            <a:r>
              <a:rPr lang="es-ES" dirty="0" err="1" smtClean="0"/>
              <a:t>Schestakow</a:t>
            </a:r>
            <a:r>
              <a:rPr lang="es-ES" dirty="0" smtClean="0"/>
              <a:t> </a:t>
            </a:r>
          </a:p>
          <a:p>
            <a:r>
              <a:rPr lang="es-ES" dirty="0" smtClean="0"/>
              <a:t>  </a:t>
            </a:r>
            <a:endParaRPr lang="es-ES" dirty="0"/>
          </a:p>
        </p:txBody>
      </p:sp>
    </p:spTree>
    <p:extLst>
      <p:ext uri="{BB962C8B-B14F-4D97-AF65-F5344CB8AC3E}">
        <p14:creationId xmlns:p14="http://schemas.microsoft.com/office/powerpoint/2010/main" val="271751339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971600" y="2328201"/>
            <a:ext cx="7467600" cy="4525963"/>
          </a:xfrm>
        </p:spPr>
        <p:txBody>
          <a:bodyPr/>
          <a:lstStyle/>
          <a:p>
            <a:r>
              <a:rPr lang="es-ES" dirty="0" smtClean="0"/>
              <a:t> Facie</a:t>
            </a:r>
          </a:p>
          <a:p>
            <a:pPr marL="109728" indent="0">
              <a:buNone/>
            </a:pPr>
            <a:endParaRPr lang="es-ES" dirty="0" smtClean="0"/>
          </a:p>
          <a:p>
            <a:r>
              <a:rPr lang="es-ES" dirty="0" smtClean="0"/>
              <a:t>Higiene y autocuidado</a:t>
            </a:r>
          </a:p>
          <a:p>
            <a:endParaRPr lang="es-ES" dirty="0" smtClean="0"/>
          </a:p>
          <a:p>
            <a:r>
              <a:rPr lang="es-ES" dirty="0"/>
              <a:t> </a:t>
            </a:r>
            <a:r>
              <a:rPr lang="es-ES" dirty="0" smtClean="0"/>
              <a:t>Presencia, vestimenta, </a:t>
            </a:r>
            <a:r>
              <a:rPr lang="es-ES" dirty="0" err="1" smtClean="0"/>
              <a:t>maquillaje,etc</a:t>
            </a:r>
            <a:r>
              <a:rPr lang="es-ES" dirty="0" smtClean="0"/>
              <a:t>.</a:t>
            </a:r>
          </a:p>
          <a:p>
            <a:pPr marL="36576" indent="0">
              <a:buNone/>
            </a:pPr>
            <a:r>
              <a:rPr lang="es-ES" dirty="0"/>
              <a:t> </a:t>
            </a:r>
            <a:r>
              <a:rPr lang="es-ES" dirty="0" smtClean="0"/>
              <a:t>   </a:t>
            </a:r>
          </a:p>
          <a:p>
            <a:pPr marL="36576" indent="0">
              <a:buNone/>
            </a:pPr>
            <a:endParaRPr lang="es-ES" dirty="0"/>
          </a:p>
        </p:txBody>
      </p:sp>
      <p:sp>
        <p:nvSpPr>
          <p:cNvPr id="2" name="1 Título"/>
          <p:cNvSpPr>
            <a:spLocks noGrp="1"/>
          </p:cNvSpPr>
          <p:nvPr>
            <p:ph type="title"/>
          </p:nvPr>
        </p:nvSpPr>
        <p:spPr>
          <a:xfrm>
            <a:off x="395536" y="620688"/>
            <a:ext cx="8229600" cy="1143000"/>
          </a:xfrm>
        </p:spPr>
        <p:txBody>
          <a:bodyPr/>
          <a:lstStyle/>
          <a:p>
            <a:r>
              <a:rPr lang="es-ES" dirty="0" smtClean="0"/>
              <a:t>Aspecto:</a:t>
            </a:r>
            <a:endParaRPr lang="es-ES" dirty="0"/>
          </a:p>
        </p:txBody>
      </p:sp>
    </p:spTree>
    <p:extLst>
      <p:ext uri="{BB962C8B-B14F-4D97-AF65-F5344CB8AC3E}">
        <p14:creationId xmlns:p14="http://schemas.microsoft.com/office/powerpoint/2010/main" val="386020478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883568" y="6858000"/>
            <a:ext cx="4624536" cy="45719"/>
          </a:xfrm>
        </p:spPr>
        <p:txBody>
          <a:bodyPr>
            <a:normAutofit fontScale="25000" lnSpcReduction="20000"/>
          </a:bodyPr>
          <a:lstStyle/>
          <a:p>
            <a:endParaRPr lang="es-AR" dirty="0"/>
          </a:p>
        </p:txBody>
      </p:sp>
      <p:sp>
        <p:nvSpPr>
          <p:cNvPr id="3" name="Título 2"/>
          <p:cNvSpPr>
            <a:spLocks noGrp="1"/>
          </p:cNvSpPr>
          <p:nvPr>
            <p:ph type="title"/>
          </p:nvPr>
        </p:nvSpPr>
        <p:spPr>
          <a:xfrm>
            <a:off x="457200" y="274638"/>
            <a:ext cx="8003232" cy="4162474"/>
          </a:xfrm>
        </p:spPr>
        <p:txBody>
          <a:bodyPr>
            <a:normAutofit/>
          </a:bodyPr>
          <a:lstStyle/>
          <a:p>
            <a:r>
              <a:rPr lang="es-MX" sz="9600" dirty="0" smtClean="0"/>
              <a:t>ATENCIÓN</a:t>
            </a:r>
            <a:endParaRPr lang="es-AR" sz="9600" dirty="0"/>
          </a:p>
        </p:txBody>
      </p:sp>
    </p:spTree>
    <p:extLst>
      <p:ext uri="{BB962C8B-B14F-4D97-AF65-F5344CB8AC3E}">
        <p14:creationId xmlns:p14="http://schemas.microsoft.com/office/powerpoint/2010/main" val="41399243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67544" y="1628800"/>
            <a:ext cx="8424936" cy="5040560"/>
          </a:xfrm>
          <a:ln>
            <a:solidFill>
              <a:schemeClr val="accent1"/>
            </a:solidFill>
          </a:ln>
        </p:spPr>
        <p:txBody>
          <a:bodyPr>
            <a:normAutofit/>
          </a:bodyPr>
          <a:lstStyle/>
          <a:p>
            <a:r>
              <a:rPr lang="es-ES" dirty="0" smtClean="0"/>
              <a:t>ESPONTÁNEA:</a:t>
            </a:r>
            <a:r>
              <a:rPr lang="es-MX" dirty="0"/>
              <a:t>: es la forma natural y más simple. Depende de todos los estímulos, que procedentes del exterior y del interior, impresionan al sensorio. Por esta razón se la llama también refleja o sensorial.</a:t>
            </a:r>
            <a:endParaRPr lang="es-ES" dirty="0" smtClean="0"/>
          </a:p>
          <a:p>
            <a:r>
              <a:rPr lang="es-ES" dirty="0" smtClean="0"/>
              <a:t>VOLUNTARIA:</a:t>
            </a:r>
            <a:r>
              <a:rPr lang="es-MX" dirty="0"/>
              <a:t>constituye un grado más intenso y más avanzado de la atención, en que la voluntad conduce a la concentración psíquica sobre un objetivo en forma sostenida y por un tiempo más o menos prolongado</a:t>
            </a:r>
            <a:endParaRPr lang="es-ES" dirty="0"/>
          </a:p>
        </p:txBody>
      </p:sp>
      <p:sp>
        <p:nvSpPr>
          <p:cNvPr id="2" name="1 Título"/>
          <p:cNvSpPr>
            <a:spLocks noGrp="1"/>
          </p:cNvSpPr>
          <p:nvPr>
            <p:ph type="title"/>
          </p:nvPr>
        </p:nvSpPr>
        <p:spPr>
          <a:xfrm>
            <a:off x="467544" y="332656"/>
            <a:ext cx="8676456" cy="1296144"/>
          </a:xfrm>
        </p:spPr>
        <p:txBody>
          <a:bodyPr>
            <a:normAutofit fontScale="90000"/>
          </a:bodyPr>
          <a:lstStyle/>
          <a:p>
            <a:r>
              <a:rPr lang="es-ES" dirty="0" smtClean="0"/>
              <a:t>Definición: </a:t>
            </a:r>
            <a:r>
              <a:rPr lang="es-ES" sz="3100" dirty="0" smtClean="0"/>
              <a:t>actitud mental que permite concentrar la actividad psíquica en un objeto</a:t>
            </a:r>
            <a:endParaRPr lang="es-ES" sz="3100" dirty="0"/>
          </a:p>
        </p:txBody>
      </p:sp>
    </p:spTree>
    <p:extLst>
      <p:ext uri="{BB962C8B-B14F-4D97-AF65-F5344CB8AC3E}">
        <p14:creationId xmlns:p14="http://schemas.microsoft.com/office/powerpoint/2010/main" val="163411264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97988" y="692696"/>
            <a:ext cx="8538508" cy="5501208"/>
          </a:xfrm>
        </p:spPr>
        <p:txBody>
          <a:bodyPr>
            <a:normAutofit fontScale="77500" lnSpcReduction="20000"/>
          </a:bodyPr>
          <a:lstStyle/>
          <a:p>
            <a:endParaRPr lang="es-ES" dirty="0" smtClean="0"/>
          </a:p>
          <a:p>
            <a:r>
              <a:rPr lang="es-ES" b="1" dirty="0" smtClean="0"/>
              <a:t>Intensidad o </a:t>
            </a:r>
            <a:r>
              <a:rPr lang="es-ES" b="1" dirty="0"/>
              <a:t>agudeza</a:t>
            </a:r>
            <a:r>
              <a:rPr lang="es-ES" dirty="0"/>
              <a:t>: caudal de energía psíquica que se aplica a un objetivo. Se halla supeditada a diferentes circunstancias: estimulantes, fatiga, etc.</a:t>
            </a:r>
          </a:p>
          <a:p>
            <a:pPr marL="36576" indent="0">
              <a:buNone/>
            </a:pPr>
            <a:endParaRPr lang="es-ES" dirty="0" smtClean="0"/>
          </a:p>
          <a:p>
            <a:r>
              <a:rPr lang="es-ES" b="1" dirty="0" smtClean="0"/>
              <a:t>Fatigabilidad</a:t>
            </a:r>
            <a:r>
              <a:rPr lang="es-ES" dirty="0" smtClean="0"/>
              <a:t>:</a:t>
            </a:r>
            <a:r>
              <a:rPr lang="es-MX" dirty="0"/>
              <a:t>depende del vigor psíquico que cada persona posea, asimismo en una persona el grado de cansancio depende de muchos factores:  descanso físico, persistencia del estímulo, etc.</a:t>
            </a:r>
            <a:endParaRPr lang="es-ES" dirty="0" smtClean="0"/>
          </a:p>
          <a:p>
            <a:endParaRPr lang="es-ES" dirty="0" smtClean="0"/>
          </a:p>
          <a:p>
            <a:r>
              <a:rPr lang="es-ES" b="1" dirty="0" smtClean="0"/>
              <a:t>Concentración</a:t>
            </a:r>
            <a:r>
              <a:rPr lang="es-ES" dirty="0" smtClean="0"/>
              <a:t>:</a:t>
            </a:r>
            <a:r>
              <a:rPr lang="es-MX" dirty="0"/>
              <a:t>energía y dedicación que la psique dispensa a un objetivo, provocando su disminución sobre cualquier otro.</a:t>
            </a:r>
            <a:endParaRPr lang="es-ES" dirty="0" smtClean="0"/>
          </a:p>
          <a:p>
            <a:endParaRPr lang="es-ES" dirty="0"/>
          </a:p>
          <a:p>
            <a:r>
              <a:rPr lang="es-ES" b="1" dirty="0" smtClean="0"/>
              <a:t>Desviación</a:t>
            </a:r>
            <a:r>
              <a:rPr lang="es-ES" dirty="0" smtClean="0"/>
              <a:t>:</a:t>
            </a:r>
            <a:r>
              <a:rPr lang="es-MX" dirty="0"/>
              <a:t>atraída por un estímulo de mayor interés, se aleja de aquel por el que fue primitivamente requerido.</a:t>
            </a:r>
            <a:endParaRPr lang="es-ES" dirty="0" smtClean="0"/>
          </a:p>
          <a:p>
            <a:endParaRPr lang="es-ES" dirty="0"/>
          </a:p>
          <a:p>
            <a:r>
              <a:rPr lang="es-ES" b="1" dirty="0" smtClean="0"/>
              <a:t>Distracción</a:t>
            </a:r>
            <a:r>
              <a:rPr lang="es-ES" dirty="0" smtClean="0"/>
              <a:t>: </a:t>
            </a:r>
            <a:r>
              <a:rPr lang="es-MX" dirty="0"/>
              <a:t>la atención llega a un grado total de dispersión, la conciencia permanece inactiva y las ideas sin ordenación.</a:t>
            </a:r>
            <a:endParaRPr lang="es-ES" dirty="0" smtClean="0"/>
          </a:p>
          <a:p>
            <a:endParaRPr lang="es-ES" sz="1800" dirty="0"/>
          </a:p>
          <a:p>
            <a:pPr marL="109728" indent="0">
              <a:buNone/>
            </a:pPr>
            <a:endParaRPr lang="es-ES" dirty="0" smtClean="0"/>
          </a:p>
          <a:p>
            <a:pPr marL="749808" lvl="2" indent="0">
              <a:buNone/>
            </a:pPr>
            <a:endParaRPr lang="es-ES" dirty="0"/>
          </a:p>
          <a:p>
            <a:pPr marL="749808" lvl="2" indent="0">
              <a:buNone/>
            </a:pPr>
            <a:endParaRPr lang="es-ES" dirty="0"/>
          </a:p>
        </p:txBody>
      </p:sp>
      <p:sp>
        <p:nvSpPr>
          <p:cNvPr id="2" name="1 Título"/>
          <p:cNvSpPr>
            <a:spLocks noGrp="1"/>
          </p:cNvSpPr>
          <p:nvPr>
            <p:ph type="title"/>
          </p:nvPr>
        </p:nvSpPr>
        <p:spPr>
          <a:xfrm>
            <a:off x="457200" y="274638"/>
            <a:ext cx="7859216" cy="634082"/>
          </a:xfrm>
        </p:spPr>
        <p:txBody>
          <a:bodyPr>
            <a:normAutofit/>
          </a:bodyPr>
          <a:lstStyle/>
          <a:p>
            <a:r>
              <a:rPr lang="es-ES" sz="3200" dirty="0" smtClean="0"/>
              <a:t>Otros conceptos:</a:t>
            </a:r>
            <a:endParaRPr lang="es-ES" sz="3200" dirty="0"/>
          </a:p>
        </p:txBody>
      </p:sp>
    </p:spTree>
    <p:extLst>
      <p:ext uri="{BB962C8B-B14F-4D97-AF65-F5344CB8AC3E}">
        <p14:creationId xmlns:p14="http://schemas.microsoft.com/office/powerpoint/2010/main" val="46240794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0" y="692696"/>
            <a:ext cx="9036496" cy="5976664"/>
          </a:xfrm>
        </p:spPr>
        <p:txBody>
          <a:bodyPr>
            <a:normAutofit fontScale="47500" lnSpcReduction="20000"/>
          </a:bodyPr>
          <a:lstStyle/>
          <a:p>
            <a:pPr marL="36576" indent="0">
              <a:buNone/>
            </a:pPr>
            <a:r>
              <a:rPr lang="es-ES" sz="4800" dirty="0" smtClean="0"/>
              <a:t>	</a:t>
            </a:r>
            <a:r>
              <a:rPr lang="es-ES" sz="2800" dirty="0"/>
              <a:t>	</a:t>
            </a:r>
            <a:endParaRPr lang="es-ES" sz="2800" dirty="0" smtClean="0"/>
          </a:p>
          <a:p>
            <a:pPr marL="36576" indent="0">
              <a:buNone/>
            </a:pPr>
            <a:r>
              <a:rPr lang="es-MX" sz="4800" b="1" dirty="0"/>
              <a:t>APROSEXIA</a:t>
            </a:r>
            <a:r>
              <a:rPr lang="es-MX" sz="4800" dirty="0"/>
              <a:t>: falta absoluta de atención. Se puede encontrar en estados de coma, estados estuporosos profundos y demencias muy avanzadas</a:t>
            </a:r>
          </a:p>
          <a:p>
            <a:pPr marL="36576" indent="0">
              <a:buNone/>
            </a:pPr>
            <a:endParaRPr lang="es-MX" sz="4800" b="1" dirty="0" smtClean="0"/>
          </a:p>
          <a:p>
            <a:pPr marL="36576" indent="0">
              <a:buNone/>
            </a:pPr>
            <a:r>
              <a:rPr lang="es-MX" sz="4800" b="1" dirty="0" smtClean="0"/>
              <a:t>HIPOPROSEXIA</a:t>
            </a:r>
            <a:r>
              <a:rPr lang="es-MX" sz="4800" dirty="0"/>
              <a:t>: disminución de la capacidad de atención. Se encuentra en los oligofrénicos, dementes y confusos.</a:t>
            </a:r>
          </a:p>
          <a:p>
            <a:pPr marL="36576" indent="0">
              <a:buNone/>
            </a:pPr>
            <a:endParaRPr lang="es-MX" sz="4800" dirty="0" smtClean="0"/>
          </a:p>
          <a:p>
            <a:pPr marL="36576" indent="0">
              <a:buNone/>
            </a:pPr>
            <a:r>
              <a:rPr lang="es-MX" sz="4800" b="1" dirty="0" smtClean="0"/>
              <a:t>HIPERPROSEXIA</a:t>
            </a:r>
            <a:r>
              <a:rPr lang="es-MX" sz="4800" dirty="0"/>
              <a:t>: hiperactividad de la atención. Puede no ser patológico en personas con adiestramiento especial, como los que desarrollan actividades intelectuales. En estados patológicos es frecuente en algunos delirantes que tiene  cuidado por atender y descubrir cuanto detalle pueda ser útil para  como testimonio de sus concepciones.</a:t>
            </a:r>
          </a:p>
          <a:p>
            <a:pPr marL="36576" indent="0">
              <a:buNone/>
            </a:pPr>
            <a:endParaRPr lang="es-MX" sz="4800" dirty="0" smtClean="0"/>
          </a:p>
          <a:p>
            <a:pPr marL="36576" indent="0">
              <a:buNone/>
            </a:pPr>
            <a:r>
              <a:rPr lang="es-MX" sz="4800" b="1" dirty="0" smtClean="0"/>
              <a:t>PARAPROSEXIA</a:t>
            </a:r>
            <a:r>
              <a:rPr lang="es-MX" sz="4800" dirty="0"/>
              <a:t>: aumento de la atención en su forma espontánea, a expensas de la disminución de la forma voluntaria. Es característica de los estados de excitación psicomotriz, especialmente de la manía.</a:t>
            </a:r>
          </a:p>
          <a:p>
            <a:pPr marL="36576" indent="0">
              <a:buNone/>
            </a:pPr>
            <a:endParaRPr lang="es-ES" sz="4800" dirty="0" smtClean="0"/>
          </a:p>
          <a:p>
            <a:pPr marL="36576" indent="0">
              <a:buNone/>
            </a:pPr>
            <a:endParaRPr lang="es-ES" dirty="0"/>
          </a:p>
        </p:txBody>
      </p:sp>
      <p:sp>
        <p:nvSpPr>
          <p:cNvPr id="2" name="1 Título"/>
          <p:cNvSpPr>
            <a:spLocks noGrp="1"/>
          </p:cNvSpPr>
          <p:nvPr>
            <p:ph type="title"/>
          </p:nvPr>
        </p:nvSpPr>
        <p:spPr>
          <a:xfrm>
            <a:off x="539552" y="24943"/>
            <a:ext cx="7776864" cy="792088"/>
          </a:xfrm>
        </p:spPr>
        <p:txBody>
          <a:bodyPr>
            <a:normAutofit/>
          </a:bodyPr>
          <a:lstStyle/>
          <a:p>
            <a:pPr algn="ctr"/>
            <a:r>
              <a:rPr lang="es-ES" dirty="0" smtClean="0"/>
              <a:t>Psicopatología de la atención </a:t>
            </a:r>
            <a:endParaRPr lang="es-ES" dirty="0"/>
          </a:p>
        </p:txBody>
      </p:sp>
    </p:spTree>
    <p:extLst>
      <p:ext uri="{BB962C8B-B14F-4D97-AF65-F5344CB8AC3E}">
        <p14:creationId xmlns:p14="http://schemas.microsoft.com/office/powerpoint/2010/main" val="172559319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flipV="1">
            <a:off x="457200" y="6007291"/>
            <a:ext cx="6131024" cy="45719"/>
          </a:xfrm>
        </p:spPr>
        <p:txBody>
          <a:bodyPr>
            <a:normAutofit fontScale="25000" lnSpcReduction="20000"/>
          </a:bodyPr>
          <a:lstStyle/>
          <a:p>
            <a:pPr marL="36576" indent="0">
              <a:buNone/>
            </a:pPr>
            <a:endParaRPr lang="es-ES" dirty="0" smtClean="0"/>
          </a:p>
          <a:p>
            <a:pPr marL="550926" indent="-514350">
              <a:buFont typeface="+mj-lt"/>
              <a:buAutoNum type="arabicPeriod"/>
            </a:pPr>
            <a:endParaRPr lang="es-ES" dirty="0"/>
          </a:p>
        </p:txBody>
      </p:sp>
      <p:sp>
        <p:nvSpPr>
          <p:cNvPr id="2" name="1 Título"/>
          <p:cNvSpPr>
            <a:spLocks noGrp="1"/>
          </p:cNvSpPr>
          <p:nvPr>
            <p:ph type="title"/>
          </p:nvPr>
        </p:nvSpPr>
        <p:spPr>
          <a:xfrm>
            <a:off x="-10522" y="-747464"/>
            <a:ext cx="8820472" cy="5648346"/>
          </a:xfrm>
        </p:spPr>
        <p:txBody>
          <a:bodyPr>
            <a:normAutofit/>
          </a:bodyPr>
          <a:lstStyle/>
          <a:p>
            <a:r>
              <a:rPr lang="es-ES" sz="9600" dirty="0" smtClean="0"/>
              <a:t>CONCIENCIA</a:t>
            </a:r>
            <a:endParaRPr lang="es-ES" sz="9600" dirty="0"/>
          </a:p>
        </p:txBody>
      </p:sp>
    </p:spTree>
    <p:extLst>
      <p:ext uri="{BB962C8B-B14F-4D97-AF65-F5344CB8AC3E}">
        <p14:creationId xmlns:p14="http://schemas.microsoft.com/office/powerpoint/2010/main" val="55390856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179512" y="1988840"/>
            <a:ext cx="8856984" cy="4869160"/>
          </a:xfrm>
        </p:spPr>
        <p:txBody>
          <a:bodyPr>
            <a:normAutofit/>
          </a:bodyPr>
          <a:lstStyle/>
          <a:p>
            <a:pPr marL="109728" indent="0">
              <a:buNone/>
            </a:pPr>
            <a:endParaRPr lang="es-ES" dirty="0"/>
          </a:p>
          <a:p>
            <a:pPr lvl="2"/>
            <a:endParaRPr lang="es-ES" dirty="0"/>
          </a:p>
          <a:p>
            <a:pPr lvl="2"/>
            <a:endParaRPr lang="es-ES" dirty="0" smtClean="0"/>
          </a:p>
          <a:p>
            <a:pPr lvl="2"/>
            <a:endParaRPr lang="es-ES" dirty="0"/>
          </a:p>
        </p:txBody>
      </p:sp>
      <p:sp>
        <p:nvSpPr>
          <p:cNvPr id="2" name="1 Título"/>
          <p:cNvSpPr>
            <a:spLocks noGrp="1"/>
          </p:cNvSpPr>
          <p:nvPr>
            <p:ph type="title"/>
          </p:nvPr>
        </p:nvSpPr>
        <p:spPr>
          <a:xfrm>
            <a:off x="-4339" y="1988840"/>
            <a:ext cx="9148339" cy="1988840"/>
          </a:xfrm>
        </p:spPr>
        <p:txBody>
          <a:bodyPr>
            <a:normAutofit fontScale="90000"/>
          </a:bodyPr>
          <a:lstStyle/>
          <a:p>
            <a:r>
              <a:rPr lang="es-ES" sz="2800" dirty="0" smtClean="0"/>
              <a:t/>
            </a:r>
            <a:br>
              <a:rPr lang="es-ES" sz="2800" dirty="0" smtClean="0"/>
            </a:br>
            <a:r>
              <a:rPr lang="es-ES" sz="2800" dirty="0"/>
              <a:t/>
            </a:r>
            <a:br>
              <a:rPr lang="es-ES" sz="2800" dirty="0"/>
            </a:br>
            <a:r>
              <a:rPr lang="es-ES" sz="2800" dirty="0" smtClean="0"/>
              <a:t/>
            </a:r>
            <a:br>
              <a:rPr lang="es-ES" sz="2800" dirty="0" smtClean="0"/>
            </a:br>
            <a:r>
              <a:rPr lang="es-ES" sz="2800" b="0" u="sng" dirty="0" smtClean="0"/>
              <a:t>Definición</a:t>
            </a:r>
            <a:r>
              <a:rPr lang="es-ES" sz="2800" dirty="0" smtClean="0"/>
              <a:t>:</a:t>
            </a:r>
            <a:r>
              <a:rPr lang="es-MX" sz="2800" dirty="0" smtClean="0"/>
              <a:t>consideramos </a:t>
            </a:r>
            <a:r>
              <a:rPr lang="es-MX" sz="2800" dirty="0"/>
              <a:t>a la conciencia como la resultante del funcionamiento armónico de la totalidad de la psique. Constituye  una continuidad ininterrumpida de registros sobre mundo externo, mundo interno y el mundo psíquico, permitiéndole al hombre una perfecta noción del yo y de su orientación </a:t>
            </a:r>
            <a:r>
              <a:rPr lang="es-MX" sz="2800" dirty="0" err="1"/>
              <a:t>temporo</a:t>
            </a:r>
            <a:r>
              <a:rPr lang="es-MX" sz="2800" dirty="0"/>
              <a:t>-espacial</a:t>
            </a:r>
            <a:r>
              <a:rPr lang="es-ES" sz="2800" dirty="0" smtClean="0"/>
              <a:t/>
            </a:r>
            <a:br>
              <a:rPr lang="es-ES" sz="2800" dirty="0" smtClean="0"/>
            </a:br>
            <a:r>
              <a:rPr lang="es-ES" sz="2800" dirty="0" smtClean="0"/>
              <a:t>Alteración de la conciencia: (ALEC)</a:t>
            </a:r>
            <a:br>
              <a:rPr lang="es-ES" sz="2800" dirty="0" smtClean="0"/>
            </a:br>
            <a:r>
              <a:rPr lang="es-ES" sz="2800" dirty="0" smtClean="0"/>
              <a:t/>
            </a:r>
            <a:br>
              <a:rPr lang="es-ES" sz="2800" dirty="0" smtClean="0"/>
            </a:br>
            <a:r>
              <a:rPr lang="es-ES" sz="2800" dirty="0" smtClean="0"/>
              <a:t>-Alerta o </a:t>
            </a:r>
            <a:r>
              <a:rPr lang="es-ES" sz="2800" dirty="0" err="1" smtClean="0"/>
              <a:t>vigil</a:t>
            </a:r>
            <a:r>
              <a:rPr lang="es-ES" sz="2800" dirty="0" smtClean="0"/>
              <a:t/>
            </a:r>
            <a:br>
              <a:rPr lang="es-ES" sz="2800" dirty="0" smtClean="0"/>
            </a:br>
            <a:r>
              <a:rPr lang="es-ES" sz="2800" dirty="0" smtClean="0"/>
              <a:t/>
            </a:r>
            <a:br>
              <a:rPr lang="es-ES" sz="2800" dirty="0" smtClean="0"/>
            </a:br>
            <a:r>
              <a:rPr lang="es-ES" sz="2800" dirty="0" smtClean="0"/>
              <a:t>-Letárgico o somnoliento</a:t>
            </a:r>
            <a:br>
              <a:rPr lang="es-ES" sz="2800" dirty="0" smtClean="0"/>
            </a:br>
            <a:r>
              <a:rPr lang="es-ES" sz="2800" dirty="0" smtClean="0"/>
              <a:t/>
            </a:r>
            <a:br>
              <a:rPr lang="es-ES" sz="2800" dirty="0" smtClean="0"/>
            </a:br>
            <a:r>
              <a:rPr lang="es-ES" sz="2800" dirty="0" smtClean="0"/>
              <a:t>-Estuporoso</a:t>
            </a:r>
            <a:br>
              <a:rPr lang="es-ES" sz="2800" dirty="0" smtClean="0"/>
            </a:br>
            <a:r>
              <a:rPr lang="es-ES" sz="2800" dirty="0" smtClean="0"/>
              <a:t/>
            </a:r>
            <a:br>
              <a:rPr lang="es-ES" sz="2800" dirty="0" smtClean="0"/>
            </a:br>
            <a:r>
              <a:rPr lang="es-ES" sz="2800" dirty="0" smtClean="0"/>
              <a:t>-Comatoso</a:t>
            </a:r>
            <a:br>
              <a:rPr lang="es-ES" sz="2800" dirty="0" smtClean="0"/>
            </a:br>
            <a:r>
              <a:rPr lang="es-ES" sz="2800" dirty="0"/>
              <a:t/>
            </a:r>
            <a:br>
              <a:rPr lang="es-ES" sz="2800" dirty="0"/>
            </a:br>
            <a:endParaRPr lang="es-ES" sz="2800" dirty="0"/>
          </a:p>
        </p:txBody>
      </p:sp>
    </p:spTree>
    <p:extLst>
      <p:ext uri="{BB962C8B-B14F-4D97-AF65-F5344CB8AC3E}">
        <p14:creationId xmlns:p14="http://schemas.microsoft.com/office/powerpoint/2010/main" val="339363682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0" y="764704"/>
            <a:ext cx="8820472" cy="5904656"/>
          </a:xfrm>
        </p:spPr>
        <p:txBody>
          <a:bodyPr>
            <a:normAutofit fontScale="85000" lnSpcReduction="20000"/>
          </a:bodyPr>
          <a:lstStyle/>
          <a:p>
            <a:pPr marL="109728" indent="0">
              <a:buNone/>
            </a:pPr>
            <a:r>
              <a:rPr lang="es-ES" dirty="0" smtClean="0"/>
              <a:t>-</a:t>
            </a:r>
            <a:r>
              <a:rPr lang="es-ES" b="1" dirty="0" smtClean="0"/>
              <a:t>Estrechamiento de la conciencia:</a:t>
            </a:r>
            <a:r>
              <a:rPr lang="es-MX" dirty="0"/>
              <a:t>retracción del campo de la conciencia. Las manifestaciones psíquicas quedan inactivas y la conciencia del mundo exterior muy reducida, conservando algunas actividades de orden motor. La memoria no fija nada.</a:t>
            </a:r>
            <a:endParaRPr lang="es-ES" dirty="0" smtClean="0"/>
          </a:p>
          <a:p>
            <a:pPr marL="109728" indent="0">
              <a:buNone/>
            </a:pPr>
            <a:r>
              <a:rPr lang="es-ES" dirty="0"/>
              <a:t>-</a:t>
            </a:r>
            <a:r>
              <a:rPr lang="es-ES" b="1" dirty="0" smtClean="0"/>
              <a:t>Estados crepusculares:</a:t>
            </a:r>
            <a:r>
              <a:rPr lang="es-MX" dirty="0"/>
              <a:t>la </a:t>
            </a:r>
            <a:r>
              <a:rPr lang="es-MX" dirty="0" err="1"/>
              <a:t>sensopercepcion</a:t>
            </a:r>
            <a:r>
              <a:rPr lang="es-MX" dirty="0"/>
              <a:t> entorpecida en forma incompleta permite al enfermo percibir y comprender situaciones simples. La complejidad lleva a la incoherencia e incomprensión. Se observa en la epilepsia y en la confusión mental.</a:t>
            </a:r>
            <a:endParaRPr lang="es-ES" dirty="0" smtClean="0"/>
          </a:p>
          <a:p>
            <a:pPr marL="109728" indent="0">
              <a:buNone/>
            </a:pPr>
            <a:r>
              <a:rPr lang="es-ES" dirty="0" smtClean="0"/>
              <a:t>-</a:t>
            </a:r>
            <a:r>
              <a:rPr lang="es-ES" b="1" dirty="0" err="1" smtClean="0"/>
              <a:t>Amencia</a:t>
            </a:r>
            <a:r>
              <a:rPr lang="es-ES" b="1" dirty="0" smtClean="0"/>
              <a:t>:</a:t>
            </a:r>
            <a:r>
              <a:rPr lang="es-MX" dirty="0"/>
              <a:t>pese a que la conciencia esta obnubilada  el enfermo realiza esfuerzos para percibir y comprender lo que ocurre alrededor suyo, cosa que le resulta harto difícil dada la interpretación de alucinaciones oníricas. Como consecuencia se desorienta, se sume en la intranquilidad y la angustia.</a:t>
            </a:r>
            <a:endParaRPr lang="es-ES" dirty="0" smtClean="0"/>
          </a:p>
          <a:p>
            <a:pPr marL="109728" indent="0">
              <a:buNone/>
            </a:pPr>
            <a:r>
              <a:rPr lang="es-ES" dirty="0" smtClean="0"/>
              <a:t>-</a:t>
            </a:r>
            <a:r>
              <a:rPr lang="es-ES" b="1" dirty="0" smtClean="0"/>
              <a:t>Sonambulismo:</a:t>
            </a:r>
            <a:r>
              <a:rPr lang="es-MX" dirty="0" smtClean="0"/>
              <a:t>estado </a:t>
            </a:r>
            <a:r>
              <a:rPr lang="es-MX" dirty="0"/>
              <a:t>de conciencia muy reducida, el sujeto mantiene una percepción parcial del mundo exterior que permite, por ejemplo, evitar personas y objetos que se interpongan en su camino.</a:t>
            </a:r>
            <a:endParaRPr lang="es-ES" dirty="0"/>
          </a:p>
        </p:txBody>
      </p:sp>
      <p:sp>
        <p:nvSpPr>
          <p:cNvPr id="4" name="Título 3"/>
          <p:cNvSpPr>
            <a:spLocks noGrp="1"/>
          </p:cNvSpPr>
          <p:nvPr>
            <p:ph type="title"/>
          </p:nvPr>
        </p:nvSpPr>
        <p:spPr>
          <a:xfrm>
            <a:off x="457200" y="274638"/>
            <a:ext cx="7571184" cy="1066130"/>
          </a:xfrm>
        </p:spPr>
        <p:txBody>
          <a:bodyPr>
            <a:normAutofit fontScale="90000"/>
          </a:bodyPr>
          <a:lstStyle/>
          <a:p>
            <a:r>
              <a:rPr lang="es-MX" dirty="0" smtClean="0"/>
              <a:t>Otros conceptos:</a:t>
            </a:r>
            <a:br>
              <a:rPr lang="es-MX" dirty="0" smtClean="0"/>
            </a:br>
            <a:endParaRPr lang="es-AR" dirty="0"/>
          </a:p>
        </p:txBody>
      </p:sp>
    </p:spTree>
    <p:extLst>
      <p:ext uri="{BB962C8B-B14F-4D97-AF65-F5344CB8AC3E}">
        <p14:creationId xmlns:p14="http://schemas.microsoft.com/office/powerpoint/2010/main" val="98224666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flipV="1">
            <a:off x="467544" y="5085184"/>
            <a:ext cx="8357800" cy="45719"/>
          </a:xfrm>
        </p:spPr>
        <p:txBody>
          <a:bodyPr>
            <a:normAutofit fontScale="25000" lnSpcReduction="20000"/>
          </a:bodyPr>
          <a:lstStyle/>
          <a:p>
            <a:pPr marL="109728" indent="0" algn="ctr">
              <a:lnSpc>
                <a:spcPct val="150000"/>
              </a:lnSpc>
              <a:buNone/>
            </a:pPr>
            <a:endParaRPr lang="es-ES" sz="2400" dirty="0" smtClean="0"/>
          </a:p>
        </p:txBody>
      </p:sp>
      <p:sp>
        <p:nvSpPr>
          <p:cNvPr id="3" name="2 Título"/>
          <p:cNvSpPr>
            <a:spLocks noGrp="1"/>
          </p:cNvSpPr>
          <p:nvPr>
            <p:ph type="title"/>
          </p:nvPr>
        </p:nvSpPr>
        <p:spPr>
          <a:xfrm>
            <a:off x="467544" y="399487"/>
            <a:ext cx="8424936" cy="5549793"/>
          </a:xfrm>
        </p:spPr>
        <p:txBody>
          <a:bodyPr>
            <a:normAutofit/>
          </a:bodyPr>
          <a:lstStyle/>
          <a:p>
            <a:r>
              <a:rPr lang="es-ES" sz="8800" dirty="0" smtClean="0"/>
              <a:t>ORIENTACIÓ</a:t>
            </a:r>
            <a:r>
              <a:rPr lang="es-ES" sz="9600" dirty="0" smtClean="0"/>
              <a:t>N</a:t>
            </a:r>
            <a:r>
              <a:rPr lang="es-ES" dirty="0"/>
              <a:t/>
            </a:r>
            <a:br>
              <a:rPr lang="es-ES" dirty="0"/>
            </a:br>
            <a:endParaRPr lang="es-ES" dirty="0"/>
          </a:p>
        </p:txBody>
      </p:sp>
    </p:spTree>
    <p:extLst>
      <p:ext uri="{BB962C8B-B14F-4D97-AF65-F5344CB8AC3E}">
        <p14:creationId xmlns:p14="http://schemas.microsoft.com/office/powerpoint/2010/main" val="383385440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323528" y="260648"/>
            <a:ext cx="8640960" cy="6597352"/>
          </a:xfrm>
        </p:spPr>
        <p:txBody>
          <a:bodyPr>
            <a:normAutofit fontScale="70000" lnSpcReduction="20000"/>
          </a:bodyPr>
          <a:lstStyle/>
          <a:p>
            <a:pPr marL="109728" indent="0">
              <a:lnSpc>
                <a:spcPct val="150000"/>
              </a:lnSpc>
              <a:buNone/>
            </a:pPr>
            <a:r>
              <a:rPr lang="es-MX" dirty="0" smtClean="0"/>
              <a:t>	La </a:t>
            </a:r>
            <a:r>
              <a:rPr lang="es-MX" dirty="0"/>
              <a:t>orientación es el resultado de una compleja contribución de las actividades psíquicas, especialmente la </a:t>
            </a:r>
            <a:r>
              <a:rPr lang="es-MX" dirty="0" err="1"/>
              <a:t>sensopercepcion</a:t>
            </a:r>
            <a:r>
              <a:rPr lang="es-MX" dirty="0"/>
              <a:t>, de la memoria, de la </a:t>
            </a:r>
            <a:r>
              <a:rPr lang="es-MX" dirty="0" err="1"/>
              <a:t>asociacion</a:t>
            </a:r>
            <a:r>
              <a:rPr lang="es-MX" dirty="0"/>
              <a:t> de las ideas y del juicio, que inciden sobre una conciencia dotada de perfecta nitidez. La orientación depende directamente de la lucidez de la conciencia, que permite la ubicación en cada uno de los instantes de la vida.</a:t>
            </a:r>
          </a:p>
          <a:p>
            <a:pPr marL="109728" indent="0">
              <a:lnSpc>
                <a:spcPct val="150000"/>
              </a:lnSpc>
              <a:buNone/>
            </a:pPr>
            <a:r>
              <a:rPr lang="es-MX" b="1" dirty="0" smtClean="0"/>
              <a:t>Tipos </a:t>
            </a:r>
            <a:r>
              <a:rPr lang="es-MX" b="1" dirty="0"/>
              <a:t>de orientación:</a:t>
            </a:r>
          </a:p>
          <a:p>
            <a:pPr marL="109728" indent="0">
              <a:lnSpc>
                <a:spcPct val="150000"/>
              </a:lnSpc>
              <a:buNone/>
            </a:pPr>
            <a:r>
              <a:rPr lang="es-MX" b="1" dirty="0" err="1"/>
              <a:t>Autopsiquica</a:t>
            </a:r>
            <a:r>
              <a:rPr lang="es-MX" dirty="0"/>
              <a:t>: concierne al conocimiento de la propia personalidad y de su evolución a través del tiempo.</a:t>
            </a:r>
          </a:p>
          <a:p>
            <a:pPr marL="109728" indent="0">
              <a:lnSpc>
                <a:spcPct val="150000"/>
              </a:lnSpc>
              <a:buNone/>
            </a:pPr>
            <a:r>
              <a:rPr lang="es-MX" b="1" dirty="0" err="1"/>
              <a:t>Alopsiquica</a:t>
            </a:r>
            <a:r>
              <a:rPr lang="es-MX" dirty="0"/>
              <a:t>:  referente a la ubicación </a:t>
            </a:r>
            <a:r>
              <a:rPr lang="es-MX" dirty="0" err="1"/>
              <a:t>temporo</a:t>
            </a:r>
            <a:r>
              <a:rPr lang="es-MX" dirty="0"/>
              <a:t>-espacial.</a:t>
            </a:r>
          </a:p>
          <a:p>
            <a:pPr marL="109728" indent="0">
              <a:lnSpc>
                <a:spcPct val="150000"/>
              </a:lnSpc>
              <a:buNone/>
            </a:pPr>
            <a:r>
              <a:rPr lang="es-MX" dirty="0"/>
              <a:t>Orientación en el tiempo: mediante la medición convencional por periodos o lapsos establecidos y por los diferentes estados de conciencia, que permiten la noción del presente, el pasado y el futuro.</a:t>
            </a:r>
          </a:p>
          <a:p>
            <a:pPr marL="109728" indent="0">
              <a:lnSpc>
                <a:spcPct val="150000"/>
              </a:lnSpc>
              <a:buNone/>
            </a:pPr>
            <a:r>
              <a:rPr lang="es-MX" dirty="0"/>
              <a:t>Orientación en el espacio: es la noción de las magnitudes y del ámbito o espacio en el que el hombre actúa y se desenvuelve en la vida.</a:t>
            </a:r>
          </a:p>
          <a:p>
            <a:pPr marL="109728" indent="0">
              <a:lnSpc>
                <a:spcPct val="150000"/>
              </a:lnSpc>
              <a:buNone/>
            </a:pPr>
            <a:endParaRPr lang="es-ES" dirty="0"/>
          </a:p>
        </p:txBody>
      </p:sp>
    </p:spTree>
    <p:extLst>
      <p:ext uri="{BB962C8B-B14F-4D97-AF65-F5344CB8AC3E}">
        <p14:creationId xmlns:p14="http://schemas.microsoft.com/office/powerpoint/2010/main" val="15058865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107504" y="0"/>
            <a:ext cx="8928992" cy="6858000"/>
          </a:xfrm>
        </p:spPr>
        <p:txBody>
          <a:bodyPr>
            <a:normAutofit/>
          </a:bodyPr>
          <a:lstStyle/>
          <a:p>
            <a:pPr marL="109728" indent="0">
              <a:lnSpc>
                <a:spcPct val="150000"/>
              </a:lnSpc>
              <a:buNone/>
            </a:pPr>
            <a:endParaRPr lang="es-ES" sz="2400" dirty="0"/>
          </a:p>
          <a:p>
            <a:endParaRPr lang="es-ES" dirty="0"/>
          </a:p>
        </p:txBody>
      </p:sp>
      <p:sp>
        <p:nvSpPr>
          <p:cNvPr id="3" name="Rectángulo 2"/>
          <p:cNvSpPr/>
          <p:nvPr/>
        </p:nvSpPr>
        <p:spPr>
          <a:xfrm>
            <a:off x="0" y="7284"/>
            <a:ext cx="9036496" cy="6740307"/>
          </a:xfrm>
          <a:prstGeom prst="rect">
            <a:avLst/>
          </a:prstGeom>
        </p:spPr>
        <p:txBody>
          <a:bodyPr wrap="square">
            <a:spAutoFit/>
          </a:bodyPr>
          <a:lstStyle/>
          <a:p>
            <a:r>
              <a:rPr lang="es-MX" b="1" u="sng" dirty="0"/>
              <a:t>PSICOPATOLOGIA DE LA ORIENTACION</a:t>
            </a:r>
          </a:p>
          <a:p>
            <a:endParaRPr lang="es-MX" dirty="0" smtClean="0"/>
          </a:p>
          <a:p>
            <a:r>
              <a:rPr lang="es-MX" dirty="0" smtClean="0"/>
              <a:t>	</a:t>
            </a:r>
            <a:r>
              <a:rPr lang="es-MX" b="1" dirty="0" smtClean="0"/>
              <a:t>Oligofrenia</a:t>
            </a:r>
            <a:r>
              <a:rPr lang="es-MX" dirty="0"/>
              <a:t>: depende del grado de insuficiencia. En general se orientan mal auto y </a:t>
            </a:r>
            <a:r>
              <a:rPr lang="es-MX" dirty="0" err="1"/>
              <a:t>alopsiquicamente</a:t>
            </a:r>
            <a:r>
              <a:rPr lang="es-MX" dirty="0"/>
              <a:t>, no llegan a tener lucidez de conciencia debido a su escaso alcance intelectual, a su dificultad de comprensión y a la insuficiencia de juicios.</a:t>
            </a:r>
          </a:p>
          <a:p>
            <a:r>
              <a:rPr lang="es-MX" dirty="0" smtClean="0"/>
              <a:t>	</a:t>
            </a:r>
            <a:r>
              <a:rPr lang="es-MX" b="1" dirty="0" smtClean="0"/>
              <a:t>Síndrome </a:t>
            </a:r>
            <a:r>
              <a:rPr lang="es-MX" b="1" dirty="0"/>
              <a:t>demencial</a:t>
            </a:r>
            <a:r>
              <a:rPr lang="es-MX" dirty="0"/>
              <a:t>: depende del grado de debilitación psíquica. La amnesia es la causa principal, primero hay desorientación en el tiempo, luego en el espacio y finalmente la </a:t>
            </a:r>
            <a:r>
              <a:rPr lang="es-MX" dirty="0" err="1"/>
              <a:t>autopsiquica</a:t>
            </a:r>
            <a:endParaRPr lang="es-MX" dirty="0"/>
          </a:p>
          <a:p>
            <a:r>
              <a:rPr lang="es-MX" dirty="0" smtClean="0"/>
              <a:t>	</a:t>
            </a:r>
            <a:r>
              <a:rPr lang="es-MX" b="1" dirty="0" smtClean="0"/>
              <a:t>Síndrome </a:t>
            </a:r>
            <a:r>
              <a:rPr lang="es-MX" b="1" dirty="0" err="1"/>
              <a:t>confusional</a:t>
            </a:r>
            <a:r>
              <a:rPr lang="es-MX" dirty="0"/>
              <a:t>:  la intensidad de la obnubilación de la conciencia determina la desorientación en tiempo y espacio, en primer término. Cuando la confusión mental es muy intensa, la incoherencia es total y el enfermo se encuentra imposibilitado  hasta para su orientación </a:t>
            </a:r>
            <a:r>
              <a:rPr lang="es-MX" dirty="0" err="1"/>
              <a:t>autopsiquica</a:t>
            </a:r>
            <a:r>
              <a:rPr lang="es-MX" dirty="0"/>
              <a:t>. </a:t>
            </a:r>
            <a:endParaRPr lang="es-MX" b="1" dirty="0" smtClean="0"/>
          </a:p>
          <a:p>
            <a:r>
              <a:rPr lang="es-MX" b="1" dirty="0" smtClean="0"/>
              <a:t>	Síndrome </a:t>
            </a:r>
            <a:r>
              <a:rPr lang="es-MX" b="1" dirty="0"/>
              <a:t>esquizofrénico</a:t>
            </a:r>
            <a:r>
              <a:rPr lang="es-MX" dirty="0"/>
              <a:t>: generalmente hay desorientación en el tiempo, lo que se debe a la falta de interés del enfermo por el mundo exterior.</a:t>
            </a:r>
          </a:p>
          <a:p>
            <a:r>
              <a:rPr lang="es-MX" dirty="0" smtClean="0"/>
              <a:t>	</a:t>
            </a:r>
            <a:r>
              <a:rPr lang="es-MX" b="1" dirty="0" smtClean="0"/>
              <a:t>Síndrome </a:t>
            </a:r>
            <a:r>
              <a:rPr lang="es-MX" b="1" dirty="0"/>
              <a:t>delirante</a:t>
            </a:r>
            <a:r>
              <a:rPr lang="es-MX" dirty="0"/>
              <a:t>: salvo excepciones, son lucidos, orientados auto y </a:t>
            </a:r>
            <a:r>
              <a:rPr lang="es-MX" dirty="0" err="1"/>
              <a:t>alopsiquicamente</a:t>
            </a:r>
            <a:endParaRPr lang="es-MX" b="1" dirty="0"/>
          </a:p>
          <a:p>
            <a:r>
              <a:rPr lang="es-MX" b="1" dirty="0" smtClean="0"/>
              <a:t>	Síndrome </a:t>
            </a:r>
            <a:r>
              <a:rPr lang="es-MX" b="1" dirty="0"/>
              <a:t>de excitación psicomotriz</a:t>
            </a:r>
            <a:r>
              <a:rPr lang="es-MX" dirty="0"/>
              <a:t>: siempre que no sean confusos, son lucidos y están bien orientados.</a:t>
            </a:r>
          </a:p>
          <a:p>
            <a:r>
              <a:rPr lang="es-MX" dirty="0" smtClean="0"/>
              <a:t>	</a:t>
            </a:r>
            <a:r>
              <a:rPr lang="es-MX" b="1" dirty="0" smtClean="0"/>
              <a:t>Síndrome </a:t>
            </a:r>
            <a:r>
              <a:rPr lang="es-MX" b="1" dirty="0"/>
              <a:t>de depresión psicomotriz</a:t>
            </a:r>
            <a:r>
              <a:rPr lang="es-MX" dirty="0"/>
              <a:t>: mala orientación en tiempo, que pasa insensiblemente porque la introversión los desconecta del mundo externo</a:t>
            </a:r>
          </a:p>
          <a:p>
            <a:endParaRPr lang="es-MX" dirty="0" smtClean="0"/>
          </a:p>
          <a:p>
            <a:endParaRPr lang="es-MX" dirty="0"/>
          </a:p>
        </p:txBody>
      </p:sp>
    </p:spTree>
    <p:extLst>
      <p:ext uri="{BB962C8B-B14F-4D97-AF65-F5344CB8AC3E}">
        <p14:creationId xmlns:p14="http://schemas.microsoft.com/office/powerpoint/2010/main" val="3907511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p:cNvSpPr>
            <a:spLocks noGrp="1"/>
          </p:cNvSpPr>
          <p:nvPr>
            <p:ph type="ctrTitle"/>
          </p:nvPr>
        </p:nvSpPr>
        <p:spPr>
          <a:xfrm>
            <a:off x="179512" y="836712"/>
            <a:ext cx="8784976" cy="2664296"/>
          </a:xfrm>
        </p:spPr>
        <p:txBody>
          <a:bodyPr>
            <a:normAutofit/>
          </a:bodyPr>
          <a:lstStyle/>
          <a:p>
            <a:pPr algn="l"/>
            <a:r>
              <a:rPr lang="es-MX" sz="7200" dirty="0" smtClean="0"/>
              <a:t>SENSOPERCEPCIÓN</a:t>
            </a:r>
            <a:endParaRPr lang="es-AR" sz="7200" dirty="0"/>
          </a:p>
        </p:txBody>
      </p:sp>
      <p:sp>
        <p:nvSpPr>
          <p:cNvPr id="4" name="Subtítulo 3"/>
          <p:cNvSpPr>
            <a:spLocks noGrp="1"/>
          </p:cNvSpPr>
          <p:nvPr>
            <p:ph type="subTitle" idx="1"/>
          </p:nvPr>
        </p:nvSpPr>
        <p:spPr>
          <a:xfrm flipV="1">
            <a:off x="685800" y="6453335"/>
            <a:ext cx="7414592" cy="45719"/>
          </a:xfrm>
        </p:spPr>
        <p:txBody>
          <a:bodyPr>
            <a:normAutofit fontScale="25000" lnSpcReduction="20000"/>
          </a:bodyPr>
          <a:lstStyle/>
          <a:p>
            <a:endParaRPr lang="es-AR" dirty="0"/>
          </a:p>
        </p:txBody>
      </p:sp>
    </p:spTree>
    <p:extLst>
      <p:ext uri="{BB962C8B-B14F-4D97-AF65-F5344CB8AC3E}">
        <p14:creationId xmlns:p14="http://schemas.microsoft.com/office/powerpoint/2010/main" val="383037143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0" y="152636"/>
            <a:ext cx="9144000" cy="6705364"/>
          </a:xfrm>
        </p:spPr>
        <p:txBody>
          <a:bodyPr>
            <a:normAutofit fontScale="70000" lnSpcReduction="20000"/>
          </a:bodyPr>
          <a:lstStyle/>
          <a:p>
            <a:pPr marL="109728" indent="0">
              <a:buNone/>
            </a:pPr>
            <a:r>
              <a:rPr lang="es-MX" dirty="0" smtClean="0"/>
              <a:t>	Constituye </a:t>
            </a:r>
            <a:r>
              <a:rPr lang="es-MX" dirty="0"/>
              <a:t>un complejo mecanismo psíquico que permite al hombre la adquisición de todo el material del conocimiento, proceda este desde el mundo exterior como del propio mundo interior físico y mental</a:t>
            </a:r>
          </a:p>
          <a:p>
            <a:pPr marL="109728" indent="0">
              <a:buNone/>
            </a:pPr>
            <a:r>
              <a:rPr lang="es-MX" dirty="0"/>
              <a:t>Este proceso se hace posible a través de la participación de todas las formas de actividad sensorial:</a:t>
            </a:r>
          </a:p>
          <a:p>
            <a:pPr marL="109728" indent="0">
              <a:buNone/>
            </a:pPr>
            <a:r>
              <a:rPr lang="es-MX" dirty="0" smtClean="0"/>
              <a:t>	La </a:t>
            </a:r>
            <a:r>
              <a:rPr lang="es-MX" dirty="0"/>
              <a:t>externa por los cinco sentidos: vista, gusto, tacto, olfato y oído.</a:t>
            </a:r>
          </a:p>
          <a:p>
            <a:pPr marL="109728" indent="0">
              <a:buNone/>
            </a:pPr>
            <a:r>
              <a:rPr lang="es-MX" dirty="0" smtClean="0"/>
              <a:t>	La </a:t>
            </a:r>
            <a:r>
              <a:rPr lang="es-MX" dirty="0"/>
              <a:t>interna por los sentidos: cenestésico, kinestésico o cinético y de orientación.</a:t>
            </a:r>
          </a:p>
          <a:p>
            <a:pPr marL="109728" indent="0">
              <a:buNone/>
            </a:pPr>
            <a:r>
              <a:rPr lang="es-MX" dirty="0" smtClean="0"/>
              <a:t>	La </a:t>
            </a:r>
            <a:r>
              <a:rPr lang="es-MX" dirty="0"/>
              <a:t>percepción de nuestro mundo mental: para lo que no se conoce un receptor determinado pero se lo ubica mas allá de lo estrictamente físico</a:t>
            </a:r>
          </a:p>
          <a:p>
            <a:pPr marL="109728" indent="0">
              <a:buNone/>
            </a:pPr>
            <a:r>
              <a:rPr lang="es-MX" dirty="0" smtClean="0"/>
              <a:t>	La </a:t>
            </a:r>
            <a:r>
              <a:rPr lang="es-MX" dirty="0"/>
              <a:t>sensación es el elemento primario de la </a:t>
            </a:r>
            <a:r>
              <a:rPr lang="es-MX" dirty="0" err="1"/>
              <a:t>sensopercepcion</a:t>
            </a:r>
            <a:r>
              <a:rPr lang="es-MX" dirty="0"/>
              <a:t> y la podemos definir como el registro en la conciencia de la estimulación producida por cualquiera de los aparatos sensoriales, que de inmediato es conducida a la corteza cerebral por las vías centrípetas correspondientes.</a:t>
            </a:r>
          </a:p>
          <a:p>
            <a:pPr marL="109728" indent="0">
              <a:buNone/>
            </a:pPr>
            <a:r>
              <a:rPr lang="es-MX" dirty="0" smtClean="0"/>
              <a:t>	Luego</a:t>
            </a:r>
            <a:r>
              <a:rPr lang="es-MX" dirty="0"/>
              <a:t>, la sensación registrada es sometida a una serie de elaboraciones psíquicas por las cuales se convierte en una percepción. Es decir, por los sentidos penetran sensaciones que las elaboraciones psíquicas convierten en percepciones.</a:t>
            </a:r>
          </a:p>
          <a:p>
            <a:pPr marL="109728" indent="0">
              <a:buNone/>
            </a:pPr>
            <a:r>
              <a:rPr lang="es-MX" dirty="0" smtClean="0"/>
              <a:t>	Existen </a:t>
            </a:r>
            <a:r>
              <a:rPr lang="es-MX" dirty="0"/>
              <a:t>dos formas fundamentales de percibir:</a:t>
            </a:r>
          </a:p>
          <a:p>
            <a:pPr marL="109728" indent="0">
              <a:buNone/>
            </a:pPr>
            <a:r>
              <a:rPr lang="es-MX" b="1" dirty="0"/>
              <a:t>Percepción sensorial</a:t>
            </a:r>
            <a:r>
              <a:rPr lang="es-MX" dirty="0"/>
              <a:t>: se percibe una imagen  originada tanto en estímulos  que impresionan a los órganos de los sentidos externos como internos, es decir que esta percepción sensorial pertenece al plano físico.</a:t>
            </a:r>
          </a:p>
          <a:p>
            <a:pPr marL="109728" indent="0">
              <a:buNone/>
            </a:pPr>
            <a:r>
              <a:rPr lang="es-MX" b="1" dirty="0"/>
              <a:t>Percepción </a:t>
            </a:r>
            <a:r>
              <a:rPr lang="es-MX" b="1" dirty="0" err="1"/>
              <a:t>intrapsiquica</a:t>
            </a:r>
            <a:r>
              <a:rPr lang="es-MX" dirty="0"/>
              <a:t>: no percibe imágenes sino complejas vivencias intelectuales.</a:t>
            </a:r>
          </a:p>
          <a:p>
            <a:endParaRPr lang="es-AR" dirty="0"/>
          </a:p>
        </p:txBody>
      </p:sp>
      <p:sp>
        <p:nvSpPr>
          <p:cNvPr id="3" name="Título 2"/>
          <p:cNvSpPr>
            <a:spLocks noGrp="1"/>
          </p:cNvSpPr>
          <p:nvPr>
            <p:ph type="title"/>
          </p:nvPr>
        </p:nvSpPr>
        <p:spPr>
          <a:xfrm flipV="1">
            <a:off x="457200" y="116632"/>
            <a:ext cx="8435280" cy="72008"/>
          </a:xfrm>
        </p:spPr>
        <p:txBody>
          <a:bodyPr>
            <a:normAutofit fontScale="90000"/>
          </a:bodyPr>
          <a:lstStyle/>
          <a:p>
            <a:endParaRPr lang="es-AR"/>
          </a:p>
        </p:txBody>
      </p:sp>
    </p:spTree>
    <p:extLst>
      <p:ext uri="{BB962C8B-B14F-4D97-AF65-F5344CB8AC3E}">
        <p14:creationId xmlns:p14="http://schemas.microsoft.com/office/powerpoint/2010/main" val="14135245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457200" y="476672"/>
            <a:ext cx="8229600" cy="5530619"/>
          </a:xfrm>
        </p:spPr>
        <p:txBody>
          <a:bodyPr>
            <a:normAutofit fontScale="77500" lnSpcReduction="20000"/>
          </a:bodyPr>
          <a:lstStyle/>
          <a:p>
            <a:pPr marL="109728" indent="0">
              <a:buNone/>
            </a:pPr>
            <a:r>
              <a:rPr lang="es-ES" dirty="0" smtClean="0"/>
              <a:t>-</a:t>
            </a:r>
            <a:r>
              <a:rPr lang="es-ES" b="1" u="sng" dirty="0" smtClean="0"/>
              <a:t>Definición:</a:t>
            </a:r>
            <a:r>
              <a:rPr lang="es-ES" dirty="0" smtClean="0"/>
              <a:t> sensación es el paso que va desde que aparece el estímulo hasta que la información impacta en el cerebro, la percepción es la interpretación de esa sensación.</a:t>
            </a:r>
          </a:p>
          <a:p>
            <a:pPr marL="109728" indent="0">
              <a:buNone/>
            </a:pPr>
            <a:r>
              <a:rPr lang="es-ES" dirty="0" smtClean="0"/>
              <a:t>-</a:t>
            </a:r>
            <a:r>
              <a:rPr lang="es-ES" b="1" u="sng" dirty="0" smtClean="0"/>
              <a:t>Tipos de alteración</a:t>
            </a:r>
            <a:r>
              <a:rPr lang="es-ES" dirty="0" smtClean="0"/>
              <a:t>:</a:t>
            </a:r>
          </a:p>
          <a:p>
            <a:pPr marL="109728" indent="0">
              <a:buNone/>
            </a:pPr>
            <a:r>
              <a:rPr lang="es-MX" dirty="0"/>
              <a:t>	</a:t>
            </a:r>
            <a:r>
              <a:rPr lang="es-MX" dirty="0" smtClean="0"/>
              <a:t>	</a:t>
            </a:r>
            <a:r>
              <a:rPr lang="es-MX" b="1" dirty="0" smtClean="0"/>
              <a:t>*Cuantitativas</a:t>
            </a:r>
            <a:r>
              <a:rPr lang="es-MX" dirty="0"/>
              <a:t>: lo normal es percibir 4 unidades de percepción por segundo.</a:t>
            </a:r>
          </a:p>
          <a:p>
            <a:pPr marL="109728" indent="0">
              <a:buNone/>
            </a:pPr>
            <a:r>
              <a:rPr lang="es-MX" dirty="0"/>
              <a:t>*Aceleración de la percepción: &gt; 4 up/</a:t>
            </a:r>
            <a:r>
              <a:rPr lang="es-MX" dirty="0" err="1"/>
              <a:t>seg</a:t>
            </a:r>
            <a:r>
              <a:rPr lang="es-MX" dirty="0"/>
              <a:t>. </a:t>
            </a:r>
            <a:r>
              <a:rPr lang="es-MX" dirty="0" err="1"/>
              <a:t>Taquipsiquia</a:t>
            </a:r>
            <a:r>
              <a:rPr lang="es-MX" dirty="0"/>
              <a:t> de la manía.</a:t>
            </a:r>
          </a:p>
          <a:p>
            <a:pPr marL="109728" indent="0">
              <a:buNone/>
            </a:pPr>
            <a:r>
              <a:rPr lang="es-MX" dirty="0"/>
              <a:t>*Retardo de la percepción: &lt; 4 up/</a:t>
            </a:r>
            <a:r>
              <a:rPr lang="es-MX" dirty="0" err="1"/>
              <a:t>seg</a:t>
            </a:r>
            <a:r>
              <a:rPr lang="es-MX" dirty="0"/>
              <a:t>. </a:t>
            </a:r>
            <a:r>
              <a:rPr lang="es-MX" dirty="0" err="1"/>
              <a:t>Bradipsiquia</a:t>
            </a:r>
            <a:r>
              <a:rPr lang="es-MX" dirty="0"/>
              <a:t> de la depresión.</a:t>
            </a:r>
          </a:p>
          <a:p>
            <a:pPr marL="109728" indent="0">
              <a:buNone/>
            </a:pPr>
            <a:r>
              <a:rPr lang="es-MX" dirty="0"/>
              <a:t>*Abolición de la percepción: en el sueño, </a:t>
            </a:r>
            <a:r>
              <a:rPr lang="es-MX" dirty="0" err="1"/>
              <a:t>alt</a:t>
            </a:r>
            <a:r>
              <a:rPr lang="es-MX" dirty="0"/>
              <a:t>. Del SNC u órganos periféricos:</a:t>
            </a:r>
          </a:p>
          <a:p>
            <a:pPr marL="109728" indent="0">
              <a:buNone/>
            </a:pPr>
            <a:r>
              <a:rPr lang="es-MX" dirty="0"/>
              <a:t>              Agnosias: no reconocimiento de: ópticas(los objetos), acústicas (las palabras), </a:t>
            </a:r>
            <a:r>
              <a:rPr lang="es-MX" dirty="0" err="1"/>
              <a:t>somatoagnosia</a:t>
            </a:r>
            <a:r>
              <a:rPr lang="es-MX" dirty="0"/>
              <a:t> (de su propio cuerpo), </a:t>
            </a:r>
            <a:r>
              <a:rPr lang="es-MX" dirty="0" err="1"/>
              <a:t>autoagnosia</a:t>
            </a:r>
            <a:r>
              <a:rPr lang="es-MX" dirty="0"/>
              <a:t> (de partes de su propio cuerpo), </a:t>
            </a:r>
            <a:r>
              <a:rPr lang="es-MX" dirty="0" err="1"/>
              <a:t>esteroagnosia</a:t>
            </a:r>
            <a:r>
              <a:rPr lang="es-MX" dirty="0"/>
              <a:t> (de los objetos por el tacto).</a:t>
            </a:r>
          </a:p>
          <a:p>
            <a:pPr marL="109728" indent="0">
              <a:buNone/>
            </a:pPr>
            <a:endParaRPr lang="es-ES" dirty="0" smtClean="0"/>
          </a:p>
          <a:p>
            <a:pPr marL="109728" indent="0">
              <a:buNone/>
            </a:pPr>
            <a:r>
              <a:rPr lang="es-ES" dirty="0"/>
              <a:t>		</a:t>
            </a:r>
            <a:r>
              <a:rPr lang="es-ES" b="1" dirty="0" smtClean="0"/>
              <a:t>*cualitativas</a:t>
            </a:r>
            <a:r>
              <a:rPr lang="es-ES" dirty="0" smtClean="0"/>
              <a:t>:</a:t>
            </a:r>
          </a:p>
        </p:txBody>
      </p:sp>
    </p:spTree>
    <p:extLst>
      <p:ext uri="{BB962C8B-B14F-4D97-AF65-F5344CB8AC3E}">
        <p14:creationId xmlns:p14="http://schemas.microsoft.com/office/powerpoint/2010/main" val="256864733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457200" y="764704"/>
            <a:ext cx="8229600" cy="5242587"/>
          </a:xfrm>
        </p:spPr>
        <p:txBody>
          <a:bodyPr>
            <a:normAutofit/>
          </a:bodyPr>
          <a:lstStyle/>
          <a:p>
            <a:r>
              <a:rPr lang="es-MX" b="1" u="sng" dirty="0" smtClean="0"/>
              <a:t>Apercepción</a:t>
            </a:r>
            <a:r>
              <a:rPr lang="es-MX" dirty="0" smtClean="0"/>
              <a:t>: captación de una totalidad en un momento dado( no es lo mismo que la suma de estímulos)</a:t>
            </a:r>
          </a:p>
          <a:p>
            <a:r>
              <a:rPr lang="es-MX" b="1" u="sng" dirty="0" err="1" smtClean="0"/>
              <a:t>Perceptos</a:t>
            </a:r>
            <a:r>
              <a:rPr lang="es-MX" dirty="0" smtClean="0"/>
              <a:t>: imagen real y </a:t>
            </a:r>
            <a:r>
              <a:rPr lang="es-MX" dirty="0"/>
              <a:t>objetiva </a:t>
            </a:r>
            <a:r>
              <a:rPr lang="es-MX" dirty="0" err="1" smtClean="0"/>
              <a:t>que:son</a:t>
            </a:r>
            <a:r>
              <a:rPr lang="es-MX" dirty="0" smtClean="0"/>
              <a:t> </a:t>
            </a:r>
            <a:r>
              <a:rPr lang="es-MX" dirty="0"/>
              <a:t>vivenciados como </a:t>
            </a:r>
            <a:r>
              <a:rPr lang="es-MX" dirty="0" smtClean="0"/>
              <a:t>corpóreos, aparecen </a:t>
            </a:r>
            <a:r>
              <a:rPr lang="es-MX" dirty="0"/>
              <a:t>en el espacio objetivo </a:t>
            </a:r>
            <a:r>
              <a:rPr lang="es-MX" dirty="0" smtClean="0"/>
              <a:t>externo, diseño </a:t>
            </a:r>
            <a:r>
              <a:rPr lang="es-MX" dirty="0"/>
              <a:t>determinado, completos y con todos sus </a:t>
            </a:r>
            <a:r>
              <a:rPr lang="es-MX" dirty="0" smtClean="0"/>
              <a:t>detalles, frescura sensorial, constantes, independientes </a:t>
            </a:r>
            <a:r>
              <a:rPr lang="es-MX" dirty="0"/>
              <a:t>de la voluntad, no pueden ser modificados y son admitidos con sentimiento de pasividad.</a:t>
            </a:r>
          </a:p>
          <a:p>
            <a:endParaRPr lang="es-AR" dirty="0"/>
          </a:p>
        </p:txBody>
      </p:sp>
      <p:sp>
        <p:nvSpPr>
          <p:cNvPr id="3" name="Título 2"/>
          <p:cNvSpPr>
            <a:spLocks noGrp="1"/>
          </p:cNvSpPr>
          <p:nvPr>
            <p:ph type="title"/>
          </p:nvPr>
        </p:nvSpPr>
        <p:spPr>
          <a:xfrm>
            <a:off x="457200" y="274638"/>
            <a:ext cx="8229600" cy="490066"/>
          </a:xfrm>
        </p:spPr>
        <p:txBody>
          <a:bodyPr>
            <a:normAutofit fontScale="90000"/>
          </a:bodyPr>
          <a:lstStyle/>
          <a:p>
            <a:r>
              <a:rPr lang="es-MX" dirty="0" smtClean="0"/>
              <a:t>Conceptos clave:</a:t>
            </a:r>
            <a:endParaRPr lang="es-AR" dirty="0"/>
          </a:p>
        </p:txBody>
      </p:sp>
    </p:spTree>
    <p:extLst>
      <p:ext uri="{BB962C8B-B14F-4D97-AF65-F5344CB8AC3E}">
        <p14:creationId xmlns:p14="http://schemas.microsoft.com/office/powerpoint/2010/main" val="17340536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457200" y="345402"/>
            <a:ext cx="8507288" cy="5819902"/>
          </a:xfrm>
        </p:spPr>
        <p:txBody>
          <a:bodyPr>
            <a:normAutofit fontScale="85000" lnSpcReduction="10000"/>
          </a:bodyPr>
          <a:lstStyle/>
          <a:p>
            <a:r>
              <a:rPr lang="es-MX" b="1" u="sng" dirty="0"/>
              <a:t>Representaciones</a:t>
            </a:r>
            <a:r>
              <a:rPr lang="es-MX" dirty="0" smtClean="0"/>
              <a:t>: </a:t>
            </a:r>
            <a:r>
              <a:rPr lang="es-MX" dirty="0"/>
              <a:t>objeto más subjetividad. Pueden ser:</a:t>
            </a:r>
          </a:p>
          <a:p>
            <a:pPr marL="109728" indent="0">
              <a:buNone/>
            </a:pPr>
            <a:r>
              <a:rPr lang="es-MX" dirty="0"/>
              <a:t>1-Mnésicas: evocación de imagen sensorial.</a:t>
            </a:r>
          </a:p>
          <a:p>
            <a:pPr marL="109728" indent="0">
              <a:buNone/>
            </a:pPr>
            <a:r>
              <a:rPr lang="es-MX" dirty="0"/>
              <a:t>2-Fantásticas: producto de la imaginación.</a:t>
            </a:r>
          </a:p>
          <a:p>
            <a:pPr marL="109728" indent="0">
              <a:buNone/>
            </a:pPr>
            <a:r>
              <a:rPr lang="es-MX" dirty="0"/>
              <a:t>3- Oníricas: del sueño.</a:t>
            </a:r>
          </a:p>
          <a:p>
            <a:pPr marL="109728" indent="0">
              <a:buNone/>
            </a:pPr>
            <a:r>
              <a:rPr lang="es-MX" dirty="0"/>
              <a:t>4- Eidéticas: se da en ciertas personas que tienen la capacidad </a:t>
            </a:r>
            <a:r>
              <a:rPr lang="es-MX" dirty="0" err="1"/>
              <a:t>mnésica</a:t>
            </a:r>
            <a:r>
              <a:rPr lang="es-MX" dirty="0"/>
              <a:t> de evocar voluntariamente una imagen con características </a:t>
            </a:r>
            <a:r>
              <a:rPr lang="es-MX" dirty="0" err="1"/>
              <a:t>sensoperceptivas</a:t>
            </a:r>
            <a:r>
              <a:rPr lang="es-MX" dirty="0"/>
              <a:t> y ubicarlas como si provinieran del espacio exterior, siendo conscientes de que es un hecho </a:t>
            </a:r>
            <a:r>
              <a:rPr lang="es-MX" dirty="0" smtClean="0"/>
              <a:t>voluntario.</a:t>
            </a:r>
          </a:p>
          <a:p>
            <a:pPr marL="109728" indent="0">
              <a:buNone/>
            </a:pPr>
            <a:r>
              <a:rPr lang="es-MX" dirty="0"/>
              <a:t>-</a:t>
            </a:r>
            <a:r>
              <a:rPr lang="es-MX" dirty="0" smtClean="0"/>
              <a:t>Características </a:t>
            </a:r>
            <a:r>
              <a:rPr lang="es-MX" dirty="0"/>
              <a:t>de las </a:t>
            </a:r>
            <a:r>
              <a:rPr lang="es-MX" dirty="0" err="1" smtClean="0"/>
              <a:t>representaciones:son</a:t>
            </a:r>
            <a:r>
              <a:rPr lang="es-MX" dirty="0" smtClean="0"/>
              <a:t> </a:t>
            </a:r>
            <a:r>
              <a:rPr lang="es-MX" dirty="0"/>
              <a:t>vivenciadas como </a:t>
            </a:r>
            <a:r>
              <a:rPr lang="es-MX" dirty="0" smtClean="0"/>
              <a:t>incorpóreas, aparecen </a:t>
            </a:r>
            <a:r>
              <a:rPr lang="es-MX" dirty="0"/>
              <a:t>en el espacio subjetivo </a:t>
            </a:r>
            <a:r>
              <a:rPr lang="es-MX" dirty="0" smtClean="0"/>
              <a:t>interno, diseño </a:t>
            </a:r>
            <a:r>
              <a:rPr lang="es-MX" dirty="0"/>
              <a:t>indeterminado, incompletas y solo con algunos </a:t>
            </a:r>
            <a:r>
              <a:rPr lang="es-MX" dirty="0" smtClean="0"/>
              <a:t>detalles, sin </a:t>
            </a:r>
            <a:r>
              <a:rPr lang="es-MX" dirty="0"/>
              <a:t>frescura </a:t>
            </a:r>
            <a:r>
              <a:rPr lang="es-MX" dirty="0" smtClean="0"/>
              <a:t>sensorial, inconstantes </a:t>
            </a:r>
            <a:r>
              <a:rPr lang="es-MX" dirty="0"/>
              <a:t>(se pueden </a:t>
            </a:r>
            <a:r>
              <a:rPr lang="es-MX" dirty="0" smtClean="0"/>
              <a:t>descomponer),dependientes </a:t>
            </a:r>
            <a:r>
              <a:rPr lang="es-MX" dirty="0"/>
              <a:t>de la voluntad, pueden ser modificadas y son producidas con un sentimiento de actividad</a:t>
            </a:r>
          </a:p>
          <a:p>
            <a:endParaRPr lang="es-AR" dirty="0"/>
          </a:p>
        </p:txBody>
      </p:sp>
      <p:sp>
        <p:nvSpPr>
          <p:cNvPr id="3" name="Título 2"/>
          <p:cNvSpPr>
            <a:spLocks noGrp="1"/>
          </p:cNvSpPr>
          <p:nvPr>
            <p:ph type="title"/>
          </p:nvPr>
        </p:nvSpPr>
        <p:spPr>
          <a:xfrm>
            <a:off x="507923" y="25256"/>
            <a:ext cx="8003232" cy="58018"/>
          </a:xfrm>
        </p:spPr>
        <p:txBody>
          <a:bodyPr>
            <a:normAutofit fontScale="90000"/>
          </a:bodyPr>
          <a:lstStyle/>
          <a:p>
            <a:endParaRPr lang="es-AR" dirty="0"/>
          </a:p>
        </p:txBody>
      </p:sp>
    </p:spTree>
    <p:extLst>
      <p:ext uri="{BB962C8B-B14F-4D97-AF65-F5344CB8AC3E}">
        <p14:creationId xmlns:p14="http://schemas.microsoft.com/office/powerpoint/2010/main" val="34918281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457200" y="908720"/>
            <a:ext cx="8363272" cy="5949280"/>
          </a:xfrm>
        </p:spPr>
        <p:txBody>
          <a:bodyPr>
            <a:normAutofit/>
          </a:bodyPr>
          <a:lstStyle/>
          <a:p>
            <a:pPr marL="109728" indent="0">
              <a:buNone/>
            </a:pPr>
            <a:r>
              <a:rPr lang="es-MX" sz="2000" dirty="0"/>
              <a:t> MUNDOS EXTERNO E INTERNO</a:t>
            </a:r>
          </a:p>
          <a:p>
            <a:pPr marL="109728" indent="0">
              <a:buNone/>
            </a:pPr>
            <a:r>
              <a:rPr lang="es-MX" sz="2000" dirty="0"/>
              <a:t>                                  Estímulos: luces, ruidos, </a:t>
            </a:r>
            <a:r>
              <a:rPr lang="es-MX" sz="2000" dirty="0" err="1" smtClean="0"/>
              <a:t>olores,movimientos</a:t>
            </a:r>
            <a:r>
              <a:rPr lang="es-MX" sz="2000" dirty="0"/>
              <a:t>, etc. </a:t>
            </a:r>
            <a:r>
              <a:rPr lang="es-MX" sz="2000" dirty="0" smtClean="0"/>
              <a:t>                                                                                                     </a:t>
            </a:r>
            <a:endParaRPr lang="es-MX" sz="2000" dirty="0"/>
          </a:p>
          <a:p>
            <a:pPr marL="109728" indent="0">
              <a:buNone/>
            </a:pPr>
            <a:r>
              <a:rPr lang="es-MX" sz="2000" dirty="0"/>
              <a:t>                             SENSORES (receptores)</a:t>
            </a:r>
          </a:p>
          <a:p>
            <a:pPr marL="109728" indent="0">
              <a:buNone/>
            </a:pPr>
            <a:r>
              <a:rPr lang="es-MX" sz="2000" dirty="0"/>
              <a:t>                                   Vías </a:t>
            </a:r>
            <a:r>
              <a:rPr lang="es-MX" sz="2000" dirty="0" smtClean="0"/>
              <a:t>ascendentes              SENSACIÓN</a:t>
            </a:r>
            <a:endParaRPr lang="es-MX" sz="2000" dirty="0"/>
          </a:p>
          <a:p>
            <a:pPr marL="109728" indent="0">
              <a:buNone/>
            </a:pPr>
            <a:r>
              <a:rPr lang="es-MX" sz="2000" dirty="0"/>
              <a:t>                            CEREBRO </a:t>
            </a:r>
          </a:p>
          <a:p>
            <a:pPr marL="109728" indent="0">
              <a:buNone/>
            </a:pPr>
            <a:r>
              <a:rPr lang="es-MX" sz="2000" dirty="0"/>
              <a:t>                            </a:t>
            </a:r>
            <a:endParaRPr lang="es-MX" sz="2000" dirty="0" smtClean="0"/>
          </a:p>
          <a:p>
            <a:pPr marL="109728" indent="0">
              <a:buNone/>
            </a:pPr>
            <a:r>
              <a:rPr lang="es-MX" sz="2000" dirty="0"/>
              <a:t>	</a:t>
            </a:r>
            <a:r>
              <a:rPr lang="es-MX" sz="2000" dirty="0" smtClean="0"/>
              <a:t>	       PERCEPCIÓN </a:t>
            </a:r>
            <a:r>
              <a:rPr lang="es-MX" sz="2000" dirty="0"/>
              <a:t>(cama, ropero, etc.)</a:t>
            </a:r>
          </a:p>
          <a:p>
            <a:pPr marL="109728" indent="0">
              <a:buNone/>
            </a:pPr>
            <a:r>
              <a:rPr lang="es-MX" sz="2000" dirty="0"/>
              <a:t>                            </a:t>
            </a:r>
            <a:endParaRPr lang="es-MX" sz="2000" dirty="0" smtClean="0"/>
          </a:p>
          <a:p>
            <a:pPr marL="109728" indent="0">
              <a:buNone/>
            </a:pPr>
            <a:r>
              <a:rPr lang="es-MX" sz="2000" dirty="0"/>
              <a:t>	</a:t>
            </a:r>
            <a:r>
              <a:rPr lang="es-MX" sz="2000" dirty="0" smtClean="0"/>
              <a:t>	       APERCEPCIÓN </a:t>
            </a:r>
            <a:r>
              <a:rPr lang="es-MX" sz="2000" dirty="0"/>
              <a:t>(dormitorio)</a:t>
            </a:r>
          </a:p>
          <a:p>
            <a:pPr marL="109728" indent="0">
              <a:buNone/>
            </a:pPr>
            <a:r>
              <a:rPr lang="es-MX" sz="2000" dirty="0"/>
              <a:t>                           </a:t>
            </a:r>
            <a:endParaRPr lang="es-MX" sz="2000" dirty="0" smtClean="0"/>
          </a:p>
          <a:p>
            <a:pPr marL="109728" indent="0">
              <a:buNone/>
            </a:pPr>
            <a:r>
              <a:rPr lang="es-MX" sz="2000" dirty="0"/>
              <a:t>	</a:t>
            </a:r>
            <a:r>
              <a:rPr lang="es-MX" sz="2000" dirty="0" smtClean="0"/>
              <a:t>	       LUCIDEZ </a:t>
            </a:r>
            <a:r>
              <a:rPr lang="es-MX" sz="2000" dirty="0"/>
              <a:t>COGNITIVA (estoy en el dormitorio)</a:t>
            </a:r>
            <a:endParaRPr lang="es-ES" sz="2000" dirty="0"/>
          </a:p>
        </p:txBody>
      </p:sp>
      <p:sp>
        <p:nvSpPr>
          <p:cNvPr id="3" name="2 Título"/>
          <p:cNvSpPr>
            <a:spLocks noGrp="1"/>
          </p:cNvSpPr>
          <p:nvPr>
            <p:ph type="title"/>
          </p:nvPr>
        </p:nvSpPr>
        <p:spPr>
          <a:xfrm>
            <a:off x="179512" y="260648"/>
            <a:ext cx="7992888" cy="504056"/>
          </a:xfrm>
        </p:spPr>
        <p:txBody>
          <a:bodyPr>
            <a:noAutofit/>
          </a:bodyPr>
          <a:lstStyle/>
          <a:p>
            <a:pPr algn="ctr"/>
            <a:r>
              <a:rPr lang="es-ES" sz="2400" dirty="0" smtClean="0">
                <a:effectLst>
                  <a:outerShdw blurRad="38100" dist="38100" dir="2700000" algn="tl">
                    <a:srgbClr val="000000">
                      <a:alpha val="43137"/>
                    </a:srgbClr>
                  </a:outerShdw>
                </a:effectLst>
              </a:rPr>
              <a:t>Esquema </a:t>
            </a:r>
            <a:r>
              <a:rPr lang="es-ES" sz="2400" dirty="0" err="1" smtClean="0">
                <a:effectLst>
                  <a:outerShdw blurRad="38100" dist="38100" dir="2700000" algn="tl">
                    <a:srgbClr val="000000">
                      <a:alpha val="43137"/>
                    </a:srgbClr>
                  </a:outerShdw>
                </a:effectLst>
              </a:rPr>
              <a:t>sensoperceptivo</a:t>
            </a:r>
            <a:r>
              <a:rPr lang="es-ES" sz="2400" dirty="0" smtClean="0"/>
              <a:t>: Ej. El dormitorio</a:t>
            </a:r>
            <a:endParaRPr lang="es-ES" sz="2400" dirty="0"/>
          </a:p>
        </p:txBody>
      </p:sp>
    </p:spTree>
    <p:extLst>
      <p:ext uri="{BB962C8B-B14F-4D97-AF65-F5344CB8AC3E}">
        <p14:creationId xmlns:p14="http://schemas.microsoft.com/office/powerpoint/2010/main" val="28137181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457200" y="908720"/>
            <a:ext cx="8435280" cy="5544616"/>
          </a:xfrm>
        </p:spPr>
        <p:txBody>
          <a:bodyPr>
            <a:normAutofit/>
          </a:bodyPr>
          <a:lstStyle/>
          <a:p>
            <a:pPr marL="109728" indent="0">
              <a:lnSpc>
                <a:spcPct val="160000"/>
              </a:lnSpc>
              <a:buNone/>
            </a:pPr>
            <a:r>
              <a:rPr lang="es-MX" sz="2000" dirty="0" smtClean="0"/>
              <a:t>*</a:t>
            </a:r>
            <a:r>
              <a:rPr lang="es-MX" sz="2000" dirty="0"/>
              <a:t>alteración de la apercepción en la cual a lo percibido (</a:t>
            </a:r>
            <a:r>
              <a:rPr lang="es-MX" sz="2000" dirty="0" err="1"/>
              <a:t>perceptos</a:t>
            </a:r>
            <a:r>
              <a:rPr lang="es-MX" sz="2000" dirty="0"/>
              <a:t>) se le agrega una representación que es vivenciada como un </a:t>
            </a:r>
            <a:r>
              <a:rPr lang="es-MX" sz="2000" dirty="0" err="1"/>
              <a:t>percepto</a:t>
            </a:r>
            <a:r>
              <a:rPr lang="es-MX" sz="2000" dirty="0"/>
              <a:t> más, o sea no se discrimina entre lo percibido y lo representado.</a:t>
            </a:r>
          </a:p>
          <a:p>
            <a:pPr marL="109728" indent="0">
              <a:lnSpc>
                <a:spcPct val="160000"/>
              </a:lnSpc>
              <a:buNone/>
            </a:pPr>
            <a:r>
              <a:rPr lang="es-MX" sz="2000" dirty="0"/>
              <a:t>*es la percepción sin objeto.</a:t>
            </a:r>
          </a:p>
          <a:p>
            <a:pPr marL="109728" indent="0">
              <a:lnSpc>
                <a:spcPct val="160000"/>
              </a:lnSpc>
              <a:buNone/>
            </a:pPr>
            <a:r>
              <a:rPr lang="es-MX" sz="2000" dirty="0"/>
              <a:t>*alteración perceptiva en la cual se crea una viva representación la cual es </a:t>
            </a:r>
            <a:r>
              <a:rPr lang="es-MX" sz="2000" dirty="0" err="1"/>
              <a:t>extrayectada</a:t>
            </a:r>
            <a:r>
              <a:rPr lang="es-MX" sz="2000" dirty="0"/>
              <a:t> y aceptada como la captación sensorial de un fenómeno real.</a:t>
            </a:r>
          </a:p>
          <a:p>
            <a:pPr marL="109728" indent="0">
              <a:lnSpc>
                <a:spcPct val="160000"/>
              </a:lnSpc>
              <a:buNone/>
            </a:pPr>
            <a:endParaRPr lang="es-ES" sz="1600" dirty="0" smtClean="0"/>
          </a:p>
          <a:p>
            <a:pPr>
              <a:lnSpc>
                <a:spcPct val="160000"/>
              </a:lnSpc>
            </a:pPr>
            <a:endParaRPr lang="es-ES" sz="1600" dirty="0" smtClean="0"/>
          </a:p>
        </p:txBody>
      </p:sp>
      <p:sp>
        <p:nvSpPr>
          <p:cNvPr id="3" name="2 Título"/>
          <p:cNvSpPr>
            <a:spLocks noGrp="1"/>
          </p:cNvSpPr>
          <p:nvPr>
            <p:ph type="title"/>
          </p:nvPr>
        </p:nvSpPr>
        <p:spPr>
          <a:xfrm>
            <a:off x="457200" y="83735"/>
            <a:ext cx="8075240" cy="850106"/>
          </a:xfrm>
        </p:spPr>
        <p:txBody>
          <a:bodyPr>
            <a:normAutofit fontScale="90000"/>
          </a:bodyPr>
          <a:lstStyle/>
          <a:p>
            <a:pPr marL="624078" indent="-514350"/>
            <a:r>
              <a:rPr lang="es-ES" dirty="0" smtClean="0"/>
              <a:t/>
            </a:r>
            <a:br>
              <a:rPr lang="es-ES" dirty="0" smtClean="0"/>
            </a:br>
            <a:r>
              <a:rPr lang="es-ES" dirty="0"/>
              <a:t/>
            </a:r>
            <a:br>
              <a:rPr lang="es-ES" dirty="0"/>
            </a:br>
            <a:r>
              <a:rPr lang="es-ES" sz="3100" dirty="0"/>
              <a:t>ALUCINACIÓN</a:t>
            </a:r>
            <a:r>
              <a:rPr lang="es-ES" dirty="0"/>
              <a:t>: </a:t>
            </a:r>
            <a:r>
              <a:rPr lang="es-ES" sz="2700" dirty="0"/>
              <a:t>varias </a:t>
            </a:r>
            <a:r>
              <a:rPr lang="es-ES" sz="2700" dirty="0" smtClean="0"/>
              <a:t>definiciones</a:t>
            </a:r>
            <a:r>
              <a:rPr lang="es-ES" dirty="0"/>
              <a:t/>
            </a:r>
            <a:br>
              <a:rPr lang="es-ES" dirty="0"/>
            </a:br>
            <a:r>
              <a:rPr lang="es-ES" dirty="0"/>
              <a:t/>
            </a:r>
            <a:br>
              <a:rPr lang="es-ES" dirty="0"/>
            </a:br>
            <a:endParaRPr lang="es-ES" dirty="0"/>
          </a:p>
        </p:txBody>
      </p:sp>
    </p:spTree>
    <p:extLst>
      <p:ext uri="{BB962C8B-B14F-4D97-AF65-F5344CB8AC3E}">
        <p14:creationId xmlns:p14="http://schemas.microsoft.com/office/powerpoint/2010/main" val="159552573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457198" y="764704"/>
            <a:ext cx="8291265" cy="5544616"/>
          </a:xfrm>
        </p:spPr>
        <p:txBody>
          <a:bodyPr>
            <a:normAutofit fontScale="77500" lnSpcReduction="20000"/>
          </a:bodyPr>
          <a:lstStyle/>
          <a:p>
            <a:pPr marL="109728" indent="0">
              <a:buNone/>
            </a:pPr>
            <a:r>
              <a:rPr lang="es-MX" b="1" dirty="0"/>
              <a:t>1-sensoriales</a:t>
            </a:r>
            <a:r>
              <a:rPr lang="es-MX" dirty="0"/>
              <a:t>:</a:t>
            </a:r>
          </a:p>
          <a:p>
            <a:pPr marL="109728" indent="0">
              <a:buNone/>
            </a:pPr>
            <a:r>
              <a:rPr lang="es-MX" dirty="0"/>
              <a:t>*</a:t>
            </a:r>
            <a:r>
              <a:rPr lang="es-MX" b="1" dirty="0"/>
              <a:t>auditivas</a:t>
            </a:r>
            <a:r>
              <a:rPr lang="es-MX" dirty="0"/>
              <a:t>: las más frecuentes. Pueden ir desde ruidos, zumbidos, silbidos, </a:t>
            </a:r>
            <a:r>
              <a:rPr lang="es-MX" dirty="0" err="1"/>
              <a:t>etc</a:t>
            </a:r>
            <a:r>
              <a:rPr lang="es-MX" dirty="0"/>
              <a:t>, hasta voces con palabras claras y que se oyen con gran nitidez. Generalmente entrañan amenazas, insultos u órdenes.</a:t>
            </a:r>
          </a:p>
          <a:p>
            <a:pPr marL="109728" indent="0">
              <a:buNone/>
            </a:pPr>
            <a:r>
              <a:rPr lang="es-MX" dirty="0"/>
              <a:t>*</a:t>
            </a:r>
            <a:r>
              <a:rPr lang="es-MX" b="1" dirty="0"/>
              <a:t>visuales</a:t>
            </a:r>
            <a:r>
              <a:rPr lang="es-MX" dirty="0"/>
              <a:t>: son más frecuentes en los cuadros orgánicos (tóxicos, infecciones, tumores, </a:t>
            </a:r>
            <a:r>
              <a:rPr lang="es-MX" dirty="0" err="1"/>
              <a:t>etc</a:t>
            </a:r>
            <a:r>
              <a:rPr lang="es-MX" dirty="0"/>
              <a:t>). Pueden ir desde formas elementales como llamas, colores o manchas, hasta imágenes nítidas de animales, objetos o personas. En general son de carácter desagradable, terrorífico o místico.</a:t>
            </a:r>
          </a:p>
          <a:p>
            <a:pPr marL="109728" indent="0">
              <a:buNone/>
            </a:pPr>
            <a:r>
              <a:rPr lang="es-MX" dirty="0"/>
              <a:t>*</a:t>
            </a:r>
            <a:r>
              <a:rPr lang="es-MX" b="1" dirty="0"/>
              <a:t>olfativas y gustativas</a:t>
            </a:r>
            <a:r>
              <a:rPr lang="es-MX" dirty="0"/>
              <a:t>: síntomas de agravación del proceso, son de carácter desagradable.</a:t>
            </a:r>
          </a:p>
          <a:p>
            <a:pPr marL="109728" indent="0">
              <a:buNone/>
            </a:pPr>
            <a:r>
              <a:rPr lang="es-MX" dirty="0"/>
              <a:t>*</a:t>
            </a:r>
            <a:r>
              <a:rPr lang="es-MX" b="1" dirty="0"/>
              <a:t>táctiles</a:t>
            </a:r>
            <a:r>
              <a:rPr lang="es-MX" dirty="0"/>
              <a:t>: que lo tocan o que tocan algo, pinchazo, quemadura, etc.</a:t>
            </a:r>
          </a:p>
          <a:p>
            <a:pPr marL="109728" indent="0">
              <a:buNone/>
            </a:pPr>
            <a:r>
              <a:rPr lang="es-MX" b="1" dirty="0"/>
              <a:t>2-cenestésicas</a:t>
            </a:r>
            <a:r>
              <a:rPr lang="es-MX" dirty="0"/>
              <a:t>: disnea, palpitaciones, sensación de falta de algún órgano o que estos se mueven, que son de piedra, gigantes, etc.</a:t>
            </a:r>
          </a:p>
          <a:p>
            <a:pPr marL="109728" indent="0">
              <a:buNone/>
            </a:pPr>
            <a:r>
              <a:rPr lang="es-MX" b="1" dirty="0"/>
              <a:t>3-cinéticas</a:t>
            </a:r>
            <a:r>
              <a:rPr lang="es-MX" dirty="0"/>
              <a:t>: sensación de movimiento de sus miembros, que lo empujan, etc. </a:t>
            </a:r>
            <a:endParaRPr lang="es-MX" dirty="0" smtClean="0"/>
          </a:p>
        </p:txBody>
      </p:sp>
      <p:sp>
        <p:nvSpPr>
          <p:cNvPr id="3" name="Título 2"/>
          <p:cNvSpPr>
            <a:spLocks noGrp="1"/>
          </p:cNvSpPr>
          <p:nvPr>
            <p:ph type="title"/>
          </p:nvPr>
        </p:nvSpPr>
        <p:spPr>
          <a:xfrm>
            <a:off x="484909" y="188640"/>
            <a:ext cx="7831507" cy="576064"/>
          </a:xfrm>
        </p:spPr>
        <p:txBody>
          <a:bodyPr>
            <a:normAutofit fontScale="90000"/>
          </a:bodyPr>
          <a:lstStyle/>
          <a:p>
            <a:r>
              <a:rPr lang="es-AR" dirty="0"/>
              <a:t>Tipos de alucinaciones:</a:t>
            </a:r>
          </a:p>
        </p:txBody>
      </p:sp>
    </p:spTree>
    <p:extLst>
      <p:ext uri="{BB962C8B-B14F-4D97-AF65-F5344CB8AC3E}">
        <p14:creationId xmlns:p14="http://schemas.microsoft.com/office/powerpoint/2010/main" val="62147778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179512" y="260648"/>
            <a:ext cx="8964488" cy="6336704"/>
          </a:xfrm>
        </p:spPr>
        <p:txBody>
          <a:bodyPr>
            <a:normAutofit/>
          </a:bodyPr>
          <a:lstStyle/>
          <a:p>
            <a:pPr marL="109728" indent="0">
              <a:lnSpc>
                <a:spcPct val="150000"/>
              </a:lnSpc>
              <a:buNone/>
            </a:pPr>
            <a:r>
              <a:rPr lang="es-MX" sz="2000" b="1" dirty="0"/>
              <a:t>4-otros tipos</a:t>
            </a:r>
            <a:r>
              <a:rPr lang="es-MX" sz="2000" dirty="0"/>
              <a:t>:</a:t>
            </a:r>
          </a:p>
          <a:p>
            <a:pPr marL="109728" indent="0">
              <a:lnSpc>
                <a:spcPct val="150000"/>
              </a:lnSpc>
              <a:buNone/>
            </a:pPr>
            <a:r>
              <a:rPr lang="es-MX" sz="2000" dirty="0"/>
              <a:t>*en relación al sueño: hipnagógicas (al comenzar el sueño) e </a:t>
            </a:r>
            <a:r>
              <a:rPr lang="es-MX" sz="2000" dirty="0" err="1"/>
              <a:t>hipnopómpicas</a:t>
            </a:r>
            <a:r>
              <a:rPr lang="es-MX" sz="2000" dirty="0"/>
              <a:t> (al despertar)</a:t>
            </a:r>
          </a:p>
          <a:p>
            <a:pPr marL="109728" indent="0">
              <a:lnSpc>
                <a:spcPct val="150000"/>
              </a:lnSpc>
              <a:buNone/>
            </a:pPr>
            <a:r>
              <a:rPr lang="es-MX" sz="2000" dirty="0"/>
              <a:t>*negativas: no percepción de objetos reales.</a:t>
            </a:r>
          </a:p>
          <a:p>
            <a:pPr marL="109728" indent="0">
              <a:lnSpc>
                <a:spcPct val="150000"/>
              </a:lnSpc>
              <a:buNone/>
            </a:pPr>
            <a:r>
              <a:rPr lang="es-MX" sz="2000" dirty="0"/>
              <a:t>*</a:t>
            </a:r>
            <a:r>
              <a:rPr lang="es-MX" sz="2000" dirty="0" err="1"/>
              <a:t>extracampina</a:t>
            </a:r>
            <a:r>
              <a:rPr lang="es-MX" sz="2000" dirty="0"/>
              <a:t>: se lo percibe fuera del campo visual.</a:t>
            </a:r>
          </a:p>
          <a:p>
            <a:pPr marL="109728" indent="0">
              <a:lnSpc>
                <a:spcPct val="150000"/>
              </a:lnSpc>
              <a:buNone/>
            </a:pPr>
            <a:r>
              <a:rPr lang="es-MX" sz="2000" dirty="0"/>
              <a:t>*</a:t>
            </a:r>
            <a:r>
              <a:rPr lang="es-MX" sz="2000" dirty="0" err="1"/>
              <a:t>verbomotoras</a:t>
            </a:r>
            <a:r>
              <a:rPr lang="es-MX" sz="2000" dirty="0"/>
              <a:t>: sensación de que por su intermedio están hablando otras personas.</a:t>
            </a:r>
          </a:p>
          <a:p>
            <a:pPr marL="109728" indent="0">
              <a:lnSpc>
                <a:spcPct val="150000"/>
              </a:lnSpc>
              <a:buNone/>
            </a:pPr>
            <a:r>
              <a:rPr lang="es-MX" sz="2000" dirty="0"/>
              <a:t>*eco del pensamiento: el enfermo cree oír sus propios pensamientos tal como si pensara en voz alta.</a:t>
            </a:r>
          </a:p>
          <a:p>
            <a:pPr marL="109728" indent="0">
              <a:lnSpc>
                <a:spcPct val="150000"/>
              </a:lnSpc>
              <a:buNone/>
            </a:pPr>
            <a:r>
              <a:rPr lang="es-MX" sz="2000" dirty="0"/>
              <a:t>*comentario de los propios actos: los enfermos oyen voces que comentan los actos que realizan.</a:t>
            </a:r>
          </a:p>
          <a:p>
            <a:pPr marL="109728" indent="0">
              <a:lnSpc>
                <a:spcPct val="150000"/>
              </a:lnSpc>
              <a:buNone/>
            </a:pPr>
            <a:endParaRPr lang="es-ES" sz="1600" dirty="0"/>
          </a:p>
        </p:txBody>
      </p:sp>
      <p:sp>
        <p:nvSpPr>
          <p:cNvPr id="3" name="2 Título"/>
          <p:cNvSpPr>
            <a:spLocks noGrp="1"/>
          </p:cNvSpPr>
          <p:nvPr>
            <p:ph type="title"/>
          </p:nvPr>
        </p:nvSpPr>
        <p:spPr>
          <a:xfrm>
            <a:off x="0" y="116632"/>
            <a:ext cx="8748464" cy="45719"/>
          </a:xfrm>
        </p:spPr>
        <p:txBody>
          <a:bodyPr>
            <a:normAutofit fontScale="90000"/>
          </a:bodyPr>
          <a:lstStyle/>
          <a:p>
            <a:r>
              <a:rPr lang="es-ES" dirty="0"/>
              <a:t/>
            </a:r>
            <a:br>
              <a:rPr lang="es-ES" dirty="0"/>
            </a:br>
            <a:endParaRPr lang="es-ES" dirty="0"/>
          </a:p>
        </p:txBody>
      </p:sp>
    </p:spTree>
    <p:extLst>
      <p:ext uri="{BB962C8B-B14F-4D97-AF65-F5344CB8AC3E}">
        <p14:creationId xmlns:p14="http://schemas.microsoft.com/office/powerpoint/2010/main" val="97246100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457200" y="692696"/>
            <a:ext cx="8229600" cy="5688632"/>
          </a:xfrm>
        </p:spPr>
        <p:txBody>
          <a:bodyPr>
            <a:normAutofit lnSpcReduction="10000"/>
          </a:bodyPr>
          <a:lstStyle/>
          <a:p>
            <a:pPr marL="109728" indent="0">
              <a:lnSpc>
                <a:spcPct val="120000"/>
              </a:lnSpc>
              <a:buNone/>
            </a:pPr>
            <a:r>
              <a:rPr lang="es-MX" sz="2400" dirty="0" smtClean="0"/>
              <a:t>ILUSIÓN</a:t>
            </a:r>
            <a:r>
              <a:rPr lang="es-MX" sz="2400" dirty="0"/>
              <a:t>: </a:t>
            </a:r>
            <a:endParaRPr lang="es-MX" sz="2400" dirty="0" smtClean="0"/>
          </a:p>
          <a:p>
            <a:pPr marL="109728" indent="0">
              <a:lnSpc>
                <a:spcPct val="120000"/>
              </a:lnSpc>
              <a:buNone/>
            </a:pPr>
            <a:r>
              <a:rPr lang="es-MX" sz="1600" dirty="0"/>
              <a:t>	</a:t>
            </a:r>
            <a:r>
              <a:rPr lang="es-MX" sz="1800" dirty="0" smtClean="0"/>
              <a:t>Hipótesis </a:t>
            </a:r>
            <a:r>
              <a:rPr lang="es-MX" sz="1800" dirty="0"/>
              <a:t>errónea sobre un objeto percibido. Pueden ser:</a:t>
            </a:r>
          </a:p>
          <a:p>
            <a:pPr marL="109728" indent="0">
              <a:lnSpc>
                <a:spcPct val="120000"/>
              </a:lnSpc>
              <a:buNone/>
            </a:pPr>
            <a:r>
              <a:rPr lang="es-MX" sz="1800" dirty="0"/>
              <a:t>*por inatención*</a:t>
            </a:r>
            <a:r>
              <a:rPr lang="es-MX" sz="1800" dirty="0" err="1"/>
              <a:t>catatímicas</a:t>
            </a:r>
            <a:r>
              <a:rPr lang="es-MX" sz="1800" dirty="0"/>
              <a:t>: influenciadas por el estado de ánimo.*</a:t>
            </a:r>
            <a:r>
              <a:rPr lang="es-MX" sz="1800" dirty="0" err="1"/>
              <a:t>pareidólicas</a:t>
            </a:r>
            <a:r>
              <a:rPr lang="es-MX" sz="1800" dirty="0"/>
              <a:t>: impresiones sensoriales imperfectas.</a:t>
            </a:r>
          </a:p>
          <a:p>
            <a:pPr marL="109728" indent="0">
              <a:lnSpc>
                <a:spcPct val="120000"/>
              </a:lnSpc>
              <a:buNone/>
            </a:pPr>
            <a:r>
              <a:rPr lang="es-MX" sz="2400" dirty="0" smtClean="0"/>
              <a:t>PSEUDOALUCINACIÓN</a:t>
            </a:r>
            <a:r>
              <a:rPr lang="es-MX" sz="1600" dirty="0"/>
              <a:t>: </a:t>
            </a:r>
            <a:endParaRPr lang="es-MX" sz="1600" dirty="0" smtClean="0"/>
          </a:p>
          <a:p>
            <a:pPr marL="109728" indent="0">
              <a:lnSpc>
                <a:spcPct val="120000"/>
              </a:lnSpc>
              <a:buNone/>
            </a:pPr>
            <a:r>
              <a:rPr lang="es-MX" sz="1600" dirty="0" smtClean="0"/>
              <a:t>	</a:t>
            </a:r>
            <a:r>
              <a:rPr lang="es-MX" sz="1800" dirty="0" smtClean="0"/>
              <a:t>Consecuencia </a:t>
            </a:r>
            <a:r>
              <a:rPr lang="es-MX" sz="1800" dirty="0"/>
              <a:t>del no reconocimiento de sus propias representaciones, o sea falla la identificación del propio pensamiento (los enajena). El paciente no lo ubica como proveniente del exterior sino como producido interiormente: en su cabeza. </a:t>
            </a:r>
            <a:r>
              <a:rPr lang="es-MX" sz="1800" dirty="0" err="1"/>
              <a:t>Ej</a:t>
            </a:r>
            <a:r>
              <a:rPr lang="es-MX" sz="1800" dirty="0"/>
              <a:t>: delirio de influencia de los esquizofrénicos.</a:t>
            </a:r>
          </a:p>
          <a:p>
            <a:pPr marL="109728" indent="0">
              <a:lnSpc>
                <a:spcPct val="120000"/>
              </a:lnSpc>
              <a:buNone/>
            </a:pPr>
            <a:r>
              <a:rPr lang="es-MX" sz="2400" dirty="0" smtClean="0"/>
              <a:t>ALUCINOSIS</a:t>
            </a:r>
            <a:r>
              <a:rPr lang="es-MX" sz="1600" dirty="0"/>
              <a:t>: </a:t>
            </a:r>
            <a:endParaRPr lang="es-MX" sz="1600" dirty="0" smtClean="0"/>
          </a:p>
          <a:p>
            <a:pPr marL="109728" indent="0">
              <a:lnSpc>
                <a:spcPct val="120000"/>
              </a:lnSpc>
              <a:buNone/>
            </a:pPr>
            <a:r>
              <a:rPr lang="es-MX" sz="1600" dirty="0" smtClean="0"/>
              <a:t>	</a:t>
            </a:r>
            <a:r>
              <a:rPr lang="es-MX" sz="1800" dirty="0" smtClean="0"/>
              <a:t>Es </a:t>
            </a:r>
            <a:r>
              <a:rPr lang="es-MX" sz="1800" dirty="0"/>
              <a:t>cualquier alucinación que es reconocida en el mismo momento de producirse como un fenómeno anormal. Se da sobre todo en cuadros de intoxicaciones, infecciones, etc.</a:t>
            </a:r>
          </a:p>
          <a:p>
            <a:pPr marL="109728" indent="0">
              <a:lnSpc>
                <a:spcPct val="120000"/>
              </a:lnSpc>
              <a:buNone/>
            </a:pPr>
            <a:r>
              <a:rPr lang="es-MX" sz="1800" dirty="0"/>
              <a:t>	</a:t>
            </a:r>
          </a:p>
          <a:p>
            <a:pPr marL="109728" indent="0">
              <a:lnSpc>
                <a:spcPct val="120000"/>
              </a:lnSpc>
              <a:buNone/>
            </a:pPr>
            <a:endParaRPr lang="es-ES" sz="1800" dirty="0"/>
          </a:p>
        </p:txBody>
      </p:sp>
      <p:sp>
        <p:nvSpPr>
          <p:cNvPr id="3" name="2 Título"/>
          <p:cNvSpPr>
            <a:spLocks noGrp="1"/>
          </p:cNvSpPr>
          <p:nvPr>
            <p:ph type="title"/>
          </p:nvPr>
        </p:nvSpPr>
        <p:spPr>
          <a:xfrm>
            <a:off x="457200" y="130622"/>
            <a:ext cx="7571184" cy="562074"/>
          </a:xfrm>
        </p:spPr>
        <p:txBody>
          <a:bodyPr>
            <a:normAutofit fontScale="90000"/>
          </a:bodyPr>
          <a:lstStyle/>
          <a:p>
            <a:r>
              <a:rPr lang="es-ES" sz="1600" dirty="0" smtClean="0">
                <a:effectLst/>
              </a:rPr>
              <a:t/>
            </a:r>
            <a:br>
              <a:rPr lang="es-ES" sz="1600" dirty="0" smtClean="0">
                <a:effectLst/>
              </a:rPr>
            </a:br>
            <a:endParaRPr lang="es-ES" sz="1600" dirty="0">
              <a:effectLst/>
            </a:endParaRPr>
          </a:p>
        </p:txBody>
      </p:sp>
    </p:spTree>
    <p:extLst>
      <p:ext uri="{BB962C8B-B14F-4D97-AF65-F5344CB8AC3E}">
        <p14:creationId xmlns:p14="http://schemas.microsoft.com/office/powerpoint/2010/main" val="278313739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flipV="1">
            <a:off x="457200" y="6007291"/>
            <a:ext cx="7787208" cy="45719"/>
          </a:xfrm>
        </p:spPr>
        <p:txBody>
          <a:bodyPr>
            <a:normAutofit fontScale="25000" lnSpcReduction="20000"/>
          </a:bodyPr>
          <a:lstStyle/>
          <a:p>
            <a:endParaRPr lang="es-AR" dirty="0"/>
          </a:p>
        </p:txBody>
      </p:sp>
      <p:sp>
        <p:nvSpPr>
          <p:cNvPr id="3" name="Título 2"/>
          <p:cNvSpPr>
            <a:spLocks noGrp="1"/>
          </p:cNvSpPr>
          <p:nvPr>
            <p:ph type="title"/>
          </p:nvPr>
        </p:nvSpPr>
        <p:spPr>
          <a:xfrm>
            <a:off x="179512" y="188640"/>
            <a:ext cx="8964488" cy="4608512"/>
          </a:xfrm>
        </p:spPr>
        <p:txBody>
          <a:bodyPr/>
          <a:lstStyle/>
          <a:p>
            <a:r>
              <a:rPr lang="es-AR" sz="8000" dirty="0" smtClean="0"/>
              <a:t> </a:t>
            </a:r>
            <a:r>
              <a:rPr lang="es-AR" sz="9600" dirty="0"/>
              <a:t>PENSAMIENTO</a:t>
            </a:r>
          </a:p>
        </p:txBody>
      </p:sp>
    </p:spTree>
    <p:extLst>
      <p:ext uri="{BB962C8B-B14F-4D97-AF65-F5344CB8AC3E}">
        <p14:creationId xmlns:p14="http://schemas.microsoft.com/office/powerpoint/2010/main" val="34297831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107504" y="116632"/>
            <a:ext cx="8856984" cy="6624736"/>
          </a:xfrm>
        </p:spPr>
        <p:txBody>
          <a:bodyPr>
            <a:normAutofit fontScale="85000" lnSpcReduction="10000"/>
          </a:bodyPr>
          <a:lstStyle/>
          <a:p>
            <a:pPr marL="109728" indent="0">
              <a:buNone/>
            </a:pPr>
            <a:r>
              <a:rPr lang="es-MX" b="1" dirty="0"/>
              <a:t>ASOCIACIÓN DE IDEAS</a:t>
            </a:r>
          </a:p>
          <a:p>
            <a:pPr marL="109728" indent="0">
              <a:buNone/>
            </a:pPr>
            <a:r>
              <a:rPr lang="es-MX" dirty="0" smtClean="0"/>
              <a:t>	Se </a:t>
            </a:r>
            <a:r>
              <a:rPr lang="es-MX" dirty="0"/>
              <a:t>produce por el mecanismo psíquico de relación, conexión y encadenamiento de las ideas. Interviene en la elaboración del pensamiento y presenta una forma inconsciente y automática, en la cual las representaciones llegan a la conciencia de manera pasiva y se las asocia espontáneamente y una segunda forma de asociación, consciente y supeditada a la elaboración mental. Esta última establece una ordenación lógica de las ideas obedeciendo a las siguientes leyes de asociación: </a:t>
            </a:r>
          </a:p>
          <a:p>
            <a:pPr marL="109728" indent="0">
              <a:buNone/>
            </a:pPr>
            <a:r>
              <a:rPr lang="es-MX" dirty="0" smtClean="0"/>
              <a:t>	1- </a:t>
            </a:r>
            <a:r>
              <a:rPr lang="es-MX" dirty="0"/>
              <a:t>por contigüidad temporal: cuando dos o más hechos son registrados en un mismo acto perceptivo son evocados juntos, </a:t>
            </a:r>
            <a:r>
              <a:rPr lang="es-MX" dirty="0" err="1"/>
              <a:t>ej</a:t>
            </a:r>
            <a:r>
              <a:rPr lang="es-MX" dirty="0"/>
              <a:t>: piano-forma, tamaño, sonido, etc.</a:t>
            </a:r>
          </a:p>
          <a:p>
            <a:pPr marL="109728" indent="0">
              <a:buNone/>
            </a:pPr>
            <a:r>
              <a:rPr lang="es-MX" dirty="0" smtClean="0"/>
              <a:t>	2- </a:t>
            </a:r>
            <a:r>
              <a:rPr lang="es-MX" dirty="0"/>
              <a:t>por contigüidad espacial: </a:t>
            </a:r>
            <a:r>
              <a:rPr lang="es-MX" dirty="0" err="1"/>
              <a:t>ej</a:t>
            </a:r>
            <a:r>
              <a:rPr lang="es-MX" dirty="0"/>
              <a:t>: ropero-ropa.</a:t>
            </a:r>
          </a:p>
          <a:p>
            <a:pPr marL="109728" indent="0">
              <a:buNone/>
            </a:pPr>
            <a:r>
              <a:rPr lang="es-MX" dirty="0" smtClean="0"/>
              <a:t>	3- </a:t>
            </a:r>
            <a:r>
              <a:rPr lang="es-MX" dirty="0"/>
              <a:t>por semejanza externa: </a:t>
            </a:r>
            <a:r>
              <a:rPr lang="es-MX" dirty="0" err="1"/>
              <a:t>ej</a:t>
            </a:r>
            <a:r>
              <a:rPr lang="es-MX" dirty="0"/>
              <a:t>: incendio-puesta de sol.</a:t>
            </a:r>
          </a:p>
          <a:p>
            <a:pPr marL="109728" indent="0">
              <a:buNone/>
            </a:pPr>
            <a:r>
              <a:rPr lang="es-MX" dirty="0" smtClean="0"/>
              <a:t>	4- </a:t>
            </a:r>
            <a:r>
              <a:rPr lang="es-MX" dirty="0"/>
              <a:t>por semejanza interna: de sus propiedades, </a:t>
            </a:r>
            <a:r>
              <a:rPr lang="es-MX" dirty="0" err="1"/>
              <a:t>ej</a:t>
            </a:r>
            <a:r>
              <a:rPr lang="es-MX" dirty="0"/>
              <a:t>: balanza-metro.</a:t>
            </a:r>
          </a:p>
          <a:p>
            <a:pPr marL="109728" indent="0">
              <a:buNone/>
            </a:pPr>
            <a:r>
              <a:rPr lang="es-MX" dirty="0" smtClean="0"/>
              <a:t>	5- </a:t>
            </a:r>
            <a:r>
              <a:rPr lang="es-MX" dirty="0"/>
              <a:t>por contraste: cualidades opuestas; </a:t>
            </a:r>
            <a:r>
              <a:rPr lang="es-MX" dirty="0" err="1"/>
              <a:t>ej</a:t>
            </a:r>
            <a:r>
              <a:rPr lang="es-MX" dirty="0"/>
              <a:t>: día-noche.</a:t>
            </a:r>
          </a:p>
          <a:p>
            <a:endParaRPr lang="es-AR" dirty="0"/>
          </a:p>
        </p:txBody>
      </p:sp>
      <p:sp>
        <p:nvSpPr>
          <p:cNvPr id="3" name="Título 2"/>
          <p:cNvSpPr>
            <a:spLocks noGrp="1"/>
          </p:cNvSpPr>
          <p:nvPr>
            <p:ph type="title"/>
          </p:nvPr>
        </p:nvSpPr>
        <p:spPr>
          <a:xfrm flipV="1">
            <a:off x="457200" y="228919"/>
            <a:ext cx="8363272" cy="45719"/>
          </a:xfrm>
        </p:spPr>
        <p:txBody>
          <a:bodyPr>
            <a:normAutofit fontScale="90000"/>
          </a:bodyPr>
          <a:lstStyle/>
          <a:p>
            <a:endParaRPr lang="es-AR" dirty="0"/>
          </a:p>
        </p:txBody>
      </p:sp>
    </p:spTree>
    <p:extLst>
      <p:ext uri="{BB962C8B-B14F-4D97-AF65-F5344CB8AC3E}">
        <p14:creationId xmlns:p14="http://schemas.microsoft.com/office/powerpoint/2010/main" val="31615648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228600" y="476673"/>
            <a:ext cx="8735888" cy="6381328"/>
          </a:xfrm>
        </p:spPr>
        <p:txBody>
          <a:bodyPr/>
          <a:lstStyle/>
          <a:p>
            <a:pPr marL="109728" indent="0">
              <a:buNone/>
            </a:pPr>
            <a:r>
              <a:rPr lang="es-MX" b="1" dirty="0"/>
              <a:t>Alteración en la asociación de ideas</a:t>
            </a:r>
            <a:r>
              <a:rPr lang="es-MX" dirty="0"/>
              <a:t>:</a:t>
            </a:r>
          </a:p>
          <a:p>
            <a:pPr marL="109728" indent="0">
              <a:buNone/>
            </a:pPr>
            <a:r>
              <a:rPr lang="es-MX" dirty="0"/>
              <a:t>a-del ritmo:</a:t>
            </a:r>
          </a:p>
          <a:p>
            <a:pPr marL="109728" indent="0">
              <a:buNone/>
            </a:pPr>
            <a:r>
              <a:rPr lang="es-MX" dirty="0"/>
              <a:t>*acelerado: </a:t>
            </a:r>
            <a:r>
              <a:rPr lang="es-MX" dirty="0" err="1"/>
              <a:t>taquipsiquia</a:t>
            </a:r>
            <a:r>
              <a:rPr lang="es-MX" dirty="0"/>
              <a:t> de la manía: fuga de ideas.</a:t>
            </a:r>
          </a:p>
          <a:p>
            <a:pPr marL="109728" indent="0">
              <a:buNone/>
            </a:pPr>
            <a:r>
              <a:rPr lang="es-MX" dirty="0"/>
              <a:t>*retardado: </a:t>
            </a:r>
            <a:r>
              <a:rPr lang="es-MX" dirty="0" err="1"/>
              <a:t>bradipsiquia</a:t>
            </a:r>
            <a:r>
              <a:rPr lang="es-MX" dirty="0"/>
              <a:t> de la depresión, demencias y confusión mental.</a:t>
            </a:r>
          </a:p>
          <a:p>
            <a:pPr marL="109728" indent="0">
              <a:buNone/>
            </a:pPr>
            <a:endParaRPr lang="es-MX" dirty="0" smtClean="0"/>
          </a:p>
          <a:p>
            <a:pPr marL="109728" indent="0">
              <a:buNone/>
            </a:pPr>
            <a:r>
              <a:rPr lang="es-MX" dirty="0" smtClean="0"/>
              <a:t>b-de </a:t>
            </a:r>
            <a:r>
              <a:rPr lang="es-MX" dirty="0"/>
              <a:t>la coherencia: cuando no se respetan las leyes de asociación de ideas (incoherencia asociativa), se da en alteraciones de la atención, conciencia, juicio y raciocinio.</a:t>
            </a:r>
          </a:p>
          <a:p>
            <a:endParaRPr lang="es-AR" dirty="0"/>
          </a:p>
        </p:txBody>
      </p:sp>
      <p:sp>
        <p:nvSpPr>
          <p:cNvPr id="3" name="Título 2"/>
          <p:cNvSpPr>
            <a:spLocks noGrp="1"/>
          </p:cNvSpPr>
          <p:nvPr>
            <p:ph type="title"/>
          </p:nvPr>
        </p:nvSpPr>
        <p:spPr>
          <a:xfrm flipV="1">
            <a:off x="457200" y="188640"/>
            <a:ext cx="8229600" cy="85998"/>
          </a:xfrm>
        </p:spPr>
        <p:txBody>
          <a:bodyPr>
            <a:normAutofit fontScale="90000"/>
          </a:bodyPr>
          <a:lstStyle/>
          <a:p>
            <a:endParaRPr lang="es-AR" dirty="0"/>
          </a:p>
        </p:txBody>
      </p:sp>
    </p:spTree>
    <p:extLst>
      <p:ext uri="{BB962C8B-B14F-4D97-AF65-F5344CB8AC3E}">
        <p14:creationId xmlns:p14="http://schemas.microsoft.com/office/powerpoint/2010/main" val="34923410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179512" y="894730"/>
            <a:ext cx="8784976" cy="5774630"/>
          </a:xfrm>
        </p:spPr>
        <p:txBody>
          <a:bodyPr>
            <a:normAutofit fontScale="62500" lnSpcReduction="20000"/>
          </a:bodyPr>
          <a:lstStyle/>
          <a:p>
            <a:pPr marL="109728" indent="0">
              <a:buNone/>
            </a:pPr>
            <a:r>
              <a:rPr lang="es-MX" dirty="0" smtClean="0"/>
              <a:t>	Es </a:t>
            </a:r>
            <a:r>
              <a:rPr lang="es-MX" dirty="0"/>
              <a:t>la actividad psíquica que permite llegar a una conclusión luego de la relación, comparación y depuración de las ideas para que el pensamiento sea fiel expresión del deseo, intención y saber de la personalidad. El proceso de desarrollo del juicio presenta dos etapas: </a:t>
            </a:r>
          </a:p>
          <a:p>
            <a:pPr marL="109728" indent="0">
              <a:buNone/>
            </a:pPr>
            <a:r>
              <a:rPr lang="es-MX" dirty="0"/>
              <a:t>1-elaboración: 2 fases:</a:t>
            </a:r>
          </a:p>
          <a:p>
            <a:pPr marL="109728" indent="0">
              <a:buNone/>
            </a:pPr>
            <a:r>
              <a:rPr lang="es-MX" dirty="0"/>
              <a:t>*juicios de relación: entre lo nuevo y lo que ya se conoce.</a:t>
            </a:r>
          </a:p>
          <a:p>
            <a:pPr marL="109728" indent="0">
              <a:buNone/>
            </a:pPr>
            <a:r>
              <a:rPr lang="es-MX" dirty="0"/>
              <a:t>*juicios de identificación: de estos conocimientos entre si.</a:t>
            </a:r>
          </a:p>
          <a:p>
            <a:pPr marL="109728" indent="0">
              <a:buNone/>
            </a:pPr>
            <a:r>
              <a:rPr lang="es-MX" dirty="0"/>
              <a:t>2-crítica: 2 fases:</a:t>
            </a:r>
          </a:p>
          <a:p>
            <a:pPr marL="109728" indent="0">
              <a:buNone/>
            </a:pPr>
            <a:r>
              <a:rPr lang="es-MX" dirty="0"/>
              <a:t>*juicios de comparación: con los otros conocimientos de la conciencia.</a:t>
            </a:r>
          </a:p>
          <a:p>
            <a:pPr marL="109728" indent="0">
              <a:buNone/>
            </a:pPr>
            <a:r>
              <a:rPr lang="es-MX" dirty="0"/>
              <a:t>*juicios de valor: que permite arribar a una conclusión definitiva (síntesis). El valor de los juicios depende de la capacidad intelectual y del grado de cultura general del individuo.</a:t>
            </a:r>
          </a:p>
          <a:p>
            <a:pPr marL="109728" indent="0">
              <a:buNone/>
            </a:pPr>
            <a:endParaRPr lang="es-MX" b="1" dirty="0" smtClean="0"/>
          </a:p>
          <a:p>
            <a:pPr marL="109728" indent="0">
              <a:buNone/>
            </a:pPr>
            <a:r>
              <a:rPr lang="es-MX" b="1" dirty="0" smtClean="0"/>
              <a:t>Alteraciones </a:t>
            </a:r>
            <a:r>
              <a:rPr lang="es-MX" b="1" dirty="0"/>
              <a:t>del juicio:</a:t>
            </a:r>
          </a:p>
          <a:p>
            <a:pPr marL="109728" indent="0">
              <a:buNone/>
            </a:pPr>
            <a:r>
              <a:rPr lang="es-MX" b="1" dirty="0"/>
              <a:t>1-juicio insuficiente</a:t>
            </a:r>
            <a:r>
              <a:rPr lang="es-MX" dirty="0"/>
              <a:t>: por desarrollo incompleto de la psique: </a:t>
            </a:r>
            <a:r>
              <a:rPr lang="es-MX" dirty="0" err="1"/>
              <a:t>sme</a:t>
            </a:r>
            <a:r>
              <a:rPr lang="es-MX" dirty="0"/>
              <a:t>. </a:t>
            </a:r>
            <a:r>
              <a:rPr lang="es-MX" dirty="0" err="1"/>
              <a:t>frenasténico</a:t>
            </a:r>
            <a:r>
              <a:rPr lang="es-MX" dirty="0"/>
              <a:t>.</a:t>
            </a:r>
          </a:p>
          <a:p>
            <a:pPr marL="109728" indent="0">
              <a:buNone/>
            </a:pPr>
            <a:r>
              <a:rPr lang="es-MX" b="1" dirty="0" smtClean="0"/>
              <a:t>2-juicio </a:t>
            </a:r>
            <a:r>
              <a:rPr lang="es-MX" b="1" dirty="0"/>
              <a:t>debilitado</a:t>
            </a:r>
            <a:r>
              <a:rPr lang="es-MX" dirty="0"/>
              <a:t>: por pérdida paulatina de su capacidad: </a:t>
            </a:r>
            <a:r>
              <a:rPr lang="es-MX" dirty="0" err="1"/>
              <a:t>sme</a:t>
            </a:r>
            <a:r>
              <a:rPr lang="es-MX" dirty="0"/>
              <a:t>. demencial.</a:t>
            </a:r>
          </a:p>
          <a:p>
            <a:pPr marL="109728" indent="0">
              <a:buNone/>
            </a:pPr>
            <a:r>
              <a:rPr lang="es-MX" b="1" dirty="0"/>
              <a:t>3-juicio suspendido</a:t>
            </a:r>
            <a:r>
              <a:rPr lang="es-MX" dirty="0"/>
              <a:t>: por obnubilación de la conciencia: </a:t>
            </a:r>
            <a:r>
              <a:rPr lang="es-MX" dirty="0" err="1"/>
              <a:t>sme</a:t>
            </a:r>
            <a:r>
              <a:rPr lang="es-MX" dirty="0"/>
              <a:t>. </a:t>
            </a:r>
            <a:r>
              <a:rPr lang="es-MX" dirty="0" err="1"/>
              <a:t>confusional</a:t>
            </a:r>
            <a:r>
              <a:rPr lang="es-MX" dirty="0"/>
              <a:t>.</a:t>
            </a:r>
          </a:p>
          <a:p>
            <a:pPr marL="109728" indent="0">
              <a:buNone/>
            </a:pPr>
            <a:r>
              <a:rPr lang="es-MX" b="1" dirty="0"/>
              <a:t>4-juicio desviado</a:t>
            </a:r>
            <a:r>
              <a:rPr lang="es-MX" dirty="0"/>
              <a:t>: se da por una interferencia de una carga afectiva que inhibe al juicio para una exacta y lógica valoración, el sujeto no puede reconocer el error y cae en la alienación, ajeno a la realidad. Se da en: delirantes y melancólicos (desviación parcial y limitada a todo lo que concierne al problema) y maníacos (juicio afectado de manera global, no existe ningún problema ideo-afectivo dominante).</a:t>
            </a:r>
          </a:p>
          <a:p>
            <a:pPr marL="109728" indent="0">
              <a:buNone/>
            </a:pPr>
            <a:endParaRPr lang="es-AR" dirty="0"/>
          </a:p>
        </p:txBody>
      </p:sp>
      <p:sp>
        <p:nvSpPr>
          <p:cNvPr id="3" name="Título 2"/>
          <p:cNvSpPr>
            <a:spLocks noGrp="1"/>
          </p:cNvSpPr>
          <p:nvPr>
            <p:ph type="title"/>
          </p:nvPr>
        </p:nvSpPr>
        <p:spPr>
          <a:xfrm>
            <a:off x="179512" y="188640"/>
            <a:ext cx="8964488" cy="432048"/>
          </a:xfrm>
        </p:spPr>
        <p:txBody>
          <a:bodyPr>
            <a:normAutofit fontScale="90000"/>
          </a:bodyPr>
          <a:lstStyle/>
          <a:p>
            <a:r>
              <a:rPr lang="es-AR" dirty="0"/>
              <a:t>JUICIO</a:t>
            </a:r>
          </a:p>
        </p:txBody>
      </p:sp>
    </p:spTree>
    <p:extLst>
      <p:ext uri="{BB962C8B-B14F-4D97-AF65-F5344CB8AC3E}">
        <p14:creationId xmlns:p14="http://schemas.microsoft.com/office/powerpoint/2010/main" val="22765819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457200" y="836712"/>
            <a:ext cx="8507288" cy="5832648"/>
          </a:xfrm>
        </p:spPr>
        <p:txBody>
          <a:bodyPr>
            <a:normAutofit fontScale="92500" lnSpcReduction="10000"/>
          </a:bodyPr>
          <a:lstStyle/>
          <a:p>
            <a:pPr marL="109728" indent="0">
              <a:buNone/>
            </a:pPr>
            <a:r>
              <a:rPr lang="es-MX" dirty="0"/>
              <a:t>Es el más alto exponente de la actividad psíquica y consiste en el encadenamiento de los juicios para la comprobación y demostración de una verdad. Hay tres tipos de razonamiento:</a:t>
            </a:r>
          </a:p>
          <a:p>
            <a:pPr marL="109728" indent="0">
              <a:buNone/>
            </a:pPr>
            <a:r>
              <a:rPr lang="es-MX" dirty="0" smtClean="0"/>
              <a:t>	</a:t>
            </a:r>
            <a:r>
              <a:rPr lang="es-MX" b="1" dirty="0" smtClean="0"/>
              <a:t>1-deductivo</a:t>
            </a:r>
            <a:r>
              <a:rPr lang="es-MX" dirty="0"/>
              <a:t>: parte de una proposición general y se deducen a partir de ella los casos individuales, ej.: matemática.</a:t>
            </a:r>
          </a:p>
          <a:p>
            <a:pPr marL="109728" indent="0">
              <a:buNone/>
            </a:pPr>
            <a:r>
              <a:rPr lang="es-MX" dirty="0" smtClean="0"/>
              <a:t>	</a:t>
            </a:r>
            <a:r>
              <a:rPr lang="es-MX" b="1" dirty="0" smtClean="0"/>
              <a:t>2-inductivo</a:t>
            </a:r>
            <a:r>
              <a:rPr lang="es-MX" dirty="0"/>
              <a:t>: se parte de un hecho y a partir de este se intenta crear una ley general, ej.: experimentos científicos.</a:t>
            </a:r>
          </a:p>
          <a:p>
            <a:pPr marL="109728" indent="0">
              <a:buNone/>
            </a:pPr>
            <a:r>
              <a:rPr lang="es-MX" dirty="0" smtClean="0"/>
              <a:t>	</a:t>
            </a:r>
            <a:r>
              <a:rPr lang="es-MX" b="1" dirty="0" smtClean="0"/>
              <a:t>3-por </a:t>
            </a:r>
            <a:r>
              <a:rPr lang="es-MX" b="1" dirty="0"/>
              <a:t>analogía</a:t>
            </a:r>
            <a:r>
              <a:rPr lang="es-MX" dirty="0"/>
              <a:t>: cuando la verdad que se afirma es el resultado de observar en uno de los términos caracteres semejantes a los observados en el otro.</a:t>
            </a:r>
          </a:p>
          <a:p>
            <a:pPr marL="109728" indent="0">
              <a:buNone/>
            </a:pPr>
            <a:r>
              <a:rPr lang="es-MX" dirty="0"/>
              <a:t>Los 2 primeros tipos de razonamiento son analíticos mientras que el tercero es global.</a:t>
            </a:r>
          </a:p>
          <a:p>
            <a:pPr marL="109728" indent="0">
              <a:buNone/>
            </a:pPr>
            <a:endParaRPr lang="es-AR" dirty="0"/>
          </a:p>
        </p:txBody>
      </p:sp>
      <p:sp>
        <p:nvSpPr>
          <p:cNvPr id="3" name="Título 2"/>
          <p:cNvSpPr>
            <a:spLocks noGrp="1"/>
          </p:cNvSpPr>
          <p:nvPr>
            <p:ph type="title"/>
          </p:nvPr>
        </p:nvSpPr>
        <p:spPr>
          <a:xfrm>
            <a:off x="457200" y="274638"/>
            <a:ext cx="7931224" cy="562074"/>
          </a:xfrm>
        </p:spPr>
        <p:txBody>
          <a:bodyPr>
            <a:normAutofit fontScale="90000"/>
          </a:bodyPr>
          <a:lstStyle/>
          <a:p>
            <a:r>
              <a:rPr lang="es-AR" dirty="0"/>
              <a:t>RACIOCINIO</a:t>
            </a:r>
          </a:p>
        </p:txBody>
      </p:sp>
    </p:spTree>
    <p:extLst>
      <p:ext uri="{BB962C8B-B14F-4D97-AF65-F5344CB8AC3E}">
        <p14:creationId xmlns:p14="http://schemas.microsoft.com/office/powerpoint/2010/main" val="5172002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41564" y="332656"/>
            <a:ext cx="8994932" cy="6336704"/>
          </a:xfrm>
        </p:spPr>
        <p:txBody>
          <a:bodyPr>
            <a:normAutofit fontScale="47500" lnSpcReduction="20000"/>
          </a:bodyPr>
          <a:lstStyle/>
          <a:p>
            <a:endParaRPr lang="es-MX" dirty="0" smtClean="0"/>
          </a:p>
          <a:p>
            <a:pPr marL="109728" indent="0">
              <a:buNone/>
            </a:pPr>
            <a:r>
              <a:rPr lang="es-MX" sz="3400" dirty="0" smtClean="0"/>
              <a:t>	Es </a:t>
            </a:r>
            <a:r>
              <a:rPr lang="es-MX" sz="3400" dirty="0"/>
              <a:t>el resultado final de todo el funcionalismo psíquico, expresión de la capacidad y vigor intelectual de cada individuo. Todo pensamiento tiene un curso, contenido, intención (deseo y voluntad) y finalidad (determinada por la idea directriz).</a:t>
            </a:r>
          </a:p>
          <a:p>
            <a:r>
              <a:rPr lang="es-MX" sz="3400" dirty="0"/>
              <a:t>Tipos de pensamiento:</a:t>
            </a:r>
          </a:p>
          <a:p>
            <a:pPr marL="109728" indent="0">
              <a:buNone/>
            </a:pPr>
            <a:r>
              <a:rPr lang="es-MX" sz="3400" dirty="0" smtClean="0"/>
              <a:t>	</a:t>
            </a:r>
            <a:r>
              <a:rPr lang="es-MX" sz="3400" b="1" dirty="0" smtClean="0"/>
              <a:t>a-pensamiento </a:t>
            </a:r>
            <a:r>
              <a:rPr lang="es-MX" sz="3400" b="1" dirty="0"/>
              <a:t>mágico o primitivo</a:t>
            </a:r>
            <a:r>
              <a:rPr lang="es-MX" sz="3400" dirty="0"/>
              <a:t>: patrimonio de los niños y del hombre inferior (salvajes, semisalvajes y pueblos primitivos), se caracteriza por una escasa diferenciación entre el sujeto y el objeto, los fenómenos del mundo externo le son incompresibles y despiertan en él vivencias y estados afectivos que lo predisponen al </a:t>
            </a:r>
            <a:r>
              <a:rPr lang="es-MX" sz="3400" dirty="0" smtClean="0"/>
              <a:t>error. El </a:t>
            </a:r>
            <a:r>
              <a:rPr lang="es-MX" sz="3400" dirty="0"/>
              <a:t>pensamiento mágico atribuye a los objetos cualidades extrañas y les asigna poderes e influencias diversas. Es elaborado sobre las siguientes bases:</a:t>
            </a:r>
          </a:p>
          <a:p>
            <a:pPr marL="109728" indent="0">
              <a:buNone/>
            </a:pPr>
            <a:r>
              <a:rPr lang="es-MX" sz="3400" dirty="0" smtClean="0"/>
              <a:t>*</a:t>
            </a:r>
            <a:r>
              <a:rPr lang="es-MX" sz="3400" dirty="0"/>
              <a:t>cuando 2 objetos son parecidos tienen las mismas propiedades.</a:t>
            </a:r>
          </a:p>
          <a:p>
            <a:pPr marL="109728" indent="0">
              <a:buNone/>
            </a:pPr>
            <a:r>
              <a:rPr lang="es-MX" sz="3400" dirty="0"/>
              <a:t>*cuando 2 objetos están en contacto uno adquiere las propiedades del otro.</a:t>
            </a:r>
          </a:p>
          <a:p>
            <a:pPr marL="109728" indent="0">
              <a:buNone/>
            </a:pPr>
            <a:r>
              <a:rPr lang="es-MX" sz="3400" dirty="0"/>
              <a:t>En éste tipo de pensamiento enraízan todas las supersticiones imaginables y que perduran aún en nuestros días, ej.: la religión.</a:t>
            </a:r>
          </a:p>
          <a:p>
            <a:pPr marL="109728" indent="0">
              <a:buNone/>
            </a:pPr>
            <a:r>
              <a:rPr lang="es-MX" sz="3400" dirty="0"/>
              <a:t>En el adulto, si bien  el pensamiento mágico se encuentra en un plano secundario, ante la inminencia de algún riesgo imprevisto, vuelve al plano consciente proporcionando un alivio inmediato y transitorio capaz de tranquilizar la exaltación emocional desencadenada, ej.: acordarse de Dios ante una posible enfermedad.</a:t>
            </a:r>
          </a:p>
          <a:p>
            <a:pPr marL="109728" indent="0">
              <a:buNone/>
            </a:pPr>
            <a:r>
              <a:rPr lang="es-MX" sz="3400" dirty="0" smtClean="0"/>
              <a:t>	</a:t>
            </a:r>
            <a:r>
              <a:rPr lang="es-MX" sz="3400" b="1" dirty="0" smtClean="0"/>
              <a:t>b-pensamiento </a:t>
            </a:r>
            <a:r>
              <a:rPr lang="es-MX" sz="3400" b="1" dirty="0"/>
              <a:t>lógico</a:t>
            </a:r>
            <a:r>
              <a:rPr lang="es-MX" sz="3400" dirty="0"/>
              <a:t>: sustentado por 3 principios:</a:t>
            </a:r>
          </a:p>
          <a:p>
            <a:pPr marL="109728" indent="0">
              <a:buNone/>
            </a:pPr>
            <a:r>
              <a:rPr lang="es-MX" sz="3400" dirty="0"/>
              <a:t>*de la no contradicción: una cosa no puede ser más que ella misma en un mismo momento y bajo las mismas condiciones, es decir no es posible la afirmación  y la negación de una misma cosa al mismo tiempo.</a:t>
            </a:r>
          </a:p>
          <a:p>
            <a:pPr marL="109728" indent="0">
              <a:buNone/>
            </a:pPr>
            <a:r>
              <a:rPr lang="es-MX" sz="3400" dirty="0"/>
              <a:t>*del determinismo: toda modificación se halla regida por una o mas leyes, o sea todo fenómeno obedece a una causa y las mismas causas producen los mismos efectos.</a:t>
            </a:r>
          </a:p>
          <a:p>
            <a:pPr marL="109728" indent="0">
              <a:buNone/>
            </a:pPr>
            <a:r>
              <a:rPr lang="es-MX" sz="3400" dirty="0"/>
              <a:t>*de finalidad: la convergencia y la reunión de determinadas condiciones favorecen  la consecución de un fin.</a:t>
            </a:r>
          </a:p>
          <a:p>
            <a:endParaRPr lang="es-AR" sz="3400" dirty="0"/>
          </a:p>
        </p:txBody>
      </p:sp>
      <p:sp>
        <p:nvSpPr>
          <p:cNvPr id="3" name="Título 2"/>
          <p:cNvSpPr>
            <a:spLocks noGrp="1"/>
          </p:cNvSpPr>
          <p:nvPr>
            <p:ph type="title"/>
          </p:nvPr>
        </p:nvSpPr>
        <p:spPr>
          <a:xfrm>
            <a:off x="457200" y="0"/>
            <a:ext cx="7715200" cy="548680"/>
          </a:xfrm>
        </p:spPr>
        <p:txBody>
          <a:bodyPr>
            <a:normAutofit/>
          </a:bodyPr>
          <a:lstStyle/>
          <a:p>
            <a:r>
              <a:rPr lang="es-AR" sz="2800" dirty="0"/>
              <a:t>PENSAMIENTO</a:t>
            </a:r>
          </a:p>
        </p:txBody>
      </p:sp>
    </p:spTree>
    <p:extLst>
      <p:ext uri="{BB962C8B-B14F-4D97-AF65-F5344CB8AC3E}">
        <p14:creationId xmlns:p14="http://schemas.microsoft.com/office/powerpoint/2010/main" val="27159962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179512" y="735863"/>
            <a:ext cx="8291264" cy="6120680"/>
          </a:xfrm>
        </p:spPr>
        <p:txBody>
          <a:bodyPr>
            <a:normAutofit fontScale="77500" lnSpcReduction="20000"/>
          </a:bodyPr>
          <a:lstStyle/>
          <a:p>
            <a:pPr marL="109728" indent="0">
              <a:buNone/>
            </a:pPr>
            <a:r>
              <a:rPr lang="es-MX" b="1" u="sng" dirty="0"/>
              <a:t>A-del curso:</a:t>
            </a:r>
          </a:p>
          <a:p>
            <a:pPr marL="109728" indent="0">
              <a:buNone/>
            </a:pPr>
            <a:r>
              <a:rPr lang="es-MX" dirty="0" smtClean="0"/>
              <a:t>	</a:t>
            </a:r>
          </a:p>
          <a:p>
            <a:pPr marL="109728" indent="0">
              <a:buNone/>
            </a:pPr>
            <a:r>
              <a:rPr lang="es-MX" dirty="0" smtClean="0"/>
              <a:t>	*</a:t>
            </a:r>
            <a:r>
              <a:rPr lang="es-MX" b="1" dirty="0"/>
              <a:t>aceleración del pensamiento</a:t>
            </a:r>
            <a:r>
              <a:rPr lang="es-MX" dirty="0"/>
              <a:t>: </a:t>
            </a:r>
            <a:r>
              <a:rPr lang="es-MX" dirty="0" err="1"/>
              <a:t>taquipsiquia</a:t>
            </a:r>
            <a:r>
              <a:rPr lang="es-MX" dirty="0"/>
              <a:t> de la manía, culmina en la fuga de ideas en donde el sujeto va pasando de un tema a otro rápidamente y sin detenerse por lo que el pensamiento pierde su ilación lógica de conjunto sin perder la ilación entre los eslabones de la cadena asociativa. Esto supone cierta incoherencia pero si se observa atentamente se notará que la conversación ha iniciado con un tema determinado y luego cambió a otros asuntos sin perder la ilación de cada tema pero si la del conjunto, es decir se desvía de la idea directriz y se pierde en las secundarias (constelaciones asociativas), se va por las ramas.</a:t>
            </a:r>
          </a:p>
          <a:p>
            <a:pPr marL="109728" indent="0">
              <a:buNone/>
            </a:pPr>
            <a:r>
              <a:rPr lang="es-MX" dirty="0" smtClean="0"/>
              <a:t>	</a:t>
            </a:r>
          </a:p>
          <a:p>
            <a:pPr marL="109728" indent="0">
              <a:buNone/>
            </a:pPr>
            <a:r>
              <a:rPr lang="es-MX" dirty="0" smtClean="0"/>
              <a:t>	*</a:t>
            </a:r>
            <a:r>
              <a:rPr lang="es-MX" b="1" dirty="0"/>
              <a:t>retardo del pensamiento</a:t>
            </a:r>
            <a:r>
              <a:rPr lang="es-MX" dirty="0"/>
              <a:t>: </a:t>
            </a:r>
            <a:r>
              <a:rPr lang="es-MX" dirty="0" err="1"/>
              <a:t>bradipsiquia</a:t>
            </a:r>
            <a:r>
              <a:rPr lang="es-MX" dirty="0"/>
              <a:t>. Se da en la depresión (la idea directriz rechaza e imposibilita las asociaciones con otras constelaciones </a:t>
            </a:r>
            <a:r>
              <a:rPr lang="es-MX" dirty="0" err="1"/>
              <a:t>ideativas</a:t>
            </a:r>
            <a:r>
              <a:rPr lang="es-MX" dirty="0"/>
              <a:t>), confusión mental (por disminución cuantitativa de la actividad psíquica), demencias (por fallas en la evocación y pérdida del capital </a:t>
            </a:r>
            <a:r>
              <a:rPr lang="es-MX" dirty="0" err="1"/>
              <a:t>ideativo</a:t>
            </a:r>
            <a:r>
              <a:rPr lang="es-MX" dirty="0"/>
              <a:t>) y oligofrenias (por insuficiencia del desarrollo psíquico con carencia de material </a:t>
            </a:r>
            <a:r>
              <a:rPr lang="es-MX" dirty="0" err="1"/>
              <a:t>ideativo</a:t>
            </a:r>
            <a:r>
              <a:rPr lang="es-MX" dirty="0"/>
              <a:t>).</a:t>
            </a:r>
          </a:p>
          <a:p>
            <a:endParaRPr lang="es-AR" dirty="0"/>
          </a:p>
        </p:txBody>
      </p:sp>
      <p:sp>
        <p:nvSpPr>
          <p:cNvPr id="3" name="Título 2"/>
          <p:cNvSpPr>
            <a:spLocks noGrp="1"/>
          </p:cNvSpPr>
          <p:nvPr>
            <p:ph type="title"/>
          </p:nvPr>
        </p:nvSpPr>
        <p:spPr>
          <a:xfrm>
            <a:off x="462849" y="332656"/>
            <a:ext cx="6347048" cy="432048"/>
          </a:xfrm>
        </p:spPr>
        <p:txBody>
          <a:bodyPr>
            <a:normAutofit fontScale="90000"/>
          </a:bodyPr>
          <a:lstStyle/>
          <a:p>
            <a:r>
              <a:rPr lang="es-AR" sz="2700" dirty="0"/>
              <a:t>Alteraciones del </a:t>
            </a:r>
            <a:r>
              <a:rPr lang="es-AR" sz="2700" dirty="0" smtClean="0"/>
              <a:t>pensamiento</a:t>
            </a:r>
            <a:r>
              <a:rPr lang="es-AR" sz="2400" dirty="0"/>
              <a:t>:</a:t>
            </a:r>
            <a:endParaRPr lang="es-AR" dirty="0"/>
          </a:p>
        </p:txBody>
      </p:sp>
    </p:spTree>
    <p:extLst>
      <p:ext uri="{BB962C8B-B14F-4D97-AF65-F5344CB8AC3E}">
        <p14:creationId xmlns:p14="http://schemas.microsoft.com/office/powerpoint/2010/main" val="18468121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457200" y="260648"/>
            <a:ext cx="8579296" cy="6597352"/>
          </a:xfrm>
        </p:spPr>
        <p:txBody>
          <a:bodyPr>
            <a:normAutofit fontScale="62500" lnSpcReduction="20000"/>
          </a:bodyPr>
          <a:lstStyle/>
          <a:p>
            <a:pPr marL="109728" indent="0">
              <a:buNone/>
            </a:pPr>
            <a:r>
              <a:rPr lang="es-MX" dirty="0" smtClean="0"/>
              <a:t>	</a:t>
            </a:r>
            <a:r>
              <a:rPr lang="es-MX" sz="2900" dirty="0" smtClean="0"/>
              <a:t>*</a:t>
            </a:r>
            <a:r>
              <a:rPr lang="es-MX" sz="2900" b="1" dirty="0"/>
              <a:t>prolijidad del pensamiento</a:t>
            </a:r>
            <a:r>
              <a:rPr lang="es-MX" sz="2900" dirty="0"/>
              <a:t>: Hay una incapacidad para establecer los límites precisos entre lo fundamental y lo superfluo, el proceso mental se diluye en una infinidad de detalles carentes de importancia y no se consigue llegar al objetivo final del pensamiento. Se da en la demencia y oligofrenia.</a:t>
            </a:r>
          </a:p>
          <a:p>
            <a:pPr marL="109728" indent="0">
              <a:buNone/>
            </a:pPr>
            <a:endParaRPr lang="es-MX" sz="2900" b="1" dirty="0" smtClean="0"/>
          </a:p>
          <a:p>
            <a:pPr marL="109728" indent="0">
              <a:buNone/>
            </a:pPr>
            <a:r>
              <a:rPr lang="es-MX" sz="2900" b="1" dirty="0" smtClean="0"/>
              <a:t>	*</a:t>
            </a:r>
            <a:r>
              <a:rPr lang="es-MX" sz="2900" b="1" dirty="0" err="1"/>
              <a:t>perseveración</a:t>
            </a:r>
            <a:r>
              <a:rPr lang="es-MX" sz="2900" b="1" dirty="0"/>
              <a:t> del pensamiento</a:t>
            </a:r>
            <a:r>
              <a:rPr lang="es-MX" sz="2900" dirty="0"/>
              <a:t>: es la repetición periódica y automática de palabras (relacionadas con la idea directriz) que se intercalan en el curso del pensamiento. Se da en personas normales  (latiguillo; hábito creado a fin de tomarse el tiempo necesario para hallar las asociaciones </a:t>
            </a:r>
            <a:r>
              <a:rPr lang="es-MX" sz="2900" dirty="0" err="1"/>
              <a:t>ideativas</a:t>
            </a:r>
            <a:r>
              <a:rPr lang="es-MX" sz="2900" dirty="0"/>
              <a:t>), oligofrénicos (pobre vocabulario por lo que se ven precisados a emplear siempre los mismos términos y dar giros para expresar sus pensamientos), dementes (por falla en la vocación y rellenar los espacios en blanco en el curso del pensamiento) y esquizofrénicos (consecuencia del disloque psíquico general, señala el comienzo de la disgregación).</a:t>
            </a:r>
          </a:p>
          <a:p>
            <a:pPr marL="109728" indent="0">
              <a:buNone/>
            </a:pPr>
            <a:endParaRPr lang="es-MX" sz="2900" b="1" dirty="0" smtClean="0"/>
          </a:p>
          <a:p>
            <a:pPr marL="109728" indent="0">
              <a:buNone/>
            </a:pPr>
            <a:r>
              <a:rPr lang="es-MX" sz="2900" b="1" dirty="0" smtClean="0"/>
              <a:t>	*</a:t>
            </a:r>
            <a:r>
              <a:rPr lang="es-MX" sz="2900" b="1" dirty="0"/>
              <a:t>interceptación del pensamiento</a:t>
            </a:r>
            <a:r>
              <a:rPr lang="es-MX" sz="2900" dirty="0"/>
              <a:t>: interrupción brusca del curso del pensamiento. La perturbación produce en la conciencia la ausencia total de ideas y después de esta interrupción se reanuda el mecanismo asociativo retomando el pensamiento anterior, reiniciando otro distinto o a veces deteniéndose por completo.</a:t>
            </a:r>
          </a:p>
          <a:p>
            <a:pPr marL="109728" indent="0">
              <a:buNone/>
            </a:pPr>
            <a:r>
              <a:rPr lang="es-MX" sz="2900" dirty="0"/>
              <a:t> El enfermo tiene plena conciencia de lo que le sucede y lo embargan el asombro y la inquietud, al tratar de buscar una explicación  encuentra la causa en el mundo externo interpretando la interceptación como un robo del pensamiento. Cuando se retoma el mecanismo asociativo con un nuevo pensamiento el paciente lo puede interpretar como un pensamiento impuesto. Esta alteración es característica de la esquizofrenia.</a:t>
            </a:r>
          </a:p>
          <a:p>
            <a:endParaRPr lang="es-AR" sz="2900" dirty="0"/>
          </a:p>
        </p:txBody>
      </p:sp>
      <p:sp>
        <p:nvSpPr>
          <p:cNvPr id="3" name="Título 2"/>
          <p:cNvSpPr>
            <a:spLocks noGrp="1"/>
          </p:cNvSpPr>
          <p:nvPr>
            <p:ph type="title"/>
          </p:nvPr>
        </p:nvSpPr>
        <p:spPr>
          <a:xfrm flipV="1">
            <a:off x="457200" y="-41245"/>
            <a:ext cx="7715200" cy="45719"/>
          </a:xfrm>
        </p:spPr>
        <p:txBody>
          <a:bodyPr>
            <a:normAutofit fontScale="90000"/>
          </a:bodyPr>
          <a:lstStyle/>
          <a:p>
            <a:endParaRPr lang="es-AR"/>
          </a:p>
        </p:txBody>
      </p:sp>
    </p:spTree>
    <p:extLst>
      <p:ext uri="{BB962C8B-B14F-4D97-AF65-F5344CB8AC3E}">
        <p14:creationId xmlns:p14="http://schemas.microsoft.com/office/powerpoint/2010/main" val="14348284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251520" y="116632"/>
            <a:ext cx="8784976" cy="6741368"/>
          </a:xfrm>
        </p:spPr>
        <p:txBody>
          <a:bodyPr>
            <a:normAutofit fontScale="55000" lnSpcReduction="20000"/>
          </a:bodyPr>
          <a:lstStyle/>
          <a:p>
            <a:pPr marL="109728" indent="0">
              <a:buNone/>
            </a:pPr>
            <a:r>
              <a:rPr lang="es-MX" dirty="0" smtClean="0"/>
              <a:t>	</a:t>
            </a:r>
            <a:r>
              <a:rPr lang="es-MX" sz="3800" dirty="0" smtClean="0"/>
              <a:t>*</a:t>
            </a:r>
            <a:r>
              <a:rPr lang="es-MX" sz="3800" b="1" dirty="0"/>
              <a:t>rigidez del pensamiento</a:t>
            </a:r>
            <a:r>
              <a:rPr lang="es-MX" sz="3800" dirty="0"/>
              <a:t>: hay persistencia de una idea con una preferencia enfermiza y tenaz oposición a abandonarla. El pensamiento pierde su elasticidad. Se da en la esquizofrenia.</a:t>
            </a:r>
          </a:p>
          <a:p>
            <a:pPr marL="109728" indent="0">
              <a:buNone/>
            </a:pPr>
            <a:r>
              <a:rPr lang="es-MX" sz="3800" dirty="0"/>
              <a:t>*estereotipia del pensamiento: repetición continuada de palabras o frases que se intercalan en cualquier tramo del curso del pensamiento y que no tienen ninguna relación con el tema.</a:t>
            </a:r>
          </a:p>
          <a:p>
            <a:pPr marL="109728" indent="0">
              <a:buNone/>
            </a:pPr>
            <a:r>
              <a:rPr lang="es-MX" sz="3800" dirty="0" smtClean="0"/>
              <a:t>	</a:t>
            </a:r>
          </a:p>
          <a:p>
            <a:pPr marL="109728" indent="0">
              <a:buNone/>
            </a:pPr>
            <a:r>
              <a:rPr lang="es-MX" sz="3800" dirty="0" smtClean="0"/>
              <a:t>	*</a:t>
            </a:r>
            <a:r>
              <a:rPr lang="es-MX" sz="3800" b="1" dirty="0" err="1"/>
              <a:t>verbigeración</a:t>
            </a:r>
            <a:r>
              <a:rPr lang="es-MX" sz="3800" b="1" dirty="0"/>
              <a:t> del pensamiento</a:t>
            </a:r>
            <a:r>
              <a:rPr lang="es-MX" sz="3800" dirty="0"/>
              <a:t>: repetición de las mismas palabras o frases durante un tiempo y que no obedece a ninguna exigencia de elaboración del pensamiento. Hay falta de sentido y carencia de toda lógica presentándose intempestivamente como un automatismo. Se da en las demencias graves y esquizofrenia.</a:t>
            </a:r>
          </a:p>
          <a:p>
            <a:pPr marL="109728" indent="0">
              <a:buNone/>
            </a:pPr>
            <a:r>
              <a:rPr lang="es-MX" sz="3800" dirty="0" smtClean="0"/>
              <a:t>	</a:t>
            </a:r>
          </a:p>
          <a:p>
            <a:pPr marL="109728" indent="0">
              <a:buNone/>
            </a:pPr>
            <a:r>
              <a:rPr lang="es-MX" sz="3800" b="1" dirty="0" smtClean="0"/>
              <a:t>	*</a:t>
            </a:r>
            <a:r>
              <a:rPr lang="es-MX" sz="3800" b="1" dirty="0"/>
              <a:t>disgregación del pensamiento</a:t>
            </a:r>
            <a:r>
              <a:rPr lang="es-MX" sz="3800" dirty="0"/>
              <a:t>: la idea directriz carece de vigor debido a la pobreza de la energía voluntaria por lo que esta se va perdiendo y el pensamiento es conducido en forma alternada y caprichosa por las diversas constelaciones asociativas. Es fragmentariamente comprensible pero debido a la falta de idea directriz los fragmentos no pueden ser conectados entre si por lo que en totalidad resulta ilógico e incomprensible. Se da en las demencias graves y esquizofrenias.</a:t>
            </a:r>
          </a:p>
          <a:p>
            <a:pPr marL="109728" indent="0">
              <a:buNone/>
            </a:pPr>
            <a:r>
              <a:rPr lang="es-MX" sz="3800" dirty="0" smtClean="0"/>
              <a:t>	</a:t>
            </a:r>
            <a:r>
              <a:rPr lang="es-MX" sz="3800" b="1" dirty="0" smtClean="0"/>
              <a:t>*ensalada </a:t>
            </a:r>
            <a:r>
              <a:rPr lang="es-MX" sz="3800" b="1" dirty="0"/>
              <a:t>de palabras</a:t>
            </a:r>
            <a:r>
              <a:rPr lang="es-MX" sz="3800" dirty="0" smtClean="0"/>
              <a:t>: son palabras </a:t>
            </a:r>
            <a:r>
              <a:rPr lang="es-MX" sz="3800" dirty="0"/>
              <a:t>aisladas inconexas. Esquizofrenia.</a:t>
            </a:r>
          </a:p>
          <a:p>
            <a:endParaRPr lang="es-AR" sz="3100" dirty="0"/>
          </a:p>
        </p:txBody>
      </p:sp>
      <p:sp>
        <p:nvSpPr>
          <p:cNvPr id="3" name="Título 2"/>
          <p:cNvSpPr>
            <a:spLocks noGrp="1"/>
          </p:cNvSpPr>
          <p:nvPr>
            <p:ph type="title"/>
          </p:nvPr>
        </p:nvSpPr>
        <p:spPr>
          <a:xfrm>
            <a:off x="457200" y="-45719"/>
            <a:ext cx="7859216" cy="45719"/>
          </a:xfrm>
        </p:spPr>
        <p:txBody>
          <a:bodyPr>
            <a:normAutofit fontScale="90000"/>
          </a:bodyPr>
          <a:lstStyle/>
          <a:p>
            <a:endParaRPr lang="es-AR" dirty="0"/>
          </a:p>
        </p:txBody>
      </p:sp>
    </p:spTree>
    <p:extLst>
      <p:ext uri="{BB962C8B-B14F-4D97-AF65-F5344CB8AC3E}">
        <p14:creationId xmlns:p14="http://schemas.microsoft.com/office/powerpoint/2010/main" val="17072262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179512" y="404664"/>
            <a:ext cx="8964488" cy="6336704"/>
          </a:xfrm>
        </p:spPr>
        <p:txBody>
          <a:bodyPr/>
          <a:lstStyle/>
          <a:p>
            <a:pPr marL="109728" indent="0">
              <a:buNone/>
            </a:pPr>
            <a:endParaRPr lang="es-AR" dirty="0" smtClean="0"/>
          </a:p>
          <a:p>
            <a:pPr marL="109728" indent="0">
              <a:buNone/>
            </a:pPr>
            <a:r>
              <a:rPr lang="es-AR" dirty="0"/>
              <a:t>	</a:t>
            </a:r>
            <a:r>
              <a:rPr lang="es-AR" dirty="0" smtClean="0"/>
              <a:t>*</a:t>
            </a:r>
            <a:r>
              <a:rPr lang="es-AR" b="1" u="sng" dirty="0" smtClean="0"/>
              <a:t>Ideas patológicas</a:t>
            </a:r>
            <a:r>
              <a:rPr lang="es-AR" dirty="0" smtClean="0"/>
              <a:t>:</a:t>
            </a:r>
            <a:r>
              <a:rPr lang="es-MX" dirty="0"/>
              <a:t>. Cuando se producen fuertes tensiones emocionales la carga afectiva impregna las ideas relacionadas con un acontecimiento. Desde ese momento las ideas vigorizadas, se convierten en patológicas, pues por su tensión y dominio, perturban en mayor o menor grado el desenvolvimiento normal de la psique. Las ideas patológicas son: delirantes, obsesivas, sobrevaloradas y fijas.</a:t>
            </a:r>
            <a:endParaRPr lang="es-AR" dirty="0"/>
          </a:p>
        </p:txBody>
      </p:sp>
      <p:sp>
        <p:nvSpPr>
          <p:cNvPr id="3" name="Título 2"/>
          <p:cNvSpPr>
            <a:spLocks noGrp="1"/>
          </p:cNvSpPr>
          <p:nvPr>
            <p:ph type="title"/>
          </p:nvPr>
        </p:nvSpPr>
        <p:spPr>
          <a:xfrm>
            <a:off x="457200" y="0"/>
            <a:ext cx="8435280" cy="548680"/>
          </a:xfrm>
        </p:spPr>
        <p:txBody>
          <a:bodyPr>
            <a:normAutofit/>
          </a:bodyPr>
          <a:lstStyle/>
          <a:p>
            <a:r>
              <a:rPr lang="es-AR" sz="2800" b="0" u="sng" dirty="0"/>
              <a:t>B-Del contenido</a:t>
            </a:r>
            <a:r>
              <a:rPr lang="es-AR" sz="2800" dirty="0"/>
              <a:t>:</a:t>
            </a:r>
          </a:p>
        </p:txBody>
      </p:sp>
    </p:spTree>
    <p:extLst>
      <p:ext uri="{BB962C8B-B14F-4D97-AF65-F5344CB8AC3E}">
        <p14:creationId xmlns:p14="http://schemas.microsoft.com/office/powerpoint/2010/main" val="23131997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107504" y="188640"/>
            <a:ext cx="8928992" cy="6408712"/>
          </a:xfrm>
        </p:spPr>
        <p:txBody>
          <a:bodyPr>
            <a:normAutofit fontScale="85000" lnSpcReduction="10000"/>
          </a:bodyPr>
          <a:lstStyle/>
          <a:p>
            <a:pPr marL="109728" indent="0">
              <a:buNone/>
            </a:pPr>
            <a:r>
              <a:rPr lang="es-MX" b="1" dirty="0"/>
              <a:t>1)Ideas delirantes</a:t>
            </a:r>
          </a:p>
          <a:p>
            <a:pPr marL="109728" indent="0">
              <a:buNone/>
            </a:pPr>
            <a:endParaRPr lang="es-MX" dirty="0" smtClean="0"/>
          </a:p>
          <a:p>
            <a:pPr marL="109728" indent="0">
              <a:buNone/>
            </a:pPr>
            <a:r>
              <a:rPr lang="es-MX" dirty="0"/>
              <a:t>	</a:t>
            </a:r>
            <a:r>
              <a:rPr lang="es-MX" dirty="0" smtClean="0"/>
              <a:t>La </a:t>
            </a:r>
            <a:r>
              <a:rPr lang="es-MX" dirty="0"/>
              <a:t>idea delirante es un error patológico elaborado por un juicio perturbado que la hace irreductible, esta idea condiciona la conducta del enfermo que, convencido de su realidad, lucha por defenderla e imponerla.</a:t>
            </a:r>
          </a:p>
          <a:p>
            <a:pPr marL="109728" indent="0">
              <a:buNone/>
            </a:pPr>
            <a:r>
              <a:rPr lang="es-MX" dirty="0" smtClean="0"/>
              <a:t>	Las </a:t>
            </a:r>
            <a:r>
              <a:rPr lang="es-MX" dirty="0"/>
              <a:t>tres condiciones indispensables para considerar una idea como delirantes son: 1)su significado erróneo 2) la irreductibilidad del error 3) el carácter morboso del error.</a:t>
            </a:r>
          </a:p>
          <a:p>
            <a:pPr marL="109728" indent="0">
              <a:buNone/>
            </a:pPr>
            <a:r>
              <a:rPr lang="es-MX" dirty="0"/>
              <a:t>Clasificación de las ideas delirantes</a:t>
            </a:r>
          </a:p>
          <a:p>
            <a:endParaRPr lang="es-MX" dirty="0"/>
          </a:p>
          <a:p>
            <a:pPr marL="109728" indent="0">
              <a:buNone/>
            </a:pPr>
            <a:r>
              <a:rPr lang="es-MX" dirty="0"/>
              <a:t>*</a:t>
            </a:r>
            <a:r>
              <a:rPr lang="es-MX" u="sng" dirty="0"/>
              <a:t>Según su significado:</a:t>
            </a:r>
          </a:p>
          <a:p>
            <a:pPr marL="109728" indent="0">
              <a:buNone/>
            </a:pPr>
            <a:r>
              <a:rPr lang="es-MX" dirty="0"/>
              <a:t>	- ideas delirantes verosímiles: con significado posible, relacionadas con lo que 	  	  puede ser, suceder o probarse.</a:t>
            </a:r>
          </a:p>
          <a:p>
            <a:pPr marL="109728" indent="0">
              <a:buNone/>
            </a:pPr>
            <a:r>
              <a:rPr lang="es-MX" dirty="0"/>
              <a:t>	- ideas delirantes inverosímiles: con significado absurdo, no posible.</a:t>
            </a:r>
          </a:p>
          <a:p>
            <a:r>
              <a:rPr lang="es-MX" dirty="0"/>
              <a:t> </a:t>
            </a:r>
          </a:p>
          <a:p>
            <a:endParaRPr lang="es-AR" dirty="0"/>
          </a:p>
        </p:txBody>
      </p:sp>
      <p:sp>
        <p:nvSpPr>
          <p:cNvPr id="3" name="Título 2"/>
          <p:cNvSpPr>
            <a:spLocks noGrp="1"/>
          </p:cNvSpPr>
          <p:nvPr>
            <p:ph type="title"/>
          </p:nvPr>
        </p:nvSpPr>
        <p:spPr>
          <a:xfrm>
            <a:off x="457200" y="-171400"/>
            <a:ext cx="8003232" cy="171400"/>
          </a:xfrm>
        </p:spPr>
        <p:txBody>
          <a:bodyPr>
            <a:normAutofit fontScale="90000"/>
          </a:bodyPr>
          <a:lstStyle/>
          <a:p>
            <a:endParaRPr lang="es-AR" dirty="0"/>
          </a:p>
        </p:txBody>
      </p:sp>
    </p:spTree>
    <p:extLst>
      <p:ext uri="{BB962C8B-B14F-4D97-AF65-F5344CB8AC3E}">
        <p14:creationId xmlns:p14="http://schemas.microsoft.com/office/powerpoint/2010/main" val="18013691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107504" y="188640"/>
            <a:ext cx="8856984" cy="6669360"/>
          </a:xfrm>
        </p:spPr>
        <p:txBody>
          <a:bodyPr/>
          <a:lstStyle/>
          <a:p>
            <a:pPr marL="109728" indent="0">
              <a:buNone/>
            </a:pPr>
            <a:r>
              <a:rPr lang="es-MX" dirty="0"/>
              <a:t>*</a:t>
            </a:r>
            <a:r>
              <a:rPr lang="es-MX" u="sng" dirty="0"/>
              <a:t>Según la carga afectiva</a:t>
            </a:r>
            <a:r>
              <a:rPr lang="es-MX" dirty="0"/>
              <a:t>:</a:t>
            </a:r>
          </a:p>
          <a:p>
            <a:pPr marL="109728" indent="0">
              <a:buNone/>
            </a:pPr>
            <a:r>
              <a:rPr lang="es-MX" dirty="0"/>
              <a:t>	</a:t>
            </a:r>
          </a:p>
          <a:p>
            <a:pPr marL="109728" indent="0">
              <a:buNone/>
            </a:pPr>
            <a:r>
              <a:rPr lang="es-MX" dirty="0" smtClean="0"/>
              <a:t>          </a:t>
            </a:r>
            <a:r>
              <a:rPr lang="es-MX" b="1" dirty="0" smtClean="0"/>
              <a:t>Ideas </a:t>
            </a:r>
            <a:r>
              <a:rPr lang="es-MX" b="1" dirty="0"/>
              <a:t>delirantes placenteras</a:t>
            </a:r>
            <a:r>
              <a:rPr lang="es-MX" dirty="0"/>
              <a:t>: humor agradable, optimismo, satisfacción:</a:t>
            </a:r>
          </a:p>
          <a:p>
            <a:pPr marL="109728" indent="0">
              <a:buNone/>
            </a:pPr>
            <a:r>
              <a:rPr lang="es-MX" dirty="0"/>
              <a:t>	 -MEGALÒMANAS: se cree poderoso, adinerado, rico,...</a:t>
            </a:r>
          </a:p>
          <a:p>
            <a:pPr marL="109728" indent="0">
              <a:buNone/>
            </a:pPr>
            <a:r>
              <a:rPr lang="es-MX" dirty="0"/>
              <a:t>	 -MÍSTICAS: se cree un elegido de Dios, con poderes sobrenaturales, un 		              	   santo, una divinidad,...</a:t>
            </a:r>
          </a:p>
          <a:p>
            <a:pPr marL="109728" indent="0">
              <a:buNone/>
            </a:pPr>
            <a:r>
              <a:rPr lang="es-MX" dirty="0"/>
              <a:t>	 -ERÓTICAS: se cree amado irresistiblemente .</a:t>
            </a:r>
          </a:p>
          <a:p>
            <a:pPr marL="109728" indent="0">
              <a:buNone/>
            </a:pPr>
            <a:r>
              <a:rPr lang="es-MX" dirty="0"/>
              <a:t>	 -PALIGNÓSTICAS: predominan conceptos de vida eterna, reencarnaciones.</a:t>
            </a:r>
          </a:p>
          <a:p>
            <a:pPr marL="109728" indent="0">
              <a:buNone/>
            </a:pPr>
            <a:endParaRPr lang="es-AR" dirty="0"/>
          </a:p>
        </p:txBody>
      </p:sp>
      <p:sp>
        <p:nvSpPr>
          <p:cNvPr id="3" name="Título 2"/>
          <p:cNvSpPr>
            <a:spLocks noGrp="1"/>
          </p:cNvSpPr>
          <p:nvPr>
            <p:ph type="title"/>
          </p:nvPr>
        </p:nvSpPr>
        <p:spPr>
          <a:xfrm>
            <a:off x="457200" y="-45719"/>
            <a:ext cx="8003232" cy="45719"/>
          </a:xfrm>
        </p:spPr>
        <p:txBody>
          <a:bodyPr>
            <a:normAutofit fontScale="90000"/>
          </a:bodyPr>
          <a:lstStyle/>
          <a:p>
            <a:endParaRPr lang="es-AR" dirty="0"/>
          </a:p>
        </p:txBody>
      </p:sp>
    </p:spTree>
    <p:extLst>
      <p:ext uri="{BB962C8B-B14F-4D97-AF65-F5344CB8AC3E}">
        <p14:creationId xmlns:p14="http://schemas.microsoft.com/office/powerpoint/2010/main" val="14646782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69273" y="0"/>
            <a:ext cx="8928992" cy="6669360"/>
          </a:xfrm>
        </p:spPr>
        <p:txBody>
          <a:bodyPr>
            <a:normAutofit lnSpcReduction="10000"/>
          </a:bodyPr>
          <a:lstStyle/>
          <a:p>
            <a:pPr marL="109728" indent="0">
              <a:buNone/>
            </a:pPr>
            <a:r>
              <a:rPr lang="es-MX" dirty="0"/>
              <a:t> </a:t>
            </a:r>
            <a:r>
              <a:rPr lang="es-MX" dirty="0" smtClean="0"/>
              <a:t>		</a:t>
            </a:r>
            <a:r>
              <a:rPr lang="es-MX" b="1" dirty="0" smtClean="0"/>
              <a:t>ideas </a:t>
            </a:r>
            <a:r>
              <a:rPr lang="es-MX" b="1" dirty="0"/>
              <a:t>delirantes </a:t>
            </a:r>
            <a:r>
              <a:rPr lang="es-MX" b="1" dirty="0" err="1"/>
              <a:t>displacenteras</a:t>
            </a:r>
            <a:r>
              <a:rPr lang="es-MX" b="1" dirty="0"/>
              <a:t>:</a:t>
            </a:r>
          </a:p>
          <a:p>
            <a:pPr marL="109728" indent="0">
              <a:buNone/>
            </a:pPr>
            <a:r>
              <a:rPr lang="es-MX" dirty="0"/>
              <a:t>  	-</a:t>
            </a:r>
            <a:r>
              <a:rPr lang="es-MX" dirty="0" smtClean="0"/>
              <a:t>HIPOCONDRÍACAS</a:t>
            </a:r>
            <a:r>
              <a:rPr lang="es-MX" dirty="0"/>
              <a:t>: malestar y afecciones inexistentes corporales.</a:t>
            </a:r>
          </a:p>
          <a:p>
            <a:pPr marL="109728" indent="0">
              <a:buNone/>
            </a:pPr>
            <a:r>
              <a:rPr lang="es-MX" dirty="0"/>
              <a:t>	-</a:t>
            </a:r>
            <a:r>
              <a:rPr lang="es-MX" dirty="0" smtClean="0"/>
              <a:t>MELANCÓLICAS</a:t>
            </a:r>
            <a:r>
              <a:rPr lang="es-MX" dirty="0"/>
              <a:t>: propias de estados depresivos  y tristeza, son ideas de                                                                                                                                          </a:t>
            </a:r>
            <a:r>
              <a:rPr lang="es-MX" dirty="0" err="1"/>
              <a:t>autoculpabilidad</a:t>
            </a:r>
            <a:r>
              <a:rPr lang="es-MX" dirty="0"/>
              <a:t>, ruina, indignidad y suicidio.</a:t>
            </a:r>
          </a:p>
          <a:p>
            <a:pPr marL="109728" indent="0">
              <a:buNone/>
            </a:pPr>
            <a:r>
              <a:rPr lang="es-MX" dirty="0"/>
              <a:t>	-DE PERJUICIO: se cree afectado o perjudicado por alguien.</a:t>
            </a:r>
          </a:p>
          <a:p>
            <a:pPr marL="109728" indent="0">
              <a:buNone/>
            </a:pPr>
            <a:r>
              <a:rPr lang="es-MX" dirty="0"/>
              <a:t>	-DE </a:t>
            </a:r>
            <a:r>
              <a:rPr lang="es-MX" dirty="0" smtClean="0"/>
              <a:t>PERSECUCIÓN O PARANOICAS: </a:t>
            </a:r>
            <a:r>
              <a:rPr lang="es-MX" dirty="0"/>
              <a:t>cree que le persiguen.</a:t>
            </a:r>
          </a:p>
          <a:p>
            <a:pPr marL="109728" indent="0">
              <a:buNone/>
            </a:pPr>
            <a:r>
              <a:rPr lang="es-MX" dirty="0"/>
              <a:t>	-REIVINDICATIVAS: se cree perjudicado injustamente y se afana </a:t>
            </a:r>
            <a:r>
              <a:rPr lang="es-MX" dirty="0" smtClean="0"/>
              <a:t>en reivindicarlo </a:t>
            </a:r>
            <a:r>
              <a:rPr lang="es-MX" dirty="0"/>
              <a:t>desproporcionadamente. Son lo s llamados “pleitistas”.</a:t>
            </a:r>
          </a:p>
          <a:p>
            <a:pPr marL="109728" indent="0">
              <a:buNone/>
            </a:pPr>
            <a:r>
              <a:rPr lang="es-MX" dirty="0"/>
              <a:t>        </a:t>
            </a:r>
            <a:r>
              <a:rPr lang="es-MX" dirty="0" smtClean="0"/>
              <a:t>-CELOTÍPICAS: </a:t>
            </a:r>
            <a:r>
              <a:rPr lang="es-MX" dirty="0"/>
              <a:t>contrapunto de las eróticas. teme de la infidelidad de su </a:t>
            </a:r>
            <a:r>
              <a:rPr lang="es-MX" dirty="0" smtClean="0"/>
              <a:t>pareja</a:t>
            </a:r>
            <a:r>
              <a:rPr lang="es-MX" dirty="0"/>
              <a:t>.</a:t>
            </a:r>
            <a:endParaRPr lang="es-AR" dirty="0"/>
          </a:p>
        </p:txBody>
      </p:sp>
      <p:sp>
        <p:nvSpPr>
          <p:cNvPr id="3" name="Título 2"/>
          <p:cNvSpPr>
            <a:spLocks noGrp="1"/>
          </p:cNvSpPr>
          <p:nvPr>
            <p:ph type="title"/>
          </p:nvPr>
        </p:nvSpPr>
        <p:spPr>
          <a:xfrm>
            <a:off x="457200" y="-45719"/>
            <a:ext cx="7931224" cy="45719"/>
          </a:xfrm>
        </p:spPr>
        <p:txBody>
          <a:bodyPr>
            <a:normAutofit fontScale="90000"/>
          </a:bodyPr>
          <a:lstStyle/>
          <a:p>
            <a:endParaRPr lang="es-AR"/>
          </a:p>
        </p:txBody>
      </p:sp>
    </p:spTree>
    <p:extLst>
      <p:ext uri="{BB962C8B-B14F-4D97-AF65-F5344CB8AC3E}">
        <p14:creationId xmlns:p14="http://schemas.microsoft.com/office/powerpoint/2010/main" val="32132336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107504" y="116632"/>
            <a:ext cx="8856984" cy="6741368"/>
          </a:xfrm>
        </p:spPr>
        <p:txBody>
          <a:bodyPr>
            <a:normAutofit fontScale="62500" lnSpcReduction="20000"/>
          </a:bodyPr>
          <a:lstStyle/>
          <a:p>
            <a:pPr marL="109728" indent="0">
              <a:buNone/>
            </a:pPr>
            <a:r>
              <a:rPr lang="es-MX" sz="2900" b="1" dirty="0"/>
              <a:t>2) Ideas </a:t>
            </a:r>
            <a:r>
              <a:rPr lang="es-MX" sz="2900" b="1" dirty="0" smtClean="0"/>
              <a:t>obsesivas:</a:t>
            </a:r>
            <a:endParaRPr lang="es-MX" sz="2900" b="1" dirty="0"/>
          </a:p>
          <a:p>
            <a:pPr marL="109728" indent="0">
              <a:buNone/>
            </a:pPr>
            <a:r>
              <a:rPr lang="es-MX" dirty="0" smtClean="0"/>
              <a:t>	Una </a:t>
            </a:r>
            <a:r>
              <a:rPr lang="es-MX" dirty="0"/>
              <a:t>idea errónea donde el error es reconocido por el paciente, él comprende que es patológico, por ello no condiciona la conducta o sólo lo hace parcialmente. La idea obsesiva tiene su origen en el núcleo instinto-afectivo de la personalidad, de allí emana el intenso potencial afectivo que carga la idea y que al mismo tiempo obra selectivamente sobre la voluntad, a quien inhibe en forma parcial. Así, el enfermo reconociendo lo patológico de sus concepciones trata de rechazarlas pero debido a la gran carga afectiva y a la escasa voluntad, las ideas se arraigan fuertemente. </a:t>
            </a:r>
          </a:p>
          <a:p>
            <a:pPr marL="109728" indent="0">
              <a:buNone/>
            </a:pPr>
            <a:r>
              <a:rPr lang="es-MX" dirty="0"/>
              <a:t> </a:t>
            </a:r>
            <a:r>
              <a:rPr lang="es-MX" u="sng" dirty="0"/>
              <a:t>Tipos de ideas obsesivas</a:t>
            </a:r>
            <a:r>
              <a:rPr lang="es-MX" dirty="0"/>
              <a:t>:</a:t>
            </a:r>
          </a:p>
          <a:p>
            <a:pPr marL="109728" indent="0">
              <a:buNone/>
            </a:pPr>
            <a:r>
              <a:rPr lang="es-MX" dirty="0"/>
              <a:t> </a:t>
            </a:r>
            <a:r>
              <a:rPr lang="es-MX" dirty="0" smtClean="0"/>
              <a:t>	</a:t>
            </a:r>
            <a:r>
              <a:rPr lang="es-MX" i="1" dirty="0" smtClean="0"/>
              <a:t>Ideas </a:t>
            </a:r>
            <a:r>
              <a:rPr lang="es-MX" i="1" dirty="0"/>
              <a:t>obsesivas impulsivas</a:t>
            </a:r>
            <a:r>
              <a:rPr lang="es-MX" dirty="0"/>
              <a:t>: aquellas donde el paciente dominado por ideas obsesivas se siente impulsado a hacer cosas que no coinciden con un comportamiento normal. A veces son opuestos a las buenas costumbres de convivencia social. El comportamiento está condicionado.</a:t>
            </a:r>
          </a:p>
          <a:p>
            <a:pPr marL="109728" indent="0">
              <a:buNone/>
            </a:pPr>
            <a:r>
              <a:rPr lang="es-MX" dirty="0"/>
              <a:t> </a:t>
            </a:r>
          </a:p>
          <a:p>
            <a:pPr marL="109728" indent="0">
              <a:buNone/>
            </a:pPr>
            <a:r>
              <a:rPr lang="es-MX" dirty="0"/>
              <a:t> </a:t>
            </a:r>
            <a:r>
              <a:rPr lang="es-MX" dirty="0" smtClean="0"/>
              <a:t>	</a:t>
            </a:r>
            <a:r>
              <a:rPr lang="es-MX" i="1" dirty="0" smtClean="0"/>
              <a:t>Ideas </a:t>
            </a:r>
            <a:r>
              <a:rPr lang="es-MX" i="1" dirty="0"/>
              <a:t>obsesivo-fóbicas</a:t>
            </a:r>
            <a:r>
              <a:rPr lang="es-MX" dirty="0"/>
              <a:t>: la fobia es un  miedo irracional, y el paciente vive dominado por un miedo permanente y sin motivo real externo .</a:t>
            </a:r>
          </a:p>
          <a:p>
            <a:pPr marL="109728" indent="0">
              <a:buNone/>
            </a:pPr>
            <a:r>
              <a:rPr lang="es-MX" dirty="0"/>
              <a:t>Ideas obsesivas puras: no engendran estados secundarios impulsivos ni fóbicos. No sobrepasan el marco del pensamiento, la carga afectiva es baja.</a:t>
            </a:r>
          </a:p>
          <a:p>
            <a:pPr marL="109728" indent="0">
              <a:buNone/>
            </a:pPr>
            <a:endParaRPr lang="es-MX" u="sng" dirty="0"/>
          </a:p>
          <a:p>
            <a:pPr marL="109728" indent="0">
              <a:buNone/>
            </a:pPr>
            <a:r>
              <a:rPr lang="es-MX" u="sng" dirty="0"/>
              <a:t>Tipos de ideas obsesivas puras: </a:t>
            </a:r>
          </a:p>
          <a:p>
            <a:pPr marL="109728" indent="0">
              <a:buNone/>
            </a:pPr>
            <a:r>
              <a:rPr lang="es-MX" dirty="0" smtClean="0"/>
              <a:t>	</a:t>
            </a:r>
            <a:r>
              <a:rPr lang="es-MX" i="1" dirty="0" smtClean="0"/>
              <a:t>Escrúpulos </a:t>
            </a:r>
            <a:r>
              <a:rPr lang="es-MX" i="1" dirty="0"/>
              <a:t>obsesivos</a:t>
            </a:r>
            <a:r>
              <a:rPr lang="es-MX" dirty="0"/>
              <a:t>: producen duda permanente.</a:t>
            </a:r>
          </a:p>
          <a:p>
            <a:pPr marL="109728" indent="0">
              <a:buNone/>
            </a:pPr>
            <a:r>
              <a:rPr lang="es-MX" dirty="0" smtClean="0"/>
              <a:t>	</a:t>
            </a:r>
            <a:r>
              <a:rPr lang="es-MX" i="1" dirty="0" smtClean="0"/>
              <a:t>Recuerdos </a:t>
            </a:r>
            <a:r>
              <a:rPr lang="es-MX" i="1" dirty="0"/>
              <a:t>obsesivos</a:t>
            </a:r>
            <a:r>
              <a:rPr lang="es-MX" dirty="0"/>
              <a:t>: originadas en representaciones mnemónicas, recuerdos que se repiten persistentemente en la conciencia.</a:t>
            </a:r>
          </a:p>
          <a:p>
            <a:pPr marL="109728" indent="0">
              <a:buNone/>
            </a:pPr>
            <a:r>
              <a:rPr lang="es-MX" dirty="0" smtClean="0"/>
              <a:t>	</a:t>
            </a:r>
            <a:r>
              <a:rPr lang="es-MX" i="1" dirty="0" smtClean="0"/>
              <a:t>Obsesiones </a:t>
            </a:r>
            <a:r>
              <a:rPr lang="es-MX" i="1" dirty="0"/>
              <a:t>especulativas o interrogativas</a:t>
            </a:r>
            <a:r>
              <a:rPr lang="es-MX" dirty="0"/>
              <a:t>: el paciente tiene una necesidad patológica de formularse preguntas interminables respecto a todo.</a:t>
            </a:r>
          </a:p>
          <a:p>
            <a:pPr marL="109728" indent="0">
              <a:buNone/>
            </a:pPr>
            <a:endParaRPr lang="es-AR" dirty="0"/>
          </a:p>
        </p:txBody>
      </p:sp>
      <p:sp>
        <p:nvSpPr>
          <p:cNvPr id="3" name="Título 2"/>
          <p:cNvSpPr>
            <a:spLocks noGrp="1"/>
          </p:cNvSpPr>
          <p:nvPr>
            <p:ph type="title"/>
          </p:nvPr>
        </p:nvSpPr>
        <p:spPr>
          <a:xfrm>
            <a:off x="457200" y="-243408"/>
            <a:ext cx="7859216" cy="72008"/>
          </a:xfrm>
        </p:spPr>
        <p:txBody>
          <a:bodyPr>
            <a:normAutofit fontScale="90000"/>
          </a:bodyPr>
          <a:lstStyle/>
          <a:p>
            <a:endParaRPr lang="es-AR"/>
          </a:p>
        </p:txBody>
      </p:sp>
    </p:spTree>
    <p:extLst>
      <p:ext uri="{BB962C8B-B14F-4D97-AF65-F5344CB8AC3E}">
        <p14:creationId xmlns:p14="http://schemas.microsoft.com/office/powerpoint/2010/main" val="30099633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0" y="188640"/>
            <a:ext cx="9036496" cy="6470179"/>
          </a:xfrm>
        </p:spPr>
        <p:txBody>
          <a:bodyPr>
            <a:normAutofit fontScale="92500" lnSpcReduction="10000"/>
          </a:bodyPr>
          <a:lstStyle/>
          <a:p>
            <a:pPr marL="109728" indent="0">
              <a:buNone/>
            </a:pPr>
            <a:r>
              <a:rPr lang="es-MX" dirty="0" smtClean="0"/>
              <a:t>	</a:t>
            </a:r>
            <a:r>
              <a:rPr lang="es-MX" b="1" dirty="0" smtClean="0"/>
              <a:t>3</a:t>
            </a:r>
            <a:r>
              <a:rPr lang="es-MX" b="1" dirty="0"/>
              <a:t>) Ideas sobrevaloradas</a:t>
            </a:r>
          </a:p>
          <a:p>
            <a:pPr marL="109728" indent="0">
              <a:buNone/>
            </a:pPr>
            <a:r>
              <a:rPr lang="es-MX" dirty="0" smtClean="0"/>
              <a:t>	Ideas </a:t>
            </a:r>
            <a:r>
              <a:rPr lang="es-MX" dirty="0"/>
              <a:t>creadas por un juicio parcialmente interferido por los estados afectivos pasionales, surgidos de las creencias y de los conceptos científicos, políticos, religiosos, filosóficos, etc. Se halla colocada en los lindes de la idea delirante y puede transformarse en tal.</a:t>
            </a:r>
          </a:p>
          <a:p>
            <a:pPr marL="109728" indent="0">
              <a:buNone/>
            </a:pPr>
            <a:r>
              <a:rPr lang="es-MX" dirty="0" smtClean="0"/>
              <a:t>	</a:t>
            </a:r>
            <a:r>
              <a:rPr lang="es-MX" b="1" dirty="0" smtClean="0"/>
              <a:t>4</a:t>
            </a:r>
            <a:r>
              <a:rPr lang="es-MX" b="1" dirty="0"/>
              <a:t>) Ideas fijas</a:t>
            </a:r>
          </a:p>
          <a:p>
            <a:pPr marL="109728" indent="0">
              <a:buNone/>
            </a:pPr>
            <a:r>
              <a:rPr lang="es-MX" dirty="0" smtClean="0"/>
              <a:t>	Constituye </a:t>
            </a:r>
            <a:r>
              <a:rPr lang="es-MX" dirty="0"/>
              <a:t>una entidad de menor gravedad que las restantes, de las que se distingue netamente. La idea fija persiste en la conciencia sin perturbar el pensamiento ya que no participa de sus elaboraciones y, por lo tanto, no condiciona la conducta. Aflora a la mente como la representación persistente de un hecho que provoco intensa repercusión afectiva, al principio genera gran repercusión pero con el tiempo se mitiga la carga afectiva y queda como idea </a:t>
            </a:r>
            <a:r>
              <a:rPr lang="es-MX" dirty="0" smtClean="0"/>
              <a:t>parásita.</a:t>
            </a:r>
            <a:endParaRPr lang="es-MX" dirty="0"/>
          </a:p>
          <a:p>
            <a:endParaRPr lang="es-AR" dirty="0"/>
          </a:p>
        </p:txBody>
      </p:sp>
      <p:sp>
        <p:nvSpPr>
          <p:cNvPr id="3" name="Título 2"/>
          <p:cNvSpPr>
            <a:spLocks noGrp="1"/>
          </p:cNvSpPr>
          <p:nvPr>
            <p:ph type="title"/>
          </p:nvPr>
        </p:nvSpPr>
        <p:spPr>
          <a:xfrm flipV="1">
            <a:off x="457200" y="0"/>
            <a:ext cx="7715200" cy="46038"/>
          </a:xfrm>
        </p:spPr>
        <p:txBody>
          <a:bodyPr>
            <a:normAutofit fontScale="90000"/>
          </a:bodyPr>
          <a:lstStyle/>
          <a:p>
            <a:endParaRPr lang="es-AR"/>
          </a:p>
        </p:txBody>
      </p:sp>
    </p:spTree>
    <p:extLst>
      <p:ext uri="{BB962C8B-B14F-4D97-AF65-F5344CB8AC3E}">
        <p14:creationId xmlns:p14="http://schemas.microsoft.com/office/powerpoint/2010/main" val="19604795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457200" y="7245423"/>
            <a:ext cx="7355160" cy="72008"/>
          </a:xfrm>
        </p:spPr>
        <p:txBody>
          <a:bodyPr>
            <a:normAutofit fontScale="25000" lnSpcReduction="20000"/>
          </a:bodyPr>
          <a:lstStyle/>
          <a:p>
            <a:endParaRPr lang="es-AR" dirty="0"/>
          </a:p>
        </p:txBody>
      </p:sp>
      <p:sp>
        <p:nvSpPr>
          <p:cNvPr id="3" name="Título 2"/>
          <p:cNvSpPr>
            <a:spLocks noGrp="1"/>
          </p:cNvSpPr>
          <p:nvPr>
            <p:ph type="title"/>
          </p:nvPr>
        </p:nvSpPr>
        <p:spPr>
          <a:xfrm>
            <a:off x="323528" y="-747464"/>
            <a:ext cx="8712968" cy="6466730"/>
          </a:xfrm>
        </p:spPr>
        <p:txBody>
          <a:bodyPr>
            <a:normAutofit/>
          </a:bodyPr>
          <a:lstStyle/>
          <a:p>
            <a:r>
              <a:rPr lang="es-MX" sz="9600" dirty="0" smtClean="0"/>
              <a:t>AFECTIVIDAD</a:t>
            </a:r>
            <a:endParaRPr lang="es-AR" sz="9600" dirty="0"/>
          </a:p>
        </p:txBody>
      </p:sp>
    </p:spTree>
    <p:extLst>
      <p:ext uri="{BB962C8B-B14F-4D97-AF65-F5344CB8AC3E}">
        <p14:creationId xmlns:p14="http://schemas.microsoft.com/office/powerpoint/2010/main" val="30073970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457200" y="116632"/>
            <a:ext cx="8507288" cy="6840760"/>
          </a:xfrm>
        </p:spPr>
        <p:txBody>
          <a:bodyPr>
            <a:normAutofit fontScale="85000" lnSpcReduction="20000"/>
          </a:bodyPr>
          <a:lstStyle/>
          <a:p>
            <a:pPr marL="109728" indent="0">
              <a:buNone/>
            </a:pPr>
            <a:r>
              <a:rPr lang="es-MX" dirty="0" smtClean="0"/>
              <a:t>	Bajo </a:t>
            </a:r>
            <a:r>
              <a:rPr lang="es-MX" dirty="0"/>
              <a:t>esta denominación se comprende todo lo que concierne a la esfera afectiva, que constituye el principal engranaje que impulsa toda la vida psicológica de la personalidad. El hombre está conformado psíquicamente para experimentar estados afectivos que pueden ser agradables o desagradables. Cuando las fuerzas instintivas son satisfechas se produce sedación de los impulsos y aparición de estados afectivos placenteros. Cuando, por el contrario,  las fuerzas instintivas no son satisfechas aumenta la tensión impulsiva y la excitación, provocando estados afectivos </a:t>
            </a:r>
            <a:r>
              <a:rPr lang="es-MX" dirty="0" err="1"/>
              <a:t>displacenteros</a:t>
            </a:r>
            <a:r>
              <a:rPr lang="es-MX" dirty="0"/>
              <a:t>. </a:t>
            </a:r>
          </a:p>
          <a:p>
            <a:pPr marL="109728" indent="0">
              <a:buNone/>
            </a:pPr>
            <a:r>
              <a:rPr lang="es-MX" dirty="0" smtClean="0"/>
              <a:t>	La </a:t>
            </a:r>
            <a:r>
              <a:rPr lang="es-MX" dirty="0"/>
              <a:t>afectividad tiene un origen común junto con el instinto (núcleo instintivo-afectivo), que impregna toda la personalidad, pues participa de las elaboraciones intelectuales y la actividad en general, condicionando siempre la conducta.</a:t>
            </a:r>
          </a:p>
          <a:p>
            <a:pPr marL="109728" indent="0">
              <a:buNone/>
            </a:pPr>
            <a:r>
              <a:rPr lang="es-MX" dirty="0" smtClean="0"/>
              <a:t>	</a:t>
            </a:r>
            <a:r>
              <a:rPr lang="es-MX" b="1" dirty="0" smtClean="0"/>
              <a:t>Temple </a:t>
            </a:r>
            <a:r>
              <a:rPr lang="es-MX" b="1" dirty="0"/>
              <a:t>general</a:t>
            </a:r>
            <a:r>
              <a:rPr lang="es-MX" dirty="0"/>
              <a:t>: plataforma o estado afectivo básico, con una capacidad reactiva hacia lo placentero o </a:t>
            </a:r>
            <a:r>
              <a:rPr lang="es-MX" dirty="0" err="1"/>
              <a:t>displacentero</a:t>
            </a:r>
            <a:r>
              <a:rPr lang="es-MX" dirty="0"/>
              <a:t>, según las condiciones reinantes.</a:t>
            </a:r>
          </a:p>
          <a:p>
            <a:pPr marL="109728" indent="0">
              <a:buNone/>
            </a:pPr>
            <a:r>
              <a:rPr lang="es-MX" dirty="0" smtClean="0"/>
              <a:t>	</a:t>
            </a:r>
            <a:r>
              <a:rPr lang="es-MX" b="1" dirty="0" smtClean="0"/>
              <a:t>Humor </a:t>
            </a:r>
            <a:r>
              <a:rPr lang="es-MX" b="1" dirty="0"/>
              <a:t>o estado de ánimo</a:t>
            </a:r>
            <a:r>
              <a:rPr lang="es-MX" dirty="0"/>
              <a:t>: representa el matiz, placentero o </a:t>
            </a:r>
            <a:r>
              <a:rPr lang="es-MX" dirty="0" err="1"/>
              <a:t>displacentero</a:t>
            </a:r>
            <a:r>
              <a:rPr lang="es-MX" dirty="0"/>
              <a:t>, que desplaza dicha carga afectiva de acuerdo con las circunstancias actuantes.</a:t>
            </a:r>
          </a:p>
          <a:p>
            <a:endParaRPr lang="es-AR" dirty="0"/>
          </a:p>
        </p:txBody>
      </p:sp>
      <p:sp>
        <p:nvSpPr>
          <p:cNvPr id="3" name="Título 2"/>
          <p:cNvSpPr>
            <a:spLocks noGrp="1"/>
          </p:cNvSpPr>
          <p:nvPr>
            <p:ph type="title"/>
          </p:nvPr>
        </p:nvSpPr>
        <p:spPr>
          <a:xfrm>
            <a:off x="457200" y="-243408"/>
            <a:ext cx="7859216" cy="72008"/>
          </a:xfrm>
        </p:spPr>
        <p:txBody>
          <a:bodyPr>
            <a:normAutofit fontScale="90000"/>
          </a:bodyPr>
          <a:lstStyle/>
          <a:p>
            <a:endParaRPr lang="es-AR" dirty="0"/>
          </a:p>
        </p:txBody>
      </p:sp>
    </p:spTree>
    <p:extLst>
      <p:ext uri="{BB962C8B-B14F-4D97-AF65-F5344CB8AC3E}">
        <p14:creationId xmlns:p14="http://schemas.microsoft.com/office/powerpoint/2010/main" val="24209216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179512" y="476673"/>
            <a:ext cx="8784976" cy="5760640"/>
          </a:xfrm>
        </p:spPr>
        <p:txBody>
          <a:bodyPr>
            <a:noAutofit/>
          </a:bodyPr>
          <a:lstStyle/>
          <a:p>
            <a:pPr marL="109728" indent="0">
              <a:buNone/>
            </a:pPr>
            <a:r>
              <a:rPr lang="es-MX" sz="1900" b="1" u="sng" dirty="0" smtClean="0"/>
              <a:t>1-Emociones</a:t>
            </a:r>
            <a:r>
              <a:rPr lang="es-MX" sz="1900" dirty="0"/>
              <a:t>: consiste en un cambio súbito que se produce en el humor o estado de ánimo. Lo importante es la brusquedad de la reacción que provoca en el ánimo, con el agregado de gran repercusión física y psíquica. Las emociones se clasifican en simples y complejas</a:t>
            </a:r>
          </a:p>
          <a:p>
            <a:pPr marL="109728" indent="0">
              <a:buNone/>
            </a:pPr>
            <a:r>
              <a:rPr lang="es-MX" sz="1900" dirty="0"/>
              <a:t>	</a:t>
            </a:r>
            <a:r>
              <a:rPr lang="es-MX" sz="1900" dirty="0" smtClean="0"/>
              <a:t>* </a:t>
            </a:r>
            <a:r>
              <a:rPr lang="es-MX" sz="1900" b="1" dirty="0"/>
              <a:t>primarias o simples</a:t>
            </a:r>
            <a:r>
              <a:rPr lang="es-MX" sz="1900" dirty="0"/>
              <a:t>: forma más primaria de reaccionar, íntimamente ligadas al núcleo instinto-afectivo. Responden siempre al instinto de conservación. Las emociones simples son tres:</a:t>
            </a:r>
          </a:p>
          <a:p>
            <a:pPr marL="109728" indent="0">
              <a:buNone/>
            </a:pPr>
            <a:r>
              <a:rPr lang="es-MX" sz="1900" dirty="0" smtClean="0"/>
              <a:t>-</a:t>
            </a:r>
            <a:r>
              <a:rPr lang="es-MX" sz="1900" i="1" dirty="0" smtClean="0"/>
              <a:t>Miedo</a:t>
            </a:r>
            <a:r>
              <a:rPr lang="es-MX" sz="1900" dirty="0"/>
              <a:t>: respuesta del instinto de conservación del individuo ante los peligros que amenazan su integridad. Se experimenta subjetivamente achicamiento o reducción de toda se personalidad. La huida es la actitud correspondiente al miedo.</a:t>
            </a:r>
          </a:p>
          <a:p>
            <a:pPr marL="109728" indent="0">
              <a:buNone/>
            </a:pPr>
            <a:r>
              <a:rPr lang="es-MX" sz="1900" dirty="0" smtClean="0"/>
              <a:t>-</a:t>
            </a:r>
            <a:r>
              <a:rPr lang="es-MX" sz="1900" i="1" dirty="0" smtClean="0"/>
              <a:t>Cólera</a:t>
            </a:r>
            <a:r>
              <a:rPr lang="es-MX" sz="1900" dirty="0"/>
              <a:t>: es una vivencia opuesta al miedo, el sujeto experimenta psíquicamente una sensación de expansión, como un aumento de su personalidad. La actitud que el individuo asume es de ataque y destrucción.</a:t>
            </a:r>
          </a:p>
          <a:p>
            <a:pPr marL="109728" indent="0">
              <a:buNone/>
            </a:pPr>
            <a:r>
              <a:rPr lang="es-MX" sz="1900" i="1" dirty="0" smtClean="0"/>
              <a:t>-Amor</a:t>
            </a:r>
            <a:r>
              <a:rPr lang="es-MX" sz="1900" dirty="0"/>
              <a:t>:  produce una vivencia de expansión y proyección hacia el exterior, en pos del objetivo determinante de la emoción. La actitud es el acercamiento o inclinación del individuo hacia el objetivo que desencadena la emoción.</a:t>
            </a:r>
          </a:p>
          <a:p>
            <a:pPr marL="109728" indent="0">
              <a:buNone/>
            </a:pPr>
            <a:r>
              <a:rPr lang="es-MX" sz="2000" dirty="0"/>
              <a:t>	</a:t>
            </a:r>
            <a:endParaRPr lang="es-AR" sz="2000" dirty="0"/>
          </a:p>
        </p:txBody>
      </p:sp>
      <p:sp>
        <p:nvSpPr>
          <p:cNvPr id="3" name="Título 2"/>
          <p:cNvSpPr>
            <a:spLocks noGrp="1"/>
          </p:cNvSpPr>
          <p:nvPr>
            <p:ph type="title"/>
          </p:nvPr>
        </p:nvSpPr>
        <p:spPr>
          <a:xfrm>
            <a:off x="11716" y="22207"/>
            <a:ext cx="7872652" cy="454465"/>
          </a:xfrm>
        </p:spPr>
        <p:txBody>
          <a:bodyPr>
            <a:normAutofit fontScale="90000"/>
          </a:bodyPr>
          <a:lstStyle/>
          <a:p>
            <a:r>
              <a:rPr lang="es-MX" sz="2400" dirty="0"/>
              <a:t>Contenido de los estados afectivos</a:t>
            </a:r>
            <a:endParaRPr lang="es-AR" sz="2400" dirty="0"/>
          </a:p>
        </p:txBody>
      </p:sp>
    </p:spTree>
    <p:extLst>
      <p:ext uri="{BB962C8B-B14F-4D97-AF65-F5344CB8AC3E}">
        <p14:creationId xmlns:p14="http://schemas.microsoft.com/office/powerpoint/2010/main" val="32251678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251520" y="260648"/>
            <a:ext cx="8568952" cy="6480720"/>
          </a:xfrm>
        </p:spPr>
        <p:txBody>
          <a:bodyPr>
            <a:normAutofit fontScale="85000" lnSpcReduction="20000"/>
          </a:bodyPr>
          <a:lstStyle/>
          <a:p>
            <a:pPr marL="109728" indent="0">
              <a:buNone/>
            </a:pPr>
            <a:r>
              <a:rPr lang="es-MX" dirty="0" smtClean="0"/>
              <a:t>	* </a:t>
            </a:r>
            <a:r>
              <a:rPr lang="es-MX" b="1" dirty="0"/>
              <a:t>secundarias o complejas</a:t>
            </a:r>
            <a:r>
              <a:rPr lang="es-MX" dirty="0"/>
              <a:t>: las emociones primarias de miedo, cólera y amor producen, por su repercusión en la psique estados placenteros o </a:t>
            </a:r>
            <a:r>
              <a:rPr lang="es-MX" dirty="0" err="1"/>
              <a:t>displacenteros</a:t>
            </a:r>
            <a:r>
              <a:rPr lang="es-MX" dirty="0"/>
              <a:t>, placer y displacer son emociones de mayor complejidad y secundarias a ellas.</a:t>
            </a:r>
          </a:p>
          <a:p>
            <a:pPr marL="109728" indent="0">
              <a:buNone/>
            </a:pPr>
            <a:r>
              <a:rPr lang="es-MX" dirty="0"/>
              <a:t>-</a:t>
            </a:r>
            <a:r>
              <a:rPr lang="es-MX" i="1" dirty="0"/>
              <a:t>Angustia y ansiedad</a:t>
            </a:r>
            <a:r>
              <a:rPr lang="es-MX" dirty="0"/>
              <a:t>: emoción compleja </a:t>
            </a:r>
            <a:r>
              <a:rPr lang="es-MX" dirty="0" err="1"/>
              <a:t>displacentera</a:t>
            </a:r>
            <a:r>
              <a:rPr lang="es-MX" dirty="0"/>
              <a:t>. La angustia tiene un componente somático originado en los temores con respecto a la salud física. La ansiedad se origina en temores de orden psíquico: preocupaciones morales, económicas, familiares, etc. Ambas presentan un cuadro semiológico objetivo y subjetivo. Objetivamente la angustia culmina generalmente con el llanto y la ansiedad con descarga motora. Subjetivamente: constricción de garganta y precordial.</a:t>
            </a:r>
          </a:p>
          <a:p>
            <a:pPr marL="109728" indent="0">
              <a:buNone/>
            </a:pPr>
            <a:r>
              <a:rPr lang="es-MX" dirty="0"/>
              <a:t>-</a:t>
            </a:r>
            <a:r>
              <a:rPr lang="es-MX" i="1" dirty="0"/>
              <a:t>Pena</a:t>
            </a:r>
            <a:r>
              <a:rPr lang="es-MX" dirty="0"/>
              <a:t>: emoción compleja </a:t>
            </a:r>
            <a:r>
              <a:rPr lang="es-MX" dirty="0" err="1"/>
              <a:t>desplacentera</a:t>
            </a:r>
            <a:r>
              <a:rPr lang="es-MX" dirty="0"/>
              <a:t>; congoja, aflicción, tristeza.</a:t>
            </a:r>
          </a:p>
          <a:p>
            <a:pPr marL="109728" indent="0">
              <a:buNone/>
            </a:pPr>
            <a:r>
              <a:rPr lang="es-MX" dirty="0"/>
              <a:t>-</a:t>
            </a:r>
            <a:r>
              <a:rPr lang="es-MX" i="1" dirty="0"/>
              <a:t>Disgusto</a:t>
            </a:r>
            <a:r>
              <a:rPr lang="es-MX" dirty="0"/>
              <a:t>: emoción </a:t>
            </a:r>
            <a:r>
              <a:rPr lang="es-MX" dirty="0" err="1"/>
              <a:t>desplacentera</a:t>
            </a:r>
            <a:r>
              <a:rPr lang="es-MX" dirty="0"/>
              <a:t> compleja. Pena con agregado de algo de enojo, inquietud, fastidio.</a:t>
            </a:r>
          </a:p>
          <a:p>
            <a:pPr marL="109728" indent="0">
              <a:buNone/>
            </a:pPr>
            <a:r>
              <a:rPr lang="es-MX" dirty="0"/>
              <a:t>-</a:t>
            </a:r>
            <a:r>
              <a:rPr lang="es-MX" i="1" dirty="0"/>
              <a:t>Otras emociones complejas</a:t>
            </a:r>
            <a:r>
              <a:rPr lang="es-MX" dirty="0"/>
              <a:t>: susto, vergüenza, repugnancia, alegría, felicidad, optimismo, satisfacción</a:t>
            </a:r>
          </a:p>
          <a:p>
            <a:endParaRPr lang="es-AR" dirty="0"/>
          </a:p>
        </p:txBody>
      </p:sp>
      <p:sp>
        <p:nvSpPr>
          <p:cNvPr id="3" name="Título 2"/>
          <p:cNvSpPr>
            <a:spLocks noGrp="1"/>
          </p:cNvSpPr>
          <p:nvPr>
            <p:ph type="title"/>
          </p:nvPr>
        </p:nvSpPr>
        <p:spPr>
          <a:xfrm>
            <a:off x="395536" y="-459432"/>
            <a:ext cx="7571184" cy="288032"/>
          </a:xfrm>
        </p:spPr>
        <p:txBody>
          <a:bodyPr>
            <a:normAutofit fontScale="90000"/>
          </a:bodyPr>
          <a:lstStyle/>
          <a:p>
            <a:endParaRPr lang="es-AR" dirty="0"/>
          </a:p>
        </p:txBody>
      </p:sp>
    </p:spTree>
    <p:extLst>
      <p:ext uri="{BB962C8B-B14F-4D97-AF65-F5344CB8AC3E}">
        <p14:creationId xmlns:p14="http://schemas.microsoft.com/office/powerpoint/2010/main" val="29348392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179512" y="274638"/>
            <a:ext cx="8784976" cy="6394722"/>
          </a:xfrm>
        </p:spPr>
        <p:txBody>
          <a:bodyPr>
            <a:normAutofit fontScale="92500" lnSpcReduction="10000"/>
          </a:bodyPr>
          <a:lstStyle/>
          <a:p>
            <a:pPr marL="109728" indent="0">
              <a:buNone/>
            </a:pPr>
            <a:r>
              <a:rPr lang="es-MX" b="1" u="sng" dirty="0"/>
              <a:t>2</a:t>
            </a:r>
            <a:r>
              <a:rPr lang="es-MX" b="1" u="sng" dirty="0" smtClean="0"/>
              <a:t>-Afectos:</a:t>
            </a:r>
          </a:p>
          <a:p>
            <a:pPr marL="109728" indent="0">
              <a:buNone/>
            </a:pPr>
            <a:r>
              <a:rPr lang="es-MX" dirty="0"/>
              <a:t>E</a:t>
            </a:r>
            <a:r>
              <a:rPr lang="es-MX" dirty="0" smtClean="0"/>
              <a:t>l </a:t>
            </a:r>
            <a:r>
              <a:rPr lang="es-MX" dirty="0"/>
              <a:t>afecto es la inclinación natural que mediante el aporte emocional primario conduce el humor hacia el polo placentero o </a:t>
            </a:r>
            <a:r>
              <a:rPr lang="es-MX" dirty="0" err="1"/>
              <a:t>desplacentero</a:t>
            </a:r>
            <a:r>
              <a:rPr lang="es-MX" dirty="0"/>
              <a:t>. Los afectos tienen mayor estabilidad y duración, mientras que las emociones solo producen cambios bruscos y fugaces en el humor.</a:t>
            </a:r>
          </a:p>
          <a:p>
            <a:pPr marL="109728" indent="0">
              <a:buNone/>
            </a:pPr>
            <a:r>
              <a:rPr lang="es-MX" dirty="0"/>
              <a:t>En el desplacer priman las emociones primarias de miedo y cólera. En un plano más elevado: pena, angustia, ansiedad, todo relacionado a los intereses del individuo, sujeto al instinto de conservación. Estas manifestaciones intelectualizadas dan lugar a las inclinaciones egoístas.</a:t>
            </a:r>
          </a:p>
          <a:p>
            <a:pPr marL="109728" indent="0">
              <a:buNone/>
            </a:pPr>
            <a:r>
              <a:rPr lang="es-MX" dirty="0"/>
              <a:t>En el placer domina la emoción primaria amor; en un plano más elevado: alegría, optimismo, satisfacción. Al intelectualizarse dan lugar a las inclinaciones altruistas.</a:t>
            </a:r>
          </a:p>
          <a:p>
            <a:endParaRPr lang="es-AR" dirty="0"/>
          </a:p>
        </p:txBody>
      </p:sp>
      <p:sp>
        <p:nvSpPr>
          <p:cNvPr id="3" name="Título 2"/>
          <p:cNvSpPr>
            <a:spLocks noGrp="1"/>
          </p:cNvSpPr>
          <p:nvPr>
            <p:ph type="title"/>
          </p:nvPr>
        </p:nvSpPr>
        <p:spPr>
          <a:xfrm flipV="1">
            <a:off x="457200" y="188640"/>
            <a:ext cx="7571184" cy="85998"/>
          </a:xfrm>
        </p:spPr>
        <p:txBody>
          <a:bodyPr>
            <a:normAutofit fontScale="90000"/>
          </a:bodyPr>
          <a:lstStyle/>
          <a:p>
            <a:endParaRPr lang="es-AR" dirty="0"/>
          </a:p>
        </p:txBody>
      </p:sp>
    </p:spTree>
    <p:extLst>
      <p:ext uri="{BB962C8B-B14F-4D97-AF65-F5344CB8AC3E}">
        <p14:creationId xmlns:p14="http://schemas.microsoft.com/office/powerpoint/2010/main" val="24711634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179512" y="260648"/>
            <a:ext cx="8640960" cy="6480720"/>
          </a:xfrm>
        </p:spPr>
        <p:txBody>
          <a:bodyPr/>
          <a:lstStyle/>
          <a:p>
            <a:pPr marL="109728" indent="0">
              <a:buNone/>
            </a:pPr>
            <a:r>
              <a:rPr lang="es-MX" b="1" u="sng" dirty="0" smtClean="0"/>
              <a:t>3-Sentimientos</a:t>
            </a:r>
            <a:r>
              <a:rPr lang="es-MX" dirty="0"/>
              <a:t>: </a:t>
            </a:r>
            <a:endParaRPr lang="es-MX" dirty="0" smtClean="0"/>
          </a:p>
          <a:p>
            <a:pPr marL="109728" indent="0">
              <a:buNone/>
            </a:pPr>
            <a:r>
              <a:rPr lang="es-MX" dirty="0"/>
              <a:t>	E</a:t>
            </a:r>
            <a:r>
              <a:rPr lang="es-MX" dirty="0" smtClean="0"/>
              <a:t>s </a:t>
            </a:r>
            <a:r>
              <a:rPr lang="es-MX" dirty="0"/>
              <a:t>un estado afectivo elaborado en la conciencia mediante el aporte del juicio y el razonamiento, que le confieren las características de estabilidad, subjetividad y especificidad individual. Hay sentimiento egoístas, altruistas e impersonales.</a:t>
            </a:r>
          </a:p>
          <a:p>
            <a:pPr marL="109728" indent="0">
              <a:buNone/>
            </a:pPr>
            <a:r>
              <a:rPr lang="es-MX" b="1" u="sng" dirty="0" smtClean="0"/>
              <a:t>4-Pasiones</a:t>
            </a:r>
            <a:r>
              <a:rPr lang="es-MX" dirty="0"/>
              <a:t>: </a:t>
            </a:r>
            <a:endParaRPr lang="es-MX" dirty="0" smtClean="0"/>
          </a:p>
          <a:p>
            <a:pPr marL="109728" indent="0">
              <a:buNone/>
            </a:pPr>
            <a:r>
              <a:rPr lang="es-MX" dirty="0"/>
              <a:t>	E</a:t>
            </a:r>
            <a:r>
              <a:rPr lang="es-MX" dirty="0" smtClean="0"/>
              <a:t>stado </a:t>
            </a:r>
            <a:r>
              <a:rPr lang="es-MX" dirty="0"/>
              <a:t>afectivo intelectualizado, de gran persistencia que en ocasiones puede hacerse permanente. Tiene gran impregnación sentimental condicionando la vida y en parte la conducta del sujeto. Hay pasiones altruistas, egoístas e impersonales.</a:t>
            </a:r>
          </a:p>
          <a:p>
            <a:endParaRPr lang="es-AR" dirty="0"/>
          </a:p>
        </p:txBody>
      </p:sp>
      <p:sp>
        <p:nvSpPr>
          <p:cNvPr id="3" name="Título 2"/>
          <p:cNvSpPr>
            <a:spLocks noGrp="1"/>
          </p:cNvSpPr>
          <p:nvPr>
            <p:ph type="title"/>
          </p:nvPr>
        </p:nvSpPr>
        <p:spPr>
          <a:xfrm>
            <a:off x="457200" y="-171400"/>
            <a:ext cx="8229600" cy="171400"/>
          </a:xfrm>
        </p:spPr>
        <p:txBody>
          <a:bodyPr>
            <a:normAutofit fontScale="90000"/>
          </a:bodyPr>
          <a:lstStyle/>
          <a:p>
            <a:endParaRPr lang="es-AR" dirty="0"/>
          </a:p>
        </p:txBody>
      </p:sp>
    </p:spTree>
    <p:extLst>
      <p:ext uri="{BB962C8B-B14F-4D97-AF65-F5344CB8AC3E}">
        <p14:creationId xmlns:p14="http://schemas.microsoft.com/office/powerpoint/2010/main" val="26207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234154" y="548680"/>
            <a:ext cx="8370293" cy="6192688"/>
          </a:xfrm>
        </p:spPr>
        <p:txBody>
          <a:bodyPr>
            <a:normAutofit fontScale="70000" lnSpcReduction="20000"/>
          </a:bodyPr>
          <a:lstStyle/>
          <a:p>
            <a:pPr marL="109728" indent="0">
              <a:buNone/>
            </a:pPr>
            <a:r>
              <a:rPr lang="es-MX" dirty="0" smtClean="0"/>
              <a:t>	En </a:t>
            </a:r>
            <a:r>
              <a:rPr lang="es-MX" dirty="0"/>
              <a:t>condiciones normales, el tono afectivo se mantiene en equilibrio entre los dos polos de la afectividad (placer y desplacer), esto se denomina eutimia.</a:t>
            </a:r>
          </a:p>
          <a:p>
            <a:pPr marL="109728" indent="0">
              <a:buNone/>
            </a:pPr>
            <a:r>
              <a:rPr lang="es-MX" b="1" dirty="0" smtClean="0"/>
              <a:t>*Alteraciones </a:t>
            </a:r>
            <a:r>
              <a:rPr lang="es-MX" b="1" dirty="0"/>
              <a:t>cuantitativas: </a:t>
            </a:r>
          </a:p>
          <a:p>
            <a:pPr marL="109728" indent="0">
              <a:buNone/>
            </a:pPr>
            <a:r>
              <a:rPr lang="es-MX" b="1" dirty="0" smtClean="0"/>
              <a:t>1-Hipertimia</a:t>
            </a:r>
            <a:r>
              <a:rPr lang="es-MX" dirty="0"/>
              <a:t>: exaltación de la afectividad. El tono afectivo puede oscilar desde la euforia y la excitación hasta la tristeza y depresión, o sea entre el placer y el desplacer patológicos. Por consiguiente hablaremos de una </a:t>
            </a:r>
            <a:r>
              <a:rPr lang="es-MX" dirty="0" err="1"/>
              <a:t>hipertimia</a:t>
            </a:r>
            <a:r>
              <a:rPr lang="es-MX" dirty="0"/>
              <a:t> placentera y una </a:t>
            </a:r>
            <a:r>
              <a:rPr lang="es-MX" dirty="0" err="1"/>
              <a:t>desplacentera</a:t>
            </a:r>
            <a:r>
              <a:rPr lang="es-MX" dirty="0"/>
              <a:t>.</a:t>
            </a:r>
          </a:p>
          <a:p>
            <a:pPr marL="109728" indent="0">
              <a:buNone/>
            </a:pPr>
            <a:r>
              <a:rPr lang="es-MX" b="1" dirty="0" smtClean="0"/>
              <a:t>A-</a:t>
            </a:r>
            <a:r>
              <a:rPr lang="es-MX" b="1" dirty="0" err="1" smtClean="0"/>
              <a:t>Hipertimia</a:t>
            </a:r>
            <a:r>
              <a:rPr lang="es-MX" b="1" dirty="0" smtClean="0"/>
              <a:t> </a:t>
            </a:r>
            <a:r>
              <a:rPr lang="es-MX" b="1" dirty="0"/>
              <a:t>placentera</a:t>
            </a:r>
            <a:r>
              <a:rPr lang="es-MX" dirty="0"/>
              <a:t>: </a:t>
            </a:r>
          </a:p>
          <a:p>
            <a:r>
              <a:rPr lang="es-MX" i="1" dirty="0"/>
              <a:t>Euforia simple</a:t>
            </a:r>
            <a:r>
              <a:rPr lang="es-MX" dirty="0"/>
              <a:t>: se manifiesta con gran locuacidad, optimismo, satisfacción, ríe fácilmente e irradia felicidad.</a:t>
            </a:r>
          </a:p>
          <a:p>
            <a:r>
              <a:rPr lang="es-MX" i="1" dirty="0" err="1"/>
              <a:t>Moria</a:t>
            </a:r>
            <a:r>
              <a:rPr lang="es-MX" i="1" dirty="0"/>
              <a:t>: </a:t>
            </a:r>
            <a:r>
              <a:rPr lang="es-MX" dirty="0"/>
              <a:t>es una forma especial de alegría carente de estado afectivo. Es una alegría sin razón de ser. Se observa en tumores del lóbulo frontal.</a:t>
            </a:r>
          </a:p>
          <a:p>
            <a:r>
              <a:rPr lang="es-MX" i="1" dirty="0" err="1"/>
              <a:t>Hipomania</a:t>
            </a:r>
            <a:r>
              <a:rPr lang="es-MX" dirty="0"/>
              <a:t>: alegría incontenible con </a:t>
            </a:r>
            <a:r>
              <a:rPr lang="es-MX" dirty="0" err="1"/>
              <a:t>cenestopatia</a:t>
            </a:r>
            <a:r>
              <a:rPr lang="es-MX" dirty="0"/>
              <a:t> placentera con sensación de perfección y plenitud en la vida orgánica que lleva a sentimientos de optimismo, capacidad y triunfo.</a:t>
            </a:r>
          </a:p>
          <a:p>
            <a:r>
              <a:rPr lang="es-MX" i="1" dirty="0"/>
              <a:t>Manía</a:t>
            </a:r>
            <a:r>
              <a:rPr lang="es-MX" dirty="0"/>
              <a:t>:  es el grado más intenso de la exaltación afectiva en el que además de la alegría, se produce el paso fácil hacia la cólera y el furor. Debilitación de las inhibiciones normales, exaltación de la actividad general, aceleración de los procesos psíquicos, llegando a </a:t>
            </a:r>
            <a:r>
              <a:rPr lang="es-MX" dirty="0" err="1"/>
              <a:t>vec</a:t>
            </a:r>
            <a:endParaRPr lang="es-MX" dirty="0"/>
          </a:p>
          <a:p>
            <a:endParaRPr lang="es-AR" dirty="0"/>
          </a:p>
        </p:txBody>
      </p:sp>
      <p:sp>
        <p:nvSpPr>
          <p:cNvPr id="3" name="Título 2"/>
          <p:cNvSpPr>
            <a:spLocks noGrp="1"/>
          </p:cNvSpPr>
          <p:nvPr>
            <p:ph type="title"/>
          </p:nvPr>
        </p:nvSpPr>
        <p:spPr>
          <a:xfrm>
            <a:off x="234153" y="-35233"/>
            <a:ext cx="8370293" cy="583913"/>
          </a:xfrm>
        </p:spPr>
        <p:txBody>
          <a:bodyPr>
            <a:normAutofit fontScale="90000"/>
          </a:bodyPr>
          <a:lstStyle/>
          <a:p>
            <a:r>
              <a:rPr lang="es-AR" dirty="0"/>
              <a:t/>
            </a:r>
            <a:br>
              <a:rPr lang="es-AR" dirty="0"/>
            </a:br>
            <a:r>
              <a:rPr lang="es-AR" sz="2700" dirty="0"/>
              <a:t>Psicopatología de la afectividad</a:t>
            </a:r>
            <a:r>
              <a:rPr lang="es-AR" dirty="0"/>
              <a:t/>
            </a:r>
            <a:br>
              <a:rPr lang="es-AR" dirty="0"/>
            </a:br>
            <a:endParaRPr lang="es-AR" dirty="0"/>
          </a:p>
        </p:txBody>
      </p:sp>
    </p:spTree>
    <p:extLst>
      <p:ext uri="{BB962C8B-B14F-4D97-AF65-F5344CB8AC3E}">
        <p14:creationId xmlns:p14="http://schemas.microsoft.com/office/powerpoint/2010/main" val="8345429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251520" y="188640"/>
            <a:ext cx="8712968" cy="6480720"/>
          </a:xfrm>
        </p:spPr>
        <p:txBody>
          <a:bodyPr>
            <a:normAutofit fontScale="77500" lnSpcReduction="20000"/>
          </a:bodyPr>
          <a:lstStyle/>
          <a:p>
            <a:pPr marL="109728" indent="0">
              <a:buNone/>
            </a:pPr>
            <a:r>
              <a:rPr lang="es-MX" b="1" dirty="0" smtClean="0"/>
              <a:t>B-</a:t>
            </a:r>
            <a:r>
              <a:rPr lang="es-MX" b="1" dirty="0" err="1" smtClean="0"/>
              <a:t>Hipertimia</a:t>
            </a:r>
            <a:r>
              <a:rPr lang="es-MX" b="1" dirty="0" smtClean="0"/>
              <a:t> </a:t>
            </a:r>
            <a:r>
              <a:rPr lang="es-MX" b="1" dirty="0" err="1" smtClean="0"/>
              <a:t>displacentera</a:t>
            </a:r>
            <a:r>
              <a:rPr lang="es-MX" b="1" dirty="0"/>
              <a:t>:</a:t>
            </a:r>
          </a:p>
          <a:p>
            <a:r>
              <a:rPr lang="es-MX" i="1" dirty="0"/>
              <a:t>Depresión simple</a:t>
            </a:r>
            <a:r>
              <a:rPr lang="es-MX" dirty="0"/>
              <a:t>: tristeza y melancolía endógena. Inhibición de procesos psíquicos, </a:t>
            </a:r>
            <a:r>
              <a:rPr lang="es-MX" dirty="0" err="1"/>
              <a:t>bradipsiquia</a:t>
            </a:r>
            <a:r>
              <a:rPr lang="es-MX" dirty="0"/>
              <a:t>, disminución de la actividad general, introversión.</a:t>
            </a:r>
          </a:p>
          <a:p>
            <a:pPr marL="109728" indent="0">
              <a:buNone/>
            </a:pPr>
            <a:r>
              <a:rPr lang="es-MX" b="1" dirty="0" smtClean="0"/>
              <a:t>C-</a:t>
            </a:r>
            <a:r>
              <a:rPr lang="es-MX" b="1" dirty="0" err="1" smtClean="0"/>
              <a:t>Hipertimia</a:t>
            </a:r>
            <a:r>
              <a:rPr lang="es-MX" b="1" dirty="0" smtClean="0"/>
              <a:t> </a:t>
            </a:r>
            <a:r>
              <a:rPr lang="es-MX" b="1" dirty="0"/>
              <a:t>mixta:</a:t>
            </a:r>
          </a:p>
          <a:p>
            <a:r>
              <a:rPr lang="es-MX" i="1" dirty="0"/>
              <a:t>Melancolía agitada</a:t>
            </a:r>
            <a:r>
              <a:rPr lang="es-MX" dirty="0"/>
              <a:t>: melancolía simple más ansiedad que se hace manifiesta con excitación psíquica y motriz junto a la tristeza de fondo.</a:t>
            </a:r>
          </a:p>
          <a:p>
            <a:r>
              <a:rPr lang="es-MX" i="1" dirty="0"/>
              <a:t>Melancolía con fuga de ideas</a:t>
            </a:r>
            <a:r>
              <a:rPr lang="es-MX" dirty="0"/>
              <a:t>: junto con la tristeza y depresión motriz, existe </a:t>
            </a:r>
            <a:r>
              <a:rPr lang="es-MX" dirty="0" err="1"/>
              <a:t>taquipsiquia</a:t>
            </a:r>
            <a:r>
              <a:rPr lang="es-MX" dirty="0"/>
              <a:t>.</a:t>
            </a:r>
          </a:p>
          <a:p>
            <a:r>
              <a:rPr lang="es-MX" i="1" dirty="0"/>
              <a:t>Furor maniaco</a:t>
            </a:r>
            <a:r>
              <a:rPr lang="es-MX" dirty="0"/>
              <a:t>: gran excitación psicomotriz con predominio de la emoción cólera.</a:t>
            </a:r>
          </a:p>
          <a:p>
            <a:r>
              <a:rPr lang="es-MX" i="1" dirty="0"/>
              <a:t>Beatitud: </a:t>
            </a:r>
            <a:r>
              <a:rPr lang="es-MX" dirty="0"/>
              <a:t>sensación de intensa felicidad con suspensión de toda la actividad física.</a:t>
            </a:r>
          </a:p>
          <a:p>
            <a:r>
              <a:rPr lang="es-MX" i="1" dirty="0"/>
              <a:t>Éxtasis</a:t>
            </a:r>
            <a:r>
              <a:rPr lang="es-MX" dirty="0"/>
              <a:t>: exaltación placentera de mayor intensidad que la beatitud. Conduce a un verdadero estrechamiento de la conciencia. Se ve en algunos místicos, artistas y filósofos.</a:t>
            </a:r>
          </a:p>
          <a:p>
            <a:pPr marL="109728" indent="0">
              <a:buNone/>
            </a:pPr>
            <a:r>
              <a:rPr lang="es-MX" b="1" dirty="0" smtClean="0"/>
              <a:t>2-Hipotimia</a:t>
            </a:r>
            <a:r>
              <a:rPr lang="es-MX" dirty="0"/>
              <a:t>: descenso del tono afectivo, los estímulos no hayan repercusión. Hay indiferencia afectiva. Se ve en la esquizofrenia, la demencia y las oligofrenias.</a:t>
            </a:r>
          </a:p>
          <a:p>
            <a:pPr marL="109728" indent="0">
              <a:buNone/>
            </a:pPr>
            <a:r>
              <a:rPr lang="es-MX" b="1" dirty="0" smtClean="0"/>
              <a:t>3-Atimia</a:t>
            </a:r>
            <a:r>
              <a:rPr lang="es-MX" dirty="0"/>
              <a:t>: falta absoluta de afectividad. Se ve en oligofrenias profundas y demencias muy avanzadas</a:t>
            </a:r>
          </a:p>
          <a:p>
            <a:endParaRPr lang="es-AR" dirty="0"/>
          </a:p>
        </p:txBody>
      </p:sp>
      <p:sp>
        <p:nvSpPr>
          <p:cNvPr id="3" name="Título 2"/>
          <p:cNvSpPr>
            <a:spLocks noGrp="1"/>
          </p:cNvSpPr>
          <p:nvPr>
            <p:ph type="title"/>
          </p:nvPr>
        </p:nvSpPr>
        <p:spPr>
          <a:xfrm>
            <a:off x="457200" y="-243408"/>
            <a:ext cx="7355160" cy="243408"/>
          </a:xfrm>
        </p:spPr>
        <p:txBody>
          <a:bodyPr>
            <a:normAutofit fontScale="90000"/>
          </a:bodyPr>
          <a:lstStyle/>
          <a:p>
            <a:endParaRPr lang="es-AR" dirty="0"/>
          </a:p>
        </p:txBody>
      </p:sp>
    </p:spTree>
    <p:extLst>
      <p:ext uri="{BB962C8B-B14F-4D97-AF65-F5344CB8AC3E}">
        <p14:creationId xmlns:p14="http://schemas.microsoft.com/office/powerpoint/2010/main" val="5500925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179512" y="0"/>
            <a:ext cx="8712968" cy="6597352"/>
          </a:xfrm>
        </p:spPr>
        <p:txBody>
          <a:bodyPr>
            <a:normAutofit fontScale="77500" lnSpcReduction="20000"/>
          </a:bodyPr>
          <a:lstStyle/>
          <a:p>
            <a:pPr marL="109728" indent="0">
              <a:buNone/>
            </a:pPr>
            <a:r>
              <a:rPr lang="es-MX" dirty="0" smtClean="0"/>
              <a:t>*</a:t>
            </a:r>
            <a:r>
              <a:rPr lang="es-MX" b="1" dirty="0" smtClean="0"/>
              <a:t>Alteraciones </a:t>
            </a:r>
            <a:r>
              <a:rPr lang="es-MX" b="1" dirty="0"/>
              <a:t>cualitativas:</a:t>
            </a:r>
          </a:p>
          <a:p>
            <a:r>
              <a:rPr lang="es-MX" b="1" dirty="0"/>
              <a:t>Tenacidad afectiva</a:t>
            </a:r>
            <a:r>
              <a:rPr lang="es-MX" dirty="0"/>
              <a:t>: persistencia y fijación patológica de determinados estados afectivos. Se ve en epilépticos (odio, venganza).</a:t>
            </a:r>
          </a:p>
          <a:p>
            <a:r>
              <a:rPr lang="es-MX" b="1" dirty="0" smtClean="0"/>
              <a:t>Labilidad </a:t>
            </a:r>
            <a:r>
              <a:rPr lang="es-MX" b="1" dirty="0"/>
              <a:t>afectiva</a:t>
            </a:r>
            <a:r>
              <a:rPr lang="es-MX" dirty="0"/>
              <a:t>: bruscos y repentinos cambios en el tono afectivo sin motivo aparente. Se ve en oligofrénicos, dementes, histéricos, esquizofrénicos y confusos mentales.</a:t>
            </a:r>
          </a:p>
          <a:p>
            <a:r>
              <a:rPr lang="es-MX" b="1" dirty="0"/>
              <a:t>Incontinencia afectiva</a:t>
            </a:r>
            <a:r>
              <a:rPr lang="es-MX" dirty="0"/>
              <a:t>: es la consecuencia de la falta del freno cortical, se ve en oligofrénicos y dementes.</a:t>
            </a:r>
          </a:p>
          <a:p>
            <a:r>
              <a:rPr lang="es-MX" b="1" dirty="0"/>
              <a:t>Ambivalencia afectiva</a:t>
            </a:r>
            <a:r>
              <a:rPr lang="es-MX" dirty="0"/>
              <a:t>: el enfermo experimenta en el mismo instante sentimientos opuestos, hay una incapacidad para adoptar una postura definitiva.</a:t>
            </a:r>
          </a:p>
          <a:p>
            <a:r>
              <a:rPr lang="es-MX" b="1" dirty="0"/>
              <a:t>Perplejidad</a:t>
            </a:r>
            <a:r>
              <a:rPr lang="es-MX" dirty="0"/>
              <a:t>: sentimiento complejo en el que intervienen: la extrañeza, el desconcierto, el asombro y la desconfianza. (confusos, esquizofrénicos, melancólicos)</a:t>
            </a:r>
          </a:p>
          <a:p>
            <a:r>
              <a:rPr lang="es-MX" b="1" dirty="0" err="1"/>
              <a:t>Neotimias</a:t>
            </a:r>
            <a:r>
              <a:rPr lang="es-MX" dirty="0"/>
              <a:t>: creación de sentimientos nuevos, son nuevos por su significación extraña, fuera de lo común nunca observados en el enfermo ni en el resto de las personas con afectividad normal. (esquizofrénicos, melancólicos).</a:t>
            </a:r>
          </a:p>
          <a:p>
            <a:r>
              <a:rPr lang="es-MX" b="1" dirty="0" err="1"/>
              <a:t>Catatimia</a:t>
            </a:r>
            <a:r>
              <a:rPr lang="es-MX" dirty="0"/>
              <a:t>: estado de intenso colorido afectivo que embarga a la psique provocando la interferencia de los juicios.</a:t>
            </a:r>
          </a:p>
          <a:p>
            <a:endParaRPr lang="es-AR" dirty="0"/>
          </a:p>
        </p:txBody>
      </p:sp>
      <p:sp>
        <p:nvSpPr>
          <p:cNvPr id="3" name="Título 2"/>
          <p:cNvSpPr>
            <a:spLocks noGrp="1"/>
          </p:cNvSpPr>
          <p:nvPr>
            <p:ph type="title"/>
          </p:nvPr>
        </p:nvSpPr>
        <p:spPr>
          <a:xfrm flipV="1">
            <a:off x="457200" y="-531440"/>
            <a:ext cx="7859216" cy="216024"/>
          </a:xfrm>
        </p:spPr>
        <p:txBody>
          <a:bodyPr>
            <a:normAutofit fontScale="90000"/>
          </a:bodyPr>
          <a:lstStyle/>
          <a:p>
            <a:endParaRPr lang="es-AR"/>
          </a:p>
        </p:txBody>
      </p:sp>
    </p:spTree>
    <p:extLst>
      <p:ext uri="{BB962C8B-B14F-4D97-AF65-F5344CB8AC3E}">
        <p14:creationId xmlns:p14="http://schemas.microsoft.com/office/powerpoint/2010/main" val="37774416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323529" y="476672"/>
            <a:ext cx="8568952" cy="6192688"/>
          </a:xfrm>
        </p:spPr>
        <p:txBody>
          <a:bodyPr>
            <a:normAutofit fontScale="77500" lnSpcReduction="20000"/>
          </a:bodyPr>
          <a:lstStyle/>
          <a:p>
            <a:r>
              <a:rPr lang="es-MX" b="1" dirty="0"/>
              <a:t>Síndrome de excitación psicomotriz</a:t>
            </a:r>
            <a:r>
              <a:rPr lang="es-MX" dirty="0"/>
              <a:t>: gran </a:t>
            </a:r>
            <a:r>
              <a:rPr lang="es-MX" dirty="0" err="1"/>
              <a:t>hipertimia</a:t>
            </a:r>
            <a:r>
              <a:rPr lang="es-MX" dirty="0"/>
              <a:t>, labilidad afectiva, oscilando entre la euforia hasta el cólera y el furor.</a:t>
            </a:r>
          </a:p>
          <a:p>
            <a:r>
              <a:rPr lang="es-MX" b="1" dirty="0"/>
              <a:t>Síndrome de depresión psicomotriz</a:t>
            </a:r>
            <a:r>
              <a:rPr lang="es-MX" dirty="0"/>
              <a:t>: el enfermo está sumido en un humor triste. Sentimientos de impotencia, transformación, angustia y ansiedad.</a:t>
            </a:r>
          </a:p>
          <a:p>
            <a:r>
              <a:rPr lang="es-MX" b="1" dirty="0"/>
              <a:t>Síndrome delirante</a:t>
            </a:r>
            <a:r>
              <a:rPr lang="es-MX" dirty="0"/>
              <a:t>: </a:t>
            </a:r>
            <a:r>
              <a:rPr lang="es-MX" dirty="0" err="1"/>
              <a:t>hipertimia</a:t>
            </a:r>
            <a:r>
              <a:rPr lang="es-MX" dirty="0"/>
              <a:t> provocada por los acontecimientos que, tienen relación con el tema de la concepción delirante.</a:t>
            </a:r>
          </a:p>
          <a:p>
            <a:r>
              <a:rPr lang="es-MX" b="1" dirty="0"/>
              <a:t>Síndrome esquizofrénico</a:t>
            </a:r>
            <a:r>
              <a:rPr lang="es-MX" dirty="0"/>
              <a:t>: </a:t>
            </a:r>
            <a:r>
              <a:rPr lang="es-MX" dirty="0" err="1"/>
              <a:t>hipoafectividad</a:t>
            </a:r>
            <a:r>
              <a:rPr lang="es-MX" dirty="0"/>
              <a:t> en relación con el mundo exterior. Vivencias afectivas intensas referidas a la vida interior (</a:t>
            </a:r>
            <a:r>
              <a:rPr lang="es-MX" dirty="0" err="1"/>
              <a:t>neotimias</a:t>
            </a:r>
            <a:r>
              <a:rPr lang="es-MX" dirty="0"/>
              <a:t>, despersonalización, </a:t>
            </a:r>
            <a:r>
              <a:rPr lang="es-MX" dirty="0" err="1"/>
              <a:t>etc</a:t>
            </a:r>
            <a:r>
              <a:rPr lang="es-MX" dirty="0"/>
              <a:t>).</a:t>
            </a:r>
          </a:p>
          <a:p>
            <a:r>
              <a:rPr lang="es-MX" b="1" dirty="0"/>
              <a:t>Síndrome </a:t>
            </a:r>
            <a:r>
              <a:rPr lang="es-MX" b="1" dirty="0" err="1"/>
              <a:t>confusional</a:t>
            </a:r>
            <a:r>
              <a:rPr lang="es-MX" dirty="0"/>
              <a:t>: </a:t>
            </a:r>
            <a:r>
              <a:rPr lang="es-MX" dirty="0" err="1"/>
              <a:t>hipotimia</a:t>
            </a:r>
            <a:r>
              <a:rPr lang="es-MX" dirty="0"/>
              <a:t> muy marcada en el estado </a:t>
            </a:r>
            <a:r>
              <a:rPr lang="es-MX" dirty="0" err="1"/>
              <a:t>confusional</a:t>
            </a:r>
            <a:r>
              <a:rPr lang="es-MX" dirty="0"/>
              <a:t> estuporoso. Cuando la </a:t>
            </a:r>
            <a:r>
              <a:rPr lang="es-MX" dirty="0" err="1"/>
              <a:t>confusion</a:t>
            </a:r>
            <a:r>
              <a:rPr lang="es-MX" dirty="0"/>
              <a:t> mental es leve el enfermo desorientado experimenta sentimientos de extrañeza, perplejidad y asombro.</a:t>
            </a:r>
          </a:p>
          <a:p>
            <a:r>
              <a:rPr lang="es-MX" b="1" dirty="0"/>
              <a:t>Síndrome demencial</a:t>
            </a:r>
            <a:r>
              <a:rPr lang="es-MX" dirty="0"/>
              <a:t>:  se observa </a:t>
            </a:r>
            <a:r>
              <a:rPr lang="es-MX" dirty="0" err="1"/>
              <a:t>hipotimia</a:t>
            </a:r>
            <a:r>
              <a:rPr lang="es-MX" dirty="0"/>
              <a:t> por debilitamiento global de la psique.</a:t>
            </a:r>
          </a:p>
          <a:p>
            <a:r>
              <a:rPr lang="es-MX" b="1" dirty="0"/>
              <a:t>Síndrome oligofrénico</a:t>
            </a:r>
            <a:r>
              <a:rPr lang="es-MX" dirty="0"/>
              <a:t>: </a:t>
            </a:r>
            <a:r>
              <a:rPr lang="es-MX" dirty="0" err="1"/>
              <a:t>hipotimia</a:t>
            </a:r>
            <a:r>
              <a:rPr lang="es-MX" dirty="0"/>
              <a:t> variable según el grado de insuficiencia mental.</a:t>
            </a:r>
          </a:p>
          <a:p>
            <a:endParaRPr lang="es-AR" dirty="0"/>
          </a:p>
        </p:txBody>
      </p:sp>
      <p:sp>
        <p:nvSpPr>
          <p:cNvPr id="3" name="Título 2"/>
          <p:cNvSpPr>
            <a:spLocks noGrp="1"/>
          </p:cNvSpPr>
          <p:nvPr>
            <p:ph type="title"/>
          </p:nvPr>
        </p:nvSpPr>
        <p:spPr>
          <a:xfrm>
            <a:off x="457200" y="116632"/>
            <a:ext cx="7427168" cy="360040"/>
          </a:xfrm>
        </p:spPr>
        <p:txBody>
          <a:bodyPr>
            <a:normAutofit fontScale="90000"/>
          </a:bodyPr>
          <a:lstStyle/>
          <a:p>
            <a:r>
              <a:rPr lang="es-MX" sz="2400" dirty="0"/>
              <a:t>Afectividad en los distintos síndromes</a:t>
            </a:r>
            <a:endParaRPr lang="es-AR" sz="2400" dirty="0"/>
          </a:p>
        </p:txBody>
      </p:sp>
    </p:spTree>
    <p:extLst>
      <p:ext uri="{BB962C8B-B14F-4D97-AF65-F5344CB8AC3E}">
        <p14:creationId xmlns:p14="http://schemas.microsoft.com/office/powerpoint/2010/main" val="82171141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flipV="1">
            <a:off x="457200" y="8181528"/>
            <a:ext cx="6563072" cy="648072"/>
          </a:xfrm>
        </p:spPr>
        <p:txBody>
          <a:bodyPr>
            <a:normAutofit/>
          </a:bodyPr>
          <a:lstStyle/>
          <a:p>
            <a:endParaRPr lang="es-AR" dirty="0"/>
          </a:p>
        </p:txBody>
      </p:sp>
      <p:sp>
        <p:nvSpPr>
          <p:cNvPr id="3" name="Título 2"/>
          <p:cNvSpPr>
            <a:spLocks noGrp="1"/>
          </p:cNvSpPr>
          <p:nvPr>
            <p:ph type="title"/>
          </p:nvPr>
        </p:nvSpPr>
        <p:spPr>
          <a:xfrm>
            <a:off x="107504" y="188640"/>
            <a:ext cx="9433048" cy="5472608"/>
          </a:xfrm>
        </p:spPr>
        <p:txBody>
          <a:bodyPr>
            <a:normAutofit/>
          </a:bodyPr>
          <a:lstStyle/>
          <a:p>
            <a:r>
              <a:rPr lang="es-AR" sz="9600" dirty="0"/>
              <a:t> ACTIVIDAD</a:t>
            </a:r>
            <a:endParaRPr lang="es-AR" sz="9600" dirty="0"/>
          </a:p>
        </p:txBody>
      </p:sp>
    </p:spTree>
    <p:extLst>
      <p:ext uri="{BB962C8B-B14F-4D97-AF65-F5344CB8AC3E}">
        <p14:creationId xmlns:p14="http://schemas.microsoft.com/office/powerpoint/2010/main" val="9231304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179512" y="116632"/>
            <a:ext cx="8856984" cy="5890659"/>
          </a:xfrm>
        </p:spPr>
        <p:txBody>
          <a:bodyPr>
            <a:normAutofit fontScale="40000" lnSpcReduction="20000"/>
          </a:bodyPr>
          <a:lstStyle/>
          <a:p>
            <a:pPr marL="109728" indent="0">
              <a:buNone/>
            </a:pPr>
            <a:r>
              <a:rPr lang="es-MX" dirty="0" smtClean="0"/>
              <a:t>	</a:t>
            </a:r>
            <a:r>
              <a:rPr lang="es-MX" sz="4000" dirty="0" smtClean="0"/>
              <a:t>Comprende </a:t>
            </a:r>
            <a:r>
              <a:rPr lang="es-MX" sz="4000" dirty="0"/>
              <a:t>los actos del individuo, su lenguaje, escritura y en general de todas las manifestaciones de la voluntad. Todo esto es posible merced al pensamiento.</a:t>
            </a:r>
          </a:p>
          <a:p>
            <a:r>
              <a:rPr lang="es-MX" sz="4000" dirty="0"/>
              <a:t>Actos supeditados a la actividad psíquica:</a:t>
            </a:r>
          </a:p>
          <a:p>
            <a:pPr marL="109728" indent="0">
              <a:buNone/>
            </a:pPr>
            <a:r>
              <a:rPr lang="es-MX" sz="4000" b="1" dirty="0" smtClean="0"/>
              <a:t>	1-acto </a:t>
            </a:r>
            <a:r>
              <a:rPr lang="es-MX" sz="4000" b="1" dirty="0"/>
              <a:t>instintivo</a:t>
            </a:r>
            <a:r>
              <a:rPr lang="es-MX" sz="4000" dirty="0"/>
              <a:t>: tiene perfecta ejecución sin necesidad de aprendizaje previo, resultado de una disposición hereditaria. Se desencadena en forma automática pero nunca escapa al control de la conciencia que lo registra y lo valora. A medida que el sujeto evoluciona es más fácil lograr la inhibición del acto instintivo por medio de mecanismos voluntarios. En esto último estriba la diferencia con el acto reflejo que nunca puede ser inhibido.</a:t>
            </a:r>
          </a:p>
          <a:p>
            <a:pPr marL="109728" indent="0">
              <a:buNone/>
            </a:pPr>
            <a:r>
              <a:rPr lang="es-MX" sz="4000" b="1" dirty="0" smtClean="0"/>
              <a:t>	2-acto </a:t>
            </a:r>
            <a:r>
              <a:rPr lang="es-MX" sz="4000" b="1" dirty="0"/>
              <a:t>habitual</a:t>
            </a:r>
            <a:r>
              <a:rPr lang="es-MX" sz="4000" dirty="0"/>
              <a:t>: adquirido en el transcurso de la existencia, es resultado del aprendizaje. Puede ser:</a:t>
            </a:r>
          </a:p>
          <a:p>
            <a:pPr marL="109728" indent="0">
              <a:buNone/>
            </a:pPr>
            <a:r>
              <a:rPr lang="es-MX" sz="4000" dirty="0"/>
              <a:t>*activo: a medida que se adquiere perfección disminuye la concentración que tan atenta estaba al comienzo, llegando a ejecutarse el acto casi en forma inconsciente. Como consecuencia el hábito activo lleva con el tiempo al automatismo.</a:t>
            </a:r>
          </a:p>
          <a:p>
            <a:pPr marL="109728" indent="0">
              <a:buNone/>
            </a:pPr>
            <a:r>
              <a:rPr lang="es-MX" sz="4000" dirty="0"/>
              <a:t>*pasivo: es una adaptación del organismo, un acostumbramiento a soportar siempre las mismas circunstancias.</a:t>
            </a:r>
          </a:p>
          <a:p>
            <a:pPr marL="109728" indent="0">
              <a:buNone/>
            </a:pPr>
            <a:r>
              <a:rPr lang="es-MX" sz="4000" b="1" dirty="0" smtClean="0"/>
              <a:t>	3-acto </a:t>
            </a:r>
            <a:r>
              <a:rPr lang="es-MX" sz="4000" b="1" dirty="0"/>
              <a:t>voluntario</a:t>
            </a:r>
            <a:r>
              <a:rPr lang="es-MX" sz="4000" dirty="0"/>
              <a:t>: es condicionado y dirigido por la voluntad y se halla bajo la estricta vigilancia de la conciencia. Su ejecución requiere la participación activa de la inteligencia, ya sea para repetir o renovar movimientos o para crear nuevos combinando los ya conocidos.</a:t>
            </a:r>
          </a:p>
          <a:p>
            <a:pPr marL="109728" indent="0">
              <a:buNone/>
            </a:pPr>
            <a:r>
              <a:rPr lang="es-MX" sz="4000" dirty="0"/>
              <a:t>El acto voluntario comprende dos partes:</a:t>
            </a:r>
          </a:p>
          <a:p>
            <a:pPr marL="109728" indent="0">
              <a:buNone/>
            </a:pPr>
            <a:r>
              <a:rPr lang="es-MX" sz="4000" dirty="0"/>
              <a:t>a-periodo de elaboración consciente: desde la iniciación del deseo hasta la decisión voluntaria (acción implícita o </a:t>
            </a:r>
            <a:r>
              <a:rPr lang="es-MX" sz="4000" dirty="0" err="1"/>
              <a:t>conación</a:t>
            </a:r>
            <a:r>
              <a:rPr lang="es-MX" sz="4000" dirty="0"/>
              <a:t>).</a:t>
            </a:r>
          </a:p>
          <a:p>
            <a:pPr marL="109728" indent="0">
              <a:buNone/>
            </a:pPr>
            <a:r>
              <a:rPr lang="es-MX" sz="4000" dirty="0"/>
              <a:t>b-periodo de ejecución (acto o acción explícita).</a:t>
            </a:r>
          </a:p>
          <a:p>
            <a:pPr marL="109728" indent="0">
              <a:buNone/>
            </a:pPr>
            <a:r>
              <a:rPr lang="es-MX" sz="4000" dirty="0"/>
              <a:t>*Voluntad: es la energía psíquica potencial que a requerimiento de las necesidades imperantes se transforma en energía cinética.</a:t>
            </a:r>
          </a:p>
          <a:p>
            <a:endParaRPr lang="es-AR" sz="4000" dirty="0"/>
          </a:p>
        </p:txBody>
      </p:sp>
      <p:sp>
        <p:nvSpPr>
          <p:cNvPr id="3" name="Título 2"/>
          <p:cNvSpPr>
            <a:spLocks noGrp="1"/>
          </p:cNvSpPr>
          <p:nvPr>
            <p:ph type="title"/>
          </p:nvPr>
        </p:nvSpPr>
        <p:spPr>
          <a:xfrm>
            <a:off x="457200" y="-963488"/>
            <a:ext cx="7427168" cy="720080"/>
          </a:xfrm>
        </p:spPr>
        <p:txBody>
          <a:bodyPr>
            <a:normAutofit/>
          </a:bodyPr>
          <a:lstStyle/>
          <a:p>
            <a:endParaRPr lang="es-AR" dirty="0"/>
          </a:p>
        </p:txBody>
      </p:sp>
    </p:spTree>
    <p:extLst>
      <p:ext uri="{BB962C8B-B14F-4D97-AF65-F5344CB8AC3E}">
        <p14:creationId xmlns:p14="http://schemas.microsoft.com/office/powerpoint/2010/main" val="231853673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32467" y="565417"/>
            <a:ext cx="9144000" cy="6498096"/>
          </a:xfrm>
        </p:spPr>
        <p:txBody>
          <a:bodyPr>
            <a:normAutofit fontScale="70000" lnSpcReduction="20000"/>
          </a:bodyPr>
          <a:lstStyle/>
          <a:p>
            <a:pPr marL="109728" indent="0">
              <a:buNone/>
            </a:pPr>
            <a:r>
              <a:rPr lang="es-MX" b="1" dirty="0" smtClean="0"/>
              <a:t>1-Alteraciones </a:t>
            </a:r>
            <a:r>
              <a:rPr lang="es-MX" b="1" dirty="0"/>
              <a:t>de la </a:t>
            </a:r>
            <a:r>
              <a:rPr lang="es-MX" b="1" dirty="0" err="1"/>
              <a:t>conación</a:t>
            </a:r>
            <a:r>
              <a:rPr lang="es-MX" b="1" dirty="0"/>
              <a:t>:</a:t>
            </a:r>
          </a:p>
          <a:p>
            <a:pPr marL="109728" indent="0">
              <a:buNone/>
            </a:pPr>
            <a:r>
              <a:rPr lang="es-MX" dirty="0" smtClean="0"/>
              <a:t>	</a:t>
            </a:r>
            <a:r>
              <a:rPr lang="es-MX" b="1" dirty="0" smtClean="0"/>
              <a:t>a-cuantitativas</a:t>
            </a:r>
            <a:r>
              <a:rPr lang="es-MX" b="1" dirty="0"/>
              <a:t>:</a:t>
            </a:r>
          </a:p>
          <a:p>
            <a:pPr marL="109728" indent="0">
              <a:buNone/>
            </a:pPr>
            <a:r>
              <a:rPr lang="es-MX" b="1" dirty="0"/>
              <a:t>*abulia</a:t>
            </a:r>
            <a:r>
              <a:rPr lang="es-MX" dirty="0"/>
              <a:t>: falta absoluta de voluntad, carencia de deseos y decisiones, la afectividad deja de ser fuente de deseos, el pensamiento se apaga y la voluntad se inhibe. Tipos:</a:t>
            </a:r>
          </a:p>
          <a:p>
            <a:pPr marL="109728" indent="0">
              <a:buNone/>
            </a:pPr>
            <a:r>
              <a:rPr lang="es-MX" i="1" dirty="0"/>
              <a:t>-abulia constitucional</a:t>
            </a:r>
            <a:r>
              <a:rPr lang="es-MX" dirty="0"/>
              <a:t>: propia de personas que llegan al mundo insuficientemente dotadas de deseos y reacciones volitivas.</a:t>
            </a:r>
          </a:p>
          <a:p>
            <a:pPr marL="109728" indent="0">
              <a:buNone/>
            </a:pPr>
            <a:r>
              <a:rPr lang="es-MX" i="1" dirty="0"/>
              <a:t>-abulia neurasténica</a:t>
            </a:r>
            <a:r>
              <a:rPr lang="es-MX" dirty="0"/>
              <a:t>: no se origina  en la falta de deseos sino en la imposibilidad de llegar a las decisiones. Tras una serie de titubeos y dudas, la decisión no se concreta y se impide la ejecución del acto.</a:t>
            </a:r>
          </a:p>
          <a:p>
            <a:pPr marL="109728" indent="0">
              <a:buNone/>
            </a:pPr>
            <a:r>
              <a:rPr lang="es-MX" i="1" dirty="0"/>
              <a:t>-abulia de los esquizofrénicos</a:t>
            </a:r>
            <a:r>
              <a:rPr lang="es-MX" dirty="0"/>
              <a:t>: la gran indiferencia afectiva produce carencia de deseos e intenciones.</a:t>
            </a:r>
          </a:p>
          <a:p>
            <a:pPr marL="109728" indent="0">
              <a:buNone/>
            </a:pPr>
            <a:r>
              <a:rPr lang="es-MX" i="1" dirty="0"/>
              <a:t>-abulia de los melancólicos</a:t>
            </a:r>
            <a:r>
              <a:rPr lang="es-MX" dirty="0"/>
              <a:t>: si bien existen deseos e impulsos estos mueren al poco de nacer porque se le opone un intenso sentimiento de impotencia e incapacidad que impide llegar a la decisión y a la ejecución.</a:t>
            </a:r>
          </a:p>
          <a:p>
            <a:pPr marL="109728" indent="0">
              <a:buNone/>
            </a:pPr>
            <a:r>
              <a:rPr lang="es-MX" dirty="0"/>
              <a:t>-</a:t>
            </a:r>
            <a:r>
              <a:rPr lang="es-MX" i="1" dirty="0"/>
              <a:t>abulia de los catatónicos</a:t>
            </a:r>
            <a:r>
              <a:rPr lang="es-MX" dirty="0"/>
              <a:t>: el negativismo extremo hace que toda tentativa de acción engendre automáticamente la tendencia al acto contrario (ambivalencia). </a:t>
            </a:r>
          </a:p>
          <a:p>
            <a:pPr marL="109728" indent="0">
              <a:buNone/>
            </a:pPr>
            <a:r>
              <a:rPr lang="es-MX" b="1" dirty="0"/>
              <a:t>*</a:t>
            </a:r>
            <a:r>
              <a:rPr lang="es-MX" b="1" dirty="0" err="1"/>
              <a:t>hipoabulia</a:t>
            </a:r>
            <a:r>
              <a:rPr lang="es-MX" dirty="0"/>
              <a:t>: disminución de la actividad voluntaria  (es un grado menor que la abulia).</a:t>
            </a:r>
          </a:p>
          <a:p>
            <a:pPr marL="109728" indent="0">
              <a:buNone/>
            </a:pPr>
            <a:r>
              <a:rPr lang="es-MX" b="1" dirty="0"/>
              <a:t>*</a:t>
            </a:r>
            <a:r>
              <a:rPr lang="es-MX" b="1" dirty="0" err="1"/>
              <a:t>hiperbulia</a:t>
            </a:r>
            <a:r>
              <a:rPr lang="es-MX" dirty="0"/>
              <a:t>: aumento de la actividad voluntaria, es normal en individuos emprendedores y luchadores, patológico en todas las formas de EPM.</a:t>
            </a:r>
          </a:p>
          <a:p>
            <a:endParaRPr lang="es-AR" dirty="0"/>
          </a:p>
        </p:txBody>
      </p:sp>
      <p:sp>
        <p:nvSpPr>
          <p:cNvPr id="3" name="Título 2"/>
          <p:cNvSpPr>
            <a:spLocks noGrp="1"/>
          </p:cNvSpPr>
          <p:nvPr>
            <p:ph type="title"/>
          </p:nvPr>
        </p:nvSpPr>
        <p:spPr>
          <a:xfrm>
            <a:off x="323528" y="0"/>
            <a:ext cx="7488832" cy="548680"/>
          </a:xfrm>
        </p:spPr>
        <p:txBody>
          <a:bodyPr>
            <a:noAutofit/>
          </a:bodyPr>
          <a:lstStyle/>
          <a:p>
            <a:r>
              <a:rPr lang="es-AR" sz="2400" dirty="0"/>
              <a:t>PSICOPATOLOGÍA DE LA </a:t>
            </a:r>
            <a:r>
              <a:rPr lang="es-AR" sz="2400" dirty="0" smtClean="0"/>
              <a:t>ACTIVIDAD</a:t>
            </a:r>
            <a:endParaRPr lang="es-AR" sz="2400" dirty="0"/>
          </a:p>
        </p:txBody>
      </p:sp>
    </p:spTree>
    <p:extLst>
      <p:ext uri="{BB962C8B-B14F-4D97-AF65-F5344CB8AC3E}">
        <p14:creationId xmlns:p14="http://schemas.microsoft.com/office/powerpoint/2010/main" val="321413506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107504" y="116632"/>
            <a:ext cx="8928992" cy="6624736"/>
          </a:xfrm>
        </p:spPr>
        <p:txBody>
          <a:bodyPr>
            <a:normAutofit fontScale="77500" lnSpcReduction="20000"/>
          </a:bodyPr>
          <a:lstStyle/>
          <a:p>
            <a:pPr marL="109728" indent="0">
              <a:buNone/>
            </a:pPr>
            <a:r>
              <a:rPr lang="es-MX" b="1" dirty="0"/>
              <a:t>b- cualitativas</a:t>
            </a:r>
            <a:r>
              <a:rPr lang="es-MX" dirty="0"/>
              <a:t>:</a:t>
            </a:r>
          </a:p>
          <a:p>
            <a:pPr marL="109728" indent="0">
              <a:buNone/>
            </a:pPr>
            <a:r>
              <a:rPr lang="es-MX" dirty="0" smtClean="0"/>
              <a:t>	</a:t>
            </a:r>
            <a:r>
              <a:rPr lang="es-MX" b="1" dirty="0" smtClean="0"/>
              <a:t>*</a:t>
            </a:r>
            <a:r>
              <a:rPr lang="es-MX" b="1" dirty="0"/>
              <a:t>Impulsos</a:t>
            </a:r>
            <a:r>
              <a:rPr lang="es-MX" dirty="0"/>
              <a:t>: por intensa reactivación de las fuerzas instintivas que llevan a la ejecución irrefrenable de algunos actos en forma violenta y que escapan a todo control cortical. El impulso es la manera de responder del instinto, anula la posibilidad de llegar a una decisión por cuanto la inteligencia no participa. Los actos impulsivos están al servicio de los resortes instintivos para asegurar  la conservación del individuo y de la especie. Los impulsos patológicos son aquellos que no condicen con las apetencias naturales y con las tendencias con que normalmente el instinto satisface sus objetivos (impulsos mórbidos), por ejemplo en el instinto de la nutrición la pica y la coprofagia; en el instinto sexual el masoquismo, la homosexualidad y el fetichismo; en el instinto gregario el homicidio y la cleptomanía; etc.</a:t>
            </a:r>
          </a:p>
          <a:p>
            <a:pPr marL="109728" indent="0">
              <a:buNone/>
            </a:pPr>
            <a:r>
              <a:rPr lang="es-MX" dirty="0" smtClean="0"/>
              <a:t>	</a:t>
            </a:r>
            <a:r>
              <a:rPr lang="es-MX" b="1" dirty="0" smtClean="0"/>
              <a:t>*</a:t>
            </a:r>
            <a:r>
              <a:rPr lang="es-MX" b="1" dirty="0"/>
              <a:t>Compulsiones</a:t>
            </a:r>
            <a:r>
              <a:rPr lang="es-MX" dirty="0"/>
              <a:t>: resulta de la oposición de dos fuerzas contrarias, un impulso morboso por un lado y el control que el individuo ejerce sobre el acto por otro, esto genera mucha angustia y se ve en las neurosis obsesivas. La tensión psíquica es descargada y se aminora la angustia recurriendo a la ejecución de actos distintos a los señalados por el imperativo de la obsesión. Estos actos ceremoniales pueden ser  gestos cabalísticos, actos de superstición, etc.</a:t>
            </a:r>
          </a:p>
          <a:p>
            <a:endParaRPr lang="es-AR" dirty="0"/>
          </a:p>
        </p:txBody>
      </p:sp>
      <p:sp>
        <p:nvSpPr>
          <p:cNvPr id="3" name="Título 2"/>
          <p:cNvSpPr>
            <a:spLocks noGrp="1"/>
          </p:cNvSpPr>
          <p:nvPr>
            <p:ph type="title"/>
          </p:nvPr>
        </p:nvSpPr>
        <p:spPr>
          <a:xfrm flipV="1">
            <a:off x="457200" y="-531440"/>
            <a:ext cx="7355160" cy="288032"/>
          </a:xfrm>
        </p:spPr>
        <p:txBody>
          <a:bodyPr>
            <a:normAutofit fontScale="90000"/>
          </a:bodyPr>
          <a:lstStyle/>
          <a:p>
            <a:endParaRPr lang="es-AR"/>
          </a:p>
        </p:txBody>
      </p:sp>
    </p:spTree>
    <p:extLst>
      <p:ext uri="{BB962C8B-B14F-4D97-AF65-F5344CB8AC3E}">
        <p14:creationId xmlns:p14="http://schemas.microsoft.com/office/powerpoint/2010/main" val="71596069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179512" y="116632"/>
            <a:ext cx="8784976" cy="6480720"/>
          </a:xfrm>
        </p:spPr>
        <p:txBody>
          <a:bodyPr>
            <a:normAutofit fontScale="70000" lnSpcReduction="20000"/>
          </a:bodyPr>
          <a:lstStyle/>
          <a:p>
            <a:pPr marL="109728" indent="0">
              <a:buNone/>
            </a:pPr>
            <a:r>
              <a:rPr lang="es-MX" b="1" dirty="0"/>
              <a:t>2-Alteraciones de la ejecución</a:t>
            </a:r>
            <a:r>
              <a:rPr lang="es-MX" dirty="0"/>
              <a:t>:</a:t>
            </a:r>
          </a:p>
          <a:p>
            <a:pPr marL="109728" indent="0">
              <a:buNone/>
            </a:pPr>
            <a:r>
              <a:rPr lang="es-MX" dirty="0" smtClean="0"/>
              <a:t>	</a:t>
            </a:r>
            <a:r>
              <a:rPr lang="es-MX" b="1" dirty="0" smtClean="0"/>
              <a:t>*</a:t>
            </a:r>
            <a:r>
              <a:rPr lang="es-MX" b="1" dirty="0"/>
              <a:t>apraxias: </a:t>
            </a:r>
            <a:r>
              <a:rPr lang="es-MX" dirty="0"/>
              <a:t>es la imposibilidad de ejecutar un acto que se ordena con perfecta adecuación a su objetivo, sin que exista parálisis, ataxia o agnosia. Hay dos formas:</a:t>
            </a:r>
          </a:p>
          <a:p>
            <a:pPr marL="109728" indent="0">
              <a:buNone/>
            </a:pPr>
            <a:r>
              <a:rPr lang="es-MX" i="1" dirty="0"/>
              <a:t>a-</a:t>
            </a:r>
            <a:r>
              <a:rPr lang="es-MX" i="1" dirty="0" err="1"/>
              <a:t>ideatoria</a:t>
            </a:r>
            <a:r>
              <a:rPr lang="es-MX" dirty="0"/>
              <a:t> de Pick: falta la representación mental del acto en forma global y en sus etapas sucesivas  de lo que resultan actos absurdos. Se da en las demencias.</a:t>
            </a:r>
          </a:p>
          <a:p>
            <a:pPr marL="109728" indent="0">
              <a:buNone/>
            </a:pPr>
            <a:r>
              <a:rPr lang="es-MX" i="1" dirty="0"/>
              <a:t>b-motriz de </a:t>
            </a:r>
            <a:r>
              <a:rPr lang="es-MX" i="1" dirty="0" err="1"/>
              <a:t>Liepmann</a:t>
            </a:r>
            <a:r>
              <a:rPr lang="es-MX" dirty="0"/>
              <a:t>: el enfermo posee una perfecta representación mental del acto pero está dificultada la ejecución </a:t>
            </a:r>
            <a:r>
              <a:rPr lang="es-MX" dirty="0" err="1"/>
              <a:t>motríz</a:t>
            </a:r>
            <a:r>
              <a:rPr lang="es-MX" dirty="0"/>
              <a:t> generándose movimientos equivocados. Se da en las demencias.</a:t>
            </a:r>
          </a:p>
          <a:p>
            <a:pPr marL="109728" indent="0">
              <a:buNone/>
            </a:pPr>
            <a:r>
              <a:rPr lang="es-MX" dirty="0" smtClean="0"/>
              <a:t>	</a:t>
            </a:r>
            <a:r>
              <a:rPr lang="es-MX" b="1" dirty="0" smtClean="0"/>
              <a:t>*</a:t>
            </a:r>
            <a:r>
              <a:rPr lang="es-MX" b="1" dirty="0"/>
              <a:t>ecopraxias</a:t>
            </a:r>
            <a:r>
              <a:rPr lang="es-MX" dirty="0"/>
              <a:t>: imitación de los actos realizados por otras personas (oligofrenia y esquizofrenia).</a:t>
            </a:r>
          </a:p>
          <a:p>
            <a:pPr marL="109728" indent="0">
              <a:buNone/>
            </a:pPr>
            <a:r>
              <a:rPr lang="es-MX" dirty="0" smtClean="0"/>
              <a:t>	</a:t>
            </a:r>
            <a:r>
              <a:rPr lang="es-MX" b="1" dirty="0" smtClean="0"/>
              <a:t>*</a:t>
            </a:r>
            <a:r>
              <a:rPr lang="es-MX" b="1" dirty="0"/>
              <a:t>amaneramiento</a:t>
            </a:r>
            <a:r>
              <a:rPr lang="es-MX" dirty="0"/>
              <a:t>: los actos pierden su normal simplicidad debido al agregado de movimientos innecesarios que complican su ejecución corriente (esquizofrenia).</a:t>
            </a:r>
          </a:p>
          <a:p>
            <a:pPr marL="109728" indent="0">
              <a:buNone/>
            </a:pPr>
            <a:r>
              <a:rPr lang="es-MX" dirty="0" smtClean="0"/>
              <a:t>	</a:t>
            </a:r>
            <a:r>
              <a:rPr lang="es-MX" b="1" dirty="0" smtClean="0"/>
              <a:t>*</a:t>
            </a:r>
            <a:r>
              <a:rPr lang="es-MX" b="1" dirty="0"/>
              <a:t>extravagancias y estereotipias</a:t>
            </a:r>
            <a:r>
              <a:rPr lang="es-MX" dirty="0"/>
              <a:t>: cuando la exageración del amaneramiento  culmina en actitudes carentes de soltura y naturalidad se denomina extravagancia, cuando estas se repiten constantemente se denominan estereotipias. Estas últimas pueden ser:</a:t>
            </a:r>
          </a:p>
          <a:p>
            <a:pPr marL="109728" indent="0">
              <a:buNone/>
            </a:pPr>
            <a:r>
              <a:rPr lang="es-MX" i="1" dirty="0"/>
              <a:t>a-de actitud</a:t>
            </a:r>
            <a:r>
              <a:rPr lang="es-MX" dirty="0"/>
              <a:t>: es característica de la forma catatónica de la esquizofrenia, en la cual el enfermo adopta una actitud determinada en la que persiste en forma prolongada.</a:t>
            </a:r>
          </a:p>
          <a:p>
            <a:pPr marL="109728" indent="0">
              <a:buNone/>
            </a:pPr>
            <a:r>
              <a:rPr lang="es-MX" i="1" dirty="0"/>
              <a:t>b-de movimiento</a:t>
            </a:r>
            <a:r>
              <a:rPr lang="es-MX" dirty="0"/>
              <a:t>: repetición automática e impulsiva de algunos movimientos</a:t>
            </a:r>
            <a:r>
              <a:rPr lang="es-MX" dirty="0" smtClean="0"/>
              <a:t>.</a:t>
            </a:r>
            <a:endParaRPr lang="es-MX" dirty="0"/>
          </a:p>
        </p:txBody>
      </p:sp>
      <p:sp>
        <p:nvSpPr>
          <p:cNvPr id="3" name="Título 2"/>
          <p:cNvSpPr>
            <a:spLocks noGrp="1"/>
          </p:cNvSpPr>
          <p:nvPr>
            <p:ph type="title"/>
          </p:nvPr>
        </p:nvSpPr>
        <p:spPr>
          <a:xfrm flipV="1">
            <a:off x="457200" y="-459432"/>
            <a:ext cx="7787208" cy="144016"/>
          </a:xfrm>
        </p:spPr>
        <p:txBody>
          <a:bodyPr>
            <a:normAutofit fontScale="90000"/>
          </a:bodyPr>
          <a:lstStyle/>
          <a:p>
            <a:endParaRPr lang="es-AR" dirty="0"/>
          </a:p>
        </p:txBody>
      </p:sp>
    </p:spTree>
    <p:extLst>
      <p:ext uri="{BB962C8B-B14F-4D97-AF65-F5344CB8AC3E}">
        <p14:creationId xmlns:p14="http://schemas.microsoft.com/office/powerpoint/2010/main" val="117828365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457200" y="116632"/>
            <a:ext cx="8363272" cy="6336704"/>
          </a:xfrm>
        </p:spPr>
        <p:txBody>
          <a:bodyPr>
            <a:normAutofit fontScale="77500" lnSpcReduction="20000"/>
          </a:bodyPr>
          <a:lstStyle/>
          <a:p>
            <a:pPr marL="109728" indent="0">
              <a:buNone/>
            </a:pPr>
            <a:r>
              <a:rPr lang="es-MX" dirty="0" smtClean="0"/>
              <a:t>	</a:t>
            </a:r>
            <a:r>
              <a:rPr lang="es-MX" b="1" dirty="0" smtClean="0"/>
              <a:t>*</a:t>
            </a:r>
            <a:r>
              <a:rPr lang="es-MX" b="1" dirty="0"/>
              <a:t>interceptación cinética</a:t>
            </a:r>
            <a:r>
              <a:rPr lang="es-MX" dirty="0"/>
              <a:t>: es la interrupción brusca de un acto o movimiento que se encuentra en plena ejecución (esquizofrenia).</a:t>
            </a:r>
          </a:p>
          <a:p>
            <a:pPr marL="109728" indent="0">
              <a:buNone/>
            </a:pPr>
            <a:r>
              <a:rPr lang="es-MX" dirty="0" smtClean="0"/>
              <a:t>	</a:t>
            </a:r>
            <a:r>
              <a:rPr lang="es-MX" b="1" dirty="0" smtClean="0"/>
              <a:t>*</a:t>
            </a:r>
            <a:r>
              <a:rPr lang="es-MX" b="1" dirty="0"/>
              <a:t>negativismo</a:t>
            </a:r>
            <a:r>
              <a:rPr lang="es-MX" dirty="0"/>
              <a:t>: es la resistencia opuesta por el enfermo a toda sugerencia. Se da en la catatonía de la esquizofrenia, melancolía, histeria, seniles, niños caprichosos e imbéciles. En ocasiones los músculos adquieren tal rigidez como si se tratara de una tabla, es lo que se conoce como estupor </a:t>
            </a:r>
            <a:r>
              <a:rPr lang="es-MX" dirty="0" err="1"/>
              <a:t>negativista</a:t>
            </a:r>
            <a:r>
              <a:rPr lang="es-MX" dirty="0"/>
              <a:t>. Se denomina negativismo pasivo a la oposición para ejecutar cualquier acto que se le ordene y negativismo activo a la realización del acto opuesto al que se le indica.</a:t>
            </a:r>
          </a:p>
          <a:p>
            <a:pPr marL="109728" indent="0">
              <a:buNone/>
            </a:pPr>
            <a:r>
              <a:rPr lang="es-MX" dirty="0" smtClean="0"/>
              <a:t>	</a:t>
            </a:r>
            <a:r>
              <a:rPr lang="es-MX" b="1" dirty="0" smtClean="0"/>
              <a:t>*</a:t>
            </a:r>
            <a:r>
              <a:rPr lang="es-MX" b="1" dirty="0"/>
              <a:t>obediencia automática</a:t>
            </a:r>
            <a:r>
              <a:rPr lang="es-MX" dirty="0"/>
              <a:t>: el enfermo obedece y ejecuta pasivamente todos los actos y movimientos que se le sugieren. La caída completa de la voluntad convierte al sujeto en un verdadero autómata librado a la voluntad de quien lo dirija.</a:t>
            </a:r>
          </a:p>
          <a:p>
            <a:pPr marL="109728" indent="0">
              <a:buNone/>
            </a:pPr>
            <a:r>
              <a:rPr lang="es-MX" dirty="0" smtClean="0"/>
              <a:t>	</a:t>
            </a:r>
            <a:r>
              <a:rPr lang="es-MX" b="1" dirty="0" smtClean="0"/>
              <a:t>*</a:t>
            </a:r>
            <a:r>
              <a:rPr lang="es-MX" b="1" dirty="0"/>
              <a:t>flexibilidad </a:t>
            </a:r>
            <a:r>
              <a:rPr lang="es-MX" b="1" dirty="0" err="1"/>
              <a:t>cerea</a:t>
            </a:r>
            <a:r>
              <a:rPr lang="es-MX" b="1" dirty="0"/>
              <a:t>: </a:t>
            </a:r>
            <a:r>
              <a:rPr lang="es-MX" dirty="0"/>
              <a:t>estado en el cual la musculatura presenta una blandura particular que le da una amplia plasticidad (catalepsia de la esquizofrenia).</a:t>
            </a:r>
          </a:p>
          <a:p>
            <a:pPr marL="109728" indent="0">
              <a:buNone/>
            </a:pPr>
            <a:r>
              <a:rPr lang="es-MX" dirty="0" smtClean="0"/>
              <a:t>	</a:t>
            </a:r>
            <a:r>
              <a:rPr lang="es-MX" b="1" dirty="0" smtClean="0"/>
              <a:t>*</a:t>
            </a:r>
            <a:r>
              <a:rPr lang="es-MX" b="1" dirty="0"/>
              <a:t>cataplexia</a:t>
            </a:r>
            <a:r>
              <a:rPr lang="es-MX" dirty="0"/>
              <a:t>: rara, es la pérdida total y súbita del tono muscular normal</a:t>
            </a:r>
          </a:p>
          <a:p>
            <a:endParaRPr lang="es-MX" dirty="0"/>
          </a:p>
          <a:p>
            <a:endParaRPr lang="es-AR" dirty="0"/>
          </a:p>
        </p:txBody>
      </p:sp>
      <p:sp>
        <p:nvSpPr>
          <p:cNvPr id="3" name="Título 2"/>
          <p:cNvSpPr>
            <a:spLocks noGrp="1"/>
          </p:cNvSpPr>
          <p:nvPr>
            <p:ph type="title"/>
          </p:nvPr>
        </p:nvSpPr>
        <p:spPr>
          <a:xfrm flipV="1">
            <a:off x="457200" y="-387424"/>
            <a:ext cx="7211144" cy="144016"/>
          </a:xfrm>
        </p:spPr>
        <p:txBody>
          <a:bodyPr>
            <a:normAutofit fontScale="90000"/>
          </a:bodyPr>
          <a:lstStyle/>
          <a:p>
            <a:endParaRPr lang="es-AR" dirty="0"/>
          </a:p>
        </p:txBody>
      </p:sp>
    </p:spTree>
    <p:extLst>
      <p:ext uri="{BB962C8B-B14F-4D97-AF65-F5344CB8AC3E}">
        <p14:creationId xmlns:p14="http://schemas.microsoft.com/office/powerpoint/2010/main" val="124935204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457200" y="7749479"/>
            <a:ext cx="7643192" cy="144016"/>
          </a:xfrm>
        </p:spPr>
        <p:txBody>
          <a:bodyPr>
            <a:normAutofit fontScale="25000" lnSpcReduction="20000"/>
          </a:bodyPr>
          <a:lstStyle/>
          <a:p>
            <a:endParaRPr lang="es-AR" dirty="0"/>
          </a:p>
        </p:txBody>
      </p:sp>
      <p:sp>
        <p:nvSpPr>
          <p:cNvPr id="3" name="Título 2"/>
          <p:cNvSpPr>
            <a:spLocks noGrp="1"/>
          </p:cNvSpPr>
          <p:nvPr>
            <p:ph type="title"/>
          </p:nvPr>
        </p:nvSpPr>
        <p:spPr>
          <a:xfrm>
            <a:off x="683568" y="-675456"/>
            <a:ext cx="8280920" cy="6552728"/>
          </a:xfrm>
        </p:spPr>
        <p:txBody>
          <a:bodyPr/>
          <a:lstStyle/>
          <a:p>
            <a:r>
              <a:rPr lang="es-AR" dirty="0"/>
              <a:t> </a:t>
            </a:r>
            <a:r>
              <a:rPr lang="es-AR" sz="9600" dirty="0"/>
              <a:t>LENGUAJE</a:t>
            </a:r>
          </a:p>
        </p:txBody>
      </p:sp>
    </p:spTree>
    <p:extLst>
      <p:ext uri="{BB962C8B-B14F-4D97-AF65-F5344CB8AC3E}">
        <p14:creationId xmlns:p14="http://schemas.microsoft.com/office/powerpoint/2010/main" val="155333303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158226" y="1700808"/>
            <a:ext cx="8806261" cy="5040560"/>
          </a:xfrm>
        </p:spPr>
        <p:txBody>
          <a:bodyPr>
            <a:normAutofit fontScale="70000" lnSpcReduction="20000"/>
          </a:bodyPr>
          <a:lstStyle/>
          <a:p>
            <a:pPr marL="109728" indent="0">
              <a:buNone/>
            </a:pPr>
            <a:r>
              <a:rPr lang="es-MX" b="1" dirty="0"/>
              <a:t>Trastornos del lenguaje oral</a:t>
            </a:r>
            <a:r>
              <a:rPr lang="es-MX" dirty="0"/>
              <a:t>:</a:t>
            </a:r>
          </a:p>
          <a:p>
            <a:pPr marL="109728" indent="0">
              <a:buNone/>
            </a:pPr>
            <a:r>
              <a:rPr lang="es-MX" dirty="0" smtClean="0"/>
              <a:t>	</a:t>
            </a:r>
            <a:r>
              <a:rPr lang="es-MX" b="1" dirty="0" smtClean="0"/>
              <a:t>-</a:t>
            </a:r>
            <a:r>
              <a:rPr lang="es-MX" b="1" dirty="0"/>
              <a:t>causas orgánicas:</a:t>
            </a:r>
          </a:p>
          <a:p>
            <a:pPr marL="109728" indent="0">
              <a:buNone/>
            </a:pPr>
            <a:r>
              <a:rPr lang="es-MX" i="1" dirty="0"/>
              <a:t>*disartria</a:t>
            </a:r>
            <a:r>
              <a:rPr lang="es-MX" dirty="0"/>
              <a:t>: dificultad para la articulación silábica, se da en: parálisis general progresiva, oligofrenias, lesión de pares craneales, intoxicaciones, etc.</a:t>
            </a:r>
          </a:p>
          <a:p>
            <a:pPr marL="109728" indent="0">
              <a:buNone/>
            </a:pPr>
            <a:r>
              <a:rPr lang="es-MX" i="1" dirty="0"/>
              <a:t>*dislalia</a:t>
            </a:r>
            <a:r>
              <a:rPr lang="es-MX" dirty="0"/>
              <a:t>: pronunciación incorrecta de alguna consonante (rotacismo-</a:t>
            </a:r>
            <a:r>
              <a:rPr lang="es-MX" dirty="0" err="1"/>
              <a:t>r,labdacismo</a:t>
            </a:r>
            <a:r>
              <a:rPr lang="es-MX" dirty="0"/>
              <a:t>-l y </a:t>
            </a:r>
            <a:r>
              <a:rPr lang="es-MX" dirty="0" err="1"/>
              <a:t>sigmacismo</a:t>
            </a:r>
            <a:r>
              <a:rPr lang="es-MX" dirty="0"/>
              <a:t>-s). Se da en malformaciones de la lengua o del velo del paladar.</a:t>
            </a:r>
          </a:p>
          <a:p>
            <a:pPr marL="109728" indent="0">
              <a:buNone/>
            </a:pPr>
            <a:r>
              <a:rPr lang="es-MX" i="1" dirty="0"/>
              <a:t>*afasia</a:t>
            </a:r>
            <a:r>
              <a:rPr lang="es-MX" dirty="0"/>
              <a:t>: imposibilidad de comunicarse. Las dos más comunes son:</a:t>
            </a:r>
          </a:p>
          <a:p>
            <a:pPr marL="109728" indent="0">
              <a:buNone/>
            </a:pPr>
            <a:r>
              <a:rPr lang="es-MX" dirty="0"/>
              <a:t>a-sensorial, de comprensión o de Wernicke: por lesión en la primera circunvolución temporal, parte de la segunda y </a:t>
            </a:r>
            <a:r>
              <a:rPr lang="es-MX" dirty="0" err="1"/>
              <a:t>girus</a:t>
            </a:r>
            <a:r>
              <a:rPr lang="es-MX" dirty="0"/>
              <a:t> </a:t>
            </a:r>
            <a:r>
              <a:rPr lang="es-MX" dirty="0" err="1"/>
              <a:t>supramarginalis</a:t>
            </a:r>
            <a:r>
              <a:rPr lang="es-MX" dirty="0"/>
              <a:t>. El enfermo oye las palabras y ve las letras pero no puede comprender.</a:t>
            </a:r>
          </a:p>
          <a:p>
            <a:pPr marL="109728" indent="0">
              <a:buNone/>
            </a:pPr>
            <a:r>
              <a:rPr lang="es-MX" dirty="0"/>
              <a:t>b-motora, de expresión o de </a:t>
            </a:r>
            <a:r>
              <a:rPr lang="es-MX" dirty="0" err="1"/>
              <a:t>Brocca</a:t>
            </a:r>
            <a:r>
              <a:rPr lang="es-MX" dirty="0"/>
              <a:t>: por lesión en el pie de la tercera circunvolución frontal izquierda. Pierde la capacidad expresiva.</a:t>
            </a:r>
          </a:p>
          <a:p>
            <a:pPr marL="109728" indent="0">
              <a:buNone/>
            </a:pPr>
            <a:r>
              <a:rPr lang="es-MX" i="1" dirty="0"/>
              <a:t>*</a:t>
            </a:r>
            <a:r>
              <a:rPr lang="es-MX" i="1" dirty="0" err="1"/>
              <a:t>disfemias</a:t>
            </a:r>
            <a:r>
              <a:rPr lang="es-MX" dirty="0"/>
              <a:t>: alteración del ritmo de las palabras, ej. tartamudez.</a:t>
            </a:r>
          </a:p>
          <a:p>
            <a:pPr marL="109728" indent="0">
              <a:buNone/>
            </a:pPr>
            <a:r>
              <a:rPr lang="es-MX" i="1" dirty="0"/>
              <a:t>*disfonías</a:t>
            </a:r>
            <a:r>
              <a:rPr lang="es-MX" dirty="0"/>
              <a:t>: alteración del tono y/o timbre de la voz. Por lesión de las cuerdas </a:t>
            </a:r>
          </a:p>
          <a:p>
            <a:endParaRPr lang="es-AR" dirty="0"/>
          </a:p>
        </p:txBody>
      </p:sp>
      <p:sp>
        <p:nvSpPr>
          <p:cNvPr id="3" name="Título 2"/>
          <p:cNvSpPr>
            <a:spLocks noGrp="1"/>
          </p:cNvSpPr>
          <p:nvPr>
            <p:ph type="title"/>
          </p:nvPr>
        </p:nvSpPr>
        <p:spPr>
          <a:xfrm>
            <a:off x="179512" y="116632"/>
            <a:ext cx="8784976" cy="1584176"/>
          </a:xfrm>
        </p:spPr>
        <p:txBody>
          <a:bodyPr>
            <a:noAutofit/>
          </a:bodyPr>
          <a:lstStyle/>
          <a:p>
            <a:r>
              <a:rPr lang="es-MX" sz="1600" dirty="0"/>
              <a:t>Conjunto de sonidos articulados o inarticulados y de trazos y signos convencionales, por intermedio de los cuales se hace posible la vida de relación y el entendimiento entre los hombres, pues son el vehículo de expresión del pensamiento y de exteriorización de los deseos y afectos. Los sonidos glóticos constituyen el lenguaje oral, los signos gráficos convencionales el lenguaje escrito y los ademanes y gestos el lenguaje mímico.</a:t>
            </a:r>
            <a:endParaRPr lang="es-AR" sz="1600" dirty="0"/>
          </a:p>
        </p:txBody>
      </p:sp>
    </p:spTree>
    <p:extLst>
      <p:ext uri="{BB962C8B-B14F-4D97-AF65-F5344CB8AC3E}">
        <p14:creationId xmlns:p14="http://schemas.microsoft.com/office/powerpoint/2010/main" val="338266214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179512" y="116632"/>
            <a:ext cx="8784976" cy="6552728"/>
          </a:xfrm>
        </p:spPr>
        <p:txBody>
          <a:bodyPr>
            <a:normAutofit fontScale="85000" lnSpcReduction="20000"/>
          </a:bodyPr>
          <a:lstStyle/>
          <a:p>
            <a:pPr marL="109728" indent="0">
              <a:buNone/>
            </a:pPr>
            <a:r>
              <a:rPr lang="es-MX" dirty="0" smtClean="0"/>
              <a:t>	</a:t>
            </a:r>
            <a:r>
              <a:rPr lang="es-MX" b="1" dirty="0" smtClean="0"/>
              <a:t>-</a:t>
            </a:r>
            <a:r>
              <a:rPr lang="es-MX" b="1" dirty="0"/>
              <a:t>causas psicológicas: </a:t>
            </a:r>
          </a:p>
          <a:p>
            <a:pPr marL="109728" indent="0">
              <a:buNone/>
            </a:pPr>
            <a:r>
              <a:rPr lang="es-MX" sz="2600" b="1" dirty="0"/>
              <a:t>*</a:t>
            </a:r>
            <a:r>
              <a:rPr lang="es-MX" sz="2600" b="1" dirty="0" err="1"/>
              <a:t>taquilalia</a:t>
            </a:r>
            <a:r>
              <a:rPr lang="es-MX" sz="2600" dirty="0"/>
              <a:t>: aceleración de la emisión de las palabras (verborrea o </a:t>
            </a:r>
            <a:r>
              <a:rPr lang="es-MX" sz="2600" dirty="0" err="1"/>
              <a:t>logorrea</a:t>
            </a:r>
            <a:r>
              <a:rPr lang="es-MX" sz="2600" dirty="0"/>
              <a:t>). EPM.</a:t>
            </a:r>
          </a:p>
          <a:p>
            <a:pPr marL="109728" indent="0">
              <a:buNone/>
            </a:pPr>
            <a:r>
              <a:rPr lang="es-MX" sz="2600" b="1" dirty="0"/>
              <a:t>*bradilalia</a:t>
            </a:r>
            <a:r>
              <a:rPr lang="es-MX" sz="2600" dirty="0"/>
              <a:t>: lentitud en la emisión de las palabras. DPM.</a:t>
            </a:r>
          </a:p>
          <a:p>
            <a:pPr marL="109728" indent="0">
              <a:buNone/>
            </a:pPr>
            <a:r>
              <a:rPr lang="es-MX" sz="2600" b="1" dirty="0"/>
              <a:t>*</a:t>
            </a:r>
            <a:r>
              <a:rPr lang="es-MX" sz="2600" b="1" dirty="0" err="1"/>
              <a:t>verbigeración</a:t>
            </a:r>
            <a:r>
              <a:rPr lang="es-MX" sz="2600" dirty="0"/>
              <a:t>: repetición constante de algunas frases sin ningún sentido. Esquizofrenia, demencia y síndrome </a:t>
            </a:r>
            <a:r>
              <a:rPr lang="es-MX" sz="2600" dirty="0" err="1"/>
              <a:t>confusional</a:t>
            </a:r>
            <a:r>
              <a:rPr lang="es-MX" sz="2600" dirty="0"/>
              <a:t>.</a:t>
            </a:r>
          </a:p>
          <a:p>
            <a:pPr marL="109728" indent="0">
              <a:buNone/>
            </a:pPr>
            <a:r>
              <a:rPr lang="es-MX" sz="2600" b="1" dirty="0"/>
              <a:t>*mutismo: o silencio</a:t>
            </a:r>
            <a:r>
              <a:rPr lang="es-MX" sz="2600" dirty="0"/>
              <a:t>. Se da en el negativismo de los esquizofrénicos, melancólicos y oligofrénicos.</a:t>
            </a:r>
          </a:p>
          <a:p>
            <a:pPr marL="109728" indent="0">
              <a:buNone/>
            </a:pPr>
            <a:r>
              <a:rPr lang="es-MX" sz="2600" b="1" dirty="0"/>
              <a:t>*</a:t>
            </a:r>
            <a:r>
              <a:rPr lang="es-MX" sz="2600" b="1" dirty="0" err="1"/>
              <a:t>musitaciones</a:t>
            </a:r>
            <a:r>
              <a:rPr lang="es-MX" sz="2600" b="1" dirty="0"/>
              <a:t> y monólogos</a:t>
            </a:r>
            <a:r>
              <a:rPr lang="es-MX" sz="2600" dirty="0"/>
              <a:t>: cuando el enfermo murmura constantemente en voz baja como si hablara consigo mismo se llama </a:t>
            </a:r>
            <a:r>
              <a:rPr lang="es-MX" sz="2600" dirty="0" err="1"/>
              <a:t>musitación</a:t>
            </a:r>
            <a:r>
              <a:rPr lang="es-MX" sz="2600" dirty="0"/>
              <a:t>, cuando lo hace en voz alta añadiendo gestos y ademanes se denomina monólogo.</a:t>
            </a:r>
          </a:p>
          <a:p>
            <a:pPr marL="109728" indent="0">
              <a:buNone/>
            </a:pPr>
            <a:r>
              <a:rPr lang="es-MX" sz="2600" b="1" dirty="0"/>
              <a:t>*neologismos</a:t>
            </a:r>
            <a:r>
              <a:rPr lang="es-MX" sz="2600" dirty="0"/>
              <a:t>: creación de una nueva palabra que solo es comprensible para el enfermo.</a:t>
            </a:r>
          </a:p>
          <a:p>
            <a:pPr marL="109728" indent="0">
              <a:buNone/>
            </a:pPr>
            <a:r>
              <a:rPr lang="es-MX" sz="2600" b="1" dirty="0"/>
              <a:t>*jergafasia</a:t>
            </a:r>
            <a:r>
              <a:rPr lang="es-MX" sz="2600" dirty="0"/>
              <a:t>: pronunciación continua de palabras que se suceden sin guardar ninguna dilación lógica (ensalada de palabras).</a:t>
            </a:r>
          </a:p>
          <a:p>
            <a:pPr marL="109728" indent="0">
              <a:buNone/>
            </a:pPr>
            <a:r>
              <a:rPr lang="es-MX" sz="2600" b="1" dirty="0"/>
              <a:t>*ecolalia</a:t>
            </a:r>
            <a:r>
              <a:rPr lang="es-MX" sz="2600" dirty="0"/>
              <a:t>: repetición involuntaria de una palabra o fragmento de una frase dirigida al enfermo.</a:t>
            </a:r>
          </a:p>
          <a:p>
            <a:pPr marL="109728" indent="0">
              <a:buNone/>
            </a:pPr>
            <a:r>
              <a:rPr lang="es-MX" sz="2600" b="1" dirty="0"/>
              <a:t>*estereotipia verbal: </a:t>
            </a:r>
            <a:r>
              <a:rPr lang="es-MX" sz="2600" dirty="0"/>
              <a:t>repetición frecuente y anormal de un vocablo que se intercala en la conversación.</a:t>
            </a:r>
          </a:p>
        </p:txBody>
      </p:sp>
      <p:sp>
        <p:nvSpPr>
          <p:cNvPr id="3" name="Título 2"/>
          <p:cNvSpPr>
            <a:spLocks noGrp="1"/>
          </p:cNvSpPr>
          <p:nvPr>
            <p:ph type="title"/>
          </p:nvPr>
        </p:nvSpPr>
        <p:spPr>
          <a:xfrm flipV="1">
            <a:off x="457200" y="-387424"/>
            <a:ext cx="7571184" cy="216024"/>
          </a:xfrm>
        </p:spPr>
        <p:txBody>
          <a:bodyPr>
            <a:normAutofit fontScale="90000"/>
          </a:bodyPr>
          <a:lstStyle/>
          <a:p>
            <a:endParaRPr lang="es-AR" dirty="0"/>
          </a:p>
        </p:txBody>
      </p:sp>
    </p:spTree>
    <p:extLst>
      <p:ext uri="{BB962C8B-B14F-4D97-AF65-F5344CB8AC3E}">
        <p14:creationId xmlns:p14="http://schemas.microsoft.com/office/powerpoint/2010/main" val="310867722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179512" y="188640"/>
            <a:ext cx="8712968" cy="6552728"/>
          </a:xfrm>
        </p:spPr>
        <p:txBody>
          <a:bodyPr/>
          <a:lstStyle/>
          <a:p>
            <a:pPr marL="109728" indent="0">
              <a:buNone/>
            </a:pPr>
            <a:r>
              <a:rPr lang="es-MX" b="1" dirty="0" smtClean="0"/>
              <a:t>	Trastornos </a:t>
            </a:r>
            <a:r>
              <a:rPr lang="es-MX" b="1" dirty="0"/>
              <a:t>del lenguaje escrito</a:t>
            </a:r>
          </a:p>
          <a:p>
            <a:pPr marL="109728" indent="0">
              <a:buNone/>
            </a:pPr>
            <a:r>
              <a:rPr lang="es-MX" b="1" dirty="0"/>
              <a:t>a-</a:t>
            </a:r>
            <a:r>
              <a:rPr lang="es-MX" b="1" dirty="0" err="1"/>
              <a:t>disgrafia</a:t>
            </a:r>
            <a:r>
              <a:rPr lang="es-MX" dirty="0"/>
              <a:t>: irregularidades en los trazos de la escritura. Se da por temblores en el alcoholismo, parálisis general progresiva, hipertiroidismo y reacciones emocionales.</a:t>
            </a:r>
          </a:p>
          <a:p>
            <a:pPr marL="109728" indent="0">
              <a:buNone/>
            </a:pPr>
            <a:r>
              <a:rPr lang="es-MX" b="1" dirty="0"/>
              <a:t>b-agrafia y alexia</a:t>
            </a:r>
            <a:r>
              <a:rPr lang="es-MX" dirty="0"/>
              <a:t>: siempre asociados a las afasias.</a:t>
            </a:r>
          </a:p>
          <a:p>
            <a:pPr marL="109728" indent="0">
              <a:buNone/>
            </a:pPr>
            <a:r>
              <a:rPr lang="es-MX" dirty="0"/>
              <a:t>*en los esquizofrénicos puede encontrarse las mismas alteraciones que tienen en el lenguaje oral en el lenguaje escrito. Algo característico es la escritura en espejo que consiste en una escritura automática realizada con la mano izquierda efectuando los mismos movimientos que la mano derecha pero en sentido inverso.</a:t>
            </a:r>
          </a:p>
          <a:p>
            <a:pPr marL="109728" indent="0">
              <a:buNone/>
            </a:pPr>
            <a:endParaRPr lang="es-AR" dirty="0"/>
          </a:p>
        </p:txBody>
      </p:sp>
      <p:sp>
        <p:nvSpPr>
          <p:cNvPr id="3" name="Título 2"/>
          <p:cNvSpPr>
            <a:spLocks noGrp="1"/>
          </p:cNvSpPr>
          <p:nvPr>
            <p:ph type="title"/>
          </p:nvPr>
        </p:nvSpPr>
        <p:spPr>
          <a:xfrm>
            <a:off x="457200" y="-315416"/>
            <a:ext cx="7787208" cy="144016"/>
          </a:xfrm>
        </p:spPr>
        <p:txBody>
          <a:bodyPr>
            <a:normAutofit fontScale="90000"/>
          </a:bodyPr>
          <a:lstStyle/>
          <a:p>
            <a:endParaRPr lang="es-AR" dirty="0"/>
          </a:p>
        </p:txBody>
      </p:sp>
    </p:spTree>
    <p:extLst>
      <p:ext uri="{BB962C8B-B14F-4D97-AF65-F5344CB8AC3E}">
        <p14:creationId xmlns:p14="http://schemas.microsoft.com/office/powerpoint/2010/main" val="138357271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107504" y="116632"/>
            <a:ext cx="8856984" cy="6552728"/>
          </a:xfrm>
        </p:spPr>
        <p:txBody>
          <a:bodyPr>
            <a:normAutofit fontScale="92500" lnSpcReduction="20000"/>
          </a:bodyPr>
          <a:lstStyle/>
          <a:p>
            <a:pPr marL="109728" indent="0">
              <a:buNone/>
            </a:pPr>
            <a:r>
              <a:rPr lang="es-MX" b="1" dirty="0" smtClean="0"/>
              <a:t>	Trastornos </a:t>
            </a:r>
            <a:r>
              <a:rPr lang="es-MX" b="1" dirty="0"/>
              <a:t>del lenguaje mímico: </a:t>
            </a:r>
          </a:p>
          <a:p>
            <a:pPr marL="109728" indent="0">
              <a:buNone/>
            </a:pPr>
            <a:r>
              <a:rPr lang="es-MX" b="1" dirty="0"/>
              <a:t>1-hipermimia</a:t>
            </a:r>
            <a:r>
              <a:rPr lang="es-MX" dirty="0"/>
              <a:t>: exageración de las expresiones mímicas:</a:t>
            </a:r>
          </a:p>
          <a:p>
            <a:pPr marL="109728" indent="0">
              <a:buNone/>
            </a:pPr>
            <a:r>
              <a:rPr lang="es-MX" dirty="0"/>
              <a:t>a-melancólicos: rostro con tristeza profunda (entrecejo con omega melancólico o signo de </a:t>
            </a:r>
            <a:r>
              <a:rPr lang="es-MX" dirty="0" err="1"/>
              <a:t>Schule</a:t>
            </a:r>
            <a:r>
              <a:rPr lang="es-MX" dirty="0"/>
              <a:t>), comisuras labiales hacia abajo y cabeza inclinada con la vista fija al suelo.</a:t>
            </a:r>
          </a:p>
          <a:p>
            <a:pPr marL="109728" indent="0">
              <a:buNone/>
            </a:pPr>
            <a:r>
              <a:rPr lang="es-MX" dirty="0"/>
              <a:t>b-maníacos: rostro con alegría y euforia, gesticulación vehemente, abundante y rápida, mirada vivaz y apertura palpebral más amplia, risa y sonrisa.</a:t>
            </a:r>
          </a:p>
          <a:p>
            <a:pPr marL="109728" indent="0">
              <a:buNone/>
            </a:pPr>
            <a:r>
              <a:rPr lang="es-MX" b="1" dirty="0"/>
              <a:t>2-hipomimia: </a:t>
            </a:r>
            <a:r>
              <a:rPr lang="es-MX" dirty="0"/>
              <a:t>facie inexpresiva por </a:t>
            </a:r>
            <a:r>
              <a:rPr lang="es-MX" dirty="0" err="1"/>
              <a:t>indeferencia</a:t>
            </a:r>
            <a:r>
              <a:rPr lang="es-MX" dirty="0"/>
              <a:t> afectiva (cara planchada), negativismo de la esquizofrenia.</a:t>
            </a:r>
          </a:p>
          <a:p>
            <a:pPr marL="109728" indent="0">
              <a:buNone/>
            </a:pPr>
            <a:r>
              <a:rPr lang="es-MX" b="1" dirty="0"/>
              <a:t>3-amimia</a:t>
            </a:r>
            <a:r>
              <a:rPr lang="es-MX" dirty="0"/>
              <a:t>: inmovilidad de los rasgos fisonómicos, se da en estuporosos, melancólicos y esquizofrénicos.</a:t>
            </a:r>
          </a:p>
          <a:p>
            <a:pPr marL="109728" indent="0">
              <a:buNone/>
            </a:pPr>
            <a:r>
              <a:rPr lang="es-MX" b="1" dirty="0"/>
              <a:t>4-paramimia</a:t>
            </a:r>
            <a:r>
              <a:rPr lang="es-MX" dirty="0"/>
              <a:t>: expresiones de la fisonomía que no traducen realmente el verdadero estado de ánimo del individuo (simulaciones y disimulaciones).</a:t>
            </a:r>
          </a:p>
          <a:p>
            <a:pPr marL="109728" indent="0">
              <a:buNone/>
            </a:pPr>
            <a:endParaRPr lang="es-AR" dirty="0"/>
          </a:p>
        </p:txBody>
      </p:sp>
      <p:sp>
        <p:nvSpPr>
          <p:cNvPr id="3" name="Título 2"/>
          <p:cNvSpPr>
            <a:spLocks noGrp="1"/>
          </p:cNvSpPr>
          <p:nvPr>
            <p:ph type="title"/>
          </p:nvPr>
        </p:nvSpPr>
        <p:spPr>
          <a:xfrm>
            <a:off x="457200" y="-315416"/>
            <a:ext cx="7499176" cy="315416"/>
          </a:xfrm>
        </p:spPr>
        <p:txBody>
          <a:bodyPr>
            <a:normAutofit fontScale="90000"/>
          </a:bodyPr>
          <a:lstStyle/>
          <a:p>
            <a:endParaRPr lang="es-AR" dirty="0"/>
          </a:p>
        </p:txBody>
      </p:sp>
    </p:spTree>
    <p:extLst>
      <p:ext uri="{BB962C8B-B14F-4D97-AF65-F5344CB8AC3E}">
        <p14:creationId xmlns:p14="http://schemas.microsoft.com/office/powerpoint/2010/main" val="168058352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251520" y="188640"/>
            <a:ext cx="8568952" cy="6408712"/>
          </a:xfrm>
        </p:spPr>
        <p:txBody>
          <a:bodyPr>
            <a:normAutofit fontScale="92500"/>
          </a:bodyPr>
          <a:lstStyle/>
          <a:p>
            <a:pPr marL="109728" indent="0">
              <a:buNone/>
            </a:pPr>
            <a:r>
              <a:rPr lang="es-MX" b="1" dirty="0" smtClean="0"/>
              <a:t>	ACTIVIDAD </a:t>
            </a:r>
            <a:r>
              <a:rPr lang="es-MX" b="1" dirty="0"/>
              <a:t>Y SÍNDROMES MENTALES:</a:t>
            </a:r>
          </a:p>
          <a:p>
            <a:pPr marL="109728" indent="0">
              <a:buNone/>
            </a:pPr>
            <a:r>
              <a:rPr lang="es-MX" b="1" dirty="0"/>
              <a:t>1-frenasténico</a:t>
            </a:r>
            <a:r>
              <a:rPr lang="es-MX" dirty="0"/>
              <a:t>: movimientos estereotipados (balanceo). Pobre lenguaje oro-escrito. </a:t>
            </a:r>
            <a:r>
              <a:rPr lang="es-MX" dirty="0" err="1"/>
              <a:t>Hipomimia</a:t>
            </a:r>
            <a:r>
              <a:rPr lang="es-MX" dirty="0"/>
              <a:t>.</a:t>
            </a:r>
          </a:p>
          <a:p>
            <a:pPr marL="109728" indent="0">
              <a:buNone/>
            </a:pPr>
            <a:r>
              <a:rPr lang="es-MX" b="1" dirty="0"/>
              <a:t>2-demencia</a:t>
            </a:r>
            <a:r>
              <a:rPr lang="es-MX" dirty="0"/>
              <a:t>l: </a:t>
            </a:r>
            <a:r>
              <a:rPr lang="es-MX" dirty="0" err="1"/>
              <a:t>hipobulia</a:t>
            </a:r>
            <a:r>
              <a:rPr lang="es-MX" dirty="0"/>
              <a:t>. Impulsividad por falta de inhibiciones (agresivos, exhibicionistas), alteraciones del lenguaje oro-escrito, </a:t>
            </a:r>
            <a:r>
              <a:rPr lang="es-MX" dirty="0" err="1"/>
              <a:t>hipomimia</a:t>
            </a:r>
            <a:r>
              <a:rPr lang="es-MX" dirty="0"/>
              <a:t>.</a:t>
            </a:r>
          </a:p>
          <a:p>
            <a:pPr marL="109728" indent="0">
              <a:buNone/>
            </a:pPr>
            <a:r>
              <a:rPr lang="es-MX" b="1" dirty="0"/>
              <a:t>3-confusional</a:t>
            </a:r>
            <a:r>
              <a:rPr lang="es-MX" dirty="0"/>
              <a:t>: variable.</a:t>
            </a:r>
          </a:p>
          <a:p>
            <a:pPr marL="109728" indent="0">
              <a:buNone/>
            </a:pPr>
            <a:r>
              <a:rPr lang="es-MX" b="1" dirty="0"/>
              <a:t>4-esquizofrénico</a:t>
            </a:r>
            <a:r>
              <a:rPr lang="es-MX" dirty="0"/>
              <a:t>: </a:t>
            </a:r>
            <a:r>
              <a:rPr lang="es-MX" dirty="0" err="1"/>
              <a:t>hiperbulia</a:t>
            </a:r>
            <a:r>
              <a:rPr lang="es-MX" dirty="0"/>
              <a:t> en la hebefrenia, abulia en la catatonía, flexibilidad </a:t>
            </a:r>
            <a:r>
              <a:rPr lang="es-MX" dirty="0" err="1"/>
              <a:t>cerea</a:t>
            </a:r>
            <a:r>
              <a:rPr lang="es-MX" dirty="0"/>
              <a:t>, interceptación cinética, estereotipias, amaneramientos, extravagancias, escritura en espejo.</a:t>
            </a:r>
          </a:p>
          <a:p>
            <a:pPr marL="109728" indent="0">
              <a:buNone/>
            </a:pPr>
            <a:r>
              <a:rPr lang="es-MX" b="1" dirty="0"/>
              <a:t>5-delirante</a:t>
            </a:r>
            <a:r>
              <a:rPr lang="es-MX" dirty="0"/>
              <a:t>: condicionado por el delirio.</a:t>
            </a:r>
          </a:p>
          <a:p>
            <a:pPr marL="109728" indent="0">
              <a:buNone/>
            </a:pPr>
            <a:r>
              <a:rPr lang="es-MX" b="1" dirty="0"/>
              <a:t>6-EPM: </a:t>
            </a:r>
            <a:r>
              <a:rPr lang="es-MX" dirty="0" err="1"/>
              <a:t>hiperbulia</a:t>
            </a:r>
            <a:r>
              <a:rPr lang="es-MX" dirty="0"/>
              <a:t>, </a:t>
            </a:r>
            <a:r>
              <a:rPr lang="es-MX" dirty="0" err="1"/>
              <a:t>hipermimia</a:t>
            </a:r>
            <a:r>
              <a:rPr lang="es-MX" dirty="0"/>
              <a:t>, verborrea.</a:t>
            </a:r>
          </a:p>
          <a:p>
            <a:pPr marL="109728" indent="0">
              <a:buNone/>
            </a:pPr>
            <a:r>
              <a:rPr lang="es-MX" b="1" dirty="0"/>
              <a:t>7-DPM</a:t>
            </a:r>
            <a:r>
              <a:rPr lang="es-MX" dirty="0"/>
              <a:t>: </a:t>
            </a:r>
            <a:r>
              <a:rPr lang="es-MX" dirty="0" err="1"/>
              <a:t>hipobulia</a:t>
            </a:r>
            <a:r>
              <a:rPr lang="es-MX" dirty="0"/>
              <a:t>, abulia.</a:t>
            </a:r>
          </a:p>
          <a:p>
            <a:pPr marL="109728" indent="0">
              <a:buNone/>
            </a:pPr>
            <a:r>
              <a:rPr lang="es-MX" dirty="0"/>
              <a:t>  </a:t>
            </a:r>
          </a:p>
          <a:p>
            <a:pPr marL="109728" indent="0">
              <a:buNone/>
            </a:pPr>
            <a:endParaRPr lang="es-MX" dirty="0"/>
          </a:p>
          <a:p>
            <a:pPr marL="109728" indent="0">
              <a:buNone/>
            </a:pPr>
            <a:endParaRPr lang="es-MX" dirty="0"/>
          </a:p>
        </p:txBody>
      </p:sp>
      <p:sp>
        <p:nvSpPr>
          <p:cNvPr id="3" name="Título 2"/>
          <p:cNvSpPr>
            <a:spLocks noGrp="1"/>
          </p:cNvSpPr>
          <p:nvPr>
            <p:ph type="title"/>
          </p:nvPr>
        </p:nvSpPr>
        <p:spPr>
          <a:xfrm>
            <a:off x="457200" y="-315416"/>
            <a:ext cx="7931224" cy="72008"/>
          </a:xfrm>
        </p:spPr>
        <p:txBody>
          <a:bodyPr>
            <a:normAutofit fontScale="90000"/>
          </a:bodyPr>
          <a:lstStyle/>
          <a:p>
            <a:endParaRPr lang="es-AR" dirty="0"/>
          </a:p>
        </p:txBody>
      </p:sp>
    </p:spTree>
    <p:extLst>
      <p:ext uri="{BB962C8B-B14F-4D97-AF65-F5344CB8AC3E}">
        <p14:creationId xmlns:p14="http://schemas.microsoft.com/office/powerpoint/2010/main" val="89949912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flipV="1">
            <a:off x="457200" y="7389439"/>
            <a:ext cx="6347048" cy="360040"/>
          </a:xfrm>
        </p:spPr>
        <p:txBody>
          <a:bodyPr>
            <a:normAutofit fontScale="77500" lnSpcReduction="20000"/>
          </a:bodyPr>
          <a:lstStyle/>
          <a:p>
            <a:endParaRPr lang="es-AR" dirty="0"/>
          </a:p>
        </p:txBody>
      </p:sp>
      <p:sp>
        <p:nvSpPr>
          <p:cNvPr id="3" name="Título 2"/>
          <p:cNvSpPr>
            <a:spLocks noGrp="1"/>
          </p:cNvSpPr>
          <p:nvPr>
            <p:ph type="title"/>
          </p:nvPr>
        </p:nvSpPr>
        <p:spPr>
          <a:xfrm>
            <a:off x="287016" y="-531440"/>
            <a:ext cx="8856984" cy="6466730"/>
          </a:xfrm>
        </p:spPr>
        <p:txBody>
          <a:bodyPr/>
          <a:lstStyle/>
          <a:p>
            <a:r>
              <a:rPr lang="es-AR" dirty="0"/>
              <a:t> </a:t>
            </a:r>
            <a:r>
              <a:rPr lang="es-AR" sz="9600" dirty="0"/>
              <a:t>MEMORIA</a:t>
            </a:r>
          </a:p>
        </p:txBody>
      </p:sp>
    </p:spTree>
    <p:extLst>
      <p:ext uri="{BB962C8B-B14F-4D97-AF65-F5344CB8AC3E}">
        <p14:creationId xmlns:p14="http://schemas.microsoft.com/office/powerpoint/2010/main" val="20950859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251520" y="116632"/>
            <a:ext cx="8568952" cy="6408712"/>
          </a:xfrm>
        </p:spPr>
        <p:txBody>
          <a:bodyPr>
            <a:normAutofit fontScale="77500" lnSpcReduction="20000"/>
          </a:bodyPr>
          <a:lstStyle/>
          <a:p>
            <a:pPr marL="109728" indent="0">
              <a:buNone/>
            </a:pPr>
            <a:r>
              <a:rPr lang="es-MX" b="1" dirty="0"/>
              <a:t>Definición</a:t>
            </a:r>
            <a:r>
              <a:rPr lang="es-MX" dirty="0"/>
              <a:t>: es la actividad psíquica que permite fijar y conservar en la consciencia las vivencias que la han impresionado y que posteriormente pueden ser revividas por la evocación.</a:t>
            </a:r>
          </a:p>
          <a:p>
            <a:pPr marL="109728" indent="0">
              <a:buNone/>
            </a:pPr>
            <a:r>
              <a:rPr lang="es-MX" dirty="0"/>
              <a:t>Bajo la forma de imágenes (engramas o huellas mnemónicas), el material captado por el sensorio es guardado como recuerdos.</a:t>
            </a:r>
          </a:p>
          <a:p>
            <a:pPr marL="109728" indent="0">
              <a:buNone/>
            </a:pPr>
            <a:r>
              <a:rPr lang="es-MX" b="1" dirty="0"/>
              <a:t>Fases del proceso de la memoria</a:t>
            </a:r>
            <a:r>
              <a:rPr lang="es-MX" dirty="0"/>
              <a:t>:</a:t>
            </a:r>
          </a:p>
          <a:p>
            <a:pPr marL="109728" indent="0">
              <a:buNone/>
            </a:pPr>
            <a:r>
              <a:rPr lang="es-MX" dirty="0" smtClean="0"/>
              <a:t>	</a:t>
            </a:r>
            <a:r>
              <a:rPr lang="es-MX" b="1" dirty="0" smtClean="0"/>
              <a:t>1-Fijación </a:t>
            </a:r>
            <a:r>
              <a:rPr lang="es-MX" b="1" dirty="0"/>
              <a:t>(aprehensión): </a:t>
            </a:r>
            <a:r>
              <a:rPr lang="es-MX" dirty="0"/>
              <a:t>Es la fase en la que las imágenes o ideas son captadas y fijadas en el acto de atención. Estará condicionada entonces por la capacidad de concentración de la atención, el interés, la intensidad y frecuencia del estímulo.</a:t>
            </a:r>
          </a:p>
          <a:p>
            <a:pPr marL="109728" indent="0">
              <a:buNone/>
            </a:pPr>
            <a:r>
              <a:rPr lang="es-MX" dirty="0" smtClean="0"/>
              <a:t>	</a:t>
            </a:r>
            <a:r>
              <a:rPr lang="es-MX" b="1" dirty="0" smtClean="0"/>
              <a:t>2-Conservación</a:t>
            </a:r>
            <a:r>
              <a:rPr lang="es-MX" dirty="0"/>
              <a:t>: Dos teorías: </a:t>
            </a:r>
          </a:p>
          <a:p>
            <a:pPr marL="109728" indent="0">
              <a:buNone/>
            </a:pPr>
            <a:r>
              <a:rPr lang="es-MX" i="1" dirty="0" smtClean="0"/>
              <a:t>a-Materialista: </a:t>
            </a:r>
            <a:r>
              <a:rPr lang="es-MX" dirty="0"/>
              <a:t>Los datos son almacenados en el cerebro en el que se produce una modificación fisiológica indeleble, o sea cada representación y cada idea dispone de un  sustrato anatómico, una porción de tejido nervioso donde se ubicará y persistirá.</a:t>
            </a:r>
          </a:p>
          <a:p>
            <a:pPr marL="109728" indent="0">
              <a:buNone/>
            </a:pPr>
            <a:r>
              <a:rPr lang="es-MX" i="1" dirty="0" smtClean="0"/>
              <a:t>b-Psicológica</a:t>
            </a:r>
            <a:r>
              <a:rPr lang="es-MX" i="1" dirty="0"/>
              <a:t>: </a:t>
            </a:r>
            <a:r>
              <a:rPr lang="es-MX" dirty="0"/>
              <a:t>Todo estado de consciencia fijado  continua siendo psicológico y formando parte de la vida subconsciente del individuo, sin plasmarse en el tejido nervioso.</a:t>
            </a:r>
          </a:p>
          <a:p>
            <a:pPr marL="109728" indent="0">
              <a:buNone/>
            </a:pPr>
            <a:endParaRPr lang="es-AR" dirty="0"/>
          </a:p>
        </p:txBody>
      </p:sp>
      <p:sp>
        <p:nvSpPr>
          <p:cNvPr id="3" name="Título 2"/>
          <p:cNvSpPr>
            <a:spLocks noGrp="1"/>
          </p:cNvSpPr>
          <p:nvPr>
            <p:ph type="title"/>
          </p:nvPr>
        </p:nvSpPr>
        <p:spPr>
          <a:xfrm>
            <a:off x="488776" y="-819472"/>
            <a:ext cx="7571184" cy="459432"/>
          </a:xfrm>
        </p:spPr>
        <p:txBody>
          <a:bodyPr>
            <a:normAutofit fontScale="90000"/>
          </a:bodyPr>
          <a:lstStyle/>
          <a:p>
            <a:endParaRPr lang="es-AR"/>
          </a:p>
        </p:txBody>
      </p:sp>
    </p:spTree>
    <p:extLst>
      <p:ext uri="{BB962C8B-B14F-4D97-AF65-F5344CB8AC3E}">
        <p14:creationId xmlns:p14="http://schemas.microsoft.com/office/powerpoint/2010/main" val="228510333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107504" y="188640"/>
            <a:ext cx="8928992" cy="6408712"/>
          </a:xfrm>
        </p:spPr>
        <p:txBody>
          <a:bodyPr>
            <a:normAutofit fontScale="92500" lnSpcReduction="20000"/>
          </a:bodyPr>
          <a:lstStyle/>
          <a:p>
            <a:pPr marL="109728" indent="0">
              <a:buNone/>
            </a:pPr>
            <a:r>
              <a:rPr lang="es-MX" dirty="0" smtClean="0"/>
              <a:t>	</a:t>
            </a:r>
            <a:r>
              <a:rPr lang="es-MX" b="1" dirty="0" smtClean="0"/>
              <a:t>3-Evocación</a:t>
            </a:r>
            <a:r>
              <a:rPr lang="es-MX" b="1" dirty="0"/>
              <a:t>: </a:t>
            </a:r>
            <a:r>
              <a:rPr lang="es-MX" dirty="0"/>
              <a:t>Es la actualización de los hechos pasados mediante su reproducción en la consciencia, bajo la forma de imágenes mnemónicas. Hace posible la elaboración del pensamiento y establece el enlace entre el pasado y el presente.</a:t>
            </a:r>
          </a:p>
          <a:p>
            <a:pPr marL="109728" indent="0">
              <a:buNone/>
            </a:pPr>
            <a:r>
              <a:rPr lang="es-MX" dirty="0"/>
              <a:t>*</a:t>
            </a:r>
            <a:r>
              <a:rPr lang="es-MX" b="1" dirty="0"/>
              <a:t>Mecanismos:</a:t>
            </a:r>
          </a:p>
          <a:p>
            <a:pPr marL="109728" indent="0">
              <a:buNone/>
            </a:pPr>
            <a:r>
              <a:rPr lang="es-MX" b="1" dirty="0"/>
              <a:t>a- evocación consciente y voluntaria: </a:t>
            </a:r>
            <a:r>
              <a:rPr lang="es-MX" dirty="0"/>
              <a:t>trabajo y esfuerzo mental en la que la atención se halla introvertida en la búsqueda del recuerdo. Al surgir las ideas e imágenes al plano consciente transmiten la certeza y seguridad de que han sido vividas anteriormente.</a:t>
            </a:r>
          </a:p>
          <a:p>
            <a:pPr marL="109728" indent="0">
              <a:buNone/>
            </a:pPr>
            <a:r>
              <a:rPr lang="es-MX" b="1" dirty="0"/>
              <a:t>b- evocación consciente y espontánea</a:t>
            </a:r>
            <a:r>
              <a:rPr lang="es-MX" dirty="0"/>
              <a:t>: los recuerdos afloran y se hacen conscientes de una  manera involuntaria, no son buscados, no hay esfuerzo evocativo, constante fluir de ideas que    acuden a  la  consciencia.</a:t>
            </a:r>
          </a:p>
          <a:p>
            <a:pPr marL="109728" indent="0">
              <a:buNone/>
            </a:pPr>
            <a:r>
              <a:rPr lang="es-MX" b="1" dirty="0"/>
              <a:t>c-evocación automática e inconsciente</a:t>
            </a:r>
            <a:r>
              <a:rPr lang="es-MX" dirty="0"/>
              <a:t>: memoria de los mecanismos motores, permite actualizar los movimientos coordinados para la ejecución de un acto aprendido.</a:t>
            </a:r>
          </a:p>
          <a:p>
            <a:endParaRPr lang="es-AR" dirty="0"/>
          </a:p>
        </p:txBody>
      </p:sp>
      <p:sp>
        <p:nvSpPr>
          <p:cNvPr id="3" name="Título 2"/>
          <p:cNvSpPr>
            <a:spLocks noGrp="1"/>
          </p:cNvSpPr>
          <p:nvPr>
            <p:ph type="title"/>
          </p:nvPr>
        </p:nvSpPr>
        <p:spPr>
          <a:xfrm>
            <a:off x="457200" y="-459432"/>
            <a:ext cx="7427168" cy="216024"/>
          </a:xfrm>
        </p:spPr>
        <p:txBody>
          <a:bodyPr>
            <a:normAutofit fontScale="90000"/>
          </a:bodyPr>
          <a:lstStyle/>
          <a:p>
            <a:endParaRPr lang="es-AR" dirty="0"/>
          </a:p>
        </p:txBody>
      </p:sp>
    </p:spTree>
    <p:extLst>
      <p:ext uri="{BB962C8B-B14F-4D97-AF65-F5344CB8AC3E}">
        <p14:creationId xmlns:p14="http://schemas.microsoft.com/office/powerpoint/2010/main" val="84608669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179512" y="188640"/>
            <a:ext cx="8784976" cy="6192688"/>
          </a:xfrm>
        </p:spPr>
        <p:txBody>
          <a:bodyPr>
            <a:normAutofit fontScale="70000" lnSpcReduction="20000"/>
          </a:bodyPr>
          <a:lstStyle/>
          <a:p>
            <a:pPr marL="109728" indent="0">
              <a:buNone/>
            </a:pPr>
            <a:r>
              <a:rPr lang="es-MX" dirty="0"/>
              <a:t> </a:t>
            </a:r>
            <a:r>
              <a:rPr lang="es-MX" dirty="0" smtClean="0"/>
              <a:t>	</a:t>
            </a:r>
            <a:r>
              <a:rPr lang="es-MX" b="1" dirty="0" smtClean="0"/>
              <a:t>4- </a:t>
            </a:r>
            <a:r>
              <a:rPr lang="es-MX" b="1" dirty="0"/>
              <a:t>Reconocimiento y localización</a:t>
            </a:r>
            <a:r>
              <a:rPr lang="es-MX" dirty="0"/>
              <a:t>: Es la identificación del hecho evocado, la consciencia debe reconocerlo como un elemento perteneciente al pasado. Una evocación requiere pues para ser real, el reconocimiento de que es algo ya vivido con anterioridad.</a:t>
            </a:r>
          </a:p>
          <a:p>
            <a:pPr marL="109728" indent="0">
              <a:buNone/>
            </a:pPr>
            <a:endParaRPr lang="es-MX" dirty="0" smtClean="0"/>
          </a:p>
          <a:p>
            <a:pPr marL="109728" indent="0">
              <a:buNone/>
            </a:pPr>
            <a:r>
              <a:rPr lang="es-MX" dirty="0"/>
              <a:t>	</a:t>
            </a:r>
            <a:r>
              <a:rPr lang="es-MX" b="1" dirty="0" smtClean="0"/>
              <a:t>*</a:t>
            </a:r>
            <a:r>
              <a:rPr lang="es-MX" b="1" dirty="0"/>
              <a:t>El olvido</a:t>
            </a:r>
            <a:r>
              <a:rPr lang="es-MX" dirty="0"/>
              <a:t>: Es la atenuación gradual de un recuerdo cuya nitidez disminuye hasta llegar al </a:t>
            </a:r>
            <a:r>
              <a:rPr lang="es-MX" dirty="0" err="1"/>
              <a:t>borramiento</a:t>
            </a:r>
            <a:r>
              <a:rPr lang="es-MX" dirty="0"/>
              <a:t> total. Es una manifestación normal y fisiológica de la memoria.  Sume a un segundo plano a los engramas formados después del registro en la consciencia ya que su persistencia en un  primer plano conformaría un presente permanente, el olvido pasa a un plano no consciente lo que se va registrando y estas vivencias se conservan como recuerdos.</a:t>
            </a:r>
          </a:p>
          <a:p>
            <a:pPr marL="109728" indent="0">
              <a:buNone/>
            </a:pPr>
            <a:r>
              <a:rPr lang="es-MX" dirty="0"/>
              <a:t>La evocación de un recuerdo es tanto más difícil cuanto mayor es la acción del olvido. Esto también dependerá de diversas circunstancias:</a:t>
            </a:r>
          </a:p>
          <a:p>
            <a:pPr marL="109728" indent="0">
              <a:buNone/>
            </a:pPr>
            <a:r>
              <a:rPr lang="es-MX" dirty="0"/>
              <a:t>a-un engrama se fortalece al ser evocado múltiples veces y resiste mejor los efectos del olvido.</a:t>
            </a:r>
          </a:p>
          <a:p>
            <a:pPr marL="109728" indent="0">
              <a:buNone/>
            </a:pPr>
            <a:r>
              <a:rPr lang="es-MX" dirty="0"/>
              <a:t>b-si los engramas no son evocados se debilitan y sufren las consecuencias del olvido.</a:t>
            </a:r>
          </a:p>
          <a:p>
            <a:pPr marL="109728" indent="0">
              <a:buNone/>
            </a:pPr>
            <a:r>
              <a:rPr lang="es-MX" dirty="0"/>
              <a:t>c-los recuerdos más antiguos que han sido evocados repetidas veces están mejor conservados que los recientes menos evocados.</a:t>
            </a:r>
          </a:p>
          <a:p>
            <a:pPr marL="109728" indent="0">
              <a:buNone/>
            </a:pPr>
            <a:r>
              <a:rPr lang="es-MX" dirty="0"/>
              <a:t>d-si el engrama fue fijado con gran interés está menos expuesto al olvido, lo mismo si fue provocado por una fuerte vivencia afectiva.</a:t>
            </a:r>
          </a:p>
          <a:p>
            <a:pPr marL="109728" indent="0">
              <a:buNone/>
            </a:pPr>
            <a:r>
              <a:rPr lang="es-MX" dirty="0"/>
              <a:t>e-la fatiga psíquica y física dificulta la fijación.</a:t>
            </a:r>
            <a:endParaRPr lang="es-AR" dirty="0"/>
          </a:p>
        </p:txBody>
      </p:sp>
      <p:sp>
        <p:nvSpPr>
          <p:cNvPr id="3" name="Título 2"/>
          <p:cNvSpPr>
            <a:spLocks noGrp="1"/>
          </p:cNvSpPr>
          <p:nvPr>
            <p:ph type="title"/>
          </p:nvPr>
        </p:nvSpPr>
        <p:spPr>
          <a:xfrm flipV="1">
            <a:off x="457200" y="-603448"/>
            <a:ext cx="7571184" cy="288032"/>
          </a:xfrm>
        </p:spPr>
        <p:txBody>
          <a:bodyPr>
            <a:normAutofit fontScale="90000"/>
          </a:bodyPr>
          <a:lstStyle/>
          <a:p>
            <a:endParaRPr lang="es-AR" dirty="0"/>
          </a:p>
        </p:txBody>
      </p:sp>
    </p:spTree>
    <p:extLst>
      <p:ext uri="{BB962C8B-B14F-4D97-AF65-F5344CB8AC3E}">
        <p14:creationId xmlns:p14="http://schemas.microsoft.com/office/powerpoint/2010/main" val="173115655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251520" y="116632"/>
            <a:ext cx="8712968" cy="6552728"/>
          </a:xfrm>
        </p:spPr>
        <p:txBody>
          <a:bodyPr>
            <a:normAutofit fontScale="62500" lnSpcReduction="20000"/>
          </a:bodyPr>
          <a:lstStyle/>
          <a:p>
            <a:pPr marL="109728" indent="0">
              <a:buNone/>
            </a:pPr>
            <a:r>
              <a:rPr lang="es-MX" dirty="0" smtClean="0"/>
              <a:t>	</a:t>
            </a:r>
            <a:r>
              <a:rPr lang="es-MX" b="1" dirty="0" smtClean="0"/>
              <a:t> </a:t>
            </a:r>
            <a:r>
              <a:rPr lang="es-MX" b="1" dirty="0"/>
              <a:t>ALTERACIONES DE LA MEMORIA</a:t>
            </a:r>
          </a:p>
          <a:p>
            <a:pPr marL="109728" indent="0">
              <a:buNone/>
            </a:pPr>
            <a:r>
              <a:rPr lang="es-MX" b="1" dirty="0"/>
              <a:t>ALTERACIONES CUANTITATIVAS:</a:t>
            </a:r>
          </a:p>
          <a:p>
            <a:pPr marL="109728" indent="0">
              <a:buNone/>
            </a:pPr>
            <a:r>
              <a:rPr lang="es-MX" dirty="0" smtClean="0"/>
              <a:t>	</a:t>
            </a:r>
            <a:r>
              <a:rPr lang="es-MX" b="1" dirty="0" smtClean="0"/>
              <a:t>1-AMNESIAS</a:t>
            </a:r>
            <a:r>
              <a:rPr lang="es-MX" dirty="0"/>
              <a:t>: ausencia de recuerdos pertenecientes a un determinado periodo de la vida, el individuo tiene conciencia y certeza de que son recuerdos que existieron y que se han perdido.</a:t>
            </a:r>
          </a:p>
          <a:p>
            <a:pPr marL="109728" indent="0">
              <a:buNone/>
            </a:pPr>
            <a:r>
              <a:rPr lang="es-MX" dirty="0" smtClean="0"/>
              <a:t>	</a:t>
            </a:r>
            <a:r>
              <a:rPr lang="es-MX" b="1" dirty="0" smtClean="0"/>
              <a:t>a-parciales</a:t>
            </a:r>
            <a:r>
              <a:rPr lang="es-MX" b="1" dirty="0"/>
              <a:t>: </a:t>
            </a:r>
            <a:r>
              <a:rPr lang="es-MX" dirty="0"/>
              <a:t>afectan solamente a los recuerdos en un campo reducido: visual, auditiva, etc.. Responden casi siempre a una causa orgánica cerebral pero a veces pueden tener un origen psíquico (amnesia psicógena). Esta última es un tipo de amnesia en la que se evita la actualización de vivencias afectivas </a:t>
            </a:r>
            <a:r>
              <a:rPr lang="es-MX" dirty="0" err="1"/>
              <a:t>displacenteras</a:t>
            </a:r>
            <a:r>
              <a:rPr lang="es-MX" dirty="0"/>
              <a:t> ligadas al recuerdo, no hay </a:t>
            </a:r>
            <a:r>
              <a:rPr lang="es-MX" dirty="0" err="1"/>
              <a:t>borramiento</a:t>
            </a:r>
            <a:r>
              <a:rPr lang="es-MX" dirty="0"/>
              <a:t> de los engramas y puede revertir al desaparecer la situación desencadenante (amnesia no definitiva a diferencia de las orgánicas).</a:t>
            </a:r>
          </a:p>
          <a:p>
            <a:pPr marL="109728" indent="0">
              <a:buNone/>
            </a:pPr>
            <a:r>
              <a:rPr lang="es-MX" dirty="0" smtClean="0"/>
              <a:t>	</a:t>
            </a:r>
            <a:r>
              <a:rPr lang="es-MX" b="1" dirty="0" smtClean="0"/>
              <a:t>b-totales</a:t>
            </a:r>
            <a:r>
              <a:rPr lang="es-MX" b="1" dirty="0"/>
              <a:t>: </a:t>
            </a:r>
            <a:r>
              <a:rPr lang="es-MX" dirty="0"/>
              <a:t>cuando se hace extensiva a todos los elementos y formas del conocimiento que corresponden a un lapso determinado de la vida del enfermo. Hay tres tipos:</a:t>
            </a:r>
          </a:p>
          <a:p>
            <a:pPr marL="109728" indent="0">
              <a:buNone/>
            </a:pPr>
            <a:r>
              <a:rPr lang="es-MX" b="1" dirty="0"/>
              <a:t>*amnesia anterógrada</a:t>
            </a:r>
            <a:r>
              <a:rPr lang="es-MX" dirty="0"/>
              <a:t>: o de fijación, es una pérdida de la memoria a corto plazo, o sea que hay una incapacidad para fijar los estímulos. Se conserva la capacidad para evocar los recuerdos antiguos.</a:t>
            </a:r>
          </a:p>
          <a:p>
            <a:pPr marL="109728" indent="0">
              <a:buNone/>
            </a:pPr>
            <a:r>
              <a:rPr lang="es-MX" b="1" dirty="0"/>
              <a:t>*amnesia retrógrada</a:t>
            </a:r>
            <a:r>
              <a:rPr lang="es-MX" dirty="0"/>
              <a:t>: o de vocación, hay dificultad en actualizar los recuerdos de las vivencias experimentadas, fijadas y conservadas anteriormente y que en otras oportunidades han podido ser evocadas. Pueden ser de causa orgánica (demencias) o psicógenas (shock emocional o moral).</a:t>
            </a:r>
          </a:p>
          <a:p>
            <a:pPr marL="109728" indent="0">
              <a:buNone/>
            </a:pPr>
            <a:r>
              <a:rPr lang="es-MX" b="1" dirty="0"/>
              <a:t>*amnesia </a:t>
            </a:r>
            <a:r>
              <a:rPr lang="es-MX" b="1" dirty="0" err="1"/>
              <a:t>retroanterógrada</a:t>
            </a:r>
            <a:r>
              <a:rPr lang="es-MX" b="1" dirty="0"/>
              <a:t> o global</a:t>
            </a:r>
            <a:r>
              <a:rPr lang="es-MX" dirty="0"/>
              <a:t>: periodo final de las demencias.</a:t>
            </a:r>
          </a:p>
          <a:p>
            <a:pPr marL="109728" indent="0">
              <a:buNone/>
            </a:pPr>
            <a:r>
              <a:rPr lang="es-MX" b="1" dirty="0"/>
              <a:t>*amnesia </a:t>
            </a:r>
            <a:r>
              <a:rPr lang="es-MX" b="1" dirty="0" err="1"/>
              <a:t>lacunar</a:t>
            </a:r>
            <a:r>
              <a:rPr lang="es-MX" dirty="0"/>
              <a:t>: se da como consecuencia de estados patológicos en los que se altera la capacidad de fijación por obnubilación de la conciencia, se pierde la capacidad de registro durante ese período.</a:t>
            </a:r>
            <a:endParaRPr lang="es-AR" dirty="0"/>
          </a:p>
        </p:txBody>
      </p:sp>
      <p:sp>
        <p:nvSpPr>
          <p:cNvPr id="3" name="Título 2"/>
          <p:cNvSpPr>
            <a:spLocks noGrp="1"/>
          </p:cNvSpPr>
          <p:nvPr>
            <p:ph type="title"/>
          </p:nvPr>
        </p:nvSpPr>
        <p:spPr>
          <a:xfrm flipV="1">
            <a:off x="457200" y="-675456"/>
            <a:ext cx="7859216" cy="288032"/>
          </a:xfrm>
        </p:spPr>
        <p:txBody>
          <a:bodyPr>
            <a:normAutofit fontScale="90000"/>
          </a:bodyPr>
          <a:lstStyle/>
          <a:p>
            <a:endParaRPr lang="es-AR" dirty="0"/>
          </a:p>
        </p:txBody>
      </p:sp>
    </p:spTree>
    <p:extLst>
      <p:ext uri="{BB962C8B-B14F-4D97-AF65-F5344CB8AC3E}">
        <p14:creationId xmlns:p14="http://schemas.microsoft.com/office/powerpoint/2010/main" val="235949525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107504" y="188640"/>
            <a:ext cx="8856984" cy="6552728"/>
          </a:xfrm>
        </p:spPr>
        <p:txBody>
          <a:bodyPr/>
          <a:lstStyle/>
          <a:p>
            <a:pPr marL="109728" indent="0">
              <a:buNone/>
            </a:pPr>
            <a:r>
              <a:rPr lang="es-MX" dirty="0" smtClean="0"/>
              <a:t>	</a:t>
            </a:r>
            <a:r>
              <a:rPr lang="es-MX" b="1" dirty="0" smtClean="0"/>
              <a:t>2- </a:t>
            </a:r>
            <a:r>
              <a:rPr lang="es-MX" b="1" dirty="0"/>
              <a:t>HIPOMNESIAS: </a:t>
            </a:r>
            <a:r>
              <a:rPr lang="es-MX" dirty="0"/>
              <a:t>disminución de la capacidad mnemónica debido a una dificultad tanto para la fijación como para la evocación. Pueden ser psicógenas (neuróticos) u orgánicas (retraso mental y demencias).</a:t>
            </a:r>
          </a:p>
          <a:p>
            <a:pPr marL="109728" indent="0">
              <a:buNone/>
            </a:pPr>
            <a:r>
              <a:rPr lang="es-MX" dirty="0" smtClean="0"/>
              <a:t>	</a:t>
            </a:r>
            <a:r>
              <a:rPr lang="es-MX" b="1" dirty="0" smtClean="0"/>
              <a:t>3- </a:t>
            </a:r>
            <a:r>
              <a:rPr lang="es-MX" b="1" dirty="0"/>
              <a:t>HIPERMNESIAS:  </a:t>
            </a:r>
            <a:r>
              <a:rPr lang="es-MX" dirty="0"/>
              <a:t>es una hiperactividad de la memoria en la que se facilita el proceso de evocación y que en forma patológica pueden alterar el curso del pensamiento y terminar en la fuga de ideas (manía).</a:t>
            </a:r>
          </a:p>
          <a:p>
            <a:pPr marL="109728" indent="0">
              <a:buNone/>
            </a:pPr>
            <a:r>
              <a:rPr lang="es-MX" dirty="0" smtClean="0"/>
              <a:t>	</a:t>
            </a:r>
            <a:r>
              <a:rPr lang="es-MX" b="1" dirty="0" smtClean="0"/>
              <a:t>4- </a:t>
            </a:r>
            <a:r>
              <a:rPr lang="es-MX" b="1" dirty="0"/>
              <a:t>DISMNESIAS: </a:t>
            </a:r>
            <a:r>
              <a:rPr lang="es-MX" dirty="0"/>
              <a:t>es la falla en la evocación de un recuerdo en un momento dado, pero que se limita a un solo recuerdo, el cual puede ser evocado con total facilidad en otro momento.</a:t>
            </a:r>
          </a:p>
          <a:p>
            <a:pPr marL="109728" indent="0">
              <a:buNone/>
            </a:pPr>
            <a:endParaRPr lang="es-AR" dirty="0"/>
          </a:p>
        </p:txBody>
      </p:sp>
      <p:sp>
        <p:nvSpPr>
          <p:cNvPr id="3" name="Título 2"/>
          <p:cNvSpPr>
            <a:spLocks noGrp="1"/>
          </p:cNvSpPr>
          <p:nvPr>
            <p:ph type="title"/>
          </p:nvPr>
        </p:nvSpPr>
        <p:spPr>
          <a:xfrm flipV="1">
            <a:off x="452683" y="-279962"/>
            <a:ext cx="7715200" cy="274638"/>
          </a:xfrm>
        </p:spPr>
        <p:txBody>
          <a:bodyPr>
            <a:normAutofit fontScale="90000"/>
          </a:bodyPr>
          <a:lstStyle/>
          <a:p>
            <a:endParaRPr lang="es-AR"/>
          </a:p>
        </p:txBody>
      </p:sp>
    </p:spTree>
    <p:extLst>
      <p:ext uri="{BB962C8B-B14F-4D97-AF65-F5344CB8AC3E}">
        <p14:creationId xmlns:p14="http://schemas.microsoft.com/office/powerpoint/2010/main" val="129715078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179512" y="188640"/>
            <a:ext cx="8507288" cy="6552728"/>
          </a:xfrm>
        </p:spPr>
        <p:txBody>
          <a:bodyPr>
            <a:normAutofit fontScale="62500" lnSpcReduction="20000"/>
          </a:bodyPr>
          <a:lstStyle/>
          <a:p>
            <a:pPr marL="109728" indent="0">
              <a:buNone/>
            </a:pPr>
            <a:r>
              <a:rPr lang="es-MX" b="1" dirty="0"/>
              <a:t>ALTERACIONES CUALITATIVAS: </a:t>
            </a:r>
          </a:p>
          <a:p>
            <a:pPr marL="109728" indent="0">
              <a:buNone/>
            </a:pPr>
            <a:r>
              <a:rPr lang="es-MX" dirty="0" smtClean="0"/>
              <a:t>	</a:t>
            </a:r>
          </a:p>
          <a:p>
            <a:pPr marL="109728" indent="0">
              <a:buNone/>
            </a:pPr>
            <a:r>
              <a:rPr lang="es-MX" dirty="0"/>
              <a:t>	</a:t>
            </a:r>
            <a:r>
              <a:rPr lang="es-MX" dirty="0" smtClean="0"/>
              <a:t>Son </a:t>
            </a:r>
            <a:r>
              <a:rPr lang="es-MX" dirty="0"/>
              <a:t>las denominadas paramnesias, falsos reconocimientos, recuerdos inexactos, no ajustados a la realidad: </a:t>
            </a:r>
          </a:p>
          <a:p>
            <a:pPr marL="109728" indent="0">
              <a:buNone/>
            </a:pPr>
            <a:r>
              <a:rPr lang="es-MX" dirty="0" smtClean="0"/>
              <a:t>	</a:t>
            </a:r>
            <a:r>
              <a:rPr lang="es-MX" b="1" dirty="0" smtClean="0"/>
              <a:t>*</a:t>
            </a:r>
            <a:r>
              <a:rPr lang="es-MX" b="1" dirty="0"/>
              <a:t>Deja </a:t>
            </a:r>
            <a:r>
              <a:rPr lang="es-MX" b="1" dirty="0" err="1"/>
              <a:t>vu</a:t>
            </a:r>
            <a:r>
              <a:rPr lang="es-MX" b="1" dirty="0"/>
              <a:t>: </a:t>
            </a:r>
            <a:r>
              <a:rPr lang="es-MX" dirty="0"/>
              <a:t>o fenómeno de ya visto, es la extraña impresión de que una vivencia actual ha sido experimentada con anterioridad. Ocurre en personas normales (dudan) y esquizofrénicos (no dudan).</a:t>
            </a:r>
          </a:p>
          <a:p>
            <a:pPr marL="109728" indent="0">
              <a:buNone/>
            </a:pPr>
            <a:r>
              <a:rPr lang="es-MX" dirty="0" smtClean="0"/>
              <a:t>	</a:t>
            </a:r>
            <a:r>
              <a:rPr lang="es-MX" b="1" dirty="0" smtClean="0"/>
              <a:t>*</a:t>
            </a:r>
            <a:r>
              <a:rPr lang="es-MX" b="1" dirty="0" err="1"/>
              <a:t>Jamais</a:t>
            </a:r>
            <a:r>
              <a:rPr lang="es-MX" b="1" dirty="0"/>
              <a:t> </a:t>
            </a:r>
            <a:r>
              <a:rPr lang="es-MX" b="1" dirty="0" err="1"/>
              <a:t>vu</a:t>
            </a:r>
            <a:r>
              <a:rPr lang="es-MX" dirty="0"/>
              <a:t>: o fenómeno de lo nunca visto, es la sensación de no haber visto o experimentado nunca algo que en realidad ya conocen, lo impresionan como si fueran situaciones completamente nuevas.</a:t>
            </a:r>
          </a:p>
          <a:p>
            <a:pPr marL="109728" indent="0">
              <a:buNone/>
            </a:pPr>
            <a:r>
              <a:rPr lang="es-MX" dirty="0" smtClean="0"/>
              <a:t>	</a:t>
            </a:r>
            <a:r>
              <a:rPr lang="es-MX" b="1" dirty="0" smtClean="0"/>
              <a:t>*</a:t>
            </a:r>
            <a:r>
              <a:rPr lang="es-MX" b="1" dirty="0"/>
              <a:t>Ilusión de la memoria: </a:t>
            </a:r>
            <a:r>
              <a:rPr lang="es-MX" dirty="0"/>
              <a:t>es la evocación deformada de una vivencia. Hay agregado de detalles inexactos o adición de elementos que no responden con fidelidad al engrama. Puede darse por intensos estados emocionales.</a:t>
            </a:r>
          </a:p>
          <a:p>
            <a:pPr marL="109728" indent="0">
              <a:buNone/>
            </a:pPr>
            <a:r>
              <a:rPr lang="es-MX" dirty="0" smtClean="0"/>
              <a:t>	</a:t>
            </a:r>
            <a:r>
              <a:rPr lang="es-MX" b="1" dirty="0" smtClean="0"/>
              <a:t>*</a:t>
            </a:r>
            <a:r>
              <a:rPr lang="es-MX" b="1" dirty="0"/>
              <a:t>Alucinación de la memoria: </a:t>
            </a:r>
            <a:r>
              <a:rPr lang="es-MX" dirty="0"/>
              <a:t>es la evocación sin recuerdo, o sea la evocación de un estímulo que nunca fue fijado ni registrado por la conciencia, es una falsa imagen de un recuerdo inexistente.</a:t>
            </a:r>
          </a:p>
          <a:p>
            <a:pPr marL="109728" indent="0">
              <a:buNone/>
            </a:pPr>
            <a:r>
              <a:rPr lang="es-MX" dirty="0" smtClean="0"/>
              <a:t>	</a:t>
            </a:r>
            <a:r>
              <a:rPr lang="es-MX" b="1" dirty="0" smtClean="0"/>
              <a:t>*</a:t>
            </a:r>
            <a:r>
              <a:rPr lang="es-MX" b="1" dirty="0" err="1"/>
              <a:t>Criptomnesia</a:t>
            </a:r>
            <a:r>
              <a:rPr lang="es-MX" dirty="0"/>
              <a:t>: el recuerdo deja de ser tal desde el momento de su actualización, o sea que se impone a la conciencia como algo totalmente nuevo y de reciente formación.</a:t>
            </a:r>
          </a:p>
          <a:p>
            <a:pPr marL="109728" indent="0">
              <a:buNone/>
            </a:pPr>
            <a:r>
              <a:rPr lang="es-MX" dirty="0" smtClean="0"/>
              <a:t>	</a:t>
            </a:r>
            <a:r>
              <a:rPr lang="es-MX" b="1" dirty="0" smtClean="0"/>
              <a:t>*</a:t>
            </a:r>
            <a:r>
              <a:rPr lang="es-MX" b="1" dirty="0" err="1"/>
              <a:t>Ecmnesia</a:t>
            </a:r>
            <a:r>
              <a:rPr lang="es-MX" b="1" dirty="0"/>
              <a:t>: </a:t>
            </a:r>
            <a:r>
              <a:rPr lang="es-MX" dirty="0"/>
              <a:t>es la actualización de recuerdos de una época con tanta intensidad y realismo que el sujeto se retrotrae en el tiempo y cree vivir ese periodo, es decir que transforma el pasado en presente y pierde la noción del tiempo transcurrido.</a:t>
            </a:r>
          </a:p>
          <a:p>
            <a:pPr marL="109728" indent="0">
              <a:buNone/>
            </a:pPr>
            <a:r>
              <a:rPr lang="es-MX" dirty="0" smtClean="0"/>
              <a:t>	</a:t>
            </a:r>
            <a:r>
              <a:rPr lang="es-MX" b="1" dirty="0" smtClean="0"/>
              <a:t>*</a:t>
            </a:r>
            <a:r>
              <a:rPr lang="es-MX" b="1" dirty="0"/>
              <a:t>Paramnesia </a:t>
            </a:r>
            <a:r>
              <a:rPr lang="es-MX" b="1" dirty="0" err="1"/>
              <a:t>reduplicadora</a:t>
            </a:r>
            <a:r>
              <a:rPr lang="es-MX" b="1" dirty="0"/>
              <a:t>: </a:t>
            </a:r>
            <a:r>
              <a:rPr lang="es-MX" dirty="0"/>
              <a:t>es la proyección del presente hacia el pasado, el enfermo experimente la sensación de un doble estado de conciencia y se ubica simultáneamente en dos épocas. Se da en personas con gran deterioro psíquico (dementes).</a:t>
            </a:r>
          </a:p>
        </p:txBody>
      </p:sp>
      <p:sp>
        <p:nvSpPr>
          <p:cNvPr id="3" name="Título 2"/>
          <p:cNvSpPr>
            <a:spLocks noGrp="1"/>
          </p:cNvSpPr>
          <p:nvPr>
            <p:ph type="title"/>
          </p:nvPr>
        </p:nvSpPr>
        <p:spPr>
          <a:xfrm flipV="1">
            <a:off x="457200" y="-387424"/>
            <a:ext cx="7499176" cy="216024"/>
          </a:xfrm>
        </p:spPr>
        <p:txBody>
          <a:bodyPr>
            <a:normAutofit fontScale="90000"/>
          </a:bodyPr>
          <a:lstStyle/>
          <a:p>
            <a:endParaRPr lang="es-AR" dirty="0"/>
          </a:p>
        </p:txBody>
      </p:sp>
    </p:spTree>
    <p:extLst>
      <p:ext uri="{BB962C8B-B14F-4D97-AF65-F5344CB8AC3E}">
        <p14:creationId xmlns:p14="http://schemas.microsoft.com/office/powerpoint/2010/main" val="132040949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179512" y="188640"/>
            <a:ext cx="8640960" cy="6336704"/>
          </a:xfrm>
        </p:spPr>
        <p:txBody>
          <a:bodyPr>
            <a:normAutofit fontScale="62500" lnSpcReduction="20000"/>
          </a:bodyPr>
          <a:lstStyle/>
          <a:p>
            <a:pPr marL="109728" indent="0">
              <a:buNone/>
            </a:pPr>
            <a:r>
              <a:rPr lang="es-MX" b="1" dirty="0"/>
              <a:t>MEMORIA Y SÍNDROMES PSIQUIÁTRICOS:</a:t>
            </a:r>
          </a:p>
          <a:p>
            <a:pPr marL="109728" indent="0">
              <a:buNone/>
            </a:pPr>
            <a:r>
              <a:rPr lang="es-MX" dirty="0" smtClean="0"/>
              <a:t>	</a:t>
            </a:r>
          </a:p>
          <a:p>
            <a:pPr marL="109728" indent="0">
              <a:buNone/>
            </a:pPr>
            <a:r>
              <a:rPr lang="es-MX" dirty="0"/>
              <a:t>	</a:t>
            </a:r>
            <a:r>
              <a:rPr lang="es-MX" sz="2900" b="1" dirty="0" smtClean="0"/>
              <a:t>1-Sme</a:t>
            </a:r>
            <a:r>
              <a:rPr lang="es-MX" sz="2900" b="1" dirty="0"/>
              <a:t>. de EPM</a:t>
            </a:r>
            <a:r>
              <a:rPr lang="es-MX" sz="2900" dirty="0"/>
              <a:t>: Hipermnesia con fuga de ideas y </a:t>
            </a:r>
            <a:r>
              <a:rPr lang="es-MX" sz="2900" dirty="0" err="1"/>
              <a:t>hipomnesia</a:t>
            </a:r>
            <a:r>
              <a:rPr lang="es-MX" sz="2900" dirty="0"/>
              <a:t> de fijación en la manía.</a:t>
            </a:r>
          </a:p>
          <a:p>
            <a:pPr marL="109728" indent="0">
              <a:buNone/>
            </a:pPr>
            <a:r>
              <a:rPr lang="es-MX" sz="2900" dirty="0" smtClean="0"/>
              <a:t>	</a:t>
            </a:r>
            <a:r>
              <a:rPr lang="es-MX" sz="2900" b="1" dirty="0" smtClean="0"/>
              <a:t>2-Sme</a:t>
            </a:r>
            <a:r>
              <a:rPr lang="es-MX" sz="2900" b="1" dirty="0"/>
              <a:t>. de DPM</a:t>
            </a:r>
            <a:r>
              <a:rPr lang="es-MX" sz="2900" dirty="0"/>
              <a:t>: </a:t>
            </a:r>
            <a:r>
              <a:rPr lang="es-MX" sz="2900" dirty="0" err="1"/>
              <a:t>Hipomnesia</a:t>
            </a:r>
            <a:r>
              <a:rPr lang="es-MX" sz="2900" dirty="0"/>
              <a:t> de fijación por atención dedicada a sus dolencias. Sin embargo con respecto a sus problemas y vida interior existe una capacidad de evocación y nitidez extraordinaria.</a:t>
            </a:r>
          </a:p>
          <a:p>
            <a:pPr marL="109728" indent="0">
              <a:buNone/>
            </a:pPr>
            <a:r>
              <a:rPr lang="es-MX" sz="2900" dirty="0" smtClean="0"/>
              <a:t>	</a:t>
            </a:r>
            <a:r>
              <a:rPr lang="es-MX" sz="2900" b="1" dirty="0" smtClean="0"/>
              <a:t>3-Sme</a:t>
            </a:r>
            <a:r>
              <a:rPr lang="es-MX" sz="2900" b="1" dirty="0"/>
              <a:t>. delirante</a:t>
            </a:r>
            <a:r>
              <a:rPr lang="es-MX" sz="2900" dirty="0"/>
              <a:t>: Hipermnesia por la gran atención y fijación de numerosos elementos que los sujetos toman de la realidad para construir el delirio.</a:t>
            </a:r>
          </a:p>
          <a:p>
            <a:pPr marL="109728" indent="0">
              <a:buNone/>
            </a:pPr>
            <a:r>
              <a:rPr lang="es-MX" sz="2900" dirty="0" smtClean="0"/>
              <a:t>	</a:t>
            </a:r>
            <a:r>
              <a:rPr lang="es-MX" sz="2900" b="1" dirty="0" smtClean="0"/>
              <a:t>4-Sme</a:t>
            </a:r>
            <a:r>
              <a:rPr lang="es-MX" sz="2900" b="1" dirty="0"/>
              <a:t>. esquizofrénico</a:t>
            </a:r>
            <a:r>
              <a:rPr lang="es-MX" sz="2900" dirty="0"/>
              <a:t>: Especialmente de orden cualitativo: deja </a:t>
            </a:r>
            <a:r>
              <a:rPr lang="es-MX" sz="2900" dirty="0" err="1"/>
              <a:t>vu</a:t>
            </a:r>
            <a:r>
              <a:rPr lang="es-MX" sz="2900" dirty="0"/>
              <a:t>, </a:t>
            </a:r>
            <a:r>
              <a:rPr lang="es-MX" sz="2900" dirty="0" err="1"/>
              <a:t>jamais</a:t>
            </a:r>
            <a:r>
              <a:rPr lang="es-MX" sz="2900" dirty="0"/>
              <a:t> </a:t>
            </a:r>
            <a:r>
              <a:rPr lang="es-MX" sz="2900" dirty="0" err="1"/>
              <a:t>vu</a:t>
            </a:r>
            <a:r>
              <a:rPr lang="es-MX" sz="2900" dirty="0"/>
              <a:t>, ilusiones y alucinaciones de la memoria.</a:t>
            </a:r>
          </a:p>
          <a:p>
            <a:pPr marL="109728" indent="0">
              <a:buNone/>
            </a:pPr>
            <a:r>
              <a:rPr lang="es-MX" sz="2900" dirty="0" smtClean="0"/>
              <a:t>	</a:t>
            </a:r>
            <a:r>
              <a:rPr lang="es-MX" sz="2900" b="1" dirty="0" smtClean="0"/>
              <a:t>5-Sme</a:t>
            </a:r>
            <a:r>
              <a:rPr lang="es-MX" sz="2900" b="1" dirty="0"/>
              <a:t>. </a:t>
            </a:r>
            <a:r>
              <a:rPr lang="es-MX" sz="2900" b="1" dirty="0" err="1"/>
              <a:t>confusional</a:t>
            </a:r>
            <a:r>
              <a:rPr lang="es-MX" sz="2900" b="1" dirty="0"/>
              <a:t>: </a:t>
            </a:r>
            <a:r>
              <a:rPr lang="es-MX" sz="2900" dirty="0"/>
              <a:t>Falla en la </a:t>
            </a:r>
            <a:r>
              <a:rPr lang="es-MX" sz="2900" dirty="0" err="1"/>
              <a:t>sensopercepción</a:t>
            </a:r>
            <a:r>
              <a:rPr lang="es-MX" sz="2900" dirty="0"/>
              <a:t> con amnesia </a:t>
            </a:r>
            <a:r>
              <a:rPr lang="es-MX" sz="2900" dirty="0" err="1"/>
              <a:t>lacunar</a:t>
            </a:r>
            <a:r>
              <a:rPr lang="es-MX" sz="2900" dirty="0"/>
              <a:t>.</a:t>
            </a:r>
          </a:p>
          <a:p>
            <a:pPr marL="109728" indent="0">
              <a:buNone/>
            </a:pPr>
            <a:r>
              <a:rPr lang="es-MX" sz="2900" dirty="0" smtClean="0"/>
              <a:t>	</a:t>
            </a:r>
            <a:r>
              <a:rPr lang="es-MX" sz="2900" b="1" dirty="0" smtClean="0"/>
              <a:t>6-Sme</a:t>
            </a:r>
            <a:r>
              <a:rPr lang="es-MX" sz="2900" b="1" dirty="0"/>
              <a:t>. oligofrénico</a:t>
            </a:r>
            <a:r>
              <a:rPr lang="es-MX" sz="2900" dirty="0"/>
              <a:t>: </a:t>
            </a:r>
            <a:r>
              <a:rPr lang="es-MX" sz="2900" dirty="0" err="1"/>
              <a:t>Hipomnesia</a:t>
            </a:r>
            <a:r>
              <a:rPr lang="es-MX" sz="2900" dirty="0"/>
              <a:t>, ya que su precaria memoria solo fija y conserva elementos en relación a sus necesidades vitales inmediatas.</a:t>
            </a:r>
          </a:p>
          <a:p>
            <a:pPr marL="109728" indent="0">
              <a:buNone/>
            </a:pPr>
            <a:r>
              <a:rPr lang="es-MX" sz="2900" dirty="0" smtClean="0"/>
              <a:t>	</a:t>
            </a:r>
            <a:r>
              <a:rPr lang="es-MX" sz="2900" b="1" dirty="0" smtClean="0"/>
              <a:t>7-Sme</a:t>
            </a:r>
            <a:r>
              <a:rPr lang="es-MX" sz="2900" b="1" dirty="0"/>
              <a:t>. demencial: </a:t>
            </a:r>
            <a:r>
              <a:rPr lang="es-MX" sz="2900" dirty="0"/>
              <a:t>Al comienzo </a:t>
            </a:r>
            <a:r>
              <a:rPr lang="es-MX" sz="2900" dirty="0" err="1"/>
              <a:t>hipomnesia</a:t>
            </a:r>
            <a:r>
              <a:rPr lang="es-MX" sz="2900" dirty="0"/>
              <a:t> de fijación por una atención superficial e inestable hasta evolucionar a una franca amnesia de fijación. Posteriormente las dificultades en el curso del pensamiento, debidas a las fallas de fijación son subsanadas mediante elaboraciones de la imaginación (fabulación). Con el progreso de la enfermedad aparece amnesia retrógrada despojando al sujeto de sus recuerdos, según la ley de </a:t>
            </a:r>
            <a:r>
              <a:rPr lang="es-MX" sz="2900" dirty="0" err="1"/>
              <a:t>Ribot</a:t>
            </a:r>
            <a:r>
              <a:rPr lang="es-MX" sz="2900" dirty="0"/>
              <a:t> desde los más recientes a los más antiguos.</a:t>
            </a:r>
          </a:p>
          <a:p>
            <a:pPr marL="109728" indent="0">
              <a:buNone/>
            </a:pPr>
            <a:r>
              <a:rPr lang="es-MX" sz="2900" dirty="0"/>
              <a:t>La amnesia parcial, por destrucción de pequeñas zonas circunscriptas del cerebro, se observa en la demencia arterioesclerótica.</a:t>
            </a:r>
          </a:p>
          <a:p>
            <a:pPr marL="109728" indent="0">
              <a:buNone/>
            </a:pPr>
            <a:endParaRPr lang="es-AR" sz="2900" dirty="0"/>
          </a:p>
        </p:txBody>
      </p:sp>
      <p:sp>
        <p:nvSpPr>
          <p:cNvPr id="3" name="Título 2"/>
          <p:cNvSpPr>
            <a:spLocks noGrp="1"/>
          </p:cNvSpPr>
          <p:nvPr>
            <p:ph type="title"/>
          </p:nvPr>
        </p:nvSpPr>
        <p:spPr>
          <a:xfrm flipV="1">
            <a:off x="457200" y="-531440"/>
            <a:ext cx="7715200" cy="216024"/>
          </a:xfrm>
        </p:spPr>
        <p:txBody>
          <a:bodyPr>
            <a:normAutofit fontScale="90000"/>
          </a:bodyPr>
          <a:lstStyle/>
          <a:p>
            <a:endParaRPr lang="es-AR" dirty="0"/>
          </a:p>
        </p:txBody>
      </p:sp>
    </p:spTree>
    <p:extLst>
      <p:ext uri="{BB962C8B-B14F-4D97-AF65-F5344CB8AC3E}">
        <p14:creationId xmlns:p14="http://schemas.microsoft.com/office/powerpoint/2010/main" val="386961952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urrencia">
  <a:themeElements>
    <a:clrScheme name="Concurrencia">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urrencia">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urrencia">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1273</TotalTime>
  <Words>2016</Words>
  <Application>Microsoft Office PowerPoint</Application>
  <PresentationFormat>Presentación en pantalla (4:3)</PresentationFormat>
  <Paragraphs>438</Paragraphs>
  <Slides>67</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67</vt:i4>
      </vt:variant>
    </vt:vector>
  </HeadingPairs>
  <TitlesOfParts>
    <vt:vector size="72" baseType="lpstr">
      <vt:lpstr>Lucida Sans Unicode</vt:lpstr>
      <vt:lpstr>Verdana</vt:lpstr>
      <vt:lpstr>Wingdings 2</vt:lpstr>
      <vt:lpstr>Wingdings 3</vt:lpstr>
      <vt:lpstr>Concurrencia</vt:lpstr>
      <vt:lpstr>SEMIOLOGÍA PSIQUIÁTRICA </vt:lpstr>
      <vt:lpstr>Aspecto:</vt:lpstr>
      <vt:lpstr>ATENCIÓN</vt:lpstr>
      <vt:lpstr>Definición: actitud mental que permite concentrar la actividad psíquica en un objeto</vt:lpstr>
      <vt:lpstr>Otros conceptos:</vt:lpstr>
      <vt:lpstr>Psicopatología de la atención </vt:lpstr>
      <vt:lpstr>CONCIENCIA</vt:lpstr>
      <vt:lpstr>   Definición:consideramos a la conciencia como la resultante del funcionamiento armónico de la totalidad de la psique. Constituye  una continuidad ininterrumpida de registros sobre mundo externo, mundo interno y el mundo psíquico, permitiéndole al hombre una perfecta noción del yo y de su orientación temporo-espacial Alteración de la conciencia: (ALEC)  -Alerta o vigil  -Letárgico o somnoliento  -Estuporoso  -Comatoso  </vt:lpstr>
      <vt:lpstr>Otros conceptos: </vt:lpstr>
      <vt:lpstr>ORIENTACIÓN </vt:lpstr>
      <vt:lpstr>Presentación de PowerPoint</vt:lpstr>
      <vt:lpstr>Presentación de PowerPoint</vt:lpstr>
      <vt:lpstr>SENSOPERCEPCIÓN</vt:lpstr>
      <vt:lpstr>Presentación de PowerPoint</vt:lpstr>
      <vt:lpstr>Presentación de PowerPoint</vt:lpstr>
      <vt:lpstr>Conceptos clave:</vt:lpstr>
      <vt:lpstr>Presentación de PowerPoint</vt:lpstr>
      <vt:lpstr>Esquema sensoperceptivo: Ej. El dormitorio</vt:lpstr>
      <vt:lpstr>  ALUCINACIÓN: varias definiciones  </vt:lpstr>
      <vt:lpstr>Tipos de alucinaciones:</vt:lpstr>
      <vt:lpstr> </vt:lpstr>
      <vt:lpstr> </vt:lpstr>
      <vt:lpstr> PENSAMIENTO</vt:lpstr>
      <vt:lpstr>Presentación de PowerPoint</vt:lpstr>
      <vt:lpstr>Presentación de PowerPoint</vt:lpstr>
      <vt:lpstr>JUICIO</vt:lpstr>
      <vt:lpstr>RACIOCINIO</vt:lpstr>
      <vt:lpstr>PENSAMIENTO</vt:lpstr>
      <vt:lpstr>Alteraciones del pensamiento:</vt:lpstr>
      <vt:lpstr>Presentación de PowerPoint</vt:lpstr>
      <vt:lpstr>Presentación de PowerPoint</vt:lpstr>
      <vt:lpstr>B-Del contenido:</vt:lpstr>
      <vt:lpstr>Presentación de PowerPoint</vt:lpstr>
      <vt:lpstr>Presentación de PowerPoint</vt:lpstr>
      <vt:lpstr>Presentación de PowerPoint</vt:lpstr>
      <vt:lpstr>Presentación de PowerPoint</vt:lpstr>
      <vt:lpstr>Presentación de PowerPoint</vt:lpstr>
      <vt:lpstr>AFECTIVIDAD</vt:lpstr>
      <vt:lpstr>Presentación de PowerPoint</vt:lpstr>
      <vt:lpstr>Contenido de los estados afectivos</vt:lpstr>
      <vt:lpstr>Presentación de PowerPoint</vt:lpstr>
      <vt:lpstr>Presentación de PowerPoint</vt:lpstr>
      <vt:lpstr>Presentación de PowerPoint</vt:lpstr>
      <vt:lpstr> Psicopatología de la afectividad </vt:lpstr>
      <vt:lpstr>Presentación de PowerPoint</vt:lpstr>
      <vt:lpstr>Presentación de PowerPoint</vt:lpstr>
      <vt:lpstr>Afectividad en los distintos síndromes</vt:lpstr>
      <vt:lpstr> ACTIVIDAD</vt:lpstr>
      <vt:lpstr>Presentación de PowerPoint</vt:lpstr>
      <vt:lpstr>PSICOPATOLOGÍA DE LA ACTIVIDAD</vt:lpstr>
      <vt:lpstr>Presentación de PowerPoint</vt:lpstr>
      <vt:lpstr>Presentación de PowerPoint</vt:lpstr>
      <vt:lpstr>Presentación de PowerPoint</vt:lpstr>
      <vt:lpstr> LENGUAJE</vt:lpstr>
      <vt:lpstr>Conjunto de sonidos articulados o inarticulados y de trazos y signos convencionales, por intermedio de los cuales se hace posible la vida de relación y el entendimiento entre los hombres, pues son el vehículo de expresión del pensamiento y de exteriorización de los deseos y afectos. Los sonidos glóticos constituyen el lenguaje oral, los signos gráficos convencionales el lenguaje escrito y los ademanes y gestos el lenguaje mímico.</vt:lpstr>
      <vt:lpstr>Presentación de PowerPoint</vt:lpstr>
      <vt:lpstr>Presentación de PowerPoint</vt:lpstr>
      <vt:lpstr>Presentación de PowerPoint</vt:lpstr>
      <vt:lpstr>Presentación de PowerPoint</vt:lpstr>
      <vt:lpstr> MEMORIA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Urgencias de Salud mental en el hospital general</dc:title>
  <dc:creator>USUARIO</dc:creator>
  <cp:lastModifiedBy>drfsr</cp:lastModifiedBy>
  <cp:revision>123</cp:revision>
  <dcterms:created xsi:type="dcterms:W3CDTF">2021-10-14T12:38:24Z</dcterms:created>
  <dcterms:modified xsi:type="dcterms:W3CDTF">2022-10-30T17:25:59Z</dcterms:modified>
</cp:coreProperties>
</file>