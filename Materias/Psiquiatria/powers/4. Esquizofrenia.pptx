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9144000" cy="6858000" type="screen4x3"/>
  <p:notesSz cx="6858000" cy="9144000"/>
  <p:defaultTextStyle>
    <a:defPPr lvl="0">
      <a:defRPr lang="es-E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0" d="100"/>
          <a:sy n="100" d="100"/>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3" Type="http://schemas.openxmlformats.org/officeDocument/2006/relationships/slide" Target="slides/slide2.xml" /><Relationship Id="rId21" Type="http://schemas.openxmlformats.org/officeDocument/2006/relationships/presProps" Target="presProps.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tableStyles" Target="tableStyles.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theme" Target="theme/theme1.xml" /><Relationship Id="rId10" Type="http://schemas.openxmlformats.org/officeDocument/2006/relationships/slide" Target="slides/slide9.xml" /><Relationship Id="rId19" Type="http://schemas.openxmlformats.org/officeDocument/2006/relationships/slide" Target="slides/slide18.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viewProps" Target="viewProps.xml" /></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10" name="9 Triángulo rectángulo"/>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8 Título"/>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s-ES"/>
              <a:t>Haga clic para modificar el estilo de título del patrón</a:t>
            </a:r>
            <a:endParaRPr kumimoji="0" lang="en-US"/>
          </a:p>
        </p:txBody>
      </p:sp>
      <p:sp>
        <p:nvSpPr>
          <p:cNvPr id="17" name="16 Subtítulo"/>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s-ES"/>
              <a:t>Haga clic para modificar el estilo de subtítulo del patrón</a:t>
            </a:r>
            <a:endParaRPr kumimoji="0" lang="en-US"/>
          </a:p>
        </p:txBody>
      </p:sp>
      <p:grpSp>
        <p:nvGrpSpPr>
          <p:cNvPr id="2" name="1 Grupo"/>
          <p:cNvGrpSpPr/>
          <p:nvPr/>
        </p:nvGrpSpPr>
        <p:grpSpPr>
          <a:xfrm>
            <a:off x="-3765" y="4953000"/>
            <a:ext cx="9147765" cy="1912088"/>
            <a:chOff x="-3765" y="4832896"/>
            <a:chExt cx="9147765" cy="2032192"/>
          </a:xfrm>
        </p:grpSpPr>
        <p:sp>
          <p:nvSpPr>
            <p:cNvPr id="7" name="6 Forma libre"/>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7 Forma libre"/>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10 Forma libre"/>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2" name="11 Conector recto"/>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29 Marcador de fecha"/>
          <p:cNvSpPr>
            <a:spLocks noGrp="1"/>
          </p:cNvSpPr>
          <p:nvPr>
            <p:ph type="dt" sz="half" idx="10"/>
          </p:nvPr>
        </p:nvSpPr>
        <p:spPr/>
        <p:txBody>
          <a:bodyPr/>
          <a:lstStyle>
            <a:lvl1pPr>
              <a:defRPr>
                <a:solidFill>
                  <a:srgbClr val="FFFFFF"/>
                </a:solidFill>
              </a:defRPr>
            </a:lvl1pPr>
            <a:extLst/>
          </a:lstStyle>
          <a:p>
            <a:fld id="{7E82D465-E72D-4C88-893D-384A46F73A66}" type="datetimeFigureOut">
              <a:rPr lang="es-ES" smtClean="0"/>
              <a:t>03/10/2026</a:t>
            </a:fld>
            <a:endParaRPr lang="es-ES"/>
          </a:p>
        </p:txBody>
      </p:sp>
      <p:sp>
        <p:nvSpPr>
          <p:cNvPr id="19" name="18 Marcador de pie de página"/>
          <p:cNvSpPr>
            <a:spLocks noGrp="1"/>
          </p:cNvSpPr>
          <p:nvPr>
            <p:ph type="ftr" sz="quarter" idx="11"/>
          </p:nvPr>
        </p:nvSpPr>
        <p:spPr/>
        <p:txBody>
          <a:bodyPr/>
          <a:lstStyle>
            <a:lvl1pPr>
              <a:defRPr>
                <a:solidFill>
                  <a:schemeClr val="accent1">
                    <a:tint val="20000"/>
                  </a:schemeClr>
                </a:solidFill>
              </a:defRPr>
            </a:lvl1pPr>
            <a:extLst/>
          </a:lstStyle>
          <a:p>
            <a:endParaRPr lang="es-ES"/>
          </a:p>
        </p:txBody>
      </p:sp>
      <p:sp>
        <p:nvSpPr>
          <p:cNvPr id="27" name="26 Marcador de número de diapositiva"/>
          <p:cNvSpPr>
            <a:spLocks noGrp="1"/>
          </p:cNvSpPr>
          <p:nvPr>
            <p:ph type="sldNum" sz="quarter" idx="12"/>
          </p:nvPr>
        </p:nvSpPr>
        <p:spPr/>
        <p:txBody>
          <a:bodyPr/>
          <a:lstStyle>
            <a:lvl1pPr>
              <a:defRPr>
                <a:solidFill>
                  <a:srgbClr val="FFFFFF"/>
                </a:solidFill>
              </a:defRPr>
            </a:lvl1pPr>
            <a:extLst/>
          </a:lstStyle>
          <a:p>
            <a:fld id="{67CD68BD-B130-4BBF-B134-050142515A95}" type="slidenum">
              <a:rPr lang="es-ES" smtClean="0"/>
              <a:t>‹Nº›</a:t>
            </a:fld>
            <a:endParaRPr lang="es-E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3" name="2 Marcador de contenido"/>
          <p:cNvSpPr>
            <a:spLocks noGrp="1"/>
          </p:cNvSpPr>
          <p:nvPr>
            <p:ph idx="1"/>
          </p:nvPr>
        </p:nvSpPr>
        <p:spPr/>
        <p:txBody>
          <a:bodyPr/>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4" name="3 Marcador de fecha"/>
          <p:cNvSpPr>
            <a:spLocks noGrp="1"/>
          </p:cNvSpPr>
          <p:nvPr>
            <p:ph type="dt" sz="half" idx="10"/>
          </p:nvPr>
        </p:nvSpPr>
        <p:spPr/>
        <p:txBody>
          <a:bodyPr/>
          <a:lstStyle/>
          <a:p>
            <a:fld id="{7E82D465-E72D-4C88-893D-384A46F73A66}" type="datetimeFigureOut">
              <a:rPr lang="es-ES" smtClean="0"/>
              <a:t>03/10/2026</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67CD68BD-B130-4BBF-B134-050142515A95}" type="slidenum">
              <a:rPr lang="es-ES" smtClean="0"/>
              <a:t>‹Nº›</a:t>
            </a:fld>
            <a:endParaRPr lang="es-ES"/>
          </a:p>
        </p:txBody>
      </p:sp>
      <p:sp>
        <p:nvSpPr>
          <p:cNvPr id="7" name="6 Título"/>
          <p:cNvSpPr>
            <a:spLocks noGrp="1"/>
          </p:cNvSpPr>
          <p:nvPr>
            <p:ph type="title"/>
          </p:nvPr>
        </p:nvSpPr>
        <p:spPr/>
        <p:txBody>
          <a:bodyPr rtlCol="0"/>
          <a:lstStyle/>
          <a:p>
            <a:r>
              <a:rPr kumimoji="0" lang="es-ES"/>
              <a:t>Haga clic para modificar el estilo de título del patrón</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bg>
      <p:bgRef idx="1002">
        <a:schemeClr val="bg1"/>
      </p:bgRef>
    </p:bg>
    <p:spTree>
      <p:nvGrpSpPr>
        <p:cNvPr id="1" name=""/>
        <p:cNvGrpSpPr/>
        <p:nvPr/>
      </p:nvGrpSpPr>
      <p:grpSpPr>
        <a:xfrm>
          <a:off x="0" y="0"/>
          <a:ext cx="0" cy="0"/>
          <a:chOff x="0" y="0"/>
          <a:chExt cx="0" cy="0"/>
        </a:xfrm>
      </p:grpSpPr>
      <p:sp>
        <p:nvSpPr>
          <p:cNvPr id="2" name="1 Título"/>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s-ES"/>
              <a:t>Haga clic para modificar el estilo de título del patrón</a:t>
            </a:r>
            <a:endParaRPr kumimoji="0" lang="en-US"/>
          </a:p>
        </p:txBody>
      </p:sp>
      <p:sp>
        <p:nvSpPr>
          <p:cNvPr id="3" name="2 Marcador de texto"/>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s-ES"/>
              <a:t>Haga clic para modificar el estilo de texto del patrón</a:t>
            </a:r>
          </a:p>
        </p:txBody>
      </p:sp>
      <p:sp>
        <p:nvSpPr>
          <p:cNvPr id="4" name="3 Marcador de fecha"/>
          <p:cNvSpPr>
            <a:spLocks noGrp="1"/>
          </p:cNvSpPr>
          <p:nvPr>
            <p:ph type="dt" sz="half" idx="10"/>
          </p:nvPr>
        </p:nvSpPr>
        <p:spPr/>
        <p:txBody>
          <a:bodyPr/>
          <a:lstStyle/>
          <a:p>
            <a:fld id="{7E82D465-E72D-4C88-893D-384A46F73A66}" type="datetimeFigureOut">
              <a:rPr lang="es-ES" smtClean="0"/>
              <a:t>03/10/2026</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67CD68BD-B130-4BBF-B134-050142515A95}" type="slidenum">
              <a:rPr lang="es-ES" smtClean="0"/>
              <a:t>‹Nº›</a:t>
            </a:fld>
            <a:endParaRPr lang="es-ES"/>
          </a:p>
        </p:txBody>
      </p:sp>
      <p:sp>
        <p:nvSpPr>
          <p:cNvPr id="7" name="6 Cheurón"/>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8" name="7 Cheurón"/>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bg>
      <p:bgRef idx="1002">
        <a:schemeClr val="bg1"/>
      </p:bgRef>
    </p:bg>
    <p:spTree>
      <p:nvGrpSpPr>
        <p:cNvPr id="1" name=""/>
        <p:cNvGrpSpPr/>
        <p:nvPr/>
      </p:nvGrpSpPr>
      <p:grpSpPr>
        <a:xfrm>
          <a:off x="0" y="0"/>
          <a:ext cx="0" cy="0"/>
          <a:chOff x="0" y="0"/>
          <a:chExt cx="0" cy="0"/>
        </a:xfrm>
      </p:grpSpPr>
      <p:sp>
        <p:nvSpPr>
          <p:cNvPr id="3" name="2 Marcador de contenido"/>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4" name="3 Marcador de contenido"/>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5" name="4 Marcador de fecha"/>
          <p:cNvSpPr>
            <a:spLocks noGrp="1"/>
          </p:cNvSpPr>
          <p:nvPr>
            <p:ph type="dt" sz="half" idx="10"/>
          </p:nvPr>
        </p:nvSpPr>
        <p:spPr/>
        <p:txBody>
          <a:bodyPr/>
          <a:lstStyle/>
          <a:p>
            <a:fld id="{7E82D465-E72D-4C88-893D-384A46F73A66}" type="datetimeFigureOut">
              <a:rPr lang="es-ES" smtClean="0"/>
              <a:t>03/10/2026</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67CD68BD-B130-4BBF-B134-050142515A95}" type="slidenum">
              <a:rPr lang="es-ES" smtClean="0"/>
              <a:t>‹Nº›</a:t>
            </a:fld>
            <a:endParaRPr lang="es-ES"/>
          </a:p>
        </p:txBody>
      </p:sp>
      <p:sp>
        <p:nvSpPr>
          <p:cNvPr id="8" name="7 Título"/>
          <p:cNvSpPr>
            <a:spLocks noGrp="1"/>
          </p:cNvSpPr>
          <p:nvPr>
            <p:ph type="title"/>
          </p:nvPr>
        </p:nvSpPr>
        <p:spPr/>
        <p:txBody>
          <a:bodyPr rtlCol="0"/>
          <a:lstStyle/>
          <a:p>
            <a:r>
              <a:rPr kumimoji="0" lang="es-ES"/>
              <a:t>Haga clic para modificar el estilo de título del patrón</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ación">
    <p:bg>
      <p:bgRef idx="1003">
        <a:schemeClr val="bg1"/>
      </p:bgRef>
    </p:bg>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8229600" cy="1143000"/>
          </a:xfrm>
        </p:spPr>
        <p:txBody>
          <a:bodyPr anchor="ctr"/>
          <a:lstStyle>
            <a:lvl1pPr>
              <a:defRPr/>
            </a:lvl1pPr>
            <a:extLst/>
          </a:lstStyle>
          <a:p>
            <a:r>
              <a:rPr kumimoji="0" lang="es-ES"/>
              <a:t>Haga clic para modificar el estilo de título del patrón</a:t>
            </a:r>
            <a:endParaRPr kumimoji="0" lang="en-US"/>
          </a:p>
        </p:txBody>
      </p:sp>
      <p:sp>
        <p:nvSpPr>
          <p:cNvPr id="3" name="2 Marcador de texto"/>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s-ES"/>
              <a:t>Haga clic para modificar el estilo de texto del patrón</a:t>
            </a:r>
          </a:p>
        </p:txBody>
      </p:sp>
      <p:sp>
        <p:nvSpPr>
          <p:cNvPr id="4" name="3 Marcador de texto"/>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s-ES"/>
              <a:t>Haga clic para modificar el estilo de texto del patrón</a:t>
            </a:r>
          </a:p>
        </p:txBody>
      </p:sp>
      <p:sp>
        <p:nvSpPr>
          <p:cNvPr id="5" name="4 Marcador de contenido"/>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6" name="5 Marcador de contenido"/>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7" name="6 Marcador de fecha"/>
          <p:cNvSpPr>
            <a:spLocks noGrp="1"/>
          </p:cNvSpPr>
          <p:nvPr>
            <p:ph type="dt" sz="half" idx="10"/>
          </p:nvPr>
        </p:nvSpPr>
        <p:spPr/>
        <p:txBody>
          <a:bodyPr/>
          <a:lstStyle/>
          <a:p>
            <a:fld id="{7E82D465-E72D-4C88-893D-384A46F73A66}" type="datetimeFigureOut">
              <a:rPr lang="es-ES" smtClean="0"/>
              <a:t>03/10/2026</a:t>
            </a:fld>
            <a:endParaRPr lang="es-ES"/>
          </a:p>
        </p:txBody>
      </p:sp>
      <p:sp>
        <p:nvSpPr>
          <p:cNvPr id="8" name="7 Marcador de pie de página"/>
          <p:cNvSpPr>
            <a:spLocks noGrp="1"/>
          </p:cNvSpPr>
          <p:nvPr>
            <p:ph type="ftr" sz="quarter" idx="11"/>
          </p:nvPr>
        </p:nvSpPr>
        <p:spPr/>
        <p:txBody>
          <a:bodyPr/>
          <a:lstStyle/>
          <a:p>
            <a:endParaRPr lang="es-ES"/>
          </a:p>
        </p:txBody>
      </p:sp>
      <p:sp>
        <p:nvSpPr>
          <p:cNvPr id="9" name="8 Marcador de número de diapositiva"/>
          <p:cNvSpPr>
            <a:spLocks noGrp="1"/>
          </p:cNvSpPr>
          <p:nvPr>
            <p:ph type="sldNum" sz="quarter" idx="12"/>
          </p:nvPr>
        </p:nvSpPr>
        <p:spPr/>
        <p:txBody>
          <a:bodyPr/>
          <a:lstStyle/>
          <a:p>
            <a:fld id="{67CD68BD-B130-4BBF-B134-050142515A95}" type="slidenum">
              <a:rPr lang="es-ES" smtClean="0"/>
              <a:t>‹Nº›</a:t>
            </a:fld>
            <a:endParaRPr lang="es-E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bg>
      <p:bgRef idx="1002">
        <a:schemeClr val="bg1"/>
      </p:bgRef>
    </p:bg>
    <p:spTree>
      <p:nvGrpSpPr>
        <p:cNvPr id="1" name=""/>
        <p:cNvGrpSpPr/>
        <p:nvPr/>
      </p:nvGrpSpPr>
      <p:grpSpPr>
        <a:xfrm>
          <a:off x="0" y="0"/>
          <a:ext cx="0" cy="0"/>
          <a:chOff x="0" y="0"/>
          <a:chExt cx="0" cy="0"/>
        </a:xfrm>
      </p:grpSpPr>
      <p:sp>
        <p:nvSpPr>
          <p:cNvPr id="3" name="2 Marcador de fecha"/>
          <p:cNvSpPr>
            <a:spLocks noGrp="1"/>
          </p:cNvSpPr>
          <p:nvPr>
            <p:ph type="dt" sz="half" idx="10"/>
          </p:nvPr>
        </p:nvSpPr>
        <p:spPr/>
        <p:txBody>
          <a:bodyPr/>
          <a:lstStyle/>
          <a:p>
            <a:fld id="{7E82D465-E72D-4C88-893D-384A46F73A66}" type="datetimeFigureOut">
              <a:rPr lang="es-ES" smtClean="0"/>
              <a:t>03/10/2026</a:t>
            </a:fld>
            <a:endParaRPr lang="es-ES"/>
          </a:p>
        </p:txBody>
      </p:sp>
      <p:sp>
        <p:nvSpPr>
          <p:cNvPr id="4" name="3 Marcador de pie de página"/>
          <p:cNvSpPr>
            <a:spLocks noGrp="1"/>
          </p:cNvSpPr>
          <p:nvPr>
            <p:ph type="ftr" sz="quarter" idx="11"/>
          </p:nvPr>
        </p:nvSpPr>
        <p:spPr/>
        <p:txBody>
          <a:bodyPr/>
          <a:lstStyle/>
          <a:p>
            <a:endParaRPr lang="es-ES"/>
          </a:p>
        </p:txBody>
      </p:sp>
      <p:sp>
        <p:nvSpPr>
          <p:cNvPr id="5" name="4 Marcador de número de diapositiva"/>
          <p:cNvSpPr>
            <a:spLocks noGrp="1"/>
          </p:cNvSpPr>
          <p:nvPr>
            <p:ph type="sldNum" sz="quarter" idx="12"/>
          </p:nvPr>
        </p:nvSpPr>
        <p:spPr/>
        <p:txBody>
          <a:bodyPr/>
          <a:lstStyle/>
          <a:p>
            <a:fld id="{67CD68BD-B130-4BBF-B134-050142515A95}" type="slidenum">
              <a:rPr lang="es-ES" smtClean="0"/>
              <a:t>‹Nº›</a:t>
            </a:fld>
            <a:endParaRPr lang="es-ES"/>
          </a:p>
        </p:txBody>
      </p:sp>
      <p:sp>
        <p:nvSpPr>
          <p:cNvPr id="6" name="5 Título"/>
          <p:cNvSpPr>
            <a:spLocks noGrp="1"/>
          </p:cNvSpPr>
          <p:nvPr>
            <p:ph type="title"/>
          </p:nvPr>
        </p:nvSpPr>
        <p:spPr/>
        <p:txBody>
          <a:bodyPr rtlCol="0"/>
          <a:lstStyle/>
          <a:p>
            <a:r>
              <a:rPr kumimoji="0" lang="es-ES"/>
              <a:t>Haga clic para modificar el estilo de título del patrón</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7E82D465-E72D-4C88-893D-384A46F73A66}" type="datetimeFigureOut">
              <a:rPr lang="es-ES" smtClean="0"/>
              <a:t>03/10/2026</a:t>
            </a:fld>
            <a:endParaRPr lang="es-ES"/>
          </a:p>
        </p:txBody>
      </p:sp>
      <p:sp>
        <p:nvSpPr>
          <p:cNvPr id="3" name="2 Marcador de pie de página"/>
          <p:cNvSpPr>
            <a:spLocks noGrp="1"/>
          </p:cNvSpPr>
          <p:nvPr>
            <p:ph type="ftr" sz="quarter" idx="11"/>
          </p:nvPr>
        </p:nvSpPr>
        <p:spPr/>
        <p:txBody>
          <a:bodyPr/>
          <a:lstStyle/>
          <a:p>
            <a:endParaRPr lang="es-ES"/>
          </a:p>
        </p:txBody>
      </p:sp>
      <p:sp>
        <p:nvSpPr>
          <p:cNvPr id="4" name="3 Marcador de número de diapositiva"/>
          <p:cNvSpPr>
            <a:spLocks noGrp="1"/>
          </p:cNvSpPr>
          <p:nvPr>
            <p:ph type="sldNum" sz="quarter" idx="12"/>
          </p:nvPr>
        </p:nvSpPr>
        <p:spPr/>
        <p:txBody>
          <a:bodyPr/>
          <a:lstStyle/>
          <a:p>
            <a:fld id="{67CD68BD-B130-4BBF-B134-050142515A95}" type="slidenum">
              <a:rPr lang="es-ES" smtClean="0"/>
              <a:t>‹Nº›</a:t>
            </a:fld>
            <a:endParaRPr lang="es-E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bg>
      <p:bgRef idx="1003">
        <a:schemeClr val="bg1"/>
      </p:bgRef>
    </p:bg>
    <p:spTree>
      <p:nvGrpSpPr>
        <p:cNvPr id="1" name=""/>
        <p:cNvGrpSpPr/>
        <p:nvPr/>
      </p:nvGrpSpPr>
      <p:grpSpPr>
        <a:xfrm>
          <a:off x="0" y="0"/>
          <a:ext cx="0" cy="0"/>
          <a:chOff x="0" y="0"/>
          <a:chExt cx="0" cy="0"/>
        </a:xfrm>
      </p:grpSpPr>
      <p:sp>
        <p:nvSpPr>
          <p:cNvPr id="2" name="1 Título"/>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s-ES"/>
              <a:t>Haga clic para modificar el estilo de título del patrón</a:t>
            </a:r>
            <a:endParaRPr kumimoji="0" lang="en-US"/>
          </a:p>
        </p:txBody>
      </p:sp>
      <p:sp>
        <p:nvSpPr>
          <p:cNvPr id="3" name="2 Marcador de texto"/>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s-ES"/>
              <a:t>Haga clic para modificar el estilo de texto del patrón</a:t>
            </a:r>
          </a:p>
        </p:txBody>
      </p:sp>
      <p:sp>
        <p:nvSpPr>
          <p:cNvPr id="4" name="3 Marcador de contenido"/>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5" name="4 Marcador de fecha"/>
          <p:cNvSpPr>
            <a:spLocks noGrp="1"/>
          </p:cNvSpPr>
          <p:nvPr>
            <p:ph type="dt" sz="half" idx="10"/>
          </p:nvPr>
        </p:nvSpPr>
        <p:spPr>
          <a:xfrm>
            <a:off x="6727032" y="6407944"/>
            <a:ext cx="1920240" cy="365760"/>
          </a:xfrm>
        </p:spPr>
        <p:txBody>
          <a:bodyPr/>
          <a:lstStyle/>
          <a:p>
            <a:fld id="{7E82D465-E72D-4C88-893D-384A46F73A66}" type="datetimeFigureOut">
              <a:rPr lang="es-ES" smtClean="0"/>
              <a:t>03/10/2026</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67CD68BD-B130-4BBF-B134-050142515A95}" type="slidenum">
              <a:rPr lang="es-ES" smtClean="0"/>
              <a:t>‹Nº›</a:t>
            </a:fld>
            <a:endParaRPr lang="es-E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bg>
      <p:bgRef idx="1002">
        <a:schemeClr val="bg1"/>
      </p:bgRef>
    </p:bg>
    <p:spTree>
      <p:nvGrpSpPr>
        <p:cNvPr id="1" name=""/>
        <p:cNvGrpSpPr/>
        <p:nvPr/>
      </p:nvGrpSpPr>
      <p:grpSpPr>
        <a:xfrm>
          <a:off x="0" y="0"/>
          <a:ext cx="0" cy="0"/>
          <a:chOff x="0" y="0"/>
          <a:chExt cx="0" cy="0"/>
        </a:xfrm>
      </p:grpSpPr>
      <p:sp>
        <p:nvSpPr>
          <p:cNvPr id="4" name="3 Marcador de texto"/>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s-ES"/>
              <a:t>Haga clic para modificar el estilo de texto del patrón</a:t>
            </a:r>
          </a:p>
        </p:txBody>
      </p:sp>
      <p:sp>
        <p:nvSpPr>
          <p:cNvPr id="3" name="2 Marcador de posición de imagen"/>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s-ES"/>
              <a:t>Haga clic en el icono para agregar una imagen</a:t>
            </a:r>
            <a:endParaRPr kumimoji="0" lang="en-US" dirty="0"/>
          </a:p>
        </p:txBody>
      </p:sp>
      <p:sp>
        <p:nvSpPr>
          <p:cNvPr id="5" name="4 Marcador de fecha"/>
          <p:cNvSpPr>
            <a:spLocks noGrp="1"/>
          </p:cNvSpPr>
          <p:nvPr>
            <p:ph type="dt" sz="half" idx="10"/>
          </p:nvPr>
        </p:nvSpPr>
        <p:spPr/>
        <p:txBody>
          <a:bodyPr/>
          <a:lstStyle>
            <a:lvl1pPr>
              <a:defRPr>
                <a:solidFill>
                  <a:schemeClr val="tx1"/>
                </a:solidFill>
              </a:defRPr>
            </a:lvl1pPr>
            <a:extLst/>
          </a:lstStyle>
          <a:p>
            <a:fld id="{7E82D465-E72D-4C88-893D-384A46F73A66}" type="datetimeFigureOut">
              <a:rPr lang="es-ES" smtClean="0"/>
              <a:t>03/10/2026</a:t>
            </a:fld>
            <a:endParaRPr lang="es-ES"/>
          </a:p>
        </p:txBody>
      </p:sp>
      <p:sp>
        <p:nvSpPr>
          <p:cNvPr id="6" name="5 Marcador de pie de página"/>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s-ES"/>
          </a:p>
        </p:txBody>
      </p:sp>
      <p:sp>
        <p:nvSpPr>
          <p:cNvPr id="7" name="6 Marcador de número de diapositiva"/>
          <p:cNvSpPr>
            <a:spLocks noGrp="1"/>
          </p:cNvSpPr>
          <p:nvPr>
            <p:ph type="sldNum" sz="quarter" idx="12"/>
          </p:nvPr>
        </p:nvSpPr>
        <p:spPr/>
        <p:txBody>
          <a:bodyPr/>
          <a:lstStyle>
            <a:lvl1pPr>
              <a:defRPr>
                <a:solidFill>
                  <a:schemeClr val="tx1"/>
                </a:solidFill>
              </a:defRPr>
            </a:lvl1pPr>
            <a:extLst/>
          </a:lstStyle>
          <a:p>
            <a:fld id="{67CD68BD-B130-4BBF-B134-050142515A95}" type="slidenum">
              <a:rPr lang="es-ES" smtClean="0"/>
              <a:t>‹Nº›</a:t>
            </a:fld>
            <a:endParaRPr lang="es-ES"/>
          </a:p>
        </p:txBody>
      </p:sp>
      <p:sp>
        <p:nvSpPr>
          <p:cNvPr id="2" name="1 Título"/>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s-ES"/>
              <a:t>Haga clic para modificar el estilo de título del patrón</a:t>
            </a:r>
            <a:endParaRPr kumimoji="0" lang="en-US"/>
          </a:p>
        </p:txBody>
      </p:sp>
      <p:sp>
        <p:nvSpPr>
          <p:cNvPr id="8" name="7 Forma libre"/>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8 Forma libre"/>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9 Triángulo rectángulo"/>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1" name="10 Conector recto"/>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11 Cheurón"/>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13" name="12 Cheurón"/>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a:t>Haga clic para modificar el estilo de título del patrón</a:t>
            </a:r>
            <a:endParaRPr kumimoji="0" lang="en-US"/>
          </a:p>
        </p:txBody>
      </p:sp>
      <p:sp>
        <p:nvSpPr>
          <p:cNvPr id="3" name="2 Marcador de texto vertical"/>
          <p:cNvSpPr>
            <a:spLocks noGrp="1"/>
          </p:cNvSpPr>
          <p:nvPr>
            <p:ph type="body" orient="vert" idx="1"/>
          </p:nvPr>
        </p:nvSpPr>
        <p:spPr>
          <a:xfrm>
            <a:off x="457200" y="1481329"/>
            <a:ext cx="8229600" cy="4386071"/>
          </a:xfrm>
        </p:spPr>
        <p:txBody>
          <a:bodyPr vert="eaVert"/>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4" name="3 Marcador de fecha"/>
          <p:cNvSpPr>
            <a:spLocks noGrp="1"/>
          </p:cNvSpPr>
          <p:nvPr>
            <p:ph type="dt" sz="half" idx="10"/>
          </p:nvPr>
        </p:nvSpPr>
        <p:spPr/>
        <p:txBody>
          <a:bodyPr/>
          <a:lstStyle/>
          <a:p>
            <a:fld id="{7E82D465-E72D-4C88-893D-384A46F73A66}" type="datetimeFigureOut">
              <a:rPr lang="es-ES" smtClean="0"/>
              <a:t>03/10/2026</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67CD68BD-B130-4BBF-B134-050142515A95}" type="slidenum">
              <a:rPr lang="es-ES" smtClean="0"/>
              <a:t>‹Nº›</a:t>
            </a:fld>
            <a:endParaRPr lang="es-E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844013" y="274640"/>
            <a:ext cx="1777470" cy="5592761"/>
          </a:xfrm>
        </p:spPr>
        <p:txBody>
          <a:bodyPr vert="eaVert"/>
          <a:lstStyle/>
          <a:p>
            <a:r>
              <a:rPr kumimoji="0" lang="es-ES"/>
              <a:t>Haga clic para modificar el estilo de título del patrón</a:t>
            </a:r>
            <a:endParaRPr kumimoji="0" lang="en-US"/>
          </a:p>
        </p:txBody>
      </p:sp>
      <p:sp>
        <p:nvSpPr>
          <p:cNvPr id="3" name="2 Marcador de texto vertical"/>
          <p:cNvSpPr>
            <a:spLocks noGrp="1"/>
          </p:cNvSpPr>
          <p:nvPr>
            <p:ph type="body" orient="vert" idx="1"/>
          </p:nvPr>
        </p:nvSpPr>
        <p:spPr>
          <a:xfrm>
            <a:off x="457200" y="274641"/>
            <a:ext cx="6324600" cy="5592760"/>
          </a:xfrm>
        </p:spPr>
        <p:txBody>
          <a:bodyPr vert="eaVert"/>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4" name="3 Marcador de fecha"/>
          <p:cNvSpPr>
            <a:spLocks noGrp="1"/>
          </p:cNvSpPr>
          <p:nvPr>
            <p:ph type="dt" sz="half" idx="10"/>
          </p:nvPr>
        </p:nvSpPr>
        <p:spPr/>
        <p:txBody>
          <a:bodyPr/>
          <a:lstStyle/>
          <a:p>
            <a:fld id="{7E82D465-E72D-4C88-893D-384A46F73A66}" type="datetimeFigureOut">
              <a:rPr lang="es-ES" smtClean="0"/>
              <a:t>03/10/2026</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67CD68BD-B130-4BBF-B134-050142515A95}" type="slidenum">
              <a:rPr lang="es-ES" smtClean="0"/>
              <a:t>‹Nº›</a:t>
            </a:fld>
            <a:endParaRPr lang="es-E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image" Target="../media/image1.jpeg"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12 Forma libre"/>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11 Forma libre"/>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13 Triángulo rectángulo"/>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5" name="14 Conector recto"/>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8 Marcador de título"/>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kumimoji="0" lang="es-ES"/>
              <a:t>Haga clic para modificar el estilo de título del patrón</a:t>
            </a:r>
            <a:endParaRPr kumimoji="0" lang="en-US"/>
          </a:p>
        </p:txBody>
      </p:sp>
      <p:sp>
        <p:nvSpPr>
          <p:cNvPr id="30" name="29 Marcador de texto"/>
          <p:cNvSpPr>
            <a:spLocks noGrp="1"/>
          </p:cNvSpPr>
          <p:nvPr>
            <p:ph type="body" idx="1"/>
          </p:nvPr>
        </p:nvSpPr>
        <p:spPr>
          <a:xfrm>
            <a:off x="457200" y="1481328"/>
            <a:ext cx="8229600" cy="4525963"/>
          </a:xfrm>
          <a:prstGeom prst="rect">
            <a:avLst/>
          </a:prstGeom>
        </p:spPr>
        <p:txBody>
          <a:bodyPr vert="horz">
            <a:normAutofit/>
          </a:bodyPr>
          <a:lstStyle/>
          <a:p>
            <a:pPr lvl="0" eaLnBrk="1" latinLnBrk="0" hangingPunct="1"/>
            <a:r>
              <a:rPr kumimoji="0" lang="es-ES"/>
              <a:t>Haga clic para modificar el estilo de texto del patrón</a:t>
            </a:r>
          </a:p>
          <a:p>
            <a:pPr lvl="1" eaLnBrk="1" latinLnBrk="0" hangingPunct="1"/>
            <a:r>
              <a:rPr kumimoji="0" lang="es-ES"/>
              <a:t>Segundo nivel</a:t>
            </a:r>
          </a:p>
          <a:p>
            <a:pPr lvl="2" eaLnBrk="1" latinLnBrk="0" hangingPunct="1"/>
            <a:r>
              <a:rPr kumimoji="0" lang="es-ES"/>
              <a:t>Tercer nivel</a:t>
            </a:r>
          </a:p>
          <a:p>
            <a:pPr lvl="3" eaLnBrk="1" latinLnBrk="0" hangingPunct="1"/>
            <a:r>
              <a:rPr kumimoji="0" lang="es-ES"/>
              <a:t>Cuarto nivel</a:t>
            </a:r>
          </a:p>
          <a:p>
            <a:pPr lvl="4" eaLnBrk="1" latinLnBrk="0" hangingPunct="1"/>
            <a:r>
              <a:rPr kumimoji="0" lang="es-ES"/>
              <a:t>Quinto nivel</a:t>
            </a:r>
            <a:endParaRPr kumimoji="0" lang="en-US"/>
          </a:p>
        </p:txBody>
      </p:sp>
      <p:sp>
        <p:nvSpPr>
          <p:cNvPr id="10" name="9 Marcador de fecha"/>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7E82D465-E72D-4C88-893D-384A46F73A66}" type="datetimeFigureOut">
              <a:rPr lang="es-ES" smtClean="0"/>
              <a:t>03/10/2026</a:t>
            </a:fld>
            <a:endParaRPr lang="es-ES"/>
          </a:p>
        </p:txBody>
      </p:sp>
      <p:sp>
        <p:nvSpPr>
          <p:cNvPr id="22" name="21 Marcador de pie de página"/>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s-ES"/>
          </a:p>
        </p:txBody>
      </p:sp>
      <p:sp>
        <p:nvSpPr>
          <p:cNvPr id="18" name="17 Marcador de número de diapositiva"/>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67CD68BD-B130-4BBF-B134-050142515A95}" type="slidenum">
              <a:rPr lang="es-ES" smtClean="0"/>
              <a:t>‹Nº›</a:t>
            </a:fld>
            <a:endParaRPr lang="es-ES"/>
          </a:p>
        </p:txBody>
      </p:sp>
    </p:spTree>
  </p:cSld>
  <p:clrMap bg1="lt1" tx1="dk1" bg2="lt2" tx2="dk2" accent1="accent1" accent2="accent2" accent3="accent3" accent4="accent4" accent5="accent5" accent6="accent6" hlink="hlink" folHlink="folHlink"/>
  <p:sldLayoutIdLst>
    <p:sldLayoutId id="2147483865" r:id="rId1"/>
    <p:sldLayoutId id="2147483866" r:id="rId2"/>
    <p:sldLayoutId id="2147483867" r:id="rId3"/>
    <p:sldLayoutId id="2147483868" r:id="rId4"/>
    <p:sldLayoutId id="2147483869" r:id="rId5"/>
    <p:sldLayoutId id="2147483870" r:id="rId6"/>
    <p:sldLayoutId id="2147483871" r:id="rId7"/>
    <p:sldLayoutId id="2147483872" r:id="rId8"/>
    <p:sldLayoutId id="2147483873" r:id="rId9"/>
    <p:sldLayoutId id="2147483874" r:id="rId10"/>
    <p:sldLayoutId id="2147483875"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Subtítulo"/>
          <p:cNvSpPr>
            <a:spLocks noGrp="1"/>
          </p:cNvSpPr>
          <p:nvPr>
            <p:ph type="subTitle" idx="1"/>
          </p:nvPr>
        </p:nvSpPr>
        <p:spPr>
          <a:xfrm>
            <a:off x="2339752" y="3477847"/>
            <a:ext cx="6480048" cy="1752600"/>
          </a:xfrm>
        </p:spPr>
        <p:txBody>
          <a:bodyPr>
            <a:normAutofit fontScale="85000" lnSpcReduction="20000"/>
          </a:bodyPr>
          <a:lstStyle/>
          <a:p>
            <a:r>
              <a:rPr lang="es-ES" b="1" dirty="0"/>
              <a:t>Dr. Fabián S. Romeo</a:t>
            </a:r>
          </a:p>
          <a:p>
            <a:r>
              <a:rPr lang="es-ES" dirty="0"/>
              <a:t>Médico Psiquiatra</a:t>
            </a:r>
          </a:p>
          <a:p>
            <a:r>
              <a:rPr lang="es-ES" dirty="0"/>
              <a:t>Hospital Regional </a:t>
            </a:r>
            <a:r>
              <a:rPr lang="es-ES" dirty="0" err="1"/>
              <a:t>Malargüe</a:t>
            </a:r>
            <a:endParaRPr lang="es-ES" dirty="0"/>
          </a:p>
          <a:p>
            <a:r>
              <a:rPr lang="es-ES" dirty="0"/>
              <a:t>Hospital Teodoro J. </a:t>
            </a:r>
            <a:r>
              <a:rPr lang="es-ES" dirty="0" err="1"/>
              <a:t>Schestakow</a:t>
            </a:r>
            <a:r>
              <a:rPr lang="es-ES" dirty="0"/>
              <a:t> </a:t>
            </a:r>
          </a:p>
          <a:p>
            <a:r>
              <a:rPr lang="es-ES" dirty="0"/>
              <a:t>  </a:t>
            </a:r>
          </a:p>
        </p:txBody>
      </p:sp>
      <p:sp>
        <p:nvSpPr>
          <p:cNvPr id="4" name="Título 3"/>
          <p:cNvSpPr>
            <a:spLocks noGrp="1"/>
          </p:cNvSpPr>
          <p:nvPr>
            <p:ph type="ctrTitle"/>
          </p:nvPr>
        </p:nvSpPr>
        <p:spPr>
          <a:xfrm>
            <a:off x="0" y="-99392"/>
            <a:ext cx="8134000" cy="2664296"/>
          </a:xfrm>
        </p:spPr>
        <p:txBody>
          <a:bodyPr>
            <a:normAutofit fontScale="90000"/>
          </a:bodyPr>
          <a:lstStyle/>
          <a:p>
            <a:r>
              <a:rPr lang="es-MX" sz="8800" dirty="0"/>
              <a:t>ESQUIZOFRENIA</a:t>
            </a:r>
            <a:endParaRPr lang="es-AR" sz="8800" dirty="0"/>
          </a:p>
        </p:txBody>
      </p:sp>
    </p:spTree>
    <p:extLst>
      <p:ext uri="{BB962C8B-B14F-4D97-AF65-F5344CB8AC3E}">
        <p14:creationId xmlns:p14="http://schemas.microsoft.com/office/powerpoint/2010/main" val="27175133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1"/>
          <p:cNvSpPr>
            <a:spLocks noGrp="1"/>
          </p:cNvSpPr>
          <p:nvPr>
            <p:ph idx="1"/>
          </p:nvPr>
        </p:nvSpPr>
        <p:spPr/>
        <p:txBody>
          <a:bodyPr>
            <a:normAutofit fontScale="92500" lnSpcReduction="20000"/>
          </a:bodyPr>
          <a:lstStyle/>
          <a:p>
            <a:r>
              <a:rPr lang="es-MX" dirty="0"/>
              <a:t>La esquizofrenia es un trastorno mental grave por el cual las personas interpretan la realidad de manera anormal. La esquizofrenia puede provocar una combinación de alucinaciones, delirios y trastornos graves en el pensamiento y el comportamiento, que afecta el funcionamiento diario y puede ser incapacitante.</a:t>
            </a:r>
          </a:p>
          <a:p>
            <a:endParaRPr lang="es-MX" dirty="0"/>
          </a:p>
          <a:p>
            <a:r>
              <a:rPr lang="es-MX" dirty="0"/>
              <a:t>Las personas que padecen esquizofrenia necesitan recibir tratamiento durante toda la vida. El tratamiento temprano puede ayudar a controlar los síntomas antes de que se desarrollen complicaciones más graves y puede mejorar el pronóstico a largo plazo.</a:t>
            </a:r>
            <a:endParaRPr lang="es-AR" dirty="0"/>
          </a:p>
        </p:txBody>
      </p:sp>
      <p:sp>
        <p:nvSpPr>
          <p:cNvPr id="3" name="Título 2"/>
          <p:cNvSpPr>
            <a:spLocks noGrp="1"/>
          </p:cNvSpPr>
          <p:nvPr>
            <p:ph type="title"/>
          </p:nvPr>
        </p:nvSpPr>
        <p:spPr/>
        <p:txBody>
          <a:bodyPr/>
          <a:lstStyle/>
          <a:p>
            <a:r>
              <a:rPr lang="es-MX" dirty="0"/>
              <a:t>Definición</a:t>
            </a:r>
            <a:endParaRPr lang="es-AR" dirty="0"/>
          </a:p>
        </p:txBody>
      </p:sp>
    </p:spTree>
    <p:extLst>
      <p:ext uri="{BB962C8B-B14F-4D97-AF65-F5344CB8AC3E}">
        <p14:creationId xmlns:p14="http://schemas.microsoft.com/office/powerpoint/2010/main" val="33482626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1"/>
          <p:cNvSpPr>
            <a:spLocks noGrp="1"/>
          </p:cNvSpPr>
          <p:nvPr>
            <p:ph idx="1"/>
          </p:nvPr>
        </p:nvSpPr>
        <p:spPr>
          <a:xfrm>
            <a:off x="251520" y="980728"/>
            <a:ext cx="8435280" cy="5877272"/>
          </a:xfrm>
        </p:spPr>
        <p:txBody>
          <a:bodyPr>
            <a:normAutofit fontScale="62500" lnSpcReduction="20000"/>
          </a:bodyPr>
          <a:lstStyle/>
          <a:p>
            <a:pPr marL="109728" indent="0">
              <a:buNone/>
            </a:pPr>
            <a:endParaRPr lang="es-MX" dirty="0"/>
          </a:p>
          <a:p>
            <a:pPr marL="109728" indent="0">
              <a:buNone/>
            </a:pPr>
            <a:r>
              <a:rPr lang="es-MX" dirty="0" err="1"/>
              <a:t>Benedict</a:t>
            </a:r>
            <a:r>
              <a:rPr lang="es-MX" dirty="0"/>
              <a:t>  Morel (1809-1873) aplica el término </a:t>
            </a:r>
            <a:r>
              <a:rPr lang="es-MX" dirty="0" err="1"/>
              <a:t>démence</a:t>
            </a:r>
            <a:r>
              <a:rPr lang="es-MX" dirty="0"/>
              <a:t> </a:t>
            </a:r>
            <a:r>
              <a:rPr lang="es-MX" dirty="0" err="1"/>
              <a:t>précoce</a:t>
            </a:r>
            <a:r>
              <a:rPr lang="es-MX" dirty="0"/>
              <a:t> (demencia precoz) a los pacientes deteriorados cuya enfermedad comenzaba en la adolescencia; Karl Ludwig </a:t>
            </a:r>
            <a:r>
              <a:rPr lang="es-MX" dirty="0" err="1"/>
              <a:t>Kahlbaum</a:t>
            </a:r>
            <a:r>
              <a:rPr lang="es-MX" dirty="0"/>
              <a:t> (1828-1899) describe los síntomas de la catatonia y </a:t>
            </a:r>
            <a:r>
              <a:rPr lang="es-MX" dirty="0" err="1"/>
              <a:t>Ewold</a:t>
            </a:r>
            <a:r>
              <a:rPr lang="es-MX" dirty="0"/>
              <a:t> </a:t>
            </a:r>
            <a:r>
              <a:rPr lang="es-MX" dirty="0" err="1"/>
              <a:t>Hecker</a:t>
            </a:r>
            <a:r>
              <a:rPr lang="es-MX" dirty="0"/>
              <a:t> (1843-1899) describe el comportamiento excéntrico de los pacientes con hebefrenia. Es a partir de estos acontecimientos que Emil </a:t>
            </a:r>
            <a:r>
              <a:rPr lang="es-MX" dirty="0" err="1"/>
              <a:t>Kraepelin</a:t>
            </a:r>
            <a:r>
              <a:rPr lang="es-MX" dirty="0"/>
              <a:t> (1856-1926) puede construir su clasificación de las psicosis endógenas dentro de las cuales describe una entidad a la que denomina </a:t>
            </a:r>
            <a:r>
              <a:rPr lang="es-MX" dirty="0" err="1"/>
              <a:t>dementia</a:t>
            </a:r>
            <a:r>
              <a:rPr lang="es-MX" dirty="0"/>
              <a:t> </a:t>
            </a:r>
            <a:r>
              <a:rPr lang="es-MX" dirty="0" err="1"/>
              <a:t>praecox</a:t>
            </a:r>
            <a:r>
              <a:rPr lang="es-MX" dirty="0"/>
              <a:t> (demencia precoz tomado de Morel). Posteriormente Eugene  </a:t>
            </a:r>
            <a:r>
              <a:rPr lang="es-MX" dirty="0" err="1"/>
              <a:t>Bleuler</a:t>
            </a:r>
            <a:r>
              <a:rPr lang="es-MX" dirty="0"/>
              <a:t> (1857-1939) es el que acuña el término Esquizofrenia (etimológicamente mente dividida) y  propone que no todos los pacientes evolucionan necesariamente con deterioro cognitivo. </a:t>
            </a:r>
          </a:p>
          <a:p>
            <a:pPr marL="109728" indent="0">
              <a:buNone/>
            </a:pPr>
            <a:r>
              <a:rPr lang="es-MX" dirty="0"/>
              <a:t>Otros teóricos: Adolf Meyer: fundador de la </a:t>
            </a:r>
            <a:r>
              <a:rPr lang="es-MX" dirty="0" err="1"/>
              <a:t>psicobiología</a:t>
            </a:r>
            <a:r>
              <a:rPr lang="es-MX" dirty="0"/>
              <a:t>, considera al cuadro como una reacción a factores vitales de estrés (reacción esquizofrénica). Harry Sullivan, fundador de la escuela psicoanalítica interpersonal, hace hincapié en el aislamiento social como causa y síntoma de la esquizofrenia.  Ernst </a:t>
            </a:r>
            <a:r>
              <a:rPr lang="es-MX" dirty="0" err="1"/>
              <a:t>Kretschmer</a:t>
            </a:r>
            <a:r>
              <a:rPr lang="es-MX" dirty="0"/>
              <a:t> compila datos y llega a la conclusión que la esquizofrenia es más frecuente en el hábito corporal asténico que en el pícnico. Gabriel </a:t>
            </a:r>
            <a:r>
              <a:rPr lang="es-MX" dirty="0" err="1"/>
              <a:t>Langfeldt</a:t>
            </a:r>
            <a:r>
              <a:rPr lang="es-MX" dirty="0"/>
              <a:t> clasifica a los pacientes con síntomas psicóticos mayores en esquizofrenia verdadera (o no remitente) y psicosis tipo esquizofrenia. </a:t>
            </a:r>
            <a:r>
              <a:rPr lang="es-MX" dirty="0" err="1"/>
              <a:t>Kurt</a:t>
            </a:r>
            <a:r>
              <a:rPr lang="es-MX" dirty="0"/>
              <a:t> Schneider describe los síntomas de 1er orden, los que si bien no son patognomónicos, son útiles para realizar en diagnóstico. Karl Jaspers, quien contribuyó al desarrollo del psicoanálisis existencial, abre el camino para tratar de comprender el significado psicológico de los signos y síntomas esquizofrénicos. </a:t>
            </a:r>
          </a:p>
          <a:p>
            <a:pPr marL="109728" indent="0">
              <a:buNone/>
            </a:pPr>
            <a:endParaRPr lang="es-AR" dirty="0"/>
          </a:p>
        </p:txBody>
      </p:sp>
      <p:sp>
        <p:nvSpPr>
          <p:cNvPr id="3" name="Título 2"/>
          <p:cNvSpPr>
            <a:spLocks noGrp="1"/>
          </p:cNvSpPr>
          <p:nvPr>
            <p:ph type="title"/>
          </p:nvPr>
        </p:nvSpPr>
        <p:spPr>
          <a:xfrm>
            <a:off x="220006" y="-99392"/>
            <a:ext cx="8672474" cy="1368152"/>
          </a:xfrm>
        </p:spPr>
        <p:txBody>
          <a:bodyPr>
            <a:normAutofit/>
          </a:bodyPr>
          <a:lstStyle/>
          <a:p>
            <a:r>
              <a:rPr lang="es-MX" sz="2800" dirty="0"/>
              <a:t>Historia:</a:t>
            </a:r>
            <a:endParaRPr lang="es-AR" sz="2800" dirty="0"/>
          </a:p>
        </p:txBody>
      </p:sp>
    </p:spTree>
    <p:extLst>
      <p:ext uri="{BB962C8B-B14F-4D97-AF65-F5344CB8AC3E}">
        <p14:creationId xmlns:p14="http://schemas.microsoft.com/office/powerpoint/2010/main" val="23512018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457200" y="404664"/>
            <a:ext cx="8075240" cy="6048672"/>
          </a:xfrm>
        </p:spPr>
        <p:txBody>
          <a:bodyPr>
            <a:normAutofit fontScale="62500" lnSpcReduction="20000"/>
          </a:bodyPr>
          <a:lstStyle/>
          <a:p>
            <a:pPr marL="109728" indent="0">
              <a:lnSpc>
                <a:spcPct val="160000"/>
              </a:lnSpc>
              <a:buNone/>
            </a:pPr>
            <a:endParaRPr lang="es-ES" sz="1600" b="1" dirty="0"/>
          </a:p>
          <a:p>
            <a:pPr marL="109728" indent="0">
              <a:lnSpc>
                <a:spcPct val="160000"/>
              </a:lnSpc>
              <a:buNone/>
            </a:pPr>
            <a:endParaRPr lang="es-ES" sz="1600" dirty="0"/>
          </a:p>
          <a:p>
            <a:pPr>
              <a:lnSpc>
                <a:spcPct val="160000"/>
              </a:lnSpc>
            </a:pPr>
            <a:r>
              <a:rPr lang="es-MX" sz="2000" dirty="0"/>
              <a:t>-Edad y sexo: igual prevalencia entre hombres y mujeres. Edades de comienzo pico son en hombres de 10 a 25 años y en mujeres de 25 a 35 años. </a:t>
            </a:r>
          </a:p>
          <a:p>
            <a:pPr>
              <a:lnSpc>
                <a:spcPct val="160000"/>
              </a:lnSpc>
            </a:pPr>
            <a:r>
              <a:rPr lang="es-MX" sz="2000" dirty="0"/>
              <a:t>-Estación de nacimiento: invierno o principios de primavera. </a:t>
            </a:r>
          </a:p>
          <a:p>
            <a:pPr>
              <a:lnSpc>
                <a:spcPct val="160000"/>
              </a:lnSpc>
            </a:pPr>
            <a:r>
              <a:rPr lang="es-MX" sz="2000" dirty="0"/>
              <a:t>-Infecciones durante el embarazo: virales (gripe). </a:t>
            </a:r>
          </a:p>
          <a:p>
            <a:pPr>
              <a:lnSpc>
                <a:spcPct val="160000"/>
              </a:lnSpc>
            </a:pPr>
            <a:r>
              <a:rPr lang="es-MX" sz="2000" dirty="0"/>
              <a:t>-Distribución geográfica: En EEUU es más frecuente en el noroeste. A nivel mundial Irlanda tiene una prevalencia inusitadamente alta. </a:t>
            </a:r>
          </a:p>
          <a:p>
            <a:pPr>
              <a:lnSpc>
                <a:spcPct val="160000"/>
              </a:lnSpc>
            </a:pPr>
            <a:r>
              <a:rPr lang="es-MX" sz="2000" dirty="0"/>
              <a:t>-Factores reproductivos: Los hijos de esquizofrénicos tienen 10 veces más probabilidades de enfermar (también cualquier familiar biológico directo). </a:t>
            </a:r>
          </a:p>
          <a:p>
            <a:pPr>
              <a:lnSpc>
                <a:spcPct val="160000"/>
              </a:lnSpc>
            </a:pPr>
            <a:r>
              <a:rPr lang="es-MX" sz="2000" dirty="0"/>
              <a:t>-Enfermedad Médica: mayor tasa de mortalidad por accidentes y causas naturales que la población general. </a:t>
            </a:r>
          </a:p>
          <a:p>
            <a:pPr>
              <a:lnSpc>
                <a:spcPct val="160000"/>
              </a:lnSpc>
            </a:pPr>
            <a:r>
              <a:rPr lang="es-MX" sz="2000" dirty="0"/>
              <a:t>-Riesgo de suicidio: mucho mayor que la población general (15% de los esquizofrénicos se suicida). </a:t>
            </a:r>
          </a:p>
          <a:p>
            <a:pPr>
              <a:lnSpc>
                <a:spcPct val="160000"/>
              </a:lnSpc>
            </a:pPr>
            <a:endParaRPr lang="es-MX" sz="2000" dirty="0"/>
          </a:p>
          <a:p>
            <a:pPr>
              <a:lnSpc>
                <a:spcPct val="160000"/>
              </a:lnSpc>
            </a:pPr>
            <a:r>
              <a:rPr lang="es-MX" sz="2000" dirty="0"/>
              <a:t>-Consumo de sustancias: el 75% de los esquizofrénicos fuma. El tabaquismo aumenta el metabolismo de los antipsicóticos (se necesitan dosis más altas). La nicotina reduce los síntomas positivos (alucinaciones). También hay mayor incidencia de consumo de cannabis y cocaína, según refieren los pacientes para calmar sus síntomas. </a:t>
            </a:r>
            <a:endParaRPr lang="es-ES" sz="2000" dirty="0"/>
          </a:p>
        </p:txBody>
      </p:sp>
      <p:sp>
        <p:nvSpPr>
          <p:cNvPr id="3" name="2 Título"/>
          <p:cNvSpPr>
            <a:spLocks noGrp="1"/>
          </p:cNvSpPr>
          <p:nvPr>
            <p:ph type="title"/>
          </p:nvPr>
        </p:nvSpPr>
        <p:spPr>
          <a:xfrm>
            <a:off x="457200" y="83735"/>
            <a:ext cx="8075240" cy="850106"/>
          </a:xfrm>
        </p:spPr>
        <p:txBody>
          <a:bodyPr>
            <a:normAutofit fontScale="90000"/>
          </a:bodyPr>
          <a:lstStyle/>
          <a:p>
            <a:pPr marL="624078" indent="-514350"/>
            <a:br>
              <a:rPr lang="es-ES" dirty="0"/>
            </a:br>
            <a:r>
              <a:rPr lang="es-ES" dirty="0"/>
              <a:t>Epidemiología:</a:t>
            </a:r>
            <a:br>
              <a:rPr lang="es-ES" dirty="0"/>
            </a:br>
            <a:endParaRPr lang="es-ES" dirty="0"/>
          </a:p>
        </p:txBody>
      </p:sp>
    </p:spTree>
    <p:extLst>
      <p:ext uri="{BB962C8B-B14F-4D97-AF65-F5344CB8AC3E}">
        <p14:creationId xmlns:p14="http://schemas.microsoft.com/office/powerpoint/2010/main" val="15955257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1"/>
          <p:cNvSpPr>
            <a:spLocks noGrp="1"/>
          </p:cNvSpPr>
          <p:nvPr>
            <p:ph idx="1"/>
          </p:nvPr>
        </p:nvSpPr>
        <p:spPr>
          <a:xfrm>
            <a:off x="251520" y="1052736"/>
            <a:ext cx="8435280" cy="4954555"/>
          </a:xfrm>
        </p:spPr>
        <p:txBody>
          <a:bodyPr>
            <a:normAutofit fontScale="70000" lnSpcReduction="20000"/>
          </a:bodyPr>
          <a:lstStyle/>
          <a:p>
            <a:r>
              <a:rPr lang="es-MX" dirty="0"/>
              <a:t>-Factores poblacionales: la prevalencia de esquizofrenia está relacionada con la densidad poblacional. Es más frecuente en la ciudad que en las zonas rurales (estrés social). </a:t>
            </a:r>
          </a:p>
          <a:p>
            <a:r>
              <a:rPr lang="es-MX" dirty="0"/>
              <a:t>-Factores socioeconómicos y culturales: Es más frecuente en las naciones industrializadas en sus poblaciones de nivel socioeconómico bajo. También es más frecuente en inmigrantes (cambio cultural brusco). En poblaciones del tercer mundo la prevalencia de la enfermedad aumenta en la medida que se incrementa el contacto con culturas tecnológicamente avanzadas. Pronóstico más benigno de la enfermedad en países en desarrollo ya que la reinserción de los pacientes en sus comunidades y familias es más completa que en las sociedades occidentales altamente desarrolladas. </a:t>
            </a:r>
          </a:p>
          <a:p>
            <a:r>
              <a:rPr lang="es-MX" dirty="0"/>
              <a:t>-Hospitalización: Los esquizofrénicos ocupan el 50% de las camas en los hospitales psiquiátricos. </a:t>
            </a:r>
          </a:p>
          <a:p>
            <a:r>
              <a:rPr lang="es-MX" dirty="0"/>
              <a:t>-Indigencia: de 1 a 2 tercios de las personas que viven en la calle son esquizofrénicos. </a:t>
            </a:r>
          </a:p>
        </p:txBody>
      </p:sp>
      <p:sp>
        <p:nvSpPr>
          <p:cNvPr id="3" name="Título 2"/>
          <p:cNvSpPr>
            <a:spLocks noGrp="1"/>
          </p:cNvSpPr>
          <p:nvPr>
            <p:ph type="title"/>
          </p:nvPr>
        </p:nvSpPr>
        <p:spPr>
          <a:xfrm>
            <a:off x="457200" y="274638"/>
            <a:ext cx="7643192" cy="778098"/>
          </a:xfrm>
        </p:spPr>
        <p:txBody>
          <a:bodyPr/>
          <a:lstStyle/>
          <a:p>
            <a:r>
              <a:rPr lang="es-MX" dirty="0"/>
              <a:t>Epidemiología:</a:t>
            </a:r>
            <a:endParaRPr lang="es-AR" dirty="0"/>
          </a:p>
        </p:txBody>
      </p:sp>
    </p:spTree>
    <p:extLst>
      <p:ext uri="{BB962C8B-B14F-4D97-AF65-F5344CB8AC3E}">
        <p14:creationId xmlns:p14="http://schemas.microsoft.com/office/powerpoint/2010/main" val="17364341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1"/>
          <p:cNvSpPr>
            <a:spLocks noGrp="1"/>
          </p:cNvSpPr>
          <p:nvPr>
            <p:ph idx="1"/>
          </p:nvPr>
        </p:nvSpPr>
        <p:spPr>
          <a:xfrm>
            <a:off x="457200" y="1052736"/>
            <a:ext cx="8229600" cy="4954555"/>
          </a:xfrm>
        </p:spPr>
        <p:txBody>
          <a:bodyPr>
            <a:normAutofit fontScale="62500" lnSpcReduction="20000"/>
          </a:bodyPr>
          <a:lstStyle/>
          <a:p>
            <a:pPr marL="109728" indent="0">
              <a:buNone/>
            </a:pPr>
            <a:r>
              <a:rPr lang="es-MX" dirty="0"/>
              <a:t>La esquizofrenia se analiza como si fuera una sola enfermedad pero en realidad comprende un grupo de trastornos con causas heterogéneas pero con síntomas de comportamiento algo similares. Los pacientes esquizofrénicos muestran diferentes presentaciones clínicas, respuestas terapéuticas  y evoluciones de la enfermedad. </a:t>
            </a:r>
          </a:p>
          <a:p>
            <a:r>
              <a:rPr lang="es-MX" dirty="0"/>
              <a:t>-Modelo diátesis-estrés: vulnerabilidad específica (diátesis) más factores estresantes desencadena la enfermedad. Toma en cuenta factores biológicos, psicosociales y ambientales. </a:t>
            </a:r>
          </a:p>
          <a:p>
            <a:r>
              <a:rPr lang="es-MX" dirty="0"/>
              <a:t>-Neurobiología: Diferentes estudios (por imágenes, </a:t>
            </a:r>
            <a:r>
              <a:rPr lang="es-MX" dirty="0" err="1"/>
              <a:t>anatomopatológicos</a:t>
            </a:r>
            <a:r>
              <a:rPr lang="es-MX" dirty="0"/>
              <a:t> </a:t>
            </a:r>
            <a:r>
              <a:rPr lang="es-MX" dirty="0" err="1"/>
              <a:t>posmortem</a:t>
            </a:r>
            <a:r>
              <a:rPr lang="es-MX" dirty="0"/>
              <a:t>, funcionales, </a:t>
            </a:r>
            <a:r>
              <a:rPr lang="es-MX" dirty="0" err="1"/>
              <a:t>etc</a:t>
            </a:r>
            <a:r>
              <a:rPr lang="es-MX" dirty="0"/>
              <a:t>) han implicado al sistema límbico como posible localización del proceso patológico primario. La base de aparición de la anormalidad cerebral puede ser el desarrollo anormal (migración anormal de neuronas a lo largo de las células gliales radiales durante el desarrollo) o la degeneración de neuronas después del desarrollo (muerte celular programada anormalmente precoz). </a:t>
            </a:r>
          </a:p>
          <a:p>
            <a:r>
              <a:rPr lang="es-MX" dirty="0"/>
              <a:t>-Hipótesis </a:t>
            </a:r>
            <a:r>
              <a:rPr lang="es-MX" dirty="0" err="1"/>
              <a:t>dopaminérgica</a:t>
            </a:r>
            <a:r>
              <a:rPr lang="es-MX" dirty="0"/>
              <a:t>: plantea que la esquizofrenia se produciría como consecuencia de una hiperactividad </a:t>
            </a:r>
            <a:r>
              <a:rPr lang="es-MX" dirty="0" err="1"/>
              <a:t>dopaminérgica</a:t>
            </a:r>
            <a:r>
              <a:rPr lang="es-MX" dirty="0"/>
              <a:t>. Esta teoría se desarrolló a partir de 2 observaciones:  </a:t>
            </a:r>
          </a:p>
          <a:p>
            <a:pPr marL="109728" indent="0">
              <a:buNone/>
            </a:pPr>
            <a:r>
              <a:rPr lang="es-MX" dirty="0"/>
              <a:t>1-la eficacia y la potencia de los antipsicóticos se correlacionan con su capacidad para bloquear el receptor D2. </a:t>
            </a:r>
          </a:p>
          <a:p>
            <a:pPr marL="109728" indent="0">
              <a:buNone/>
            </a:pPr>
            <a:r>
              <a:rPr lang="es-MX" dirty="0"/>
              <a:t>2-los fármacos que aumentan la actividad </a:t>
            </a:r>
            <a:r>
              <a:rPr lang="es-MX" dirty="0" err="1"/>
              <a:t>dopaminérgica</a:t>
            </a:r>
            <a:r>
              <a:rPr lang="es-MX" dirty="0"/>
              <a:t>  (</a:t>
            </a:r>
            <a:r>
              <a:rPr lang="es-MX" dirty="0" err="1"/>
              <a:t>ej</a:t>
            </a:r>
            <a:r>
              <a:rPr lang="es-MX" dirty="0"/>
              <a:t>: anfetamina) son </a:t>
            </a:r>
            <a:r>
              <a:rPr lang="es-MX" dirty="0" err="1"/>
              <a:t>psicotomiméticos</a:t>
            </a:r>
            <a:r>
              <a:rPr lang="es-MX" dirty="0"/>
              <a:t>. </a:t>
            </a:r>
          </a:p>
          <a:p>
            <a:endParaRPr lang="es-MX" dirty="0"/>
          </a:p>
          <a:p>
            <a:endParaRPr lang="es-AR" dirty="0"/>
          </a:p>
        </p:txBody>
      </p:sp>
      <p:sp>
        <p:nvSpPr>
          <p:cNvPr id="3" name="Título 2"/>
          <p:cNvSpPr>
            <a:spLocks noGrp="1"/>
          </p:cNvSpPr>
          <p:nvPr>
            <p:ph type="title"/>
          </p:nvPr>
        </p:nvSpPr>
        <p:spPr>
          <a:xfrm>
            <a:off x="457200" y="274638"/>
            <a:ext cx="8229600" cy="634082"/>
          </a:xfrm>
        </p:spPr>
        <p:txBody>
          <a:bodyPr>
            <a:normAutofit fontScale="90000"/>
          </a:bodyPr>
          <a:lstStyle/>
          <a:p>
            <a:r>
              <a:rPr lang="es-MX" dirty="0"/>
              <a:t>Etiología:</a:t>
            </a:r>
            <a:endParaRPr lang="es-AR" dirty="0"/>
          </a:p>
        </p:txBody>
      </p:sp>
    </p:spTree>
    <p:extLst>
      <p:ext uri="{BB962C8B-B14F-4D97-AF65-F5344CB8AC3E}">
        <p14:creationId xmlns:p14="http://schemas.microsoft.com/office/powerpoint/2010/main" val="21497452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1"/>
          <p:cNvSpPr>
            <a:spLocks noGrp="1"/>
          </p:cNvSpPr>
          <p:nvPr>
            <p:ph idx="1"/>
          </p:nvPr>
        </p:nvSpPr>
        <p:spPr>
          <a:xfrm>
            <a:off x="457200" y="836712"/>
            <a:ext cx="8147248" cy="5616624"/>
          </a:xfrm>
        </p:spPr>
        <p:txBody>
          <a:bodyPr>
            <a:normAutofit fontScale="77500" lnSpcReduction="20000"/>
          </a:bodyPr>
          <a:lstStyle/>
          <a:p>
            <a:pPr marL="109728" indent="0">
              <a:buNone/>
            </a:pPr>
            <a:r>
              <a:rPr lang="es-MX" dirty="0"/>
              <a:t>Otros neurotransmisores: </a:t>
            </a:r>
          </a:p>
          <a:p>
            <a:r>
              <a:rPr lang="es-MX" dirty="0"/>
              <a:t> Serotonina: se le dio importancia a partir de observar síntomas psicóticos con sustancias que  afectan la serotonina (LSD) y al observar el efecto antipsicóticos de fármacos bloqueantes serotonina-dopamina (</a:t>
            </a:r>
            <a:r>
              <a:rPr lang="es-MX" dirty="0" err="1"/>
              <a:t>clozapina</a:t>
            </a:r>
            <a:r>
              <a:rPr lang="es-MX" dirty="0"/>
              <a:t>, </a:t>
            </a:r>
            <a:r>
              <a:rPr lang="es-MX" dirty="0" err="1"/>
              <a:t>risperidona</a:t>
            </a:r>
            <a:r>
              <a:rPr lang="es-MX" dirty="0"/>
              <a:t>, etc.). </a:t>
            </a:r>
          </a:p>
          <a:p>
            <a:r>
              <a:rPr lang="es-MX" dirty="0"/>
              <a:t>Noradrenalina: el sistema </a:t>
            </a:r>
            <a:r>
              <a:rPr lang="es-MX" dirty="0" err="1"/>
              <a:t>noradrenérgico</a:t>
            </a:r>
            <a:r>
              <a:rPr lang="es-MX" dirty="0"/>
              <a:t>  modularía al </a:t>
            </a:r>
            <a:r>
              <a:rPr lang="es-MX" dirty="0" err="1"/>
              <a:t>dopaminérgico</a:t>
            </a:r>
            <a:r>
              <a:rPr lang="es-MX" dirty="0"/>
              <a:t> de manera tal que las anormalidades del sistema </a:t>
            </a:r>
            <a:r>
              <a:rPr lang="es-MX" dirty="0" err="1"/>
              <a:t>noradrenérgico</a:t>
            </a:r>
            <a:r>
              <a:rPr lang="es-MX" dirty="0"/>
              <a:t> predisponen a recaídas frecuentes. </a:t>
            </a:r>
          </a:p>
          <a:p>
            <a:r>
              <a:rPr lang="es-MX" dirty="0"/>
              <a:t>GABA: la pérdida de neuronas </a:t>
            </a:r>
            <a:r>
              <a:rPr lang="es-MX" dirty="0" err="1"/>
              <a:t>GABAérgicas</a:t>
            </a:r>
            <a:r>
              <a:rPr lang="es-MX" dirty="0"/>
              <a:t> inhibitorias podría inducir actividad de las neuronas </a:t>
            </a:r>
            <a:r>
              <a:rPr lang="es-MX" dirty="0" err="1"/>
              <a:t>dopaminérgicas</a:t>
            </a:r>
            <a:r>
              <a:rPr lang="es-MX" dirty="0"/>
              <a:t> y </a:t>
            </a:r>
            <a:r>
              <a:rPr lang="es-MX" dirty="0" err="1"/>
              <a:t>noradrenérgicas</a:t>
            </a:r>
            <a:r>
              <a:rPr lang="es-MX" dirty="0"/>
              <a:t>. </a:t>
            </a:r>
          </a:p>
          <a:p>
            <a:r>
              <a:rPr lang="es-MX" dirty="0"/>
              <a:t>Ácido Glutámico: se plantea la hipótesis a partir de que la </a:t>
            </a:r>
            <a:r>
              <a:rPr lang="es-MX" dirty="0" err="1"/>
              <a:t>fenciclidina</a:t>
            </a:r>
            <a:r>
              <a:rPr lang="es-MX" dirty="0"/>
              <a:t>(PCP), un antagonista del ácido glutámico, provoca un síndrome agudo similar a la esquizofrenia. </a:t>
            </a:r>
          </a:p>
          <a:p>
            <a:r>
              <a:rPr lang="es-MX" dirty="0" err="1"/>
              <a:t>Neuropéptidos</a:t>
            </a:r>
            <a:r>
              <a:rPr lang="es-MX" dirty="0"/>
              <a:t>: la </a:t>
            </a:r>
            <a:r>
              <a:rPr lang="es-MX" dirty="0" err="1"/>
              <a:t>colecistocinina</a:t>
            </a:r>
            <a:r>
              <a:rPr lang="es-MX" dirty="0"/>
              <a:t> y </a:t>
            </a:r>
            <a:r>
              <a:rPr lang="es-MX" dirty="0" err="1"/>
              <a:t>neurotensina</a:t>
            </a:r>
            <a:r>
              <a:rPr lang="es-MX" dirty="0"/>
              <a:t> tienen sus concentraciones alteradas en estados psicóticos. </a:t>
            </a:r>
          </a:p>
          <a:p>
            <a:endParaRPr lang="es-MX" dirty="0"/>
          </a:p>
        </p:txBody>
      </p:sp>
      <p:sp>
        <p:nvSpPr>
          <p:cNvPr id="3" name="Título 2"/>
          <p:cNvSpPr>
            <a:spLocks noGrp="1"/>
          </p:cNvSpPr>
          <p:nvPr>
            <p:ph type="title"/>
          </p:nvPr>
        </p:nvSpPr>
        <p:spPr>
          <a:xfrm>
            <a:off x="457200" y="274638"/>
            <a:ext cx="7931224" cy="706090"/>
          </a:xfrm>
        </p:spPr>
        <p:txBody>
          <a:bodyPr>
            <a:normAutofit fontScale="90000"/>
          </a:bodyPr>
          <a:lstStyle/>
          <a:p>
            <a:r>
              <a:rPr lang="es-MX" dirty="0"/>
              <a:t>Etiología:</a:t>
            </a:r>
            <a:endParaRPr lang="es-AR" dirty="0"/>
          </a:p>
        </p:txBody>
      </p:sp>
    </p:spTree>
    <p:extLst>
      <p:ext uri="{BB962C8B-B14F-4D97-AF65-F5344CB8AC3E}">
        <p14:creationId xmlns:p14="http://schemas.microsoft.com/office/powerpoint/2010/main" val="6214777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1"/>
          <p:cNvSpPr>
            <a:spLocks noGrp="1"/>
          </p:cNvSpPr>
          <p:nvPr>
            <p:ph idx="1"/>
          </p:nvPr>
        </p:nvSpPr>
        <p:spPr>
          <a:xfrm>
            <a:off x="0" y="764704"/>
            <a:ext cx="9144000" cy="6093296"/>
          </a:xfrm>
        </p:spPr>
        <p:txBody>
          <a:bodyPr>
            <a:normAutofit fontScale="85000" lnSpcReduction="10000"/>
          </a:bodyPr>
          <a:lstStyle/>
          <a:p>
            <a:pPr marL="109728" indent="0">
              <a:buNone/>
            </a:pPr>
            <a:r>
              <a:rPr lang="es-MX" dirty="0"/>
              <a:t>-Neuropatología: La densidad sináptica es máxima al año de vida y después disminuye hasta valores adultos en las primeras etapas de la adolescencia (poda sináptica). Una teoría afirma que la esquizofrenia se produciría por un exceso en este recorte. Las zonas más frecuentemente afectadas son: </a:t>
            </a:r>
          </a:p>
          <a:p>
            <a:r>
              <a:rPr lang="es-MX" dirty="0"/>
              <a:t>*sistema límbico: disminución del tamaño de la región que incluye la amígdala, el hipocampo y la circunvolución </a:t>
            </a:r>
            <a:r>
              <a:rPr lang="es-MX" dirty="0" err="1"/>
              <a:t>parahipocámpica</a:t>
            </a:r>
            <a:r>
              <a:rPr lang="es-MX" dirty="0"/>
              <a:t>. También hay desorganización neuronal. </a:t>
            </a:r>
          </a:p>
          <a:p>
            <a:r>
              <a:rPr lang="es-MX" dirty="0"/>
              <a:t>*ganglios basales y cerebelo: algunos estudios muestran disminución del tamaño, pérdida celular y aumento de los </a:t>
            </a:r>
            <a:r>
              <a:rPr lang="es-MX" dirty="0" err="1"/>
              <a:t>receptore</a:t>
            </a:r>
            <a:r>
              <a:rPr lang="es-MX" dirty="0"/>
              <a:t> D2. La importancia en estudiar estas estructuras del S.N.C. radica en que muchos pacientes con esquizofrenia muestran movimientos anormales (no por efecto adverso de la medicación) como marcha desgarbada, estereotipias, gesticulación facial, etc. Además todos los trastornos neurológicos que comprometen los núcleos de la base pueden presentar síntomas psicóticos. </a:t>
            </a:r>
          </a:p>
          <a:p>
            <a:endParaRPr lang="es-AR" dirty="0"/>
          </a:p>
        </p:txBody>
      </p:sp>
      <p:sp>
        <p:nvSpPr>
          <p:cNvPr id="3" name="Título 2"/>
          <p:cNvSpPr>
            <a:spLocks noGrp="1"/>
          </p:cNvSpPr>
          <p:nvPr>
            <p:ph type="title"/>
          </p:nvPr>
        </p:nvSpPr>
        <p:spPr>
          <a:xfrm>
            <a:off x="457200" y="274638"/>
            <a:ext cx="8003232" cy="706090"/>
          </a:xfrm>
        </p:spPr>
        <p:txBody>
          <a:bodyPr>
            <a:normAutofit fontScale="90000"/>
          </a:bodyPr>
          <a:lstStyle/>
          <a:p>
            <a:r>
              <a:rPr lang="es-MX" dirty="0"/>
              <a:t>Etiología:</a:t>
            </a:r>
            <a:endParaRPr lang="es-AR" dirty="0"/>
          </a:p>
        </p:txBody>
      </p:sp>
    </p:spTree>
    <p:extLst>
      <p:ext uri="{BB962C8B-B14F-4D97-AF65-F5344CB8AC3E}">
        <p14:creationId xmlns:p14="http://schemas.microsoft.com/office/powerpoint/2010/main" val="18373983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1"/>
          <p:cNvSpPr>
            <a:spLocks noGrp="1"/>
          </p:cNvSpPr>
          <p:nvPr>
            <p:ph idx="1"/>
          </p:nvPr>
        </p:nvSpPr>
        <p:spPr>
          <a:xfrm>
            <a:off x="272008" y="980728"/>
            <a:ext cx="8620472" cy="5760640"/>
          </a:xfrm>
        </p:spPr>
        <p:txBody>
          <a:bodyPr>
            <a:normAutofit fontScale="85000" lnSpcReduction="20000"/>
          </a:bodyPr>
          <a:lstStyle/>
          <a:p>
            <a:pPr marL="109728" indent="0">
              <a:buNone/>
            </a:pPr>
            <a:r>
              <a:rPr lang="es-MX" dirty="0"/>
              <a:t>-Estudios por imágenes: </a:t>
            </a:r>
          </a:p>
          <a:p>
            <a:r>
              <a:rPr lang="es-MX" dirty="0"/>
              <a:t>*T.A.C.: agrandamiento de los ventrículos laterales y tercer ventrículo y reducción del volumen cortical. Asimetría cerebral anormal y menor volumen del cerebelo. Cambios en la densidad cerebral. </a:t>
            </a:r>
          </a:p>
          <a:p>
            <a:r>
              <a:rPr lang="es-MX" dirty="0"/>
              <a:t>*R.M.I.: menor volumen del complejo hipocampo-</a:t>
            </a:r>
            <a:r>
              <a:rPr lang="es-MX" dirty="0" err="1"/>
              <a:t>amigdala</a:t>
            </a:r>
            <a:r>
              <a:rPr lang="es-MX" dirty="0"/>
              <a:t> y la circunvolución </a:t>
            </a:r>
            <a:r>
              <a:rPr lang="es-MX" dirty="0" err="1"/>
              <a:t>parahipocámpica</a:t>
            </a:r>
            <a:r>
              <a:rPr lang="es-MX" dirty="0"/>
              <a:t>.  </a:t>
            </a:r>
          </a:p>
          <a:p>
            <a:r>
              <a:rPr lang="es-MX" dirty="0"/>
              <a:t>*P.E.T. y S.P.E.C.T.: Diferencias en la activación de la corteza </a:t>
            </a:r>
            <a:r>
              <a:rPr lang="es-MX" dirty="0" err="1"/>
              <a:t>sensitivomotora</a:t>
            </a:r>
            <a:r>
              <a:rPr lang="es-MX" dirty="0"/>
              <a:t>, menor irrigación de los lóbulos occipitales, </a:t>
            </a:r>
            <a:r>
              <a:rPr lang="es-MX" dirty="0" err="1"/>
              <a:t>hipoactividad</a:t>
            </a:r>
            <a:r>
              <a:rPr lang="es-MX" dirty="0"/>
              <a:t> de los lóbulos frontales, hiperactividad de los ganglios basales, menor actividad metabólica de en la porción </a:t>
            </a:r>
            <a:r>
              <a:rPr lang="es-MX" dirty="0" err="1"/>
              <a:t>anteroizquierda</a:t>
            </a:r>
            <a:r>
              <a:rPr lang="es-MX" dirty="0"/>
              <a:t> del tálamo. </a:t>
            </a:r>
          </a:p>
          <a:p>
            <a:pPr marL="109728" indent="0">
              <a:buNone/>
            </a:pPr>
            <a:r>
              <a:rPr lang="es-MX" dirty="0"/>
              <a:t>-E.E.G.: frecuente actividad de espigas tras privación de sueño, menor actividad alfa, mayor actividad theta y delta, mayor actividad epileptiforme, incapacidad de filtrar sonidos irrelevantes. </a:t>
            </a:r>
          </a:p>
          <a:p>
            <a:pPr marL="109728" indent="0">
              <a:buNone/>
            </a:pPr>
            <a:r>
              <a:rPr lang="es-MX" dirty="0"/>
              <a:t>-Potenciales Evocados: p300 más pequeño y más tardío. </a:t>
            </a:r>
          </a:p>
          <a:p>
            <a:pPr marL="109728" indent="0">
              <a:buNone/>
            </a:pPr>
            <a:r>
              <a:rPr lang="es-MX" dirty="0"/>
              <a:t>-Disfunción de los movimientos oculares: independiente del tratamiento farmacológico. </a:t>
            </a:r>
          </a:p>
          <a:p>
            <a:endParaRPr lang="es-AR" dirty="0"/>
          </a:p>
        </p:txBody>
      </p:sp>
      <p:sp>
        <p:nvSpPr>
          <p:cNvPr id="3" name="Título 2"/>
          <p:cNvSpPr>
            <a:spLocks noGrp="1"/>
          </p:cNvSpPr>
          <p:nvPr>
            <p:ph type="title"/>
          </p:nvPr>
        </p:nvSpPr>
        <p:spPr>
          <a:xfrm>
            <a:off x="457200" y="274638"/>
            <a:ext cx="7859216" cy="706090"/>
          </a:xfrm>
        </p:spPr>
        <p:txBody>
          <a:bodyPr>
            <a:normAutofit fontScale="90000"/>
          </a:bodyPr>
          <a:lstStyle/>
          <a:p>
            <a:r>
              <a:rPr lang="es-MX" dirty="0"/>
              <a:t>Etiología:</a:t>
            </a:r>
            <a:endParaRPr lang="es-AR" dirty="0"/>
          </a:p>
        </p:txBody>
      </p:sp>
    </p:spTree>
    <p:extLst>
      <p:ext uri="{BB962C8B-B14F-4D97-AF65-F5344CB8AC3E}">
        <p14:creationId xmlns:p14="http://schemas.microsoft.com/office/powerpoint/2010/main" val="8512136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1"/>
          <p:cNvSpPr>
            <a:spLocks noGrp="1"/>
          </p:cNvSpPr>
          <p:nvPr>
            <p:ph idx="1"/>
          </p:nvPr>
        </p:nvSpPr>
        <p:spPr>
          <a:xfrm>
            <a:off x="251520" y="836712"/>
            <a:ext cx="8424936" cy="5760640"/>
          </a:xfrm>
        </p:spPr>
        <p:txBody>
          <a:bodyPr>
            <a:normAutofit fontScale="92500" lnSpcReduction="20000"/>
          </a:bodyPr>
          <a:lstStyle/>
          <a:p>
            <a:pPr marL="109728" indent="0">
              <a:buNone/>
            </a:pPr>
            <a:r>
              <a:rPr lang="es-MX" dirty="0"/>
              <a:t>-</a:t>
            </a:r>
            <a:r>
              <a:rPr lang="es-MX" dirty="0" err="1"/>
              <a:t>Psiconeuroinmunoendocrinología</a:t>
            </a:r>
            <a:r>
              <a:rPr lang="es-MX" dirty="0"/>
              <a:t>: disfunción de los L periféricos, reactividad celular y humoral anormal a neuronas y presencia de AC </a:t>
            </a:r>
            <a:r>
              <a:rPr lang="es-MX" dirty="0" err="1"/>
              <a:t>anticerebrales</a:t>
            </a:r>
            <a:r>
              <a:rPr lang="es-MX" dirty="0"/>
              <a:t>. Resultados anormales a la prueba de supresión de </a:t>
            </a:r>
            <a:r>
              <a:rPr lang="es-MX" dirty="0" err="1"/>
              <a:t>dexametasona</a:t>
            </a:r>
            <a:r>
              <a:rPr lang="es-MX" dirty="0"/>
              <a:t>. </a:t>
            </a:r>
          </a:p>
          <a:p>
            <a:pPr marL="109728" indent="0">
              <a:buNone/>
            </a:pPr>
            <a:r>
              <a:rPr lang="es-MX" dirty="0"/>
              <a:t>-Factores genéticos: los gemelos </a:t>
            </a:r>
            <a:r>
              <a:rPr lang="es-MX" dirty="0" err="1"/>
              <a:t>monocigotos</a:t>
            </a:r>
            <a:r>
              <a:rPr lang="es-MX" dirty="0"/>
              <a:t> tienen la máxima tasa de concordancia. En estudios de gemelos </a:t>
            </a:r>
            <a:r>
              <a:rPr lang="es-MX" dirty="0" err="1"/>
              <a:t>monocigotos</a:t>
            </a:r>
            <a:r>
              <a:rPr lang="es-MX" dirty="0"/>
              <a:t> adoptados, los gemelos criados por padres adoptivos tienen la misma tasa de esquizofrenia que sus hermanos criados por los padres biológicos. Este hallazgo sugiere que la influencia genética supera a la influencia ambiental, un dato corroborado por la observación de que cuanto más grave es la esquizofrenia, más probable es que los gemelos sean concordantes para el trastorno. Los cromosomas implicados son: brazo largo de 5,11 y 18, brazo corto del 9, cromosoma X, y </a:t>
            </a:r>
            <a:r>
              <a:rPr lang="es-MX" dirty="0" err="1"/>
              <a:t>loci</a:t>
            </a:r>
            <a:r>
              <a:rPr lang="es-MX" dirty="0"/>
              <a:t> de los 6,8 y 22. </a:t>
            </a:r>
          </a:p>
          <a:p>
            <a:endParaRPr lang="es-AR" dirty="0"/>
          </a:p>
        </p:txBody>
      </p:sp>
      <p:sp>
        <p:nvSpPr>
          <p:cNvPr id="3" name="Título 2"/>
          <p:cNvSpPr>
            <a:spLocks noGrp="1"/>
          </p:cNvSpPr>
          <p:nvPr>
            <p:ph type="title"/>
          </p:nvPr>
        </p:nvSpPr>
        <p:spPr>
          <a:xfrm>
            <a:off x="457200" y="274638"/>
            <a:ext cx="7643192" cy="562074"/>
          </a:xfrm>
        </p:spPr>
        <p:txBody>
          <a:bodyPr>
            <a:normAutofit fontScale="90000"/>
          </a:bodyPr>
          <a:lstStyle/>
          <a:p>
            <a:r>
              <a:rPr lang="es-MX" dirty="0"/>
              <a:t>Etiología:</a:t>
            </a:r>
            <a:endParaRPr lang="es-AR" dirty="0"/>
          </a:p>
        </p:txBody>
      </p:sp>
    </p:spTree>
    <p:extLst>
      <p:ext uri="{BB962C8B-B14F-4D97-AF65-F5344CB8AC3E}">
        <p14:creationId xmlns:p14="http://schemas.microsoft.com/office/powerpoint/2010/main" val="14002905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1"/>
          <p:cNvSpPr>
            <a:spLocks noGrp="1"/>
          </p:cNvSpPr>
          <p:nvPr>
            <p:ph idx="1"/>
          </p:nvPr>
        </p:nvSpPr>
        <p:spPr>
          <a:xfrm>
            <a:off x="457200" y="836712"/>
            <a:ext cx="8435280" cy="5904656"/>
          </a:xfrm>
        </p:spPr>
        <p:txBody>
          <a:bodyPr>
            <a:normAutofit fontScale="70000" lnSpcReduction="20000"/>
          </a:bodyPr>
          <a:lstStyle/>
          <a:p>
            <a:pPr marL="109728" indent="0">
              <a:buNone/>
            </a:pPr>
            <a:r>
              <a:rPr lang="es-MX" dirty="0"/>
              <a:t>-Factores Psicosociales: </a:t>
            </a:r>
          </a:p>
          <a:p>
            <a:r>
              <a:rPr lang="es-MX" dirty="0"/>
              <a:t>*Teorías Psicoanalíticas: Según Freud la esquizofrenia es el resultado de fijaciones tempranas (previas al conflicto </a:t>
            </a:r>
            <a:r>
              <a:rPr lang="es-MX" dirty="0" err="1"/>
              <a:t>edípico</a:t>
            </a:r>
            <a:r>
              <a:rPr lang="es-MX" dirty="0"/>
              <a:t>) y una lábil estructuración del yo con alteración de las relaciones </a:t>
            </a:r>
            <a:r>
              <a:rPr lang="es-MX" dirty="0" err="1"/>
              <a:t>objetales</a:t>
            </a:r>
            <a:r>
              <a:rPr lang="es-MX" dirty="0"/>
              <a:t> tempranas. Para </a:t>
            </a:r>
            <a:r>
              <a:rPr lang="es-MX" dirty="0" err="1"/>
              <a:t>Mahler</a:t>
            </a:r>
            <a:r>
              <a:rPr lang="es-MX" dirty="0"/>
              <a:t> el niño no puede separarse y progresar más allá de la cercanía y dependencia completa que caracteriza la relación madre-hijo en la fase oral del desarrollo (nunca alcanza la constancia </a:t>
            </a:r>
            <a:r>
              <a:rPr lang="es-MX" dirty="0" err="1"/>
              <a:t>objetal</a:t>
            </a:r>
            <a:r>
              <a:rPr lang="es-MX" dirty="0"/>
              <a:t>). </a:t>
            </a:r>
            <a:r>
              <a:rPr lang="es-MX" dirty="0" err="1"/>
              <a:t>Federn</a:t>
            </a:r>
            <a:r>
              <a:rPr lang="es-MX" dirty="0"/>
              <a:t> plantea que la alteración fundamental de la esquizofrenia es la incapacidad precoz del paciente de diferenciarse del objeto. Para Sullivan la esquizofrenia es una alteración de las relaciones interpersonales y constituye un método adaptativo para evitar el pánico, el terror y la desintegración del sentido de sí mismo.  </a:t>
            </a:r>
          </a:p>
          <a:p>
            <a:r>
              <a:rPr lang="es-MX" dirty="0"/>
              <a:t>El comienzo de los síntomas  durante la adolescencia se produce cuando el sujeto necesita un yo fuerte para funcionar independientemente, separase de los padres , identificar tareas, controlar los impulsos internos y sobrellevar la intensa estimulación externa. </a:t>
            </a:r>
          </a:p>
          <a:p>
            <a:r>
              <a:rPr lang="es-MX" dirty="0"/>
              <a:t>El psicoanálisis también plantea que los síntomas tienen un significado simbólico. Las ideas delirantes y las alucinaciones son intentos regresivos, reparadores, de crear una nueva realidad o de expresar temores o impulsos ocultos. </a:t>
            </a:r>
          </a:p>
          <a:p>
            <a:endParaRPr lang="es-AR" dirty="0"/>
          </a:p>
        </p:txBody>
      </p:sp>
      <p:sp>
        <p:nvSpPr>
          <p:cNvPr id="3" name="Título 2"/>
          <p:cNvSpPr>
            <a:spLocks noGrp="1"/>
          </p:cNvSpPr>
          <p:nvPr>
            <p:ph type="title"/>
          </p:nvPr>
        </p:nvSpPr>
        <p:spPr>
          <a:xfrm>
            <a:off x="457200" y="274638"/>
            <a:ext cx="8075240" cy="562074"/>
          </a:xfrm>
        </p:spPr>
        <p:txBody>
          <a:bodyPr>
            <a:normAutofit fontScale="90000"/>
          </a:bodyPr>
          <a:lstStyle/>
          <a:p>
            <a:r>
              <a:rPr lang="es-MX" dirty="0"/>
              <a:t>Etiología:</a:t>
            </a:r>
            <a:endParaRPr lang="es-AR" dirty="0"/>
          </a:p>
        </p:txBody>
      </p:sp>
    </p:spTree>
    <p:extLst>
      <p:ext uri="{BB962C8B-B14F-4D97-AF65-F5344CB8AC3E}">
        <p14:creationId xmlns:p14="http://schemas.microsoft.com/office/powerpoint/2010/main" val="1182668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1"/>
          <p:cNvSpPr>
            <a:spLocks noGrp="1"/>
          </p:cNvSpPr>
          <p:nvPr>
            <p:ph idx="1"/>
          </p:nvPr>
        </p:nvSpPr>
        <p:spPr>
          <a:xfrm>
            <a:off x="251520" y="908720"/>
            <a:ext cx="8712968" cy="5688632"/>
          </a:xfrm>
        </p:spPr>
        <p:txBody>
          <a:bodyPr>
            <a:normAutofit fontScale="85000" lnSpcReduction="20000"/>
          </a:bodyPr>
          <a:lstStyle/>
          <a:p>
            <a:r>
              <a:rPr lang="es-MX" dirty="0"/>
              <a:t>*Teorías del aprendizaje: los niños aprenden reacciones y maneras de pensar irracionales imitando a los padres que tienen sus propios problemas emocionales. </a:t>
            </a:r>
          </a:p>
          <a:p>
            <a:r>
              <a:rPr lang="es-MX" dirty="0"/>
              <a:t>-Dinámica familiar: no siempre se encuentra una familia disfuncional. </a:t>
            </a:r>
          </a:p>
          <a:p>
            <a:r>
              <a:rPr lang="es-MX" dirty="0"/>
              <a:t>*Doble mensaje: mensajes parentales contradictorios acerca de su comportamiento, actitudes y sentimientos. Los niños se retraen a un estado psicótico para escapar a la confusión insoluble del doble mensaje. </a:t>
            </a:r>
          </a:p>
          <a:p>
            <a:r>
              <a:rPr lang="es-MX" dirty="0"/>
              <a:t>*Escisiones y familias sesgadas: En las familias con escisión uno de los progenitores tiene una relación demasiado estrecha con uno de sus hijos de sexo opuesto y en las sesgadas hay una lucha entre los padres por el dominio de sus hijos. </a:t>
            </a:r>
          </a:p>
          <a:p>
            <a:r>
              <a:rPr lang="es-MX" dirty="0"/>
              <a:t>*Familias </a:t>
            </a:r>
            <a:r>
              <a:rPr lang="es-MX" dirty="0" err="1"/>
              <a:t>seudorecíprocas</a:t>
            </a:r>
            <a:r>
              <a:rPr lang="es-MX" dirty="0"/>
              <a:t> y </a:t>
            </a:r>
            <a:r>
              <a:rPr lang="es-MX" dirty="0" err="1"/>
              <a:t>seudohostiles</a:t>
            </a:r>
            <a:r>
              <a:rPr lang="es-MX" dirty="0"/>
              <a:t>: son familias que suprimen la expresión emocional utilizando una comunicación verbal </a:t>
            </a:r>
            <a:r>
              <a:rPr lang="es-MX" dirty="0" err="1"/>
              <a:t>seudorecíproca</a:t>
            </a:r>
            <a:r>
              <a:rPr lang="es-MX" dirty="0"/>
              <a:t> o </a:t>
            </a:r>
            <a:r>
              <a:rPr lang="es-MX" dirty="0" err="1"/>
              <a:t>seudohostil</a:t>
            </a:r>
            <a:r>
              <a:rPr lang="es-MX" dirty="0"/>
              <a:t>.  </a:t>
            </a:r>
          </a:p>
          <a:p>
            <a:r>
              <a:rPr lang="es-MX" dirty="0"/>
              <a:t>*Emoción expresada: las familias con alto nivel de EE tienen alta recaída de esquizofrenia.</a:t>
            </a:r>
          </a:p>
          <a:p>
            <a:endParaRPr lang="es-AR" dirty="0"/>
          </a:p>
        </p:txBody>
      </p:sp>
      <p:sp>
        <p:nvSpPr>
          <p:cNvPr id="3" name="Título 2"/>
          <p:cNvSpPr>
            <a:spLocks noGrp="1"/>
          </p:cNvSpPr>
          <p:nvPr>
            <p:ph type="title"/>
          </p:nvPr>
        </p:nvSpPr>
        <p:spPr>
          <a:xfrm>
            <a:off x="251520" y="0"/>
            <a:ext cx="7920880" cy="908720"/>
          </a:xfrm>
        </p:spPr>
        <p:txBody>
          <a:bodyPr>
            <a:normAutofit/>
          </a:bodyPr>
          <a:lstStyle/>
          <a:p>
            <a:r>
              <a:rPr lang="es-MX" dirty="0"/>
              <a:t>Etiología:</a:t>
            </a:r>
            <a:endParaRPr lang="es-AR" dirty="0"/>
          </a:p>
        </p:txBody>
      </p:sp>
    </p:spTree>
    <p:extLst>
      <p:ext uri="{BB962C8B-B14F-4D97-AF65-F5344CB8AC3E}">
        <p14:creationId xmlns:p14="http://schemas.microsoft.com/office/powerpoint/2010/main" val="341353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1"/>
          <p:cNvSpPr>
            <a:spLocks noGrp="1"/>
          </p:cNvSpPr>
          <p:nvPr>
            <p:ph idx="1"/>
          </p:nvPr>
        </p:nvSpPr>
        <p:spPr>
          <a:xfrm>
            <a:off x="457200" y="836712"/>
            <a:ext cx="8363272" cy="5760640"/>
          </a:xfrm>
        </p:spPr>
        <p:txBody>
          <a:bodyPr>
            <a:normAutofit fontScale="70000" lnSpcReduction="20000"/>
          </a:bodyPr>
          <a:lstStyle/>
          <a:p>
            <a:r>
              <a:rPr lang="es-MX" dirty="0"/>
              <a:t>-Síntomas y signos </a:t>
            </a:r>
            <a:r>
              <a:rPr lang="es-MX" dirty="0" err="1"/>
              <a:t>premórbidos</a:t>
            </a:r>
            <a:r>
              <a:rPr lang="es-MX" dirty="0"/>
              <a:t>: trastorno esquizoide de la personalidad, trastorno </a:t>
            </a:r>
            <a:r>
              <a:rPr lang="es-MX" dirty="0" err="1"/>
              <a:t>esquizotípico</a:t>
            </a:r>
            <a:r>
              <a:rPr lang="es-MX" dirty="0"/>
              <a:t> de la personalidad, trastorno obsesivo compulsivo, síntomas somáticos, hipocondría, comportamiento marcadamente peculiar, afecto anormal, discurso poco habitual, ideas excéntricas y experiencias perceptivas extrañas.</a:t>
            </a:r>
          </a:p>
          <a:p>
            <a:r>
              <a:rPr lang="es-MX" dirty="0"/>
              <a:t>-Síntomas positivos: Alucinaciones, las más frecuentes son las auditivas (sobre todo </a:t>
            </a:r>
            <a:r>
              <a:rPr lang="es-MX" dirty="0" err="1"/>
              <a:t>pseudoalucinaciones</a:t>
            </a:r>
            <a:r>
              <a:rPr lang="es-MX" dirty="0"/>
              <a:t> auditivas), voces que comentan y voces que conversan, a veces amenazantes. Alucinaciones cenestésicas, olfatorias y visuales.</a:t>
            </a:r>
          </a:p>
          <a:p>
            <a:pPr marL="109728" indent="0">
              <a:buNone/>
            </a:pPr>
            <a:r>
              <a:rPr lang="es-MX" dirty="0"/>
              <a:t>                                   Ideas delirantes: persecutorias, </a:t>
            </a:r>
            <a:r>
              <a:rPr lang="es-MX" dirty="0" err="1"/>
              <a:t>celotípicas</a:t>
            </a:r>
            <a:r>
              <a:rPr lang="es-MX" dirty="0"/>
              <a:t>, culposas, megalómanas, religiosas o místicas, somáticas, ideas delirantes de referencia ideas delirantes de control, ideas delirantes de lectura de la mente, transmisión de pensamiento, inserción del pensamiento, robo del pensamiento. En general son delirios poco sistematizados.</a:t>
            </a:r>
          </a:p>
          <a:p>
            <a:pPr marL="109728" indent="0">
              <a:buNone/>
            </a:pPr>
            <a:r>
              <a:rPr lang="es-MX" dirty="0"/>
              <a:t>                                   Comportamiento extraño: indumentaria y aspecto, comportamiento social, sexual, agresivo, agitado, repetitivo y estereotipado.</a:t>
            </a:r>
          </a:p>
          <a:p>
            <a:pPr marL="109728" indent="0">
              <a:buNone/>
            </a:pPr>
            <a:r>
              <a:rPr lang="es-MX" dirty="0"/>
              <a:t>                                   Trastornos del pensamiento: </a:t>
            </a:r>
            <a:r>
              <a:rPr lang="es-MX" dirty="0" err="1"/>
              <a:t>tangencialidad</a:t>
            </a:r>
            <a:r>
              <a:rPr lang="es-MX" dirty="0"/>
              <a:t>, disgregación, interceptación, incoherencia, jergafasia, asociación por sonido.</a:t>
            </a:r>
          </a:p>
          <a:p>
            <a:endParaRPr lang="es-AR" dirty="0"/>
          </a:p>
        </p:txBody>
      </p:sp>
      <p:sp>
        <p:nvSpPr>
          <p:cNvPr id="3" name="Título 2"/>
          <p:cNvSpPr>
            <a:spLocks noGrp="1"/>
          </p:cNvSpPr>
          <p:nvPr>
            <p:ph type="title"/>
          </p:nvPr>
        </p:nvSpPr>
        <p:spPr>
          <a:xfrm>
            <a:off x="457200" y="274638"/>
            <a:ext cx="8075240" cy="634082"/>
          </a:xfrm>
        </p:spPr>
        <p:txBody>
          <a:bodyPr>
            <a:normAutofit fontScale="90000"/>
          </a:bodyPr>
          <a:lstStyle/>
          <a:p>
            <a:r>
              <a:rPr lang="es-MX" dirty="0"/>
              <a:t>Clínica:</a:t>
            </a:r>
            <a:endParaRPr lang="es-AR" dirty="0"/>
          </a:p>
        </p:txBody>
      </p:sp>
    </p:spTree>
    <p:extLst>
      <p:ext uri="{BB962C8B-B14F-4D97-AF65-F5344CB8AC3E}">
        <p14:creationId xmlns:p14="http://schemas.microsoft.com/office/powerpoint/2010/main" val="10532897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1"/>
          <p:cNvSpPr>
            <a:spLocks noGrp="1"/>
          </p:cNvSpPr>
          <p:nvPr>
            <p:ph idx="1"/>
          </p:nvPr>
        </p:nvSpPr>
        <p:spPr>
          <a:xfrm>
            <a:off x="457200" y="836712"/>
            <a:ext cx="8229600" cy="5832648"/>
          </a:xfrm>
        </p:spPr>
        <p:txBody>
          <a:bodyPr>
            <a:normAutofit fontScale="92500" lnSpcReduction="10000"/>
          </a:bodyPr>
          <a:lstStyle/>
          <a:p>
            <a:r>
              <a:rPr lang="es-MX" dirty="0"/>
              <a:t>-Síntomas negativos: Aplanamiento afectivo: expresión facial inmodificable, </a:t>
            </a:r>
            <a:r>
              <a:rPr lang="es-MX" dirty="0" err="1"/>
              <a:t>disminuición</a:t>
            </a:r>
            <a:r>
              <a:rPr lang="es-MX" dirty="0"/>
              <a:t> de los movimientos espontáneos, escasa gesticulación expresiva, escaso contacto visual, falta de respuesta afectiva.</a:t>
            </a:r>
          </a:p>
          <a:p>
            <a:pPr marL="109728" indent="0">
              <a:buNone/>
            </a:pPr>
            <a:r>
              <a:rPr lang="es-MX" dirty="0"/>
              <a:t>                                    </a:t>
            </a:r>
            <a:r>
              <a:rPr lang="es-MX" dirty="0" err="1"/>
              <a:t>Alogia</a:t>
            </a:r>
            <a:r>
              <a:rPr lang="es-MX" dirty="0"/>
              <a:t>: pobreza del lenguaje y de su contenido, bloqueo y mayor latencia de respuesta.</a:t>
            </a:r>
          </a:p>
          <a:p>
            <a:pPr marL="109728" indent="0">
              <a:buNone/>
            </a:pPr>
            <a:r>
              <a:rPr lang="es-MX" dirty="0"/>
              <a:t>                                   Falta de volición-apatía: falta de persistencia en el trabajo o en la escuela, falta de energía física y falta de higiene personal.</a:t>
            </a:r>
          </a:p>
          <a:p>
            <a:pPr marL="109728" indent="0">
              <a:buNone/>
            </a:pPr>
            <a:r>
              <a:rPr lang="es-MX" dirty="0"/>
              <a:t>                                    </a:t>
            </a:r>
            <a:r>
              <a:rPr lang="es-MX" dirty="0" err="1"/>
              <a:t>Anhedonia</a:t>
            </a:r>
            <a:r>
              <a:rPr lang="es-MX" dirty="0"/>
              <a:t>-insociabilidad: poco interés en actividades recreativas, actividad sexual y relación con amigos o pares. Inatención social.</a:t>
            </a:r>
          </a:p>
          <a:p>
            <a:endParaRPr lang="es-AR" dirty="0"/>
          </a:p>
        </p:txBody>
      </p:sp>
      <p:sp>
        <p:nvSpPr>
          <p:cNvPr id="3" name="Título 2"/>
          <p:cNvSpPr>
            <a:spLocks noGrp="1"/>
          </p:cNvSpPr>
          <p:nvPr>
            <p:ph type="title"/>
          </p:nvPr>
        </p:nvSpPr>
        <p:spPr>
          <a:xfrm>
            <a:off x="457200" y="274638"/>
            <a:ext cx="8229600" cy="706090"/>
          </a:xfrm>
        </p:spPr>
        <p:txBody>
          <a:bodyPr>
            <a:normAutofit fontScale="90000"/>
          </a:bodyPr>
          <a:lstStyle/>
          <a:p>
            <a:r>
              <a:rPr lang="es-MX" dirty="0"/>
              <a:t>Clínica:</a:t>
            </a:r>
            <a:endParaRPr lang="es-AR" dirty="0"/>
          </a:p>
        </p:txBody>
      </p:sp>
    </p:spTree>
    <p:extLst>
      <p:ext uri="{BB962C8B-B14F-4D97-AF65-F5344CB8AC3E}">
        <p14:creationId xmlns:p14="http://schemas.microsoft.com/office/powerpoint/2010/main" val="14315694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1"/>
          <p:cNvSpPr>
            <a:spLocks noGrp="1"/>
          </p:cNvSpPr>
          <p:nvPr>
            <p:ph idx="1"/>
          </p:nvPr>
        </p:nvSpPr>
        <p:spPr>
          <a:xfrm>
            <a:off x="251520" y="908720"/>
            <a:ext cx="8568952" cy="5832648"/>
          </a:xfrm>
        </p:spPr>
        <p:txBody>
          <a:bodyPr/>
          <a:lstStyle/>
          <a:p>
            <a:r>
              <a:rPr lang="es-AR" dirty="0"/>
              <a:t>*Trastornos psicóticos secundarios: enfermedades médicas no psiquiátricas (neurológicas, metabólica, autoinmunes, infecciosas, etc.) y diversas sustancias (anfetaminas, alucinógenos, cocaína, PCP).</a:t>
            </a:r>
          </a:p>
          <a:p>
            <a:r>
              <a:rPr lang="es-AR" dirty="0"/>
              <a:t>*Otros trastornos psicóticos: trastorno psicótico breve, trastorno </a:t>
            </a:r>
            <a:r>
              <a:rPr lang="es-AR" dirty="0" err="1"/>
              <a:t>esquizofreniforme</a:t>
            </a:r>
            <a:r>
              <a:rPr lang="es-AR" dirty="0"/>
              <a:t>, trastorno </a:t>
            </a:r>
            <a:r>
              <a:rPr lang="es-AR" dirty="0" err="1"/>
              <a:t>esquizoafectivo</a:t>
            </a:r>
            <a:r>
              <a:rPr lang="es-AR" dirty="0"/>
              <a:t>, trastorno delirante crónico.</a:t>
            </a:r>
          </a:p>
          <a:p>
            <a:r>
              <a:rPr lang="es-AR" dirty="0"/>
              <a:t>*Trastornos del estado de ánimo.</a:t>
            </a:r>
          </a:p>
          <a:p>
            <a:r>
              <a:rPr lang="es-AR" dirty="0"/>
              <a:t>*Trastornos de la personalidad: esquizoide, </a:t>
            </a:r>
            <a:r>
              <a:rPr lang="es-AR" dirty="0" err="1"/>
              <a:t>esquizotípico</a:t>
            </a:r>
            <a:r>
              <a:rPr lang="es-AR" dirty="0"/>
              <a:t> y obsesivo compulsivo.</a:t>
            </a:r>
          </a:p>
          <a:p>
            <a:endParaRPr lang="es-AR" dirty="0"/>
          </a:p>
        </p:txBody>
      </p:sp>
      <p:sp>
        <p:nvSpPr>
          <p:cNvPr id="3" name="Título 2"/>
          <p:cNvSpPr>
            <a:spLocks noGrp="1"/>
          </p:cNvSpPr>
          <p:nvPr>
            <p:ph type="title"/>
          </p:nvPr>
        </p:nvSpPr>
        <p:spPr>
          <a:xfrm>
            <a:off x="457200" y="274638"/>
            <a:ext cx="7211144" cy="418058"/>
          </a:xfrm>
        </p:spPr>
        <p:txBody>
          <a:bodyPr>
            <a:normAutofit fontScale="90000"/>
          </a:bodyPr>
          <a:lstStyle/>
          <a:p>
            <a:r>
              <a:rPr lang="es-AR" dirty="0"/>
              <a:t>Diagnóstico diferencial:</a:t>
            </a:r>
          </a:p>
        </p:txBody>
      </p:sp>
    </p:spTree>
    <p:extLst>
      <p:ext uri="{BB962C8B-B14F-4D97-AF65-F5344CB8AC3E}">
        <p14:creationId xmlns:p14="http://schemas.microsoft.com/office/powerpoint/2010/main" val="8341625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1"/>
          <p:cNvSpPr>
            <a:spLocks noGrp="1"/>
          </p:cNvSpPr>
          <p:nvPr>
            <p:ph idx="1"/>
          </p:nvPr>
        </p:nvSpPr>
        <p:spPr>
          <a:xfrm>
            <a:off x="457200" y="692696"/>
            <a:ext cx="8229600" cy="5976664"/>
          </a:xfrm>
        </p:spPr>
        <p:txBody>
          <a:bodyPr>
            <a:normAutofit fontScale="47500" lnSpcReduction="20000"/>
          </a:bodyPr>
          <a:lstStyle/>
          <a:p>
            <a:r>
              <a:rPr lang="es-MX" dirty="0"/>
              <a:t>DSM IV</a:t>
            </a:r>
          </a:p>
          <a:p>
            <a:pPr marL="109728" indent="0">
              <a:buNone/>
            </a:pPr>
            <a:r>
              <a:rPr lang="es-MX" sz="2900" dirty="0"/>
              <a:t>A. Síntomas característicos: Dos (o más) de los siguientes, cada uno de ellos presente durante una parte significativa de un período de 1 mes (o menos si ha sido tratado con éxito):</a:t>
            </a:r>
          </a:p>
          <a:p>
            <a:pPr marL="109728" indent="0">
              <a:buNone/>
            </a:pPr>
            <a:r>
              <a:rPr lang="es-MX" sz="2900" dirty="0"/>
              <a:t>        1. ideas delirantes </a:t>
            </a:r>
          </a:p>
          <a:p>
            <a:pPr marL="109728" indent="0">
              <a:buNone/>
            </a:pPr>
            <a:r>
              <a:rPr lang="es-MX" sz="2900" dirty="0"/>
              <a:t>        2. Alucinaciones </a:t>
            </a:r>
          </a:p>
          <a:p>
            <a:pPr marL="109728" indent="0">
              <a:buNone/>
            </a:pPr>
            <a:r>
              <a:rPr lang="es-MX" sz="2900" dirty="0"/>
              <a:t>        3. Lenguaje desorganizado (p. ej., descarrilamiento frecuente incoherencia)</a:t>
            </a:r>
          </a:p>
          <a:p>
            <a:pPr marL="109728" indent="0">
              <a:buNone/>
            </a:pPr>
            <a:r>
              <a:rPr lang="es-MX" sz="2900" dirty="0"/>
              <a:t>        4. Comportamiento catatónico o gravemente desorganizado </a:t>
            </a:r>
          </a:p>
          <a:p>
            <a:pPr marL="109728" indent="0">
              <a:buNone/>
            </a:pPr>
            <a:r>
              <a:rPr lang="es-MX" sz="2900" dirty="0"/>
              <a:t>        5. Síntomas negativos, por ejemplo, aplanamiento afectivo, </a:t>
            </a:r>
            <a:r>
              <a:rPr lang="es-MX" sz="2900" dirty="0" err="1"/>
              <a:t>alogia</a:t>
            </a:r>
            <a:r>
              <a:rPr lang="es-MX" sz="2900" dirty="0"/>
              <a:t> o abulia</a:t>
            </a:r>
          </a:p>
          <a:p>
            <a:pPr marL="109728" indent="0">
              <a:buNone/>
            </a:pPr>
            <a:r>
              <a:rPr lang="es-MX" sz="2900" dirty="0"/>
              <a:t>Nota: Sólo se requiere un síntoma del Criterio A si las ideas delirantes son extrañas, o si las ideas delirantes consisten en una voz que comenta continuamente los pensamientos o el comportamiento del sujeto, o si dos o más voces conversan entre ellas.</a:t>
            </a:r>
          </a:p>
          <a:p>
            <a:pPr marL="109728" indent="0">
              <a:buNone/>
            </a:pPr>
            <a:r>
              <a:rPr lang="es-MX" sz="2900" dirty="0"/>
              <a:t>B. Disfunción social/laboral: el trabajo, las relaciones interpersonales o el cuidado de uno mismo, están claramente por debajo del nivel previo al inicio del trastorno (o, cuando el inicio es en la infancia o adolescencia, fracaso en cuanto a alcanzar el nivel esperable de rendimiento interpersonal, académico o laboral).</a:t>
            </a:r>
          </a:p>
          <a:p>
            <a:pPr marL="109728" indent="0">
              <a:buNone/>
            </a:pPr>
            <a:r>
              <a:rPr lang="es-MX" sz="2900" dirty="0"/>
              <a:t>C. Duración: Persisten signos continuos de la alteración durante al menos 6 meses. Este período de 6 meses debe incluir al menos 1 mes de síntomas que cumplan el Criterio A (o menos si se ha tratado con éxito) y puede incluir los períodos de síntomas prodrómicos y residuales. Durante estos períodos prodrómicos o residuales, los signos de la alteración pueden manifestarse sólo por síntomas negativos o por dos o más síntomas de la lista del Criterio A, presentes de forma atenuada (p. ej., creencias raras, experiencias perceptivas no habituales).</a:t>
            </a:r>
          </a:p>
          <a:p>
            <a:pPr marL="109728" indent="0">
              <a:buNone/>
            </a:pPr>
            <a:r>
              <a:rPr lang="es-MX" sz="2900" dirty="0"/>
              <a:t>D. Exclusión de los trastornos </a:t>
            </a:r>
            <a:r>
              <a:rPr lang="es-MX" sz="2900" dirty="0" err="1"/>
              <a:t>esquizoafectivo</a:t>
            </a:r>
            <a:r>
              <a:rPr lang="es-MX" sz="2900" dirty="0"/>
              <a:t> y del estado de ánimo.</a:t>
            </a:r>
          </a:p>
          <a:p>
            <a:pPr marL="109728" indent="0">
              <a:buNone/>
            </a:pPr>
            <a:r>
              <a:rPr lang="es-MX" sz="2900" dirty="0"/>
              <a:t>E. Exclusión de consumo de sustancias y de enfermedad médica.</a:t>
            </a:r>
          </a:p>
          <a:p>
            <a:pPr marL="109728" indent="0">
              <a:buNone/>
            </a:pPr>
            <a:r>
              <a:rPr lang="es-MX" sz="2900" dirty="0"/>
              <a:t>F. Relación con un trastorno generalizado del desarrollo: Si hay historia de trastorno autista o de otro trastorno generalizado del desarrollo, el diagnóstico adicional de esquizofrenia sólo se realizará si las ideas delirantes o las alucinaciones también se mantienen durante al menos 1 mes (o menos si se han tratado con éxito).</a:t>
            </a:r>
          </a:p>
          <a:p>
            <a:endParaRPr lang="es-AR" sz="2900" dirty="0"/>
          </a:p>
        </p:txBody>
      </p:sp>
      <p:sp>
        <p:nvSpPr>
          <p:cNvPr id="3" name="Título 2"/>
          <p:cNvSpPr>
            <a:spLocks noGrp="1"/>
          </p:cNvSpPr>
          <p:nvPr>
            <p:ph type="title"/>
          </p:nvPr>
        </p:nvSpPr>
        <p:spPr>
          <a:xfrm>
            <a:off x="457200" y="274638"/>
            <a:ext cx="7211144" cy="202034"/>
          </a:xfrm>
        </p:spPr>
        <p:txBody>
          <a:bodyPr>
            <a:normAutofit fontScale="90000"/>
          </a:bodyPr>
          <a:lstStyle/>
          <a:p>
            <a:r>
              <a:rPr lang="es-AR" dirty="0"/>
              <a:t>Diagnóstico:</a:t>
            </a:r>
          </a:p>
        </p:txBody>
      </p:sp>
    </p:spTree>
    <p:extLst>
      <p:ext uri="{BB962C8B-B14F-4D97-AF65-F5344CB8AC3E}">
        <p14:creationId xmlns:p14="http://schemas.microsoft.com/office/powerpoint/2010/main" val="27250749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1"/>
          <p:cNvSpPr>
            <a:spLocks noGrp="1"/>
          </p:cNvSpPr>
          <p:nvPr>
            <p:ph idx="1"/>
          </p:nvPr>
        </p:nvSpPr>
        <p:spPr>
          <a:xfrm>
            <a:off x="457200" y="764704"/>
            <a:ext cx="8507288" cy="6093296"/>
          </a:xfrm>
        </p:spPr>
        <p:txBody>
          <a:bodyPr>
            <a:normAutofit fontScale="77500" lnSpcReduction="20000"/>
          </a:bodyPr>
          <a:lstStyle/>
          <a:p>
            <a:pPr marL="109728" indent="0">
              <a:buNone/>
            </a:pPr>
            <a:r>
              <a:rPr lang="es-MX" dirty="0"/>
              <a:t>SUBTIPOS:</a:t>
            </a:r>
          </a:p>
          <a:p>
            <a:r>
              <a:rPr lang="es-MX" dirty="0"/>
              <a:t>TIPO PARANOIDE: son tensos, desconfiados, cautelosos, a veces hostiles pero pueden comportarse adecuadamente en situaciones sociales. Se caracteriza sobre todo por la presencia de ideas delirantes de perjuicio o grandeza y alucinaciones auditivas. Presentan menor regresión de sus facultades mentales, afectivas y conductuales.</a:t>
            </a:r>
          </a:p>
          <a:p>
            <a:r>
              <a:rPr lang="es-MX" dirty="0"/>
              <a:t>TIPO DESORGANIZADO: notable regresión a comportamientos primitivos, desinhibidos y desorganizados. Su alteración del pensamiento es notable y su contacto con la realidad escaso. Apariencia personal, conducta social y respuestas emocionales inadecuadas.</a:t>
            </a:r>
          </a:p>
          <a:p>
            <a:r>
              <a:rPr lang="es-MX" dirty="0"/>
              <a:t>TIPO CATATONICO: marcada alteración de las funciones motoras (negativismo, rigidez, agitación, estupor, manierismos, flexibilidad cérea, mutismo, etc.).</a:t>
            </a:r>
          </a:p>
          <a:p>
            <a:r>
              <a:rPr lang="es-MX" dirty="0"/>
              <a:t>TIPO INDIFERENCIADO: por sus características no corresponden con los demás subtipos.</a:t>
            </a:r>
          </a:p>
          <a:p>
            <a:r>
              <a:rPr lang="es-MX" dirty="0"/>
              <a:t>TIPO RESIDUAL: afectividad embotada, aislamiento social, comportamiento excéntrico, pensamiento ilógico, ligera pérdida de las asociaciones. Si están presentes alucinaciones o ideas delirantes no son ni muy acusadas ni se acompañan de una fuerte carga afectiva.</a:t>
            </a:r>
          </a:p>
          <a:p>
            <a:endParaRPr lang="es-AR" dirty="0"/>
          </a:p>
        </p:txBody>
      </p:sp>
      <p:sp>
        <p:nvSpPr>
          <p:cNvPr id="3" name="Título 2"/>
          <p:cNvSpPr>
            <a:spLocks noGrp="1"/>
          </p:cNvSpPr>
          <p:nvPr>
            <p:ph type="title"/>
          </p:nvPr>
        </p:nvSpPr>
        <p:spPr>
          <a:xfrm>
            <a:off x="457200" y="274638"/>
            <a:ext cx="8229600" cy="634082"/>
          </a:xfrm>
        </p:spPr>
        <p:txBody>
          <a:bodyPr>
            <a:normAutofit fontScale="90000"/>
          </a:bodyPr>
          <a:lstStyle/>
          <a:p>
            <a:r>
              <a:rPr lang="es-MX" dirty="0"/>
              <a:t>Diagnóstico:</a:t>
            </a:r>
            <a:endParaRPr lang="es-AR" dirty="0"/>
          </a:p>
        </p:txBody>
      </p:sp>
    </p:spTree>
    <p:extLst>
      <p:ext uri="{BB962C8B-B14F-4D97-AF65-F5344CB8AC3E}">
        <p14:creationId xmlns:p14="http://schemas.microsoft.com/office/powerpoint/2010/main" val="7147632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1"/>
          <p:cNvSpPr>
            <a:spLocks noGrp="1"/>
          </p:cNvSpPr>
          <p:nvPr>
            <p:ph idx="1"/>
          </p:nvPr>
        </p:nvSpPr>
        <p:spPr>
          <a:xfrm>
            <a:off x="179512" y="764704"/>
            <a:ext cx="8712968" cy="5832648"/>
          </a:xfrm>
        </p:spPr>
        <p:txBody>
          <a:bodyPr>
            <a:normAutofit fontScale="77500" lnSpcReduction="20000"/>
          </a:bodyPr>
          <a:lstStyle/>
          <a:p>
            <a:pPr marL="109728" indent="0">
              <a:buNone/>
            </a:pPr>
            <a:r>
              <a:rPr lang="es-MX" dirty="0"/>
              <a:t>DSM V:</a:t>
            </a:r>
          </a:p>
          <a:p>
            <a:r>
              <a:rPr lang="es-MX" dirty="0"/>
              <a:t>Dos cambios en el criterio A de esquizofrenia. Primer cambio, en el DSM anterior solo se requería un síntoma si las ideas delirantes son extrañas o existían alucinaciones, en el DSM V se necesitan dos síntomas del criterio A para el diagnóstico de esquizofrenia, en vez de sólo uno, debido a la no especificidad y la baja fiabilidad de la distinción entre delirios extraños y no extraños. Segundo cambio, se añade un requisito en el criterio A, que el individuo debe tener al menos uno de estos tres síntomas: delirios, alucinaciones y habla desorganizada. Al menos uno de estos síntomas positivos es necesario para el diagnóstico fiable de esquizofrenia. Subtipos de esquizofrenia Se eliminan los subtipos del DSM IV debido a su limitada estabilidad diagnóstica, baja fiabilidad y poca validez. Estos subtipos tampoco han demostrado tener una respuesta al tratamiento o un curso longitudinal diferenciado. En vez de los subtipos, se incluye en la Sección III una aproximación dimensional para puntuar la severidad de los síntomas y para captar la importante heterogeneidad de los tipos de síntomas y su gravedad presentes en los individuos con trastornos psicóticos.</a:t>
            </a:r>
          </a:p>
          <a:p>
            <a:endParaRPr lang="es-MX" dirty="0"/>
          </a:p>
          <a:p>
            <a:endParaRPr lang="es-AR" dirty="0"/>
          </a:p>
        </p:txBody>
      </p:sp>
      <p:sp>
        <p:nvSpPr>
          <p:cNvPr id="3" name="Título 2"/>
          <p:cNvSpPr>
            <a:spLocks noGrp="1"/>
          </p:cNvSpPr>
          <p:nvPr>
            <p:ph type="title"/>
          </p:nvPr>
        </p:nvSpPr>
        <p:spPr>
          <a:xfrm>
            <a:off x="457200" y="274638"/>
            <a:ext cx="7931224" cy="490066"/>
          </a:xfrm>
        </p:spPr>
        <p:txBody>
          <a:bodyPr>
            <a:normAutofit fontScale="90000"/>
          </a:bodyPr>
          <a:lstStyle/>
          <a:p>
            <a:r>
              <a:rPr lang="es-MX" dirty="0"/>
              <a:t>Diagnóstico:</a:t>
            </a:r>
            <a:endParaRPr lang="es-AR" dirty="0"/>
          </a:p>
        </p:txBody>
      </p:sp>
    </p:spTree>
    <p:extLst>
      <p:ext uri="{BB962C8B-B14F-4D97-AF65-F5344CB8AC3E}">
        <p14:creationId xmlns:p14="http://schemas.microsoft.com/office/powerpoint/2010/main" val="38680922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1"/>
          <p:cNvSpPr>
            <a:spLocks noGrp="1"/>
          </p:cNvSpPr>
          <p:nvPr>
            <p:ph idx="1"/>
          </p:nvPr>
        </p:nvSpPr>
        <p:spPr>
          <a:xfrm>
            <a:off x="446856" y="908720"/>
            <a:ext cx="8576561" cy="5760640"/>
          </a:xfrm>
        </p:spPr>
        <p:txBody>
          <a:bodyPr>
            <a:normAutofit/>
          </a:bodyPr>
          <a:lstStyle/>
          <a:p>
            <a:endParaRPr lang="es-MX" sz="4800" dirty="0"/>
          </a:p>
          <a:p>
            <a:endParaRPr lang="es-MX" sz="4800" dirty="0"/>
          </a:p>
          <a:p>
            <a:pPr marL="109728" indent="0">
              <a:buNone/>
            </a:pPr>
            <a:r>
              <a:rPr lang="es-MX" sz="6600" dirty="0"/>
              <a:t>¡MUCHAS GRACIAS!</a:t>
            </a:r>
            <a:endParaRPr lang="es-AR" sz="6600" dirty="0"/>
          </a:p>
        </p:txBody>
      </p:sp>
      <p:sp>
        <p:nvSpPr>
          <p:cNvPr id="3" name="Título 2"/>
          <p:cNvSpPr>
            <a:spLocks noGrp="1"/>
          </p:cNvSpPr>
          <p:nvPr>
            <p:ph type="title"/>
          </p:nvPr>
        </p:nvSpPr>
        <p:spPr>
          <a:xfrm>
            <a:off x="457200" y="274638"/>
            <a:ext cx="7931224" cy="58018"/>
          </a:xfrm>
        </p:spPr>
        <p:txBody>
          <a:bodyPr>
            <a:normAutofit fontScale="90000"/>
          </a:bodyPr>
          <a:lstStyle/>
          <a:p>
            <a:endParaRPr lang="es-AR" dirty="0"/>
          </a:p>
        </p:txBody>
      </p:sp>
    </p:spTree>
    <p:extLst>
      <p:ext uri="{BB962C8B-B14F-4D97-AF65-F5344CB8AC3E}">
        <p14:creationId xmlns:p14="http://schemas.microsoft.com/office/powerpoint/2010/main" val="286381069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 /></Relationships>
</file>

<file path=ppt/theme/theme1.xml><?xml version="1.0" encoding="utf-8"?>
<a:theme xmlns:a="http://schemas.openxmlformats.org/drawingml/2006/main" name="Concurrencia">
  <a:themeElements>
    <a:clrScheme name="Concurrencia">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urrencia">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Concurrencia">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Presentación en pantalla (4:3)</PresentationFormat>
  <Slides>19</Slides>
  <Notes>0</Notes>
  <HiddenSlides>0</HiddenSlides>
  <ScaleCrop>false</ScaleCrop>
  <HeadingPairs>
    <vt:vector size="4" baseType="variant">
      <vt:variant>
        <vt:lpstr>Tema</vt:lpstr>
      </vt:variant>
      <vt:variant>
        <vt:i4>1</vt:i4>
      </vt:variant>
      <vt:variant>
        <vt:lpstr>Títulos de diapositiva</vt:lpstr>
      </vt:variant>
      <vt:variant>
        <vt:i4>19</vt:i4>
      </vt:variant>
    </vt:vector>
  </HeadingPairs>
  <TitlesOfParts>
    <vt:vector size="20" baseType="lpstr">
      <vt:lpstr>Concurrencia</vt:lpstr>
      <vt:lpstr>ESQUIZOFRENIA</vt:lpstr>
      <vt:lpstr>Definición</vt:lpstr>
      <vt:lpstr>Historia:</vt:lpstr>
      <vt:lpstr> Epidemiología: </vt:lpstr>
      <vt:lpstr>Epidemiología:</vt:lpstr>
      <vt:lpstr>Etiología:</vt:lpstr>
      <vt:lpstr>Etiología:</vt:lpstr>
      <vt:lpstr>Etiología:</vt:lpstr>
      <vt:lpstr>Etiología:</vt:lpstr>
      <vt:lpstr>Etiología:</vt:lpstr>
      <vt:lpstr>Etiología:</vt:lpstr>
      <vt:lpstr>Etiología:</vt:lpstr>
      <vt:lpstr>Clínica:</vt:lpstr>
      <vt:lpstr>Clínica:</vt:lpstr>
      <vt:lpstr>Diagnóstico diferencial:</vt:lpstr>
      <vt:lpstr>Diagnóstico:</vt:lpstr>
      <vt:lpstr>Diagnóstico:</vt:lpstr>
      <vt:lpstr>Diagnóstico:</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ESQUIZOFRENIA</dc:title>
  <cp:lastModifiedBy>Andreas Abagianos</cp:lastModifiedBy>
  <cp:revision>1</cp:revision>
  <dcterms:modified xsi:type="dcterms:W3CDTF">2026-10-03T15:29:59Z</dcterms:modified>
</cp:coreProperties>
</file>