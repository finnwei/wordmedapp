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85" r:id="rId9"/>
    <p:sldId id="263" r:id="rId10"/>
    <p:sldId id="264" r:id="rId11"/>
    <p:sldId id="265" r:id="rId12"/>
    <p:sldId id="266" r:id="rId13"/>
    <p:sldId id="267" r:id="rId14"/>
    <p:sldId id="268" r:id="rId15"/>
    <p:sldId id="269" r:id="rId16"/>
    <p:sldId id="270" r:id="rId17"/>
    <p:sldId id="271" r:id="rId18"/>
    <p:sldId id="281" r:id="rId19"/>
    <p:sldId id="272" r:id="rId20"/>
    <p:sldId id="282" r:id="rId21"/>
    <p:sldId id="280" r:id="rId22"/>
    <p:sldId id="273" r:id="rId23"/>
    <p:sldId id="283" r:id="rId24"/>
    <p:sldId id="274" r:id="rId25"/>
    <p:sldId id="284" r:id="rId26"/>
    <p:sldId id="275" r:id="rId27"/>
    <p:sldId id="286" r:id="rId28"/>
    <p:sldId id="287" r:id="rId29"/>
    <p:sldId id="276" r:id="rId30"/>
    <p:sldId id="279" r:id="rId31"/>
    <p:sldId id="27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1472"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printerSettings" Target="printerSettings/printerSettings1.bin"/><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365248"/>
            <a:ext cx="7772400" cy="978408"/>
          </a:xfrm>
        </p:spPr>
        <p:txBody>
          <a:bodyPr vert="horz" lIns="91440" tIns="45720" rIns="91440" bIns="45720" rtlCol="0" anchor="b" anchorCtr="0">
            <a:noAutofit/>
          </a:bodyPr>
          <a:lstStyle>
            <a:lvl1pPr algn="ctr" defTabSz="914400" rtl="0" eaLnBrk="1" latinLnBrk="0" hangingPunct="1">
              <a:spcBef>
                <a:spcPct val="0"/>
              </a:spcBef>
              <a:buNone/>
              <a:defRPr sz="540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dirty="0"/>
          </a:p>
        </p:txBody>
      </p:sp>
      <p:sp>
        <p:nvSpPr>
          <p:cNvPr id="3" name="Subtitle 2"/>
          <p:cNvSpPr>
            <a:spLocks noGrp="1"/>
          </p:cNvSpPr>
          <p:nvPr>
            <p:ph type="subTitle" idx="1"/>
          </p:nvPr>
        </p:nvSpPr>
        <p:spPr>
          <a:xfrm>
            <a:off x="685800" y="3352800"/>
            <a:ext cx="7772400" cy="877824"/>
          </a:xfrm>
        </p:spPr>
        <p:txBody>
          <a:bodyPr vert="horz" lIns="91440" tIns="45720" rIns="91440" bIns="45720" rtlCol="0">
            <a:normAutofit/>
          </a:bodyPr>
          <a:lstStyle>
            <a:lvl1pPr marL="0" indent="0" algn="ctr" defTabSz="914400" rtl="0" eaLnBrk="1" latinLnBrk="0" hangingPunct="1">
              <a:spcBef>
                <a:spcPts val="300"/>
              </a:spcBef>
              <a:buFontTx/>
              <a:buNone/>
              <a:defRPr sz="2000" kern="1200">
                <a:solidFill>
                  <a:schemeClr val="tx1">
                    <a:tint val="75000"/>
                  </a:schemeClr>
                </a:solidFill>
                <a:effectLst>
                  <a:outerShdw blurRad="50800" dist="50800" dir="5400000" sx="101000" sy="101000" algn="t" rotWithShape="0">
                    <a:prstClr val="black">
                      <a:alpha val="40000"/>
                    </a:prstClr>
                  </a:outerShdw>
                </a:effectLst>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smtClean="0"/>
              <a:t>Haga clic para modificar el estilo de subtítulo del patrón</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26/08/14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smtClean="0"/>
              <a:t>Clic para editar título</a:t>
            </a:r>
            <a:endParaRPr/>
          </a:p>
        </p:txBody>
      </p:sp>
      <p:sp>
        <p:nvSpPr>
          <p:cNvPr id="3" name="Content Placeholder 2"/>
          <p:cNvSpPr>
            <a:spLocks noGrp="1"/>
          </p:cNvSpPr>
          <p:nvPr>
            <p:ph idx="1"/>
          </p:nvPr>
        </p:nvSpPr>
        <p:spPr>
          <a:xfrm>
            <a:off x="685800" y="1869141"/>
            <a:ext cx="7770813" cy="4257022"/>
          </a:xfrm>
        </p:spPr>
        <p:txBody>
          <a:bodyPr/>
          <a:lstStyle>
            <a:lvl5pPr>
              <a:defRPr/>
            </a:lvl5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26/08/14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a de título con imagen">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267200"/>
            <a:ext cx="7772400" cy="977153"/>
          </a:xfrm>
        </p:spPr>
        <p:txBody>
          <a:bodyPr anchor="b" anchorCtr="0">
            <a:noAutofit/>
          </a:bodyPr>
          <a:lstStyle>
            <a:lvl1pPr>
              <a:defRPr sz="5400"/>
            </a:lvl1pPr>
          </a:lstStyle>
          <a:p>
            <a:r>
              <a:rPr lang="es-ES_tradnl" smtClean="0"/>
              <a:t>Clic para editar título</a:t>
            </a:r>
            <a:endParaRPr/>
          </a:p>
        </p:txBody>
      </p:sp>
      <p:sp>
        <p:nvSpPr>
          <p:cNvPr id="3" name="Subtitle 2"/>
          <p:cNvSpPr>
            <a:spLocks noGrp="1"/>
          </p:cNvSpPr>
          <p:nvPr>
            <p:ph type="subTitle" idx="1"/>
          </p:nvPr>
        </p:nvSpPr>
        <p:spPr>
          <a:xfrm>
            <a:off x="685799" y="5257800"/>
            <a:ext cx="7770813" cy="874058"/>
          </a:xfrm>
        </p:spPr>
        <p:txBody>
          <a:bodyPr>
            <a:normAutofit/>
          </a:bodyPr>
          <a:lstStyle>
            <a:lvl1pPr marL="0" indent="0" algn="ctr">
              <a:spcBef>
                <a:spcPts val="300"/>
              </a:spcBef>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smtClean="0"/>
              <a:t>Haga clic para modificar el estilo de subtítulo del patrón</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26/08/14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
        <p:nvSpPr>
          <p:cNvPr id="8" name="Picture Placeholder 7"/>
          <p:cNvSpPr>
            <a:spLocks noGrp="1"/>
          </p:cNvSpPr>
          <p:nvPr>
            <p:ph type="pic" sz="quarter" idx="13"/>
          </p:nvPr>
        </p:nvSpPr>
        <p:spPr>
          <a:xfrm rot="21540000">
            <a:off x="2056196" y="424650"/>
            <a:ext cx="5031609" cy="337580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a:lstStyle>
            <a:lvl1pPr>
              <a:buFont typeface="Arial" pitchFamily="34" charset="0"/>
              <a:buNone/>
              <a:defRPr/>
            </a:lvl1pPr>
          </a:lstStyle>
          <a:p>
            <a:r>
              <a:rPr lang="es-ES_tradnl" smtClean="0"/>
              <a:t>Arrastre la imagen al marcador de posición o haga clic en el icono para agregar</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990600"/>
            <a:ext cx="7770813" cy="1743075"/>
          </a:xfrm>
        </p:spPr>
        <p:txBody>
          <a:bodyPr vert="horz" lIns="91440" tIns="45720" rIns="91440" bIns="45720" rtlCol="0" anchor="b" anchorCtr="0">
            <a:noAutofit/>
          </a:bodyPr>
          <a:lstStyle>
            <a:lvl1pPr algn="ctr" defTabSz="914400" rtl="0" eaLnBrk="1" latinLnBrk="0" hangingPunct="1">
              <a:spcBef>
                <a:spcPct val="0"/>
              </a:spcBef>
              <a:buNone/>
              <a:defRPr sz="540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a:p>
        </p:txBody>
      </p:sp>
      <p:sp>
        <p:nvSpPr>
          <p:cNvPr id="3" name="Text Placeholder 2"/>
          <p:cNvSpPr>
            <a:spLocks noGrp="1"/>
          </p:cNvSpPr>
          <p:nvPr>
            <p:ph type="body" idx="1"/>
          </p:nvPr>
        </p:nvSpPr>
        <p:spPr>
          <a:xfrm>
            <a:off x="685800" y="2756647"/>
            <a:ext cx="7770813" cy="1281953"/>
          </a:xfrm>
        </p:spPr>
        <p:txBody>
          <a:bodyPr vert="horz" lIns="91440" tIns="45720" rIns="91440" bIns="45720" rtlCol="0">
            <a:normAutofit/>
          </a:bodyPr>
          <a:lstStyle>
            <a:lvl1pPr marL="0" indent="0" algn="ctr" defTabSz="914400" rtl="0" eaLnBrk="1" latinLnBrk="0" hangingPunct="1">
              <a:spcBef>
                <a:spcPts val="300"/>
              </a:spcBef>
              <a:buFontTx/>
              <a:buNone/>
              <a:defRPr sz="2000" kern="1200">
                <a:solidFill>
                  <a:schemeClr val="tx1">
                    <a:tint val="75000"/>
                  </a:schemeClr>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smtClean="0"/>
              <a:t>Haga clic para modificar el estilo de texto del patrón</a:t>
            </a:r>
          </a:p>
        </p:txBody>
      </p:sp>
      <p:sp>
        <p:nvSpPr>
          <p:cNvPr id="4" name="Date Placeholder 3"/>
          <p:cNvSpPr>
            <a:spLocks noGrp="1"/>
          </p:cNvSpPr>
          <p:nvPr>
            <p:ph type="dt" sz="half" idx="10"/>
          </p:nvPr>
        </p:nvSpPr>
        <p:spPr/>
        <p:txBody>
          <a:bodyPr/>
          <a:lstStyle/>
          <a:p>
            <a:fld id="{651A0C47-018D-4460-B945-BFF7981B6CA6}" type="datetimeFigureOut">
              <a:rPr lang="en-US" smtClean="0"/>
              <a:t>26/08/14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85800" y="121023"/>
            <a:ext cx="7770813" cy="1429871"/>
          </a:xfrm>
        </p:spPr>
        <p:txBody>
          <a:bodyPr/>
          <a:lstStyle/>
          <a:p>
            <a:r>
              <a:rPr lang="es-ES_tradnl" smtClean="0"/>
              <a:t>Clic para editar título</a:t>
            </a:r>
            <a:endParaRPr/>
          </a:p>
        </p:txBody>
      </p:sp>
      <p:sp>
        <p:nvSpPr>
          <p:cNvPr id="3" name="Content Placeholder 2"/>
          <p:cNvSpPr>
            <a:spLocks noGrp="1"/>
          </p:cNvSpPr>
          <p:nvPr>
            <p:ph sz="half" idx="1"/>
          </p:nvPr>
        </p:nvSpPr>
        <p:spPr>
          <a:xfrm>
            <a:off x="685800" y="1760538"/>
            <a:ext cx="3611880" cy="4365625"/>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marL="2398713" indent="-336550">
              <a:defRPr sz="1800"/>
            </a:lvl8pPr>
            <a:lvl9pPr marL="2398713" indent="-336550">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Content Placeholder 3"/>
          <p:cNvSpPr>
            <a:spLocks noGrp="1"/>
          </p:cNvSpPr>
          <p:nvPr>
            <p:ph sz="half" idx="2"/>
          </p:nvPr>
        </p:nvSpPr>
        <p:spPr>
          <a:xfrm>
            <a:off x="4844733" y="1760538"/>
            <a:ext cx="3611880" cy="4365625"/>
          </a:xfrm>
        </p:spPr>
        <p:txBody>
          <a:bodyPr>
            <a:normAutofit/>
          </a:bodyPr>
          <a:lstStyle>
            <a:lvl1pPr>
              <a:defRPr sz="2200"/>
            </a:lvl1pPr>
            <a:lvl2pPr>
              <a:defRPr sz="2000"/>
            </a:lvl2pPr>
            <a:lvl3pPr>
              <a:defRPr sz="2000"/>
            </a:lvl3pPr>
            <a:lvl4pPr>
              <a:defRPr sz="2000"/>
            </a:lvl4pPr>
            <a:lvl5pPr>
              <a:defRPr sz="2000"/>
            </a:lvl5pPr>
            <a:lvl6pPr>
              <a:defRPr sz="1800"/>
            </a:lvl6pPr>
            <a:lvl7pPr>
              <a:defRPr sz="1800"/>
            </a:lvl7pPr>
            <a:lvl8pPr marL="2398713" indent="-336550">
              <a:defRPr sz="1800"/>
            </a:lvl8pPr>
            <a:lvl9pPr marL="2398713" indent="-336550">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5" name="Date Placeholder 4"/>
          <p:cNvSpPr>
            <a:spLocks noGrp="1"/>
          </p:cNvSpPr>
          <p:nvPr>
            <p:ph type="dt" sz="half" idx="10"/>
          </p:nvPr>
        </p:nvSpPr>
        <p:spPr/>
        <p:txBody>
          <a:bodyPr/>
          <a:lstStyle/>
          <a:p>
            <a:fld id="{651A0C47-018D-4460-B945-BFF7981B6CA6}" type="datetimeFigureOut">
              <a:rPr lang="en-US" smtClean="0"/>
              <a:t>26/08/14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121023"/>
            <a:ext cx="7770813" cy="1429871"/>
          </a:xfrm>
        </p:spPr>
        <p:txBody>
          <a:bodyPr/>
          <a:lstStyle>
            <a:lvl1pPr>
              <a:defRPr/>
            </a:lvl1pPr>
          </a:lstStyle>
          <a:p>
            <a:r>
              <a:rPr lang="es-ES_tradnl" smtClean="0"/>
              <a:t>Clic para editar título</a:t>
            </a:r>
            <a:endParaRPr/>
          </a:p>
        </p:txBody>
      </p:sp>
      <p:sp>
        <p:nvSpPr>
          <p:cNvPr id="3" name="Text Placeholder 2"/>
          <p:cNvSpPr>
            <a:spLocks noGrp="1"/>
          </p:cNvSpPr>
          <p:nvPr>
            <p:ph type="body" idx="1"/>
          </p:nvPr>
        </p:nvSpPr>
        <p:spPr>
          <a:xfrm>
            <a:off x="685800" y="1550895"/>
            <a:ext cx="3611880" cy="614082"/>
          </a:xfrm>
        </p:spPr>
        <p:txBody>
          <a:bodyPr anchor="b" anchorCtr="0">
            <a:noAutofit/>
          </a:bodyPr>
          <a:lstStyle>
            <a:lvl1pPr marL="0" indent="0" algn="ctr">
              <a:spcBef>
                <a:spcPts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4" name="Content Placeholder 3"/>
          <p:cNvSpPr>
            <a:spLocks noGrp="1"/>
          </p:cNvSpPr>
          <p:nvPr>
            <p:ph sz="half" idx="2"/>
          </p:nvPr>
        </p:nvSpPr>
        <p:spPr>
          <a:xfrm>
            <a:off x="685800" y="2438400"/>
            <a:ext cx="3611880" cy="36877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marL="2398713" indent="-336550">
              <a:defRPr sz="1600"/>
            </a:lvl8pPr>
            <a:lvl9pPr marL="2398713" indent="-336550">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5" name="Text Placeholder 4"/>
          <p:cNvSpPr>
            <a:spLocks noGrp="1"/>
          </p:cNvSpPr>
          <p:nvPr>
            <p:ph type="body" sz="quarter" idx="3"/>
          </p:nvPr>
        </p:nvSpPr>
        <p:spPr>
          <a:xfrm>
            <a:off x="4845526" y="1550895"/>
            <a:ext cx="3611880" cy="614082"/>
          </a:xfrm>
        </p:spPr>
        <p:txBody>
          <a:bodyPr anchor="b" anchorCtr="0">
            <a:noAutofit/>
          </a:bodyPr>
          <a:lstStyle>
            <a:lvl1pPr marL="0" indent="0" algn="ctr">
              <a:spcBef>
                <a:spcPts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6" name="Content Placeholder 5"/>
          <p:cNvSpPr>
            <a:spLocks noGrp="1"/>
          </p:cNvSpPr>
          <p:nvPr>
            <p:ph sz="quarter" idx="4"/>
          </p:nvPr>
        </p:nvSpPr>
        <p:spPr>
          <a:xfrm>
            <a:off x="4845526" y="2438400"/>
            <a:ext cx="3611880" cy="36877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marL="2398713" indent="-336550">
              <a:defRPr sz="1600"/>
            </a:lvl8pPr>
            <a:lvl9pPr marL="2398713" indent="-336550">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7" name="Date Placeholder 6"/>
          <p:cNvSpPr>
            <a:spLocks noGrp="1"/>
          </p:cNvSpPr>
          <p:nvPr>
            <p:ph type="dt" sz="half" idx="10"/>
          </p:nvPr>
        </p:nvSpPr>
        <p:spPr/>
        <p:txBody>
          <a:bodyPr/>
          <a:lstStyle/>
          <a:p>
            <a:fld id="{651A0C47-018D-4460-B945-BFF7981B6CA6}" type="datetimeFigureOut">
              <a:rPr lang="en-US" smtClean="0"/>
              <a:t>26/08/14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1F5A0A-F6FC-4FFD-9B49-0DA8697211D9}" type="slidenum">
              <a:rPr lang="en-US" smtClean="0"/>
              <a:t>‹Nr.›</a:t>
            </a:fld>
            <a:endParaRPr lang="en-US"/>
          </a:p>
        </p:txBody>
      </p:sp>
      <p:cxnSp>
        <p:nvCxnSpPr>
          <p:cNvPr id="11" name="Straight Connector 10"/>
          <p:cNvCxnSpPr/>
          <p:nvPr/>
        </p:nvCxnSpPr>
        <p:spPr>
          <a:xfrm>
            <a:off x="786205" y="2191871"/>
            <a:ext cx="3429000" cy="1588"/>
          </a:xfrm>
          <a:prstGeom prst="line">
            <a:avLst/>
          </a:prstGeom>
          <a:ln>
            <a:solidFill>
              <a:srgbClr val="FFFFFF">
                <a:alpha val="4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936966" y="2191871"/>
            <a:ext cx="3429000" cy="1588"/>
          </a:xfrm>
          <a:prstGeom prst="line">
            <a:avLst/>
          </a:prstGeom>
          <a:ln>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smtClean="0"/>
              <a:t>Clic para editar título</a:t>
            </a:r>
            <a:endParaRPr/>
          </a:p>
        </p:txBody>
      </p:sp>
      <p:sp>
        <p:nvSpPr>
          <p:cNvPr id="3" name="Date Placeholder 2"/>
          <p:cNvSpPr>
            <a:spLocks noGrp="1"/>
          </p:cNvSpPr>
          <p:nvPr>
            <p:ph type="dt" sz="half" idx="10"/>
          </p:nvPr>
        </p:nvSpPr>
        <p:spPr/>
        <p:txBody>
          <a:bodyPr/>
          <a:lstStyle/>
          <a:p>
            <a:fld id="{651A0C47-018D-4460-B945-BFF7981B6CA6}" type="datetimeFigureOut">
              <a:rPr lang="en-US" smtClean="0"/>
              <a:t>26/08/14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1A0C47-018D-4460-B945-BFF7981B6CA6}" type="datetimeFigureOut">
              <a:rPr lang="en-US" smtClean="0"/>
              <a:t>26/08/14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58905" y="971550"/>
            <a:ext cx="3657600" cy="1162050"/>
          </a:xfrm>
        </p:spPr>
        <p:txBody>
          <a:bodyPr anchor="b">
            <a:noAutofit/>
          </a:bodyPr>
          <a:lstStyle>
            <a:lvl1pPr algn="l">
              <a:defRPr sz="3600" b="0"/>
            </a:lvl1pPr>
          </a:lstStyle>
          <a:p>
            <a:r>
              <a:rPr lang="es-ES_tradnl" smtClean="0"/>
              <a:t>Clic para editar título</a:t>
            </a:r>
            <a:endParaRPr/>
          </a:p>
        </p:txBody>
      </p:sp>
      <p:sp>
        <p:nvSpPr>
          <p:cNvPr id="3" name="Content Placeholder 2"/>
          <p:cNvSpPr>
            <a:spLocks noGrp="1"/>
          </p:cNvSpPr>
          <p:nvPr>
            <p:ph idx="1"/>
          </p:nvPr>
        </p:nvSpPr>
        <p:spPr>
          <a:xfrm>
            <a:off x="4800600" y="457200"/>
            <a:ext cx="3657600" cy="56689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marL="2398713" indent="-336550">
              <a:defRPr sz="1800"/>
            </a:lvl8pPr>
            <a:lvl9pPr marL="2398713" indent="-336550">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Text Placeholder 3"/>
          <p:cNvSpPr>
            <a:spLocks noGrp="1"/>
          </p:cNvSpPr>
          <p:nvPr>
            <p:ph type="body" sz="half" idx="2"/>
          </p:nvPr>
        </p:nvSpPr>
        <p:spPr>
          <a:xfrm>
            <a:off x="658905" y="2133601"/>
            <a:ext cx="3657600" cy="3581400"/>
          </a:xfrm>
        </p:spPr>
        <p:txBody>
          <a:bodyPr>
            <a:normAutofit/>
          </a:bodyPr>
          <a:lstStyle>
            <a:lvl1pPr marL="0" indent="0">
              <a:spcBef>
                <a:spcPts val="10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smtClean="0"/>
              <a:t>Haga clic para modificar el estilo de texto del patrón</a:t>
            </a:r>
          </a:p>
        </p:txBody>
      </p:sp>
      <p:sp>
        <p:nvSpPr>
          <p:cNvPr id="5" name="Date Placeholder 4"/>
          <p:cNvSpPr>
            <a:spLocks noGrp="1"/>
          </p:cNvSpPr>
          <p:nvPr>
            <p:ph type="dt" sz="half" idx="10"/>
          </p:nvPr>
        </p:nvSpPr>
        <p:spPr/>
        <p:txBody>
          <a:bodyPr/>
          <a:lstStyle/>
          <a:p>
            <a:fld id="{651A0C47-018D-4460-B945-BFF7981B6CA6}" type="datetimeFigureOut">
              <a:rPr lang="en-US" smtClean="0"/>
              <a:t>26/08/14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805082" y="969264"/>
            <a:ext cx="3657600" cy="1161288"/>
          </a:xfrm>
        </p:spPr>
        <p:txBody>
          <a:bodyPr anchor="b">
            <a:noAutofit/>
          </a:bodyPr>
          <a:lstStyle>
            <a:lvl1pPr algn="l">
              <a:defRPr sz="3600" b="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a:p>
        </p:txBody>
      </p:sp>
      <p:sp>
        <p:nvSpPr>
          <p:cNvPr id="3" name="Picture Placeholder 2"/>
          <p:cNvSpPr>
            <a:spLocks noGrp="1"/>
          </p:cNvSpPr>
          <p:nvPr>
            <p:ph type="pic" idx="1"/>
          </p:nvPr>
        </p:nvSpPr>
        <p:spPr>
          <a:xfrm>
            <a:off x="663388" y="510988"/>
            <a:ext cx="3657600" cy="5553636"/>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4" name="Text Placeholder 3"/>
          <p:cNvSpPr>
            <a:spLocks noGrp="1"/>
          </p:cNvSpPr>
          <p:nvPr>
            <p:ph type="body" sz="half" idx="2"/>
          </p:nvPr>
        </p:nvSpPr>
        <p:spPr>
          <a:xfrm>
            <a:off x="4799853" y="2130552"/>
            <a:ext cx="3657600" cy="3584448"/>
          </a:xfrm>
        </p:spPr>
        <p:txBody>
          <a:bodyPr vert="horz" lIns="91440" tIns="45720" rIns="91440" bIns="45720" rtlCol="0">
            <a:normAutofit/>
          </a:bodyPr>
          <a:lstStyle>
            <a:lvl1pPr marL="0" indent="0">
              <a:spcBef>
                <a:spcPts val="1000"/>
              </a:spcBef>
              <a:buNone/>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FontTx/>
              <a:buNone/>
            </a:pPr>
            <a:r>
              <a:rPr lang="es-ES_tradnl" smtClean="0"/>
              <a:t>Haga clic para modificar el estilo de texto del patrón</a:t>
            </a:r>
          </a:p>
        </p:txBody>
      </p:sp>
      <p:sp>
        <p:nvSpPr>
          <p:cNvPr id="5" name="Date Placeholder 4"/>
          <p:cNvSpPr>
            <a:spLocks noGrp="1"/>
          </p:cNvSpPr>
          <p:nvPr>
            <p:ph type="dt" sz="half" idx="10"/>
          </p:nvPr>
        </p:nvSpPr>
        <p:spPr/>
        <p:txBody>
          <a:bodyPr/>
          <a:lstStyle/>
          <a:p>
            <a:fld id="{651A0C47-018D-4460-B945-BFF7981B6CA6}" type="datetimeFigureOut">
              <a:rPr lang="en-US" smtClean="0"/>
              <a:t>26/08/14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encima del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4151376"/>
            <a:ext cx="7776882" cy="1014984"/>
          </a:xfrm>
        </p:spPr>
        <p:txBody>
          <a:bodyPr anchor="b">
            <a:noAutofit/>
          </a:bodyPr>
          <a:lstStyle>
            <a:lvl1pPr algn="ctr">
              <a:defRPr sz="3600" b="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a:p>
        </p:txBody>
      </p:sp>
      <p:sp>
        <p:nvSpPr>
          <p:cNvPr id="3" name="Picture Placeholder 2"/>
          <p:cNvSpPr>
            <a:spLocks noGrp="1"/>
          </p:cNvSpPr>
          <p:nvPr>
            <p:ph type="pic" idx="1"/>
          </p:nvPr>
        </p:nvSpPr>
        <p:spPr>
          <a:xfrm>
            <a:off x="1828800" y="457199"/>
            <a:ext cx="5486400" cy="3644153"/>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4" name="Text Placeholder 3"/>
          <p:cNvSpPr>
            <a:spLocks noGrp="1"/>
          </p:cNvSpPr>
          <p:nvPr>
            <p:ph type="body" sz="half" idx="2"/>
          </p:nvPr>
        </p:nvSpPr>
        <p:spPr>
          <a:xfrm>
            <a:off x="680571" y="5181599"/>
            <a:ext cx="7776882" cy="950259"/>
          </a:xfrm>
        </p:spPr>
        <p:txBody>
          <a:bodyPr vert="horz" lIns="91440" tIns="45720" rIns="91440" bIns="45720" rtlCol="0">
            <a:normAutofit/>
          </a:bodyPr>
          <a:lstStyle>
            <a:lvl1pPr marL="0" indent="0" algn="ctr">
              <a:spcBef>
                <a:spcPts val="300"/>
              </a:spcBef>
              <a:buNone/>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FontTx/>
              <a:buNone/>
            </a:pPr>
            <a:r>
              <a:rPr lang="es-ES_tradnl" smtClean="0"/>
              <a:t>Haga clic para modificar el estilo de texto del patrón</a:t>
            </a:r>
          </a:p>
        </p:txBody>
      </p:sp>
      <p:sp>
        <p:nvSpPr>
          <p:cNvPr id="5" name="Date Placeholder 4"/>
          <p:cNvSpPr>
            <a:spLocks noGrp="1"/>
          </p:cNvSpPr>
          <p:nvPr>
            <p:ph type="dt" sz="half" idx="10"/>
          </p:nvPr>
        </p:nvSpPr>
        <p:spPr/>
        <p:txBody>
          <a:bodyPr/>
          <a:lstStyle/>
          <a:p>
            <a:fld id="{651A0C47-018D-4460-B945-BFF7981B6CA6}" type="datetimeFigureOut">
              <a:rPr lang="en-US" smtClean="0"/>
              <a:t>26/08/14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Guión gráfico">
    <p:spTree>
      <p:nvGrpSpPr>
        <p:cNvPr id="1" name=""/>
        <p:cNvGrpSpPr/>
        <p:nvPr/>
      </p:nvGrpSpPr>
      <p:grpSpPr>
        <a:xfrm>
          <a:off x="0" y="0"/>
          <a:ext cx="0" cy="0"/>
          <a:chOff x="0" y="0"/>
          <a:chExt cx="0" cy="0"/>
        </a:xfrm>
      </p:grpSpPr>
      <p:sp>
        <p:nvSpPr>
          <p:cNvPr id="2" name="Title 1"/>
          <p:cNvSpPr>
            <a:spLocks noGrp="1"/>
          </p:cNvSpPr>
          <p:nvPr>
            <p:ph type="title"/>
          </p:nvPr>
        </p:nvSpPr>
        <p:spPr>
          <a:xfrm>
            <a:off x="685800" y="4155141"/>
            <a:ext cx="7776882" cy="1013011"/>
          </a:xfrm>
        </p:spPr>
        <p:txBody>
          <a:bodyPr anchor="b">
            <a:noAutofit/>
          </a:bodyPr>
          <a:lstStyle>
            <a:lvl1pPr algn="ctr">
              <a:defRPr sz="3600" b="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a:p>
        </p:txBody>
      </p:sp>
      <p:sp>
        <p:nvSpPr>
          <p:cNvPr id="3" name="Picture Placeholder 2"/>
          <p:cNvSpPr>
            <a:spLocks noGrp="1"/>
          </p:cNvSpPr>
          <p:nvPr>
            <p:ph type="pic" idx="1"/>
          </p:nvPr>
        </p:nvSpPr>
        <p:spPr>
          <a:xfrm>
            <a:off x="685800" y="457200"/>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4" name="Text Placeholder 3"/>
          <p:cNvSpPr>
            <a:spLocks noGrp="1"/>
          </p:cNvSpPr>
          <p:nvPr>
            <p:ph type="body" sz="half" idx="2"/>
          </p:nvPr>
        </p:nvSpPr>
        <p:spPr>
          <a:xfrm>
            <a:off x="680571" y="5181599"/>
            <a:ext cx="7776882" cy="950259"/>
          </a:xfrm>
        </p:spPr>
        <p:txBody>
          <a:bodyPr vert="horz" lIns="91440" tIns="45720" rIns="91440" bIns="45720" rtlCol="0">
            <a:normAutofit/>
          </a:bodyPr>
          <a:lstStyle>
            <a:lvl1pPr marL="0" indent="0" algn="ctr">
              <a:spcBef>
                <a:spcPts val="300"/>
              </a:spcBef>
              <a:buNone/>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FontTx/>
              <a:buNone/>
            </a:pPr>
            <a:r>
              <a:rPr lang="es-ES_tradnl" smtClean="0"/>
              <a:t>Haga clic para modificar el estilo de texto del patrón</a:t>
            </a:r>
          </a:p>
        </p:txBody>
      </p:sp>
      <p:sp>
        <p:nvSpPr>
          <p:cNvPr id="5" name="Date Placeholder 4"/>
          <p:cNvSpPr>
            <a:spLocks noGrp="1"/>
          </p:cNvSpPr>
          <p:nvPr>
            <p:ph type="dt" sz="half" idx="10"/>
          </p:nvPr>
        </p:nvSpPr>
        <p:spPr/>
        <p:txBody>
          <a:bodyPr/>
          <a:lstStyle/>
          <a:p>
            <a:fld id="{651A0C47-018D-4460-B945-BFF7981B6CA6}" type="datetimeFigureOut">
              <a:rPr lang="en-US" smtClean="0"/>
              <a:t>26/08/14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
        <p:nvSpPr>
          <p:cNvPr id="11" name="Picture Placeholder 2"/>
          <p:cNvSpPr>
            <a:spLocks noGrp="1"/>
          </p:cNvSpPr>
          <p:nvPr>
            <p:ph type="pic" idx="13"/>
          </p:nvPr>
        </p:nvSpPr>
        <p:spPr>
          <a:xfrm>
            <a:off x="685800" y="2455433"/>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16" name="Picture Placeholder 2"/>
          <p:cNvSpPr>
            <a:spLocks noGrp="1"/>
          </p:cNvSpPr>
          <p:nvPr>
            <p:ph type="pic" idx="14"/>
          </p:nvPr>
        </p:nvSpPr>
        <p:spPr>
          <a:xfrm>
            <a:off x="3412490" y="457200"/>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17" name="Picture Placeholder 2"/>
          <p:cNvSpPr>
            <a:spLocks noGrp="1"/>
          </p:cNvSpPr>
          <p:nvPr>
            <p:ph type="pic" idx="15"/>
          </p:nvPr>
        </p:nvSpPr>
        <p:spPr>
          <a:xfrm>
            <a:off x="3412490" y="2455433"/>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18" name="Picture Placeholder 2"/>
          <p:cNvSpPr>
            <a:spLocks noGrp="1"/>
          </p:cNvSpPr>
          <p:nvPr>
            <p:ph type="pic" idx="16"/>
          </p:nvPr>
        </p:nvSpPr>
        <p:spPr>
          <a:xfrm>
            <a:off x="6139180" y="457200"/>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19" name="Picture Placeholder 2"/>
          <p:cNvSpPr>
            <a:spLocks noGrp="1"/>
          </p:cNvSpPr>
          <p:nvPr>
            <p:ph type="pic" idx="17"/>
          </p:nvPr>
        </p:nvSpPr>
        <p:spPr>
          <a:xfrm>
            <a:off x="6139180" y="2455433"/>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smtClean="0"/>
              <a:t>Clic para editar título</a:t>
            </a:r>
            <a:endParaRPr/>
          </a:p>
        </p:txBody>
      </p:sp>
      <p:sp>
        <p:nvSpPr>
          <p:cNvPr id="3" name="Vertical Text Placeholder 2"/>
          <p:cNvSpPr>
            <a:spLocks noGrp="1"/>
          </p:cNvSpPr>
          <p:nvPr>
            <p:ph type="body" orient="vert" idx="1"/>
          </p:nvPr>
        </p:nvSpPr>
        <p:spPr/>
        <p:txBody>
          <a:bodyPr vert="eaVert"/>
          <a:lstStyle>
            <a:lvl5pPr>
              <a:defRPr/>
            </a:lvl5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26/08/14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3400"/>
            <a:ext cx="1600200" cy="5592763"/>
          </a:xfrm>
        </p:spPr>
        <p:txBody>
          <a:bodyPr vert="eaVert"/>
          <a:lstStyle/>
          <a:p>
            <a:r>
              <a:rPr lang="es-ES_tradnl" smtClean="0"/>
              <a:t>Clic para editar título</a:t>
            </a:r>
            <a:endParaRPr/>
          </a:p>
        </p:txBody>
      </p:sp>
      <p:sp>
        <p:nvSpPr>
          <p:cNvPr id="3" name="Vertical Text Placeholder 2"/>
          <p:cNvSpPr>
            <a:spLocks noGrp="1"/>
          </p:cNvSpPr>
          <p:nvPr>
            <p:ph type="body" orient="vert" idx="1"/>
          </p:nvPr>
        </p:nvSpPr>
        <p:spPr>
          <a:xfrm>
            <a:off x="685800" y="533400"/>
            <a:ext cx="6019800" cy="5592763"/>
          </a:xfrm>
        </p:spPr>
        <p:txBody>
          <a:bodyPr vert="eaVert"/>
          <a:lstStyle>
            <a:lvl5pPr>
              <a:defRPr/>
            </a:lvl5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Date Placeholder 3"/>
          <p:cNvSpPr>
            <a:spLocks noGrp="1"/>
          </p:cNvSpPr>
          <p:nvPr>
            <p:ph type="dt" sz="half" idx="10"/>
          </p:nvPr>
        </p:nvSpPr>
        <p:spPr/>
        <p:txBody>
          <a:bodyPr/>
          <a:lstStyle/>
          <a:p>
            <a:fld id="{651A0C47-018D-4460-B945-BFF7981B6CA6}" type="datetimeFigureOut">
              <a:rPr lang="en-US" smtClean="0"/>
              <a:t>26/08/14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121023"/>
            <a:ext cx="7770813" cy="1429871"/>
          </a:xfrm>
          <a:prstGeom prst="rect">
            <a:avLst/>
          </a:prstGeom>
        </p:spPr>
        <p:txBody>
          <a:bodyPr vert="horz" lIns="91440" tIns="45720" rIns="91440" bIns="45720" rtlCol="0" anchor="ctr" anchorCtr="0">
            <a:normAutofit/>
          </a:bodyPr>
          <a:lstStyle/>
          <a:p>
            <a:r>
              <a:rPr lang="es-ES_tradnl" smtClean="0"/>
              <a:t>Clic para editar título</a:t>
            </a:r>
            <a:endParaRPr/>
          </a:p>
        </p:txBody>
      </p:sp>
      <p:sp>
        <p:nvSpPr>
          <p:cNvPr id="3" name="Text Placeholder 2"/>
          <p:cNvSpPr>
            <a:spLocks noGrp="1"/>
          </p:cNvSpPr>
          <p:nvPr>
            <p:ph type="body" idx="1"/>
          </p:nvPr>
        </p:nvSpPr>
        <p:spPr>
          <a:xfrm>
            <a:off x="685800" y="1752600"/>
            <a:ext cx="7770813" cy="4373563"/>
          </a:xfrm>
          <a:prstGeom prst="rect">
            <a:avLst/>
          </a:prstGeom>
        </p:spPr>
        <p:txBody>
          <a:bodyPr vert="horz" lIns="91440" tIns="45720" rIns="91440" bIns="45720" rtlCol="0">
            <a:normAutofit/>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Date Placeholder 3"/>
          <p:cNvSpPr>
            <a:spLocks noGrp="1"/>
          </p:cNvSpPr>
          <p:nvPr>
            <p:ph type="dt" sz="half" idx="2"/>
          </p:nvPr>
        </p:nvSpPr>
        <p:spPr>
          <a:xfrm>
            <a:off x="6620435" y="6356350"/>
            <a:ext cx="2133600" cy="365125"/>
          </a:xfrm>
          <a:prstGeom prst="rect">
            <a:avLst/>
          </a:prstGeom>
        </p:spPr>
        <p:txBody>
          <a:bodyPr vert="horz" lIns="91440" tIns="45720" rIns="91440" bIns="45720" rtlCol="0" anchor="ctr"/>
          <a:lstStyle>
            <a:lvl1pPr algn="r">
              <a:defRPr sz="1200">
                <a:solidFill>
                  <a:schemeClr val="tx1">
                    <a:tint val="75000"/>
                  </a:schemeClr>
                </a:solidFill>
                <a:effectLst>
                  <a:outerShdw blurRad="50800" dist="38100" dir="5400000" sx="101000" sy="101000" algn="t" rotWithShape="0">
                    <a:prstClr val="black">
                      <a:alpha val="40000"/>
                    </a:prstClr>
                  </a:outerShdw>
                </a:effectLst>
              </a:defRPr>
            </a:lvl1pPr>
          </a:lstStyle>
          <a:p>
            <a:fld id="{651A0C47-018D-4460-B945-BFF7981B6CA6}" type="datetimeFigureOut">
              <a:rPr lang="en-US" smtClean="0"/>
              <a:t>26/08/14</a:t>
            </a:fld>
            <a:endParaRPr lang="en-US"/>
          </a:p>
        </p:txBody>
      </p:sp>
      <p:sp>
        <p:nvSpPr>
          <p:cNvPr id="5" name="Footer Placeholder 4"/>
          <p:cNvSpPr>
            <a:spLocks noGrp="1"/>
          </p:cNvSpPr>
          <p:nvPr>
            <p:ph type="ftr" sz="quarter" idx="3"/>
          </p:nvPr>
        </p:nvSpPr>
        <p:spPr>
          <a:xfrm>
            <a:off x="354105" y="6356350"/>
            <a:ext cx="2895600" cy="365125"/>
          </a:xfrm>
          <a:prstGeom prst="rect">
            <a:avLst/>
          </a:prstGeom>
        </p:spPr>
        <p:txBody>
          <a:bodyPr vert="horz" lIns="91440" tIns="45720" rIns="91440" bIns="45720" rtlCol="0" anchor="ctr"/>
          <a:lstStyle>
            <a:lvl1pPr algn="l">
              <a:defRPr sz="1200">
                <a:solidFill>
                  <a:schemeClr val="tx1">
                    <a:tint val="75000"/>
                  </a:schemeClr>
                </a:solidFill>
                <a:effectLst>
                  <a:outerShdw blurRad="50800" dist="38100" dir="5400000" sx="101000" sy="101000" algn="t" rotWithShape="0">
                    <a:prstClr val="black">
                      <a:alpha val="40000"/>
                    </a:prstClr>
                  </a:outerShdw>
                </a:effectLst>
              </a:defRPr>
            </a:lvl1pPr>
          </a:lstStyle>
          <a:p>
            <a:endParaRPr lang="en-US"/>
          </a:p>
        </p:txBody>
      </p:sp>
      <p:sp>
        <p:nvSpPr>
          <p:cNvPr id="6" name="Slide Number Placeholder 5"/>
          <p:cNvSpPr>
            <a:spLocks noGrp="1"/>
          </p:cNvSpPr>
          <p:nvPr>
            <p:ph type="sldNum" sz="quarter" idx="4"/>
          </p:nvPr>
        </p:nvSpPr>
        <p:spPr>
          <a:xfrm>
            <a:off x="4229100" y="6356350"/>
            <a:ext cx="685800" cy="365125"/>
          </a:xfrm>
          <a:prstGeom prst="rect">
            <a:avLst/>
          </a:prstGeom>
        </p:spPr>
        <p:txBody>
          <a:bodyPr vert="horz" lIns="91440" tIns="45720" rIns="91440" bIns="45720" rtlCol="0" anchor="ctr"/>
          <a:lstStyle>
            <a:lvl1pPr algn="ctr">
              <a:defRPr sz="1200">
                <a:solidFill>
                  <a:schemeClr val="tx1">
                    <a:tint val="75000"/>
                  </a:schemeClr>
                </a:solidFill>
                <a:effectLst>
                  <a:outerShdw blurRad="50800" dist="38100" dir="5400000" sx="101000" sy="101000" algn="t" rotWithShape="0">
                    <a:prstClr val="black">
                      <a:alpha val="40000"/>
                    </a:prstClr>
                  </a:outerShdw>
                </a:effectLst>
              </a:defRPr>
            </a:lvl1pPr>
          </a:lstStyle>
          <a:p>
            <a:fld id="{9C1F5A0A-F6FC-4FFD-9B49-0DA8697211D9}" type="slidenum">
              <a:rPr lang="en-US" smtClean="0"/>
              <a:t>‹Nr.›</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defTabSz="914400" rtl="0" eaLnBrk="1" latinLnBrk="0" hangingPunct="1">
        <a:spcBef>
          <a:spcPct val="0"/>
        </a:spcBef>
        <a:buNone/>
        <a:defRPr sz="480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p:titleStyle>
    <p:bodyStyle>
      <a:lvl1pPr marL="342900" indent="-342900" algn="l" defTabSz="914400" rtl="0" eaLnBrk="1" latinLnBrk="0" hangingPunct="1">
        <a:spcBef>
          <a:spcPts val="2000"/>
        </a:spcBef>
        <a:buFontTx/>
        <a:buBlip>
          <a:blip r:embed="rId16"/>
        </a:buBlip>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685800" indent="-336550" algn="l" defTabSz="914400" rtl="0" eaLnBrk="1" latinLnBrk="0" hangingPunct="1">
        <a:spcBef>
          <a:spcPts val="600"/>
        </a:spcBef>
        <a:buFontTx/>
        <a:buBlip>
          <a:blip r:embed="rId16"/>
        </a:buBlip>
        <a:defRPr sz="2000" kern="1200">
          <a:solidFill>
            <a:schemeClr val="tx1"/>
          </a:solidFill>
          <a:effectLst>
            <a:outerShdw blurRad="50800" dist="50800" dir="5400000" sx="101000" sy="101000" algn="t" rotWithShape="0">
              <a:prstClr val="black">
                <a:alpha val="40000"/>
              </a:prstClr>
            </a:outerShdw>
          </a:effectLst>
          <a:latin typeface="+mn-lt"/>
          <a:ea typeface="+mn-ea"/>
          <a:cs typeface="+mn-cs"/>
        </a:defRPr>
      </a:lvl2pPr>
      <a:lvl3pPr marL="1035050" indent="-349250" algn="l" defTabSz="914400" rtl="0" eaLnBrk="1" latinLnBrk="0" hangingPunct="1">
        <a:spcBef>
          <a:spcPts val="600"/>
        </a:spcBef>
        <a:buFontTx/>
        <a:buBlip>
          <a:blip r:embed="rId16"/>
        </a:buBlip>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3pPr>
      <a:lvl4pPr marL="1371600" indent="-336550" algn="l" defTabSz="914400" rtl="0" eaLnBrk="1" latinLnBrk="0" hangingPunct="1">
        <a:spcBef>
          <a:spcPts val="600"/>
        </a:spcBef>
        <a:buFontTx/>
        <a:buBlip>
          <a:blip r:embed="rId16"/>
        </a:buBlip>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4pPr>
      <a:lvl5pPr marL="1720850" indent="-349250" algn="l" defTabSz="914400" rtl="0" eaLnBrk="1" latinLnBrk="0" hangingPunct="1">
        <a:spcBef>
          <a:spcPts val="600"/>
        </a:spcBef>
        <a:buFontTx/>
        <a:buBlip>
          <a:blip r:embed="rId16"/>
        </a:buBlip>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5pPr>
      <a:lvl6pPr marL="2055813" indent="-336550" algn="l" defTabSz="914400" rtl="0" eaLnBrk="1" latinLnBrk="0" hangingPunct="1">
        <a:spcBef>
          <a:spcPct val="20000"/>
        </a:spcBef>
        <a:buFontTx/>
        <a:buBlip>
          <a:blip r:embed="rId16"/>
        </a:buBlip>
        <a:defRPr lang="en-US" sz="1800" kern="1200" dirty="0" smtClean="0">
          <a:solidFill>
            <a:schemeClr val="tx1"/>
          </a:solidFill>
          <a:effectLst>
            <a:outerShdw blurRad="50800" dist="50800" dir="5400000" sx="101000" sy="101000" algn="t" rotWithShape="0">
              <a:prstClr val="black">
                <a:alpha val="40000"/>
              </a:prstClr>
            </a:outerShdw>
          </a:effectLst>
          <a:latin typeface="+mn-lt"/>
          <a:ea typeface="+mn-ea"/>
          <a:cs typeface="+mn-cs"/>
        </a:defRPr>
      </a:lvl6pPr>
      <a:lvl7pPr marL="2398713" indent="-336550" algn="l" defTabSz="914400" rtl="0" eaLnBrk="1" latinLnBrk="0" hangingPunct="1">
        <a:spcBef>
          <a:spcPct val="20000"/>
        </a:spcBef>
        <a:buFontTx/>
        <a:buBlip>
          <a:blip r:embed="rId16"/>
        </a:buBlip>
        <a:defRPr lang="en-US" sz="1800" kern="1200" dirty="0" smtClean="0">
          <a:solidFill>
            <a:schemeClr val="tx1"/>
          </a:solidFill>
          <a:effectLst>
            <a:outerShdw blurRad="50800" dist="50800" dir="5400000" sx="101000" sy="101000" algn="t" rotWithShape="0">
              <a:prstClr val="black">
                <a:alpha val="40000"/>
              </a:prstClr>
            </a:outerShdw>
          </a:effectLst>
          <a:latin typeface="+mn-lt"/>
          <a:ea typeface="+mn-ea"/>
          <a:cs typeface="+mn-cs"/>
        </a:defRPr>
      </a:lvl7pPr>
      <a:lvl8pPr marL="2743200" indent="-336550" algn="l" defTabSz="914400" rtl="0" eaLnBrk="1" latinLnBrk="0" hangingPunct="1">
        <a:spcBef>
          <a:spcPct val="20000"/>
        </a:spcBef>
        <a:buFontTx/>
        <a:buBlip>
          <a:blip r:embed="rId16"/>
        </a:buBlip>
        <a:defRPr lang="en-US" sz="1800" kern="1200" dirty="0" smtClean="0">
          <a:solidFill>
            <a:schemeClr val="tx1"/>
          </a:solidFill>
          <a:effectLst>
            <a:outerShdw blurRad="50800" dist="50800" dir="5400000" sx="101000" sy="101000" algn="t" rotWithShape="0">
              <a:prstClr val="black">
                <a:alpha val="40000"/>
              </a:prstClr>
            </a:outerShdw>
          </a:effectLst>
          <a:latin typeface="+mn-lt"/>
          <a:ea typeface="+mn-ea"/>
          <a:cs typeface="+mn-cs"/>
        </a:defRPr>
      </a:lvl8pPr>
      <a:lvl9pPr marL="3087688" indent="-336550" algn="l" defTabSz="914400" rtl="0" eaLnBrk="1" latinLnBrk="0" hangingPunct="1">
        <a:spcBef>
          <a:spcPct val="20000"/>
        </a:spcBef>
        <a:buFontTx/>
        <a:buBlip>
          <a:blip r:embed="rId16"/>
        </a:buBlip>
        <a:defRPr lang="en-US" sz="1800" kern="1200" dirty="0">
          <a:solidFill>
            <a:schemeClr val="tx1"/>
          </a:solidFill>
          <a:effectLst>
            <a:outerShdw blurRad="50800" dist="50800" dir="5400000" sx="101000" sy="101000" algn="t" rotWithShape="0">
              <a:prstClr val="black">
                <a:alpha val="40000"/>
              </a:prstClr>
            </a:outerShdw>
          </a:effectLst>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AR" sz="2800" dirty="0"/>
              <a:t>ENTREVISTA PSIQUIÁTRICA</a:t>
            </a:r>
            <a:br>
              <a:rPr lang="es-AR" sz="2800" dirty="0"/>
            </a:br>
            <a:r>
              <a:rPr lang="es-AR" sz="2800" dirty="0"/>
              <a:t>HISTORIA CLÍNICA</a:t>
            </a:r>
            <a:endParaRPr lang="es-ES" sz="2800" dirty="0"/>
          </a:p>
        </p:txBody>
      </p:sp>
      <p:sp>
        <p:nvSpPr>
          <p:cNvPr id="3" name="Subtítulo 2"/>
          <p:cNvSpPr>
            <a:spLocks noGrp="1"/>
          </p:cNvSpPr>
          <p:nvPr>
            <p:ph type="subTitle" idx="1"/>
          </p:nvPr>
        </p:nvSpPr>
        <p:spPr/>
        <p:txBody>
          <a:bodyPr/>
          <a:lstStyle/>
          <a:p>
            <a:endParaRPr lang="es-ES"/>
          </a:p>
        </p:txBody>
      </p:sp>
    </p:spTree>
    <p:extLst>
      <p:ext uri="{BB962C8B-B14F-4D97-AF65-F5344CB8AC3E}">
        <p14:creationId xmlns:p14="http://schemas.microsoft.com/office/powerpoint/2010/main" val="4267047972"/>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510940" y="1550894"/>
            <a:ext cx="8379415" cy="5077167"/>
          </a:xfrm>
        </p:spPr>
        <p:txBody>
          <a:bodyPr>
            <a:normAutofit/>
          </a:bodyPr>
          <a:lstStyle/>
          <a:p>
            <a:r>
              <a:rPr lang="es-AR" sz="2000" dirty="0"/>
              <a:t>Constituye el principal método para el seguimiento del paciente psiquiátrico.</a:t>
            </a:r>
          </a:p>
          <a:p>
            <a:r>
              <a:rPr lang="es-AR" sz="2000" dirty="0"/>
              <a:t>Toda entrevista se dirige a elaborar la historia clinica, a realizar el examen mental,  a enunciar presunciones diagnosticas y a diseñar una estrategia terapeutica.</a:t>
            </a:r>
          </a:p>
          <a:p>
            <a:r>
              <a:rPr lang="es-AR" sz="2000" dirty="0"/>
              <a:t>Supone una variedad de habilidades, las que incluyen el establecimiento y mantenimiento de la empatía, una buena escucha, </a:t>
            </a:r>
            <a:r>
              <a:rPr lang="es-AR" sz="2000" dirty="0" smtClean="0"/>
              <a:t>observación y </a:t>
            </a:r>
            <a:r>
              <a:rPr lang="es-AR" sz="2000" dirty="0"/>
              <a:t>sensibilidad para la estructuración de la </a:t>
            </a:r>
            <a:r>
              <a:rPr lang="es-AR" sz="2000" dirty="0" smtClean="0"/>
              <a:t>entrevista, </a:t>
            </a:r>
            <a:r>
              <a:rPr lang="es-AR" sz="2000" dirty="0"/>
              <a:t>la utilización de preguntas de apertura y cierre adecuadas.</a:t>
            </a:r>
          </a:p>
          <a:p>
            <a:r>
              <a:rPr lang="es-AR" sz="2000" dirty="0"/>
              <a:t>La meta es evaluar la severidad del cuadro, reconocer los factores que llevaron a esa situación, educar al </a:t>
            </a:r>
            <a:r>
              <a:rPr lang="es-AR" sz="2000" dirty="0" smtClean="0"/>
              <a:t>paciente </a:t>
            </a:r>
            <a:r>
              <a:rPr lang="es-AR" sz="2000" dirty="0"/>
              <a:t>sobre la naturaleza de la enfermedad, convenir el plan de tratamiento  y proporcionar un tto psicoterapéutico y/o psicofarmacológico.</a:t>
            </a:r>
          </a:p>
          <a:p>
            <a:endParaRPr lang="es-ES" sz="2000" dirty="0"/>
          </a:p>
        </p:txBody>
      </p:sp>
    </p:spTree>
    <p:extLst>
      <p:ext uri="{BB962C8B-B14F-4D97-AF65-F5344CB8AC3E}">
        <p14:creationId xmlns:p14="http://schemas.microsoft.com/office/powerpoint/2010/main" val="3469094072"/>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AR" sz="2800" dirty="0"/>
              <a:t>FINALIDAD DE LA ENTREVISTA </a:t>
            </a:r>
            <a:endParaRPr lang="es-ES" sz="2800" dirty="0"/>
          </a:p>
        </p:txBody>
      </p:sp>
      <p:sp>
        <p:nvSpPr>
          <p:cNvPr id="3" name="Marcador de contenido 2"/>
          <p:cNvSpPr>
            <a:spLocks noGrp="1"/>
          </p:cNvSpPr>
          <p:nvPr>
            <p:ph idx="1"/>
          </p:nvPr>
        </p:nvSpPr>
        <p:spPr>
          <a:xfrm>
            <a:off x="291966" y="1197139"/>
            <a:ext cx="8627585" cy="5445522"/>
          </a:xfrm>
        </p:spPr>
        <p:txBody>
          <a:bodyPr>
            <a:normAutofit fontScale="77500" lnSpcReduction="20000"/>
          </a:bodyPr>
          <a:lstStyle/>
          <a:p>
            <a:pPr marL="0" indent="0">
              <a:buNone/>
            </a:pPr>
            <a:r>
              <a:rPr lang="es-AR" sz="2400" u="sng" dirty="0"/>
              <a:t>Se contituye la entrevista psiquíatrica en una técnica y un arte cuyos propósitos deberían converger en armonizar los siguientes objetivos(5)</a:t>
            </a:r>
          </a:p>
          <a:p>
            <a:endParaRPr lang="es-AR" sz="2400" u="sng" dirty="0"/>
          </a:p>
          <a:p>
            <a:r>
              <a:rPr lang="es-AR" sz="2400" dirty="0"/>
              <a:t>Fundamentar un vínculo personal significativo entre el presunto enfermo y su psiquiatra.</a:t>
            </a:r>
          </a:p>
          <a:p>
            <a:r>
              <a:rPr lang="es-AR" sz="2400" dirty="0"/>
              <a:t>Recolectar información (semiología) de la patología actual y sus antecedentes (historia).</a:t>
            </a:r>
          </a:p>
          <a:p>
            <a:r>
              <a:rPr lang="es-AR" sz="2400" dirty="0"/>
              <a:t>Formular precozmente una hipótesis diagnóstica y pronóstica.</a:t>
            </a:r>
          </a:p>
          <a:p>
            <a:r>
              <a:rPr lang="es-AR" sz="2400" dirty="0"/>
              <a:t>Realizar la atención inmediata de urgencias.</a:t>
            </a:r>
          </a:p>
          <a:p>
            <a:r>
              <a:rPr lang="es-AR" sz="2400" dirty="0"/>
              <a:t>Indicar estudios adicionales (Interconsultas medicas, estudio psicológico, asistencia social).</a:t>
            </a:r>
          </a:p>
          <a:p>
            <a:r>
              <a:rPr lang="es-AR" sz="2400" dirty="0"/>
              <a:t>Formular y poner en marcha un plan global de tratamiento, incluyendo a la familia.</a:t>
            </a:r>
          </a:p>
          <a:p>
            <a:r>
              <a:rPr lang="es-AR" sz="2400" dirty="0"/>
              <a:t>Establecer un nexo facilitador para la próxima  entrevista.</a:t>
            </a:r>
          </a:p>
          <a:p>
            <a:endParaRPr lang="es-ES" dirty="0"/>
          </a:p>
        </p:txBody>
      </p:sp>
    </p:spTree>
    <p:extLst>
      <p:ext uri="{BB962C8B-B14F-4D97-AF65-F5344CB8AC3E}">
        <p14:creationId xmlns:p14="http://schemas.microsoft.com/office/powerpoint/2010/main" val="3585895620"/>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normAutofit/>
          </a:bodyPr>
          <a:lstStyle/>
          <a:p>
            <a:r>
              <a:rPr lang="es-AR" sz="2000" dirty="0"/>
              <a:t>La entrevista psiquiátrica es en sí misma un acto terapéutico ampliamente reconocido; la psicoterapia más la medicación no son la suma de dos aproximaciones cientificas, son un hecho nuevo que debe se </a:t>
            </a:r>
            <a:r>
              <a:rPr lang="es-AR" sz="2000" dirty="0" smtClean="0"/>
              <a:t>estudiado </a:t>
            </a:r>
            <a:r>
              <a:rPr lang="es-AR" sz="2000" dirty="0"/>
              <a:t>como tal. La finalidad de la entrevista es responder la solicitud de asistencia que viene a buscar el paciente.</a:t>
            </a:r>
          </a:p>
          <a:p>
            <a:r>
              <a:rPr lang="es-AR" sz="2000" dirty="0"/>
              <a:t>Un tratamiento efectivo se sostiene con la aceptación total del paciente y en  niveles para su promoción cómo: Sinceridad en la interacción paciente- entrevistador, empatía para el sufrimiento del paciente y respeto incondicional del mismo cómo persona.</a:t>
            </a:r>
          </a:p>
          <a:p>
            <a:endParaRPr lang="es-ES" sz="2000" dirty="0"/>
          </a:p>
        </p:txBody>
      </p:sp>
    </p:spTree>
    <p:extLst>
      <p:ext uri="{BB962C8B-B14F-4D97-AF65-F5344CB8AC3E}">
        <p14:creationId xmlns:p14="http://schemas.microsoft.com/office/powerpoint/2010/main" val="122313682"/>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AR" sz="2800" dirty="0"/>
              <a:t>CONDICIONES PARA LA REALIZACIÓN DE LA ENTREVISTA</a:t>
            </a:r>
            <a:endParaRPr lang="es-ES" sz="2800" dirty="0"/>
          </a:p>
        </p:txBody>
      </p:sp>
      <p:sp>
        <p:nvSpPr>
          <p:cNvPr id="3" name="Marcador de contenido 2"/>
          <p:cNvSpPr>
            <a:spLocks noGrp="1"/>
          </p:cNvSpPr>
          <p:nvPr>
            <p:ph idx="1"/>
          </p:nvPr>
        </p:nvSpPr>
        <p:spPr>
          <a:xfrm>
            <a:off x="685800" y="1869140"/>
            <a:ext cx="8175358" cy="4758921"/>
          </a:xfrm>
        </p:spPr>
        <p:txBody>
          <a:bodyPr/>
          <a:lstStyle/>
          <a:p>
            <a:r>
              <a:rPr lang="es-AR" sz="2400" b="1" u="sng" dirty="0"/>
              <a:t>Llegada del paciente</a:t>
            </a:r>
            <a:r>
              <a:rPr lang="es-AR" sz="2400" dirty="0"/>
              <a:t>:  Por su propia decisión, enviado por otro médico, o forzado por fliares o policía. Si concurre en compañía de un familiar, es recomendable entrevistar primero al paciente, indicando al pariente que quízas  se desee hablar con el mas tarde.</a:t>
            </a:r>
          </a:p>
          <a:p>
            <a:r>
              <a:rPr lang="es-AR" sz="2400" b="1" u="sng" dirty="0"/>
              <a:t>Ámbito de la entrevista</a:t>
            </a:r>
            <a:r>
              <a:rPr lang="es-AR" sz="2400" dirty="0"/>
              <a:t>:  En lo posible debe llevarse a cabo en un lugar donde nadie mas pueda escuchar la conversación, el entrevistador deberá sentarse en ángulo respecto al paciente así no se sentirá constantemente examinado. No se debe realizar la entrevista en lugares no adecuados cómo un café o una confitería ya que el entrevistador no es un amigo.</a:t>
            </a:r>
          </a:p>
          <a:p>
            <a:endParaRPr lang="es-ES" dirty="0"/>
          </a:p>
        </p:txBody>
      </p:sp>
    </p:spTree>
    <p:extLst>
      <p:ext uri="{BB962C8B-B14F-4D97-AF65-F5344CB8AC3E}">
        <p14:creationId xmlns:p14="http://schemas.microsoft.com/office/powerpoint/2010/main" val="709557904"/>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116786" y="510974"/>
            <a:ext cx="8642184" cy="5971095"/>
          </a:xfrm>
        </p:spPr>
        <p:txBody>
          <a:bodyPr/>
          <a:lstStyle/>
          <a:p>
            <a:pPr marL="0" indent="0">
              <a:buNone/>
            </a:pPr>
            <a:r>
              <a:rPr lang="es-AR" sz="2400" b="1" u="sng" dirty="0"/>
              <a:t>Tiempo de la entrevista:</a:t>
            </a:r>
            <a:r>
              <a:rPr lang="es-AR" sz="2400" dirty="0"/>
              <a:t> </a:t>
            </a:r>
            <a:r>
              <a:rPr lang="es-AR" sz="2400" b="1" u="sng" dirty="0"/>
              <a:t> </a:t>
            </a:r>
            <a:r>
              <a:rPr lang="es-AR" sz="2400" dirty="0"/>
              <a:t>Puede llegar a los 50 min, en una urgencia puede ser mas prolongada y mas si se precisa la </a:t>
            </a:r>
            <a:r>
              <a:rPr lang="es-AR" sz="2400" dirty="0" smtClean="0"/>
              <a:t>internación.</a:t>
            </a:r>
          </a:p>
          <a:p>
            <a:pPr marL="0" indent="0">
              <a:buNone/>
            </a:pPr>
            <a:r>
              <a:rPr lang="es-AR" sz="2400" dirty="0" smtClean="0"/>
              <a:t>La </a:t>
            </a:r>
            <a:r>
              <a:rPr lang="es-AR" sz="2400" dirty="0"/>
              <a:t>entrevista inicial puede oscilar hasta 90 minutos.</a:t>
            </a:r>
          </a:p>
          <a:p>
            <a:pPr marL="0" indent="0">
              <a:buNone/>
            </a:pPr>
            <a:r>
              <a:rPr lang="es-AR" sz="2400" dirty="0"/>
              <a:t>No es recomendable introducir temas con gran carga emocional al final o cerca del final</a:t>
            </a:r>
            <a:r>
              <a:rPr lang="es-AR" sz="2400" dirty="0" smtClean="0"/>
              <a:t>.</a:t>
            </a:r>
          </a:p>
          <a:p>
            <a:pPr marL="0" indent="0">
              <a:buNone/>
            </a:pPr>
            <a:r>
              <a:rPr lang="es-AR" sz="2400" dirty="0" smtClean="0"/>
              <a:t>La entrevista con psic</a:t>
            </a:r>
            <a:r>
              <a:rPr lang="es-AR" sz="2400" dirty="0" smtClean="0"/>
              <a:t>ó</a:t>
            </a:r>
            <a:r>
              <a:rPr lang="es-AR" sz="2400" dirty="0" smtClean="0"/>
              <a:t>ticos selen ser breves porque pueden estresarse.</a:t>
            </a:r>
            <a:endParaRPr lang="es-AR" sz="2400" dirty="0"/>
          </a:p>
          <a:p>
            <a:endParaRPr lang="es-ES" dirty="0"/>
          </a:p>
        </p:txBody>
      </p:sp>
    </p:spTree>
    <p:extLst>
      <p:ext uri="{BB962C8B-B14F-4D97-AF65-F5344CB8AC3E}">
        <p14:creationId xmlns:p14="http://schemas.microsoft.com/office/powerpoint/2010/main" val="1810843149"/>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AR" sz="2800" dirty="0"/>
              <a:t>MODALIDAD DE ENTREVISTA</a:t>
            </a:r>
            <a:endParaRPr lang="es-ES" sz="2800" dirty="0"/>
          </a:p>
        </p:txBody>
      </p:sp>
      <p:sp>
        <p:nvSpPr>
          <p:cNvPr id="3" name="Marcador de contenido 2"/>
          <p:cNvSpPr>
            <a:spLocks noGrp="1"/>
          </p:cNvSpPr>
          <p:nvPr>
            <p:ph idx="1"/>
          </p:nvPr>
        </p:nvSpPr>
        <p:spPr>
          <a:xfrm>
            <a:off x="685800" y="1869141"/>
            <a:ext cx="8175358" cy="4729722"/>
          </a:xfrm>
        </p:spPr>
        <p:txBody>
          <a:bodyPr>
            <a:normAutofit fontScale="85000" lnSpcReduction="10000"/>
          </a:bodyPr>
          <a:lstStyle/>
          <a:p>
            <a:r>
              <a:rPr lang="es-AR" sz="2400" b="1" u="sng" dirty="0"/>
              <a:t>Directiva</a:t>
            </a:r>
            <a:r>
              <a:rPr lang="es-AR" sz="2400" dirty="0"/>
              <a:t>: Donde se controla el rumbo formulando  preguntas directas. El objetivo es aclarar la naturaleza de los síntomas y acumula datos para una hipótesis sobre una alteración específica subyacente.</a:t>
            </a:r>
          </a:p>
          <a:p>
            <a:r>
              <a:rPr lang="es-AR" sz="2400" b="1" u="sng" dirty="0"/>
              <a:t>No directiva o exploración cooperativa:  </a:t>
            </a:r>
            <a:r>
              <a:rPr lang="es-AR" sz="2400" dirty="0"/>
              <a:t>Realiza un abordaje menos directivo. Se escucha lo que cuenta el enfermo, se comparte la dirección del encuentro, se realizan preguntas directas y específicas intentando estimular la comunicación. Ej ¿ Cuenteme algo mas?, ¿Tiene alguna idea de por qué?.</a:t>
            </a:r>
          </a:p>
          <a:p>
            <a:r>
              <a:rPr lang="es-AR" sz="2400" dirty="0"/>
              <a:t>En la forma directiva uno se concentra en las respuestas, en la no directiva se observa la conducta verbal y no verbal del paciente, el fluir de los pensamientos y afectos.</a:t>
            </a:r>
          </a:p>
          <a:p>
            <a:r>
              <a:rPr lang="es-AR" sz="2400" dirty="0"/>
              <a:t>En los casos de urgencia se usará la entrevista dirigida, como tambien en los casos en donde exista un síntoma preponderante (pacientes con alucinaciones, compulsiones, etc.)</a:t>
            </a:r>
          </a:p>
          <a:p>
            <a:endParaRPr lang="es-ES" dirty="0"/>
          </a:p>
        </p:txBody>
      </p:sp>
    </p:spTree>
    <p:extLst>
      <p:ext uri="{BB962C8B-B14F-4D97-AF65-F5344CB8AC3E}">
        <p14:creationId xmlns:p14="http://schemas.microsoft.com/office/powerpoint/2010/main" val="2151001156"/>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buNone/>
            </a:pPr>
            <a:r>
              <a:rPr lang="es-ES" dirty="0" smtClean="0"/>
              <a:t>Con paciente psic</a:t>
            </a:r>
            <a:r>
              <a:rPr lang="es-ES" dirty="0" smtClean="0"/>
              <a:t>óticos tiene poca o ninguna capacidad de comprobar la realidad, por lo que la evaluación tiene que estar enfocada y ser mas estructurada que con otros pacientes. Las preguntas abiertas y los largos periodos de silencio a menudo desorganizan. Por otro lado las preguntas mas breves les resultan mas fáciles de seguir que las largas. Las preguntas que pidan respuestas abstractas pueden ser incontestables. </a:t>
            </a:r>
            <a:endParaRPr lang="es-ES" dirty="0"/>
          </a:p>
        </p:txBody>
      </p:sp>
    </p:spTree>
    <p:extLst>
      <p:ext uri="{BB962C8B-B14F-4D97-AF65-F5344CB8AC3E}">
        <p14:creationId xmlns:p14="http://schemas.microsoft.com/office/powerpoint/2010/main" val="1791040335"/>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AR" sz="2800" dirty="0"/>
              <a:t>MODELOS DE ENTREVISTA</a:t>
            </a:r>
            <a:endParaRPr lang="es-ES" sz="2800" dirty="0"/>
          </a:p>
        </p:txBody>
      </p:sp>
      <p:sp>
        <p:nvSpPr>
          <p:cNvPr id="3" name="Marcador de contenido 2"/>
          <p:cNvSpPr>
            <a:spLocks noGrp="1"/>
          </p:cNvSpPr>
          <p:nvPr>
            <p:ph idx="1"/>
          </p:nvPr>
        </p:nvSpPr>
        <p:spPr>
          <a:xfrm>
            <a:off x="218974" y="1328532"/>
            <a:ext cx="8612988" cy="5343327"/>
          </a:xfrm>
        </p:spPr>
        <p:txBody>
          <a:bodyPr>
            <a:normAutofit lnSpcReduction="10000"/>
          </a:bodyPr>
          <a:lstStyle/>
          <a:p>
            <a:r>
              <a:rPr lang="es-AR" sz="2400" b="1" u="sng" dirty="0"/>
              <a:t>Modelo médico: </a:t>
            </a:r>
            <a:r>
              <a:rPr lang="es-AR" sz="2400" dirty="0"/>
              <a:t> Se sustenta en que la enfermedad tiene una causa.</a:t>
            </a:r>
          </a:p>
          <a:p>
            <a:r>
              <a:rPr lang="es-AR" sz="2400" dirty="0"/>
              <a:t> Su critica es que puede provocar distanciamiento, cierta pasividad respecto a los aspectos emocionales, relación terapeuta-paciente poco elaborada y la escasa posibilidad de expresión personal del paciente.</a:t>
            </a:r>
          </a:p>
          <a:p>
            <a:r>
              <a:rPr lang="es-AR" sz="2400" b="1" u="sng" dirty="0"/>
              <a:t>Modelo conductual:   </a:t>
            </a:r>
            <a:r>
              <a:rPr lang="es-AR" sz="2400" dirty="0"/>
              <a:t>Centrado en el condicionamiento, ofreció a la psiquiatría el rigor experimental y científico.  El rol del psiquiatra debe ser directivo y seguro. Los objetivos concretos a obtener información sobre conductas problema, historia de aprendizaje y reforzadores. Se critica la centralización en la conducta manifiesta, el poco énfasis en los aspectos ideo-afectivos y la falta de análisis del aquí y ahora</a:t>
            </a:r>
          </a:p>
          <a:p>
            <a:endParaRPr lang="es-ES" dirty="0"/>
          </a:p>
        </p:txBody>
      </p:sp>
    </p:spTree>
    <p:extLst>
      <p:ext uri="{BB962C8B-B14F-4D97-AF65-F5344CB8AC3E}">
        <p14:creationId xmlns:p14="http://schemas.microsoft.com/office/powerpoint/2010/main" val="3428600743"/>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normAutofit/>
          </a:bodyPr>
          <a:lstStyle/>
          <a:p>
            <a:r>
              <a:rPr lang="es-AR" b="1" u="sng" dirty="0"/>
              <a:t>Modelo psicodinámico</a:t>
            </a:r>
            <a:r>
              <a:rPr lang="es-AR" dirty="0"/>
              <a:t>: Otorga la noción de que el desarrollo de la personalidad es en función de la interacción entre procesos biológicos y ambientales. Usa un modelo de entrevista abierta-semidirigida con el fin de obtener información sobre relaciones objetales inconscientes, las ansiedades, las defensas y los impulsos.</a:t>
            </a:r>
          </a:p>
          <a:p>
            <a:r>
              <a:rPr lang="es-AR" dirty="0"/>
              <a:t>El inconciente es el lugar donde se encuentran los deseos, los impulsos innatos, los recuerdos reprimidos</a:t>
            </a:r>
            <a:endParaRPr lang="es-ES" dirty="0"/>
          </a:p>
        </p:txBody>
      </p:sp>
    </p:spTree>
    <p:extLst>
      <p:ext uri="{BB962C8B-B14F-4D97-AF65-F5344CB8AC3E}">
        <p14:creationId xmlns:p14="http://schemas.microsoft.com/office/powerpoint/2010/main" val="905383701"/>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AR" sz="2800" dirty="0"/>
              <a:t>FASES DE LA ENTREVISTA</a:t>
            </a:r>
            <a:endParaRPr lang="es-ES" sz="2800" dirty="0"/>
          </a:p>
        </p:txBody>
      </p:sp>
      <p:sp>
        <p:nvSpPr>
          <p:cNvPr id="3" name="Marcador de contenido 2"/>
          <p:cNvSpPr>
            <a:spLocks noGrp="1"/>
          </p:cNvSpPr>
          <p:nvPr>
            <p:ph idx="1"/>
          </p:nvPr>
        </p:nvSpPr>
        <p:spPr>
          <a:xfrm>
            <a:off x="218974" y="1284734"/>
            <a:ext cx="8554595" cy="5328727"/>
          </a:xfrm>
        </p:spPr>
        <p:txBody>
          <a:bodyPr>
            <a:normAutofit fontScale="85000" lnSpcReduction="20000"/>
          </a:bodyPr>
          <a:lstStyle/>
          <a:p>
            <a:r>
              <a:rPr lang="es-AR" sz="2400" b="1" u="sng" dirty="0"/>
              <a:t>La entrevista ha de tener una estrategia que tienda a responder lo que se pretende, de qué se dispone, hasta dónde se ha llegado y cómo se ha de seguir.</a:t>
            </a:r>
          </a:p>
          <a:p>
            <a:endParaRPr lang="es-AR" sz="2400" b="1" u="sng" dirty="0"/>
          </a:p>
          <a:p>
            <a:r>
              <a:rPr lang="es-AR" sz="2400" b="1" u="sng" dirty="0"/>
              <a:t>Fase inicial:  </a:t>
            </a:r>
          </a:p>
          <a:p>
            <a:r>
              <a:rPr lang="es-AR" sz="2400" u="sng" dirty="0"/>
              <a:t>Son varios los factores que intervienen en una primera entrevista. Entre ellos podemos desglosar los siguientes:</a:t>
            </a:r>
          </a:p>
          <a:p>
            <a:pPr marL="0" indent="0">
              <a:buNone/>
            </a:pPr>
            <a:r>
              <a:rPr lang="es-AR" sz="2400" dirty="0"/>
              <a:t>A)La orientación teórica del entrevistador</a:t>
            </a:r>
          </a:p>
          <a:p>
            <a:pPr marL="0" indent="0">
              <a:buNone/>
            </a:pPr>
            <a:r>
              <a:rPr lang="es-AR" sz="2400" dirty="0"/>
              <a:t>B) Su manejo técnico</a:t>
            </a:r>
          </a:p>
          <a:p>
            <a:pPr marL="0" indent="0">
              <a:buNone/>
            </a:pPr>
            <a:r>
              <a:rPr lang="es-AR" sz="2400" dirty="0"/>
              <a:t>C) Las contribuciones del entrevistado</a:t>
            </a:r>
          </a:p>
          <a:p>
            <a:pPr marL="0" indent="0">
              <a:buNone/>
            </a:pPr>
            <a:r>
              <a:rPr lang="es-AR" sz="2400" dirty="0"/>
              <a:t>D) La presencia de otros entrevistados</a:t>
            </a:r>
          </a:p>
          <a:p>
            <a:pPr marL="0" indent="0">
              <a:buNone/>
            </a:pPr>
            <a:r>
              <a:rPr lang="es-AR" sz="2400" dirty="0"/>
              <a:t>E) El lugar donde se encuentran</a:t>
            </a:r>
          </a:p>
          <a:p>
            <a:endParaRPr lang="es-ES" dirty="0"/>
          </a:p>
        </p:txBody>
      </p:sp>
    </p:spTree>
    <p:extLst>
      <p:ext uri="{BB962C8B-B14F-4D97-AF65-F5344CB8AC3E}">
        <p14:creationId xmlns:p14="http://schemas.microsoft.com/office/powerpoint/2010/main" val="2648202523"/>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306564" y="1226336"/>
            <a:ext cx="8496201" cy="5357927"/>
          </a:xfrm>
        </p:spPr>
        <p:txBody>
          <a:bodyPr>
            <a:normAutofit fontScale="92500" lnSpcReduction="10000"/>
          </a:bodyPr>
          <a:lstStyle/>
          <a:p>
            <a:r>
              <a:rPr lang="es-AR" sz="2400" dirty="0"/>
              <a:t>Los momentos iniciales se toman muy en cuenta, los tres a cinco primeros minutos de la observación tienen un impacto significativo sobre la decisión diagnóstica final. Los pacientes psiquiátricos informan pocos síntomas espontáneamente. Cuanto mas aguda es la alteración mas importante se vuelve el saber de la observación.</a:t>
            </a:r>
          </a:p>
          <a:p>
            <a:r>
              <a:rPr lang="es-AR" sz="2400" dirty="0"/>
              <a:t>El profesional debe presentarse dando a conocer su nombre y especialidad, y si es el entrevistador el que acude al paciente, como ocurre en muchas ocasiones en el ámbito hospitalario, explicar el propósito de la entrevista y mostrar consideración preguntando si es una ocasión conveniente para el paciente; normalmente lo será, pero a la gente le gusta sentir que ha sido consultada.</a:t>
            </a:r>
          </a:p>
          <a:p>
            <a:r>
              <a:rPr lang="es-AR" sz="2400" dirty="0"/>
              <a:t>Una posibilidad es saludar al paciente estrechándole la mano, llamándolo por su apellido, en tono cortés. Tener en cuenta si concurre solo o acompañado y el retraso o adelanto respecto a la hora acordada.</a:t>
            </a:r>
          </a:p>
          <a:p>
            <a:pPr>
              <a:buNone/>
            </a:pPr>
            <a:endParaRPr lang="es-AR" sz="2400" dirty="0"/>
          </a:p>
          <a:p>
            <a:endParaRPr lang="es-ES" dirty="0"/>
          </a:p>
        </p:txBody>
      </p:sp>
    </p:spTree>
    <p:extLst>
      <p:ext uri="{BB962C8B-B14F-4D97-AF65-F5344CB8AC3E}">
        <p14:creationId xmlns:p14="http://schemas.microsoft.com/office/powerpoint/2010/main" val="1053006315"/>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r>
              <a:rPr lang="es-AR" sz="2400" u="sng" dirty="0"/>
              <a:t>Deberá observar: </a:t>
            </a:r>
            <a:r>
              <a:rPr lang="es-AR" sz="2400" dirty="0"/>
              <a:t> Actitud, aspecto, actividad psicomotriz, cuidado personal, atuendo, forma de expresarse, gesticulación, forma de mirar, expresión del rostro, tono y modulación de la voz. Se invita al paciente a que exponga el problema, se debe interrumpir lo menos posible limitando las intervenciones a aclarar algún punto del relato.</a:t>
            </a:r>
          </a:p>
          <a:p>
            <a:endParaRPr lang="es-ES" dirty="0"/>
          </a:p>
        </p:txBody>
      </p:sp>
    </p:spTree>
    <p:extLst>
      <p:ext uri="{BB962C8B-B14F-4D97-AF65-F5344CB8AC3E}">
        <p14:creationId xmlns:p14="http://schemas.microsoft.com/office/powerpoint/2010/main" val="2439768880"/>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277367" y="817558"/>
            <a:ext cx="8539995" cy="5693710"/>
          </a:xfrm>
        </p:spPr>
        <p:txBody>
          <a:bodyPr>
            <a:normAutofit fontScale="92500" lnSpcReduction="20000"/>
          </a:bodyPr>
          <a:lstStyle/>
          <a:p>
            <a:r>
              <a:rPr lang="es-AR" sz="2400" b="1" u="sng" dirty="0"/>
              <a:t>Fase intermedia: </a:t>
            </a:r>
            <a:r>
              <a:rPr lang="es-AR" sz="2400" dirty="0"/>
              <a:t>Una vez que se tiene una idea general del paciente y su problema, se pasa a realizar la historia clínica y el </a:t>
            </a:r>
            <a:r>
              <a:rPr lang="es-AR" sz="2400" dirty="0" smtClean="0"/>
              <a:t>examen </a:t>
            </a:r>
            <a:r>
              <a:rPr lang="es-AR" sz="2400" dirty="0"/>
              <a:t>completo del paciente através de preguntas concretas. Se evaluará junto a los síntomas actuales, el contexto familiar, personal, datos biográficos de interés.</a:t>
            </a:r>
          </a:p>
          <a:p>
            <a:r>
              <a:rPr lang="es-AR" sz="2400" b="1" u="sng" dirty="0"/>
              <a:t>Fase final: </a:t>
            </a:r>
            <a:r>
              <a:rPr lang="es-AR" sz="2400" dirty="0"/>
              <a:t> El relato del paciente puede continuar hasta finalizar. Se le comunicará, entonces, que el tiempo obliga a interrumpir.</a:t>
            </a:r>
          </a:p>
          <a:p>
            <a:r>
              <a:rPr lang="es-AR" sz="2400" b="1" u="sng" dirty="0"/>
              <a:t> </a:t>
            </a:r>
            <a:r>
              <a:rPr lang="es-AR" sz="2400" dirty="0"/>
              <a:t>La presencia de un fliar podría dar lugar a una futura reunión. Se dará una opinión acerca de su situación y se realizará un </a:t>
            </a:r>
            <a:r>
              <a:rPr lang="es-AR" sz="2400" u="sng" dirty="0"/>
              <a:t>plan terapéutico</a:t>
            </a:r>
            <a:r>
              <a:rPr lang="es-AR" sz="2400" dirty="0"/>
              <a:t>, debe ser comunicado al paciente, dándole instrucciones del mismo y asegurándose que lo haya entendido correctamente. Se le ofrecerá realizar preguntas. Las prescripcionesde medicación deben ser fundamentadas; es inteligente cerciorarse que fueron entendidas y anotarlas LEGIBLEMENTE!!!</a:t>
            </a:r>
          </a:p>
          <a:p>
            <a:pPr>
              <a:buNone/>
            </a:pPr>
            <a:r>
              <a:rPr lang="es-AR" sz="2400" dirty="0"/>
              <a:t>Una de las mejores formas de finalizar es haciendo un resumen, lo que colaborará con el ordenamiento del psiquiatra y el paciente podrá añadir, quitar, cambiar o aclarar algunos datos.</a:t>
            </a:r>
          </a:p>
          <a:p>
            <a:endParaRPr lang="es-ES" dirty="0"/>
          </a:p>
        </p:txBody>
      </p:sp>
    </p:spTree>
    <p:extLst>
      <p:ext uri="{BB962C8B-B14F-4D97-AF65-F5344CB8AC3E}">
        <p14:creationId xmlns:p14="http://schemas.microsoft.com/office/powerpoint/2010/main" val="3619840208"/>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AR" sz="2800" dirty="0"/>
              <a:t>HISTORIA CLÍNICA</a:t>
            </a:r>
            <a:br>
              <a:rPr lang="es-AR" sz="2800" dirty="0"/>
            </a:br>
            <a:r>
              <a:rPr lang="es-AR" sz="2800" u="sng" dirty="0"/>
              <a:t>Componentes de la HC</a:t>
            </a:r>
            <a:endParaRPr lang="es-ES" sz="2800" dirty="0"/>
          </a:p>
        </p:txBody>
      </p:sp>
      <p:graphicFrame>
        <p:nvGraphicFramePr>
          <p:cNvPr id="6" name="Marcador de contenido 5"/>
          <p:cNvGraphicFramePr>
            <a:graphicFrameLocks noGrp="1"/>
          </p:cNvGraphicFramePr>
          <p:nvPr>
            <p:ph idx="1"/>
            <p:extLst>
              <p:ext uri="{D42A27DB-BD31-4B8C-83A1-F6EECF244321}">
                <p14:modId xmlns:p14="http://schemas.microsoft.com/office/powerpoint/2010/main" val="1802574796"/>
              </p:ext>
            </p:extLst>
          </p:nvPr>
        </p:nvGraphicFramePr>
        <p:xfrm>
          <a:off x="685800" y="1868487"/>
          <a:ext cx="7770814" cy="4496787"/>
        </p:xfrm>
        <a:graphic>
          <a:graphicData uri="http://schemas.openxmlformats.org/drawingml/2006/table">
            <a:tbl>
              <a:tblPr firstRow="1" bandRow="1">
                <a:tableStyleId>{5C22544A-7EE6-4342-B048-85BDC9FD1C3A}</a:tableStyleId>
              </a:tblPr>
              <a:tblGrid>
                <a:gridCol w="3885407"/>
                <a:gridCol w="3885407"/>
              </a:tblGrid>
              <a:tr h="4496787">
                <a:tc>
                  <a:txBody>
                    <a:bodyPr/>
                    <a:lstStyle/>
                    <a:p>
                      <a:r>
                        <a:rPr lang="es-AR" sz="1800" u="sng" dirty="0" smtClean="0"/>
                        <a:t>Anamnesis</a:t>
                      </a:r>
                    </a:p>
                    <a:p>
                      <a:endParaRPr lang="es-AR" sz="1800" u="sng" dirty="0" smtClean="0"/>
                    </a:p>
                    <a:p>
                      <a:pPr>
                        <a:buNone/>
                      </a:pPr>
                      <a:r>
                        <a:rPr lang="es-AR" sz="1800" dirty="0" smtClean="0"/>
                        <a:t>Datos filiatorios</a:t>
                      </a:r>
                    </a:p>
                    <a:p>
                      <a:pPr>
                        <a:buNone/>
                      </a:pPr>
                      <a:r>
                        <a:rPr lang="es-AR" sz="1800" dirty="0" smtClean="0"/>
                        <a:t>Motivo de Consulta</a:t>
                      </a:r>
                    </a:p>
                    <a:p>
                      <a:pPr>
                        <a:buNone/>
                      </a:pPr>
                      <a:r>
                        <a:rPr lang="es-AR" sz="1800" dirty="0" smtClean="0"/>
                        <a:t>Historia de la EA</a:t>
                      </a:r>
                    </a:p>
                    <a:p>
                      <a:pPr>
                        <a:buNone/>
                      </a:pPr>
                      <a:r>
                        <a:rPr lang="es-AR" sz="1800" dirty="0" smtClean="0"/>
                        <a:t>Antecedentes Personales</a:t>
                      </a:r>
                    </a:p>
                    <a:p>
                      <a:pPr>
                        <a:buNone/>
                      </a:pPr>
                      <a:r>
                        <a:rPr lang="es-AR" sz="1800" dirty="0" smtClean="0"/>
                        <a:t>Antecedentes Familiares</a:t>
                      </a:r>
                    </a:p>
                    <a:p>
                      <a:pPr>
                        <a:buNone/>
                      </a:pPr>
                      <a:endParaRPr lang="es-AR" sz="1800" dirty="0" smtClean="0"/>
                    </a:p>
                    <a:p>
                      <a:r>
                        <a:rPr lang="es-AR" sz="1800" u="sng" dirty="0" smtClean="0"/>
                        <a:t>Examen del estado actual</a:t>
                      </a:r>
                    </a:p>
                    <a:p>
                      <a:endParaRPr lang="es-ES" dirty="0"/>
                    </a:p>
                  </a:txBody>
                  <a:tcPr/>
                </a:tc>
                <a:tc>
                  <a:txBody>
                    <a:bodyPr/>
                    <a:lstStyle/>
                    <a:p>
                      <a:r>
                        <a:rPr lang="es-AR" sz="1800" dirty="0" smtClean="0"/>
                        <a:t>Exploración física</a:t>
                      </a:r>
                    </a:p>
                    <a:p>
                      <a:r>
                        <a:rPr lang="es-AR" sz="1800" dirty="0" smtClean="0"/>
                        <a:t>Exámenes complementarios</a:t>
                      </a:r>
                    </a:p>
                    <a:p>
                      <a:r>
                        <a:rPr lang="es-AR" sz="1800" dirty="0" smtClean="0"/>
                        <a:t>Dx</a:t>
                      </a:r>
                    </a:p>
                    <a:p>
                      <a:r>
                        <a:rPr lang="es-AR" sz="1800" dirty="0" smtClean="0"/>
                        <a:t>Px</a:t>
                      </a:r>
                    </a:p>
                    <a:p>
                      <a:r>
                        <a:rPr lang="es-AR" sz="1800" dirty="0" smtClean="0"/>
                        <a:t>Tto</a:t>
                      </a:r>
                    </a:p>
                    <a:p>
                      <a:r>
                        <a:rPr lang="es-AR" sz="1800" dirty="0" smtClean="0"/>
                        <a:t>Evolución</a:t>
                      </a:r>
                    </a:p>
                    <a:p>
                      <a:r>
                        <a:rPr lang="es-AR" sz="1800" dirty="0" smtClean="0"/>
                        <a:t>Epicrisis</a:t>
                      </a:r>
                    </a:p>
                    <a:p>
                      <a:pPr>
                        <a:buNone/>
                      </a:pPr>
                      <a:endParaRPr lang="es-AR" sz="1800" dirty="0" smtClean="0"/>
                    </a:p>
                    <a:p>
                      <a:endParaRPr lang="es-ES" dirty="0"/>
                    </a:p>
                  </a:txBody>
                  <a:tcPr/>
                </a:tc>
              </a:tr>
            </a:tbl>
          </a:graphicData>
        </a:graphic>
      </p:graphicFrame>
    </p:spTree>
    <p:extLst>
      <p:ext uri="{BB962C8B-B14F-4D97-AF65-F5344CB8AC3E}">
        <p14:creationId xmlns:p14="http://schemas.microsoft.com/office/powerpoint/2010/main" val="2700122996"/>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262769" y="1737311"/>
            <a:ext cx="8671381" cy="4817754"/>
          </a:xfrm>
        </p:spPr>
        <p:txBody>
          <a:bodyPr/>
          <a:lstStyle/>
          <a:p>
            <a:pPr marL="0" indent="0">
              <a:buNone/>
            </a:pPr>
            <a:r>
              <a:rPr lang="es-AR" sz="2400" b="1" u="sng" dirty="0"/>
              <a:t>Anamnesis:  </a:t>
            </a:r>
            <a:r>
              <a:rPr lang="es-AR" sz="2400" dirty="0"/>
              <a:t>Es el interrogatorio a partir de cual se recogen datos del paciente como persona, su dolencia </a:t>
            </a:r>
            <a:r>
              <a:rPr lang="es-AR" sz="2400" dirty="0" smtClean="0"/>
              <a:t>principal</a:t>
            </a:r>
            <a:r>
              <a:rPr lang="es-AR" sz="2400" dirty="0"/>
              <a:t>, la </a:t>
            </a:r>
            <a:r>
              <a:rPr lang="es-AR" sz="2400" dirty="0" smtClean="0"/>
              <a:t>enfermedad </a:t>
            </a:r>
            <a:r>
              <a:rPr lang="es-AR" sz="2400" dirty="0"/>
              <a:t>actual, la adaptación premórbida, su pasado, su historial médico, antecedentes familiares de trastornos psiquiátricos y médicos.</a:t>
            </a:r>
          </a:p>
          <a:p>
            <a:pPr>
              <a:buNone/>
            </a:pPr>
            <a:r>
              <a:rPr lang="es-AR" sz="2400" b="1" u="sng" dirty="0"/>
              <a:t>Datos filiatorios: </a:t>
            </a:r>
            <a:r>
              <a:rPr lang="es-AR" sz="2400" dirty="0"/>
              <a:t>N</a:t>
            </a:r>
            <a:r>
              <a:rPr lang="es-AR" sz="2400" dirty="0" smtClean="0"/>
              <a:t>ombre </a:t>
            </a:r>
            <a:r>
              <a:rPr lang="es-AR" sz="2400" dirty="0"/>
              <a:t>completo, </a:t>
            </a:r>
            <a:r>
              <a:rPr lang="es-AR" sz="2400" dirty="0" smtClean="0"/>
              <a:t>edad, nacionalidad, estado </a:t>
            </a:r>
            <a:r>
              <a:rPr lang="es-AR" sz="2400" dirty="0"/>
              <a:t>civil, número de hijos, situación laboral, numero total de hospitalizaciones </a:t>
            </a:r>
            <a:r>
              <a:rPr lang="es-AR" sz="2400" dirty="0" smtClean="0"/>
              <a:t>no psiquiatricas, el nombre y el numero de telefono del medico de cabecera.</a:t>
            </a:r>
            <a:endParaRPr lang="es-AR" sz="2400" dirty="0"/>
          </a:p>
          <a:p>
            <a:endParaRPr lang="es-ES" dirty="0"/>
          </a:p>
        </p:txBody>
      </p:sp>
    </p:spTree>
    <p:extLst>
      <p:ext uri="{BB962C8B-B14F-4D97-AF65-F5344CB8AC3E}">
        <p14:creationId xmlns:p14="http://schemas.microsoft.com/office/powerpoint/2010/main" val="1752031723"/>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364958" y="1430726"/>
            <a:ext cx="8481602" cy="5153537"/>
          </a:xfrm>
        </p:spPr>
        <p:txBody>
          <a:bodyPr>
            <a:normAutofit fontScale="92500" lnSpcReduction="20000"/>
          </a:bodyPr>
          <a:lstStyle/>
          <a:p>
            <a:pPr>
              <a:buNone/>
            </a:pPr>
            <a:r>
              <a:rPr lang="es-AR" sz="2400" b="1" u="sng" dirty="0"/>
              <a:t>Motivo de Consulta: </a:t>
            </a:r>
            <a:r>
              <a:rPr lang="es-AR" sz="2400" dirty="0"/>
              <a:t>Se registra literalmente los motivos por los que el paciente ha decidido buscar ayuda; </a:t>
            </a:r>
            <a:r>
              <a:rPr lang="es-AR" sz="2400" dirty="0" smtClean="0"/>
              <a:t>De ser posible se registrar</a:t>
            </a:r>
            <a:r>
              <a:rPr lang="es-AR" sz="2400" dirty="0" smtClean="0"/>
              <a:t>á </a:t>
            </a:r>
            <a:r>
              <a:rPr lang="es-AR" sz="2400" u="sng" dirty="0" smtClean="0"/>
              <a:t>con </a:t>
            </a:r>
            <a:r>
              <a:rPr lang="es-AR" sz="2400" u="sng" dirty="0"/>
              <a:t>las propias palabras del </a:t>
            </a:r>
            <a:r>
              <a:rPr lang="es-AR" sz="2400" u="sng" dirty="0" smtClean="0"/>
              <a:t>paciente</a:t>
            </a:r>
            <a:r>
              <a:rPr lang="es-AR" sz="2400" dirty="0"/>
              <a:t>. “estoy triste, no tengo ganas de hacer nada”, “no sé, me trajeron</a:t>
            </a:r>
            <a:r>
              <a:rPr lang="es-AR" sz="2400" dirty="0" smtClean="0"/>
              <a:t>”, “He pensado en autolesionarme”, “siento que me estoy volviendo loco”.</a:t>
            </a:r>
            <a:endParaRPr lang="es-AR" sz="2400" dirty="0"/>
          </a:p>
          <a:p>
            <a:pPr>
              <a:buNone/>
            </a:pPr>
            <a:r>
              <a:rPr lang="es-AR" sz="2400" b="1" u="sng" dirty="0"/>
              <a:t>Historia de la enfermedad actual: </a:t>
            </a:r>
            <a:r>
              <a:rPr lang="es-AR" sz="2400" dirty="0" smtClean="0"/>
              <a:t>Aporta una imagen completa y cronol</a:t>
            </a:r>
            <a:r>
              <a:rPr lang="es-AR" sz="2400" dirty="0" smtClean="0"/>
              <a:t>ógica de los eventos que han llevado al momento actual de la vida del paciente.</a:t>
            </a:r>
          </a:p>
          <a:p>
            <a:pPr>
              <a:buNone/>
            </a:pPr>
            <a:r>
              <a:rPr lang="es-AR" sz="2400" dirty="0" smtClean="0"/>
              <a:t>Se </a:t>
            </a:r>
            <a:r>
              <a:rPr lang="es-AR" sz="2400" dirty="0"/>
              <a:t>registran los síntomas desde el inicio, hasta el momento presente, la aparición de factores desencadenantes, las exacerbaciones y remisiones de los mismo, la interferencia que producen en el funcionamiento laboral, social y familiar; la personalidad premórbida. La relación entre los síntomas físicos y psicológicos, los </a:t>
            </a:r>
            <a:r>
              <a:rPr lang="es-AR" sz="2400" dirty="0" smtClean="0"/>
              <a:t>tratamientos </a:t>
            </a:r>
            <a:r>
              <a:rPr lang="es-AR" sz="2400" dirty="0"/>
              <a:t>anteriores recibidos, tipos (psicofarmacológico o psicoterapéutico), la adherencia y causas de </a:t>
            </a:r>
            <a:r>
              <a:rPr lang="es-AR" sz="2400" dirty="0" smtClean="0"/>
              <a:t>abandono, si ha presentado efectos adversos de algunos de los farmacos.</a:t>
            </a:r>
            <a:endParaRPr lang="es-AR" sz="2400" dirty="0"/>
          </a:p>
          <a:p>
            <a:endParaRPr lang="es-ES" dirty="0"/>
          </a:p>
        </p:txBody>
      </p:sp>
    </p:spTree>
    <p:extLst>
      <p:ext uri="{BB962C8B-B14F-4D97-AF65-F5344CB8AC3E}">
        <p14:creationId xmlns:p14="http://schemas.microsoft.com/office/powerpoint/2010/main" val="397177881"/>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buNone/>
            </a:pPr>
            <a:r>
              <a:rPr lang="es-ES" dirty="0" smtClean="0"/>
              <a:t>La comprensi</a:t>
            </a:r>
            <a:r>
              <a:rPr lang="es-ES" dirty="0" smtClean="0"/>
              <a:t>ón  de la historia de la enfermedad actual, ayudara a responder las preguntas como: ¿por</a:t>
            </a:r>
            <a:r>
              <a:rPr lang="fr-FR" dirty="0" smtClean="0"/>
              <a:t> que</a:t>
            </a:r>
            <a:r>
              <a:rPr lang="es-ES" dirty="0" smtClean="0"/>
              <a:t> ahora?, ¿por</a:t>
            </a:r>
            <a:r>
              <a:rPr lang="fr-FR" dirty="0" smtClean="0"/>
              <a:t> que</a:t>
            </a:r>
            <a:r>
              <a:rPr lang="es-ES" dirty="0" smtClean="0"/>
              <a:t> el paciente acude al profesional en este momento?, ¿cu</a:t>
            </a:r>
            <a:r>
              <a:rPr lang="es-ES" dirty="0" smtClean="0"/>
              <a:t>á</a:t>
            </a:r>
            <a:r>
              <a:rPr lang="es-ES" dirty="0" smtClean="0"/>
              <a:t>les eran las situaciones vitales del paciente cuando empezaron los síntomas?.</a:t>
            </a:r>
            <a:endParaRPr lang="es-ES" dirty="0"/>
          </a:p>
        </p:txBody>
      </p:sp>
    </p:spTree>
    <p:extLst>
      <p:ext uri="{BB962C8B-B14F-4D97-AF65-F5344CB8AC3E}">
        <p14:creationId xmlns:p14="http://schemas.microsoft.com/office/powerpoint/2010/main" val="269376367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204376" y="919752"/>
            <a:ext cx="8685979" cy="5693709"/>
          </a:xfrm>
        </p:spPr>
        <p:txBody>
          <a:bodyPr>
            <a:normAutofit/>
          </a:bodyPr>
          <a:lstStyle/>
          <a:p>
            <a:pPr>
              <a:buNone/>
            </a:pPr>
            <a:r>
              <a:rPr lang="es-AR" u="sng" dirty="0"/>
              <a:t>Antecedentes personales: </a:t>
            </a:r>
            <a:r>
              <a:rPr lang="es-AR" dirty="0" smtClean="0"/>
              <a:t>Ademas de los datos aportados anteriormente, sera necesario conocer la vida pasada del paciente, tanto en sus aspectos normales como patol</a:t>
            </a:r>
            <a:r>
              <a:rPr lang="es-AR" dirty="0" smtClean="0"/>
              <a:t>ógicos, y en su relación con el actual problema emocional.</a:t>
            </a:r>
          </a:p>
          <a:p>
            <a:pPr>
              <a:buNone/>
            </a:pPr>
            <a:r>
              <a:rPr lang="es-AR" u="sng" dirty="0" smtClean="0"/>
              <a:t>La organizaci</a:t>
            </a:r>
            <a:r>
              <a:rPr lang="es-ES" u="sng" dirty="0" smtClean="0"/>
              <a:t>ó</a:t>
            </a:r>
            <a:r>
              <a:rPr lang="es-AR" u="sng" dirty="0" smtClean="0"/>
              <a:t>n de los datos sigue un orden cronológico: </a:t>
            </a:r>
            <a:endParaRPr lang="es-AR" u="sng" dirty="0"/>
          </a:p>
          <a:p>
            <a:pPr>
              <a:buNone/>
            </a:pPr>
            <a:r>
              <a:rPr lang="es-AR" dirty="0" smtClean="0"/>
              <a:t>Embarazo, parto, lactancia y desarrollo psicomotor.</a:t>
            </a:r>
            <a:endParaRPr lang="es-AR" dirty="0"/>
          </a:p>
          <a:p>
            <a:pPr>
              <a:buNone/>
            </a:pPr>
            <a:r>
              <a:rPr lang="es-AR" u="sng" dirty="0" smtClean="0"/>
              <a:t>Infancia: </a:t>
            </a:r>
            <a:r>
              <a:rPr lang="es-AR" dirty="0" smtClean="0"/>
              <a:t>Se evaluara conductas, h</a:t>
            </a:r>
            <a:r>
              <a:rPr lang="es-AR" dirty="0" smtClean="0"/>
              <a:t>ábitos alimenticios, caracteristicas del sueño, caràcter, relaciones familiares y con otros niños, rabietas, miedos. Se consignara el desarrol</a:t>
            </a:r>
            <a:r>
              <a:rPr lang="es-ES" dirty="0" smtClean="0"/>
              <a:t>l</a:t>
            </a:r>
            <a:r>
              <a:rPr lang="es-AR" dirty="0" smtClean="0"/>
              <a:t>o intelectual, escolaridad, inicio de la misma, rendimiento, etc.</a:t>
            </a:r>
          </a:p>
          <a:p>
            <a:pPr>
              <a:buNone/>
            </a:pPr>
            <a:endParaRPr lang="es-AR" dirty="0"/>
          </a:p>
          <a:p>
            <a:endParaRPr lang="es-ES" dirty="0"/>
          </a:p>
        </p:txBody>
      </p:sp>
    </p:spTree>
    <p:extLst>
      <p:ext uri="{BB962C8B-B14F-4D97-AF65-F5344CB8AC3E}">
        <p14:creationId xmlns:p14="http://schemas.microsoft.com/office/powerpoint/2010/main" val="3380665615"/>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graphicFrame>
        <p:nvGraphicFramePr>
          <p:cNvPr id="6" name="Marcador de contenido 5"/>
          <p:cNvGraphicFramePr>
            <a:graphicFrameLocks noGrp="1"/>
          </p:cNvGraphicFramePr>
          <p:nvPr>
            <p:ph idx="1"/>
            <p:extLst>
              <p:ext uri="{D42A27DB-BD31-4B8C-83A1-F6EECF244321}">
                <p14:modId xmlns:p14="http://schemas.microsoft.com/office/powerpoint/2010/main" val="345801088"/>
              </p:ext>
            </p:extLst>
          </p:nvPr>
        </p:nvGraphicFramePr>
        <p:xfrm>
          <a:off x="685800" y="437761"/>
          <a:ext cx="7770813" cy="5943600"/>
        </p:xfrm>
        <a:graphic>
          <a:graphicData uri="http://schemas.openxmlformats.org/drawingml/2006/table">
            <a:tbl>
              <a:tblPr firstRow="1" bandRow="1">
                <a:tableStyleId>{073A0DAA-6AF3-43AB-8588-CEC1D06C72B9}</a:tableStyleId>
              </a:tblPr>
              <a:tblGrid>
                <a:gridCol w="2590271"/>
                <a:gridCol w="2590271"/>
                <a:gridCol w="2590271"/>
              </a:tblGrid>
              <a:tr h="905370">
                <a:tc>
                  <a:txBody>
                    <a:bodyPr/>
                    <a:lstStyle/>
                    <a:p>
                      <a:r>
                        <a:rPr lang="es-ES" u="sng" dirty="0" smtClean="0"/>
                        <a:t>Principio</a:t>
                      </a:r>
                      <a:r>
                        <a:rPr lang="es-ES" u="sng" baseline="0" dirty="0" smtClean="0"/>
                        <a:t> de la infancia </a:t>
                      </a:r>
                      <a:r>
                        <a:rPr lang="es-ES" baseline="0" dirty="0" smtClean="0"/>
                        <a:t>(nacimiento hasta los 3 años)</a:t>
                      </a:r>
                      <a:endParaRPr lang="es-ES" dirty="0"/>
                    </a:p>
                  </a:txBody>
                  <a:tcPr/>
                </a:tc>
                <a:tc>
                  <a:txBody>
                    <a:bodyPr/>
                    <a:lstStyle/>
                    <a:p>
                      <a:r>
                        <a:rPr lang="es-ES" u="sng" dirty="0" smtClean="0"/>
                        <a:t>Infancia media</a:t>
                      </a:r>
                      <a:r>
                        <a:rPr lang="es-ES" u="sng" baseline="0" dirty="0" smtClean="0"/>
                        <a:t> </a:t>
                      </a:r>
                      <a:r>
                        <a:rPr lang="es-ES" baseline="0" dirty="0" smtClean="0"/>
                        <a:t>(De los 3 a 11 años)</a:t>
                      </a:r>
                      <a:endParaRPr lang="es-ES" dirty="0"/>
                    </a:p>
                  </a:txBody>
                  <a:tcPr/>
                </a:tc>
                <a:tc>
                  <a:txBody>
                    <a:bodyPr/>
                    <a:lstStyle/>
                    <a:p>
                      <a:r>
                        <a:rPr lang="es-ES" u="sng" dirty="0" smtClean="0"/>
                        <a:t>Final de la infancia </a:t>
                      </a:r>
                      <a:r>
                        <a:rPr lang="es-ES" dirty="0" smtClean="0"/>
                        <a:t>(de la pubertad a la adolescencia)</a:t>
                      </a:r>
                      <a:endParaRPr lang="es-ES" dirty="0"/>
                    </a:p>
                  </a:txBody>
                  <a:tcPr/>
                </a:tc>
              </a:tr>
              <a:tr h="2962486">
                <a:tc>
                  <a:txBody>
                    <a:bodyPr/>
                    <a:lstStyle/>
                    <a:p>
                      <a:r>
                        <a:rPr lang="es-ES" dirty="0" smtClean="0"/>
                        <a:t>La calidad de la interacción de la madre-</a:t>
                      </a:r>
                      <a:r>
                        <a:rPr lang="es-ES" baseline="0" dirty="0" smtClean="0"/>
                        <a:t> hijo durante la lactancia es importante. Los trastornos precoces en las rutinas del sueño, con episodios de golpes en la cabeza y balanceo corporal, aportan claves sobre posible privación materna o disfunción en el desarrollo.</a:t>
                      </a:r>
                    </a:p>
                    <a:p>
                      <a:r>
                        <a:rPr lang="es-ES" baseline="0" dirty="0" smtClean="0"/>
                        <a:t>La personalidad emergente es un tema de vital importancia. ¿Fue tímido, hiperactivo, retraído, extrovertido, simpático, </a:t>
                      </a:r>
                      <a:r>
                        <a:rPr lang="es-ES" baseline="0" dirty="0" err="1" smtClean="0"/>
                        <a:t>etc</a:t>
                      </a:r>
                      <a:r>
                        <a:rPr lang="es-ES" baseline="0" dirty="0" smtClean="0"/>
                        <a:t>?</a:t>
                      </a:r>
                      <a:endParaRPr lang="es-ES" dirty="0"/>
                    </a:p>
                  </a:txBody>
                  <a:tcPr/>
                </a:tc>
                <a:tc>
                  <a:txBody>
                    <a:bodyPr/>
                    <a:lstStyle/>
                    <a:p>
                      <a:r>
                        <a:rPr lang="es-ES" dirty="0" smtClean="0"/>
                        <a:t>Se centra</a:t>
                      </a:r>
                      <a:r>
                        <a:rPr lang="es-ES" baseline="0" dirty="0" smtClean="0"/>
                        <a:t> en asuntos importantes como la identificación de géneros, los castigos empleados en casa y las personas que aportan disciplina e influyeron en la formación de la conciencia temprana. Debe indagar sobre las primeras experiencias escolares, sobre las primeras amistades, cuantos amigos tiene, si adquiere papel de líder o de seguidor, etc.</a:t>
                      </a:r>
                      <a:endParaRPr lang="es-ES" dirty="0"/>
                    </a:p>
                  </a:txBody>
                  <a:tcPr/>
                </a:tc>
                <a:tc>
                  <a:txBody>
                    <a:bodyPr/>
                    <a:lstStyle/>
                    <a:p>
                      <a:r>
                        <a:rPr lang="es-ES" dirty="0" smtClean="0"/>
                        <a:t>Generalmente las personas comienzan a </a:t>
                      </a:r>
                      <a:r>
                        <a:rPr lang="es-ES" dirty="0" err="1" smtClean="0"/>
                        <a:t>desarrolar</a:t>
                      </a:r>
                      <a:r>
                        <a:rPr lang="es-ES" dirty="0" smtClean="0"/>
                        <a:t> cierta independencia de sus padres.</a:t>
                      </a:r>
                    </a:p>
                    <a:p>
                      <a:r>
                        <a:rPr lang="es-ES" dirty="0" smtClean="0"/>
                        <a:t>El psiquiatra debe indagar</a:t>
                      </a:r>
                      <a:r>
                        <a:rPr lang="es-ES" baseline="0" dirty="0" smtClean="0"/>
                        <a:t> acerca de cuales son sus valores de los grupos sociales del paciente y determinar cuales eran sus figuras idealizadas. Esta información ofrece claves útiles sobre la imagen de si mismo que emerge del propio paciente.</a:t>
                      </a:r>
                      <a:endParaRPr lang="es-ES" dirty="0"/>
                    </a:p>
                  </a:txBody>
                  <a:tcPr/>
                </a:tc>
              </a:tr>
            </a:tbl>
          </a:graphicData>
        </a:graphic>
      </p:graphicFrame>
    </p:spTree>
    <p:extLst>
      <p:ext uri="{BB962C8B-B14F-4D97-AF65-F5344CB8AC3E}">
        <p14:creationId xmlns:p14="http://schemas.microsoft.com/office/powerpoint/2010/main" val="1951410703"/>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102188" y="583970"/>
            <a:ext cx="8744372" cy="5985695"/>
          </a:xfrm>
        </p:spPr>
        <p:txBody>
          <a:bodyPr>
            <a:normAutofit fontScale="92500" lnSpcReduction="20000"/>
          </a:bodyPr>
          <a:lstStyle/>
          <a:p>
            <a:pPr>
              <a:buNone/>
            </a:pPr>
            <a:r>
              <a:rPr lang="es-AR" u="sng" dirty="0"/>
              <a:t>Adolescencia: </a:t>
            </a:r>
            <a:r>
              <a:rPr lang="es-AR" dirty="0"/>
              <a:t>Potencial académico, áreas de interés especial y su  relación con grupo de compañeros. Acerca de  trastornos de la conducta alimentaria, alteraciones del sueño, actividad sexual, sintomas depresivos ideas de suicidio, consumo de tóxicos.</a:t>
            </a:r>
          </a:p>
          <a:p>
            <a:pPr>
              <a:buNone/>
            </a:pPr>
            <a:r>
              <a:rPr lang="es-AR" u="sng" dirty="0" smtClean="0"/>
              <a:t>Edad </a:t>
            </a:r>
            <a:r>
              <a:rPr lang="es-AR" u="sng" dirty="0"/>
              <a:t>adulta</a:t>
            </a:r>
            <a:r>
              <a:rPr lang="es-AR" dirty="0"/>
              <a:t>: historia </a:t>
            </a:r>
            <a:r>
              <a:rPr lang="es-AR" dirty="0" smtClean="0"/>
              <a:t>ocupacional, la formaci</a:t>
            </a:r>
            <a:r>
              <a:rPr lang="es-AR" dirty="0" smtClean="0"/>
              <a:t>ón y la preparación requerida</a:t>
            </a:r>
            <a:r>
              <a:rPr lang="es-AR" dirty="0" smtClean="0"/>
              <a:t>, problables conflictos en el trabajo, las ambiciones, objetivos a corto y largo plazo, puesto en el trabajo. Historia marital(relaciones de pareja, hijos, tipos de relaciones sociales), </a:t>
            </a:r>
            <a:r>
              <a:rPr lang="es-AR" dirty="0"/>
              <a:t>educativa adulta, filiación religiosa, </a:t>
            </a:r>
            <a:r>
              <a:rPr lang="es-AR" dirty="0" smtClean="0"/>
              <a:t>ocio y situaci</a:t>
            </a:r>
            <a:r>
              <a:rPr lang="es-AR" dirty="0" smtClean="0"/>
              <a:t>ón economica. </a:t>
            </a:r>
            <a:endParaRPr lang="es-AR" dirty="0"/>
          </a:p>
          <a:p>
            <a:pPr>
              <a:buNone/>
            </a:pPr>
            <a:r>
              <a:rPr lang="es-AR" u="sng" dirty="0"/>
              <a:t>Historia sexual</a:t>
            </a:r>
            <a:r>
              <a:rPr lang="es-AR" dirty="0"/>
              <a:t>: </a:t>
            </a:r>
            <a:r>
              <a:rPr lang="es-AR" dirty="0" smtClean="0"/>
              <a:t>Se debera preguntar al paciente como se inform</a:t>
            </a:r>
            <a:r>
              <a:rPr lang="es-AR" dirty="0" smtClean="0"/>
              <a:t>ó de la sexualidad, si sufrio abuso sexual, actitud del paciente hacia el sexo, datos sobre la masturbación, promiscuidad. Se examinaran las áreas de disfunción sexual tales como la </a:t>
            </a:r>
            <a:r>
              <a:rPr lang="es-AR" dirty="0" smtClean="0"/>
              <a:t>pérdida </a:t>
            </a:r>
            <a:r>
              <a:rPr lang="es-AR" dirty="0"/>
              <a:t>del deseo, dificultad en la erección, eyaculación, dispareunia, </a:t>
            </a:r>
            <a:r>
              <a:rPr lang="es-AR" dirty="0" smtClean="0"/>
              <a:t>anorgasmia.</a:t>
            </a:r>
            <a:endParaRPr lang="es-AR" dirty="0"/>
          </a:p>
          <a:p>
            <a:pPr>
              <a:buNone/>
            </a:pPr>
            <a:r>
              <a:rPr lang="es-AR" u="sng" dirty="0"/>
              <a:t>Antecedentes de patología </a:t>
            </a:r>
            <a:r>
              <a:rPr lang="es-AR" u="sng" dirty="0" smtClean="0"/>
              <a:t>psiquiátrica:</a:t>
            </a:r>
            <a:r>
              <a:rPr lang="es-AR" dirty="0" smtClean="0"/>
              <a:t> Fechas, diagnosticos y tratamientos recibidos.</a:t>
            </a:r>
            <a:endParaRPr lang="es-AR" u="sng" dirty="0"/>
          </a:p>
          <a:p>
            <a:pPr>
              <a:buNone/>
            </a:pPr>
            <a:r>
              <a:rPr lang="es-AR" u="sng" dirty="0"/>
              <a:t>Antecedentes </a:t>
            </a:r>
            <a:r>
              <a:rPr lang="es-AR" u="sng" dirty="0" smtClean="0"/>
              <a:t>médicos: </a:t>
            </a:r>
            <a:r>
              <a:rPr lang="es-AR" dirty="0" smtClean="0"/>
              <a:t>Enfermedades en la niñez, enfermedades cronicas, cirug</a:t>
            </a:r>
            <a:r>
              <a:rPr lang="es-AR" dirty="0" smtClean="0"/>
              <a:t>ías.</a:t>
            </a:r>
            <a:endParaRPr lang="es-AR" u="sng" dirty="0"/>
          </a:p>
          <a:p>
            <a:endParaRPr lang="es-ES" dirty="0"/>
          </a:p>
        </p:txBody>
      </p:sp>
    </p:spTree>
    <p:extLst>
      <p:ext uri="{BB962C8B-B14F-4D97-AF65-F5344CB8AC3E}">
        <p14:creationId xmlns:p14="http://schemas.microsoft.com/office/powerpoint/2010/main" val="1092887023"/>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normAutofit fontScale="92500" lnSpcReduction="10000"/>
          </a:bodyPr>
          <a:lstStyle/>
          <a:p>
            <a:pPr>
              <a:buNone/>
            </a:pPr>
            <a:r>
              <a:rPr lang="es-AR" u="sng" dirty="0"/>
              <a:t>Antecedentes </a:t>
            </a:r>
            <a:r>
              <a:rPr lang="es-AR" u="sng" dirty="0" smtClean="0"/>
              <a:t>familiares</a:t>
            </a:r>
            <a:r>
              <a:rPr lang="es-AR" dirty="0"/>
              <a:t>: </a:t>
            </a:r>
            <a:r>
              <a:rPr lang="es-AR" dirty="0" smtClean="0"/>
              <a:t>Se debe dejar consignado que familares  </a:t>
            </a:r>
            <a:r>
              <a:rPr lang="es-AR" dirty="0"/>
              <a:t>sufrieron problemas emocionales, trastornos orgánicos, conductas suicidad o fallecimiento por suicidio. Útil en familias con carga genética de enfermedades psiquiátricas o </a:t>
            </a:r>
            <a:r>
              <a:rPr lang="es-AR" dirty="0" smtClean="0"/>
              <a:t>médicas, incluyendo esquizofrenia, tasrtornos afectivos mayores, demencias y epilepsias.</a:t>
            </a:r>
          </a:p>
          <a:p>
            <a:pPr>
              <a:buNone/>
            </a:pPr>
            <a:r>
              <a:rPr lang="es-AR" dirty="0" smtClean="0"/>
              <a:t>¿Hay alguna histotria de alcoholismo y consumo de sustancias o de conductas en la familia?</a:t>
            </a:r>
          </a:p>
          <a:p>
            <a:pPr>
              <a:buNone/>
            </a:pPr>
            <a:r>
              <a:rPr lang="es-AR" dirty="0" smtClean="0"/>
              <a:t>Tambien deber</a:t>
            </a:r>
            <a:r>
              <a:rPr lang="es-AR" dirty="0" smtClean="0"/>
              <a:t>ía definir el papel de cada persona ha desempeñado en la educación del paciente y su relacion actual. El psiquiatra debe pedirle que describa a los miembros de la familia. ¿a quien nombra primero?, ¿a quien no menciona?, ¿a qué se dedican los padres?, ¿a qué miembro de la familia cree que se parece mas el paciente y por qué?.</a:t>
            </a:r>
            <a:endParaRPr lang="es-AR" dirty="0"/>
          </a:p>
          <a:p>
            <a:endParaRPr lang="es-AR" dirty="0"/>
          </a:p>
          <a:p>
            <a:endParaRPr lang="es-ES" dirty="0"/>
          </a:p>
        </p:txBody>
      </p:sp>
    </p:spTree>
    <p:extLst>
      <p:ext uri="{BB962C8B-B14F-4D97-AF65-F5344CB8AC3E}">
        <p14:creationId xmlns:p14="http://schemas.microsoft.com/office/powerpoint/2010/main" val="1249276999"/>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buNone/>
            </a:pPr>
            <a:r>
              <a:rPr lang="es-ES" u="sng" dirty="0" smtClean="0"/>
              <a:t>Valores</a:t>
            </a:r>
            <a:r>
              <a:rPr lang="es-ES" dirty="0" smtClean="0"/>
              <a:t>: El psiquiatra puede plantear preguntas sobre el sistema de valores(sociales y morales) del paciente, como los valores sobre el trabajo, el dinero, el juego, los hijos, los padres, los amigos, el sexo, temas culturales. </a:t>
            </a:r>
            <a:r>
              <a:rPr lang="es-ES" dirty="0" err="1" smtClean="0"/>
              <a:t>Ej</a:t>
            </a:r>
            <a:r>
              <a:rPr lang="es-ES" dirty="0" smtClean="0"/>
              <a:t>: ¿los niños son una carga o una alegría?, ¿el trabajo es un mal necesario?.</a:t>
            </a:r>
            <a:endParaRPr lang="es-ES" dirty="0"/>
          </a:p>
        </p:txBody>
      </p:sp>
    </p:spTree>
    <p:extLst>
      <p:ext uri="{BB962C8B-B14F-4D97-AF65-F5344CB8AC3E}">
        <p14:creationId xmlns:p14="http://schemas.microsoft.com/office/powerpoint/2010/main" val="1353199846"/>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218974" y="350382"/>
            <a:ext cx="8627586" cy="6306877"/>
          </a:xfrm>
        </p:spPr>
        <p:txBody>
          <a:bodyPr>
            <a:normAutofit lnSpcReduction="10000"/>
          </a:bodyPr>
          <a:lstStyle/>
          <a:p>
            <a:r>
              <a:rPr lang="es-AR" sz="2600" b="1" i="1" u="sng" dirty="0"/>
              <a:t>Examen del estado mental</a:t>
            </a:r>
            <a:r>
              <a:rPr lang="es-AR" sz="2600" b="1" i="1" u="sng" dirty="0" smtClean="0"/>
              <a:t>:</a:t>
            </a:r>
          </a:p>
          <a:p>
            <a:pPr marL="0" indent="0">
              <a:buNone/>
            </a:pPr>
            <a:r>
              <a:rPr lang="es-AR" u="sng" dirty="0" smtClean="0"/>
              <a:t>El examen del estado mental incluir</a:t>
            </a:r>
            <a:r>
              <a:rPr lang="es-AR" u="sng" dirty="0" smtClean="0"/>
              <a:t>á la exploracion de los signos y síntomas, rasgos de car</a:t>
            </a:r>
            <a:r>
              <a:rPr lang="es-ES" u="sng" dirty="0" smtClean="0"/>
              <a:t>á</a:t>
            </a:r>
            <a:r>
              <a:rPr lang="es-AR" u="sng" dirty="0" smtClean="0"/>
              <a:t>cter y conductas del paciente. Los mismos podran comprenderse de la siguiente manera:</a:t>
            </a:r>
            <a:endParaRPr lang="es-AR" u="sng" dirty="0"/>
          </a:p>
          <a:p>
            <a:pPr>
              <a:buNone/>
            </a:pPr>
            <a:r>
              <a:rPr lang="es-AR" u="sng" dirty="0"/>
              <a:t>Observación</a:t>
            </a:r>
            <a:r>
              <a:rPr lang="es-AR" dirty="0"/>
              <a:t>: </a:t>
            </a:r>
            <a:r>
              <a:rPr lang="es-AR" dirty="0" smtClean="0"/>
              <a:t>Apariencia</a:t>
            </a:r>
            <a:r>
              <a:rPr lang="es-AR" dirty="0"/>
              <a:t>, nivel de conciencia, comportamiento motor y no </a:t>
            </a:r>
            <a:r>
              <a:rPr lang="es-AR" dirty="0" smtClean="0"/>
              <a:t>verbal.</a:t>
            </a:r>
          </a:p>
          <a:p>
            <a:pPr>
              <a:buNone/>
            </a:pPr>
            <a:r>
              <a:rPr lang="es-AR" dirty="0" smtClean="0"/>
              <a:t>Si presenta aspecto raro, el psiquiatra puede preguntar; ¿alguna vez le han hecho alg</a:t>
            </a:r>
            <a:r>
              <a:rPr lang="es-AR" dirty="0" smtClean="0"/>
              <a:t>ún comentaria acerca de su aspecto?,¿ como describiria su aspecto?.</a:t>
            </a:r>
            <a:endParaRPr lang="es-AR" dirty="0" smtClean="0"/>
          </a:p>
          <a:p>
            <a:pPr>
              <a:buNone/>
            </a:pPr>
            <a:r>
              <a:rPr lang="es-AR" u="sng" dirty="0" smtClean="0"/>
              <a:t>Actitud hacia el examinador</a:t>
            </a:r>
            <a:r>
              <a:rPr lang="es-AR" dirty="0" smtClean="0"/>
              <a:t>: Cooperativa, despectiva, perpleja, ap</a:t>
            </a:r>
            <a:r>
              <a:rPr lang="es-AR" dirty="0" smtClean="0"/>
              <a:t>ática, hostil, juguetona, halagadora, evasiva.</a:t>
            </a:r>
            <a:endParaRPr lang="es-AR" dirty="0"/>
          </a:p>
          <a:p>
            <a:pPr>
              <a:buNone/>
            </a:pPr>
            <a:r>
              <a:rPr lang="es-AR" u="sng" dirty="0"/>
              <a:t>Conversación: </a:t>
            </a:r>
            <a:r>
              <a:rPr lang="es-AR" dirty="0" smtClean="0"/>
              <a:t>Permite obtener informacion acerca de la atención</a:t>
            </a:r>
            <a:r>
              <a:rPr lang="es-AR" dirty="0"/>
              <a:t>, concentración, lenguaje, orientación, memoria, </a:t>
            </a:r>
            <a:r>
              <a:rPr lang="es-AR" dirty="0" smtClean="0"/>
              <a:t>humor.</a:t>
            </a:r>
            <a:endParaRPr lang="es-AR" dirty="0"/>
          </a:p>
          <a:p>
            <a:pPr>
              <a:buNone/>
            </a:pPr>
            <a:r>
              <a:rPr lang="es-AR" u="sng" dirty="0"/>
              <a:t>Exploración</a:t>
            </a:r>
            <a:r>
              <a:rPr lang="es-AR" dirty="0"/>
              <a:t>: </a:t>
            </a:r>
            <a:r>
              <a:rPr lang="es-AR" dirty="0" smtClean="0"/>
              <a:t>Se inventigan las funciones </a:t>
            </a:r>
            <a:r>
              <a:rPr lang="es-AR" dirty="0"/>
              <a:t>psíquicas (percepción, pensamiento, etc.)</a:t>
            </a:r>
          </a:p>
          <a:p>
            <a:pPr marL="0" indent="0">
              <a:buNone/>
            </a:pPr>
            <a:endParaRPr lang="es-ES" dirty="0"/>
          </a:p>
        </p:txBody>
      </p:sp>
    </p:spTree>
    <p:extLst>
      <p:ext uri="{BB962C8B-B14F-4D97-AF65-F5344CB8AC3E}">
        <p14:creationId xmlns:p14="http://schemas.microsoft.com/office/powerpoint/2010/main" val="4224262997"/>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buNone/>
            </a:pPr>
            <a:r>
              <a:rPr lang="es-ES" u="sng" dirty="0" smtClean="0"/>
              <a:t>Impulsividad</a:t>
            </a:r>
            <a:r>
              <a:rPr lang="es-ES" dirty="0" smtClean="0"/>
              <a:t>: El paciente ¿ es capaz de controlar sus impulsos sexuales, agresivos o de otro índole?. Es posible que tengo problemas en controlar sus impulsos debido a trastornos cognitivos y psicóticos o por defectos crónicos como en los trastornos de la personalidad.</a:t>
            </a:r>
            <a:endParaRPr lang="es-ES" dirty="0"/>
          </a:p>
        </p:txBody>
      </p:sp>
    </p:spTree>
    <p:extLst>
      <p:ext uri="{BB962C8B-B14F-4D97-AF65-F5344CB8AC3E}">
        <p14:creationId xmlns:p14="http://schemas.microsoft.com/office/powerpoint/2010/main" val="2665348725"/>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394154" y="744562"/>
            <a:ext cx="8379415" cy="5810503"/>
          </a:xfrm>
        </p:spPr>
        <p:txBody>
          <a:bodyPr>
            <a:normAutofit lnSpcReduction="10000"/>
          </a:bodyPr>
          <a:lstStyle/>
          <a:p>
            <a:pPr marL="0" indent="0">
              <a:buNone/>
            </a:pPr>
            <a:r>
              <a:rPr lang="es-AR" sz="2800" b="1" i="1" u="sng" dirty="0" smtClean="0"/>
              <a:t>Exploración física</a:t>
            </a:r>
          </a:p>
          <a:p>
            <a:pPr marL="0" indent="0">
              <a:buNone/>
            </a:pPr>
            <a:r>
              <a:rPr lang="es-AR" dirty="0" smtClean="0"/>
              <a:t>Incluye la informaci</a:t>
            </a:r>
            <a:r>
              <a:rPr lang="es-AR" dirty="0" smtClean="0"/>
              <a:t>ón de una detallada exploración fisica general y otra más específica tipo nerológico, para descartar lesiones orgánicas.</a:t>
            </a:r>
            <a:endParaRPr lang="es-AR" dirty="0"/>
          </a:p>
          <a:p>
            <a:pPr marL="0" indent="0">
              <a:buNone/>
            </a:pPr>
            <a:r>
              <a:rPr lang="es-AR" u="sng" dirty="0" smtClean="0"/>
              <a:t>exámenes complementarios</a:t>
            </a:r>
          </a:p>
          <a:p>
            <a:pPr>
              <a:buNone/>
            </a:pPr>
            <a:r>
              <a:rPr lang="es-AR" dirty="0" smtClean="0"/>
              <a:t>Hemograma</a:t>
            </a:r>
            <a:r>
              <a:rPr lang="es-AR" dirty="0"/>
              <a:t>, hepatograma, GGT, TSH, función renal, glucemia, serología HIV, ECG, Rx de tórax en mayores de 35 años</a:t>
            </a:r>
          </a:p>
          <a:p>
            <a:pPr>
              <a:buNone/>
            </a:pPr>
            <a:r>
              <a:rPr lang="es-AR" dirty="0"/>
              <a:t>EEG, en trastorno de la conciencia</a:t>
            </a:r>
          </a:p>
          <a:p>
            <a:pPr>
              <a:buNone/>
            </a:pPr>
            <a:r>
              <a:rPr lang="es-AR" dirty="0"/>
              <a:t>TAC/RMI cerebral cdo se sospecha patología cerebral, demencia, psicosis, trastornos de la personalidad de inicio después de los 50 años, alcoholismo</a:t>
            </a:r>
          </a:p>
          <a:p>
            <a:pPr>
              <a:buNone/>
            </a:pPr>
            <a:r>
              <a:rPr lang="es-AR" dirty="0"/>
              <a:t>SPECT, TEP, EMT</a:t>
            </a:r>
          </a:p>
          <a:p>
            <a:pPr>
              <a:buNone/>
            </a:pPr>
            <a:r>
              <a:rPr lang="es-AR" u="sng" dirty="0"/>
              <a:t>Test neuropsicológicos</a:t>
            </a:r>
            <a:r>
              <a:rPr lang="es-AR" dirty="0"/>
              <a:t>: mini mental, Hamilton D</a:t>
            </a:r>
          </a:p>
          <a:p>
            <a:endParaRPr lang="es-ES" dirty="0"/>
          </a:p>
        </p:txBody>
      </p:sp>
    </p:spTree>
    <p:extLst>
      <p:ext uri="{BB962C8B-B14F-4D97-AF65-F5344CB8AC3E}">
        <p14:creationId xmlns:p14="http://schemas.microsoft.com/office/powerpoint/2010/main" val="1286106180"/>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2800" dirty="0" smtClean="0"/>
              <a:t>Aspectos generales</a:t>
            </a:r>
            <a:endParaRPr lang="es-ES" sz="2800" dirty="0"/>
          </a:p>
        </p:txBody>
      </p:sp>
      <p:sp>
        <p:nvSpPr>
          <p:cNvPr id="3" name="Marcador de contenido 2"/>
          <p:cNvSpPr>
            <a:spLocks noGrp="1"/>
          </p:cNvSpPr>
          <p:nvPr>
            <p:ph idx="1"/>
          </p:nvPr>
        </p:nvSpPr>
        <p:spPr>
          <a:xfrm>
            <a:off x="204376" y="1284734"/>
            <a:ext cx="8583791" cy="5241133"/>
          </a:xfrm>
        </p:spPr>
        <p:txBody>
          <a:bodyPr>
            <a:normAutofit lnSpcReduction="10000"/>
          </a:bodyPr>
          <a:lstStyle/>
          <a:p>
            <a:pPr marL="0" indent="0">
              <a:buNone/>
            </a:pPr>
            <a:r>
              <a:rPr lang="es-ES" u="sng" dirty="0" smtClean="0"/>
              <a:t>Historia menstrual: </a:t>
            </a:r>
            <a:r>
              <a:rPr lang="es-ES" dirty="0" smtClean="0"/>
              <a:t>Debe incluir la edad de menarquia y de menopausia; regularidad, duración y la cantidad de flujo de los periodos, sangrado irregular, abortos. La amenorrea es característica de la anorexia nerviosa y también se puede dar en mujeres estresadas. Los cambios del humor premenstruales (irritabilidad, depresión, disforia) deben tenerse en cuenta.</a:t>
            </a:r>
          </a:p>
          <a:p>
            <a:pPr marL="0" indent="0">
              <a:buNone/>
            </a:pPr>
            <a:r>
              <a:rPr lang="es-ES" u="sng" dirty="0" smtClean="0"/>
              <a:t>El olor: </a:t>
            </a:r>
            <a:r>
              <a:rPr lang="es-ES" dirty="0" smtClean="0"/>
              <a:t>El olor desagradable en un paciente que no se lava puede aportar datos acerca de una depresión o algún trastorno cognitivo. El olor alcohol. </a:t>
            </a:r>
          </a:p>
          <a:p>
            <a:pPr marL="0" indent="0">
              <a:buNone/>
            </a:pPr>
            <a:r>
              <a:rPr lang="es-ES" dirty="0" smtClean="0"/>
              <a:t>Escucha: Una forma lenta de hablar es típico de la depresión, disfunción cerebral difusa y disfunción subcortical. El habla excesivamente rápido es característico de los maniacos y de los trastornos de ansiedad. Una voz débil es con un tono monótono puede ser una pista de la enfermedad de Parkinson el paciente que refiere principalmente depresión.</a:t>
            </a:r>
          </a:p>
          <a:p>
            <a:pPr marL="0" indent="0">
              <a:buNone/>
            </a:pPr>
            <a:endParaRPr lang="es-ES" dirty="0"/>
          </a:p>
        </p:txBody>
      </p:sp>
    </p:spTree>
    <p:extLst>
      <p:ext uri="{BB962C8B-B14F-4D97-AF65-F5344CB8AC3E}">
        <p14:creationId xmlns:p14="http://schemas.microsoft.com/office/powerpoint/2010/main" val="1341933587"/>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pPr marL="0" indent="0">
              <a:buNone/>
            </a:pPr>
            <a:r>
              <a:rPr lang="es-ES" dirty="0" smtClean="0"/>
              <a:t>La dificultad para comenzar hablar puede deberse a la ansiedad o puede indicar una enfermedad de Parkinson o una afasia.</a:t>
            </a:r>
          </a:p>
          <a:p>
            <a:pPr marL="0" indent="0">
              <a:buNone/>
            </a:pPr>
            <a:r>
              <a:rPr lang="es-ES" dirty="0" smtClean="0"/>
              <a:t>Cuando no están en consonancia con los niveles socioeconómicos y educativos de los paciente, las groserías, las blasfemias y las revelaciones inapropiadas pueden indicar una perdida de la inhibición causada por la demencia.</a:t>
            </a:r>
            <a:endParaRPr lang="es-ES" dirty="0"/>
          </a:p>
        </p:txBody>
      </p:sp>
    </p:spTree>
    <p:extLst>
      <p:ext uri="{BB962C8B-B14F-4D97-AF65-F5344CB8AC3E}">
        <p14:creationId xmlns:p14="http://schemas.microsoft.com/office/powerpoint/2010/main" val="2958966833"/>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AR" sz="2800" dirty="0"/>
              <a:t>DIAGNÓSTICO MULTIAXIAL</a:t>
            </a:r>
            <a:endParaRPr lang="es-ES" sz="2800"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038034421"/>
              </p:ext>
            </p:extLst>
          </p:nvPr>
        </p:nvGraphicFramePr>
        <p:xfrm>
          <a:off x="350838" y="1550988"/>
          <a:ext cx="8423276" cy="4577037"/>
        </p:xfrm>
        <a:graphic>
          <a:graphicData uri="http://schemas.openxmlformats.org/drawingml/2006/table">
            <a:tbl>
              <a:tblPr firstRow="1" bandRow="1">
                <a:tableStyleId>{073A0DAA-6AF3-43AB-8588-CEC1D06C72B9}</a:tableStyleId>
              </a:tblPr>
              <a:tblGrid>
                <a:gridCol w="4211638"/>
                <a:gridCol w="4211638"/>
              </a:tblGrid>
              <a:tr h="507507">
                <a:tc>
                  <a:txBody>
                    <a:bodyPr/>
                    <a:lstStyle/>
                    <a:p>
                      <a:r>
                        <a:rPr lang="es-ES" dirty="0" smtClean="0"/>
                        <a:t>DSM IV</a:t>
                      </a:r>
                      <a:endParaRPr lang="es-ES" dirty="0"/>
                    </a:p>
                  </a:txBody>
                  <a:tcPr/>
                </a:tc>
                <a:tc>
                  <a:txBody>
                    <a:bodyPr/>
                    <a:lstStyle/>
                    <a:p>
                      <a:r>
                        <a:rPr lang="es-ES" dirty="0" smtClean="0"/>
                        <a:t>CIE10</a:t>
                      </a:r>
                      <a:endParaRPr lang="es-ES" dirty="0"/>
                    </a:p>
                  </a:txBody>
                  <a:tcPr/>
                </a:tc>
              </a:tr>
              <a:tr h="4069530">
                <a:tc>
                  <a:txBody>
                    <a:bodyPr/>
                    <a:lstStyle/>
                    <a:p>
                      <a:r>
                        <a:rPr lang="es-AR" u="sng" dirty="0" smtClean="0"/>
                        <a:t>Eje I: </a:t>
                      </a:r>
                      <a:r>
                        <a:rPr lang="es-AR" dirty="0" smtClean="0"/>
                        <a:t>Diagnóstico psiquiátrico</a:t>
                      </a:r>
                    </a:p>
                    <a:p>
                      <a:endParaRPr lang="es-AR" dirty="0" smtClean="0"/>
                    </a:p>
                    <a:p>
                      <a:r>
                        <a:rPr lang="es-AR" u="sng" dirty="0" smtClean="0"/>
                        <a:t>Eje II</a:t>
                      </a:r>
                      <a:r>
                        <a:rPr lang="es-AR" dirty="0" smtClean="0"/>
                        <a:t>: trastorno de la personalidad, retraso mental</a:t>
                      </a:r>
                    </a:p>
                    <a:p>
                      <a:endParaRPr lang="es-AR" dirty="0" smtClean="0"/>
                    </a:p>
                    <a:p>
                      <a:r>
                        <a:rPr lang="es-AR" u="sng" dirty="0" smtClean="0"/>
                        <a:t>Eje III</a:t>
                      </a:r>
                      <a:r>
                        <a:rPr lang="es-AR" dirty="0" smtClean="0"/>
                        <a:t>: enfermedades médica</a:t>
                      </a:r>
                    </a:p>
                    <a:p>
                      <a:endParaRPr lang="es-AR" dirty="0" smtClean="0"/>
                    </a:p>
                    <a:p>
                      <a:r>
                        <a:rPr lang="es-AR" u="sng" dirty="0" smtClean="0"/>
                        <a:t>Eje IV</a:t>
                      </a:r>
                      <a:r>
                        <a:rPr lang="es-AR" dirty="0" smtClean="0"/>
                        <a:t>: estresores psicosociales y medioambientales</a:t>
                      </a:r>
                    </a:p>
                    <a:p>
                      <a:endParaRPr lang="es-AR" dirty="0" smtClean="0"/>
                    </a:p>
                    <a:p>
                      <a:r>
                        <a:rPr lang="es-AR" u="sng" dirty="0" smtClean="0"/>
                        <a:t>Eje V</a:t>
                      </a:r>
                      <a:r>
                        <a:rPr lang="es-AR" dirty="0" smtClean="0"/>
                        <a:t>: funcionamiento global</a:t>
                      </a:r>
                    </a:p>
                    <a:p>
                      <a:endParaRPr lang="es-ES" dirty="0"/>
                    </a:p>
                  </a:txBody>
                  <a:tcPr/>
                </a:tc>
                <a:tc>
                  <a:txBody>
                    <a:bodyPr/>
                    <a:lstStyle/>
                    <a:p>
                      <a:r>
                        <a:rPr lang="es-AR" u="sng" dirty="0" smtClean="0"/>
                        <a:t>Eje I</a:t>
                      </a:r>
                      <a:r>
                        <a:rPr lang="es-AR" dirty="0" smtClean="0"/>
                        <a:t>: diagnóstico clínico</a:t>
                      </a:r>
                    </a:p>
                    <a:p>
                      <a:endParaRPr lang="es-AR" dirty="0" smtClean="0"/>
                    </a:p>
                    <a:p>
                      <a:r>
                        <a:rPr lang="es-AR" u="sng" dirty="0" smtClean="0"/>
                        <a:t>Eje II</a:t>
                      </a:r>
                      <a:r>
                        <a:rPr lang="es-AR" dirty="0" smtClean="0"/>
                        <a:t>: incapacidad (cuidado personal, laboral, familiar, interacciones sociales)</a:t>
                      </a:r>
                    </a:p>
                    <a:p>
                      <a:endParaRPr lang="es-AR" dirty="0" smtClean="0"/>
                    </a:p>
                    <a:p>
                      <a:r>
                        <a:rPr lang="es-AR" u="sng" dirty="0" smtClean="0"/>
                        <a:t>Eje III</a:t>
                      </a:r>
                      <a:r>
                        <a:rPr lang="es-AR" dirty="0" smtClean="0"/>
                        <a:t>: situaciones psicosociales anormales, problemas ambientales y transitorios</a:t>
                      </a:r>
                    </a:p>
                    <a:p>
                      <a:endParaRPr lang="es-ES" dirty="0"/>
                    </a:p>
                  </a:txBody>
                  <a:tcPr/>
                </a:tc>
              </a:tr>
            </a:tbl>
          </a:graphicData>
        </a:graphic>
      </p:graphicFrame>
    </p:spTree>
    <p:extLst>
      <p:ext uri="{BB962C8B-B14F-4D97-AF65-F5344CB8AC3E}">
        <p14:creationId xmlns:p14="http://schemas.microsoft.com/office/powerpoint/2010/main" val="3000419322"/>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pic>
        <p:nvPicPr>
          <p:cNvPr id="4" name="Marcador de contenido 3" descr="esquema-personalidad.jpg"/>
          <p:cNvPicPr>
            <a:picLocks noGrp="1" noChangeAspect="1"/>
          </p:cNvPicPr>
          <p:nvPr>
            <p:ph idx="1"/>
          </p:nvPr>
        </p:nvPicPr>
        <p:blipFill>
          <a:blip r:embed="rId2">
            <a:extLst>
              <a:ext uri="{28A0092B-C50C-407E-A947-70E740481C1C}">
                <a14:useLocalDpi xmlns:a14="http://schemas.microsoft.com/office/drawing/2010/main" val="0"/>
              </a:ext>
            </a:extLst>
          </a:blip>
          <a:srcRect l="-2535" r="-2535"/>
          <a:stretch>
            <a:fillRect/>
          </a:stretch>
        </p:blipFill>
        <p:spPr>
          <a:xfrm>
            <a:off x="247650" y="657225"/>
            <a:ext cx="8701088" cy="5911850"/>
          </a:xfrm>
        </p:spPr>
      </p:pic>
    </p:spTree>
    <p:extLst>
      <p:ext uri="{BB962C8B-B14F-4D97-AF65-F5344CB8AC3E}">
        <p14:creationId xmlns:p14="http://schemas.microsoft.com/office/powerpoint/2010/main" val="3569376106"/>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a:xfrm>
            <a:off x="364958" y="832158"/>
            <a:ext cx="8496200" cy="5737507"/>
          </a:xfrm>
        </p:spPr>
        <p:txBody>
          <a:bodyPr/>
          <a:lstStyle/>
          <a:p>
            <a:r>
              <a:rPr lang="es-AR" u="sng" dirty="0"/>
              <a:t>Pronóstico: </a:t>
            </a:r>
            <a:r>
              <a:rPr lang="es-AR" dirty="0" smtClean="0"/>
              <a:t>El pronostico es una opinión </a:t>
            </a:r>
            <a:r>
              <a:rPr lang="es-AR" dirty="0"/>
              <a:t>sobre el curso inmediato y futuro. </a:t>
            </a:r>
            <a:r>
              <a:rPr lang="es-AR" dirty="0" smtClean="0"/>
              <a:t>Se deberan detallar los factores  </a:t>
            </a:r>
            <a:r>
              <a:rPr lang="es-AR" dirty="0"/>
              <a:t>positivos y </a:t>
            </a:r>
            <a:r>
              <a:rPr lang="es-AR" dirty="0" smtClean="0"/>
              <a:t>negativos. Cuando se trate de procesos recurrente habr</a:t>
            </a:r>
            <a:r>
              <a:rPr lang="es-AR" dirty="0" smtClean="0"/>
              <a:t>á que prestar atención al riesgo de recaídas y a la prevención de las mismas.</a:t>
            </a:r>
            <a:endParaRPr lang="es-AR" dirty="0"/>
          </a:p>
          <a:p>
            <a:r>
              <a:rPr lang="es-AR" u="sng" dirty="0" smtClean="0"/>
              <a:t>Tratamiento, </a:t>
            </a:r>
            <a:r>
              <a:rPr lang="es-AR" u="sng" dirty="0"/>
              <a:t>evolución y Epicrisis</a:t>
            </a:r>
            <a:r>
              <a:rPr lang="es-AR" dirty="0"/>
              <a:t>: E</a:t>
            </a:r>
            <a:r>
              <a:rPr lang="es-AR" dirty="0" smtClean="0"/>
              <a:t>l </a:t>
            </a:r>
            <a:r>
              <a:rPr lang="es-AR" u="sng" dirty="0"/>
              <a:t>plan de </a:t>
            </a:r>
            <a:r>
              <a:rPr lang="es-AR" u="sng" dirty="0" smtClean="0"/>
              <a:t>tratamiento </a:t>
            </a:r>
            <a:r>
              <a:rPr lang="es-AR" dirty="0"/>
              <a:t>incluirá todas aquellas intervenciones terapéuticas, farmacológicas, psicológicas, sociales, educativas y rehabilitadoras. Se </a:t>
            </a:r>
            <a:r>
              <a:rPr lang="es-AR" u="sng" dirty="0"/>
              <a:t>registrará</a:t>
            </a:r>
            <a:r>
              <a:rPr lang="es-AR" dirty="0"/>
              <a:t> la evolución en la consultas sucesivas. Cuando se de alta, se realizará una valoración general del caso desde su inicio, pasando por el curso y evolución hasta el m45mnto del alta, lo que se llama Epicrisis</a:t>
            </a:r>
          </a:p>
          <a:p>
            <a:endParaRPr lang="es-AR" dirty="0"/>
          </a:p>
          <a:p>
            <a:endParaRPr lang="es-AR" dirty="0"/>
          </a:p>
          <a:p>
            <a:endParaRPr lang="es-ES" dirty="0"/>
          </a:p>
        </p:txBody>
      </p:sp>
    </p:spTree>
    <p:extLst>
      <p:ext uri="{BB962C8B-B14F-4D97-AF65-F5344CB8AC3E}">
        <p14:creationId xmlns:p14="http://schemas.microsoft.com/office/powerpoint/2010/main" val="1225460247"/>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2398506"/>
            <a:ext cx="7770813" cy="1429871"/>
          </a:xfrm>
        </p:spPr>
        <p:txBody>
          <a:bodyPr>
            <a:normAutofit fontScale="90000"/>
          </a:bodyPr>
          <a:lstStyle/>
          <a:p>
            <a:r>
              <a:rPr lang="es-ES" sz="5400" dirty="0" smtClean="0"/>
              <a:t>Síntomas, signos y síndromes</a:t>
            </a:r>
            <a:endParaRPr lang="es-ES" sz="5400" dirty="0"/>
          </a:p>
        </p:txBody>
      </p:sp>
      <p:sp>
        <p:nvSpPr>
          <p:cNvPr id="3" name="Marcador de contenido 2"/>
          <p:cNvSpPr>
            <a:spLocks noGrp="1"/>
          </p:cNvSpPr>
          <p:nvPr>
            <p:ph idx="1"/>
          </p:nvPr>
        </p:nvSpPr>
        <p:spPr>
          <a:xfrm>
            <a:off x="685800" y="5007543"/>
            <a:ext cx="7770813" cy="1118619"/>
          </a:xfrm>
        </p:spPr>
        <p:txBody>
          <a:bodyPr/>
          <a:lstStyle/>
          <a:p>
            <a:endParaRPr lang="es-ES" dirty="0"/>
          </a:p>
        </p:txBody>
      </p:sp>
    </p:spTree>
    <p:extLst>
      <p:ext uri="{BB962C8B-B14F-4D97-AF65-F5344CB8AC3E}">
        <p14:creationId xmlns:p14="http://schemas.microsoft.com/office/powerpoint/2010/main" val="74054976"/>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sz="2800" dirty="0" err="1"/>
              <a:t>Exploración</a:t>
            </a:r>
            <a:r>
              <a:rPr lang="en-US" sz="2800" dirty="0"/>
              <a:t> del Estado Mental</a:t>
            </a:r>
            <a:endParaRPr lang="es-ES" sz="2800" dirty="0"/>
          </a:p>
        </p:txBody>
      </p:sp>
      <p:sp>
        <p:nvSpPr>
          <p:cNvPr id="3" name="Marcador de contenido 2"/>
          <p:cNvSpPr>
            <a:spLocks noGrp="1"/>
          </p:cNvSpPr>
          <p:nvPr>
            <p:ph idx="1"/>
          </p:nvPr>
        </p:nvSpPr>
        <p:spPr/>
        <p:txBody>
          <a:bodyPr/>
          <a:lstStyle/>
          <a:p>
            <a:pPr algn="just">
              <a:lnSpc>
                <a:spcPct val="90000"/>
              </a:lnSpc>
            </a:pPr>
            <a:r>
              <a:rPr lang="en-US" sz="2400" b="1" u="sng" dirty="0" err="1" smtClean="0"/>
              <a:t>Síntoma</a:t>
            </a:r>
            <a:r>
              <a:rPr lang="en-US" sz="2400" b="1" u="sng" dirty="0"/>
              <a:t>: </a:t>
            </a:r>
            <a:r>
              <a:rPr lang="en-US" sz="2400" dirty="0" err="1"/>
              <a:t>subjetivo</a:t>
            </a:r>
            <a:r>
              <a:rPr lang="en-US" sz="2400" dirty="0"/>
              <a:t>, </a:t>
            </a:r>
            <a:r>
              <a:rPr lang="en-US" sz="2400" dirty="0" err="1"/>
              <a:t>referido</a:t>
            </a:r>
            <a:r>
              <a:rPr lang="en-US" sz="2400" dirty="0"/>
              <a:t> </a:t>
            </a:r>
            <a:r>
              <a:rPr lang="en-US" sz="2400" dirty="0" err="1"/>
              <a:t>por</a:t>
            </a:r>
            <a:r>
              <a:rPr lang="en-US" sz="2400" dirty="0"/>
              <a:t> el </a:t>
            </a:r>
            <a:r>
              <a:rPr lang="en-US" sz="2400" dirty="0" err="1"/>
              <a:t>paciente</a:t>
            </a:r>
            <a:r>
              <a:rPr lang="en-US" sz="2400" dirty="0"/>
              <a:t>.</a:t>
            </a:r>
          </a:p>
          <a:p>
            <a:pPr algn="just">
              <a:lnSpc>
                <a:spcPct val="90000"/>
              </a:lnSpc>
            </a:pPr>
            <a:r>
              <a:rPr lang="en-US" sz="2400" b="1" u="sng" dirty="0" err="1"/>
              <a:t>Signo</a:t>
            </a:r>
            <a:r>
              <a:rPr lang="en-US" sz="2400" dirty="0"/>
              <a:t>: </a:t>
            </a:r>
            <a:r>
              <a:rPr lang="en-US" sz="2400" dirty="0" err="1"/>
              <a:t>objetivo</a:t>
            </a:r>
            <a:r>
              <a:rPr lang="en-US" sz="2400" dirty="0"/>
              <a:t>, </a:t>
            </a:r>
            <a:r>
              <a:rPr lang="en-US" sz="2400" dirty="0" err="1"/>
              <a:t>observado</a:t>
            </a:r>
            <a:r>
              <a:rPr lang="en-US" sz="2400" dirty="0"/>
              <a:t> </a:t>
            </a:r>
            <a:r>
              <a:rPr lang="en-US" sz="2400" dirty="0" err="1"/>
              <a:t>por</a:t>
            </a:r>
            <a:r>
              <a:rPr lang="en-US" sz="2400" dirty="0"/>
              <a:t> el </a:t>
            </a:r>
            <a:r>
              <a:rPr lang="en-US" sz="2400" dirty="0" err="1"/>
              <a:t>profesional</a:t>
            </a:r>
            <a:r>
              <a:rPr lang="en-US" sz="2400" dirty="0"/>
              <a:t>, </a:t>
            </a:r>
            <a:r>
              <a:rPr lang="en-US" sz="2400" dirty="0" err="1"/>
              <a:t>paciente</a:t>
            </a:r>
            <a:r>
              <a:rPr lang="en-US" sz="2400" dirty="0"/>
              <a:t> o </a:t>
            </a:r>
            <a:r>
              <a:rPr lang="en-US" sz="2400" dirty="0" err="1"/>
              <a:t>familia</a:t>
            </a:r>
            <a:r>
              <a:rPr lang="en-US" sz="2400" dirty="0"/>
              <a:t>.</a:t>
            </a:r>
          </a:p>
          <a:p>
            <a:pPr algn="just">
              <a:lnSpc>
                <a:spcPct val="90000"/>
              </a:lnSpc>
            </a:pPr>
            <a:r>
              <a:rPr lang="en-US" sz="2400" b="1" u="sng" dirty="0" err="1"/>
              <a:t>Síndrome</a:t>
            </a:r>
            <a:r>
              <a:rPr lang="en-US" sz="2400" dirty="0"/>
              <a:t>: </a:t>
            </a:r>
            <a:r>
              <a:rPr lang="en-US" sz="2400" dirty="0" err="1"/>
              <a:t>Conjunto</a:t>
            </a:r>
            <a:r>
              <a:rPr lang="en-US" sz="2400" dirty="0"/>
              <a:t> de </a:t>
            </a:r>
            <a:r>
              <a:rPr lang="en-US" sz="2400" dirty="0" err="1"/>
              <a:t>signos</a:t>
            </a:r>
            <a:r>
              <a:rPr lang="en-US" sz="2400" dirty="0"/>
              <a:t> y </a:t>
            </a:r>
            <a:r>
              <a:rPr lang="en-US" sz="2400" dirty="0" err="1"/>
              <a:t>síntomas</a:t>
            </a:r>
            <a:r>
              <a:rPr lang="en-US" sz="2400" dirty="0"/>
              <a:t>.</a:t>
            </a:r>
            <a:endParaRPr lang="es-ES" sz="2400" dirty="0"/>
          </a:p>
          <a:p>
            <a:endParaRPr lang="es-ES" dirty="0"/>
          </a:p>
          <a:p>
            <a:pPr marL="0" indent="0">
              <a:buNone/>
            </a:pPr>
            <a:endParaRPr lang="es-ES" dirty="0"/>
          </a:p>
        </p:txBody>
      </p:sp>
    </p:spTree>
    <p:extLst>
      <p:ext uri="{BB962C8B-B14F-4D97-AF65-F5344CB8AC3E}">
        <p14:creationId xmlns:p14="http://schemas.microsoft.com/office/powerpoint/2010/main" val="3794866508"/>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n-US" sz="2800" b="1" dirty="0" err="1"/>
              <a:t>Funciones</a:t>
            </a:r>
            <a:r>
              <a:rPr lang="en-US" sz="2800" b="1" dirty="0"/>
              <a:t> </a:t>
            </a:r>
            <a:r>
              <a:rPr lang="en-US" sz="2800" b="1" dirty="0" err="1"/>
              <a:t>Psíquicas</a:t>
            </a:r>
            <a:endParaRPr lang="es-ES" sz="2800" dirty="0"/>
          </a:p>
        </p:txBody>
      </p:sp>
      <p:sp>
        <p:nvSpPr>
          <p:cNvPr id="3" name="Marcador de contenido 2"/>
          <p:cNvSpPr>
            <a:spLocks noGrp="1"/>
          </p:cNvSpPr>
          <p:nvPr>
            <p:ph idx="1"/>
          </p:nvPr>
        </p:nvSpPr>
        <p:spPr>
          <a:xfrm>
            <a:off x="291966" y="1109542"/>
            <a:ext cx="8554594" cy="5518519"/>
          </a:xfrm>
        </p:spPr>
        <p:txBody>
          <a:bodyPr/>
          <a:lstStyle/>
          <a:p>
            <a:pPr lvl="1">
              <a:lnSpc>
                <a:spcPct val="80000"/>
              </a:lnSpc>
              <a:buNone/>
            </a:pPr>
            <a:r>
              <a:rPr lang="en-US" sz="2400" b="1" dirty="0"/>
              <a:t>1-</a:t>
            </a:r>
            <a:r>
              <a:rPr lang="en-US" sz="2400" b="1" u="sng" dirty="0"/>
              <a:t>Actividad </a:t>
            </a:r>
            <a:r>
              <a:rPr lang="en-US" sz="2400" b="1" u="sng" dirty="0" err="1"/>
              <a:t>Intelectual</a:t>
            </a:r>
            <a:r>
              <a:rPr lang="en-US" sz="2400" b="1" u="sng" dirty="0"/>
              <a:t> (o </a:t>
            </a:r>
            <a:r>
              <a:rPr lang="en-US" sz="2400" b="1" u="sng" dirty="0" err="1"/>
              <a:t>Cognitiva</a:t>
            </a:r>
            <a:r>
              <a:rPr lang="en-US" sz="2400" b="1" u="sng" dirty="0"/>
              <a:t>):</a:t>
            </a:r>
          </a:p>
          <a:p>
            <a:pPr lvl="2">
              <a:lnSpc>
                <a:spcPct val="80000"/>
              </a:lnSpc>
            </a:pPr>
            <a:r>
              <a:rPr lang="en-US" sz="2400" b="1" i="1" u="sng" dirty="0" err="1"/>
              <a:t>Funciones</a:t>
            </a:r>
            <a:r>
              <a:rPr lang="en-US" sz="2400" b="1" i="1" u="sng" dirty="0"/>
              <a:t> </a:t>
            </a:r>
            <a:r>
              <a:rPr lang="en-US" sz="2400" b="1" i="1" u="sng" dirty="0" err="1"/>
              <a:t>Intelectuales</a:t>
            </a:r>
            <a:r>
              <a:rPr lang="en-US" sz="2400" b="1" i="1" u="sng" dirty="0"/>
              <a:t> </a:t>
            </a:r>
            <a:r>
              <a:rPr lang="en-US" sz="2400" b="1" i="1" u="sng" dirty="0" err="1"/>
              <a:t>Básicas</a:t>
            </a:r>
            <a:r>
              <a:rPr lang="en-US" sz="2400" dirty="0"/>
              <a:t>:</a:t>
            </a:r>
          </a:p>
          <a:p>
            <a:pPr lvl="3">
              <a:lnSpc>
                <a:spcPct val="80000"/>
              </a:lnSpc>
            </a:pPr>
            <a:r>
              <a:rPr lang="en-US" sz="2400" dirty="0" err="1"/>
              <a:t>Atención</a:t>
            </a:r>
            <a:endParaRPr lang="en-US" sz="2400" dirty="0"/>
          </a:p>
          <a:p>
            <a:pPr lvl="3">
              <a:lnSpc>
                <a:spcPct val="80000"/>
              </a:lnSpc>
            </a:pPr>
            <a:r>
              <a:rPr lang="en-US" sz="2400" dirty="0" err="1"/>
              <a:t>Percepción</a:t>
            </a:r>
            <a:r>
              <a:rPr lang="en-US" sz="2400" dirty="0"/>
              <a:t> (</a:t>
            </a:r>
            <a:r>
              <a:rPr lang="en-US" sz="2400" dirty="0" err="1"/>
              <a:t>Sensopercepción</a:t>
            </a:r>
            <a:r>
              <a:rPr lang="en-US" sz="2400" dirty="0"/>
              <a:t>)</a:t>
            </a:r>
          </a:p>
          <a:p>
            <a:pPr lvl="3">
              <a:lnSpc>
                <a:spcPct val="80000"/>
              </a:lnSpc>
            </a:pPr>
            <a:r>
              <a:rPr lang="en-US" sz="2400" dirty="0" err="1"/>
              <a:t>Memoria</a:t>
            </a:r>
            <a:endParaRPr lang="en-US" sz="2400" dirty="0"/>
          </a:p>
          <a:p>
            <a:pPr lvl="2">
              <a:lnSpc>
                <a:spcPct val="80000"/>
              </a:lnSpc>
            </a:pPr>
            <a:r>
              <a:rPr lang="en-US" sz="2400" b="1" i="1" u="sng" dirty="0" err="1"/>
              <a:t>Funciones</a:t>
            </a:r>
            <a:r>
              <a:rPr lang="en-US" sz="2400" b="1" i="1" u="sng" dirty="0"/>
              <a:t> </a:t>
            </a:r>
            <a:r>
              <a:rPr lang="en-US" sz="2400" b="1" i="1" u="sng" dirty="0" err="1"/>
              <a:t>Intelectuales</a:t>
            </a:r>
            <a:r>
              <a:rPr lang="en-US" sz="2400" b="1" i="1" u="sng" dirty="0"/>
              <a:t> </a:t>
            </a:r>
            <a:r>
              <a:rPr lang="en-US" sz="2400" b="1" i="1" u="sng" dirty="0" err="1"/>
              <a:t>Superiores</a:t>
            </a:r>
            <a:r>
              <a:rPr lang="en-US" sz="2400" b="1" dirty="0"/>
              <a:t>:</a:t>
            </a:r>
          </a:p>
          <a:p>
            <a:pPr lvl="3">
              <a:lnSpc>
                <a:spcPct val="80000"/>
              </a:lnSpc>
            </a:pPr>
            <a:r>
              <a:rPr lang="en-US" sz="2400" dirty="0" err="1"/>
              <a:t>Pensamiento</a:t>
            </a:r>
            <a:endParaRPr lang="en-US" sz="2400" dirty="0"/>
          </a:p>
          <a:p>
            <a:pPr lvl="3">
              <a:lnSpc>
                <a:spcPct val="80000"/>
              </a:lnSpc>
            </a:pPr>
            <a:r>
              <a:rPr lang="en-US" sz="2400" dirty="0" err="1"/>
              <a:t>Juicio</a:t>
            </a:r>
            <a:endParaRPr lang="en-US" sz="2400" dirty="0"/>
          </a:p>
          <a:p>
            <a:pPr lvl="3">
              <a:lnSpc>
                <a:spcPct val="80000"/>
              </a:lnSpc>
            </a:pPr>
            <a:r>
              <a:rPr lang="en-US" sz="2400" dirty="0" err="1"/>
              <a:t>Imaginación</a:t>
            </a:r>
            <a:endParaRPr lang="en-US" sz="2400" dirty="0"/>
          </a:p>
          <a:p>
            <a:pPr lvl="3">
              <a:lnSpc>
                <a:spcPct val="80000"/>
              </a:lnSpc>
            </a:pPr>
            <a:endParaRPr lang="en-US" sz="2400" dirty="0"/>
          </a:p>
          <a:p>
            <a:pPr lvl="1">
              <a:lnSpc>
                <a:spcPct val="80000"/>
              </a:lnSpc>
              <a:buNone/>
            </a:pPr>
            <a:r>
              <a:rPr lang="en-US" sz="2400" b="1" dirty="0"/>
              <a:t>2-Actividad </a:t>
            </a:r>
            <a:r>
              <a:rPr lang="en-US" sz="2400" b="1" dirty="0" err="1"/>
              <a:t>Volitiva</a:t>
            </a:r>
            <a:endParaRPr lang="en-US" sz="2400" b="1" dirty="0"/>
          </a:p>
          <a:p>
            <a:pPr lvl="2">
              <a:lnSpc>
                <a:spcPct val="80000"/>
              </a:lnSpc>
            </a:pPr>
            <a:endParaRPr lang="en-US" sz="2400" dirty="0"/>
          </a:p>
          <a:p>
            <a:pPr lvl="1">
              <a:lnSpc>
                <a:spcPct val="80000"/>
              </a:lnSpc>
              <a:buNone/>
            </a:pPr>
            <a:r>
              <a:rPr lang="en-US" sz="2400" b="1" dirty="0"/>
              <a:t>3-Actividad </a:t>
            </a:r>
            <a:r>
              <a:rPr lang="en-US" sz="2400" b="1" dirty="0" err="1"/>
              <a:t>Afectiva</a:t>
            </a:r>
            <a:endParaRPr lang="en-US" sz="2400" b="1" dirty="0"/>
          </a:p>
          <a:p>
            <a:endParaRPr lang="es-ES" dirty="0"/>
          </a:p>
        </p:txBody>
      </p:sp>
    </p:spTree>
    <p:extLst>
      <p:ext uri="{BB962C8B-B14F-4D97-AF65-F5344CB8AC3E}">
        <p14:creationId xmlns:p14="http://schemas.microsoft.com/office/powerpoint/2010/main" val="1605633119"/>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l"/>
            <a:r>
              <a:rPr lang="es-ES" sz="2800" dirty="0" smtClean="0"/>
              <a:t>Área cognitiva. Conciencia y juicio</a:t>
            </a:r>
            <a:br>
              <a:rPr lang="es-ES" sz="2800" dirty="0" smtClean="0"/>
            </a:br>
            <a:r>
              <a:rPr lang="es-ES" sz="2400" dirty="0" smtClean="0"/>
              <a:t>Exploración de la conciencia. Claridad de conciencia.</a:t>
            </a:r>
            <a:endParaRPr lang="es-ES" sz="2400" dirty="0"/>
          </a:p>
        </p:txBody>
      </p:sp>
      <p:sp>
        <p:nvSpPr>
          <p:cNvPr id="3" name="Marcador de contenido 2"/>
          <p:cNvSpPr>
            <a:spLocks noGrp="1"/>
          </p:cNvSpPr>
          <p:nvPr>
            <p:ph idx="1"/>
          </p:nvPr>
        </p:nvSpPr>
        <p:spPr>
          <a:xfrm>
            <a:off x="248171" y="1372330"/>
            <a:ext cx="8583791" cy="5343327"/>
          </a:xfrm>
        </p:spPr>
        <p:txBody>
          <a:bodyPr/>
          <a:lstStyle/>
          <a:p>
            <a:pPr marL="0" indent="0">
              <a:buNone/>
            </a:pPr>
            <a:r>
              <a:rPr lang="es-ES" dirty="0" smtClean="0"/>
              <a:t>Explorar el estado de conciencia implica, por un lado, </a:t>
            </a:r>
            <a:r>
              <a:rPr lang="es-ES" u="sng" dirty="0" smtClean="0"/>
              <a:t>la claridad </a:t>
            </a:r>
            <a:r>
              <a:rPr lang="es-ES" dirty="0" smtClean="0"/>
              <a:t>de conciencia, que solamente se altera en el </a:t>
            </a:r>
            <a:r>
              <a:rPr lang="es-ES" dirty="0" err="1" smtClean="0"/>
              <a:t>delirum</a:t>
            </a:r>
            <a:r>
              <a:rPr lang="es-ES" dirty="0" smtClean="0"/>
              <a:t> y ,por otro lado, la l</a:t>
            </a:r>
            <a:r>
              <a:rPr lang="es-ES" u="sng" dirty="0" smtClean="0"/>
              <a:t>ucidez</a:t>
            </a:r>
            <a:r>
              <a:rPr lang="es-ES" dirty="0" smtClean="0"/>
              <a:t> de conciencia, que esta alterada en varias patologías como las demencias, síndromes amnésicos y retraso mental, en los que hay claridad de conciencia pero, como se ha dicho, no hay lucidez.</a:t>
            </a:r>
          </a:p>
          <a:p>
            <a:r>
              <a:rPr lang="es-ES" dirty="0" smtClean="0"/>
              <a:t> </a:t>
            </a:r>
            <a:r>
              <a:rPr lang="es-ES" u="sng" dirty="0" smtClean="0"/>
              <a:t>Claridad de conciencia</a:t>
            </a:r>
            <a:r>
              <a:rPr lang="es-ES" dirty="0" smtClean="0"/>
              <a:t>: Esta regida por la capacidad de atender, de prestar atención(si una persona responde a indicaciones como ·pase, tome asiento” y recibe la orden y pasa y se sienta, podemos decir que tiene claridad de conciencia).</a:t>
            </a:r>
          </a:p>
          <a:p>
            <a:r>
              <a:rPr lang="es-ES" dirty="0"/>
              <a:t> </a:t>
            </a:r>
            <a:r>
              <a:rPr lang="es-ES" sz="2400" u="sng" dirty="0" smtClean="0"/>
              <a:t>Lucidez de conciencia</a:t>
            </a:r>
            <a:r>
              <a:rPr lang="es-ES" sz="2400" dirty="0" smtClean="0"/>
              <a:t>:  Implica </a:t>
            </a:r>
            <a:r>
              <a:rPr lang="es-ES" sz="2400" dirty="0"/>
              <a:t>el funcionamiento correcto de la atención, </a:t>
            </a:r>
            <a:r>
              <a:rPr lang="es-ES" sz="2400" dirty="0" err="1"/>
              <a:t>sensopercepción</a:t>
            </a:r>
            <a:r>
              <a:rPr lang="es-ES" sz="2400" dirty="0"/>
              <a:t> y memoria</a:t>
            </a:r>
          </a:p>
          <a:p>
            <a:endParaRPr lang="es-ES" dirty="0" smtClean="0"/>
          </a:p>
          <a:p>
            <a:endParaRPr lang="es-ES" dirty="0"/>
          </a:p>
        </p:txBody>
      </p:sp>
    </p:spTree>
    <p:extLst>
      <p:ext uri="{BB962C8B-B14F-4D97-AF65-F5344CB8AC3E}">
        <p14:creationId xmlns:p14="http://schemas.microsoft.com/office/powerpoint/2010/main" val="4163170794"/>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dirty="0"/>
          </a:p>
        </p:txBody>
      </p:sp>
      <p:sp>
        <p:nvSpPr>
          <p:cNvPr id="3" name="Marcador de contenido 2"/>
          <p:cNvSpPr>
            <a:spLocks noGrp="1"/>
          </p:cNvSpPr>
          <p:nvPr>
            <p:ph idx="1"/>
          </p:nvPr>
        </p:nvSpPr>
        <p:spPr>
          <a:xfrm>
            <a:off x="481744" y="481775"/>
            <a:ext cx="7974870" cy="5644388"/>
          </a:xfrm>
        </p:spPr>
        <p:txBody>
          <a:bodyPr/>
          <a:lstStyle/>
          <a:p>
            <a:pPr marL="0" indent="0">
              <a:buNone/>
            </a:pPr>
            <a:r>
              <a:rPr lang="es-ES" dirty="0" smtClean="0"/>
              <a:t>En el área cognitiva, hay funciones que permiten conocer y conectarse con el medio y consigo mismo. Estas funciones se denominan </a:t>
            </a:r>
            <a:r>
              <a:rPr lang="es-ES" u="sng" dirty="0" smtClean="0"/>
              <a:t>FUNCIONES COGNITIVAS BASICAS</a:t>
            </a:r>
          </a:p>
          <a:p>
            <a:pPr marL="0" indent="0">
              <a:buNone/>
            </a:pPr>
            <a:endParaRPr lang="es-ES" u="sng" dirty="0" smtClean="0"/>
          </a:p>
          <a:p>
            <a:pPr lvl="1">
              <a:buNone/>
            </a:pPr>
            <a:r>
              <a:rPr lang="es-ES" sz="3200" b="1" dirty="0"/>
              <a:t>Funciones intelectuales básicas:</a:t>
            </a:r>
          </a:p>
          <a:p>
            <a:pPr marL="1097280" lvl="2" indent="-457200">
              <a:buFont typeface="+mj-lt"/>
              <a:buAutoNum type="arabicPeriod"/>
            </a:pPr>
            <a:r>
              <a:rPr lang="es-ES" sz="2400" dirty="0"/>
              <a:t>Atención</a:t>
            </a:r>
          </a:p>
          <a:p>
            <a:pPr marL="1097280" lvl="2" indent="-457200">
              <a:buFont typeface="+mj-lt"/>
              <a:buAutoNum type="arabicPeriod"/>
            </a:pPr>
            <a:r>
              <a:rPr lang="es-ES" sz="2400" dirty="0"/>
              <a:t>Percepción</a:t>
            </a:r>
          </a:p>
          <a:p>
            <a:pPr marL="1097280" lvl="2" indent="-457200">
              <a:buFont typeface="+mj-lt"/>
              <a:buAutoNum type="arabicPeriod"/>
            </a:pPr>
            <a:r>
              <a:rPr lang="es-ES" sz="2400" dirty="0"/>
              <a:t>Memoria</a:t>
            </a:r>
          </a:p>
          <a:p>
            <a:pPr marL="0" indent="0">
              <a:buNone/>
            </a:pPr>
            <a:endParaRPr lang="es-ES" u="sng" dirty="0"/>
          </a:p>
        </p:txBody>
      </p:sp>
    </p:spTree>
    <p:extLst>
      <p:ext uri="{BB962C8B-B14F-4D97-AF65-F5344CB8AC3E}">
        <p14:creationId xmlns:p14="http://schemas.microsoft.com/office/powerpoint/2010/main" val="3579938467"/>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2800" dirty="0"/>
              <a:t>Atención</a:t>
            </a:r>
          </a:p>
        </p:txBody>
      </p:sp>
      <p:sp>
        <p:nvSpPr>
          <p:cNvPr id="3" name="Marcador de contenido 2"/>
          <p:cNvSpPr>
            <a:spLocks noGrp="1"/>
          </p:cNvSpPr>
          <p:nvPr>
            <p:ph idx="1"/>
          </p:nvPr>
        </p:nvSpPr>
        <p:spPr>
          <a:xfrm>
            <a:off x="189778" y="1167940"/>
            <a:ext cx="8744372" cy="5503919"/>
          </a:xfrm>
        </p:spPr>
        <p:txBody>
          <a:bodyPr>
            <a:normAutofit fontScale="92500" lnSpcReduction="10000"/>
          </a:bodyPr>
          <a:lstStyle/>
          <a:p>
            <a:pPr marL="0" indent="0" algn="just">
              <a:buNone/>
            </a:pPr>
            <a:r>
              <a:rPr lang="es-ES" sz="2400" dirty="0"/>
              <a:t>Capacidad de focalizarse en un tema o concentrar la actividad psíquica sobre un determinado objeto.</a:t>
            </a:r>
          </a:p>
          <a:p>
            <a:pPr marL="0" indent="0" algn="just">
              <a:buNone/>
            </a:pPr>
            <a:r>
              <a:rPr lang="es-ES" sz="2400" dirty="0"/>
              <a:t>Proceso encargado de la admisión sistemática de los datos perceptuales en la conciencia.</a:t>
            </a:r>
          </a:p>
          <a:p>
            <a:pPr marL="0" indent="0" algn="just">
              <a:buNone/>
            </a:pPr>
            <a:r>
              <a:rPr lang="es-ES" sz="2400" dirty="0"/>
              <a:t>Su función es la selección de datos del entorno, dando prioridad a cierto estímulos y no a otros</a:t>
            </a:r>
            <a:r>
              <a:rPr lang="es-ES" sz="2400" dirty="0" smtClean="0"/>
              <a:t>.</a:t>
            </a:r>
          </a:p>
          <a:p>
            <a:pPr marL="0" indent="0" algn="just">
              <a:buNone/>
            </a:pPr>
            <a:r>
              <a:rPr lang="es-ES" sz="2400" dirty="0" smtClean="0"/>
              <a:t>A</a:t>
            </a:r>
            <a:r>
              <a:rPr lang="es-ES" sz="2400" dirty="0" smtClean="0"/>
              <a:t> medida que se focaliza algo(atención voluntaria) quedan de lado innumerables estímulos porque se ha centrado la atención y se prescinde de lo que espontáneamente ingresaría a la conciencia sin este filtro (atención espontanea en oposición a la atención voluntaria).</a:t>
            </a:r>
            <a:endParaRPr lang="es-ES" sz="2400" dirty="0"/>
          </a:p>
          <a:p>
            <a:pPr marL="0" indent="0" algn="just">
              <a:buNone/>
            </a:pPr>
            <a:r>
              <a:rPr lang="es-ES" sz="2400" dirty="0"/>
              <a:t>Puede dirigirse a fenómenos físicos (externos) como psíquicos (internos).</a:t>
            </a:r>
          </a:p>
          <a:p>
            <a:pPr marL="0" indent="0" algn="just">
              <a:buNone/>
            </a:pPr>
            <a:r>
              <a:rPr lang="es-ES" sz="2400" dirty="0"/>
              <a:t>Primero debe evaluarse la </a:t>
            </a:r>
            <a:r>
              <a:rPr lang="es-ES" sz="2400" i="1" u="sng" dirty="0"/>
              <a:t>cantidad</a:t>
            </a:r>
            <a:r>
              <a:rPr lang="es-ES" sz="2400" u="sng" dirty="0"/>
              <a:t> </a:t>
            </a:r>
            <a:r>
              <a:rPr lang="es-ES" sz="2400" dirty="0"/>
              <a:t>y luego la </a:t>
            </a:r>
            <a:r>
              <a:rPr lang="es-ES" sz="2400" i="1" u="sng" dirty="0"/>
              <a:t>calidad.</a:t>
            </a:r>
            <a:endParaRPr lang="es-ES" sz="2400" u="sng" dirty="0"/>
          </a:p>
          <a:p>
            <a:endParaRPr lang="es-ES" dirty="0"/>
          </a:p>
        </p:txBody>
      </p:sp>
    </p:spTree>
    <p:extLst>
      <p:ext uri="{BB962C8B-B14F-4D97-AF65-F5344CB8AC3E}">
        <p14:creationId xmlns:p14="http://schemas.microsoft.com/office/powerpoint/2010/main" val="1160768415"/>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3"/>
            <a:ext cx="7770813" cy="944723"/>
          </a:xfrm>
        </p:spPr>
        <p:txBody>
          <a:bodyPr>
            <a:normAutofit/>
          </a:bodyPr>
          <a:lstStyle/>
          <a:p>
            <a:r>
              <a:rPr lang="es-ES" sz="2800" dirty="0"/>
              <a:t>Atención Normal y Patológica</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525599642"/>
              </p:ext>
            </p:extLst>
          </p:nvPr>
        </p:nvGraphicFramePr>
        <p:xfrm>
          <a:off x="320675" y="1065213"/>
          <a:ext cx="8526464" cy="3726506"/>
        </p:xfrm>
        <a:graphic>
          <a:graphicData uri="http://schemas.openxmlformats.org/drawingml/2006/table">
            <a:tbl>
              <a:tblPr firstRow="1" bandRow="1">
                <a:tableStyleId>{7DF18680-E054-41AD-8BC1-D1AEF772440D}</a:tableStyleId>
              </a:tblPr>
              <a:tblGrid>
                <a:gridCol w="4263232"/>
                <a:gridCol w="4263232"/>
              </a:tblGrid>
              <a:tr h="526106">
                <a:tc>
                  <a:txBody>
                    <a:bodyPr/>
                    <a:lstStyle/>
                    <a:p>
                      <a:r>
                        <a:rPr lang="es-ES" dirty="0" smtClean="0"/>
                        <a:t>Cuantitativo</a:t>
                      </a:r>
                      <a:endParaRPr lang="es-ES" dirty="0"/>
                    </a:p>
                  </a:txBody>
                  <a:tcPr/>
                </a:tc>
                <a:tc>
                  <a:txBody>
                    <a:bodyPr/>
                    <a:lstStyle/>
                    <a:p>
                      <a:r>
                        <a:rPr lang="es-ES" dirty="0" smtClean="0"/>
                        <a:t>Cualitativo </a:t>
                      </a:r>
                      <a:endParaRPr lang="es-ES" dirty="0"/>
                    </a:p>
                  </a:txBody>
                  <a:tcPr/>
                </a:tc>
              </a:tr>
              <a:tr h="2788724">
                <a:tc>
                  <a:txBody>
                    <a:bodyPr/>
                    <a:lstStyle/>
                    <a:p>
                      <a:pPr algn="just"/>
                      <a:r>
                        <a:rPr lang="es-ES" sz="1800" u="sng" dirty="0" err="1" smtClean="0"/>
                        <a:t>Aprosexia</a:t>
                      </a:r>
                      <a:r>
                        <a:rPr lang="es-ES" sz="1800" dirty="0" smtClean="0"/>
                        <a:t>(delirium,</a:t>
                      </a:r>
                      <a:r>
                        <a:rPr lang="es-ES" sz="1800" baseline="0" dirty="0" smtClean="0"/>
                        <a:t> demencias avanzadas o retrasos graves)</a:t>
                      </a:r>
                    </a:p>
                    <a:p>
                      <a:pPr algn="just"/>
                      <a:endParaRPr lang="es-ES" sz="1800" dirty="0" smtClean="0"/>
                    </a:p>
                    <a:p>
                      <a:pPr algn="just"/>
                      <a:r>
                        <a:rPr lang="es-ES" sz="1800" u="sng" dirty="0" err="1" smtClean="0"/>
                        <a:t>Hipoprosexia</a:t>
                      </a:r>
                      <a:r>
                        <a:rPr lang="es-ES" sz="1800" dirty="0" smtClean="0"/>
                        <a:t>( fatiga y mas severo en delirium)</a:t>
                      </a:r>
                    </a:p>
                    <a:p>
                      <a:pPr algn="just"/>
                      <a:endParaRPr lang="es-ES" sz="1800" dirty="0" smtClean="0"/>
                    </a:p>
                    <a:p>
                      <a:pPr algn="just"/>
                      <a:r>
                        <a:rPr lang="es-ES" sz="1800" u="sng" dirty="0" err="1" smtClean="0"/>
                        <a:t>Euprosexia</a:t>
                      </a:r>
                      <a:endParaRPr lang="es-ES" sz="1800" u="sng" dirty="0" smtClean="0"/>
                    </a:p>
                    <a:p>
                      <a:pPr algn="just"/>
                      <a:endParaRPr lang="es-ES" sz="1800" dirty="0" smtClean="0"/>
                    </a:p>
                    <a:p>
                      <a:pPr algn="just"/>
                      <a:r>
                        <a:rPr lang="es-ES" sz="1800" u="sng" dirty="0" err="1" smtClean="0"/>
                        <a:t>Hiperprosexia</a:t>
                      </a:r>
                      <a:r>
                        <a:rPr lang="es-ES" sz="1800" dirty="0" smtClean="0"/>
                        <a:t>(manía) </a:t>
                      </a:r>
                    </a:p>
                    <a:p>
                      <a:pPr algn="just"/>
                      <a:endParaRPr lang="es-ES" sz="2400" dirty="0" smtClean="0"/>
                    </a:p>
                    <a:p>
                      <a:endParaRPr lang="es-ES" dirty="0"/>
                    </a:p>
                  </a:txBody>
                  <a:tcPr/>
                </a:tc>
                <a:tc>
                  <a:txBody>
                    <a:bodyPr/>
                    <a:lstStyle/>
                    <a:p>
                      <a:pPr algn="just"/>
                      <a:r>
                        <a:rPr lang="es-ES" sz="1800" u="sng" dirty="0" smtClean="0"/>
                        <a:t>Voluntaria</a:t>
                      </a:r>
                      <a:r>
                        <a:rPr lang="es-ES" sz="1800" dirty="0" smtClean="0"/>
                        <a:t> (delirio </a:t>
                      </a:r>
                      <a:r>
                        <a:rPr lang="es-ES" sz="1800" dirty="0" err="1" smtClean="0"/>
                        <a:t>celotipico</a:t>
                      </a:r>
                      <a:r>
                        <a:rPr lang="es-ES" sz="1800" dirty="0" smtClean="0"/>
                        <a:t>)</a:t>
                      </a:r>
                    </a:p>
                    <a:p>
                      <a:pPr algn="just"/>
                      <a:r>
                        <a:rPr lang="es-ES" sz="1800" u="sng" dirty="0" smtClean="0"/>
                        <a:t>Espontánea</a:t>
                      </a:r>
                      <a:r>
                        <a:rPr lang="es-ES" sz="1800" dirty="0" smtClean="0"/>
                        <a:t> (maniaco)</a:t>
                      </a:r>
                    </a:p>
                    <a:p>
                      <a:pPr algn="just"/>
                      <a:endParaRPr lang="es-ES" sz="1800" dirty="0" smtClean="0"/>
                    </a:p>
                    <a:p>
                      <a:pPr algn="just"/>
                      <a:r>
                        <a:rPr lang="es-ES" sz="1800" u="sng" dirty="0" err="1" smtClean="0"/>
                        <a:t>Paraprosexia</a:t>
                      </a:r>
                      <a:r>
                        <a:rPr lang="es-ES" sz="1800" dirty="0" smtClean="0"/>
                        <a:t>(</a:t>
                      </a:r>
                      <a:r>
                        <a:rPr lang="es-ES_tradnl" sz="1800" kern="1200" dirty="0" smtClean="0">
                          <a:solidFill>
                            <a:schemeClr val="dk1"/>
                          </a:solidFill>
                          <a:latin typeface="+mn-lt"/>
                          <a:ea typeface="+mn-ea"/>
                          <a:cs typeface="+mn-cs"/>
                        </a:rPr>
                        <a:t>inestabilidad de atención, característica de trastornos maníacos)</a:t>
                      </a:r>
                    </a:p>
                    <a:p>
                      <a:pPr algn="just"/>
                      <a:endParaRPr lang="es-ES" sz="1800" dirty="0" smtClean="0"/>
                    </a:p>
                    <a:p>
                      <a:pPr algn="just"/>
                      <a:r>
                        <a:rPr lang="es-ES" sz="1800" u="sng" dirty="0" err="1" smtClean="0"/>
                        <a:t>Disprosexia</a:t>
                      </a:r>
                      <a:endParaRPr lang="es-ES" sz="1800" u="sng" dirty="0" smtClean="0"/>
                    </a:p>
                    <a:p>
                      <a:endParaRPr lang="es-ES" dirty="0"/>
                    </a:p>
                  </a:txBody>
                  <a:tcPr/>
                </a:tc>
              </a:tr>
            </a:tbl>
          </a:graphicData>
        </a:graphic>
      </p:graphicFrame>
    </p:spTree>
    <p:extLst>
      <p:ext uri="{BB962C8B-B14F-4D97-AF65-F5344CB8AC3E}">
        <p14:creationId xmlns:p14="http://schemas.microsoft.com/office/powerpoint/2010/main" val="3594994093"/>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121024"/>
            <a:ext cx="7635222" cy="842528"/>
          </a:xfrm>
        </p:spPr>
        <p:txBody>
          <a:bodyPr>
            <a:normAutofit/>
          </a:bodyPr>
          <a:lstStyle/>
          <a:p>
            <a:r>
              <a:rPr lang="es-ES" sz="2800" dirty="0" smtClean="0"/>
              <a:t>Percepción </a:t>
            </a:r>
            <a:endParaRPr lang="es-ES" sz="2800" dirty="0"/>
          </a:p>
        </p:txBody>
      </p:sp>
      <p:sp>
        <p:nvSpPr>
          <p:cNvPr id="3" name="Marcador de contenido 2"/>
          <p:cNvSpPr>
            <a:spLocks noGrp="1"/>
          </p:cNvSpPr>
          <p:nvPr>
            <p:ph idx="1"/>
          </p:nvPr>
        </p:nvSpPr>
        <p:spPr>
          <a:xfrm>
            <a:off x="218974" y="963552"/>
            <a:ext cx="8642184" cy="5606113"/>
          </a:xfrm>
        </p:spPr>
        <p:txBody>
          <a:bodyPr/>
          <a:lstStyle/>
          <a:p>
            <a:pPr marL="0" indent="0">
              <a:buNone/>
            </a:pPr>
            <a:r>
              <a:rPr lang="es-ES" dirty="0" smtClean="0"/>
              <a:t>Se percibe un objeto cuando se lo capta y en un mismo acto la conciencia reconoce que este objeto percibido es exterior a ella. La imagen percibida es nítida, precisa: no es influenciada, tiene detalles siempre iguales. Se percibe atreves de los órganos de los sentidos(vista, oído, tacto, gusto, y olfato), pero también se percibe el propio cuerpo, su posición y movimiento y se perciben las sensaciones del cuerpo.</a:t>
            </a:r>
          </a:p>
          <a:p>
            <a:pPr marL="0" indent="0" algn="just">
              <a:buNone/>
            </a:pPr>
            <a:r>
              <a:rPr lang="es-ES" dirty="0" smtClean="0"/>
              <a:t>Depende </a:t>
            </a:r>
            <a:r>
              <a:rPr lang="es-ES" dirty="0"/>
              <a:t>de la sensibilidad (</a:t>
            </a:r>
            <a:r>
              <a:rPr lang="es-ES" i="1" dirty="0"/>
              <a:t>umbral</a:t>
            </a:r>
            <a:r>
              <a:rPr lang="es-ES" dirty="0"/>
              <a:t>) de los receptores, la necesidades biológicas, las experiencias y las motivaciones.</a:t>
            </a:r>
          </a:p>
          <a:p>
            <a:pPr algn="just">
              <a:buNone/>
            </a:pPr>
            <a:endParaRPr lang="es-ES" i="1" dirty="0"/>
          </a:p>
          <a:p>
            <a:pPr marL="0" indent="0">
              <a:buNone/>
            </a:pPr>
            <a:endParaRPr lang="es-ES" dirty="0" smtClean="0"/>
          </a:p>
          <a:p>
            <a:pPr marL="0" indent="0">
              <a:buNone/>
            </a:pPr>
            <a:endParaRPr lang="es-ES" dirty="0"/>
          </a:p>
        </p:txBody>
      </p:sp>
    </p:spTree>
    <p:extLst>
      <p:ext uri="{BB962C8B-B14F-4D97-AF65-F5344CB8AC3E}">
        <p14:creationId xmlns:p14="http://schemas.microsoft.com/office/powerpoint/2010/main" val="3311516974"/>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3"/>
            <a:ext cx="7770813" cy="944723"/>
          </a:xfrm>
        </p:spPr>
        <p:txBody>
          <a:bodyPr>
            <a:normAutofit/>
          </a:bodyPr>
          <a:lstStyle/>
          <a:p>
            <a:r>
              <a:rPr lang="es-ES" sz="2800" dirty="0" smtClean="0"/>
              <a:t>Ilusi</a:t>
            </a:r>
            <a:r>
              <a:rPr lang="es-ES" sz="2800" dirty="0" smtClean="0"/>
              <a:t>ó</a:t>
            </a:r>
            <a:r>
              <a:rPr lang="es-ES" sz="2800" dirty="0" smtClean="0"/>
              <a:t>n </a:t>
            </a:r>
            <a:endParaRPr lang="es-ES" sz="2800" dirty="0"/>
          </a:p>
        </p:txBody>
      </p:sp>
      <p:sp>
        <p:nvSpPr>
          <p:cNvPr id="3" name="Marcador de contenido 2"/>
          <p:cNvSpPr>
            <a:spLocks noGrp="1"/>
          </p:cNvSpPr>
          <p:nvPr>
            <p:ph idx="1"/>
          </p:nvPr>
        </p:nvSpPr>
        <p:spPr>
          <a:xfrm>
            <a:off x="262770" y="905154"/>
            <a:ext cx="8496200" cy="5620713"/>
          </a:xfrm>
        </p:spPr>
        <p:txBody>
          <a:bodyPr/>
          <a:lstStyle/>
          <a:p>
            <a:pPr marL="0" indent="0" algn="just">
              <a:buNone/>
            </a:pPr>
            <a:r>
              <a:rPr lang="es-ES" sz="2400" dirty="0"/>
              <a:t>Percepción deformada de un objeto presente y real.</a:t>
            </a:r>
          </a:p>
          <a:p>
            <a:pPr marL="0" indent="0" algn="just">
              <a:buNone/>
            </a:pPr>
            <a:r>
              <a:rPr lang="es-ES" sz="2400" dirty="0"/>
              <a:t>Es un fenómeno</a:t>
            </a:r>
            <a:r>
              <a:rPr lang="es-ES" sz="2400" u="sng" dirty="0"/>
              <a:t> </a:t>
            </a:r>
            <a:r>
              <a:rPr lang="es-ES" sz="2400" i="1" u="sng" dirty="0" smtClean="0"/>
              <a:t>normal </a:t>
            </a:r>
            <a:r>
              <a:rPr lang="es-ES" sz="2400" u="sng" dirty="0" smtClean="0"/>
              <a:t> </a:t>
            </a:r>
            <a:r>
              <a:rPr lang="es-ES" sz="2400" dirty="0"/>
              <a:t>que de acuerdo a su frecuencia e intensidad puede ser considerado </a:t>
            </a:r>
            <a:r>
              <a:rPr lang="es-ES" sz="2400" i="1" u="sng" dirty="0" smtClean="0"/>
              <a:t>patológico</a:t>
            </a:r>
            <a:r>
              <a:rPr lang="es-ES" sz="2400" i="1" dirty="0" smtClean="0"/>
              <a:t>(delirium)</a:t>
            </a:r>
            <a:r>
              <a:rPr lang="es-ES" sz="2400" dirty="0" smtClean="0"/>
              <a:t>.</a:t>
            </a:r>
            <a:endParaRPr lang="es-ES" sz="2400" dirty="0"/>
          </a:p>
          <a:p>
            <a:pPr marL="0" indent="0" algn="just">
              <a:buNone/>
            </a:pPr>
            <a:r>
              <a:rPr lang="es-ES" sz="2400" dirty="0"/>
              <a:t>Pueden ser facilitadas por la expectación, el contexto, las señales semejantes, la falta de nitidez o claridad de los objetos. (miedo, sueño)</a:t>
            </a:r>
            <a:endParaRPr lang="es-ES" sz="2000" dirty="0"/>
          </a:p>
          <a:p>
            <a:endParaRPr lang="es-ES" dirty="0"/>
          </a:p>
        </p:txBody>
      </p:sp>
    </p:spTree>
    <p:extLst>
      <p:ext uri="{BB962C8B-B14F-4D97-AF65-F5344CB8AC3E}">
        <p14:creationId xmlns:p14="http://schemas.microsoft.com/office/powerpoint/2010/main" val="2560517508"/>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121023"/>
            <a:ext cx="7664418" cy="696535"/>
          </a:xfrm>
        </p:spPr>
        <p:txBody>
          <a:bodyPr>
            <a:normAutofit/>
          </a:bodyPr>
          <a:lstStyle/>
          <a:p>
            <a:r>
              <a:rPr lang="es-ES" sz="2800" dirty="0" smtClean="0"/>
              <a:t>Alucinaciones</a:t>
            </a:r>
            <a:endParaRPr lang="es-ES" sz="2800" dirty="0"/>
          </a:p>
        </p:txBody>
      </p:sp>
      <p:sp>
        <p:nvSpPr>
          <p:cNvPr id="3" name="Marcador de contenido 2"/>
          <p:cNvSpPr>
            <a:spLocks noGrp="1"/>
          </p:cNvSpPr>
          <p:nvPr>
            <p:ph idx="1"/>
          </p:nvPr>
        </p:nvSpPr>
        <p:spPr>
          <a:xfrm>
            <a:off x="262769" y="817558"/>
            <a:ext cx="8539995" cy="5708309"/>
          </a:xfrm>
        </p:spPr>
        <p:txBody>
          <a:bodyPr/>
          <a:lstStyle/>
          <a:p>
            <a:pPr marL="0" indent="0" algn="just">
              <a:buNone/>
            </a:pPr>
            <a:r>
              <a:rPr lang="es-ES" sz="2400" dirty="0"/>
              <a:t>El objeto percibido no </a:t>
            </a:r>
            <a:r>
              <a:rPr lang="es-ES" sz="2400" dirty="0" smtClean="0"/>
              <a:t>existe.</a:t>
            </a:r>
            <a:endParaRPr lang="es-ES" sz="2400" i="1" dirty="0"/>
          </a:p>
          <a:p>
            <a:pPr marL="0" indent="0" algn="just">
              <a:buNone/>
            </a:pPr>
            <a:r>
              <a:rPr lang="es-ES" sz="2400" dirty="0"/>
              <a:t>Tiene repercusión en la mayoría de las funciones psíquicas.</a:t>
            </a:r>
          </a:p>
          <a:p>
            <a:pPr marL="0" indent="0" algn="just">
              <a:buNone/>
            </a:pPr>
            <a:r>
              <a:rPr lang="es-ES" sz="2400" dirty="0"/>
              <a:t>Debe distinguirse si se producen con claridad de conciencia</a:t>
            </a:r>
            <a:r>
              <a:rPr lang="es-ES" sz="2400" dirty="0" smtClean="0"/>
              <a:t>.</a:t>
            </a:r>
          </a:p>
          <a:p>
            <a:pPr marL="0" indent="0" algn="just">
              <a:buNone/>
            </a:pPr>
            <a:r>
              <a:rPr lang="es-ES" sz="2400" dirty="0" smtClean="0"/>
              <a:t>Las alucinaciones de </a:t>
            </a:r>
            <a:r>
              <a:rPr lang="es-ES" sz="2400" u="sng" dirty="0" smtClean="0"/>
              <a:t>olfato</a:t>
            </a:r>
            <a:r>
              <a:rPr lang="es-ES" sz="2400" dirty="0" smtClean="0"/>
              <a:t> o del gusto son frecuentes en epilepsia del lóbulo temporal o de la irritación del bulbo olfatorio por un tumor. Las alucinaciones </a:t>
            </a:r>
            <a:r>
              <a:rPr lang="es-ES" sz="2400" u="sng" dirty="0" smtClean="0"/>
              <a:t>auditivas</a:t>
            </a:r>
            <a:r>
              <a:rPr lang="es-ES" sz="2400" dirty="0" smtClean="0"/>
              <a:t> se presentan generalmente en la esquizofrenia y las </a:t>
            </a:r>
            <a:r>
              <a:rPr lang="es-ES" sz="2400" u="sng" dirty="0" smtClean="0"/>
              <a:t>visuales</a:t>
            </a:r>
            <a:r>
              <a:rPr lang="es-ES" sz="2400" dirty="0" smtClean="0"/>
              <a:t> en el delirium.</a:t>
            </a:r>
            <a:endParaRPr lang="es-ES" dirty="0"/>
          </a:p>
        </p:txBody>
      </p:sp>
    </p:spTree>
    <p:extLst>
      <p:ext uri="{BB962C8B-B14F-4D97-AF65-F5344CB8AC3E}">
        <p14:creationId xmlns:p14="http://schemas.microsoft.com/office/powerpoint/2010/main" val="700310664"/>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857128"/>
            <a:ext cx="7770813" cy="1429871"/>
          </a:xfrm>
        </p:spPr>
        <p:txBody>
          <a:bodyPr/>
          <a:lstStyle/>
          <a:p>
            <a:endParaRPr lang="es-ES" dirty="0"/>
          </a:p>
        </p:txBody>
      </p:sp>
      <p:sp>
        <p:nvSpPr>
          <p:cNvPr id="3" name="Marcador de contenido 2"/>
          <p:cNvSpPr>
            <a:spLocks noGrp="1"/>
          </p:cNvSpPr>
          <p:nvPr>
            <p:ph idx="1"/>
          </p:nvPr>
        </p:nvSpPr>
        <p:spPr>
          <a:xfrm>
            <a:off x="175179" y="715363"/>
            <a:ext cx="8627585" cy="5854302"/>
          </a:xfrm>
        </p:spPr>
        <p:txBody>
          <a:bodyPr/>
          <a:lstStyle/>
          <a:p>
            <a:pPr marL="0" indent="0">
              <a:buNone/>
            </a:pPr>
            <a:r>
              <a:rPr lang="es-ES" sz="3500" u="sng" dirty="0"/>
              <a:t>Clasificación:</a:t>
            </a:r>
          </a:p>
          <a:p>
            <a:pPr lvl="1"/>
            <a:r>
              <a:rPr lang="es-ES" sz="2400" u="sng" dirty="0"/>
              <a:t>Complejidad</a:t>
            </a:r>
            <a:r>
              <a:rPr lang="es-ES" sz="2400" dirty="0"/>
              <a:t>: </a:t>
            </a:r>
            <a:endParaRPr lang="es-ES" sz="2400" dirty="0" smtClean="0"/>
          </a:p>
          <a:p>
            <a:pPr marL="349250" lvl="1" indent="0">
              <a:buNone/>
            </a:pPr>
            <a:r>
              <a:rPr lang="es-ES" sz="2400" dirty="0" smtClean="0"/>
              <a:t>Simples (destellos, fogonazos) </a:t>
            </a:r>
          </a:p>
          <a:p>
            <a:pPr marL="349250" lvl="1" indent="0">
              <a:buNone/>
            </a:pPr>
            <a:r>
              <a:rPr lang="es-ES" sz="2400" dirty="0" smtClean="0"/>
              <a:t>Complejas (visión nítida de objetos, animales o personas)</a:t>
            </a:r>
          </a:p>
          <a:p>
            <a:pPr marL="349250" lvl="1" indent="0">
              <a:buNone/>
            </a:pPr>
            <a:endParaRPr lang="es-ES" sz="2400" dirty="0"/>
          </a:p>
          <a:p>
            <a:pPr lvl="1"/>
            <a:r>
              <a:rPr lang="es-ES" sz="2400" u="sng" dirty="0"/>
              <a:t>Modalidad</a:t>
            </a:r>
            <a:r>
              <a:rPr lang="es-ES" sz="2400" dirty="0"/>
              <a:t>: </a:t>
            </a:r>
            <a:endParaRPr lang="es-ES" sz="2400" dirty="0" smtClean="0"/>
          </a:p>
          <a:p>
            <a:pPr marL="349250" lvl="1" indent="0">
              <a:buNone/>
            </a:pPr>
            <a:r>
              <a:rPr lang="es-ES" sz="2400" dirty="0" smtClean="0"/>
              <a:t>Visual (pensar en trastorno orgánico, intoxicación, abstinencia, deshidratación)</a:t>
            </a:r>
          </a:p>
          <a:p>
            <a:pPr marL="349250" lvl="1" indent="0">
              <a:buNone/>
            </a:pPr>
            <a:r>
              <a:rPr lang="es-ES" sz="2400" dirty="0" smtClean="0"/>
              <a:t>Auditiva: Simples(ruidos). Complejas(voces)</a:t>
            </a:r>
          </a:p>
          <a:p>
            <a:pPr marL="349250" lvl="1" indent="0">
              <a:buNone/>
            </a:pPr>
            <a:r>
              <a:rPr lang="es-ES" sz="2400" dirty="0" smtClean="0"/>
              <a:t>Táctil</a:t>
            </a:r>
            <a:r>
              <a:rPr lang="es-ES" sz="2400" dirty="0"/>
              <a:t>-  Gustativa- Olfativa- Cenestésica- Cinéticas</a:t>
            </a:r>
          </a:p>
          <a:p>
            <a:endParaRPr lang="es-ES" sz="2400" dirty="0"/>
          </a:p>
        </p:txBody>
      </p:sp>
    </p:spTree>
    <p:extLst>
      <p:ext uri="{BB962C8B-B14F-4D97-AF65-F5344CB8AC3E}">
        <p14:creationId xmlns:p14="http://schemas.microsoft.com/office/powerpoint/2010/main" val="696315043"/>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3"/>
            <a:ext cx="7576829" cy="550543"/>
          </a:xfrm>
        </p:spPr>
        <p:txBody>
          <a:bodyPr>
            <a:normAutofit/>
          </a:bodyPr>
          <a:lstStyle/>
          <a:p>
            <a:r>
              <a:rPr lang="es-ES" sz="2800" dirty="0" smtClean="0"/>
              <a:t>Alucinaciones auditivas</a:t>
            </a:r>
            <a:endParaRPr lang="es-ES" sz="2800" dirty="0"/>
          </a:p>
        </p:txBody>
      </p:sp>
      <p:sp>
        <p:nvSpPr>
          <p:cNvPr id="3" name="Marcador de contenido 2"/>
          <p:cNvSpPr>
            <a:spLocks noGrp="1"/>
          </p:cNvSpPr>
          <p:nvPr>
            <p:ph idx="1"/>
          </p:nvPr>
        </p:nvSpPr>
        <p:spPr>
          <a:xfrm>
            <a:off x="248171" y="890555"/>
            <a:ext cx="8627585" cy="5664510"/>
          </a:xfrm>
        </p:spPr>
        <p:txBody>
          <a:bodyPr/>
          <a:lstStyle/>
          <a:p>
            <a:pPr marL="0" indent="0">
              <a:buNone/>
            </a:pPr>
            <a:r>
              <a:rPr lang="es-ES" sz="2000" u="sng" dirty="0" smtClean="0"/>
              <a:t>Características </a:t>
            </a:r>
            <a:r>
              <a:rPr lang="es-ES" sz="2000" u="sng" dirty="0"/>
              <a:t>especiales:</a:t>
            </a:r>
          </a:p>
          <a:p>
            <a:pPr lvl="1"/>
            <a:r>
              <a:rPr lang="es-ES" u="sng" dirty="0"/>
              <a:t>Auditivas en segunda </a:t>
            </a:r>
            <a:r>
              <a:rPr lang="es-ES" u="sng" dirty="0" smtClean="0"/>
              <a:t>persona</a:t>
            </a:r>
            <a:r>
              <a:rPr lang="es-ES" dirty="0" smtClean="0"/>
              <a:t>(“vas a morir”)</a:t>
            </a:r>
            <a:endParaRPr lang="es-ES" dirty="0"/>
          </a:p>
          <a:p>
            <a:pPr lvl="1"/>
            <a:r>
              <a:rPr lang="es-ES" u="sng" dirty="0"/>
              <a:t>Auditivas en tercera </a:t>
            </a:r>
            <a:r>
              <a:rPr lang="es-ES" u="sng" dirty="0" smtClean="0"/>
              <a:t>persona</a:t>
            </a:r>
            <a:r>
              <a:rPr lang="es-ES" dirty="0" smtClean="0"/>
              <a:t>(“voces que discuten entre ellas”).</a:t>
            </a:r>
            <a:endParaRPr lang="es-ES" dirty="0"/>
          </a:p>
          <a:p>
            <a:pPr lvl="1"/>
            <a:r>
              <a:rPr lang="es-ES" u="sng" dirty="0"/>
              <a:t>Eco del </a:t>
            </a:r>
            <a:r>
              <a:rPr lang="es-ES" u="sng" dirty="0" smtClean="0"/>
              <a:t>pensamiento</a:t>
            </a:r>
            <a:r>
              <a:rPr lang="es-ES" dirty="0" smtClean="0"/>
              <a:t>(</a:t>
            </a:r>
            <a:r>
              <a:rPr lang="es-ES_tradnl" dirty="0"/>
              <a:t>“que se repiten sus propios pensamientos que le enuncian sus intenciones y sus </a:t>
            </a:r>
            <a:r>
              <a:rPr lang="es-ES_tradnl" dirty="0" smtClean="0"/>
              <a:t>actos”).</a:t>
            </a:r>
            <a:endParaRPr lang="es-ES" dirty="0"/>
          </a:p>
          <a:p>
            <a:pPr lvl="1"/>
            <a:r>
              <a:rPr lang="es-ES" u="sng" dirty="0"/>
              <a:t>Alucinaciones </a:t>
            </a:r>
            <a:r>
              <a:rPr lang="es-ES" u="sng" dirty="0" err="1"/>
              <a:t>intrapsíquicas</a:t>
            </a:r>
            <a:r>
              <a:rPr lang="es-ES" u="sng" dirty="0"/>
              <a:t> o </a:t>
            </a:r>
            <a:r>
              <a:rPr lang="es-ES" i="1" u="sng" dirty="0" err="1" smtClean="0"/>
              <a:t>pseudoalucinaciones</a:t>
            </a:r>
            <a:r>
              <a:rPr lang="es-ES" i="1" u="sng" dirty="0" smtClean="0"/>
              <a:t> </a:t>
            </a:r>
            <a:r>
              <a:rPr lang="es-ES" i="1" dirty="0" smtClean="0"/>
              <a:t>(</a:t>
            </a:r>
            <a:r>
              <a:rPr lang="es-ES" dirty="0" smtClean="0"/>
              <a:t>es subjetiva, aparecen en la mente del enfermo, no existe capacidad o exteriorización de la imagen, es propia de la esquizofrenia)</a:t>
            </a:r>
            <a:r>
              <a:rPr lang="es-ES" i="1" dirty="0" smtClean="0"/>
              <a:t>.</a:t>
            </a:r>
          </a:p>
          <a:p>
            <a:pPr lvl="1"/>
            <a:r>
              <a:rPr lang="es-ES" i="1" u="sng" dirty="0" smtClean="0"/>
              <a:t>Alucinosis</a:t>
            </a:r>
            <a:r>
              <a:rPr lang="es-ES" u="sng" dirty="0" smtClean="0"/>
              <a:t>: </a:t>
            </a:r>
            <a:r>
              <a:rPr lang="es-ES_tradnl" dirty="0"/>
              <a:t>Las alucinosis son alucinaciones en las que el sujeto carece de juicio de realidad positivo y por consiguiente son criticadas adecuadamente en el momento de producirse.</a:t>
            </a:r>
            <a:endParaRPr lang="es-ES" dirty="0"/>
          </a:p>
          <a:p>
            <a:pPr lvl="1" algn="just">
              <a:buNone/>
            </a:pPr>
            <a:endParaRPr lang="es-ES" dirty="0"/>
          </a:p>
          <a:p>
            <a:endParaRPr lang="es-ES" dirty="0"/>
          </a:p>
        </p:txBody>
      </p:sp>
    </p:spTree>
    <p:extLst>
      <p:ext uri="{BB962C8B-B14F-4D97-AF65-F5344CB8AC3E}">
        <p14:creationId xmlns:p14="http://schemas.microsoft.com/office/powerpoint/2010/main" val="3516899691"/>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4"/>
            <a:ext cx="7606025" cy="871726"/>
          </a:xfrm>
        </p:spPr>
        <p:txBody>
          <a:bodyPr>
            <a:normAutofit/>
          </a:bodyPr>
          <a:lstStyle/>
          <a:p>
            <a:r>
              <a:rPr lang="es-ES" sz="2800" dirty="0"/>
              <a:t>Alucinaciones Visuales</a:t>
            </a:r>
          </a:p>
        </p:txBody>
      </p:sp>
      <p:sp>
        <p:nvSpPr>
          <p:cNvPr id="3" name="Marcador de contenido 2"/>
          <p:cNvSpPr>
            <a:spLocks noGrp="1"/>
          </p:cNvSpPr>
          <p:nvPr>
            <p:ph idx="1"/>
          </p:nvPr>
        </p:nvSpPr>
        <p:spPr>
          <a:xfrm>
            <a:off x="277368" y="992750"/>
            <a:ext cx="8481602" cy="5562315"/>
          </a:xfrm>
        </p:spPr>
        <p:txBody>
          <a:bodyPr/>
          <a:lstStyle/>
          <a:p>
            <a:pPr marL="0" indent="0" algn="just">
              <a:buNone/>
            </a:pPr>
            <a:r>
              <a:rPr lang="es-ES" sz="2000" i="1" dirty="0"/>
              <a:t>Simples </a:t>
            </a:r>
            <a:r>
              <a:rPr lang="es-ES" sz="2000" dirty="0"/>
              <a:t>o </a:t>
            </a:r>
            <a:r>
              <a:rPr lang="es-ES" sz="2000" i="1" dirty="0" smtClean="0"/>
              <a:t>complejas.</a:t>
            </a:r>
          </a:p>
          <a:p>
            <a:pPr marL="0" indent="0" algn="just">
              <a:buNone/>
            </a:pPr>
            <a:r>
              <a:rPr lang="es-ES" sz="2000" b="1" u="sng" dirty="0" smtClean="0"/>
              <a:t>Características </a:t>
            </a:r>
            <a:r>
              <a:rPr lang="es-ES" sz="2000" b="1" u="sng" dirty="0"/>
              <a:t>especiales</a:t>
            </a:r>
            <a:r>
              <a:rPr lang="es-ES" sz="2000" dirty="0"/>
              <a:t>:</a:t>
            </a:r>
          </a:p>
          <a:p>
            <a:pPr lvl="1" algn="just"/>
            <a:r>
              <a:rPr lang="es-ES" u="sng" dirty="0" err="1" smtClean="0"/>
              <a:t>Extracampinas</a:t>
            </a:r>
            <a:r>
              <a:rPr lang="es-ES" dirty="0" smtClean="0"/>
              <a:t>(</a:t>
            </a:r>
            <a:r>
              <a:rPr lang="es-ES_tradnl" dirty="0"/>
              <a:t>se experimenta fuera del campo sensorial plausible. Por ejemplo, una alucinación visual en la que se cree percibir una imagen situada fuera del campo visual: a espaldas del que la padece, al otro lado de una pared, etc</a:t>
            </a:r>
            <a:r>
              <a:rPr lang="es-ES_tradnl" dirty="0" smtClean="0"/>
              <a:t>.)</a:t>
            </a:r>
            <a:endParaRPr lang="es-ES" dirty="0"/>
          </a:p>
          <a:p>
            <a:pPr lvl="1" algn="just"/>
            <a:r>
              <a:rPr lang="es-ES" u="sng" dirty="0" err="1" smtClean="0"/>
              <a:t>Autoscópicas</a:t>
            </a:r>
            <a:r>
              <a:rPr lang="es-ES" dirty="0" smtClean="0"/>
              <a:t>(</a:t>
            </a:r>
            <a:r>
              <a:rPr lang="es-ES_tradnl" dirty="0"/>
              <a:t>Es una alucinación visual en la que el enfermo se ve así mismo como si se mirase a un espejo</a:t>
            </a:r>
            <a:r>
              <a:rPr lang="es-ES_tradnl" dirty="0" smtClean="0"/>
              <a:t>.)</a:t>
            </a:r>
          </a:p>
          <a:p>
            <a:pPr lvl="1" algn="just"/>
            <a:endParaRPr lang="es-ES" dirty="0"/>
          </a:p>
          <a:p>
            <a:pPr lvl="1" algn="just"/>
            <a:r>
              <a:rPr lang="es-ES" u="sng" dirty="0" smtClean="0"/>
              <a:t>Liliputienses</a:t>
            </a:r>
            <a:r>
              <a:rPr lang="es-ES" dirty="0" smtClean="0"/>
              <a:t>(</a:t>
            </a:r>
            <a:r>
              <a:rPr lang="es-ES_tradnl" dirty="0"/>
              <a:t>Son alucinaciones visuales de objetos o personas de un tamaño inferior al normal. Pueden aparecer en trastornos funcionales u orgánicos</a:t>
            </a:r>
            <a:r>
              <a:rPr lang="es-ES_tradnl" dirty="0" smtClean="0"/>
              <a:t>.)</a:t>
            </a:r>
            <a:endParaRPr lang="es-ES" dirty="0"/>
          </a:p>
          <a:p>
            <a:endParaRPr lang="es-ES" dirty="0"/>
          </a:p>
        </p:txBody>
      </p:sp>
    </p:spTree>
    <p:extLst>
      <p:ext uri="{BB962C8B-B14F-4D97-AF65-F5344CB8AC3E}">
        <p14:creationId xmlns:p14="http://schemas.microsoft.com/office/powerpoint/2010/main" val="2303767558"/>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1" y="121024"/>
            <a:ext cx="7430846" cy="638138"/>
          </a:xfrm>
        </p:spPr>
        <p:txBody>
          <a:bodyPr>
            <a:normAutofit/>
          </a:bodyPr>
          <a:lstStyle/>
          <a:p>
            <a:r>
              <a:rPr lang="es-ES" sz="2800" dirty="0" smtClean="0"/>
              <a:t>Memoria </a:t>
            </a:r>
            <a:endParaRPr lang="es-ES" sz="2800" dirty="0"/>
          </a:p>
        </p:txBody>
      </p:sp>
      <p:sp>
        <p:nvSpPr>
          <p:cNvPr id="3" name="Marcador de contenido 2"/>
          <p:cNvSpPr>
            <a:spLocks noGrp="1"/>
          </p:cNvSpPr>
          <p:nvPr>
            <p:ph idx="1"/>
          </p:nvPr>
        </p:nvSpPr>
        <p:spPr>
          <a:xfrm>
            <a:off x="248171" y="759162"/>
            <a:ext cx="8656781" cy="5825102"/>
          </a:xfrm>
        </p:spPr>
        <p:txBody>
          <a:bodyPr>
            <a:normAutofit fontScale="85000" lnSpcReduction="10000"/>
          </a:bodyPr>
          <a:lstStyle/>
          <a:p>
            <a:pPr algn="just"/>
            <a:r>
              <a:rPr lang="es-ES" sz="2400" dirty="0"/>
              <a:t>Capacidad de registro, retención y recuperación de la información.</a:t>
            </a:r>
          </a:p>
          <a:p>
            <a:pPr algn="just"/>
            <a:r>
              <a:rPr lang="es-ES" sz="2400" dirty="0"/>
              <a:t>Formada por una series de sistemas independientes pero interactuantes.</a:t>
            </a:r>
          </a:p>
          <a:p>
            <a:pPr algn="just">
              <a:buNone/>
            </a:pPr>
            <a:r>
              <a:rPr lang="es-ES" sz="2400" u="sng" dirty="0"/>
              <a:t>Memoria de corto plazo</a:t>
            </a:r>
            <a:r>
              <a:rPr lang="es-ES" sz="2400" dirty="0"/>
              <a:t>: </a:t>
            </a:r>
            <a:r>
              <a:rPr lang="es-ES" sz="2400" u="sng" dirty="0"/>
              <a:t>operativa</a:t>
            </a:r>
            <a:r>
              <a:rPr lang="es-ES" sz="2400" dirty="0"/>
              <a:t>, permite retener información por un corto plazo y está sujeta a interferencias en ese lapso. Si la información es de interés </a:t>
            </a:r>
            <a:r>
              <a:rPr lang="es-ES" sz="2400" u="sng" dirty="0"/>
              <a:t>pasa a largo plazo (consolidación</a:t>
            </a:r>
            <a:r>
              <a:rPr lang="es-ES" sz="2400" dirty="0"/>
              <a:t>)</a:t>
            </a:r>
          </a:p>
          <a:p>
            <a:pPr algn="just">
              <a:buNone/>
            </a:pPr>
            <a:r>
              <a:rPr lang="es-ES" sz="2400" dirty="0"/>
              <a:t>Memoria a largo plazo, mantiene la información de </a:t>
            </a:r>
            <a:r>
              <a:rPr lang="es-ES" sz="2400" dirty="0" smtClean="0"/>
              <a:t>minutos </a:t>
            </a:r>
            <a:r>
              <a:rPr lang="es-ES" sz="2400" dirty="0"/>
              <a:t>a muchos </a:t>
            </a:r>
            <a:r>
              <a:rPr lang="es-ES" sz="2400" dirty="0" smtClean="0"/>
              <a:t>años.</a:t>
            </a:r>
            <a:endParaRPr lang="es-ES" sz="2400" dirty="0"/>
          </a:p>
          <a:p>
            <a:pPr algn="just">
              <a:buFont typeface="Arial" pitchFamily="34" charset="0"/>
              <a:buChar char="•"/>
            </a:pPr>
            <a:r>
              <a:rPr lang="es-ES" sz="2400" u="sng" dirty="0"/>
              <a:t>Memoria explícita</a:t>
            </a:r>
            <a:r>
              <a:rPr lang="es-ES" sz="2400" dirty="0"/>
              <a:t>: de índole </a:t>
            </a:r>
            <a:r>
              <a:rPr lang="es-ES" sz="2400" u="sng" dirty="0"/>
              <a:t>declarativa</a:t>
            </a:r>
            <a:r>
              <a:rPr lang="es-ES" sz="2400" dirty="0"/>
              <a:t> por que la evocación es hablando. </a:t>
            </a:r>
            <a:r>
              <a:rPr lang="es-ES" sz="2400" u="sng" dirty="0"/>
              <a:t>Episódica</a:t>
            </a:r>
            <a:r>
              <a:rPr lang="es-ES" sz="2400" dirty="0"/>
              <a:t>: un episodio de nuestra vida. </a:t>
            </a:r>
            <a:r>
              <a:rPr lang="es-ES" sz="2400" u="sng" dirty="0"/>
              <a:t>Semántica</a:t>
            </a:r>
            <a:r>
              <a:rPr lang="es-ES" sz="2400" dirty="0"/>
              <a:t>: evocar </a:t>
            </a:r>
            <a:r>
              <a:rPr lang="es-ES" sz="2400" dirty="0" smtClean="0"/>
              <a:t>conocimientos en general.</a:t>
            </a:r>
            <a:endParaRPr lang="es-ES" sz="2400" dirty="0"/>
          </a:p>
          <a:p>
            <a:pPr algn="just">
              <a:buFont typeface="Arial" pitchFamily="34" charset="0"/>
              <a:buChar char="•"/>
            </a:pPr>
            <a:r>
              <a:rPr lang="es-ES" sz="2400" u="sng" dirty="0"/>
              <a:t>Memoria implícita</a:t>
            </a:r>
            <a:r>
              <a:rPr lang="es-ES" sz="2400" dirty="0"/>
              <a:t>: recordar procedimientos sin darse </a:t>
            </a:r>
            <a:r>
              <a:rPr lang="es-ES" sz="2400" dirty="0" smtClean="0"/>
              <a:t>cuenta(andar en bici).</a:t>
            </a:r>
            <a:endParaRPr lang="es-ES" sz="2400" dirty="0"/>
          </a:p>
          <a:p>
            <a:pPr algn="just">
              <a:buNone/>
            </a:pPr>
            <a:r>
              <a:rPr lang="es-ES" sz="2400" u="sng" dirty="0"/>
              <a:t>Memoria de trabajo</a:t>
            </a:r>
            <a:r>
              <a:rPr lang="es-ES" sz="2400" dirty="0"/>
              <a:t>: mantiene y manipula la información de manera temporal interviene en la comprensión del lenguaje, la lectura y </a:t>
            </a:r>
            <a:r>
              <a:rPr lang="es-ES" sz="2400"/>
              <a:t>el </a:t>
            </a:r>
            <a:r>
              <a:rPr lang="es-ES" sz="2400" smtClean="0"/>
              <a:t>razonamiento.</a:t>
            </a:r>
            <a:endParaRPr lang="es-ES" sz="2400" dirty="0"/>
          </a:p>
          <a:p>
            <a:endParaRPr lang="es-ES" dirty="0"/>
          </a:p>
        </p:txBody>
      </p:sp>
    </p:spTree>
    <p:extLst>
      <p:ext uri="{BB962C8B-B14F-4D97-AF65-F5344CB8AC3E}">
        <p14:creationId xmlns:p14="http://schemas.microsoft.com/office/powerpoint/2010/main" val="2990133746"/>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89778" y="963550"/>
            <a:ext cx="8802765" cy="5547717"/>
          </a:xfrm>
        </p:spPr>
        <p:txBody>
          <a:bodyPr>
            <a:normAutofit fontScale="70000" lnSpcReduction="20000"/>
          </a:bodyPr>
          <a:lstStyle/>
          <a:p>
            <a:pPr algn="just"/>
            <a:r>
              <a:rPr lang="es-ES" sz="3200" u="sng" dirty="0"/>
              <a:t>Cuantitativas:</a:t>
            </a:r>
          </a:p>
          <a:p>
            <a:pPr lvl="1" algn="just"/>
            <a:r>
              <a:rPr lang="es-ES" sz="2900" dirty="0"/>
              <a:t>Hipermnesia: epilepsia y muerte</a:t>
            </a:r>
          </a:p>
          <a:p>
            <a:pPr lvl="1" algn="just"/>
            <a:r>
              <a:rPr lang="es-ES" sz="2900" dirty="0" err="1"/>
              <a:t>Hipomnesia</a:t>
            </a:r>
            <a:r>
              <a:rPr lang="es-ES" sz="2900" dirty="0"/>
              <a:t>: depresión</a:t>
            </a:r>
          </a:p>
          <a:p>
            <a:pPr lvl="1" algn="just"/>
            <a:r>
              <a:rPr lang="es-ES" sz="2900" dirty="0"/>
              <a:t>Dismnesia: </a:t>
            </a:r>
            <a:r>
              <a:rPr lang="es-ES" sz="2900" dirty="0" err="1"/>
              <a:t>difultad</a:t>
            </a:r>
            <a:r>
              <a:rPr lang="es-ES" sz="2900" dirty="0"/>
              <a:t> en el recuerdo-normal</a:t>
            </a:r>
          </a:p>
          <a:p>
            <a:pPr lvl="1" algn="just"/>
            <a:r>
              <a:rPr lang="es-ES" sz="2900" dirty="0"/>
              <a:t>Amnesia</a:t>
            </a:r>
          </a:p>
          <a:p>
            <a:pPr algn="just"/>
            <a:r>
              <a:rPr lang="es-ES" sz="3200" u="sng" dirty="0"/>
              <a:t>Cualitativas (paramnesias)</a:t>
            </a:r>
            <a:r>
              <a:rPr lang="es-ES" sz="3200" dirty="0"/>
              <a:t>:</a:t>
            </a:r>
          </a:p>
          <a:p>
            <a:pPr lvl="1" algn="just"/>
            <a:r>
              <a:rPr lang="es-ES" sz="2900" i="1" dirty="0"/>
              <a:t>Reminiscencia</a:t>
            </a:r>
            <a:r>
              <a:rPr lang="es-ES" sz="2900" dirty="0"/>
              <a:t>: se evoca un recuerdo y no se lo </a:t>
            </a:r>
            <a:r>
              <a:rPr lang="es-ES" sz="2900" dirty="0" smtClean="0"/>
              <a:t>reconoce.</a:t>
            </a:r>
            <a:endParaRPr lang="es-ES" sz="2900" dirty="0"/>
          </a:p>
          <a:p>
            <a:pPr lvl="1" algn="just"/>
            <a:r>
              <a:rPr lang="es-ES" sz="2900" i="1" dirty="0"/>
              <a:t>Ilusión de memoria</a:t>
            </a:r>
            <a:r>
              <a:rPr lang="es-ES" sz="2900" dirty="0"/>
              <a:t>: enriquecimiento/recuerdo distinto</a:t>
            </a:r>
          </a:p>
          <a:p>
            <a:pPr lvl="1" algn="just"/>
            <a:r>
              <a:rPr lang="es-ES" sz="2900" i="1" dirty="0"/>
              <a:t>Alucinación de memoria</a:t>
            </a:r>
            <a:r>
              <a:rPr lang="es-ES" sz="2900" dirty="0"/>
              <a:t>: evocar un hecho nunca sucedido</a:t>
            </a:r>
          </a:p>
          <a:p>
            <a:pPr lvl="1" algn="just"/>
            <a:r>
              <a:rPr lang="es-ES" sz="2900" dirty="0" smtClean="0"/>
              <a:t>Fabulación(</a:t>
            </a:r>
            <a:r>
              <a:rPr lang="es-ES_tradnl" sz="2400" dirty="0" smtClean="0"/>
              <a:t>Invención </a:t>
            </a:r>
            <a:r>
              <a:rPr lang="es-ES_tradnl" sz="2400" dirty="0"/>
              <a:t>de relatos imaginarios más o menos coherentes que son expresados como si fuesen reales. Es propio de los niños y si se presenta en el adulto es síntoma </a:t>
            </a:r>
            <a:r>
              <a:rPr lang="es-ES_tradnl" sz="2400" dirty="0" smtClean="0"/>
              <a:t>psicopatológico)</a:t>
            </a:r>
            <a:endParaRPr lang="es-ES" sz="2900" dirty="0"/>
          </a:p>
          <a:p>
            <a:pPr lvl="1" algn="just"/>
            <a:r>
              <a:rPr lang="es-ES" sz="2900" dirty="0"/>
              <a:t>Fenómeno de lo ya visto</a:t>
            </a:r>
          </a:p>
          <a:p>
            <a:pPr lvl="1" algn="just"/>
            <a:r>
              <a:rPr lang="es-ES" sz="2900" dirty="0"/>
              <a:t>Fenómeno de lo nunca visto</a:t>
            </a:r>
          </a:p>
          <a:p>
            <a:pPr lvl="1" algn="just"/>
            <a:r>
              <a:rPr lang="es-ES" sz="2900" dirty="0" err="1"/>
              <a:t>Ecmnesia</a:t>
            </a:r>
            <a:r>
              <a:rPr lang="es-ES" sz="2900" dirty="0"/>
              <a:t>: recuerdo anormal de hechos sucedidos en épocas pasadas</a:t>
            </a:r>
          </a:p>
          <a:p>
            <a:pPr lvl="1" algn="just"/>
            <a:r>
              <a:rPr lang="es-ES" sz="2900" dirty="0"/>
              <a:t>Falsos reconocimientos</a:t>
            </a:r>
          </a:p>
          <a:p>
            <a:endParaRPr lang="es-ES" dirty="0"/>
          </a:p>
        </p:txBody>
      </p:sp>
      <p:sp>
        <p:nvSpPr>
          <p:cNvPr id="4" name="1 Título"/>
          <p:cNvSpPr>
            <a:spLocks noGrp="1"/>
          </p:cNvSpPr>
          <p:nvPr>
            <p:ph type="title"/>
          </p:nvPr>
        </p:nvSpPr>
        <p:spPr>
          <a:xfrm>
            <a:off x="685800" y="121024"/>
            <a:ext cx="7770813" cy="638138"/>
          </a:xfrm>
        </p:spPr>
        <p:txBody>
          <a:bodyPr>
            <a:normAutofit fontScale="90000"/>
          </a:bodyPr>
          <a:lstStyle/>
          <a:p>
            <a:r>
              <a:rPr lang="es-ES" sz="4400" dirty="0" smtClean="0"/>
              <a:t>Alteraciones de la Memoria</a:t>
            </a:r>
            <a:endParaRPr lang="es-ES" sz="4400" dirty="0"/>
          </a:p>
        </p:txBody>
      </p:sp>
    </p:spTree>
    <p:extLst>
      <p:ext uri="{BB962C8B-B14F-4D97-AF65-F5344CB8AC3E}">
        <p14:creationId xmlns:p14="http://schemas.microsoft.com/office/powerpoint/2010/main" val="3728707949"/>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4"/>
            <a:ext cx="7770813" cy="638138"/>
          </a:xfrm>
        </p:spPr>
        <p:txBody>
          <a:bodyPr>
            <a:normAutofit/>
          </a:bodyPr>
          <a:lstStyle/>
          <a:p>
            <a:r>
              <a:rPr lang="es-ES" sz="2800" dirty="0"/>
              <a:t>Orientación </a:t>
            </a:r>
          </a:p>
        </p:txBody>
      </p:sp>
      <p:sp>
        <p:nvSpPr>
          <p:cNvPr id="3" name="Marcador de contenido 2"/>
          <p:cNvSpPr>
            <a:spLocks noGrp="1"/>
          </p:cNvSpPr>
          <p:nvPr>
            <p:ph idx="1"/>
          </p:nvPr>
        </p:nvSpPr>
        <p:spPr>
          <a:xfrm>
            <a:off x="175179" y="1226336"/>
            <a:ext cx="8627585" cy="5241133"/>
          </a:xfrm>
        </p:spPr>
        <p:txBody>
          <a:bodyPr/>
          <a:lstStyle/>
          <a:p>
            <a:pPr algn="just"/>
            <a:r>
              <a:rPr lang="es-ES" sz="2400" b="1" i="1" u="sng" dirty="0"/>
              <a:t>En tiempo: </a:t>
            </a:r>
            <a:r>
              <a:rPr lang="es-ES" sz="2400" u="sng" dirty="0"/>
              <a:t>hora</a:t>
            </a:r>
            <a:r>
              <a:rPr lang="es-ES" sz="2400" dirty="0"/>
              <a:t>: </a:t>
            </a:r>
            <a:r>
              <a:rPr lang="es-ES" sz="2400" dirty="0" smtClean="0"/>
              <a:t>integridad de </a:t>
            </a:r>
            <a:r>
              <a:rPr lang="es-ES" sz="2400" dirty="0"/>
              <a:t>la conciencia, </a:t>
            </a:r>
            <a:r>
              <a:rPr lang="es-ES" sz="2400" u="sng" dirty="0"/>
              <a:t>día/noche</a:t>
            </a:r>
            <a:r>
              <a:rPr lang="es-ES" sz="2400" dirty="0"/>
              <a:t>: </a:t>
            </a:r>
            <a:r>
              <a:rPr lang="es-ES" sz="2400" dirty="0" smtClean="0"/>
              <a:t>integridad </a:t>
            </a:r>
            <a:r>
              <a:rPr lang="es-ES" sz="2400" dirty="0"/>
              <a:t>de la conciencia, </a:t>
            </a:r>
            <a:r>
              <a:rPr lang="es-ES" sz="2400" u="sng" dirty="0"/>
              <a:t>fecha</a:t>
            </a:r>
            <a:r>
              <a:rPr lang="es-ES" sz="2400" dirty="0"/>
              <a:t>: </a:t>
            </a:r>
            <a:r>
              <a:rPr lang="es-ES" sz="2400" dirty="0" smtClean="0"/>
              <a:t>integridad </a:t>
            </a:r>
            <a:r>
              <a:rPr lang="es-ES" sz="2400" dirty="0"/>
              <a:t>de la memoria, información e interés, </a:t>
            </a:r>
            <a:r>
              <a:rPr lang="es-ES" sz="2400" u="sng" dirty="0"/>
              <a:t>mes y años</a:t>
            </a:r>
            <a:r>
              <a:rPr lang="es-ES" sz="2400" dirty="0"/>
              <a:t>: </a:t>
            </a:r>
            <a:r>
              <a:rPr lang="es-ES" sz="2400" dirty="0" smtClean="0"/>
              <a:t>integridad </a:t>
            </a:r>
            <a:r>
              <a:rPr lang="es-ES" sz="2400" dirty="0"/>
              <a:t>de la memoria, información e interés</a:t>
            </a:r>
          </a:p>
          <a:p>
            <a:pPr algn="just"/>
            <a:r>
              <a:rPr lang="es-ES" sz="2400" u="sng" dirty="0"/>
              <a:t>En espacio: </a:t>
            </a:r>
            <a:r>
              <a:rPr lang="es-ES" sz="2400" dirty="0"/>
              <a:t>(entorno, lugar y espacio) el entorno es lo que está alrededor, depende de la conciencia. El </a:t>
            </a:r>
            <a:r>
              <a:rPr lang="es-ES" sz="2400" u="sng" dirty="0"/>
              <a:t>luga</a:t>
            </a:r>
            <a:r>
              <a:rPr lang="es-ES" sz="2400" dirty="0"/>
              <a:t>r es la ciudad y depende de la memoria. El e</a:t>
            </a:r>
            <a:r>
              <a:rPr lang="es-ES" sz="2400" u="sng" dirty="0"/>
              <a:t>spacio</a:t>
            </a:r>
            <a:r>
              <a:rPr lang="es-ES" sz="2400" dirty="0"/>
              <a:t> arriba/abajo, derecha/izquierda .</a:t>
            </a:r>
          </a:p>
          <a:p>
            <a:endParaRPr lang="es-ES" dirty="0"/>
          </a:p>
        </p:txBody>
      </p:sp>
    </p:spTree>
    <p:extLst>
      <p:ext uri="{BB962C8B-B14F-4D97-AF65-F5344CB8AC3E}">
        <p14:creationId xmlns:p14="http://schemas.microsoft.com/office/powerpoint/2010/main" val="4216710078"/>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2800" b="1" cap="all" dirty="0"/>
              <a:t>Funciones intelectuales superiores</a:t>
            </a:r>
            <a:endParaRPr lang="es-ES" sz="2800" dirty="0"/>
          </a:p>
        </p:txBody>
      </p:sp>
      <p:sp>
        <p:nvSpPr>
          <p:cNvPr id="3" name="Marcador de contenido 2"/>
          <p:cNvSpPr>
            <a:spLocks noGrp="1"/>
          </p:cNvSpPr>
          <p:nvPr>
            <p:ph idx="1"/>
          </p:nvPr>
        </p:nvSpPr>
        <p:spPr/>
        <p:txBody>
          <a:bodyPr/>
          <a:lstStyle/>
          <a:p>
            <a:pPr marL="1097280" lvl="2" indent="-457200">
              <a:buFont typeface="+mj-lt"/>
              <a:buAutoNum type="arabicPeriod"/>
            </a:pPr>
            <a:r>
              <a:rPr lang="es-ES" sz="2800" dirty="0"/>
              <a:t>Ideación</a:t>
            </a:r>
          </a:p>
          <a:p>
            <a:pPr marL="1097280" lvl="2" indent="-457200">
              <a:buFont typeface="+mj-lt"/>
              <a:buAutoNum type="arabicPeriod"/>
            </a:pPr>
            <a:r>
              <a:rPr lang="es-ES" sz="2800" dirty="0"/>
              <a:t>Imaginación</a:t>
            </a:r>
          </a:p>
          <a:p>
            <a:pPr marL="1097280" lvl="2" indent="-457200">
              <a:buFont typeface="+mj-lt"/>
              <a:buAutoNum type="arabicPeriod"/>
            </a:pPr>
            <a:r>
              <a:rPr lang="es-ES" sz="2800" dirty="0"/>
              <a:t>Juicio</a:t>
            </a:r>
          </a:p>
          <a:p>
            <a:pPr marL="0" indent="0">
              <a:buNone/>
            </a:pPr>
            <a:endParaRPr lang="es-ES" dirty="0"/>
          </a:p>
        </p:txBody>
      </p:sp>
    </p:spTree>
    <p:extLst>
      <p:ext uri="{BB962C8B-B14F-4D97-AF65-F5344CB8AC3E}">
        <p14:creationId xmlns:p14="http://schemas.microsoft.com/office/powerpoint/2010/main" val="1443631111"/>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50359" y="1240936"/>
            <a:ext cx="8656781" cy="5460121"/>
          </a:xfrm>
        </p:spPr>
        <p:txBody>
          <a:bodyPr>
            <a:normAutofit fontScale="92500" lnSpcReduction="20000"/>
          </a:bodyPr>
          <a:lstStyle/>
          <a:p>
            <a:pPr algn="just">
              <a:buNone/>
            </a:pPr>
            <a:r>
              <a:rPr lang="es-ES" sz="3200" dirty="0"/>
              <a:t>Capacidad de formar ideas, encadenarlas, formar conceptos, pensar es mas que una asociación de ideas y una conducta es una estructura mental </a:t>
            </a:r>
            <a:r>
              <a:rPr lang="es-ES" sz="3200" u="sng" dirty="0"/>
              <a:t>implica</a:t>
            </a:r>
            <a:r>
              <a:rPr lang="es-ES" sz="3200" dirty="0"/>
              <a:t>:</a:t>
            </a:r>
          </a:p>
          <a:p>
            <a:pPr algn="just"/>
            <a:r>
              <a:rPr lang="es-ES" sz="3200" dirty="0"/>
              <a:t>La formación de conceptos (captar la </a:t>
            </a:r>
            <a:r>
              <a:rPr lang="es-ES" sz="3200" dirty="0" err="1"/>
              <a:t>escencia</a:t>
            </a:r>
            <a:r>
              <a:rPr lang="es-ES" sz="3200" dirty="0"/>
              <a:t> de los fenómenos y objetos)</a:t>
            </a:r>
          </a:p>
          <a:p>
            <a:pPr algn="just"/>
            <a:r>
              <a:rPr lang="es-ES" sz="3200" dirty="0"/>
              <a:t>La formación de juicios (relación entre los conceptos)</a:t>
            </a:r>
          </a:p>
          <a:p>
            <a:pPr algn="just"/>
            <a:r>
              <a:rPr lang="es-ES" sz="3200" dirty="0" smtClean="0"/>
              <a:t>Deducción </a:t>
            </a:r>
            <a:r>
              <a:rPr lang="es-ES" sz="3200" dirty="0"/>
              <a:t>de conclusiones (nuevos Juicios)</a:t>
            </a:r>
          </a:p>
          <a:p>
            <a:pPr algn="just">
              <a:buNone/>
            </a:pPr>
            <a:r>
              <a:rPr lang="es-ES" sz="3200" dirty="0"/>
              <a:t>Los desordenes se reconocen a través del habla, la escritura y la conducta.</a:t>
            </a:r>
          </a:p>
          <a:p>
            <a:endParaRPr lang="es-ES" dirty="0"/>
          </a:p>
        </p:txBody>
      </p:sp>
      <p:sp>
        <p:nvSpPr>
          <p:cNvPr id="4" name="1 Título"/>
          <p:cNvSpPr>
            <a:spLocks noGrp="1"/>
          </p:cNvSpPr>
          <p:nvPr>
            <p:ph type="title"/>
          </p:nvPr>
        </p:nvSpPr>
        <p:spPr>
          <a:xfrm>
            <a:off x="685800" y="121023"/>
            <a:ext cx="7770813" cy="784131"/>
          </a:xfrm>
        </p:spPr>
        <p:txBody>
          <a:bodyPr>
            <a:normAutofit/>
          </a:bodyPr>
          <a:lstStyle/>
          <a:p>
            <a:r>
              <a:rPr lang="es-ES" sz="4400" dirty="0" smtClean="0"/>
              <a:t>Ideación </a:t>
            </a:r>
            <a:endParaRPr lang="es-ES" sz="4400" dirty="0"/>
          </a:p>
        </p:txBody>
      </p:sp>
    </p:spTree>
    <p:extLst>
      <p:ext uri="{BB962C8B-B14F-4D97-AF65-F5344CB8AC3E}">
        <p14:creationId xmlns:p14="http://schemas.microsoft.com/office/powerpoint/2010/main" val="3634636360"/>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163712"/>
            <a:ext cx="7770813" cy="1429871"/>
          </a:xfrm>
        </p:spPr>
        <p:txBody>
          <a:bodyPr/>
          <a:lstStyle/>
          <a:p>
            <a:endParaRPr lang="es-ES" dirty="0"/>
          </a:p>
        </p:txBody>
      </p:sp>
      <p:sp>
        <p:nvSpPr>
          <p:cNvPr id="3" name="Marcador de contenido 2"/>
          <p:cNvSpPr>
            <a:spLocks noGrp="1"/>
          </p:cNvSpPr>
          <p:nvPr>
            <p:ph idx="1"/>
          </p:nvPr>
        </p:nvSpPr>
        <p:spPr>
          <a:xfrm>
            <a:off x="248171" y="598568"/>
            <a:ext cx="8671379" cy="6102489"/>
          </a:xfrm>
        </p:spPr>
        <p:txBody>
          <a:bodyPr/>
          <a:lstStyle/>
          <a:p>
            <a:r>
              <a:rPr lang="es-ES" dirty="0" smtClean="0"/>
              <a:t>La mecánica del pensar implica la existencia de forma, contenido y flujo.</a:t>
            </a:r>
          </a:p>
          <a:p>
            <a:pPr algn="just">
              <a:buNone/>
            </a:pPr>
            <a:r>
              <a:rPr lang="es-ES" u="sng" dirty="0"/>
              <a:t>Se deben evaluar tres aspectos</a:t>
            </a:r>
            <a:r>
              <a:rPr lang="es-ES" dirty="0"/>
              <a:t>:</a:t>
            </a:r>
          </a:p>
          <a:p>
            <a:pPr lvl="1" algn="just"/>
            <a:r>
              <a:rPr lang="es-ES" sz="2200" dirty="0"/>
              <a:t>Forma</a:t>
            </a:r>
          </a:p>
          <a:p>
            <a:pPr lvl="1" algn="just"/>
            <a:r>
              <a:rPr lang="es-ES" sz="2200" dirty="0"/>
              <a:t>Contenido</a:t>
            </a:r>
          </a:p>
          <a:p>
            <a:pPr lvl="1" algn="just"/>
            <a:r>
              <a:rPr lang="es-ES" sz="2200" dirty="0"/>
              <a:t>Flujo</a:t>
            </a:r>
          </a:p>
          <a:p>
            <a:endParaRPr lang="es-ES" dirty="0"/>
          </a:p>
        </p:txBody>
      </p:sp>
    </p:spTree>
    <p:extLst>
      <p:ext uri="{BB962C8B-B14F-4D97-AF65-F5344CB8AC3E}">
        <p14:creationId xmlns:p14="http://schemas.microsoft.com/office/powerpoint/2010/main" val="2596117310"/>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4"/>
            <a:ext cx="7770813" cy="798730"/>
          </a:xfrm>
        </p:spPr>
        <p:txBody>
          <a:bodyPr>
            <a:normAutofit fontScale="90000"/>
          </a:bodyPr>
          <a:lstStyle/>
          <a:p>
            <a:pPr lvl="0"/>
            <a:r>
              <a:rPr lang="es-ES" sz="2800" cap="small" dirty="0">
                <a:solidFill>
                  <a:schemeClr val="tx2"/>
                </a:solidFill>
                <a:effectLst/>
              </a:rPr>
              <a:t>Desórdenes del Flujo</a:t>
            </a:r>
            <a:br>
              <a:rPr lang="es-ES" sz="2800" cap="small" dirty="0">
                <a:solidFill>
                  <a:schemeClr val="tx2"/>
                </a:solidFill>
                <a:effectLst/>
              </a:rPr>
            </a:br>
            <a:endParaRPr lang="es-ES" sz="2800" dirty="0"/>
          </a:p>
        </p:txBody>
      </p:sp>
      <p:sp>
        <p:nvSpPr>
          <p:cNvPr id="3" name="Marcador de contenido 2"/>
          <p:cNvSpPr>
            <a:spLocks noGrp="1"/>
          </p:cNvSpPr>
          <p:nvPr>
            <p:ph idx="1"/>
          </p:nvPr>
        </p:nvSpPr>
        <p:spPr>
          <a:xfrm>
            <a:off x="218974" y="919754"/>
            <a:ext cx="8510800" cy="5533117"/>
          </a:xfrm>
        </p:spPr>
        <p:txBody>
          <a:bodyPr>
            <a:normAutofit fontScale="92500" lnSpcReduction="20000"/>
          </a:bodyPr>
          <a:lstStyle/>
          <a:p>
            <a:pPr marL="274320" lvl="0" indent="-274320" algn="just">
              <a:spcBef>
                <a:spcPts val="600"/>
              </a:spcBef>
              <a:buClr>
                <a:schemeClr val="accent1"/>
              </a:buClr>
              <a:buSzPct val="70000"/>
              <a:buFont typeface="Wingdings"/>
              <a:buChar char=""/>
              <a:defRPr/>
            </a:pPr>
            <a:r>
              <a:rPr lang="es-ES" sz="2000" dirty="0">
                <a:effectLst/>
              </a:rPr>
              <a:t>Se evalúa a través de la velocidad.</a:t>
            </a:r>
          </a:p>
          <a:p>
            <a:pPr marL="640080" lvl="1" indent="-274320" algn="just">
              <a:spcBef>
                <a:spcPct val="20000"/>
              </a:spcBef>
              <a:buClr>
                <a:schemeClr val="accent1"/>
              </a:buClr>
              <a:buSzPct val="80000"/>
              <a:buFont typeface="Wingdings 2"/>
              <a:buChar char=""/>
              <a:defRPr/>
            </a:pPr>
            <a:r>
              <a:rPr lang="es-ES" dirty="0" err="1">
                <a:effectLst/>
              </a:rPr>
              <a:t>Eupsiquia</a:t>
            </a:r>
            <a:endParaRPr lang="es-ES" dirty="0">
              <a:effectLst/>
            </a:endParaRPr>
          </a:p>
          <a:p>
            <a:pPr marL="640080" lvl="1" indent="-274320" algn="just">
              <a:spcBef>
                <a:spcPct val="20000"/>
              </a:spcBef>
              <a:buClr>
                <a:schemeClr val="accent1"/>
              </a:buClr>
              <a:buSzPct val="80000"/>
              <a:buFont typeface="Wingdings 2"/>
              <a:buChar char=""/>
              <a:defRPr/>
            </a:pPr>
            <a:r>
              <a:rPr lang="es-ES" dirty="0" err="1">
                <a:effectLst/>
              </a:rPr>
              <a:t>Taquipsiquia</a:t>
            </a:r>
            <a:endParaRPr lang="es-ES" dirty="0">
              <a:effectLst/>
            </a:endParaRPr>
          </a:p>
          <a:p>
            <a:pPr marL="640080" lvl="1" indent="-274320" algn="just">
              <a:spcBef>
                <a:spcPct val="20000"/>
              </a:spcBef>
              <a:buClr>
                <a:schemeClr val="accent1"/>
              </a:buClr>
              <a:buSzPct val="80000"/>
              <a:buFont typeface="Wingdings 2"/>
              <a:buChar char=""/>
              <a:defRPr/>
            </a:pPr>
            <a:r>
              <a:rPr lang="es-ES" dirty="0" err="1">
                <a:effectLst/>
              </a:rPr>
              <a:t>Bradipsiquia</a:t>
            </a:r>
            <a:endParaRPr lang="es-ES" dirty="0">
              <a:effectLst/>
            </a:endParaRPr>
          </a:p>
          <a:p>
            <a:pPr marL="640080" lvl="1" indent="-274320" algn="just">
              <a:spcBef>
                <a:spcPct val="20000"/>
              </a:spcBef>
              <a:buClr>
                <a:schemeClr val="accent1"/>
              </a:buClr>
              <a:buSzPct val="80000"/>
              <a:buFont typeface="Wingdings 2"/>
              <a:buChar char=""/>
              <a:defRPr/>
            </a:pPr>
            <a:r>
              <a:rPr lang="es-ES" dirty="0">
                <a:effectLst/>
              </a:rPr>
              <a:t>Bloqueos</a:t>
            </a:r>
          </a:p>
          <a:p>
            <a:pPr marL="640080" lvl="1" indent="-274320" algn="just">
              <a:spcBef>
                <a:spcPct val="20000"/>
              </a:spcBef>
              <a:buClr>
                <a:schemeClr val="accent1"/>
              </a:buClr>
              <a:buSzPct val="80000"/>
              <a:buFont typeface="Wingdings 2"/>
              <a:buChar char=""/>
              <a:defRPr/>
            </a:pPr>
            <a:r>
              <a:rPr lang="es-ES" dirty="0" smtClean="0">
                <a:effectLst/>
              </a:rPr>
              <a:t>Viscosidad(se mezcla lentitud, </a:t>
            </a:r>
            <a:r>
              <a:rPr lang="es-ES" dirty="0" err="1" smtClean="0">
                <a:effectLst/>
              </a:rPr>
              <a:t>perseveracion</a:t>
            </a:r>
            <a:r>
              <a:rPr lang="es-ES" dirty="0" smtClean="0">
                <a:effectLst/>
              </a:rPr>
              <a:t> e incapacidad de </a:t>
            </a:r>
            <a:r>
              <a:rPr lang="es-ES" dirty="0" err="1" smtClean="0">
                <a:effectLst/>
              </a:rPr>
              <a:t>sintesis</a:t>
            </a:r>
            <a:r>
              <a:rPr lang="es-ES" dirty="0" smtClean="0">
                <a:effectLst/>
              </a:rPr>
              <a:t>).</a:t>
            </a:r>
          </a:p>
          <a:p>
            <a:pPr marL="640080" lvl="1" indent="-274320" algn="just">
              <a:spcBef>
                <a:spcPct val="20000"/>
              </a:spcBef>
              <a:buClr>
                <a:schemeClr val="accent1"/>
              </a:buClr>
              <a:buSzPct val="80000"/>
              <a:buFont typeface="Wingdings 2"/>
              <a:buChar char=""/>
              <a:defRPr/>
            </a:pPr>
            <a:endParaRPr lang="es-ES" dirty="0">
              <a:effectLst/>
            </a:endParaRPr>
          </a:p>
          <a:p>
            <a:pPr marL="365760" lvl="1" indent="0" algn="ctr">
              <a:spcBef>
                <a:spcPct val="20000"/>
              </a:spcBef>
              <a:buClr>
                <a:schemeClr val="accent1"/>
              </a:buClr>
              <a:buSzPct val="80000"/>
              <a:buNone/>
              <a:defRPr/>
            </a:pPr>
            <a:r>
              <a:rPr lang="es-ES" sz="2800" dirty="0"/>
              <a:t>Desórdenes de la </a:t>
            </a:r>
            <a:r>
              <a:rPr lang="es-ES" sz="2800" dirty="0" smtClean="0"/>
              <a:t>Forma</a:t>
            </a:r>
          </a:p>
          <a:p>
            <a:pPr marL="365760" lvl="1" indent="0">
              <a:spcBef>
                <a:spcPct val="20000"/>
              </a:spcBef>
              <a:buClr>
                <a:schemeClr val="accent1"/>
              </a:buClr>
              <a:buSzPct val="80000"/>
              <a:buNone/>
              <a:defRPr/>
            </a:pPr>
            <a:endParaRPr lang="es-ES" sz="2800" dirty="0">
              <a:effectLst/>
            </a:endParaRPr>
          </a:p>
          <a:p>
            <a:pPr lvl="1" algn="just"/>
            <a:r>
              <a:rPr lang="es-ES" sz="2200" u="sng" dirty="0"/>
              <a:t>Fuga de </a:t>
            </a:r>
            <a:r>
              <a:rPr lang="es-ES" sz="2200" u="sng" dirty="0" smtClean="0"/>
              <a:t>ideas </a:t>
            </a:r>
            <a:r>
              <a:rPr lang="es-ES" sz="2200" dirty="0" smtClean="0"/>
              <a:t>( cambio de un tema a otro)</a:t>
            </a:r>
            <a:endParaRPr lang="es-ES" sz="2200" dirty="0"/>
          </a:p>
          <a:p>
            <a:pPr lvl="1" algn="just"/>
            <a:r>
              <a:rPr lang="es-ES" sz="2200" u="sng" dirty="0" err="1" smtClean="0"/>
              <a:t>Perseveracion</a:t>
            </a:r>
            <a:r>
              <a:rPr lang="es-ES" sz="2200" dirty="0" smtClean="0"/>
              <a:t>(es la persistente, inapropiada repetición de ideas o pensamientos).</a:t>
            </a:r>
            <a:endParaRPr lang="es-ES" sz="2200" dirty="0"/>
          </a:p>
          <a:p>
            <a:pPr lvl="1" algn="just"/>
            <a:r>
              <a:rPr lang="es-ES" sz="2200" u="sng" dirty="0"/>
              <a:t>Laxitud de </a:t>
            </a:r>
            <a:r>
              <a:rPr lang="es-ES" sz="2200" u="sng" dirty="0" smtClean="0"/>
              <a:t>asociaciones </a:t>
            </a:r>
            <a:r>
              <a:rPr lang="es-ES" sz="2200" dirty="0" smtClean="0"/>
              <a:t>(imposibilidad de sometimiento de la idea directriz, </a:t>
            </a:r>
            <a:r>
              <a:rPr lang="es-ES" sz="2200" dirty="0" err="1" smtClean="0"/>
              <a:t>gralmente</a:t>
            </a:r>
            <a:r>
              <a:rPr lang="es-ES" sz="2200" dirty="0" smtClean="0"/>
              <a:t> en esquizofrenia).</a:t>
            </a:r>
            <a:endParaRPr lang="es-ES" sz="2200" dirty="0"/>
          </a:p>
          <a:p>
            <a:pPr lvl="1" algn="just">
              <a:buNone/>
            </a:pPr>
            <a:r>
              <a:rPr lang="es-ES" sz="2200" u="sng" dirty="0"/>
              <a:t>Disgregación  del </a:t>
            </a:r>
            <a:r>
              <a:rPr lang="es-ES" sz="2200" u="sng" dirty="0" smtClean="0"/>
              <a:t>pensamiento</a:t>
            </a:r>
            <a:r>
              <a:rPr lang="es-ES" sz="2200" dirty="0" smtClean="0"/>
              <a:t>( salta de una idea a otro sin tener las asociaciones conservadas)</a:t>
            </a:r>
            <a:endParaRPr lang="es-ES" sz="2200" dirty="0"/>
          </a:p>
          <a:p>
            <a:pPr lvl="1" algn="just">
              <a:buNone/>
            </a:pPr>
            <a:r>
              <a:rPr lang="es-ES" sz="2200" u="sng" dirty="0" smtClean="0"/>
              <a:t>Jergafasia</a:t>
            </a:r>
            <a:r>
              <a:rPr lang="es-ES" sz="2200" dirty="0" smtClean="0"/>
              <a:t>( ensalada de palabras)</a:t>
            </a:r>
            <a:endParaRPr lang="es-ES" sz="2200" dirty="0"/>
          </a:p>
          <a:p>
            <a:pPr marL="365760" lvl="1" indent="0">
              <a:spcBef>
                <a:spcPct val="20000"/>
              </a:spcBef>
              <a:buClr>
                <a:schemeClr val="accent1"/>
              </a:buClr>
              <a:buSzPct val="80000"/>
              <a:buNone/>
              <a:defRPr/>
            </a:pPr>
            <a:endParaRPr lang="es-ES" sz="2800" dirty="0">
              <a:effectLst/>
            </a:endParaRPr>
          </a:p>
          <a:p>
            <a:endParaRPr lang="es-ES" dirty="0"/>
          </a:p>
        </p:txBody>
      </p:sp>
    </p:spTree>
    <p:extLst>
      <p:ext uri="{BB962C8B-B14F-4D97-AF65-F5344CB8AC3E}">
        <p14:creationId xmlns:p14="http://schemas.microsoft.com/office/powerpoint/2010/main" val="203830598"/>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4"/>
            <a:ext cx="7770813" cy="754932"/>
          </a:xfrm>
        </p:spPr>
        <p:txBody>
          <a:bodyPr>
            <a:normAutofit/>
          </a:bodyPr>
          <a:lstStyle/>
          <a:p>
            <a:r>
              <a:rPr lang="es-ES" sz="2800" dirty="0"/>
              <a:t>Desórdenes del Contenido</a:t>
            </a:r>
          </a:p>
        </p:txBody>
      </p:sp>
      <p:sp>
        <p:nvSpPr>
          <p:cNvPr id="3" name="Marcador de contenido 2"/>
          <p:cNvSpPr>
            <a:spLocks noGrp="1"/>
          </p:cNvSpPr>
          <p:nvPr>
            <p:ph idx="1"/>
          </p:nvPr>
        </p:nvSpPr>
        <p:spPr>
          <a:xfrm>
            <a:off x="291966" y="875956"/>
            <a:ext cx="8583791" cy="5649911"/>
          </a:xfrm>
        </p:spPr>
        <p:txBody>
          <a:bodyPr/>
          <a:lstStyle/>
          <a:p>
            <a:pPr algn="just"/>
            <a:r>
              <a:rPr lang="es-ES" u="sng" dirty="0"/>
              <a:t>Obsesiones </a:t>
            </a:r>
          </a:p>
          <a:p>
            <a:pPr algn="just">
              <a:buNone/>
            </a:pPr>
            <a:r>
              <a:rPr lang="es-ES" dirty="0"/>
              <a:t>Pensamientos recurrentes y persistentes a pesar del esfuerzo para deshacerse de </a:t>
            </a:r>
            <a:r>
              <a:rPr lang="es-ES" dirty="0" smtClean="0"/>
              <a:t>ellos, aparecen como un impulso, lo viven como un fenómeno parasito, con plena conciencia. La resistencia del paciente es un rasgo mas que importante, totalmente lo opuesto al </a:t>
            </a:r>
            <a:r>
              <a:rPr lang="es-ES" dirty="0" err="1" smtClean="0"/>
              <a:t>fenomeno</a:t>
            </a:r>
            <a:r>
              <a:rPr lang="es-ES" dirty="0" smtClean="0"/>
              <a:t> delirante.</a:t>
            </a:r>
            <a:endParaRPr lang="es-ES" dirty="0"/>
          </a:p>
          <a:p>
            <a:pPr lvl="1" algn="just"/>
            <a:r>
              <a:rPr lang="es-ES" sz="2200" dirty="0"/>
              <a:t>Contaminación</a:t>
            </a:r>
          </a:p>
          <a:p>
            <a:pPr lvl="1" algn="just"/>
            <a:r>
              <a:rPr lang="es-ES" sz="2200" dirty="0"/>
              <a:t>Agresión</a:t>
            </a:r>
          </a:p>
          <a:p>
            <a:pPr lvl="1" algn="just"/>
            <a:r>
              <a:rPr lang="es-ES" sz="2200" dirty="0"/>
              <a:t>Orden</a:t>
            </a:r>
          </a:p>
          <a:p>
            <a:pPr lvl="1" algn="just"/>
            <a:r>
              <a:rPr lang="es-ES" sz="2200" dirty="0"/>
              <a:t>Sexual</a:t>
            </a:r>
          </a:p>
          <a:p>
            <a:pPr lvl="1" algn="just"/>
            <a:r>
              <a:rPr lang="es-ES" sz="2200" dirty="0"/>
              <a:t>Religiosa</a:t>
            </a:r>
          </a:p>
          <a:p>
            <a:endParaRPr lang="es-ES" dirty="0"/>
          </a:p>
        </p:txBody>
      </p:sp>
    </p:spTree>
    <p:extLst>
      <p:ext uri="{BB962C8B-B14F-4D97-AF65-F5344CB8AC3E}">
        <p14:creationId xmlns:p14="http://schemas.microsoft.com/office/powerpoint/2010/main" val="3121749077"/>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003120"/>
            <a:ext cx="7770813" cy="1429871"/>
          </a:xfrm>
        </p:spPr>
        <p:txBody>
          <a:bodyPr/>
          <a:lstStyle/>
          <a:p>
            <a:endParaRPr lang="es-ES" dirty="0"/>
          </a:p>
        </p:txBody>
      </p:sp>
      <p:sp>
        <p:nvSpPr>
          <p:cNvPr id="3" name="Marcador de contenido 2"/>
          <p:cNvSpPr>
            <a:spLocks noGrp="1"/>
          </p:cNvSpPr>
          <p:nvPr>
            <p:ph idx="1"/>
          </p:nvPr>
        </p:nvSpPr>
        <p:spPr>
          <a:xfrm>
            <a:off x="175180" y="788360"/>
            <a:ext cx="8685978" cy="5810503"/>
          </a:xfrm>
        </p:spPr>
        <p:txBody>
          <a:bodyPr/>
          <a:lstStyle/>
          <a:p>
            <a:r>
              <a:rPr lang="es-AR" u="sng" dirty="0"/>
              <a:t>Compulsiones</a:t>
            </a:r>
          </a:p>
          <a:p>
            <a:pPr>
              <a:buNone/>
            </a:pPr>
            <a:r>
              <a:rPr lang="es-AR" dirty="0"/>
              <a:t>Acto repetitivo y aparentemente con un fin determinado. Ritual de comprobación consiste en repetir un acto una y otra vez, la duda obsesiva persiste y la comprobación llegar a ser muy duradera (contar, </a:t>
            </a:r>
            <a:r>
              <a:rPr lang="es-AR" dirty="0" smtClean="0"/>
              <a:t>limpiar)</a:t>
            </a:r>
          </a:p>
          <a:p>
            <a:pPr>
              <a:buNone/>
            </a:pPr>
            <a:r>
              <a:rPr lang="es-AR" dirty="0" smtClean="0"/>
              <a:t>La duda es el elemento primordial de la compulsion. El paciente ha cerrado la llave de gas pero persiste la duda, por lo que recurre a la comprobacion. </a:t>
            </a:r>
            <a:endParaRPr lang="es-AR" dirty="0"/>
          </a:p>
          <a:p>
            <a:r>
              <a:rPr lang="es-AR" u="sng" dirty="0"/>
              <a:t>Tardanza obsesiva</a:t>
            </a:r>
            <a:r>
              <a:rPr lang="es-AR" dirty="0"/>
              <a:t>: todo lo anterior complica de tal manera al pte que toda actividad puede llevarle el doble o mas de tiempo, generando incapacidad y deterioro de las relaciones interpersonales</a:t>
            </a:r>
          </a:p>
          <a:p>
            <a:endParaRPr lang="es-ES" dirty="0"/>
          </a:p>
        </p:txBody>
      </p:sp>
    </p:spTree>
    <p:extLst>
      <p:ext uri="{BB962C8B-B14F-4D97-AF65-F5344CB8AC3E}">
        <p14:creationId xmlns:p14="http://schemas.microsoft.com/office/powerpoint/2010/main" val="1523942982"/>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871726"/>
            <a:ext cx="7770813" cy="1429871"/>
          </a:xfrm>
        </p:spPr>
        <p:txBody>
          <a:bodyPr/>
          <a:lstStyle/>
          <a:p>
            <a:endParaRPr lang="es-ES" dirty="0"/>
          </a:p>
        </p:txBody>
      </p:sp>
      <p:sp>
        <p:nvSpPr>
          <p:cNvPr id="3" name="Marcador de contenido 2"/>
          <p:cNvSpPr>
            <a:spLocks noGrp="1"/>
          </p:cNvSpPr>
          <p:nvPr>
            <p:ph idx="1"/>
          </p:nvPr>
        </p:nvSpPr>
        <p:spPr>
          <a:xfrm>
            <a:off x="218974" y="817558"/>
            <a:ext cx="8554595" cy="5737507"/>
          </a:xfrm>
        </p:spPr>
        <p:txBody>
          <a:bodyPr/>
          <a:lstStyle/>
          <a:p>
            <a:r>
              <a:rPr lang="es-ES" sz="2400" b="1" i="1" u="sng" dirty="0"/>
              <a:t>Fobias: </a:t>
            </a:r>
            <a:r>
              <a:rPr lang="es-ES" sz="2400" dirty="0"/>
              <a:t>miedo persistente e irracional. El objeto </a:t>
            </a:r>
            <a:r>
              <a:rPr lang="es-ES" sz="2400" dirty="0" err="1"/>
              <a:t>fobógeno</a:t>
            </a:r>
            <a:r>
              <a:rPr lang="es-ES" sz="2400" dirty="0"/>
              <a:t> esta presenta en forma </a:t>
            </a:r>
            <a:r>
              <a:rPr lang="es-ES" sz="2400" dirty="0" smtClean="0"/>
              <a:t>“real” </a:t>
            </a:r>
            <a:r>
              <a:rPr lang="es-ES" sz="2400" dirty="0"/>
              <a:t>como </a:t>
            </a:r>
            <a:r>
              <a:rPr lang="es-ES" sz="2400" dirty="0" smtClean="0"/>
              <a:t>“imaginada”. </a:t>
            </a:r>
            <a:r>
              <a:rPr lang="es-ES" sz="2400" dirty="0"/>
              <a:t>El </a:t>
            </a:r>
            <a:r>
              <a:rPr lang="es-ES" sz="2400" dirty="0" smtClean="0"/>
              <a:t>paciente </a:t>
            </a:r>
            <a:r>
              <a:rPr lang="es-ES" sz="2400" dirty="0"/>
              <a:t>reconoce el temor infundado, pero el malestar se hace presente igual, con sensación de perder el autocontrol. Son </a:t>
            </a:r>
            <a:r>
              <a:rPr lang="es-ES" sz="2400" u="sng" dirty="0" err="1" smtClean="0"/>
              <a:t>egodistónicas</a:t>
            </a:r>
            <a:r>
              <a:rPr lang="es-ES" sz="2400" u="sng" dirty="0" smtClean="0"/>
              <a:t>(</a:t>
            </a:r>
            <a:r>
              <a:rPr lang="es-ES" sz="2400" dirty="0" smtClean="0"/>
              <a:t>le molestan) </a:t>
            </a:r>
            <a:r>
              <a:rPr lang="es-ES" sz="2400" dirty="0"/>
              <a:t>lo que genera conductas </a:t>
            </a:r>
            <a:r>
              <a:rPr lang="es-ES" sz="2400" dirty="0" err="1" smtClean="0"/>
              <a:t>evitativas</a:t>
            </a:r>
            <a:r>
              <a:rPr lang="es-ES" sz="2400" dirty="0" smtClean="0"/>
              <a:t>.</a:t>
            </a:r>
            <a:endParaRPr lang="es-ES" sz="2400" dirty="0"/>
          </a:p>
          <a:p>
            <a:endParaRPr lang="es-ES" dirty="0"/>
          </a:p>
        </p:txBody>
      </p:sp>
    </p:spTree>
    <p:extLst>
      <p:ext uri="{BB962C8B-B14F-4D97-AF65-F5344CB8AC3E}">
        <p14:creationId xmlns:p14="http://schemas.microsoft.com/office/powerpoint/2010/main" val="4278895175"/>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090715"/>
            <a:ext cx="7770813" cy="1429871"/>
          </a:xfrm>
        </p:spPr>
        <p:txBody>
          <a:bodyPr/>
          <a:lstStyle/>
          <a:p>
            <a:endParaRPr lang="es-ES" dirty="0"/>
          </a:p>
        </p:txBody>
      </p:sp>
      <p:sp>
        <p:nvSpPr>
          <p:cNvPr id="3" name="Marcador de contenido 2"/>
          <p:cNvSpPr>
            <a:spLocks noGrp="1"/>
          </p:cNvSpPr>
          <p:nvPr>
            <p:ph idx="1"/>
          </p:nvPr>
        </p:nvSpPr>
        <p:spPr>
          <a:xfrm>
            <a:off x="277367" y="554772"/>
            <a:ext cx="8598389" cy="6058690"/>
          </a:xfrm>
        </p:spPr>
        <p:txBody>
          <a:bodyPr>
            <a:normAutofit/>
          </a:bodyPr>
          <a:lstStyle/>
          <a:p>
            <a:pPr algn="just"/>
            <a:r>
              <a:rPr lang="es-ES" u="sng" dirty="0"/>
              <a:t>Ideas delirantes</a:t>
            </a:r>
            <a:r>
              <a:rPr lang="es-ES" dirty="0"/>
              <a:t>: falsa creencia sostenida a pesar de la evidencia en </a:t>
            </a:r>
            <a:r>
              <a:rPr lang="es-ES" dirty="0" smtClean="0"/>
              <a:t>contra.</a:t>
            </a:r>
            <a:endParaRPr lang="es-ES" dirty="0"/>
          </a:p>
          <a:p>
            <a:pPr lvl="1" algn="just"/>
            <a:r>
              <a:rPr lang="es-ES" sz="2200" u="sng" dirty="0"/>
              <a:t>Inicio</a:t>
            </a:r>
            <a:r>
              <a:rPr lang="es-ES" sz="2200" dirty="0"/>
              <a:t>: </a:t>
            </a:r>
            <a:r>
              <a:rPr lang="es-ES" sz="2200" dirty="0" smtClean="0"/>
              <a:t>primaria(aparece inmotivada) </a:t>
            </a:r>
            <a:r>
              <a:rPr lang="es-ES" sz="2200" dirty="0"/>
              <a:t>o </a:t>
            </a:r>
            <a:r>
              <a:rPr lang="es-ES" sz="2200" dirty="0" smtClean="0"/>
              <a:t>secundaria(cuando se produce a raíz de otro hecho, como una alucinación)</a:t>
            </a:r>
            <a:endParaRPr lang="es-ES" sz="2200" dirty="0"/>
          </a:p>
          <a:p>
            <a:pPr lvl="1"/>
            <a:r>
              <a:rPr lang="es-ES" sz="2200" u="sng" dirty="0"/>
              <a:t>Temática</a:t>
            </a:r>
            <a:r>
              <a:rPr lang="es-ES" sz="2200" dirty="0"/>
              <a:t>: paranoide, </a:t>
            </a:r>
            <a:r>
              <a:rPr lang="es-ES" sz="2200" dirty="0" smtClean="0"/>
              <a:t>referencia(dicen que hablan de el o que lo miran), </a:t>
            </a:r>
            <a:r>
              <a:rPr lang="es-ES" sz="2200" dirty="0"/>
              <a:t>grandiosidad, culpa e inutilidad, desvalorización, ruina, nihilista, hipocondríacas, religiosas, celos, </a:t>
            </a:r>
            <a:r>
              <a:rPr lang="es-ES" sz="2200" dirty="0" err="1"/>
              <a:t>erotamanía</a:t>
            </a:r>
            <a:r>
              <a:rPr lang="es-ES" sz="2200" dirty="0"/>
              <a:t>, de </a:t>
            </a:r>
            <a:r>
              <a:rPr lang="es-ES" sz="2200" dirty="0" smtClean="0"/>
              <a:t>control</a:t>
            </a:r>
            <a:r>
              <a:rPr lang="es-ES" sz="2200" dirty="0"/>
              <a:t>.</a:t>
            </a:r>
          </a:p>
          <a:p>
            <a:endParaRPr lang="es-ES" dirty="0"/>
          </a:p>
        </p:txBody>
      </p:sp>
    </p:spTree>
    <p:extLst>
      <p:ext uri="{BB962C8B-B14F-4D97-AF65-F5344CB8AC3E}">
        <p14:creationId xmlns:p14="http://schemas.microsoft.com/office/powerpoint/2010/main" val="4136688668"/>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3"/>
            <a:ext cx="7591427" cy="813329"/>
          </a:xfrm>
        </p:spPr>
        <p:txBody>
          <a:bodyPr>
            <a:normAutofit/>
          </a:bodyPr>
          <a:lstStyle/>
          <a:p>
            <a:r>
              <a:rPr lang="es-AR" sz="2800" dirty="0"/>
              <a:t>Imaginación </a:t>
            </a:r>
            <a:endParaRPr lang="es-ES" sz="2800" dirty="0"/>
          </a:p>
        </p:txBody>
      </p:sp>
      <p:sp>
        <p:nvSpPr>
          <p:cNvPr id="3" name="Marcador de contenido 2"/>
          <p:cNvSpPr>
            <a:spLocks noGrp="1"/>
          </p:cNvSpPr>
          <p:nvPr>
            <p:ph idx="1"/>
          </p:nvPr>
        </p:nvSpPr>
        <p:spPr>
          <a:xfrm>
            <a:off x="364957" y="934352"/>
            <a:ext cx="8248029" cy="5343328"/>
          </a:xfrm>
        </p:spPr>
        <p:txBody>
          <a:bodyPr/>
          <a:lstStyle/>
          <a:p>
            <a:r>
              <a:rPr lang="es-AR" dirty="0"/>
              <a:t>Pensar con imágenes. </a:t>
            </a:r>
          </a:p>
          <a:p>
            <a:r>
              <a:rPr lang="es-AR" u="sng" dirty="0"/>
              <a:t>Reproductora</a:t>
            </a:r>
            <a:r>
              <a:rPr lang="es-AR" dirty="0"/>
              <a:t>: reproducir imágenes</a:t>
            </a:r>
          </a:p>
          <a:p>
            <a:r>
              <a:rPr lang="es-AR" u="sng" dirty="0"/>
              <a:t>Creadora</a:t>
            </a:r>
            <a:r>
              <a:rPr lang="es-AR" dirty="0"/>
              <a:t>: modificar, alterar y cambiar imágenes </a:t>
            </a:r>
            <a:r>
              <a:rPr lang="es-AR" dirty="0" smtClean="0"/>
              <a:t>conocidas.</a:t>
            </a:r>
            <a:endParaRPr lang="es-AR" dirty="0"/>
          </a:p>
          <a:p>
            <a:endParaRPr lang="es-ES" dirty="0"/>
          </a:p>
        </p:txBody>
      </p:sp>
    </p:spTree>
    <p:extLst>
      <p:ext uri="{BB962C8B-B14F-4D97-AF65-F5344CB8AC3E}">
        <p14:creationId xmlns:p14="http://schemas.microsoft.com/office/powerpoint/2010/main" val="184715604"/>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3"/>
            <a:ext cx="7518435" cy="784131"/>
          </a:xfrm>
        </p:spPr>
        <p:txBody>
          <a:bodyPr>
            <a:normAutofit/>
          </a:bodyPr>
          <a:lstStyle/>
          <a:p>
            <a:r>
              <a:rPr lang="es-ES" sz="2800" dirty="0"/>
              <a:t>Juicio</a:t>
            </a:r>
          </a:p>
        </p:txBody>
      </p:sp>
      <p:sp>
        <p:nvSpPr>
          <p:cNvPr id="3" name="Marcador de contenido 2"/>
          <p:cNvSpPr>
            <a:spLocks noGrp="1"/>
          </p:cNvSpPr>
          <p:nvPr>
            <p:ph idx="1"/>
          </p:nvPr>
        </p:nvSpPr>
        <p:spPr>
          <a:xfrm>
            <a:off x="291966" y="1065746"/>
            <a:ext cx="8408611" cy="5416323"/>
          </a:xfrm>
        </p:spPr>
        <p:txBody>
          <a:bodyPr/>
          <a:lstStyle/>
          <a:p>
            <a:pPr algn="just">
              <a:buNone/>
            </a:pPr>
            <a:r>
              <a:rPr lang="es-ES" sz="2400" dirty="0"/>
              <a:t>Medir, valorar, ponderar y </a:t>
            </a:r>
            <a:r>
              <a:rPr lang="es-ES" sz="2400" dirty="0" smtClean="0"/>
              <a:t>justipreciar.</a:t>
            </a:r>
            <a:endParaRPr lang="es-ES" sz="2400" dirty="0"/>
          </a:p>
          <a:p>
            <a:pPr algn="just">
              <a:buNone/>
            </a:pPr>
            <a:r>
              <a:rPr lang="es-ES" sz="2400" dirty="0"/>
              <a:t>Conclusión que se obtiene al relacionar ideas.</a:t>
            </a:r>
          </a:p>
          <a:p>
            <a:pPr algn="just">
              <a:buNone/>
            </a:pPr>
            <a:r>
              <a:rPr lang="es-ES" sz="2400" dirty="0"/>
              <a:t>Conciencia de enfermedad y </a:t>
            </a:r>
            <a:r>
              <a:rPr lang="es-ES" sz="2400" dirty="0" smtClean="0"/>
              <a:t>situación alude al juicio.</a:t>
            </a:r>
            <a:endParaRPr lang="es-ES" sz="2400" dirty="0"/>
          </a:p>
          <a:p>
            <a:pPr algn="just"/>
            <a:endParaRPr lang="es-ES" sz="2400" dirty="0"/>
          </a:p>
          <a:p>
            <a:r>
              <a:rPr lang="es-ES" sz="2400" u="sng" dirty="0"/>
              <a:t>Insuficiente</a:t>
            </a:r>
            <a:r>
              <a:rPr lang="es-ES" sz="2400" dirty="0"/>
              <a:t>: oligofrenia</a:t>
            </a:r>
          </a:p>
          <a:p>
            <a:r>
              <a:rPr lang="es-ES" sz="2400" u="sng" dirty="0"/>
              <a:t>Debilitado: </a:t>
            </a:r>
            <a:r>
              <a:rPr lang="es-ES" sz="2400" dirty="0"/>
              <a:t>demencia</a:t>
            </a:r>
          </a:p>
          <a:p>
            <a:r>
              <a:rPr lang="es-ES" sz="2400" u="sng" dirty="0"/>
              <a:t>Suspendido</a:t>
            </a:r>
            <a:r>
              <a:rPr lang="es-ES" sz="2400" dirty="0"/>
              <a:t>: </a:t>
            </a:r>
            <a:r>
              <a:rPr lang="es-ES" sz="2400" dirty="0" err="1"/>
              <a:t>Sme</a:t>
            </a:r>
            <a:r>
              <a:rPr lang="es-ES" sz="2400" dirty="0"/>
              <a:t>. </a:t>
            </a:r>
            <a:r>
              <a:rPr lang="es-ES" sz="2400" dirty="0" err="1"/>
              <a:t>Confusional</a:t>
            </a:r>
            <a:endParaRPr lang="es-ES" sz="2400" dirty="0"/>
          </a:p>
          <a:p>
            <a:r>
              <a:rPr lang="es-ES" sz="2400" u="sng" dirty="0"/>
              <a:t>Desviado</a:t>
            </a:r>
            <a:r>
              <a:rPr lang="es-ES" sz="2400" dirty="0"/>
              <a:t>: Psicosis</a:t>
            </a:r>
          </a:p>
          <a:p>
            <a:endParaRPr lang="es-ES" dirty="0"/>
          </a:p>
        </p:txBody>
      </p:sp>
    </p:spTree>
    <p:extLst>
      <p:ext uri="{BB962C8B-B14F-4D97-AF65-F5344CB8AC3E}">
        <p14:creationId xmlns:p14="http://schemas.microsoft.com/office/powerpoint/2010/main" val="2187340225"/>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77367" y="1021948"/>
            <a:ext cx="8627586" cy="5474720"/>
          </a:xfrm>
        </p:spPr>
        <p:txBody>
          <a:bodyPr>
            <a:normAutofit/>
          </a:bodyPr>
          <a:lstStyle/>
          <a:p>
            <a:pPr algn="just"/>
            <a:r>
              <a:rPr lang="es-ES" sz="2400" dirty="0"/>
              <a:t>Energía potencial que permite convertir en actos nuestros pensamientos.</a:t>
            </a:r>
          </a:p>
          <a:p>
            <a:pPr algn="just"/>
            <a:r>
              <a:rPr lang="es-ES" sz="2400" dirty="0"/>
              <a:t>Elegir un impulso, deseo o motivación entre </a:t>
            </a:r>
            <a:r>
              <a:rPr lang="es-ES" sz="2400" dirty="0" smtClean="0"/>
              <a:t>varios.</a:t>
            </a:r>
            <a:endParaRPr lang="es-ES" sz="2400" dirty="0"/>
          </a:p>
          <a:p>
            <a:pPr marL="0" indent="0">
              <a:buNone/>
            </a:pPr>
            <a:r>
              <a:rPr lang="es-ES" sz="2400" b="1" i="1" u="sng" dirty="0"/>
              <a:t>Alteraciones de la </a:t>
            </a:r>
            <a:r>
              <a:rPr lang="es-ES" sz="2400" b="1" i="1" u="sng" dirty="0" smtClean="0"/>
              <a:t>Voluntad</a:t>
            </a:r>
          </a:p>
          <a:p>
            <a:pPr algn="just"/>
            <a:r>
              <a:rPr lang="es-ES" sz="2400" dirty="0" err="1"/>
              <a:t>Hiperbulia</a:t>
            </a:r>
            <a:endParaRPr lang="es-ES" sz="2400" dirty="0"/>
          </a:p>
          <a:p>
            <a:pPr algn="just"/>
            <a:r>
              <a:rPr lang="es-ES" sz="2400" dirty="0" err="1"/>
              <a:t>Hipobulia</a:t>
            </a:r>
            <a:endParaRPr lang="es-ES" sz="2400" dirty="0"/>
          </a:p>
          <a:p>
            <a:pPr algn="just"/>
            <a:r>
              <a:rPr lang="es-ES" sz="2400" dirty="0"/>
              <a:t>Abulia</a:t>
            </a:r>
          </a:p>
          <a:p>
            <a:pPr marL="0" indent="0" algn="just">
              <a:buNone/>
            </a:pPr>
            <a:r>
              <a:rPr lang="es-ES" sz="2400" dirty="0" smtClean="0"/>
              <a:t>   Inhibición </a:t>
            </a:r>
            <a:r>
              <a:rPr lang="es-ES" sz="2400" dirty="0"/>
              <a:t>psicomotora</a:t>
            </a:r>
          </a:p>
          <a:p>
            <a:pPr algn="just"/>
            <a:r>
              <a:rPr lang="es-ES" sz="2400" dirty="0"/>
              <a:t>Estupor: Mutismo + acinesia</a:t>
            </a:r>
          </a:p>
          <a:p>
            <a:pPr marL="0" indent="0">
              <a:buNone/>
            </a:pPr>
            <a:endParaRPr lang="es-ES" dirty="0"/>
          </a:p>
        </p:txBody>
      </p:sp>
      <p:sp>
        <p:nvSpPr>
          <p:cNvPr id="4" name="1 Título"/>
          <p:cNvSpPr>
            <a:spLocks noGrp="1"/>
          </p:cNvSpPr>
          <p:nvPr>
            <p:ph type="title"/>
          </p:nvPr>
        </p:nvSpPr>
        <p:spPr>
          <a:xfrm>
            <a:off x="685800" y="121023"/>
            <a:ext cx="7770813" cy="900925"/>
          </a:xfrm>
        </p:spPr>
        <p:txBody>
          <a:bodyPr>
            <a:normAutofit/>
          </a:bodyPr>
          <a:lstStyle/>
          <a:p>
            <a:r>
              <a:rPr lang="es-ES" sz="2800" dirty="0" smtClean="0"/>
              <a:t>2-Voluntad</a:t>
            </a:r>
            <a:endParaRPr lang="es-ES" sz="2800" dirty="0"/>
          </a:p>
        </p:txBody>
      </p:sp>
    </p:spTree>
    <p:extLst>
      <p:ext uri="{BB962C8B-B14F-4D97-AF65-F5344CB8AC3E}">
        <p14:creationId xmlns:p14="http://schemas.microsoft.com/office/powerpoint/2010/main" val="3785932311"/>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4"/>
            <a:ext cx="7770813" cy="842528"/>
          </a:xfrm>
        </p:spPr>
        <p:txBody>
          <a:bodyPr>
            <a:normAutofit/>
          </a:bodyPr>
          <a:lstStyle/>
          <a:p>
            <a:r>
              <a:rPr lang="es-AR" sz="2800" dirty="0"/>
              <a:t>Alteraciones de la conducta</a:t>
            </a:r>
            <a:endParaRPr lang="es-ES" sz="2800" dirty="0"/>
          </a:p>
        </p:txBody>
      </p:sp>
      <p:sp>
        <p:nvSpPr>
          <p:cNvPr id="3" name="Marcador de contenido 2"/>
          <p:cNvSpPr>
            <a:spLocks noGrp="1"/>
          </p:cNvSpPr>
          <p:nvPr>
            <p:ph idx="1"/>
          </p:nvPr>
        </p:nvSpPr>
        <p:spPr>
          <a:xfrm>
            <a:off x="321162" y="1138742"/>
            <a:ext cx="8510800" cy="5372526"/>
          </a:xfrm>
        </p:spPr>
        <p:txBody>
          <a:bodyPr>
            <a:normAutofit fontScale="85000" lnSpcReduction="20000"/>
          </a:bodyPr>
          <a:lstStyle/>
          <a:p>
            <a:pPr algn="just"/>
            <a:r>
              <a:rPr lang="es-ES" sz="2400" u="sng" dirty="0"/>
              <a:t>Negativismo: </a:t>
            </a:r>
            <a:r>
              <a:rPr lang="es-ES" sz="2400" dirty="0" smtClean="0"/>
              <a:t>pasivo(no colabora pero se deja examinar)-</a:t>
            </a:r>
            <a:r>
              <a:rPr lang="es-ES" sz="2400" dirty="0"/>
              <a:t>activo</a:t>
            </a:r>
          </a:p>
          <a:p>
            <a:pPr algn="just"/>
            <a:r>
              <a:rPr lang="es-ES" sz="2400" u="sng" dirty="0"/>
              <a:t>Catalepsia </a:t>
            </a:r>
            <a:r>
              <a:rPr lang="es-ES" sz="2400" dirty="0" smtClean="0"/>
              <a:t>(Trastorno psicomotor que consiste en permanecer en la posición que se lo deja)</a:t>
            </a:r>
            <a:endParaRPr lang="es-ES" sz="2400" dirty="0"/>
          </a:p>
          <a:p>
            <a:pPr algn="just"/>
            <a:r>
              <a:rPr lang="es-ES" sz="2400" u="sng" dirty="0" smtClean="0"/>
              <a:t>Inquietud</a:t>
            </a:r>
            <a:r>
              <a:rPr lang="es-ES" sz="2400" dirty="0" smtClean="0"/>
              <a:t>(no se queda quieto) </a:t>
            </a:r>
            <a:r>
              <a:rPr lang="es-ES" sz="2400" dirty="0"/>
              <a:t>– </a:t>
            </a:r>
            <a:r>
              <a:rPr lang="es-ES" sz="2400" u="sng" dirty="0" smtClean="0"/>
              <a:t>Excitación</a:t>
            </a:r>
            <a:r>
              <a:rPr lang="es-ES" sz="2400" dirty="0" smtClean="0"/>
              <a:t>(grado mayor de inquietud) </a:t>
            </a:r>
            <a:r>
              <a:rPr lang="es-ES" sz="2400" dirty="0"/>
              <a:t>– </a:t>
            </a:r>
            <a:r>
              <a:rPr lang="es-ES" sz="2400" u="sng" dirty="0" smtClean="0"/>
              <a:t>Agitación</a:t>
            </a:r>
            <a:r>
              <a:rPr lang="es-ES" sz="2400" dirty="0" smtClean="0"/>
              <a:t>(mayor actividad) </a:t>
            </a:r>
            <a:r>
              <a:rPr lang="es-ES" sz="2400" dirty="0"/>
              <a:t>– </a:t>
            </a:r>
            <a:r>
              <a:rPr lang="es-ES" sz="2400" u="sng" dirty="0" smtClean="0"/>
              <a:t>Furor</a:t>
            </a:r>
            <a:r>
              <a:rPr lang="es-ES" sz="2400" dirty="0" smtClean="0"/>
              <a:t>( grado máximo de agitación).</a:t>
            </a:r>
            <a:endParaRPr lang="es-ES" sz="2400" dirty="0"/>
          </a:p>
          <a:p>
            <a:pPr algn="just"/>
            <a:r>
              <a:rPr lang="es-ES" sz="2400" dirty="0"/>
              <a:t>Agresividad</a:t>
            </a:r>
          </a:p>
          <a:p>
            <a:pPr algn="just"/>
            <a:r>
              <a:rPr lang="es-ES" sz="2400" dirty="0"/>
              <a:t>Manierismo</a:t>
            </a:r>
          </a:p>
          <a:p>
            <a:pPr algn="just"/>
            <a:r>
              <a:rPr lang="es-ES" sz="2400" dirty="0" smtClean="0"/>
              <a:t>Estereotipia(Grupo de movimientos sin ningún fin)</a:t>
            </a:r>
            <a:endParaRPr lang="es-ES" sz="2400" dirty="0"/>
          </a:p>
          <a:p>
            <a:pPr algn="just"/>
            <a:r>
              <a:rPr lang="es-ES" sz="2400" dirty="0" smtClean="0"/>
              <a:t>Ecopraxia(repetición, casi siempre en espejo, de los movimientos que ejecuta el examinador)</a:t>
            </a:r>
            <a:endParaRPr lang="es-ES" sz="2400" dirty="0"/>
          </a:p>
          <a:p>
            <a:pPr algn="just"/>
            <a:r>
              <a:rPr lang="es-ES" sz="2400" dirty="0"/>
              <a:t>Interceptación </a:t>
            </a:r>
            <a:r>
              <a:rPr lang="es-ES" sz="2400" dirty="0" smtClean="0"/>
              <a:t>cinética( interrupción de un acto brusca e inesperadamente)</a:t>
            </a:r>
            <a:endParaRPr lang="es-ES" sz="2400" dirty="0"/>
          </a:p>
          <a:p>
            <a:pPr algn="just"/>
            <a:r>
              <a:rPr lang="es-ES" sz="2400" dirty="0" smtClean="0"/>
              <a:t>Soliloquios(hablar solo) </a:t>
            </a:r>
            <a:r>
              <a:rPr lang="es-ES" sz="2400" dirty="0"/>
              <a:t>y </a:t>
            </a:r>
            <a:r>
              <a:rPr lang="es-ES" sz="2400" dirty="0" err="1" smtClean="0"/>
              <a:t>musitaciones</a:t>
            </a:r>
            <a:r>
              <a:rPr lang="es-ES" sz="2400" dirty="0" smtClean="0"/>
              <a:t>(soliloquios en vos muy baja)</a:t>
            </a:r>
            <a:endParaRPr lang="es-ES" sz="2400" dirty="0"/>
          </a:p>
          <a:p>
            <a:endParaRPr lang="es-ES" dirty="0"/>
          </a:p>
        </p:txBody>
      </p:sp>
    </p:spTree>
    <p:extLst>
      <p:ext uri="{BB962C8B-B14F-4D97-AF65-F5344CB8AC3E}">
        <p14:creationId xmlns:p14="http://schemas.microsoft.com/office/powerpoint/2010/main" val="341737193"/>
      </p:ext>
    </p:extLst>
  </p:cSld>
  <p:clrMapOvr>
    <a:masterClrMapping/>
  </p:clrMapOvr>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121023"/>
            <a:ext cx="7591427" cy="813329"/>
          </a:xfrm>
        </p:spPr>
        <p:txBody>
          <a:bodyPr>
            <a:normAutofit/>
          </a:bodyPr>
          <a:lstStyle/>
          <a:p>
            <a:r>
              <a:rPr lang="es-ES" sz="2800" dirty="0"/>
              <a:t>3-AFECTO</a:t>
            </a:r>
          </a:p>
        </p:txBody>
      </p:sp>
      <p:sp>
        <p:nvSpPr>
          <p:cNvPr id="3" name="Marcador de contenido 2"/>
          <p:cNvSpPr>
            <a:spLocks noGrp="1"/>
          </p:cNvSpPr>
          <p:nvPr>
            <p:ph idx="1"/>
          </p:nvPr>
        </p:nvSpPr>
        <p:spPr>
          <a:xfrm>
            <a:off x="248172" y="1138742"/>
            <a:ext cx="8481602" cy="5357926"/>
          </a:xfrm>
        </p:spPr>
        <p:txBody>
          <a:bodyPr>
            <a:normAutofit fontScale="92500" lnSpcReduction="20000"/>
          </a:bodyPr>
          <a:lstStyle/>
          <a:p>
            <a:pPr algn="just">
              <a:buNone/>
            </a:pPr>
            <a:r>
              <a:rPr lang="es-ES" sz="2400" dirty="0"/>
              <a:t>Concierne a las emociones, los afectos, las pasiones, el estado de ánimo, la relación con el placer los intereses desconocidos y </a:t>
            </a:r>
            <a:r>
              <a:rPr lang="es-ES" sz="2400" dirty="0" smtClean="0"/>
              <a:t>conocidos.</a:t>
            </a:r>
            <a:endParaRPr lang="es-ES" sz="2400" dirty="0"/>
          </a:p>
          <a:p>
            <a:pPr algn="just">
              <a:buNone/>
            </a:pPr>
            <a:r>
              <a:rPr lang="es-ES" sz="2400" u="sng" dirty="0"/>
              <a:t>Emoción</a:t>
            </a:r>
            <a:r>
              <a:rPr lang="es-ES" sz="2400" dirty="0"/>
              <a:t>: movimiento afectivo, brusco intenso y breve. Modular las emociones es signo de madurez emocional. Incontinencia emocional expresión exaltada frente a estímulos menores. </a:t>
            </a:r>
            <a:r>
              <a:rPr lang="es-ES" sz="2400" u="sng" dirty="0"/>
              <a:t>Labilidad emocional </a:t>
            </a:r>
            <a:r>
              <a:rPr lang="es-ES" sz="2400" dirty="0"/>
              <a:t>es cambiar de un estado emocional a otro </a:t>
            </a:r>
            <a:r>
              <a:rPr lang="es-ES" sz="2400" dirty="0" smtClean="0"/>
              <a:t>bruscamente.</a:t>
            </a:r>
            <a:endParaRPr lang="es-ES" sz="2400" dirty="0"/>
          </a:p>
          <a:p>
            <a:pPr algn="just">
              <a:buNone/>
            </a:pPr>
            <a:r>
              <a:rPr lang="es-ES" sz="2400" u="sng" dirty="0"/>
              <a:t>Sentimientos</a:t>
            </a:r>
            <a:r>
              <a:rPr lang="es-ES" sz="2400" dirty="0"/>
              <a:t> son vivencias, nos acontecen, podemos acompañarlos o </a:t>
            </a:r>
            <a:r>
              <a:rPr lang="es-ES" sz="2400" dirty="0" smtClean="0"/>
              <a:t>no.</a:t>
            </a:r>
          </a:p>
          <a:p>
            <a:pPr algn="just">
              <a:buNone/>
            </a:pPr>
            <a:r>
              <a:rPr lang="es-ES" sz="2400" u="sng" dirty="0" smtClean="0"/>
              <a:t>Angustia y ansiedad: </a:t>
            </a:r>
            <a:r>
              <a:rPr lang="es-ES" sz="2400" dirty="0" smtClean="0"/>
              <a:t>La </a:t>
            </a:r>
            <a:r>
              <a:rPr lang="es-ES" sz="2400" u="sng" dirty="0" smtClean="0"/>
              <a:t>angustia</a:t>
            </a:r>
            <a:r>
              <a:rPr lang="es-ES" sz="2400" dirty="0" smtClean="0"/>
              <a:t> es una opresión en epigastrio o mas frecuente en región precordial. Siempre implica miedo a lo desconocido y en particular a volverse loco. La </a:t>
            </a:r>
            <a:r>
              <a:rPr lang="es-ES" sz="2400" u="sng" dirty="0" smtClean="0"/>
              <a:t>ansiedad</a:t>
            </a:r>
            <a:r>
              <a:rPr lang="es-ES" sz="2400" dirty="0" smtClean="0"/>
              <a:t> en cambio, es mas psíquica, se define como un sentimiento de expectación penosa o opresiva, es decir, la sensación de que algo mal va a ocurrir, esta genera duda e irresolución, inseguridad.</a:t>
            </a:r>
            <a:endParaRPr lang="es-ES" sz="2400" dirty="0"/>
          </a:p>
          <a:p>
            <a:endParaRPr lang="es-ES" dirty="0"/>
          </a:p>
        </p:txBody>
      </p:sp>
    </p:spTree>
    <p:extLst>
      <p:ext uri="{BB962C8B-B14F-4D97-AF65-F5344CB8AC3E}">
        <p14:creationId xmlns:p14="http://schemas.microsoft.com/office/powerpoint/2010/main" val="2755174837"/>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Artículo">
  <a:themeElements>
    <a:clrScheme name="Story">
      <a:dk1>
        <a:sysClr val="windowText" lastClr="000000"/>
      </a:dk1>
      <a:lt1>
        <a:sysClr val="window" lastClr="FFFFFF"/>
      </a:lt1>
      <a:dk2>
        <a:srgbClr val="212121"/>
      </a:dk2>
      <a:lt2>
        <a:srgbClr val="CDD4D7"/>
      </a:lt2>
      <a:accent1>
        <a:srgbClr val="1D86CD"/>
      </a:accent1>
      <a:accent2>
        <a:srgbClr val="732E9A"/>
      </a:accent2>
      <a:accent3>
        <a:srgbClr val="B50B1B"/>
      </a:accent3>
      <a:accent4>
        <a:srgbClr val="E8950E"/>
      </a:accent4>
      <a:accent5>
        <a:srgbClr val="55992B"/>
      </a:accent5>
      <a:accent6>
        <a:srgbClr val="2C9C89"/>
      </a:accent6>
      <a:hlink>
        <a:srgbClr val="EC4D4D"/>
      </a:hlink>
      <a:folHlink>
        <a:srgbClr val="F8CE8A"/>
      </a:folHlink>
    </a:clrScheme>
    <a:fontScheme name="Story">
      <a:majorFont>
        <a:latin typeface="Calisto MT"/>
        <a:ea typeface=""/>
        <a:cs typeface=""/>
        <a:font script="Jpan" typeface="ＭＳ Ｐ明朝"/>
      </a:majorFont>
      <a:minorFont>
        <a:latin typeface="Calisto MT"/>
        <a:ea typeface=""/>
        <a:cs typeface=""/>
        <a:font script="Jpan" typeface="ＭＳ Ｐ明朝"/>
      </a:minorFont>
    </a:fontScheme>
    <a:fmtScheme name="Story">
      <a:fillStyleLst>
        <a:solidFill>
          <a:schemeClr val="phClr"/>
        </a:solidFill>
        <a:blipFill rotWithShape="1">
          <a:blip xmlns:r="http://schemas.openxmlformats.org/officeDocument/2006/relationships" r:embed="rId1">
            <a:duotone>
              <a:schemeClr val="phClr">
                <a:shade val="10000"/>
                <a:satMod val="150000"/>
                <a:lumMod val="120000"/>
              </a:schemeClr>
              <a:schemeClr val="phClr">
                <a:satMod val="350000"/>
                <a:lumMod val="150000"/>
              </a:schemeClr>
            </a:duotone>
          </a:blip>
          <a:tile tx="0" ty="0" sx="20000" sy="20000" flip="none" algn="ctr"/>
        </a:blipFill>
        <a:gradFill rotWithShape="1">
          <a:gsLst>
            <a:gs pos="0">
              <a:schemeClr val="phClr">
                <a:shade val="20000"/>
                <a:satMod val="130000"/>
              </a:schemeClr>
            </a:gs>
            <a:gs pos="50000">
              <a:schemeClr val="phClr">
                <a:shade val="90000"/>
                <a:satMod val="130000"/>
              </a:schemeClr>
            </a:gs>
            <a:gs pos="100000">
              <a:schemeClr val="phClr">
                <a:shade val="100000"/>
                <a:satMod val="200000"/>
                <a:lumMod val="120000"/>
              </a:schemeClr>
            </a:gs>
          </a:gsLst>
          <a:lin ang="16200000" scaled="0"/>
        </a:gradFill>
      </a:fillStyleLst>
      <a:lnStyleLst>
        <a:ln w="6350" cap="flat" cmpd="sng" algn="ctr">
          <a:solidFill>
            <a:schemeClr val="phClr">
              <a:shade val="95000"/>
              <a:satMod val="105000"/>
            </a:schemeClr>
          </a:solidFill>
          <a:prstDash val="solid"/>
        </a:ln>
        <a:ln w="19050"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outerShdw blurRad="88900" dist="50800" dir="2100000" sx="104000" sy="104000" algn="br" rotWithShape="0">
              <a:srgbClr val="000000">
                <a:alpha val="55000"/>
              </a:srgbClr>
            </a:outerShdw>
          </a:effectLst>
        </a:effectStyle>
        <a:effectStyle>
          <a:effectLst>
            <a:outerShdw blurRad="127000" dist="63500" dir="5400000" sx="103000" sy="103000" rotWithShape="0">
              <a:srgbClr val="000000">
                <a:alpha val="75000"/>
              </a:srgbClr>
            </a:outerShdw>
          </a:effectLst>
          <a:scene3d>
            <a:camera prst="perspectiveFront" fov="3000000"/>
            <a:lightRig rig="balanced" dir="t">
              <a:rot lat="0" lon="0" rev="18000000"/>
            </a:lightRig>
          </a:scene3d>
          <a:sp3d prstMaterial="plastic">
            <a:bevelT w="254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2">
            <a:duotone>
              <a:schemeClr val="phClr">
                <a:shade val="10000"/>
                <a:satMod val="150000"/>
              </a:schemeClr>
              <a:schemeClr val="phClr">
                <a:tint val="60000"/>
                <a:satMod val="400000"/>
                <a:lumMod val="11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Artículo.thmx</Template>
  <TotalTime>7960</TotalTime>
  <Words>5273</Words>
  <Application>Microsoft Macintosh PowerPoint</Application>
  <PresentationFormat>Presentación en pantalla (4:3)</PresentationFormat>
  <Paragraphs>337</Paragraphs>
  <Slides>60</Slides>
  <Notes>0</Notes>
  <HiddenSlides>0</HiddenSlides>
  <MMClips>0</MMClips>
  <ScaleCrop>false</ScaleCrop>
  <HeadingPairs>
    <vt:vector size="4" baseType="variant">
      <vt:variant>
        <vt:lpstr>Tema</vt:lpstr>
      </vt:variant>
      <vt:variant>
        <vt:i4>1</vt:i4>
      </vt:variant>
      <vt:variant>
        <vt:lpstr>Títulos de diapositiva</vt:lpstr>
      </vt:variant>
      <vt:variant>
        <vt:i4>60</vt:i4>
      </vt:variant>
    </vt:vector>
  </HeadingPairs>
  <TitlesOfParts>
    <vt:vector size="61" baseType="lpstr">
      <vt:lpstr>Artículo</vt:lpstr>
      <vt:lpstr>ENTREVISTA PSIQUIÁTRICA HISTORIA CLÍNICA</vt:lpstr>
      <vt:lpstr>Presentación de PowerPoint</vt:lpstr>
      <vt:lpstr>FINALIDAD DE LA ENTREVISTA </vt:lpstr>
      <vt:lpstr>Presentación de PowerPoint</vt:lpstr>
      <vt:lpstr>CONDICIONES PARA LA REALIZACIÓN DE LA ENTREVISTA</vt:lpstr>
      <vt:lpstr>Presentación de PowerPoint</vt:lpstr>
      <vt:lpstr>MODALIDAD DE ENTREVISTA</vt:lpstr>
      <vt:lpstr>Presentación de PowerPoint</vt:lpstr>
      <vt:lpstr>MODELOS DE ENTREVISTA</vt:lpstr>
      <vt:lpstr>Presentación de PowerPoint</vt:lpstr>
      <vt:lpstr>FASES DE LA ENTREVISTA</vt:lpstr>
      <vt:lpstr>Presentación de PowerPoint</vt:lpstr>
      <vt:lpstr>Presentación de PowerPoint</vt:lpstr>
      <vt:lpstr>Presentación de PowerPoint</vt:lpstr>
      <vt:lpstr>HISTORIA CLÍNICA Componentes de la HC</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Aspectos generales</vt:lpstr>
      <vt:lpstr>Presentación de PowerPoint</vt:lpstr>
      <vt:lpstr>DIAGNÓSTICO MULTIAXIAL</vt:lpstr>
      <vt:lpstr>Presentación de PowerPoint</vt:lpstr>
      <vt:lpstr>Presentación de PowerPoint</vt:lpstr>
      <vt:lpstr>Síntomas, signos y síndromes</vt:lpstr>
      <vt:lpstr>Exploración del Estado Mental</vt:lpstr>
      <vt:lpstr>Funciones Psíquicas</vt:lpstr>
      <vt:lpstr>Área cognitiva. Conciencia y juicio Exploración de la conciencia. Claridad de conciencia.</vt:lpstr>
      <vt:lpstr>Presentación de PowerPoint</vt:lpstr>
      <vt:lpstr>Atención</vt:lpstr>
      <vt:lpstr>Atención Normal y Patológica</vt:lpstr>
      <vt:lpstr>Percepción </vt:lpstr>
      <vt:lpstr>Ilusión </vt:lpstr>
      <vt:lpstr>Alucinaciones</vt:lpstr>
      <vt:lpstr>Presentación de PowerPoint</vt:lpstr>
      <vt:lpstr>Alucinaciones auditivas</vt:lpstr>
      <vt:lpstr>Alucinaciones Visuales</vt:lpstr>
      <vt:lpstr>Memoria </vt:lpstr>
      <vt:lpstr>Alteraciones de la Memoria</vt:lpstr>
      <vt:lpstr>Orientación </vt:lpstr>
      <vt:lpstr>Funciones intelectuales superiores</vt:lpstr>
      <vt:lpstr>Ideación </vt:lpstr>
      <vt:lpstr>Presentación de PowerPoint</vt:lpstr>
      <vt:lpstr>Desórdenes del Flujo </vt:lpstr>
      <vt:lpstr>Desórdenes del Contenido</vt:lpstr>
      <vt:lpstr>Presentación de PowerPoint</vt:lpstr>
      <vt:lpstr>Presentación de PowerPoint</vt:lpstr>
      <vt:lpstr>Presentación de PowerPoint</vt:lpstr>
      <vt:lpstr>Imaginación </vt:lpstr>
      <vt:lpstr>Juicio</vt:lpstr>
      <vt:lpstr>2-Voluntad</vt:lpstr>
      <vt:lpstr>Alteraciones de la conducta</vt:lpstr>
      <vt:lpstr>3-AFECTO</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ENTREVISTA PSIQUIÁTRICA HISTORIA CLÍNICA</dc:title>
  <dc:creator>damian fernandez</dc:creator>
  <cp:lastModifiedBy>damian fernandez</cp:lastModifiedBy>
  <cp:revision>58</cp:revision>
  <dcterms:created xsi:type="dcterms:W3CDTF">2014-08-26T21:34:01Z</dcterms:created>
  <dcterms:modified xsi:type="dcterms:W3CDTF">2014-09-01T10:14:25Z</dcterms:modified>
</cp:coreProperties>
</file>