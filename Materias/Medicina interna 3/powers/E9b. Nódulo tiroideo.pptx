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hEGANkN3vi4CzXHF/85ba+qGJN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9A9032-1570-415A-AF83-EC0DC1F35DBC}">
  <a:tblStyle styleId="{B79A9032-1570-415A-AF83-EC0DC1F35DB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1386"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A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2477108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translate.googleusercontent.com/translate_c?depth=1&amp;hl=es&amp;prev=search&amp;rurl=translate.google.com.ar&amp;sl=en&amp;sp=nmt4&amp;u=https://www.thyroid.org/hyperthyroidism/&amp;usg=ALkJrhigJIQMxJGo44GuoQjRWvo84pWeWg"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6771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s-AR" sz="1200" b="0" i="0">
                <a:solidFill>
                  <a:schemeClr val="dk1"/>
                </a:solidFill>
                <a:latin typeface="Calibri"/>
                <a:ea typeface="Calibri"/>
                <a:cs typeface="Calibri"/>
                <a:sym typeface="Calibri"/>
              </a:rPr>
              <a:t>El término nódulo tiroideo se refiere a un crecimiento anormal de las células de la tiroides que forma un bulto dentro de la glándula tiroides. Aunque la gran mayoría de los nódulos tiroideos son benignos (no cancerosos), una pequeña proporción de nódulos tiroideos contiene cáncer de tiroides. Con el fin de diagnosticar y tratar el cáncer de tiroides en la etapa más temprana, la mayoría de los nódulos de la tiroides necesitan algún tipo de evaluación.</a:t>
            </a:r>
            <a:endParaRPr/>
          </a:p>
        </p:txBody>
      </p:sp>
      <p:sp>
        <p:nvSpPr>
          <p:cNvPr id="94" name="Google Shape;9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2</a:t>
            </a:fld>
            <a:endParaRPr/>
          </a:p>
        </p:txBody>
      </p:sp>
    </p:spTree>
    <p:extLst>
      <p:ext uri="{BB962C8B-B14F-4D97-AF65-F5344CB8AC3E}">
        <p14:creationId xmlns:p14="http://schemas.microsoft.com/office/powerpoint/2010/main" val="1038221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a:buNone/>
            </a:pPr>
            <a:r>
              <a:rPr lang="es-AR" sz="1200" b="0" i="0">
                <a:solidFill>
                  <a:schemeClr val="dk1"/>
                </a:solidFill>
                <a:latin typeface="Calibri"/>
                <a:ea typeface="Calibri"/>
                <a:cs typeface="Calibri"/>
                <a:sym typeface="Calibri"/>
              </a:rPr>
              <a:t>Aunque la gran mayoría de los nódulos tiroideos son benignos (no cancerosos), una pequeña proporción de nódulos tiroideos contiene cáncer de tiroides. Con el fin de diagnosticar y tratar el cáncer de tiroides en la etapa más temprana, la mayoría de los nódulos de la tiroides necesitan algún tipo de evaluación.</a:t>
            </a:r>
            <a:endParaRPr/>
          </a:p>
          <a:p>
            <a:pPr marL="0" lvl="0" indent="0" algn="l" rtl="0">
              <a:spcBef>
                <a:spcPts val="0"/>
              </a:spcBef>
              <a:spcAft>
                <a:spcPts val="0"/>
              </a:spcAft>
              <a:buNone/>
            </a:pPr>
            <a:endParaRPr/>
          </a:p>
        </p:txBody>
      </p:sp>
      <p:sp>
        <p:nvSpPr>
          <p:cNvPr id="100" name="Google Shape;10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3</a:t>
            </a:fld>
            <a:endParaRPr/>
          </a:p>
        </p:txBody>
      </p:sp>
    </p:spTree>
    <p:extLst>
      <p:ext uri="{BB962C8B-B14F-4D97-AF65-F5344CB8AC3E}">
        <p14:creationId xmlns:p14="http://schemas.microsoft.com/office/powerpoint/2010/main" val="894266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s-AR"/>
              <a:t>Los nódulos tiroideos son un problema clínico frecuente. Los estudios epidemiológicos han mostrado que la prevalencia de un nódulo tiroideo palpable es de aproximadamente un 5% en la mujer y 1% en los hombres  que residen en áreas suficientes de yodo. </a:t>
            </a:r>
            <a:endParaRPr/>
          </a:p>
          <a:p>
            <a:pPr marL="0" lvl="0" indent="0" algn="l" rtl="0">
              <a:spcBef>
                <a:spcPts val="0"/>
              </a:spcBef>
              <a:spcAft>
                <a:spcPts val="0"/>
              </a:spcAft>
              <a:buNone/>
            </a:pPr>
            <a:r>
              <a:rPr lang="es-AR"/>
              <a:t> </a:t>
            </a:r>
            <a:endParaRPr/>
          </a:p>
          <a:p>
            <a:pPr marL="0" lvl="0" indent="0" algn="l" rtl="0">
              <a:spcBef>
                <a:spcPts val="0"/>
              </a:spcBef>
              <a:spcAft>
                <a:spcPts val="0"/>
              </a:spcAft>
              <a:buNone/>
            </a:pPr>
            <a:r>
              <a:rPr lang="es-AR"/>
              <a:t>Por otro lado la ecografía puede detectar nódulos tiroideos en el 19 a 67% de individuos seleccionados aleatoriamente, siendo más frecuente en los adultos mayores, llegando a 50-70% en personas &gt;60 años </a:t>
            </a:r>
            <a:endParaRPr/>
          </a:p>
        </p:txBody>
      </p:sp>
      <p:sp>
        <p:nvSpPr>
          <p:cNvPr id="107" name="Google Shape;10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4</a:t>
            </a:fld>
            <a:endParaRPr/>
          </a:p>
        </p:txBody>
      </p:sp>
    </p:spTree>
    <p:extLst>
      <p:ext uri="{BB962C8B-B14F-4D97-AF65-F5344CB8AC3E}">
        <p14:creationId xmlns:p14="http://schemas.microsoft.com/office/powerpoint/2010/main" val="3174867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s-AR"/>
              <a:t>El 90-95% de los nódulos tiroideos son benignos y asintomáticos, por lo que no es recomendable hacer pesquisa de nódulos tiroideos en la población general, ni estudiar histológicamente a todos los pacientes con nódulos tiroideos. La importancia clínica de estudiar un nódulo radica entonces en la necesidad de excluir el cáncer de tiroides, lo cual ocurre en el 5 a 10%, dependiendo de la edad, género, exposición a la radiación en la infancia, historia familiar y otros factores</a:t>
            </a:r>
            <a:endParaRPr/>
          </a:p>
        </p:txBody>
      </p:sp>
      <p:sp>
        <p:nvSpPr>
          <p:cNvPr id="117" name="Google Shape;117;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5</a:t>
            </a:fld>
            <a:endParaRPr/>
          </a:p>
        </p:txBody>
      </p:sp>
    </p:spTree>
    <p:extLst>
      <p:ext uri="{BB962C8B-B14F-4D97-AF65-F5344CB8AC3E}">
        <p14:creationId xmlns:p14="http://schemas.microsoft.com/office/powerpoint/2010/main" val="3628301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0260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r>
              <a:rPr lang="es-AR" sz="1200" b="0" i="0">
                <a:solidFill>
                  <a:schemeClr val="dk1"/>
                </a:solidFill>
                <a:latin typeface="Calibri"/>
                <a:ea typeface="Calibri"/>
                <a:cs typeface="Calibri"/>
                <a:sym typeface="Calibri"/>
              </a:rPr>
              <a:t>La mayoría de los nódulos tiroideos no causan síntomas. A menudo, los nódulos de la tiroides se descubren incidentalmente durante un examen físico de rutina o en pruebas de imagen como tomografías computarizadas o ecografía del cuello realizadas por motivos completamente no relacionados. Ocasionalmente, los pacientes mismos encuentran nódulos tiroideos observando un nudo en el cuello mientras miran en un espejo, abrochándose el cuello o abrochando un collar. Las pruebas anormales de la función de la tiroides pueden ser la razón por la cual se encuentra un nódulo tiroideo. Los nódulos tiroideos pueden producir cantidades excesivas de hormona tiroidea que causan hipertiroidismo (consulte el </a:t>
            </a:r>
            <a:r>
              <a:rPr lang="es-AR" sz="1200" b="0" i="1" u="sng" strike="noStrike">
                <a:solidFill>
                  <a:schemeClr val="dk1"/>
                </a:solidFill>
                <a:latin typeface="Calibri"/>
                <a:ea typeface="Calibri"/>
                <a:cs typeface="Calibri"/>
                <a:sym typeface="Calibri"/>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folleto Hipertiroidismo</a:t>
            </a:r>
            <a:r>
              <a:rPr lang="es-AR" sz="1200" b="0" i="0">
                <a:solidFill>
                  <a:schemeClr val="dk1"/>
                </a:solidFill>
                <a:latin typeface="Calibri"/>
                <a:ea typeface="Calibri"/>
                <a:cs typeface="Calibri"/>
                <a:sym typeface="Calibri"/>
              </a:rPr>
              <a:t> ). Sin embargo, la mayoría de los nódulos de la tiroides, incluidos aquellos que son cancerosos, en realidad no funcionan, lo que significa que las pruebas como la TSH son normales. Raramente, los pacientes con nódulos tiroideos pueden quejarse de dolor en el cuello, la mandíbula o la oreja. Si un nódulo es lo suficientemente grande como para comprimir la tráquea o el esófago, puede causar dificultad para respirar, tragar o causar un "cosquilleo en la garganta". Incluso menos comúnmente, la ronquera puede ser causada si el nódulo invade el nervio que controla las cuerdas vocales, pero esto generalmente está relacionado con el cáncer de tiroides.</a:t>
            </a:r>
            <a:endParaRPr/>
          </a:p>
          <a:p>
            <a:pPr marL="0" lvl="0" indent="0" algn="l" rtl="0">
              <a:lnSpc>
                <a:spcPct val="90000"/>
              </a:lnSpc>
              <a:spcBef>
                <a:spcPts val="0"/>
              </a:spcBef>
              <a:spcAft>
                <a:spcPts val="0"/>
              </a:spcAft>
              <a:buNone/>
            </a:pPr>
            <a:r>
              <a:rPr lang="es-AR" sz="1200" b="0" i="0">
                <a:solidFill>
                  <a:srgbClr val="FF0000"/>
                </a:solidFill>
                <a:latin typeface="Calibri"/>
                <a:ea typeface="Calibri"/>
                <a:cs typeface="Calibri"/>
                <a:sym typeface="Calibri"/>
              </a:rPr>
              <a:t>Los puntos importantes para recordar son los siguientes:</a:t>
            </a:r>
            <a:endParaRPr/>
          </a:p>
          <a:p>
            <a:pPr marL="0" lvl="0" indent="0" algn="l" rtl="0">
              <a:lnSpc>
                <a:spcPct val="90000"/>
              </a:lnSpc>
              <a:spcBef>
                <a:spcPts val="0"/>
              </a:spcBef>
              <a:spcAft>
                <a:spcPts val="0"/>
              </a:spcAft>
              <a:buNone/>
            </a:pPr>
            <a:r>
              <a:rPr lang="es-AR" sz="1200" b="0" i="0">
                <a:solidFill>
                  <a:srgbClr val="FF0000"/>
                </a:solidFill>
                <a:latin typeface="Calibri"/>
                <a:ea typeface="Calibri"/>
                <a:cs typeface="Calibri"/>
                <a:sym typeface="Calibri"/>
              </a:rPr>
              <a:t>Los nódulos tiroideos generalmente no causan síntomas.</a:t>
            </a:r>
            <a:endParaRPr/>
          </a:p>
          <a:p>
            <a:pPr marL="0" lvl="0" indent="0" algn="l" rtl="0">
              <a:lnSpc>
                <a:spcPct val="90000"/>
              </a:lnSpc>
              <a:spcBef>
                <a:spcPts val="0"/>
              </a:spcBef>
              <a:spcAft>
                <a:spcPts val="0"/>
              </a:spcAft>
              <a:buNone/>
            </a:pPr>
            <a:r>
              <a:rPr lang="es-AR" sz="1200" b="0" i="0">
                <a:solidFill>
                  <a:srgbClr val="FF0000"/>
                </a:solidFill>
                <a:latin typeface="Calibri"/>
                <a:ea typeface="Calibri"/>
                <a:cs typeface="Calibri"/>
                <a:sym typeface="Calibri"/>
              </a:rPr>
              <a:t>Las pruebas de tiroides son típicamente normales, incluso cuando el cáncer está presente en un nódulo.</a:t>
            </a:r>
            <a:endParaRPr/>
          </a:p>
          <a:p>
            <a:pPr marL="0" lvl="0" indent="0" algn="l" rtl="0">
              <a:lnSpc>
                <a:spcPct val="90000"/>
              </a:lnSpc>
              <a:spcBef>
                <a:spcPts val="0"/>
              </a:spcBef>
              <a:spcAft>
                <a:spcPts val="0"/>
              </a:spcAft>
              <a:buNone/>
            </a:pPr>
            <a:r>
              <a:rPr lang="es-AR" sz="1200" b="0" i="0">
                <a:solidFill>
                  <a:srgbClr val="FF0000"/>
                </a:solidFill>
                <a:latin typeface="Calibri"/>
                <a:ea typeface="Calibri"/>
                <a:cs typeface="Calibri"/>
                <a:sym typeface="Calibri"/>
              </a:rPr>
              <a:t>¡La mejor manera de encontrar un nódulo tiroideo es asegurándose de que su médico controle su cuello!</a:t>
            </a:r>
            <a:endParaRPr/>
          </a:p>
          <a:p>
            <a:pPr marL="0" lvl="0" indent="0" algn="l" rtl="0">
              <a:lnSpc>
                <a:spcPct val="90000"/>
              </a:lnSpc>
              <a:spcBef>
                <a:spcPts val="0"/>
              </a:spcBef>
              <a:spcAft>
                <a:spcPts val="0"/>
              </a:spcAft>
              <a:buNone/>
            </a:pPr>
            <a:endParaRPr>
              <a:solidFill>
                <a:srgbClr val="FF0000"/>
              </a:solidFill>
            </a:endParaRPr>
          </a:p>
        </p:txBody>
      </p:sp>
      <p:sp>
        <p:nvSpPr>
          <p:cNvPr id="130" name="Google Shape;130;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7</a:t>
            </a:fld>
            <a:endParaRPr/>
          </a:p>
        </p:txBody>
      </p:sp>
    </p:spTree>
    <p:extLst>
      <p:ext uri="{BB962C8B-B14F-4D97-AF65-F5344CB8AC3E}">
        <p14:creationId xmlns:p14="http://schemas.microsoft.com/office/powerpoint/2010/main" val="3921440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s-AR"/>
              <a:t>Entre los individuos asintomáticos con examen físico normal, se sugiere buscar nódulos tiroideos en quienes tienen antecedente de exposición a radiación ionizante, historia de cáncer papilar de tiroides familiar, familiares de pacientes con neoplasia endocrina múltiple tipo 2 (NEM 2),  estudio genético compatible con formas hereditarias de cáncer medular de tiroides,  aquéllos con historia de poliposis colónica familiar, Síndrome de Cowden(5) y en  aquéllos que refieran aumento de volumen cervical, disfonía, disfagia, asociados al hallazgo de uno o más nódulos tiroideos al examen físico</a:t>
            </a:r>
            <a:endParaRPr/>
          </a:p>
          <a:p>
            <a:pPr marL="0" lvl="0" indent="0" algn="l" rtl="0">
              <a:spcBef>
                <a:spcPts val="0"/>
              </a:spcBef>
              <a:spcAft>
                <a:spcPts val="0"/>
              </a:spcAft>
              <a:buNone/>
            </a:pPr>
            <a:r>
              <a:rPr lang="es-AR"/>
              <a:t> </a:t>
            </a:r>
            <a:endParaRPr/>
          </a:p>
          <a:p>
            <a:pPr marL="0" lvl="0" indent="0" algn="l" rtl="0">
              <a:spcBef>
                <a:spcPts val="0"/>
              </a:spcBef>
              <a:spcAft>
                <a:spcPts val="0"/>
              </a:spcAft>
              <a:buNone/>
            </a:pPr>
            <a:r>
              <a:rPr lang="es-AR"/>
              <a:t> </a:t>
            </a:r>
            <a:endParaRPr/>
          </a:p>
        </p:txBody>
      </p:sp>
      <p:sp>
        <p:nvSpPr>
          <p:cNvPr id="144" name="Google Shape;144;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8</a:t>
            </a:fld>
            <a:endParaRPr/>
          </a:p>
        </p:txBody>
      </p:sp>
    </p:spTree>
    <p:extLst>
      <p:ext uri="{BB962C8B-B14F-4D97-AF65-F5344CB8AC3E}">
        <p14:creationId xmlns:p14="http://schemas.microsoft.com/office/powerpoint/2010/main" val="1627795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6465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8094a0bef2_0_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8094a0bef2_0_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28094a0bef2_0_2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10</a:t>
            </a:fld>
            <a:endParaRPr/>
          </a:p>
        </p:txBody>
      </p:sp>
    </p:spTree>
    <p:extLst>
      <p:ext uri="{BB962C8B-B14F-4D97-AF65-F5344CB8AC3E}">
        <p14:creationId xmlns:p14="http://schemas.microsoft.com/office/powerpoint/2010/main" val="762470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802eebfacd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802eebfacd_0_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g2802eebfacd_0_1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11</a:t>
            </a:fld>
            <a:endParaRPr/>
          </a:p>
        </p:txBody>
      </p:sp>
    </p:spTree>
    <p:extLst>
      <p:ext uri="{BB962C8B-B14F-4D97-AF65-F5344CB8AC3E}">
        <p14:creationId xmlns:p14="http://schemas.microsoft.com/office/powerpoint/2010/main" val="3483358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802eebfacd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802eebfacd_0_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2802eebfacd_0_1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12</a:t>
            </a:fld>
            <a:endParaRPr/>
          </a:p>
        </p:txBody>
      </p:sp>
    </p:spTree>
    <p:extLst>
      <p:ext uri="{BB962C8B-B14F-4D97-AF65-F5344CB8AC3E}">
        <p14:creationId xmlns:p14="http://schemas.microsoft.com/office/powerpoint/2010/main" val="900155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802eebfacd_0_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802eebfacd_0_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g2802eebfacd_0_2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13</a:t>
            </a:fld>
            <a:endParaRPr/>
          </a:p>
        </p:txBody>
      </p:sp>
    </p:spTree>
    <p:extLst>
      <p:ext uri="{BB962C8B-B14F-4D97-AF65-F5344CB8AC3E}">
        <p14:creationId xmlns:p14="http://schemas.microsoft.com/office/powerpoint/2010/main" val="4003053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802eebfacd_0_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802eebfacd_0_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g2802eebfacd_0_3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14</a:t>
            </a:fld>
            <a:endParaRPr/>
          </a:p>
        </p:txBody>
      </p:sp>
    </p:spTree>
    <p:extLst>
      <p:ext uri="{BB962C8B-B14F-4D97-AF65-F5344CB8AC3E}">
        <p14:creationId xmlns:p14="http://schemas.microsoft.com/office/powerpoint/2010/main" val="3718873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8094a0bef2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8094a0bef2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g28094a0bef2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15</a:t>
            </a:fld>
            <a:endParaRPr/>
          </a:p>
        </p:txBody>
      </p:sp>
    </p:spTree>
    <p:extLst>
      <p:ext uri="{BB962C8B-B14F-4D97-AF65-F5344CB8AC3E}">
        <p14:creationId xmlns:p14="http://schemas.microsoft.com/office/powerpoint/2010/main" val="12097481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9592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11" name="Google Shape;211;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17</a:t>
            </a:fld>
            <a:endParaRPr/>
          </a:p>
        </p:txBody>
      </p:sp>
    </p:spTree>
    <p:extLst>
      <p:ext uri="{BB962C8B-B14F-4D97-AF65-F5344CB8AC3E}">
        <p14:creationId xmlns:p14="http://schemas.microsoft.com/office/powerpoint/2010/main" val="483224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22" name="Google Shape;222;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18</a:t>
            </a:fld>
            <a:endParaRPr/>
          </a:p>
        </p:txBody>
      </p:sp>
    </p:spTree>
    <p:extLst>
      <p:ext uri="{BB962C8B-B14F-4D97-AF65-F5344CB8AC3E}">
        <p14:creationId xmlns:p14="http://schemas.microsoft.com/office/powerpoint/2010/main" val="900061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8094a0bef2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8094a0bef2_0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g28094a0bef2_0_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19</a:t>
            </a:fld>
            <a:endParaRPr/>
          </a:p>
        </p:txBody>
      </p:sp>
    </p:spTree>
    <p:extLst>
      <p:ext uri="{BB962C8B-B14F-4D97-AF65-F5344CB8AC3E}">
        <p14:creationId xmlns:p14="http://schemas.microsoft.com/office/powerpoint/2010/main" val="2121752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8094a0bef2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8094a0bef2_0_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g28094a0bef2_0_1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20</a:t>
            </a:fld>
            <a:endParaRPr/>
          </a:p>
        </p:txBody>
      </p:sp>
    </p:spTree>
    <p:extLst>
      <p:ext uri="{BB962C8B-B14F-4D97-AF65-F5344CB8AC3E}">
        <p14:creationId xmlns:p14="http://schemas.microsoft.com/office/powerpoint/2010/main" val="38435363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19876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00758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s-AR"/>
              <a:t>El riesgo de propagación extratiroidea o compromiso de los ganglios linfáticos disminuye con la reducción del tamaño del tumor, y un curso agresivo de la enfermedad es raro en los microcarcinomas descubiertos de manera incidental &lt;5 mm. Debido al mayor riesgo de muestreo inadecuado o inapropiado , las lesiones incidentales de la tiroides con un diámetro &lt;5 mm no deben ser biopsiadas </a:t>
            </a:r>
            <a:endParaRPr/>
          </a:p>
        </p:txBody>
      </p:sp>
      <p:sp>
        <p:nvSpPr>
          <p:cNvPr id="262" name="Google Shape;262;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23</a:t>
            </a:fld>
            <a:endParaRPr/>
          </a:p>
        </p:txBody>
      </p:sp>
    </p:spTree>
    <p:extLst>
      <p:ext uri="{BB962C8B-B14F-4D97-AF65-F5344CB8AC3E}">
        <p14:creationId xmlns:p14="http://schemas.microsoft.com/office/powerpoint/2010/main" val="14820655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71" name="Google Shape;271;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24</a:t>
            </a:fld>
            <a:endParaRPr/>
          </a:p>
        </p:txBody>
      </p:sp>
    </p:spTree>
    <p:extLst>
      <p:ext uri="{BB962C8B-B14F-4D97-AF65-F5344CB8AC3E}">
        <p14:creationId xmlns:p14="http://schemas.microsoft.com/office/powerpoint/2010/main" val="17849645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8094a0bef2_0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8094a0bef2_0_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g28094a0bef2_0_2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25</a:t>
            </a:fld>
            <a:endParaRPr/>
          </a:p>
        </p:txBody>
      </p:sp>
    </p:spTree>
    <p:extLst>
      <p:ext uri="{BB962C8B-B14F-4D97-AF65-F5344CB8AC3E}">
        <p14:creationId xmlns:p14="http://schemas.microsoft.com/office/powerpoint/2010/main" val="767103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None/>
            </a:pPr>
            <a:endParaRPr sz="1020"/>
          </a:p>
        </p:txBody>
      </p:sp>
      <p:sp>
        <p:nvSpPr>
          <p:cNvPr id="286" name="Google Shape;286;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26</a:t>
            </a:fld>
            <a:endParaRPr/>
          </a:p>
        </p:txBody>
      </p:sp>
    </p:spTree>
    <p:extLst>
      <p:ext uri="{BB962C8B-B14F-4D97-AF65-F5344CB8AC3E}">
        <p14:creationId xmlns:p14="http://schemas.microsoft.com/office/powerpoint/2010/main" val="29418447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28034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80000"/>
              </a:lnSpc>
              <a:spcBef>
                <a:spcPts val="0"/>
              </a:spcBef>
              <a:spcAft>
                <a:spcPts val="0"/>
              </a:spcAft>
              <a:buNone/>
            </a:pPr>
            <a:r>
              <a:rPr lang="es-AR" sz="1020" b="0" i="0">
                <a:solidFill>
                  <a:schemeClr val="dk1"/>
                </a:solidFill>
                <a:latin typeface="Calibri"/>
                <a:ea typeface="Calibri"/>
                <a:cs typeface="Calibri"/>
                <a:sym typeface="Calibri"/>
              </a:rPr>
              <a:t>El nódulo es benigno (no canceroso).</a:t>
            </a:r>
            <a:endParaRPr/>
          </a:p>
          <a:p>
            <a:pPr marL="0" lvl="0" indent="0" algn="l" rtl="0">
              <a:lnSpc>
                <a:spcPct val="80000"/>
              </a:lnSpc>
              <a:spcBef>
                <a:spcPts val="0"/>
              </a:spcBef>
              <a:spcAft>
                <a:spcPts val="0"/>
              </a:spcAft>
              <a:buNone/>
            </a:pPr>
            <a:r>
              <a:rPr lang="es-AR" sz="1020" b="0" i="0">
                <a:solidFill>
                  <a:schemeClr val="dk1"/>
                </a:solidFill>
                <a:latin typeface="Calibri"/>
                <a:ea typeface="Calibri"/>
                <a:cs typeface="Calibri"/>
                <a:sym typeface="Calibri"/>
              </a:rPr>
              <a:t>Este resultado se obtiene en hasta el 80% de las biopsias. El riesgo de pasar por alto un cáncer cuando la biopsia es benigna generalmente es menos de 3 en 100 pruebas o 3%. Esto es incluso más bajo cuando la biopsia es revisada por un patólogo experimentado en un importante centro médico. En general, los nódulos tiroideos benignos no necesitan ser eliminados a menos que causen síntomas como atragantamiento o dificultad para tragar. Los exámenes de ultrasonido de seguimiento son importantes. Ocasionalmente, puede requerirse otra biopsia en el futuro, especialmente si el nódulo crece con el tiempo.</a:t>
            </a:r>
            <a:endParaRPr/>
          </a:p>
          <a:p>
            <a:pPr marL="0" lvl="0" indent="0" algn="l" rtl="0">
              <a:lnSpc>
                <a:spcPct val="80000"/>
              </a:lnSpc>
              <a:spcBef>
                <a:spcPts val="0"/>
              </a:spcBef>
              <a:spcAft>
                <a:spcPts val="0"/>
              </a:spcAft>
              <a:buNone/>
            </a:pPr>
            <a:r>
              <a:rPr lang="es-AR" sz="1020" b="0" i="0">
                <a:solidFill>
                  <a:schemeClr val="dk1"/>
                </a:solidFill>
                <a:latin typeface="Calibri"/>
                <a:ea typeface="Calibri"/>
                <a:cs typeface="Calibri"/>
                <a:sym typeface="Calibri"/>
              </a:rPr>
              <a:t>El nódulo es maligno (canceroso) o sospechoso de malignidad.</a:t>
            </a:r>
            <a:endParaRPr/>
          </a:p>
          <a:p>
            <a:pPr marL="0" lvl="0" indent="0" algn="l" rtl="0">
              <a:lnSpc>
                <a:spcPct val="80000"/>
              </a:lnSpc>
              <a:spcBef>
                <a:spcPts val="0"/>
              </a:spcBef>
              <a:spcAft>
                <a:spcPts val="0"/>
              </a:spcAft>
              <a:buNone/>
            </a:pPr>
            <a:r>
              <a:rPr lang="es-AR" sz="1020" b="0" i="0">
                <a:solidFill>
                  <a:schemeClr val="dk1"/>
                </a:solidFill>
                <a:latin typeface="Calibri"/>
                <a:ea typeface="Calibri"/>
                <a:cs typeface="Calibri"/>
                <a:sym typeface="Calibri"/>
              </a:rPr>
              <a:t>Se obtiene un resultado maligno en aproximadamente el 5% de las biopsias y más a menudo se debe al cáncer papilar, que es el tipo más común de cáncer de tiroides. Una biopsia sospechosa tiene un 50-75% de riesgo de cáncer en el nódulo. Estos diagnósticos requieren la extirpación quirúrgica de la tiroides después de consultar con su endocrinólogo y cirujano.</a:t>
            </a:r>
            <a:endParaRPr/>
          </a:p>
          <a:p>
            <a:pPr marL="0" lvl="0" indent="0" algn="l" rtl="0">
              <a:lnSpc>
                <a:spcPct val="80000"/>
              </a:lnSpc>
              <a:spcBef>
                <a:spcPts val="0"/>
              </a:spcBef>
              <a:spcAft>
                <a:spcPts val="0"/>
              </a:spcAft>
              <a:buNone/>
            </a:pPr>
            <a:r>
              <a:rPr lang="es-AR" sz="1020" b="0" i="0">
                <a:solidFill>
                  <a:schemeClr val="dk1"/>
                </a:solidFill>
                <a:latin typeface="Calibri"/>
                <a:ea typeface="Calibri"/>
                <a:cs typeface="Calibri"/>
                <a:sym typeface="Calibri"/>
              </a:rPr>
              <a:t>El nódulo es indeterminado. Este es en realidad un grupo de varios diagnósticos que pueden ocurrir en hasta el 20% de los casos. Un hallazgo indeterminado significa que, aunque se eliminó un número adecuado de células durante la biopsia con aguja fina, el examen con un microscopio no puede clasificar de forma fiable el resultado como benigno o cáncer.</a:t>
            </a:r>
            <a:endParaRPr/>
          </a:p>
          <a:p>
            <a:pPr marL="0" lvl="0" indent="0" algn="l" rtl="0">
              <a:lnSpc>
                <a:spcPct val="80000"/>
              </a:lnSpc>
              <a:spcBef>
                <a:spcPts val="0"/>
              </a:spcBef>
              <a:spcAft>
                <a:spcPts val="0"/>
              </a:spcAft>
              <a:buNone/>
            </a:pPr>
            <a:r>
              <a:rPr lang="es-AR" sz="1020" b="0" i="0">
                <a:solidFill>
                  <a:schemeClr val="dk1"/>
                </a:solidFill>
                <a:latin typeface="Calibri"/>
                <a:ea typeface="Calibri"/>
                <a:cs typeface="Calibri"/>
                <a:sym typeface="Calibri"/>
              </a:rPr>
              <a:t>La biopsia puede ser indeterminada porque el nódulo se describe como una lesión folicular. Estos nódulos son cancerosos entre el 20 y 30% del tiempo. Sin embargo, el diagnóstico solo se puede realizar mediante cirugía. Como las probabilidades de que el nódulo no sea un cáncer son mucho mejores aquí (70-80%), solo se extrae el lado de la tiroides con el nódulo. Si se encuentra un cáncer, la glándula tiroides restante generalmente también debe ser eliminada. Si la cirugía confirma que no hay cáncer, no es necesaria ninguna cirugía adicional para "completar" la tiroidectomía.</a:t>
            </a:r>
            <a:endParaRPr/>
          </a:p>
          <a:p>
            <a:pPr marL="0" lvl="0" indent="0" algn="l" rtl="0">
              <a:lnSpc>
                <a:spcPct val="80000"/>
              </a:lnSpc>
              <a:spcBef>
                <a:spcPts val="0"/>
              </a:spcBef>
              <a:spcAft>
                <a:spcPts val="0"/>
              </a:spcAft>
              <a:buNone/>
            </a:pPr>
            <a:r>
              <a:rPr lang="es-AR" sz="1020" b="0" i="0">
                <a:solidFill>
                  <a:schemeClr val="dk1"/>
                </a:solidFill>
                <a:latin typeface="Calibri"/>
                <a:ea typeface="Calibri"/>
                <a:cs typeface="Calibri"/>
                <a:sym typeface="Calibri"/>
              </a:rPr>
              <a:t>La biopsia también puede ser indeterminada porque las células del nódulo tienen características que no se pueden ubicar en una de las otras categorías de diagnóstico. Este diagnóstico se llama atipia o una lesión folicular de significado indeterminado. Los diagnósticos en esta categoría contendrán cáncer rara vez, por lo que se recomienda repetir la evaluación con FNA o una biopsia quirúrgica para eliminar la mitad de la tiroides que contiene el nódulo.</a:t>
            </a:r>
            <a:endParaRPr/>
          </a:p>
          <a:p>
            <a:pPr marL="0" lvl="0" indent="0" algn="l" rtl="0">
              <a:lnSpc>
                <a:spcPct val="80000"/>
              </a:lnSpc>
              <a:spcBef>
                <a:spcPts val="0"/>
              </a:spcBef>
              <a:spcAft>
                <a:spcPts val="0"/>
              </a:spcAft>
              <a:buNone/>
            </a:pPr>
            <a:r>
              <a:rPr lang="es-AR" sz="1020" b="0" i="0">
                <a:solidFill>
                  <a:schemeClr val="dk1"/>
                </a:solidFill>
                <a:latin typeface="Calibri"/>
                <a:ea typeface="Calibri"/>
                <a:cs typeface="Calibri"/>
                <a:sym typeface="Calibri"/>
              </a:rPr>
              <a:t>La biopsia también puede ser no diagnóstica o inadecuada. Este resultado se obtiene en menos del 5% de los casos cuando se usa una ecografía para guiar al FNA. Este resultado indica que no se obtuvieron suficientes células para hacer un diagnóstico, pero es un resultado común si el nódulo es un quiste. Estos nódulos pueden requerir una reevaluación con una segunda biopsia con aguja fina, o pueden necesitar ser removidos quirúrgicamente dependiendo del juicio clínico de su médico.</a:t>
            </a:r>
            <a:endParaRPr/>
          </a:p>
          <a:p>
            <a:pPr marL="0" lvl="0" indent="0" algn="l" rtl="0">
              <a:lnSpc>
                <a:spcPct val="80000"/>
              </a:lnSpc>
              <a:spcBef>
                <a:spcPts val="0"/>
              </a:spcBef>
              <a:spcAft>
                <a:spcPts val="0"/>
              </a:spcAft>
              <a:buNone/>
            </a:pPr>
            <a:endParaRPr sz="1020"/>
          </a:p>
          <a:p>
            <a:pPr marL="0" lvl="0" indent="0" algn="l" rtl="0">
              <a:lnSpc>
                <a:spcPct val="80000"/>
              </a:lnSpc>
              <a:spcBef>
                <a:spcPts val="0"/>
              </a:spcBef>
              <a:spcAft>
                <a:spcPts val="0"/>
              </a:spcAft>
              <a:buNone/>
            </a:pPr>
            <a:endParaRPr sz="1020"/>
          </a:p>
        </p:txBody>
      </p:sp>
      <p:sp>
        <p:nvSpPr>
          <p:cNvPr id="297" name="Google Shape;297;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28</a:t>
            </a:fld>
            <a:endParaRPr/>
          </a:p>
        </p:txBody>
      </p:sp>
    </p:spTree>
    <p:extLst>
      <p:ext uri="{BB962C8B-B14F-4D97-AF65-F5344CB8AC3E}">
        <p14:creationId xmlns:p14="http://schemas.microsoft.com/office/powerpoint/2010/main" val="26311748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5116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chemeClr val="lt1"/>
              </a:buClr>
              <a:buSzPts val="3200"/>
              <a:buNone/>
              <a:defRPr>
                <a:solidFill>
                  <a:schemeClr val="lt1"/>
                </a:solidFill>
              </a:defRPr>
            </a:lvl1pPr>
            <a:lvl2pPr lvl="1" algn="ctr">
              <a:spcBef>
                <a:spcPts val="560"/>
              </a:spcBef>
              <a:spcAft>
                <a:spcPts val="0"/>
              </a:spcAft>
              <a:buClr>
                <a:schemeClr val="lt1"/>
              </a:buClr>
              <a:buSzPts val="2800"/>
              <a:buNone/>
              <a:defRPr>
                <a:solidFill>
                  <a:schemeClr val="lt1"/>
                </a:solidFill>
              </a:defRPr>
            </a:lvl2pPr>
            <a:lvl3pPr lvl="2" algn="ctr">
              <a:spcBef>
                <a:spcPts val="480"/>
              </a:spcBef>
              <a:spcAft>
                <a:spcPts val="0"/>
              </a:spcAft>
              <a:buClr>
                <a:schemeClr val="lt1"/>
              </a:buClr>
              <a:buSzPts val="2400"/>
              <a:buNone/>
              <a:defRPr>
                <a:solidFill>
                  <a:schemeClr val="lt1"/>
                </a:solidFill>
              </a:defRPr>
            </a:lvl3pPr>
            <a:lvl4pPr lvl="3" algn="ctr">
              <a:spcBef>
                <a:spcPts val="400"/>
              </a:spcBef>
              <a:spcAft>
                <a:spcPts val="0"/>
              </a:spcAft>
              <a:buClr>
                <a:schemeClr val="lt1"/>
              </a:buClr>
              <a:buSzPts val="2000"/>
              <a:buNone/>
              <a:defRPr>
                <a:solidFill>
                  <a:schemeClr val="lt1"/>
                </a:solidFill>
              </a:defRPr>
            </a:lvl4pPr>
            <a:lvl5pPr lvl="4" algn="ctr">
              <a:spcBef>
                <a:spcPts val="400"/>
              </a:spcBef>
              <a:spcAft>
                <a:spcPts val="0"/>
              </a:spcAft>
              <a:buClr>
                <a:schemeClr val="lt1"/>
              </a:buClr>
              <a:buSzPts val="2000"/>
              <a:buNone/>
              <a:defRPr>
                <a:solidFill>
                  <a:schemeClr val="lt1"/>
                </a:solidFill>
              </a:defRPr>
            </a:lvl5pPr>
            <a:lvl6pPr lvl="5" algn="ctr">
              <a:spcBef>
                <a:spcPts val="400"/>
              </a:spcBef>
              <a:spcAft>
                <a:spcPts val="0"/>
              </a:spcAft>
              <a:buClr>
                <a:schemeClr val="lt1"/>
              </a:buClr>
              <a:buSzPts val="2000"/>
              <a:buNone/>
              <a:defRPr>
                <a:solidFill>
                  <a:schemeClr val="lt1"/>
                </a:solidFill>
              </a:defRPr>
            </a:lvl6pPr>
            <a:lvl7pPr lvl="6" algn="ctr">
              <a:spcBef>
                <a:spcPts val="400"/>
              </a:spcBef>
              <a:spcAft>
                <a:spcPts val="0"/>
              </a:spcAft>
              <a:buClr>
                <a:schemeClr val="lt1"/>
              </a:buClr>
              <a:buSzPts val="2000"/>
              <a:buNone/>
              <a:defRPr>
                <a:solidFill>
                  <a:schemeClr val="lt1"/>
                </a:solidFill>
              </a:defRPr>
            </a:lvl7pPr>
            <a:lvl8pPr lvl="7" algn="ctr">
              <a:spcBef>
                <a:spcPts val="400"/>
              </a:spcBef>
              <a:spcAft>
                <a:spcPts val="0"/>
              </a:spcAft>
              <a:buClr>
                <a:schemeClr val="lt1"/>
              </a:buClr>
              <a:buSzPts val="2000"/>
              <a:buNone/>
              <a:defRPr>
                <a:solidFill>
                  <a:schemeClr val="lt1"/>
                </a:solidFill>
              </a:defRPr>
            </a:lvl8pPr>
            <a:lvl9pPr lvl="8" algn="ctr">
              <a:spcBef>
                <a:spcPts val="400"/>
              </a:spcBef>
              <a:spcAft>
                <a:spcPts val="0"/>
              </a:spcAft>
              <a:buClr>
                <a:schemeClr val="lt1"/>
              </a:buClr>
              <a:buSzPts val="2000"/>
              <a:buNone/>
              <a:defRPr>
                <a:solidFill>
                  <a:schemeClr val="lt1"/>
                </a:solidFill>
              </a:defRPr>
            </a:lvl9pPr>
          </a:lstStyle>
          <a:p>
            <a:endParaRPr/>
          </a:p>
        </p:txBody>
      </p:sp>
      <p:sp>
        <p:nvSpPr>
          <p:cNvPr id="18" name="Google Shape;1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lt1"/>
              </a:buClr>
              <a:buSzPts val="18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24" name="Google Shape;24;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3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lt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60"/>
              </a:spcBef>
              <a:spcAft>
                <a:spcPts val="0"/>
              </a:spcAft>
              <a:buClr>
                <a:schemeClr val="lt1"/>
              </a:buClr>
              <a:buSzPts val="1800"/>
              <a:buNone/>
              <a:defRPr sz="1800">
                <a:solidFill>
                  <a:schemeClr val="lt1"/>
                </a:solidFill>
              </a:defRPr>
            </a:lvl2pPr>
            <a:lvl3pPr marL="1371600" lvl="2" indent="-228600" algn="l">
              <a:spcBef>
                <a:spcPts val="320"/>
              </a:spcBef>
              <a:spcAft>
                <a:spcPts val="0"/>
              </a:spcAft>
              <a:buClr>
                <a:schemeClr val="lt1"/>
              </a:buClr>
              <a:buSzPts val="1600"/>
              <a:buNone/>
              <a:defRPr sz="1600">
                <a:solidFill>
                  <a:schemeClr val="lt1"/>
                </a:solidFill>
              </a:defRPr>
            </a:lvl3pPr>
            <a:lvl4pPr marL="1828800" lvl="3" indent="-228600" algn="l">
              <a:spcBef>
                <a:spcPts val="280"/>
              </a:spcBef>
              <a:spcAft>
                <a:spcPts val="0"/>
              </a:spcAft>
              <a:buClr>
                <a:schemeClr val="lt1"/>
              </a:buClr>
              <a:buSzPts val="1400"/>
              <a:buNone/>
              <a:defRPr sz="1400">
                <a:solidFill>
                  <a:schemeClr val="lt1"/>
                </a:solidFill>
              </a:defRPr>
            </a:lvl4pPr>
            <a:lvl5pPr marL="2286000" lvl="4" indent="-228600" algn="l">
              <a:spcBef>
                <a:spcPts val="280"/>
              </a:spcBef>
              <a:spcAft>
                <a:spcPts val="0"/>
              </a:spcAft>
              <a:buClr>
                <a:schemeClr val="lt1"/>
              </a:buClr>
              <a:buSzPts val="1400"/>
              <a:buNone/>
              <a:defRPr sz="1400">
                <a:solidFill>
                  <a:schemeClr val="lt1"/>
                </a:solidFill>
              </a:defRPr>
            </a:lvl5pPr>
            <a:lvl6pPr marL="2743200" lvl="5" indent="-228600" algn="l">
              <a:spcBef>
                <a:spcPts val="280"/>
              </a:spcBef>
              <a:spcAft>
                <a:spcPts val="0"/>
              </a:spcAft>
              <a:buClr>
                <a:schemeClr val="lt1"/>
              </a:buClr>
              <a:buSzPts val="1400"/>
              <a:buNone/>
              <a:defRPr sz="1400">
                <a:solidFill>
                  <a:schemeClr val="lt1"/>
                </a:solidFill>
              </a:defRPr>
            </a:lvl6pPr>
            <a:lvl7pPr marL="3200400" lvl="6" indent="-228600" algn="l">
              <a:spcBef>
                <a:spcPts val="280"/>
              </a:spcBef>
              <a:spcAft>
                <a:spcPts val="0"/>
              </a:spcAft>
              <a:buClr>
                <a:schemeClr val="lt1"/>
              </a:buClr>
              <a:buSzPts val="1400"/>
              <a:buNone/>
              <a:defRPr sz="1400">
                <a:solidFill>
                  <a:schemeClr val="lt1"/>
                </a:solidFill>
              </a:defRPr>
            </a:lvl7pPr>
            <a:lvl8pPr marL="3657600" lvl="7" indent="-228600" algn="l">
              <a:spcBef>
                <a:spcPts val="280"/>
              </a:spcBef>
              <a:spcAft>
                <a:spcPts val="0"/>
              </a:spcAft>
              <a:buClr>
                <a:schemeClr val="lt1"/>
              </a:buClr>
              <a:buSzPts val="1400"/>
              <a:buNone/>
              <a:defRPr sz="1400">
                <a:solidFill>
                  <a:schemeClr val="lt1"/>
                </a:solidFill>
              </a:defRPr>
            </a:lvl8pPr>
            <a:lvl9pPr marL="4114800" lvl="8" indent="-228600" algn="l">
              <a:spcBef>
                <a:spcPts val="280"/>
              </a:spcBef>
              <a:spcAft>
                <a:spcPts val="0"/>
              </a:spcAft>
              <a:buClr>
                <a:schemeClr val="lt1"/>
              </a:buClr>
              <a:buSzPts val="1400"/>
              <a:buNone/>
              <a:defRPr sz="1400">
                <a:solidFill>
                  <a:schemeClr val="lt1"/>
                </a:solidFill>
              </a:defRPr>
            </a:lvl9pPr>
          </a:lstStyle>
          <a:p>
            <a:endParaRPr/>
          </a:p>
        </p:txBody>
      </p:sp>
      <p:sp>
        <p:nvSpPr>
          <p:cNvPr id="30" name="Google Shape;30;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lt1"/>
              </a:buClr>
              <a:buSzPts val="2800"/>
              <a:buChar char="•"/>
              <a:defRPr sz="2800"/>
            </a:lvl1pPr>
            <a:lvl2pPr marL="914400" lvl="1" indent="-381000" algn="l">
              <a:spcBef>
                <a:spcPts val="480"/>
              </a:spcBef>
              <a:spcAft>
                <a:spcPts val="0"/>
              </a:spcAft>
              <a:buClr>
                <a:schemeClr val="lt1"/>
              </a:buClr>
              <a:buSzPts val="2400"/>
              <a:buChar char="–"/>
              <a:defRPr sz="2400"/>
            </a:lvl2pPr>
            <a:lvl3pPr marL="1371600" lvl="2" indent="-355600" algn="l">
              <a:spcBef>
                <a:spcPts val="400"/>
              </a:spcBef>
              <a:spcAft>
                <a:spcPts val="0"/>
              </a:spcAft>
              <a:buClr>
                <a:schemeClr val="lt1"/>
              </a:buClr>
              <a:buSzPts val="2000"/>
              <a:buChar char="•"/>
              <a:defRPr sz="2000"/>
            </a:lvl3pPr>
            <a:lvl4pPr marL="1828800" lvl="3" indent="-342900" algn="l">
              <a:spcBef>
                <a:spcPts val="360"/>
              </a:spcBef>
              <a:spcAft>
                <a:spcPts val="0"/>
              </a:spcAft>
              <a:buClr>
                <a:schemeClr val="lt1"/>
              </a:buClr>
              <a:buSzPts val="1800"/>
              <a:buChar char="–"/>
              <a:defRPr sz="1800"/>
            </a:lvl4pPr>
            <a:lvl5pPr marL="2286000" lvl="4" indent="-342900" algn="l">
              <a:spcBef>
                <a:spcPts val="360"/>
              </a:spcBef>
              <a:spcAft>
                <a:spcPts val="0"/>
              </a:spcAft>
              <a:buClr>
                <a:schemeClr val="lt1"/>
              </a:buClr>
              <a:buSzPts val="1800"/>
              <a:buChar char="»"/>
              <a:defRPr sz="1800"/>
            </a:lvl5pPr>
            <a:lvl6pPr marL="2743200" lvl="5" indent="-342900" algn="l">
              <a:spcBef>
                <a:spcPts val="360"/>
              </a:spcBef>
              <a:spcAft>
                <a:spcPts val="0"/>
              </a:spcAft>
              <a:buClr>
                <a:schemeClr val="lt1"/>
              </a:buClr>
              <a:buSzPts val="1800"/>
              <a:buChar char="•"/>
              <a:defRPr sz="1800"/>
            </a:lvl6pPr>
            <a:lvl7pPr marL="3200400" lvl="6" indent="-342900" algn="l">
              <a:spcBef>
                <a:spcPts val="360"/>
              </a:spcBef>
              <a:spcAft>
                <a:spcPts val="0"/>
              </a:spcAft>
              <a:buClr>
                <a:schemeClr val="lt1"/>
              </a:buClr>
              <a:buSzPts val="1800"/>
              <a:buChar char="•"/>
              <a:defRPr sz="1800"/>
            </a:lvl7pPr>
            <a:lvl8pPr marL="3657600" lvl="7" indent="-342900" algn="l">
              <a:spcBef>
                <a:spcPts val="360"/>
              </a:spcBef>
              <a:spcAft>
                <a:spcPts val="0"/>
              </a:spcAft>
              <a:buClr>
                <a:schemeClr val="lt1"/>
              </a:buClr>
              <a:buSzPts val="1800"/>
              <a:buChar char="•"/>
              <a:defRPr sz="1800"/>
            </a:lvl8pPr>
            <a:lvl9pPr marL="4114800" lvl="8" indent="-342900" algn="l">
              <a:spcBef>
                <a:spcPts val="360"/>
              </a:spcBef>
              <a:spcAft>
                <a:spcPts val="0"/>
              </a:spcAft>
              <a:buClr>
                <a:schemeClr val="lt1"/>
              </a:buClr>
              <a:buSzPts val="1800"/>
              <a:buChar char="•"/>
              <a:defRPr sz="1800"/>
            </a:lvl9pPr>
          </a:lstStyle>
          <a:p>
            <a:endParaRPr/>
          </a:p>
        </p:txBody>
      </p:sp>
      <p:sp>
        <p:nvSpPr>
          <p:cNvPr id="36" name="Google Shape;36;p3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lt1"/>
              </a:buClr>
              <a:buSzPts val="2800"/>
              <a:buChar char="•"/>
              <a:defRPr sz="2800"/>
            </a:lvl1pPr>
            <a:lvl2pPr marL="914400" lvl="1" indent="-381000" algn="l">
              <a:spcBef>
                <a:spcPts val="480"/>
              </a:spcBef>
              <a:spcAft>
                <a:spcPts val="0"/>
              </a:spcAft>
              <a:buClr>
                <a:schemeClr val="lt1"/>
              </a:buClr>
              <a:buSzPts val="2400"/>
              <a:buChar char="–"/>
              <a:defRPr sz="2400"/>
            </a:lvl2pPr>
            <a:lvl3pPr marL="1371600" lvl="2" indent="-355600" algn="l">
              <a:spcBef>
                <a:spcPts val="400"/>
              </a:spcBef>
              <a:spcAft>
                <a:spcPts val="0"/>
              </a:spcAft>
              <a:buClr>
                <a:schemeClr val="lt1"/>
              </a:buClr>
              <a:buSzPts val="2000"/>
              <a:buChar char="•"/>
              <a:defRPr sz="2000"/>
            </a:lvl3pPr>
            <a:lvl4pPr marL="1828800" lvl="3" indent="-342900" algn="l">
              <a:spcBef>
                <a:spcPts val="360"/>
              </a:spcBef>
              <a:spcAft>
                <a:spcPts val="0"/>
              </a:spcAft>
              <a:buClr>
                <a:schemeClr val="lt1"/>
              </a:buClr>
              <a:buSzPts val="1800"/>
              <a:buChar char="–"/>
              <a:defRPr sz="1800"/>
            </a:lvl4pPr>
            <a:lvl5pPr marL="2286000" lvl="4" indent="-342900" algn="l">
              <a:spcBef>
                <a:spcPts val="360"/>
              </a:spcBef>
              <a:spcAft>
                <a:spcPts val="0"/>
              </a:spcAft>
              <a:buClr>
                <a:schemeClr val="lt1"/>
              </a:buClr>
              <a:buSzPts val="1800"/>
              <a:buChar char="»"/>
              <a:defRPr sz="1800"/>
            </a:lvl5pPr>
            <a:lvl6pPr marL="2743200" lvl="5" indent="-342900" algn="l">
              <a:spcBef>
                <a:spcPts val="360"/>
              </a:spcBef>
              <a:spcAft>
                <a:spcPts val="0"/>
              </a:spcAft>
              <a:buClr>
                <a:schemeClr val="lt1"/>
              </a:buClr>
              <a:buSzPts val="1800"/>
              <a:buChar char="•"/>
              <a:defRPr sz="1800"/>
            </a:lvl6pPr>
            <a:lvl7pPr marL="3200400" lvl="6" indent="-342900" algn="l">
              <a:spcBef>
                <a:spcPts val="360"/>
              </a:spcBef>
              <a:spcAft>
                <a:spcPts val="0"/>
              </a:spcAft>
              <a:buClr>
                <a:schemeClr val="lt1"/>
              </a:buClr>
              <a:buSzPts val="1800"/>
              <a:buChar char="•"/>
              <a:defRPr sz="1800"/>
            </a:lvl7pPr>
            <a:lvl8pPr marL="3657600" lvl="7" indent="-342900" algn="l">
              <a:spcBef>
                <a:spcPts val="360"/>
              </a:spcBef>
              <a:spcAft>
                <a:spcPts val="0"/>
              </a:spcAft>
              <a:buClr>
                <a:schemeClr val="lt1"/>
              </a:buClr>
              <a:buSzPts val="1800"/>
              <a:buChar char="•"/>
              <a:defRPr sz="1800"/>
            </a:lvl8pPr>
            <a:lvl9pPr marL="4114800" lvl="8" indent="-342900" algn="l">
              <a:spcBef>
                <a:spcPts val="360"/>
              </a:spcBef>
              <a:spcAft>
                <a:spcPts val="0"/>
              </a:spcAft>
              <a:buClr>
                <a:schemeClr val="lt1"/>
              </a:buClr>
              <a:buSzPts val="1800"/>
              <a:buChar char="•"/>
              <a:defRPr sz="1800"/>
            </a:lvl9pPr>
          </a:lstStyle>
          <a:p>
            <a:endParaRPr/>
          </a:p>
        </p:txBody>
      </p:sp>
      <p:sp>
        <p:nvSpPr>
          <p:cNvPr id="37" name="Google Shape;3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lt1"/>
              </a:buClr>
              <a:buSzPts val="2400"/>
              <a:buNone/>
              <a:defRPr sz="2400" b="1"/>
            </a:lvl1pPr>
            <a:lvl2pPr marL="914400" lvl="1" indent="-228600" algn="l">
              <a:spcBef>
                <a:spcPts val="400"/>
              </a:spcBef>
              <a:spcAft>
                <a:spcPts val="0"/>
              </a:spcAft>
              <a:buClr>
                <a:schemeClr val="lt1"/>
              </a:buClr>
              <a:buSzPts val="2000"/>
              <a:buNone/>
              <a:defRPr sz="2000" b="1"/>
            </a:lvl2pPr>
            <a:lvl3pPr marL="1371600" lvl="2" indent="-228600" algn="l">
              <a:spcBef>
                <a:spcPts val="360"/>
              </a:spcBef>
              <a:spcAft>
                <a:spcPts val="0"/>
              </a:spcAft>
              <a:buClr>
                <a:schemeClr val="lt1"/>
              </a:buClr>
              <a:buSzPts val="1800"/>
              <a:buNone/>
              <a:defRPr sz="1800" b="1"/>
            </a:lvl3pPr>
            <a:lvl4pPr marL="1828800" lvl="3" indent="-228600" algn="l">
              <a:spcBef>
                <a:spcPts val="320"/>
              </a:spcBef>
              <a:spcAft>
                <a:spcPts val="0"/>
              </a:spcAft>
              <a:buClr>
                <a:schemeClr val="lt1"/>
              </a:buClr>
              <a:buSzPts val="1600"/>
              <a:buNone/>
              <a:defRPr sz="1600" b="1"/>
            </a:lvl4pPr>
            <a:lvl5pPr marL="2286000" lvl="4" indent="-228600" algn="l">
              <a:spcBef>
                <a:spcPts val="320"/>
              </a:spcBef>
              <a:spcAft>
                <a:spcPts val="0"/>
              </a:spcAft>
              <a:buClr>
                <a:schemeClr val="lt1"/>
              </a:buClr>
              <a:buSzPts val="1600"/>
              <a:buNone/>
              <a:defRPr sz="1600" b="1"/>
            </a:lvl5pPr>
            <a:lvl6pPr marL="2743200" lvl="5" indent="-228600" algn="l">
              <a:spcBef>
                <a:spcPts val="320"/>
              </a:spcBef>
              <a:spcAft>
                <a:spcPts val="0"/>
              </a:spcAft>
              <a:buClr>
                <a:schemeClr val="lt1"/>
              </a:buClr>
              <a:buSzPts val="1600"/>
              <a:buNone/>
              <a:defRPr sz="1600" b="1"/>
            </a:lvl6pPr>
            <a:lvl7pPr marL="3200400" lvl="6" indent="-228600" algn="l">
              <a:spcBef>
                <a:spcPts val="320"/>
              </a:spcBef>
              <a:spcAft>
                <a:spcPts val="0"/>
              </a:spcAft>
              <a:buClr>
                <a:schemeClr val="lt1"/>
              </a:buClr>
              <a:buSzPts val="1600"/>
              <a:buNone/>
              <a:defRPr sz="1600" b="1"/>
            </a:lvl7pPr>
            <a:lvl8pPr marL="3657600" lvl="7" indent="-228600" algn="l">
              <a:spcBef>
                <a:spcPts val="320"/>
              </a:spcBef>
              <a:spcAft>
                <a:spcPts val="0"/>
              </a:spcAft>
              <a:buClr>
                <a:schemeClr val="lt1"/>
              </a:buClr>
              <a:buSzPts val="1600"/>
              <a:buNone/>
              <a:defRPr sz="1600" b="1"/>
            </a:lvl8pPr>
            <a:lvl9pPr marL="4114800" lvl="8" indent="-228600" algn="l">
              <a:spcBef>
                <a:spcPts val="320"/>
              </a:spcBef>
              <a:spcAft>
                <a:spcPts val="0"/>
              </a:spcAft>
              <a:buClr>
                <a:schemeClr val="lt1"/>
              </a:buClr>
              <a:buSzPts val="1600"/>
              <a:buNone/>
              <a:defRPr sz="1600" b="1"/>
            </a:lvl9pPr>
          </a:lstStyle>
          <a:p>
            <a:endParaRPr/>
          </a:p>
        </p:txBody>
      </p:sp>
      <p:sp>
        <p:nvSpPr>
          <p:cNvPr id="43" name="Google Shape;43;p3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lt1"/>
              </a:buClr>
              <a:buSzPts val="2400"/>
              <a:buChar char="•"/>
              <a:defRPr sz="2400"/>
            </a:lvl1pPr>
            <a:lvl2pPr marL="914400" lvl="1" indent="-355600" algn="l">
              <a:spcBef>
                <a:spcPts val="400"/>
              </a:spcBef>
              <a:spcAft>
                <a:spcPts val="0"/>
              </a:spcAft>
              <a:buClr>
                <a:schemeClr val="lt1"/>
              </a:buClr>
              <a:buSzPts val="2000"/>
              <a:buChar char="–"/>
              <a:defRPr sz="2000"/>
            </a:lvl2pPr>
            <a:lvl3pPr marL="1371600" lvl="2" indent="-342900" algn="l">
              <a:spcBef>
                <a:spcPts val="360"/>
              </a:spcBef>
              <a:spcAft>
                <a:spcPts val="0"/>
              </a:spcAft>
              <a:buClr>
                <a:schemeClr val="lt1"/>
              </a:buClr>
              <a:buSzPts val="1800"/>
              <a:buChar char="•"/>
              <a:defRPr sz="1800"/>
            </a:lvl3pPr>
            <a:lvl4pPr marL="1828800" lvl="3" indent="-330200" algn="l">
              <a:spcBef>
                <a:spcPts val="320"/>
              </a:spcBef>
              <a:spcAft>
                <a:spcPts val="0"/>
              </a:spcAft>
              <a:buClr>
                <a:schemeClr val="lt1"/>
              </a:buClr>
              <a:buSzPts val="1600"/>
              <a:buChar char="–"/>
              <a:defRPr sz="1600"/>
            </a:lvl4pPr>
            <a:lvl5pPr marL="2286000" lvl="4" indent="-330200" algn="l">
              <a:spcBef>
                <a:spcPts val="320"/>
              </a:spcBef>
              <a:spcAft>
                <a:spcPts val="0"/>
              </a:spcAft>
              <a:buClr>
                <a:schemeClr val="lt1"/>
              </a:buClr>
              <a:buSzPts val="1600"/>
              <a:buChar char="»"/>
              <a:defRPr sz="1600"/>
            </a:lvl5pPr>
            <a:lvl6pPr marL="2743200" lvl="5" indent="-330200" algn="l">
              <a:spcBef>
                <a:spcPts val="320"/>
              </a:spcBef>
              <a:spcAft>
                <a:spcPts val="0"/>
              </a:spcAft>
              <a:buClr>
                <a:schemeClr val="lt1"/>
              </a:buClr>
              <a:buSzPts val="1600"/>
              <a:buChar char="•"/>
              <a:defRPr sz="1600"/>
            </a:lvl6pPr>
            <a:lvl7pPr marL="3200400" lvl="6" indent="-330200" algn="l">
              <a:spcBef>
                <a:spcPts val="320"/>
              </a:spcBef>
              <a:spcAft>
                <a:spcPts val="0"/>
              </a:spcAft>
              <a:buClr>
                <a:schemeClr val="lt1"/>
              </a:buClr>
              <a:buSzPts val="1600"/>
              <a:buChar char="•"/>
              <a:defRPr sz="1600"/>
            </a:lvl7pPr>
            <a:lvl8pPr marL="3657600" lvl="7" indent="-330200" algn="l">
              <a:spcBef>
                <a:spcPts val="320"/>
              </a:spcBef>
              <a:spcAft>
                <a:spcPts val="0"/>
              </a:spcAft>
              <a:buClr>
                <a:schemeClr val="lt1"/>
              </a:buClr>
              <a:buSzPts val="1600"/>
              <a:buChar char="•"/>
              <a:defRPr sz="1600"/>
            </a:lvl8pPr>
            <a:lvl9pPr marL="4114800" lvl="8" indent="-330200" algn="l">
              <a:spcBef>
                <a:spcPts val="320"/>
              </a:spcBef>
              <a:spcAft>
                <a:spcPts val="0"/>
              </a:spcAft>
              <a:buClr>
                <a:schemeClr val="lt1"/>
              </a:buClr>
              <a:buSzPts val="1600"/>
              <a:buChar char="•"/>
              <a:defRPr sz="1600"/>
            </a:lvl9pPr>
          </a:lstStyle>
          <a:p>
            <a:endParaRPr/>
          </a:p>
        </p:txBody>
      </p:sp>
      <p:sp>
        <p:nvSpPr>
          <p:cNvPr id="44" name="Google Shape;44;p3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lt1"/>
              </a:buClr>
              <a:buSzPts val="2400"/>
              <a:buNone/>
              <a:defRPr sz="2400" b="1"/>
            </a:lvl1pPr>
            <a:lvl2pPr marL="914400" lvl="1" indent="-228600" algn="l">
              <a:spcBef>
                <a:spcPts val="400"/>
              </a:spcBef>
              <a:spcAft>
                <a:spcPts val="0"/>
              </a:spcAft>
              <a:buClr>
                <a:schemeClr val="lt1"/>
              </a:buClr>
              <a:buSzPts val="2000"/>
              <a:buNone/>
              <a:defRPr sz="2000" b="1"/>
            </a:lvl2pPr>
            <a:lvl3pPr marL="1371600" lvl="2" indent="-228600" algn="l">
              <a:spcBef>
                <a:spcPts val="360"/>
              </a:spcBef>
              <a:spcAft>
                <a:spcPts val="0"/>
              </a:spcAft>
              <a:buClr>
                <a:schemeClr val="lt1"/>
              </a:buClr>
              <a:buSzPts val="1800"/>
              <a:buNone/>
              <a:defRPr sz="1800" b="1"/>
            </a:lvl3pPr>
            <a:lvl4pPr marL="1828800" lvl="3" indent="-228600" algn="l">
              <a:spcBef>
                <a:spcPts val="320"/>
              </a:spcBef>
              <a:spcAft>
                <a:spcPts val="0"/>
              </a:spcAft>
              <a:buClr>
                <a:schemeClr val="lt1"/>
              </a:buClr>
              <a:buSzPts val="1600"/>
              <a:buNone/>
              <a:defRPr sz="1600" b="1"/>
            </a:lvl4pPr>
            <a:lvl5pPr marL="2286000" lvl="4" indent="-228600" algn="l">
              <a:spcBef>
                <a:spcPts val="320"/>
              </a:spcBef>
              <a:spcAft>
                <a:spcPts val="0"/>
              </a:spcAft>
              <a:buClr>
                <a:schemeClr val="lt1"/>
              </a:buClr>
              <a:buSzPts val="1600"/>
              <a:buNone/>
              <a:defRPr sz="1600" b="1"/>
            </a:lvl5pPr>
            <a:lvl6pPr marL="2743200" lvl="5" indent="-228600" algn="l">
              <a:spcBef>
                <a:spcPts val="320"/>
              </a:spcBef>
              <a:spcAft>
                <a:spcPts val="0"/>
              </a:spcAft>
              <a:buClr>
                <a:schemeClr val="lt1"/>
              </a:buClr>
              <a:buSzPts val="1600"/>
              <a:buNone/>
              <a:defRPr sz="1600" b="1"/>
            </a:lvl6pPr>
            <a:lvl7pPr marL="3200400" lvl="6" indent="-228600" algn="l">
              <a:spcBef>
                <a:spcPts val="320"/>
              </a:spcBef>
              <a:spcAft>
                <a:spcPts val="0"/>
              </a:spcAft>
              <a:buClr>
                <a:schemeClr val="lt1"/>
              </a:buClr>
              <a:buSzPts val="1600"/>
              <a:buNone/>
              <a:defRPr sz="1600" b="1"/>
            </a:lvl7pPr>
            <a:lvl8pPr marL="3657600" lvl="7" indent="-228600" algn="l">
              <a:spcBef>
                <a:spcPts val="320"/>
              </a:spcBef>
              <a:spcAft>
                <a:spcPts val="0"/>
              </a:spcAft>
              <a:buClr>
                <a:schemeClr val="lt1"/>
              </a:buClr>
              <a:buSzPts val="1600"/>
              <a:buNone/>
              <a:defRPr sz="1600" b="1"/>
            </a:lvl8pPr>
            <a:lvl9pPr marL="4114800" lvl="8" indent="-228600" algn="l">
              <a:spcBef>
                <a:spcPts val="320"/>
              </a:spcBef>
              <a:spcAft>
                <a:spcPts val="0"/>
              </a:spcAft>
              <a:buClr>
                <a:schemeClr val="lt1"/>
              </a:buClr>
              <a:buSzPts val="1600"/>
              <a:buNone/>
              <a:defRPr sz="1600" b="1"/>
            </a:lvl9pPr>
          </a:lstStyle>
          <a:p>
            <a:endParaRPr/>
          </a:p>
        </p:txBody>
      </p:sp>
      <p:sp>
        <p:nvSpPr>
          <p:cNvPr id="45" name="Google Shape;45;p3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lt1"/>
              </a:buClr>
              <a:buSzPts val="2400"/>
              <a:buChar char="•"/>
              <a:defRPr sz="2400"/>
            </a:lvl1pPr>
            <a:lvl2pPr marL="914400" lvl="1" indent="-355600" algn="l">
              <a:spcBef>
                <a:spcPts val="400"/>
              </a:spcBef>
              <a:spcAft>
                <a:spcPts val="0"/>
              </a:spcAft>
              <a:buClr>
                <a:schemeClr val="lt1"/>
              </a:buClr>
              <a:buSzPts val="2000"/>
              <a:buChar char="–"/>
              <a:defRPr sz="2000"/>
            </a:lvl2pPr>
            <a:lvl3pPr marL="1371600" lvl="2" indent="-342900" algn="l">
              <a:spcBef>
                <a:spcPts val="360"/>
              </a:spcBef>
              <a:spcAft>
                <a:spcPts val="0"/>
              </a:spcAft>
              <a:buClr>
                <a:schemeClr val="lt1"/>
              </a:buClr>
              <a:buSzPts val="1800"/>
              <a:buChar char="•"/>
              <a:defRPr sz="1800"/>
            </a:lvl3pPr>
            <a:lvl4pPr marL="1828800" lvl="3" indent="-330200" algn="l">
              <a:spcBef>
                <a:spcPts val="320"/>
              </a:spcBef>
              <a:spcAft>
                <a:spcPts val="0"/>
              </a:spcAft>
              <a:buClr>
                <a:schemeClr val="lt1"/>
              </a:buClr>
              <a:buSzPts val="1600"/>
              <a:buChar char="–"/>
              <a:defRPr sz="1600"/>
            </a:lvl4pPr>
            <a:lvl5pPr marL="2286000" lvl="4" indent="-330200" algn="l">
              <a:spcBef>
                <a:spcPts val="320"/>
              </a:spcBef>
              <a:spcAft>
                <a:spcPts val="0"/>
              </a:spcAft>
              <a:buClr>
                <a:schemeClr val="lt1"/>
              </a:buClr>
              <a:buSzPts val="1600"/>
              <a:buChar char="»"/>
              <a:defRPr sz="1600"/>
            </a:lvl5pPr>
            <a:lvl6pPr marL="2743200" lvl="5" indent="-330200" algn="l">
              <a:spcBef>
                <a:spcPts val="320"/>
              </a:spcBef>
              <a:spcAft>
                <a:spcPts val="0"/>
              </a:spcAft>
              <a:buClr>
                <a:schemeClr val="lt1"/>
              </a:buClr>
              <a:buSzPts val="1600"/>
              <a:buChar char="•"/>
              <a:defRPr sz="1600"/>
            </a:lvl6pPr>
            <a:lvl7pPr marL="3200400" lvl="6" indent="-330200" algn="l">
              <a:spcBef>
                <a:spcPts val="320"/>
              </a:spcBef>
              <a:spcAft>
                <a:spcPts val="0"/>
              </a:spcAft>
              <a:buClr>
                <a:schemeClr val="lt1"/>
              </a:buClr>
              <a:buSzPts val="1600"/>
              <a:buChar char="•"/>
              <a:defRPr sz="1600"/>
            </a:lvl7pPr>
            <a:lvl8pPr marL="3657600" lvl="7" indent="-330200" algn="l">
              <a:spcBef>
                <a:spcPts val="320"/>
              </a:spcBef>
              <a:spcAft>
                <a:spcPts val="0"/>
              </a:spcAft>
              <a:buClr>
                <a:schemeClr val="lt1"/>
              </a:buClr>
              <a:buSzPts val="1600"/>
              <a:buChar char="•"/>
              <a:defRPr sz="1600"/>
            </a:lvl8pPr>
            <a:lvl9pPr marL="4114800" lvl="8" indent="-330200" algn="l">
              <a:spcBef>
                <a:spcPts val="320"/>
              </a:spcBef>
              <a:spcAft>
                <a:spcPts val="0"/>
              </a:spcAft>
              <a:buClr>
                <a:schemeClr val="lt1"/>
              </a:buClr>
              <a:buSzPts val="1600"/>
              <a:buChar char="•"/>
              <a:defRPr sz="1600"/>
            </a:lvl9pPr>
          </a:lstStyle>
          <a:p>
            <a:endParaRPr/>
          </a:p>
        </p:txBody>
      </p:sp>
      <p:sp>
        <p:nvSpPr>
          <p:cNvPr id="46" name="Google Shape;46;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49"/>
        <p:cNvGrpSpPr/>
        <p:nvPr/>
      </p:nvGrpSpPr>
      <p:grpSpPr>
        <a:xfrm>
          <a:off x="0" y="0"/>
          <a:ext cx="0" cy="0"/>
          <a:chOff x="0" y="0"/>
          <a:chExt cx="0" cy="0"/>
        </a:xfrm>
      </p:grpSpPr>
      <p:sp>
        <p:nvSpPr>
          <p:cNvPr id="50" name="Google Shape;50;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lt1"/>
              </a:buClr>
              <a:buSzPts val="3200"/>
              <a:buChar char="•"/>
              <a:defRPr sz="3200"/>
            </a:lvl1pPr>
            <a:lvl2pPr marL="914400" lvl="1" indent="-406400" algn="l">
              <a:spcBef>
                <a:spcPts val="560"/>
              </a:spcBef>
              <a:spcAft>
                <a:spcPts val="0"/>
              </a:spcAft>
              <a:buClr>
                <a:schemeClr val="lt1"/>
              </a:buClr>
              <a:buSzPts val="2800"/>
              <a:buChar char="–"/>
              <a:defRPr sz="2800"/>
            </a:lvl2pPr>
            <a:lvl3pPr marL="1371600" lvl="2" indent="-381000" algn="l">
              <a:spcBef>
                <a:spcPts val="480"/>
              </a:spcBef>
              <a:spcAft>
                <a:spcPts val="0"/>
              </a:spcAft>
              <a:buClr>
                <a:schemeClr val="lt1"/>
              </a:buClr>
              <a:buSzPts val="2400"/>
              <a:buChar char="•"/>
              <a:defRPr sz="2400"/>
            </a:lvl3pPr>
            <a:lvl4pPr marL="1828800" lvl="3" indent="-355600" algn="l">
              <a:spcBef>
                <a:spcPts val="400"/>
              </a:spcBef>
              <a:spcAft>
                <a:spcPts val="0"/>
              </a:spcAft>
              <a:buClr>
                <a:schemeClr val="lt1"/>
              </a:buClr>
              <a:buSzPts val="2000"/>
              <a:buChar char="–"/>
              <a:defRPr sz="2000"/>
            </a:lvl4pPr>
            <a:lvl5pPr marL="2286000" lvl="4" indent="-355600" algn="l">
              <a:spcBef>
                <a:spcPts val="400"/>
              </a:spcBef>
              <a:spcAft>
                <a:spcPts val="0"/>
              </a:spcAft>
              <a:buClr>
                <a:schemeClr val="lt1"/>
              </a:buClr>
              <a:buSzPts val="2000"/>
              <a:buChar char="»"/>
              <a:defRPr sz="2000"/>
            </a:lvl5pPr>
            <a:lvl6pPr marL="2743200" lvl="5" indent="-355600" algn="l">
              <a:spcBef>
                <a:spcPts val="400"/>
              </a:spcBef>
              <a:spcAft>
                <a:spcPts val="0"/>
              </a:spcAft>
              <a:buClr>
                <a:schemeClr val="lt1"/>
              </a:buClr>
              <a:buSzPts val="2000"/>
              <a:buChar char="•"/>
              <a:defRPr sz="2000"/>
            </a:lvl6pPr>
            <a:lvl7pPr marL="3200400" lvl="6" indent="-355600" algn="l">
              <a:spcBef>
                <a:spcPts val="400"/>
              </a:spcBef>
              <a:spcAft>
                <a:spcPts val="0"/>
              </a:spcAft>
              <a:buClr>
                <a:schemeClr val="lt1"/>
              </a:buClr>
              <a:buSzPts val="2000"/>
              <a:buChar char="•"/>
              <a:defRPr sz="2000"/>
            </a:lvl7pPr>
            <a:lvl8pPr marL="3657600" lvl="7" indent="-355600" algn="l">
              <a:spcBef>
                <a:spcPts val="400"/>
              </a:spcBef>
              <a:spcAft>
                <a:spcPts val="0"/>
              </a:spcAft>
              <a:buClr>
                <a:schemeClr val="lt1"/>
              </a:buClr>
              <a:buSzPts val="2000"/>
              <a:buChar char="•"/>
              <a:defRPr sz="2000"/>
            </a:lvl8pPr>
            <a:lvl9pPr marL="4114800" lvl="8" indent="-355600" algn="l">
              <a:spcBef>
                <a:spcPts val="400"/>
              </a:spcBef>
              <a:spcAft>
                <a:spcPts val="0"/>
              </a:spcAft>
              <a:buClr>
                <a:schemeClr val="lt1"/>
              </a:buClr>
              <a:buSzPts val="2000"/>
              <a:buChar char="•"/>
              <a:defRPr sz="2000"/>
            </a:lvl9pPr>
          </a:lstStyle>
          <a:p>
            <a:endParaRPr/>
          </a:p>
        </p:txBody>
      </p:sp>
      <p:sp>
        <p:nvSpPr>
          <p:cNvPr id="61" name="Google Shape;61;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lt1"/>
              </a:buClr>
              <a:buSzPts val="1400"/>
              <a:buNone/>
              <a:defRPr sz="1400"/>
            </a:lvl1pPr>
            <a:lvl2pPr marL="914400" lvl="1" indent="-228600" algn="l">
              <a:spcBef>
                <a:spcPts val="240"/>
              </a:spcBef>
              <a:spcAft>
                <a:spcPts val="0"/>
              </a:spcAft>
              <a:buClr>
                <a:schemeClr val="lt1"/>
              </a:buClr>
              <a:buSzPts val="1200"/>
              <a:buNone/>
              <a:defRPr sz="1200"/>
            </a:lvl2pPr>
            <a:lvl3pPr marL="1371600" lvl="2" indent="-228600" algn="l">
              <a:spcBef>
                <a:spcPts val="200"/>
              </a:spcBef>
              <a:spcAft>
                <a:spcPts val="0"/>
              </a:spcAft>
              <a:buClr>
                <a:schemeClr val="lt1"/>
              </a:buClr>
              <a:buSzPts val="1000"/>
              <a:buNone/>
              <a:defRPr sz="1000"/>
            </a:lvl3pPr>
            <a:lvl4pPr marL="1828800" lvl="3" indent="-228600" algn="l">
              <a:spcBef>
                <a:spcPts val="180"/>
              </a:spcBef>
              <a:spcAft>
                <a:spcPts val="0"/>
              </a:spcAft>
              <a:buClr>
                <a:schemeClr val="lt1"/>
              </a:buClr>
              <a:buSzPts val="900"/>
              <a:buNone/>
              <a:defRPr sz="900"/>
            </a:lvl4pPr>
            <a:lvl5pPr marL="2286000" lvl="4" indent="-228600" algn="l">
              <a:spcBef>
                <a:spcPts val="180"/>
              </a:spcBef>
              <a:spcAft>
                <a:spcPts val="0"/>
              </a:spcAft>
              <a:buClr>
                <a:schemeClr val="lt1"/>
              </a:buClr>
              <a:buSzPts val="900"/>
              <a:buNone/>
              <a:defRPr sz="900"/>
            </a:lvl5pPr>
            <a:lvl6pPr marL="2743200" lvl="5" indent="-228600" algn="l">
              <a:spcBef>
                <a:spcPts val="180"/>
              </a:spcBef>
              <a:spcAft>
                <a:spcPts val="0"/>
              </a:spcAft>
              <a:buClr>
                <a:schemeClr val="lt1"/>
              </a:buClr>
              <a:buSzPts val="900"/>
              <a:buNone/>
              <a:defRPr sz="900"/>
            </a:lvl6pPr>
            <a:lvl7pPr marL="3200400" lvl="6" indent="-228600" algn="l">
              <a:spcBef>
                <a:spcPts val="180"/>
              </a:spcBef>
              <a:spcAft>
                <a:spcPts val="0"/>
              </a:spcAft>
              <a:buClr>
                <a:schemeClr val="lt1"/>
              </a:buClr>
              <a:buSzPts val="900"/>
              <a:buNone/>
              <a:defRPr sz="900"/>
            </a:lvl7pPr>
            <a:lvl8pPr marL="3657600" lvl="7" indent="-228600" algn="l">
              <a:spcBef>
                <a:spcPts val="180"/>
              </a:spcBef>
              <a:spcAft>
                <a:spcPts val="0"/>
              </a:spcAft>
              <a:buClr>
                <a:schemeClr val="lt1"/>
              </a:buClr>
              <a:buSzPts val="900"/>
              <a:buNone/>
              <a:defRPr sz="900"/>
            </a:lvl8pPr>
            <a:lvl9pPr marL="4114800" lvl="8" indent="-228600" algn="l">
              <a:spcBef>
                <a:spcPts val="180"/>
              </a:spcBef>
              <a:spcAft>
                <a:spcPts val="0"/>
              </a:spcAft>
              <a:buClr>
                <a:schemeClr val="lt1"/>
              </a:buClr>
              <a:buSzPts val="900"/>
              <a:buNone/>
              <a:defRPr sz="900"/>
            </a:lvl9pPr>
          </a:lstStyle>
          <a:p>
            <a:endParaRPr/>
          </a:p>
        </p:txBody>
      </p:sp>
      <p:sp>
        <p:nvSpPr>
          <p:cNvPr id="62" name="Google Shape;6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3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8"/>
          <p:cNvSpPr>
            <a:spLocks noGrp="1"/>
          </p:cNvSpPr>
          <p:nvPr>
            <p:ph type="pic" idx="2"/>
          </p:nvPr>
        </p:nvSpPr>
        <p:spPr>
          <a:xfrm>
            <a:off x="1792288" y="612775"/>
            <a:ext cx="5486400" cy="4114800"/>
          </a:xfrm>
          <a:prstGeom prst="rect">
            <a:avLst/>
          </a:prstGeom>
          <a:noFill/>
          <a:ln>
            <a:noFill/>
          </a:ln>
        </p:spPr>
      </p:sp>
      <p:sp>
        <p:nvSpPr>
          <p:cNvPr id="68" name="Google Shape;68;p3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lt1"/>
              </a:buClr>
              <a:buSzPts val="1400"/>
              <a:buNone/>
              <a:defRPr sz="1400"/>
            </a:lvl1pPr>
            <a:lvl2pPr marL="914400" lvl="1" indent="-228600" algn="l">
              <a:spcBef>
                <a:spcPts val="240"/>
              </a:spcBef>
              <a:spcAft>
                <a:spcPts val="0"/>
              </a:spcAft>
              <a:buClr>
                <a:schemeClr val="lt1"/>
              </a:buClr>
              <a:buSzPts val="1200"/>
              <a:buNone/>
              <a:defRPr sz="1200"/>
            </a:lvl2pPr>
            <a:lvl3pPr marL="1371600" lvl="2" indent="-228600" algn="l">
              <a:spcBef>
                <a:spcPts val="200"/>
              </a:spcBef>
              <a:spcAft>
                <a:spcPts val="0"/>
              </a:spcAft>
              <a:buClr>
                <a:schemeClr val="lt1"/>
              </a:buClr>
              <a:buSzPts val="1000"/>
              <a:buNone/>
              <a:defRPr sz="1000"/>
            </a:lvl3pPr>
            <a:lvl4pPr marL="1828800" lvl="3" indent="-228600" algn="l">
              <a:spcBef>
                <a:spcPts val="180"/>
              </a:spcBef>
              <a:spcAft>
                <a:spcPts val="0"/>
              </a:spcAft>
              <a:buClr>
                <a:schemeClr val="lt1"/>
              </a:buClr>
              <a:buSzPts val="900"/>
              <a:buNone/>
              <a:defRPr sz="900"/>
            </a:lvl4pPr>
            <a:lvl5pPr marL="2286000" lvl="4" indent="-228600" algn="l">
              <a:spcBef>
                <a:spcPts val="180"/>
              </a:spcBef>
              <a:spcAft>
                <a:spcPts val="0"/>
              </a:spcAft>
              <a:buClr>
                <a:schemeClr val="lt1"/>
              </a:buClr>
              <a:buSzPts val="900"/>
              <a:buNone/>
              <a:defRPr sz="900"/>
            </a:lvl5pPr>
            <a:lvl6pPr marL="2743200" lvl="5" indent="-228600" algn="l">
              <a:spcBef>
                <a:spcPts val="180"/>
              </a:spcBef>
              <a:spcAft>
                <a:spcPts val="0"/>
              </a:spcAft>
              <a:buClr>
                <a:schemeClr val="lt1"/>
              </a:buClr>
              <a:buSzPts val="900"/>
              <a:buNone/>
              <a:defRPr sz="900"/>
            </a:lvl6pPr>
            <a:lvl7pPr marL="3200400" lvl="6" indent="-228600" algn="l">
              <a:spcBef>
                <a:spcPts val="180"/>
              </a:spcBef>
              <a:spcAft>
                <a:spcPts val="0"/>
              </a:spcAft>
              <a:buClr>
                <a:schemeClr val="lt1"/>
              </a:buClr>
              <a:buSzPts val="900"/>
              <a:buNone/>
              <a:defRPr sz="900"/>
            </a:lvl7pPr>
            <a:lvl8pPr marL="3657600" lvl="7" indent="-228600" algn="l">
              <a:spcBef>
                <a:spcPts val="180"/>
              </a:spcBef>
              <a:spcAft>
                <a:spcPts val="0"/>
              </a:spcAft>
              <a:buClr>
                <a:schemeClr val="lt1"/>
              </a:buClr>
              <a:buSzPts val="900"/>
              <a:buNone/>
              <a:defRPr sz="900"/>
            </a:lvl8pPr>
            <a:lvl9pPr marL="4114800" lvl="8" indent="-228600" algn="l">
              <a:spcBef>
                <a:spcPts val="180"/>
              </a:spcBef>
              <a:spcAft>
                <a:spcPts val="0"/>
              </a:spcAft>
              <a:buClr>
                <a:schemeClr val="lt1"/>
              </a:buClr>
              <a:buSzPts val="900"/>
              <a:buNone/>
              <a:defRPr sz="900"/>
            </a:lvl9pPr>
          </a:lstStyle>
          <a:p>
            <a:endParaRPr/>
          </a:p>
        </p:txBody>
      </p:sp>
      <p:sp>
        <p:nvSpPr>
          <p:cNvPr id="69" name="Google Shape;69;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5" name="Google Shape;75;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4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81" name="Google Shape;8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lt1"/>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spcBef>
                <a:spcPts val="560"/>
              </a:spcBef>
              <a:spcAft>
                <a:spcPts val="0"/>
              </a:spcAft>
              <a:buClr>
                <a:schemeClr val="lt1"/>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6pPr>
            <a:lvl7pPr marL="3200400" marR="0" lvl="6"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7pPr>
            <a:lvl8pPr marL="3657600" marR="0" lvl="7"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8pPr>
            <a:lvl9pPr marL="4114800" marR="0" lvl="8" indent="-355600" algn="l" rtl="0">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9pPr>
          </a:lstStyle>
          <a:p>
            <a:endParaRPr/>
          </a:p>
        </p:txBody>
      </p:sp>
      <p:sp>
        <p:nvSpPr>
          <p:cNvPr id="12" name="Google Shape;12;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3" name="Google Shape;13;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Resultado de imagen para glandula tiroides"/>
          <p:cNvPicPr preferRelativeResize="0"/>
          <p:nvPr/>
        </p:nvPicPr>
        <p:blipFill rotWithShape="1">
          <a:blip r:embed="rId3">
            <a:alphaModFix/>
          </a:blip>
          <a:srcRect/>
          <a:stretch/>
        </p:blipFill>
        <p:spPr>
          <a:xfrm>
            <a:off x="0" y="0"/>
            <a:ext cx="9202178" cy="5357826"/>
          </a:xfrm>
          <a:prstGeom prst="rect">
            <a:avLst/>
          </a:prstGeom>
          <a:noFill/>
          <a:ln>
            <a:noFill/>
          </a:ln>
        </p:spPr>
      </p:pic>
      <p:sp>
        <p:nvSpPr>
          <p:cNvPr id="89" name="Google Shape;89;p1"/>
          <p:cNvSpPr txBox="1">
            <a:spLocks noGrp="1"/>
          </p:cNvSpPr>
          <p:nvPr>
            <p:ph type="ctrTitle"/>
          </p:nvPr>
        </p:nvSpPr>
        <p:spPr>
          <a:xfrm>
            <a:off x="685800" y="3533828"/>
            <a:ext cx="7772400" cy="2008200"/>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s-AR" sz="6300" b="1">
                <a:solidFill>
                  <a:schemeClr val="dk1"/>
                </a:solidFill>
              </a:rPr>
              <a:t>NÓDULO TIROIDEO</a:t>
            </a:r>
            <a:endParaRPr sz="6300" b="1">
              <a:solidFill>
                <a:schemeClr val="dk1"/>
              </a:solidFill>
            </a:endParaRPr>
          </a:p>
        </p:txBody>
      </p:sp>
      <p:sp>
        <p:nvSpPr>
          <p:cNvPr id="90" name="Google Shape;90;p1"/>
          <p:cNvSpPr txBox="1"/>
          <p:nvPr/>
        </p:nvSpPr>
        <p:spPr>
          <a:xfrm>
            <a:off x="-1" y="5387975"/>
            <a:ext cx="9144000" cy="1470000"/>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800"/>
              <a:buFont typeface="Calibri"/>
              <a:buNone/>
            </a:pPr>
            <a:r>
              <a:rPr lang="es-AR" sz="2800" b="1" dirty="0" err="1">
                <a:solidFill>
                  <a:srgbClr val="FFFF00"/>
                </a:solidFill>
                <a:latin typeface="Calibri"/>
                <a:ea typeface="Calibri"/>
                <a:cs typeface="Calibri"/>
                <a:sym typeface="Calibri"/>
              </a:rPr>
              <a:t>Dr</a:t>
            </a:r>
            <a:r>
              <a:rPr lang="es-AR" sz="2800" b="1" dirty="0">
                <a:solidFill>
                  <a:srgbClr val="FFFF00"/>
                </a:solidFill>
                <a:latin typeface="Calibri"/>
                <a:ea typeface="Calibri"/>
                <a:cs typeface="Calibri"/>
                <a:sym typeface="Calibri"/>
              </a:rPr>
              <a:t>: </a:t>
            </a:r>
            <a:r>
              <a:rPr lang="es-AR" sz="2800" b="1" dirty="0" err="1">
                <a:solidFill>
                  <a:srgbClr val="FFFF00"/>
                </a:solidFill>
                <a:latin typeface="Calibri"/>
                <a:ea typeface="Calibri"/>
                <a:cs typeface="Calibri"/>
                <a:sym typeface="Calibri"/>
              </a:rPr>
              <a:t>Malco</a:t>
            </a:r>
            <a:r>
              <a:rPr lang="es-AR" sz="2800" b="1" dirty="0">
                <a:solidFill>
                  <a:srgbClr val="FFFF00"/>
                </a:solidFill>
                <a:latin typeface="Calibri"/>
                <a:ea typeface="Calibri"/>
                <a:cs typeface="Calibri"/>
                <a:sym typeface="Calibri"/>
              </a:rPr>
              <a:t> </a:t>
            </a:r>
            <a:r>
              <a:rPr lang="es-AR" sz="2800" b="1" dirty="0" err="1">
                <a:solidFill>
                  <a:srgbClr val="FFFF00"/>
                </a:solidFill>
                <a:latin typeface="Calibri"/>
                <a:ea typeface="Calibri"/>
                <a:cs typeface="Calibri"/>
                <a:sym typeface="Calibri"/>
              </a:rPr>
              <a:t>Rubin</a:t>
            </a:r>
            <a:endParaRPr b="1" dirty="0">
              <a:solidFill>
                <a:srgbClr val="FFFF00"/>
              </a:solidFill>
            </a:endParaRPr>
          </a:p>
          <a:p>
            <a:pPr marL="0" marR="0" lvl="0" indent="0" algn="ctr" rtl="0">
              <a:lnSpc>
                <a:spcPct val="100000"/>
              </a:lnSpc>
              <a:spcBef>
                <a:spcPts val="0"/>
              </a:spcBef>
              <a:spcAft>
                <a:spcPts val="0"/>
              </a:spcAft>
              <a:buClr>
                <a:schemeClr val="lt1"/>
              </a:buClr>
              <a:buSzPts val="2800"/>
              <a:buFont typeface="Calibri"/>
              <a:buNone/>
            </a:pPr>
            <a:r>
              <a:rPr lang="es-AR" sz="2800" b="1" dirty="0">
                <a:solidFill>
                  <a:srgbClr val="FFFF00"/>
                </a:solidFill>
                <a:latin typeface="Calibri"/>
                <a:ea typeface="Calibri"/>
                <a:cs typeface="Calibri"/>
                <a:sym typeface="Calibri"/>
              </a:rPr>
              <a:t>CÁTEDRA MEDICINA INTERNA III</a:t>
            </a:r>
            <a:r>
              <a:rPr lang="es-AR" sz="2800" b="1" i="0" u="none" strike="noStrike" cap="none" dirty="0">
                <a:solidFill>
                  <a:srgbClr val="FFFF00"/>
                </a:solidFill>
                <a:latin typeface="Calibri"/>
                <a:ea typeface="Calibri"/>
                <a:cs typeface="Calibri"/>
                <a:sym typeface="Calibri"/>
              </a:rPr>
              <a:t> </a:t>
            </a:r>
            <a:endParaRPr b="1" dirty="0">
              <a:solidFill>
                <a:srgbClr val="FFFF00"/>
              </a:solidFill>
            </a:endParaRPr>
          </a:p>
          <a:p>
            <a:pPr marL="0" marR="0" lvl="0" indent="0" algn="ctr" rtl="0">
              <a:lnSpc>
                <a:spcPct val="100000"/>
              </a:lnSpc>
              <a:spcBef>
                <a:spcPts val="0"/>
              </a:spcBef>
              <a:spcAft>
                <a:spcPts val="0"/>
              </a:spcAft>
              <a:buClr>
                <a:schemeClr val="lt1"/>
              </a:buClr>
              <a:buSzPts val="2800"/>
              <a:buFont typeface="Calibri"/>
              <a:buNone/>
            </a:pPr>
            <a:endParaRPr sz="2800" b="1" i="0" u="none" strike="noStrike" cap="none">
              <a:solidFill>
                <a:srgbClr val="FFFF00"/>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p:nvPr/>
        </p:nvSpPr>
        <p:spPr>
          <a:xfrm>
            <a:off x="1000800" y="1826850"/>
            <a:ext cx="7142400" cy="3204300"/>
          </a:xfrm>
          <a:prstGeom prst="rect">
            <a:avLst/>
          </a:prstGeom>
          <a:solidFill>
            <a:schemeClr val="accent1"/>
          </a:solidFill>
          <a:ln w="25400" cap="flat" cmpd="sng">
            <a:solidFill>
              <a:schemeClr val="lt1"/>
            </a:solidFill>
            <a:prstDash val="solid"/>
            <a:round/>
            <a:headEnd type="none" w="sm" len="sm"/>
            <a:tailEnd type="none" w="sm" len="sm"/>
          </a:ln>
          <a:effectLst>
            <a:outerShdw blurRad="57150" dist="19050" dir="5400000" algn="bl" rotWithShape="0">
              <a:srgbClr val="FFFF00">
                <a:alpha val="80000"/>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3500" b="1">
                <a:solidFill>
                  <a:schemeClr val="lt1"/>
                </a:solidFill>
                <a:latin typeface="Calibri"/>
                <a:ea typeface="Calibri"/>
                <a:cs typeface="Calibri"/>
                <a:sym typeface="Calibri"/>
              </a:rPr>
              <a:t>C</a:t>
            </a:r>
            <a:r>
              <a:rPr lang="es-AR" sz="3500" b="1" i="0" u="none" strike="noStrike" cap="none">
                <a:solidFill>
                  <a:schemeClr val="lt1"/>
                </a:solidFill>
                <a:latin typeface="Calibri"/>
                <a:ea typeface="Calibri"/>
                <a:cs typeface="Calibri"/>
                <a:sym typeface="Calibri"/>
              </a:rPr>
              <a:t>recimiento anormal </a:t>
            </a:r>
            <a:r>
              <a:rPr lang="es-AR" sz="3500" b="1">
                <a:solidFill>
                  <a:schemeClr val="lt1"/>
                </a:solidFill>
                <a:latin typeface="Calibri"/>
                <a:ea typeface="Calibri"/>
                <a:cs typeface="Calibri"/>
                <a:sym typeface="Calibri"/>
              </a:rPr>
              <a:t>y focal </a:t>
            </a:r>
            <a:r>
              <a:rPr lang="es-AR" sz="3500" b="1" i="0" u="none" strike="noStrike" cap="none">
                <a:solidFill>
                  <a:schemeClr val="lt1"/>
                </a:solidFill>
                <a:latin typeface="Calibri"/>
                <a:ea typeface="Calibri"/>
                <a:cs typeface="Calibri"/>
                <a:sym typeface="Calibri"/>
              </a:rPr>
              <a:t>de las células de la tiroides que forma un masa dentro de la glándula tiroides.</a:t>
            </a:r>
            <a:endParaRPr sz="3500" b="1"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560425" y="239913"/>
            <a:ext cx="8229600" cy="1143000"/>
          </a:xfrm>
          <a:prstGeom prst="rect">
            <a:avLst/>
          </a:prstGeom>
          <a:noFill/>
          <a:ln>
            <a:noFill/>
          </a:ln>
          <a:effectLst>
            <a:outerShdw blurRad="57150" dist="19050" dir="5400000" algn="bl" rotWithShape="0">
              <a:srgbClr val="000000">
                <a:alpha val="5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4400"/>
              <a:buFont typeface="Calibri"/>
              <a:buNone/>
            </a:pPr>
            <a:r>
              <a:rPr lang="es-AR" sz="4600" b="1">
                <a:solidFill>
                  <a:srgbClr val="FFFF00"/>
                </a:solidFill>
              </a:rPr>
              <a:t>IMPORTANCIA</a:t>
            </a:r>
            <a:endParaRPr sz="4600" b="1">
              <a:solidFill>
                <a:srgbClr val="FFFF00"/>
              </a:solidFill>
            </a:endParaRPr>
          </a:p>
        </p:txBody>
      </p:sp>
      <p:sp>
        <p:nvSpPr>
          <p:cNvPr id="103" name="Google Shape;103;p3"/>
          <p:cNvSpPr txBox="1">
            <a:spLocks noGrp="1"/>
          </p:cNvSpPr>
          <p:nvPr>
            <p:ph type="body" idx="1"/>
          </p:nvPr>
        </p:nvSpPr>
        <p:spPr>
          <a:xfrm>
            <a:off x="457200" y="1600200"/>
            <a:ext cx="8229600" cy="4525963"/>
          </a:xfrm>
          <a:prstGeom prst="rect">
            <a:avLst/>
          </a:prstGeom>
          <a:noFill/>
          <a:ln>
            <a:noFill/>
          </a:ln>
          <a:effectLst>
            <a:outerShdw blurRad="57150" dist="19050" dir="9420000" algn="bl" rotWithShape="0">
              <a:srgbClr val="FF0000">
                <a:alpha val="58000"/>
              </a:srgbClr>
            </a:outerShdw>
          </a:effectLst>
        </p:spPr>
        <p:txBody>
          <a:bodyPr spcFirstLastPara="1" wrap="square" lIns="91425" tIns="45700" rIns="91425" bIns="45700" anchor="t" anchorCtr="0">
            <a:normAutofit/>
          </a:bodyPr>
          <a:lstStyle/>
          <a:p>
            <a:pPr marL="342900" lvl="0" indent="-342900" algn="ctr" rtl="0">
              <a:spcBef>
                <a:spcPts val="0"/>
              </a:spcBef>
              <a:spcAft>
                <a:spcPts val="0"/>
              </a:spcAft>
              <a:buClr>
                <a:schemeClr val="lt1"/>
              </a:buClr>
              <a:buSzPts val="3200"/>
              <a:buChar char="•"/>
            </a:pPr>
            <a:r>
              <a:rPr lang="es-AR"/>
              <a:t>Aunque la gran mayoría de los nódulos tiroideos son</a:t>
            </a:r>
            <a:r>
              <a:rPr lang="es-AR">
                <a:solidFill>
                  <a:srgbClr val="FFFF00"/>
                </a:solidFill>
              </a:rPr>
              <a:t> benignos</a:t>
            </a:r>
            <a:r>
              <a:rPr lang="es-AR"/>
              <a:t> 🡪 una pequeña proporción contiene cáncer de tiroides. </a:t>
            </a:r>
            <a:endParaRPr/>
          </a:p>
          <a:p>
            <a:pPr marL="342900" lvl="0" indent="-139700" algn="ctr" rtl="0">
              <a:spcBef>
                <a:spcPts val="640"/>
              </a:spcBef>
              <a:spcAft>
                <a:spcPts val="0"/>
              </a:spcAft>
              <a:buClr>
                <a:schemeClr val="lt1"/>
              </a:buClr>
              <a:buSzPts val="3200"/>
              <a:buNone/>
            </a:pPr>
            <a:endParaRPr/>
          </a:p>
          <a:p>
            <a:pPr marL="342900" lvl="0" indent="-342900" algn="ctr" rtl="0">
              <a:spcBef>
                <a:spcPts val="640"/>
              </a:spcBef>
              <a:spcAft>
                <a:spcPts val="0"/>
              </a:spcAft>
              <a:buClr>
                <a:schemeClr val="lt1"/>
              </a:buClr>
              <a:buSzPts val="3200"/>
              <a:buChar char="•"/>
            </a:pPr>
            <a:r>
              <a:rPr lang="es-AR"/>
              <a:t>Con el fin de diagnosticar y tratar el cáncer de tiroides en la etapa más temprana 🡪 la mayoría de los nódulos de la tiroides necesitan algún tipo de evaluación.</a:t>
            </a:r>
            <a:endParaRPr/>
          </a:p>
          <a:p>
            <a:pPr marL="342900" lvl="0" indent="-139700" algn="ctr" rtl="0">
              <a:spcBef>
                <a:spcPts val="640"/>
              </a:spcBef>
              <a:spcAft>
                <a:spcPts val="0"/>
              </a:spcAft>
              <a:buClr>
                <a:schemeClr val="lt1"/>
              </a:buClr>
              <a:buSzPts val="3200"/>
              <a:buNone/>
            </a:pP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body" idx="1"/>
          </p:nvPr>
        </p:nvSpPr>
        <p:spPr>
          <a:xfrm>
            <a:off x="457200" y="500042"/>
            <a:ext cx="8229600" cy="5626121"/>
          </a:xfrm>
          <a:prstGeom prst="rect">
            <a:avLst/>
          </a:prstGeom>
          <a:noFill/>
          <a:ln>
            <a:noFill/>
          </a:ln>
          <a:effectLst>
            <a:outerShdw blurRad="57150" dist="19050" dir="5400000" algn="bl" rotWithShape="0">
              <a:srgbClr val="FF0000">
                <a:alpha val="51000"/>
              </a:srgbClr>
            </a:outerShdw>
          </a:effectLst>
        </p:spPr>
        <p:txBody>
          <a:bodyPr spcFirstLastPara="1" wrap="square" lIns="91425" tIns="45700" rIns="91425" bIns="45700" anchor="t" anchorCtr="0">
            <a:normAutofit fontScale="32500" lnSpcReduction="20000"/>
          </a:bodyPr>
          <a:lstStyle/>
          <a:p>
            <a:pPr marL="457200" lvl="0" indent="-373062" algn="just" rtl="0">
              <a:spcBef>
                <a:spcPts val="0"/>
              </a:spcBef>
              <a:spcAft>
                <a:spcPts val="0"/>
              </a:spcAft>
              <a:buSzPct val="100000"/>
              <a:buChar char="●"/>
            </a:pPr>
            <a:r>
              <a:rPr lang="es-AR" sz="7000" b="1">
                <a:latin typeface="Arial"/>
                <a:ea typeface="Arial"/>
                <a:cs typeface="Arial"/>
                <a:sym typeface="Arial"/>
              </a:rPr>
              <a:t>Prevalencia de Nódulo palpables </a:t>
            </a:r>
            <a:endParaRPr b="1">
              <a:latin typeface="Arial"/>
              <a:ea typeface="Arial"/>
              <a:cs typeface="Arial"/>
              <a:sym typeface="Arial"/>
            </a:endParaRPr>
          </a:p>
          <a:p>
            <a:pPr marL="800100" lvl="0" indent="-309562" algn="just" rtl="0">
              <a:spcBef>
                <a:spcPts val="560"/>
              </a:spcBef>
              <a:spcAft>
                <a:spcPts val="0"/>
              </a:spcAft>
              <a:buClr>
                <a:schemeClr val="lt1"/>
              </a:buClr>
              <a:buSzPct val="100000"/>
              <a:buChar char="🡪"/>
            </a:pPr>
            <a:r>
              <a:rPr lang="es-AR" sz="7000" b="1">
                <a:latin typeface="Arial"/>
                <a:ea typeface="Arial"/>
                <a:cs typeface="Arial"/>
                <a:sym typeface="Arial"/>
              </a:rPr>
              <a:t>5% en Mujeres  (5-6 /1)</a:t>
            </a:r>
            <a:endParaRPr b="1">
              <a:latin typeface="Arial"/>
              <a:ea typeface="Arial"/>
              <a:cs typeface="Arial"/>
              <a:sym typeface="Arial"/>
            </a:endParaRPr>
          </a:p>
          <a:p>
            <a:pPr marL="800100" lvl="0" indent="-309562" algn="just" rtl="0">
              <a:spcBef>
                <a:spcPts val="560"/>
              </a:spcBef>
              <a:spcAft>
                <a:spcPts val="0"/>
              </a:spcAft>
              <a:buClr>
                <a:schemeClr val="lt1"/>
              </a:buClr>
              <a:buSzPct val="100000"/>
              <a:buChar char="🡪"/>
            </a:pPr>
            <a:r>
              <a:rPr lang="es-AR" sz="7000" b="1">
                <a:latin typeface="Arial"/>
                <a:ea typeface="Arial"/>
                <a:cs typeface="Arial"/>
                <a:sym typeface="Arial"/>
              </a:rPr>
              <a:t>1% en Hombres </a:t>
            </a:r>
            <a:endParaRPr b="1">
              <a:latin typeface="Arial"/>
              <a:ea typeface="Arial"/>
              <a:cs typeface="Arial"/>
              <a:sym typeface="Arial"/>
            </a:endParaRPr>
          </a:p>
          <a:p>
            <a:pPr marL="342900" lvl="0" indent="-165100" algn="just" rtl="0">
              <a:spcBef>
                <a:spcPts val="560"/>
              </a:spcBef>
              <a:spcAft>
                <a:spcPts val="0"/>
              </a:spcAft>
              <a:buClr>
                <a:schemeClr val="lt1"/>
              </a:buClr>
              <a:buSzPct val="100000"/>
              <a:buFont typeface="Noto Sans Symbols"/>
              <a:buNone/>
            </a:pPr>
            <a:endParaRPr sz="7000" b="1">
              <a:latin typeface="Arial"/>
              <a:ea typeface="Arial"/>
              <a:cs typeface="Arial"/>
              <a:sym typeface="Arial"/>
            </a:endParaRPr>
          </a:p>
          <a:p>
            <a:pPr marL="457200" lvl="0" indent="-373062" algn="just" rtl="0">
              <a:spcBef>
                <a:spcPts val="560"/>
              </a:spcBef>
              <a:spcAft>
                <a:spcPts val="0"/>
              </a:spcAft>
              <a:buSzPct val="100000"/>
              <a:buChar char="●"/>
            </a:pPr>
            <a:r>
              <a:rPr lang="es-AR" sz="7000" b="1">
                <a:latin typeface="Arial"/>
                <a:ea typeface="Arial"/>
                <a:cs typeface="Arial"/>
                <a:sym typeface="Arial"/>
              </a:rPr>
              <a:t>Ultrasonido </a:t>
            </a:r>
            <a:endParaRPr b="1">
              <a:latin typeface="Arial"/>
              <a:ea typeface="Arial"/>
              <a:cs typeface="Arial"/>
              <a:sym typeface="Arial"/>
            </a:endParaRPr>
          </a:p>
          <a:p>
            <a:pPr marL="800100" lvl="0" indent="-342900" algn="just" rtl="0">
              <a:spcBef>
                <a:spcPts val="560"/>
              </a:spcBef>
              <a:spcAft>
                <a:spcPts val="0"/>
              </a:spcAft>
              <a:buClr>
                <a:schemeClr val="lt1"/>
              </a:buClr>
              <a:buSzPct val="100000"/>
              <a:buNone/>
            </a:pPr>
            <a:r>
              <a:rPr lang="es-AR" sz="7000" b="1">
                <a:latin typeface="Arial"/>
                <a:ea typeface="Arial"/>
                <a:cs typeface="Arial"/>
                <a:sym typeface="Arial"/>
              </a:rPr>
              <a:t>🡪 19-68% Personas al azar</a:t>
            </a:r>
            <a:endParaRPr b="1">
              <a:latin typeface="Arial"/>
              <a:ea typeface="Arial"/>
              <a:cs typeface="Arial"/>
              <a:sym typeface="Arial"/>
            </a:endParaRPr>
          </a:p>
          <a:p>
            <a:pPr marL="800100" lvl="0" indent="-342900" algn="just" rtl="0">
              <a:spcBef>
                <a:spcPts val="560"/>
              </a:spcBef>
              <a:spcAft>
                <a:spcPts val="0"/>
              </a:spcAft>
              <a:buClr>
                <a:schemeClr val="lt1"/>
              </a:buClr>
              <a:buSzPct val="100000"/>
              <a:buNone/>
            </a:pPr>
            <a:r>
              <a:rPr lang="es-AR" sz="7000" b="1">
                <a:latin typeface="Arial"/>
                <a:ea typeface="Arial"/>
                <a:cs typeface="Arial"/>
                <a:sym typeface="Arial"/>
              </a:rPr>
              <a:t>🡪 50-70%   &gt; 60 años</a:t>
            </a:r>
            <a:endParaRPr sz="7000" b="1">
              <a:latin typeface="Arial"/>
              <a:ea typeface="Arial"/>
              <a:cs typeface="Arial"/>
              <a:sym typeface="Arial"/>
            </a:endParaRPr>
          </a:p>
          <a:p>
            <a:pPr marL="342900" lvl="0" indent="-342900" algn="just" rtl="0">
              <a:spcBef>
                <a:spcPts val="560"/>
              </a:spcBef>
              <a:spcAft>
                <a:spcPts val="0"/>
              </a:spcAft>
              <a:buClr>
                <a:schemeClr val="lt1"/>
              </a:buClr>
              <a:buSzPct val="100000"/>
              <a:buNone/>
            </a:pPr>
            <a:endParaRPr sz="7000" b="1">
              <a:latin typeface="Arial"/>
              <a:ea typeface="Arial"/>
              <a:cs typeface="Arial"/>
              <a:sym typeface="Arial"/>
            </a:endParaRPr>
          </a:p>
          <a:p>
            <a:pPr marL="457200" lvl="0" indent="-373062" algn="just" rtl="0">
              <a:spcBef>
                <a:spcPts val="560"/>
              </a:spcBef>
              <a:spcAft>
                <a:spcPts val="0"/>
              </a:spcAft>
              <a:buSzPct val="100000"/>
              <a:buChar char="●"/>
            </a:pPr>
            <a:r>
              <a:rPr lang="es-AR" sz="7000" b="1">
                <a:latin typeface="Arial"/>
                <a:ea typeface="Arial"/>
                <a:cs typeface="Arial"/>
                <a:sym typeface="Arial"/>
              </a:rPr>
              <a:t> Importancia Clínica </a:t>
            </a:r>
            <a:endParaRPr b="1">
              <a:latin typeface="Arial"/>
              <a:ea typeface="Arial"/>
              <a:cs typeface="Arial"/>
              <a:sym typeface="Arial"/>
            </a:endParaRPr>
          </a:p>
          <a:p>
            <a:pPr marL="800100" lvl="0" indent="-309562" algn="just" rtl="0">
              <a:spcBef>
                <a:spcPts val="560"/>
              </a:spcBef>
              <a:spcAft>
                <a:spcPts val="0"/>
              </a:spcAft>
              <a:buClr>
                <a:schemeClr val="lt1"/>
              </a:buClr>
              <a:buSzPct val="100000"/>
              <a:buChar char="🡪"/>
            </a:pPr>
            <a:r>
              <a:rPr lang="es-AR" sz="7000" b="1">
                <a:latin typeface="Arial"/>
                <a:ea typeface="Arial"/>
                <a:cs typeface="Arial"/>
                <a:sym typeface="Arial"/>
              </a:rPr>
              <a:t>Descartar Cáncer de tiroides: 5-10% </a:t>
            </a:r>
            <a:endParaRPr sz="7000" b="1">
              <a:latin typeface="Arial"/>
              <a:ea typeface="Arial"/>
              <a:cs typeface="Arial"/>
              <a:sym typeface="Arial"/>
            </a:endParaRPr>
          </a:p>
          <a:p>
            <a:pPr marL="0" lvl="0" indent="0" algn="just" rtl="0">
              <a:spcBef>
                <a:spcPts val="560"/>
              </a:spcBef>
              <a:spcAft>
                <a:spcPts val="0"/>
              </a:spcAft>
              <a:buNone/>
            </a:pPr>
            <a:endParaRPr sz="7000" b="1">
              <a:latin typeface="Arial"/>
              <a:ea typeface="Arial"/>
              <a:cs typeface="Arial"/>
              <a:sym typeface="Arial"/>
            </a:endParaRPr>
          </a:p>
          <a:p>
            <a:pPr marL="457200" lvl="0" indent="-373062" algn="just" rtl="0">
              <a:spcBef>
                <a:spcPts val="560"/>
              </a:spcBef>
              <a:spcAft>
                <a:spcPts val="0"/>
              </a:spcAft>
              <a:buSzPct val="100000"/>
              <a:buChar char="●"/>
            </a:pPr>
            <a:r>
              <a:rPr lang="es-AR" sz="7000" b="1">
                <a:latin typeface="Arial"/>
                <a:ea typeface="Arial"/>
                <a:cs typeface="Arial"/>
                <a:sym typeface="Arial"/>
              </a:rPr>
              <a:t>Factores de riesgo</a:t>
            </a:r>
            <a:endParaRPr sz="7000" b="1">
              <a:latin typeface="Arial"/>
              <a:ea typeface="Arial"/>
              <a:cs typeface="Arial"/>
              <a:sym typeface="Arial"/>
            </a:endParaRPr>
          </a:p>
          <a:p>
            <a:pPr marL="457200" lvl="0" indent="0" algn="just" rtl="0">
              <a:spcBef>
                <a:spcPts val="560"/>
              </a:spcBef>
              <a:spcAft>
                <a:spcPts val="0"/>
              </a:spcAft>
              <a:buNone/>
            </a:pPr>
            <a:r>
              <a:rPr lang="es-AR" sz="7000" b="1">
                <a:latin typeface="Arial"/>
                <a:ea typeface="Arial"/>
                <a:cs typeface="Arial"/>
                <a:sym typeface="Arial"/>
              </a:rPr>
              <a:t>Edad, Sexo, Exposición a radiación, Historia familiar y otros factores. </a:t>
            </a:r>
            <a:endParaRPr b="1">
              <a:latin typeface="Arial"/>
              <a:ea typeface="Arial"/>
              <a:cs typeface="Arial"/>
              <a:sym typeface="Arial"/>
            </a:endParaRPr>
          </a:p>
          <a:p>
            <a:pPr marL="0" lvl="0" indent="0" algn="just" rtl="0">
              <a:spcBef>
                <a:spcPts val="768"/>
              </a:spcBef>
              <a:spcAft>
                <a:spcPts val="0"/>
              </a:spcAft>
              <a:buClr>
                <a:schemeClr val="lt1"/>
              </a:buClr>
              <a:buSzPct val="100000"/>
              <a:buNone/>
            </a:pPr>
            <a:endParaRPr sz="9600"/>
          </a:p>
        </p:txBody>
      </p:sp>
      <p:sp>
        <p:nvSpPr>
          <p:cNvPr id="110" name="Google Shape;110;p4"/>
          <p:cNvSpPr/>
          <p:nvPr/>
        </p:nvSpPr>
        <p:spPr>
          <a:xfrm>
            <a:off x="1464126" y="5575825"/>
            <a:ext cx="1417800" cy="850500"/>
          </a:xfrm>
          <a:prstGeom prst="rect">
            <a:avLst/>
          </a:prstGeom>
          <a:gradFill>
            <a:gsLst>
              <a:gs pos="0">
                <a:srgbClr val="992D2B"/>
              </a:gs>
              <a:gs pos="80000">
                <a:srgbClr val="C93D39"/>
              </a:gs>
              <a:gs pos="100000">
                <a:srgbClr val="CD3A36"/>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1800" b="1" i="0" u="none" strike="noStrike" cap="none">
                <a:solidFill>
                  <a:schemeClr val="lt1"/>
                </a:solidFill>
              </a:rPr>
              <a:t>Ancianos</a:t>
            </a:r>
            <a:endParaRPr sz="1800" b="1" i="0" u="none" strike="noStrike" cap="none">
              <a:solidFill>
                <a:schemeClr val="lt1"/>
              </a:solidFill>
              <a:latin typeface="Calibri"/>
              <a:ea typeface="Calibri"/>
              <a:cs typeface="Calibri"/>
              <a:sym typeface="Calibri"/>
            </a:endParaRPr>
          </a:p>
        </p:txBody>
      </p:sp>
      <p:sp>
        <p:nvSpPr>
          <p:cNvPr id="111" name="Google Shape;111;p4"/>
          <p:cNvSpPr/>
          <p:nvPr/>
        </p:nvSpPr>
        <p:spPr>
          <a:xfrm>
            <a:off x="3053555" y="5575775"/>
            <a:ext cx="1417800" cy="850500"/>
          </a:xfrm>
          <a:prstGeom prst="rect">
            <a:avLst/>
          </a:prstGeom>
          <a:gradFill>
            <a:gsLst>
              <a:gs pos="0">
                <a:srgbClr val="759336"/>
              </a:gs>
              <a:gs pos="80000">
                <a:srgbClr val="99C247"/>
              </a:gs>
              <a:gs pos="100000">
                <a:srgbClr val="9BC545"/>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1800" b="1" i="0" u="none" strike="noStrike" cap="none">
                <a:solidFill>
                  <a:schemeClr val="lt1"/>
                </a:solidFill>
              </a:rPr>
              <a:t>Mujeres</a:t>
            </a:r>
            <a:endParaRPr b="1"/>
          </a:p>
        </p:txBody>
      </p:sp>
      <p:sp>
        <p:nvSpPr>
          <p:cNvPr id="112" name="Google Shape;112;p4"/>
          <p:cNvSpPr/>
          <p:nvPr/>
        </p:nvSpPr>
        <p:spPr>
          <a:xfrm>
            <a:off x="4628008" y="5575775"/>
            <a:ext cx="1417800" cy="850500"/>
          </a:xfrm>
          <a:prstGeom prst="rect">
            <a:avLst/>
          </a:prstGeom>
          <a:gradFill>
            <a:gsLst>
              <a:gs pos="0">
                <a:srgbClr val="5D427D"/>
              </a:gs>
              <a:gs pos="80000">
                <a:srgbClr val="7A57A5"/>
              </a:gs>
              <a:gs pos="100000">
                <a:srgbClr val="7A56A7"/>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1800" b="1" i="0" u="none" strike="noStrike" cap="none">
                <a:solidFill>
                  <a:schemeClr val="lt1"/>
                </a:solidFill>
              </a:rPr>
              <a:t>Déficit de </a:t>
            </a:r>
            <a:r>
              <a:rPr lang="es-AR" sz="1800" b="1">
                <a:solidFill>
                  <a:schemeClr val="lt1"/>
                </a:solidFill>
              </a:rPr>
              <a:t>yodo</a:t>
            </a:r>
            <a:endParaRPr b="1"/>
          </a:p>
        </p:txBody>
      </p:sp>
      <p:sp>
        <p:nvSpPr>
          <p:cNvPr id="113" name="Google Shape;113;p4"/>
          <p:cNvSpPr/>
          <p:nvPr/>
        </p:nvSpPr>
        <p:spPr>
          <a:xfrm>
            <a:off x="6202449" y="5575725"/>
            <a:ext cx="1417800" cy="850500"/>
          </a:xfrm>
          <a:prstGeom prst="rect">
            <a:avLst/>
          </a:prstGeom>
          <a:gradFill>
            <a:gsLst>
              <a:gs pos="0">
                <a:srgbClr val="29859E"/>
              </a:gs>
              <a:gs pos="80000">
                <a:srgbClr val="36B0D0"/>
              </a:gs>
              <a:gs pos="100000">
                <a:srgbClr val="33B3D5"/>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1800" b="1" i="0" u="none" strike="noStrike" cap="none">
                <a:solidFill>
                  <a:schemeClr val="lt1"/>
                </a:solidFill>
              </a:rPr>
              <a:t>Historia de </a:t>
            </a:r>
            <a:r>
              <a:rPr lang="es-AR" sz="1800" b="1">
                <a:solidFill>
                  <a:schemeClr val="lt1"/>
                </a:solidFill>
              </a:rPr>
              <a:t>irradiación</a:t>
            </a:r>
            <a:r>
              <a:rPr lang="es-AR" sz="1800" b="1" i="0" u="none" strike="noStrike" cap="none">
                <a:solidFill>
                  <a:schemeClr val="lt1"/>
                </a:solidFill>
              </a:rPr>
              <a:t> cervical</a:t>
            </a:r>
            <a:endParaRPr sz="1800" b="1" i="0" u="none" strike="noStrike" cap="none">
              <a:solidFill>
                <a:schemeClr val="lt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5"/>
          <p:cNvPicPr preferRelativeResize="0"/>
          <p:nvPr/>
        </p:nvPicPr>
        <p:blipFill>
          <a:blip r:embed="rId3">
            <a:alphaModFix/>
          </a:blip>
          <a:stretch>
            <a:fillRect/>
          </a:stretch>
        </p:blipFill>
        <p:spPr>
          <a:xfrm>
            <a:off x="152400" y="944187"/>
            <a:ext cx="8839202" cy="4969624"/>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txBox="1">
            <a:spLocks noGrp="1"/>
          </p:cNvSpPr>
          <p:nvPr>
            <p:ph type="title"/>
          </p:nvPr>
        </p:nvSpPr>
        <p:spPr>
          <a:xfrm>
            <a:off x="457200" y="457188"/>
            <a:ext cx="8229600" cy="1143000"/>
          </a:xfrm>
          <a:prstGeom prst="rect">
            <a:avLst/>
          </a:prstGeom>
          <a:noFill/>
          <a:ln>
            <a:noFill/>
          </a:ln>
          <a:effectLst>
            <a:outerShdw blurRad="57150" dist="19050" dir="5400000" algn="bl" rotWithShape="0">
              <a:srgbClr val="FFFF00">
                <a:alpha val="6600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4400"/>
              <a:buFont typeface="Calibri"/>
              <a:buNone/>
            </a:pPr>
            <a:r>
              <a:rPr lang="es-AR" b="1"/>
              <a:t>CAUSAS</a:t>
            </a:r>
            <a:endParaRPr b="1"/>
          </a:p>
        </p:txBody>
      </p:sp>
      <p:sp>
        <p:nvSpPr>
          <p:cNvPr id="125" name="Google Shape;125;p6"/>
          <p:cNvSpPr/>
          <p:nvPr/>
        </p:nvSpPr>
        <p:spPr>
          <a:xfrm>
            <a:off x="457200" y="1600200"/>
            <a:ext cx="8229600" cy="47577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0"/>
                </a:moveTo>
                <a:close/>
                <a:lnTo>
                  <a:pt x="-10000" y="120000"/>
                </a:lnTo>
              </a:path>
              <a:path w="120000" h="120000" fill="none" extrusionOk="0">
                <a:moveTo>
                  <a:pt x="-10000" y="22500"/>
                </a:moveTo>
                <a:lnTo>
                  <a:pt x="-46000" y="135000"/>
                </a:lnTo>
              </a:path>
            </a:pathLst>
          </a:custGeom>
          <a:noFill/>
          <a:ln>
            <a:noFill/>
          </a:ln>
        </p:spPr>
        <p:txBody>
          <a:bodyPr spcFirstLastPara="1" wrap="square" lIns="91425" tIns="45700" rIns="91425" bIns="45700" anchor="ctr" anchorCtr="1">
            <a:noAutofit/>
          </a:bodyPr>
          <a:lstStyle/>
          <a:p>
            <a:pPr marL="0" marR="0" lvl="0" indent="0" algn="l" rtl="0">
              <a:lnSpc>
                <a:spcPct val="75000"/>
              </a:lnSpc>
              <a:spcBef>
                <a:spcPts val="240"/>
              </a:spcBef>
              <a:spcAft>
                <a:spcPts val="0"/>
              </a:spcAft>
              <a:buNone/>
            </a:pPr>
            <a:endParaRPr sz="2400" b="0" i="0" u="none" strike="noStrike" cap="none">
              <a:solidFill>
                <a:schemeClr val="lt1"/>
              </a:solidFill>
              <a:latin typeface="Arial"/>
              <a:ea typeface="Arial"/>
              <a:cs typeface="Arial"/>
              <a:sym typeface="Arial"/>
            </a:endParaRPr>
          </a:p>
        </p:txBody>
      </p:sp>
      <p:graphicFrame>
        <p:nvGraphicFramePr>
          <p:cNvPr id="126" name="Google Shape;126;p6"/>
          <p:cNvGraphicFramePr/>
          <p:nvPr/>
        </p:nvGraphicFramePr>
        <p:xfrm>
          <a:off x="330050" y="1690225"/>
          <a:ext cx="8356750" cy="4592050"/>
        </p:xfrm>
        <a:graphic>
          <a:graphicData uri="http://schemas.openxmlformats.org/drawingml/2006/table">
            <a:tbl>
              <a:tblPr>
                <a:noFill/>
                <a:tableStyleId>{B79A9032-1570-415A-AF83-EC0DC1F35DBC}</a:tableStyleId>
              </a:tblPr>
              <a:tblGrid>
                <a:gridCol w="4178375"/>
                <a:gridCol w="4178375"/>
              </a:tblGrid>
              <a:tr h="4592050">
                <a:tc>
                  <a:txBody>
                    <a:bodyPr/>
                    <a:lstStyle/>
                    <a:p>
                      <a:pPr marL="0" lvl="0" indent="0" algn="l" rtl="0">
                        <a:lnSpc>
                          <a:spcPct val="75000"/>
                        </a:lnSpc>
                        <a:spcBef>
                          <a:spcPts val="0"/>
                        </a:spcBef>
                        <a:spcAft>
                          <a:spcPts val="0"/>
                        </a:spcAft>
                        <a:buNone/>
                      </a:pPr>
                      <a:endParaRPr sz="4000">
                        <a:solidFill>
                          <a:schemeClr val="lt1"/>
                        </a:solidFill>
                        <a:latin typeface="Calibri"/>
                        <a:ea typeface="Calibri"/>
                        <a:cs typeface="Calibri"/>
                        <a:sym typeface="Calibri"/>
                      </a:endParaRPr>
                    </a:p>
                    <a:p>
                      <a:pPr marL="914400" lvl="0" indent="0" algn="l" rtl="0">
                        <a:lnSpc>
                          <a:spcPct val="75000"/>
                        </a:lnSpc>
                        <a:spcBef>
                          <a:spcPts val="0"/>
                        </a:spcBef>
                        <a:spcAft>
                          <a:spcPts val="0"/>
                        </a:spcAft>
                        <a:buNone/>
                      </a:pPr>
                      <a:r>
                        <a:rPr lang="es-AR" sz="4000" b="1">
                          <a:solidFill>
                            <a:srgbClr val="FFFF00"/>
                          </a:solidFill>
                          <a:latin typeface="Calibri"/>
                          <a:ea typeface="Calibri"/>
                          <a:cs typeface="Calibri"/>
                          <a:sym typeface="Calibri"/>
                        </a:rPr>
                        <a:t>Benignos</a:t>
                      </a:r>
                      <a:r>
                        <a:rPr lang="es-AR" sz="4400" b="1">
                          <a:solidFill>
                            <a:srgbClr val="FFFF00"/>
                          </a:solidFill>
                          <a:latin typeface="Calibri"/>
                          <a:ea typeface="Calibri"/>
                          <a:cs typeface="Calibri"/>
                          <a:sym typeface="Calibri"/>
                        </a:rPr>
                        <a:t> </a:t>
                      </a:r>
                      <a:endParaRPr sz="4400" b="1">
                        <a:solidFill>
                          <a:srgbClr val="FFFF00"/>
                        </a:solidFill>
                        <a:latin typeface="Calibri"/>
                        <a:ea typeface="Calibri"/>
                        <a:cs typeface="Calibri"/>
                        <a:sym typeface="Calibri"/>
                      </a:endParaRPr>
                    </a:p>
                    <a:p>
                      <a:pPr marL="1371600" lvl="0" indent="0" algn="l" rtl="0">
                        <a:lnSpc>
                          <a:spcPct val="75000"/>
                        </a:lnSpc>
                        <a:spcBef>
                          <a:spcPts val="440"/>
                        </a:spcBef>
                        <a:spcAft>
                          <a:spcPts val="0"/>
                        </a:spcAft>
                        <a:buNone/>
                      </a:pPr>
                      <a:endParaRPr sz="2400">
                        <a:solidFill>
                          <a:schemeClr val="lt1"/>
                        </a:solidFill>
                        <a:latin typeface="Calibri"/>
                        <a:ea typeface="Calibri"/>
                        <a:cs typeface="Calibri"/>
                        <a:sym typeface="Calibri"/>
                      </a:endParaRPr>
                    </a:p>
                    <a:p>
                      <a:pPr marL="228600" lvl="2" indent="-152400" algn="ctr" rtl="0">
                        <a:lnSpc>
                          <a:spcPct val="75000"/>
                        </a:lnSpc>
                        <a:spcBef>
                          <a:spcPts val="440"/>
                        </a:spcBef>
                        <a:spcAft>
                          <a:spcPts val="0"/>
                        </a:spcAft>
                        <a:buClr>
                          <a:schemeClr val="lt1"/>
                        </a:buClr>
                        <a:buSzPts val="2400"/>
                        <a:buChar char="•"/>
                      </a:pPr>
                      <a:r>
                        <a:rPr lang="es-AR" sz="2400">
                          <a:solidFill>
                            <a:schemeClr val="lt1"/>
                          </a:solidFill>
                        </a:rPr>
                        <a:t>  Bocio multinodular</a:t>
                      </a:r>
                      <a:endParaRPr sz="2400">
                        <a:solidFill>
                          <a:schemeClr val="lt1"/>
                        </a:solidFill>
                      </a:endParaRPr>
                    </a:p>
                    <a:p>
                      <a:pPr marL="228600" lvl="2" indent="-152400" algn="ctr" rtl="0">
                        <a:lnSpc>
                          <a:spcPct val="75000"/>
                        </a:lnSpc>
                        <a:spcBef>
                          <a:spcPts val="240"/>
                        </a:spcBef>
                        <a:spcAft>
                          <a:spcPts val="0"/>
                        </a:spcAft>
                        <a:buClr>
                          <a:schemeClr val="lt1"/>
                        </a:buClr>
                        <a:buSzPts val="2400"/>
                        <a:buChar char="•"/>
                      </a:pPr>
                      <a:r>
                        <a:rPr lang="es-AR" sz="2400">
                          <a:solidFill>
                            <a:schemeClr val="lt1"/>
                          </a:solidFill>
                        </a:rPr>
                        <a:t>  Tiroiditis de hashimoto</a:t>
                      </a:r>
                      <a:endParaRPr sz="2400">
                        <a:solidFill>
                          <a:schemeClr val="lt1"/>
                        </a:solidFill>
                      </a:endParaRPr>
                    </a:p>
                    <a:p>
                      <a:pPr marL="228600" lvl="2" indent="-152400" algn="ctr" rtl="0">
                        <a:lnSpc>
                          <a:spcPct val="75000"/>
                        </a:lnSpc>
                        <a:spcBef>
                          <a:spcPts val="240"/>
                        </a:spcBef>
                        <a:spcAft>
                          <a:spcPts val="0"/>
                        </a:spcAft>
                        <a:buClr>
                          <a:schemeClr val="lt1"/>
                        </a:buClr>
                        <a:buSzPts val="2400"/>
                        <a:buChar char="•"/>
                      </a:pPr>
                      <a:r>
                        <a:rPr lang="es-AR" sz="2400">
                          <a:solidFill>
                            <a:schemeClr val="lt1"/>
                          </a:solidFill>
                        </a:rPr>
                        <a:t>  Quistes simples o                    hemorrágicos</a:t>
                      </a:r>
                      <a:endParaRPr sz="2400">
                        <a:solidFill>
                          <a:schemeClr val="lt1"/>
                        </a:solidFill>
                      </a:endParaRPr>
                    </a:p>
                    <a:p>
                      <a:pPr marL="228600" lvl="2" indent="-152400" algn="ctr" rtl="0">
                        <a:lnSpc>
                          <a:spcPct val="75000"/>
                        </a:lnSpc>
                        <a:spcBef>
                          <a:spcPts val="240"/>
                        </a:spcBef>
                        <a:spcAft>
                          <a:spcPts val="0"/>
                        </a:spcAft>
                        <a:buClr>
                          <a:schemeClr val="lt1"/>
                        </a:buClr>
                        <a:buSzPts val="2400"/>
                        <a:buChar char="•"/>
                      </a:pPr>
                      <a:r>
                        <a:rPr lang="es-AR" sz="2400">
                          <a:solidFill>
                            <a:schemeClr val="lt1"/>
                          </a:solidFill>
                        </a:rPr>
                        <a:t>  Adenomas foliculares</a:t>
                      </a:r>
                      <a:endParaRPr>
                        <a:solidFill>
                          <a:schemeClr val="dk1"/>
                        </a:solidFill>
                      </a:endParaRPr>
                    </a:p>
                    <a:p>
                      <a:pPr marL="228600" lvl="2" indent="-152400" algn="ctr" rtl="0">
                        <a:lnSpc>
                          <a:spcPct val="75000"/>
                        </a:lnSpc>
                        <a:spcBef>
                          <a:spcPts val="240"/>
                        </a:spcBef>
                        <a:spcAft>
                          <a:spcPts val="0"/>
                        </a:spcAft>
                        <a:buClr>
                          <a:schemeClr val="lt1"/>
                        </a:buClr>
                        <a:buSzPts val="2400"/>
                        <a:buChar char="•"/>
                      </a:pPr>
                      <a:r>
                        <a:rPr lang="es-AR" sz="2400">
                          <a:solidFill>
                            <a:schemeClr val="lt1"/>
                          </a:solidFill>
                        </a:rPr>
                        <a:t>  Tiroiditis subaguda</a:t>
                      </a:r>
                      <a:endParaRPr sz="4000">
                        <a:solidFill>
                          <a:schemeClr val="lt1"/>
                        </a:solidFill>
                      </a:endParaRPr>
                    </a:p>
                  </a:txBody>
                  <a:tcPr marL="91425" marR="91425" marT="91425" marB="91425">
                    <a:lnL w="114300" cap="flat" cmpd="sng">
                      <a:solidFill>
                        <a:srgbClr val="6D9EEB"/>
                      </a:solidFill>
                      <a:prstDash val="solid"/>
                      <a:round/>
                      <a:headEnd type="none" w="sm" len="sm"/>
                      <a:tailEnd type="none" w="sm" len="sm"/>
                    </a:lnL>
                    <a:lnR w="114300" cap="flat" cmpd="sng">
                      <a:solidFill>
                        <a:srgbClr val="6D9EEB"/>
                      </a:solidFill>
                      <a:prstDash val="solid"/>
                      <a:round/>
                      <a:headEnd type="none" w="sm" len="sm"/>
                      <a:tailEnd type="none" w="sm" len="sm"/>
                    </a:lnR>
                    <a:lnT w="114300" cap="flat" cmpd="sng">
                      <a:solidFill>
                        <a:srgbClr val="6D9EEB"/>
                      </a:solidFill>
                      <a:prstDash val="solid"/>
                      <a:round/>
                      <a:headEnd type="none" w="sm" len="sm"/>
                      <a:tailEnd type="none" w="sm" len="sm"/>
                    </a:lnT>
                    <a:lnB w="114300" cap="flat" cmpd="sng">
                      <a:solidFill>
                        <a:srgbClr val="6D9EEB"/>
                      </a:solidFill>
                      <a:prstDash val="solid"/>
                      <a:round/>
                      <a:headEnd type="none" w="sm" len="sm"/>
                      <a:tailEnd type="none" w="sm" len="sm"/>
                    </a:lnB>
                  </a:tcPr>
                </a:tc>
                <a:tc>
                  <a:txBody>
                    <a:bodyPr/>
                    <a:lstStyle/>
                    <a:p>
                      <a:pPr marL="0" lvl="1" indent="0" algn="l" rtl="0">
                        <a:lnSpc>
                          <a:spcPct val="75000"/>
                        </a:lnSpc>
                        <a:spcBef>
                          <a:spcPts val="240"/>
                        </a:spcBef>
                        <a:spcAft>
                          <a:spcPts val="0"/>
                        </a:spcAft>
                        <a:buClr>
                          <a:schemeClr val="lt1"/>
                        </a:buClr>
                        <a:buSzPts val="1800"/>
                        <a:buFont typeface="Calibri"/>
                        <a:buNone/>
                      </a:pPr>
                      <a:endParaRPr sz="4000">
                        <a:solidFill>
                          <a:schemeClr val="lt1"/>
                        </a:solidFill>
                        <a:latin typeface="Calibri"/>
                        <a:ea typeface="Calibri"/>
                        <a:cs typeface="Calibri"/>
                        <a:sym typeface="Calibri"/>
                      </a:endParaRPr>
                    </a:p>
                    <a:p>
                      <a:pPr marL="914400" lvl="0" indent="0" algn="l" rtl="0">
                        <a:lnSpc>
                          <a:spcPct val="75000"/>
                        </a:lnSpc>
                        <a:spcBef>
                          <a:spcPts val="180"/>
                        </a:spcBef>
                        <a:spcAft>
                          <a:spcPts val="0"/>
                        </a:spcAft>
                        <a:buNone/>
                      </a:pPr>
                      <a:r>
                        <a:rPr lang="es-AR" sz="4000" b="1">
                          <a:solidFill>
                            <a:srgbClr val="FFFF00"/>
                          </a:solidFill>
                          <a:latin typeface="Calibri"/>
                          <a:ea typeface="Calibri"/>
                          <a:cs typeface="Calibri"/>
                          <a:sym typeface="Calibri"/>
                        </a:rPr>
                        <a:t>Malignos</a:t>
                      </a:r>
                      <a:endParaRPr sz="4000" b="1">
                        <a:solidFill>
                          <a:srgbClr val="FFFF00"/>
                        </a:solidFill>
                        <a:latin typeface="Calibri"/>
                        <a:ea typeface="Calibri"/>
                        <a:cs typeface="Calibri"/>
                        <a:sym typeface="Calibri"/>
                      </a:endParaRPr>
                    </a:p>
                    <a:p>
                      <a:pPr marL="1371600" lvl="0" indent="0" algn="l" rtl="0">
                        <a:lnSpc>
                          <a:spcPct val="75000"/>
                        </a:lnSpc>
                        <a:spcBef>
                          <a:spcPts val="400"/>
                        </a:spcBef>
                        <a:spcAft>
                          <a:spcPts val="0"/>
                        </a:spcAft>
                        <a:buNone/>
                      </a:pPr>
                      <a:r>
                        <a:rPr lang="es-AR" sz="2400">
                          <a:solidFill>
                            <a:schemeClr val="lt1"/>
                          </a:solidFill>
                          <a:latin typeface="Calibri"/>
                          <a:ea typeface="Calibri"/>
                          <a:cs typeface="Calibri"/>
                          <a:sym typeface="Calibri"/>
                        </a:rPr>
                        <a:t> </a:t>
                      </a:r>
                      <a:endParaRPr sz="2400">
                        <a:solidFill>
                          <a:schemeClr val="lt1"/>
                        </a:solidFill>
                        <a:latin typeface="Calibri"/>
                        <a:ea typeface="Calibri"/>
                        <a:cs typeface="Calibri"/>
                        <a:sym typeface="Calibri"/>
                      </a:endParaRPr>
                    </a:p>
                    <a:p>
                      <a:pPr marL="228600" lvl="2" indent="-152400" algn="ctr" rtl="0">
                        <a:lnSpc>
                          <a:spcPct val="75000"/>
                        </a:lnSpc>
                        <a:spcBef>
                          <a:spcPts val="400"/>
                        </a:spcBef>
                        <a:spcAft>
                          <a:spcPts val="0"/>
                        </a:spcAft>
                        <a:buClr>
                          <a:schemeClr val="lt1"/>
                        </a:buClr>
                        <a:buSzPts val="2400"/>
                        <a:buChar char="•"/>
                      </a:pPr>
                      <a:r>
                        <a:rPr lang="es-AR" sz="2400">
                          <a:solidFill>
                            <a:schemeClr val="lt1"/>
                          </a:solidFill>
                        </a:rPr>
                        <a:t>  Ca papilar</a:t>
                      </a:r>
                      <a:endParaRPr sz="2400">
                        <a:solidFill>
                          <a:schemeClr val="lt1"/>
                        </a:solidFill>
                      </a:endParaRPr>
                    </a:p>
                    <a:p>
                      <a:pPr marL="228600" lvl="2" indent="-152400" algn="ctr" rtl="0">
                        <a:lnSpc>
                          <a:spcPct val="75000"/>
                        </a:lnSpc>
                        <a:spcBef>
                          <a:spcPts val="240"/>
                        </a:spcBef>
                        <a:spcAft>
                          <a:spcPts val="0"/>
                        </a:spcAft>
                        <a:buClr>
                          <a:schemeClr val="lt1"/>
                        </a:buClr>
                        <a:buSzPts val="2400"/>
                        <a:buChar char="•"/>
                      </a:pPr>
                      <a:r>
                        <a:rPr lang="es-AR" sz="2400">
                          <a:solidFill>
                            <a:schemeClr val="lt1"/>
                          </a:solidFill>
                        </a:rPr>
                        <a:t>  Ca folicular</a:t>
                      </a:r>
                      <a:endParaRPr>
                        <a:solidFill>
                          <a:schemeClr val="dk1"/>
                        </a:solidFill>
                      </a:endParaRPr>
                    </a:p>
                    <a:p>
                      <a:pPr marL="228600" lvl="2" indent="-152400" algn="ctr" rtl="0">
                        <a:lnSpc>
                          <a:spcPct val="75000"/>
                        </a:lnSpc>
                        <a:spcBef>
                          <a:spcPts val="240"/>
                        </a:spcBef>
                        <a:spcAft>
                          <a:spcPts val="0"/>
                        </a:spcAft>
                        <a:buClr>
                          <a:schemeClr val="lt1"/>
                        </a:buClr>
                        <a:buSzPts val="2400"/>
                        <a:buChar char="•"/>
                      </a:pPr>
                      <a:r>
                        <a:rPr lang="es-AR" sz="2400">
                          <a:solidFill>
                            <a:schemeClr val="lt1"/>
                          </a:solidFill>
                        </a:rPr>
                        <a:t>  Ca medular </a:t>
                      </a:r>
                      <a:endParaRPr sz="2400">
                        <a:solidFill>
                          <a:schemeClr val="lt1"/>
                        </a:solidFill>
                      </a:endParaRPr>
                    </a:p>
                    <a:p>
                      <a:pPr marL="228600" lvl="2" indent="-152400" algn="ctr" rtl="0">
                        <a:lnSpc>
                          <a:spcPct val="75000"/>
                        </a:lnSpc>
                        <a:spcBef>
                          <a:spcPts val="240"/>
                        </a:spcBef>
                        <a:spcAft>
                          <a:spcPts val="0"/>
                        </a:spcAft>
                        <a:buClr>
                          <a:schemeClr val="lt1"/>
                        </a:buClr>
                        <a:buSzPts val="2400"/>
                        <a:buChar char="•"/>
                      </a:pPr>
                      <a:r>
                        <a:rPr lang="es-AR" sz="2400">
                          <a:solidFill>
                            <a:schemeClr val="lt1"/>
                          </a:solidFill>
                        </a:rPr>
                        <a:t>  Ca anaplàsico.</a:t>
                      </a:r>
                      <a:endParaRPr sz="2400">
                        <a:solidFill>
                          <a:schemeClr val="lt1"/>
                        </a:solidFill>
                      </a:endParaRPr>
                    </a:p>
                    <a:p>
                      <a:pPr marL="228600" lvl="2" indent="-152400" algn="ctr" rtl="0">
                        <a:lnSpc>
                          <a:spcPct val="75000"/>
                        </a:lnSpc>
                        <a:spcBef>
                          <a:spcPts val="240"/>
                        </a:spcBef>
                        <a:spcAft>
                          <a:spcPts val="0"/>
                        </a:spcAft>
                        <a:buClr>
                          <a:schemeClr val="lt1"/>
                        </a:buClr>
                        <a:buSzPts val="2400"/>
                        <a:buChar char="•"/>
                      </a:pPr>
                      <a:r>
                        <a:rPr lang="es-AR" sz="2400">
                          <a:solidFill>
                            <a:schemeClr val="lt1"/>
                          </a:solidFill>
                        </a:rPr>
                        <a:t>  Linfoma tiroideo primario</a:t>
                      </a:r>
                      <a:endParaRPr>
                        <a:solidFill>
                          <a:schemeClr val="dk1"/>
                        </a:solidFill>
                      </a:endParaRPr>
                    </a:p>
                    <a:p>
                      <a:pPr marL="228600" lvl="2" indent="-152400" algn="ctr" rtl="0">
                        <a:lnSpc>
                          <a:spcPct val="75000"/>
                        </a:lnSpc>
                        <a:spcBef>
                          <a:spcPts val="240"/>
                        </a:spcBef>
                        <a:spcAft>
                          <a:spcPts val="0"/>
                        </a:spcAft>
                        <a:buClr>
                          <a:schemeClr val="lt1"/>
                        </a:buClr>
                        <a:buSzPts val="2400"/>
                        <a:buChar char="•"/>
                      </a:pPr>
                      <a:r>
                        <a:rPr lang="es-AR" sz="2400">
                          <a:solidFill>
                            <a:schemeClr val="lt1"/>
                          </a:solidFill>
                        </a:rPr>
                        <a:t>  Metástasis (mama, renal)</a:t>
                      </a:r>
                      <a:endParaRPr sz="2400">
                        <a:solidFill>
                          <a:schemeClr val="lt1"/>
                        </a:solidFill>
                      </a:endParaRPr>
                    </a:p>
                    <a:p>
                      <a:pPr marL="0" lvl="0" indent="0" algn="l" rtl="0">
                        <a:spcBef>
                          <a:spcPts val="0"/>
                        </a:spcBef>
                        <a:spcAft>
                          <a:spcPts val="0"/>
                        </a:spcAft>
                        <a:buNone/>
                      </a:pPr>
                      <a:endParaRPr>
                        <a:latin typeface="Calibri"/>
                        <a:ea typeface="Calibri"/>
                        <a:cs typeface="Calibri"/>
                        <a:sym typeface="Calibri"/>
                      </a:endParaRPr>
                    </a:p>
                  </a:txBody>
                  <a:tcPr marL="91425" marR="91425" marT="91425" marB="91425">
                    <a:lnL w="114300" cap="flat" cmpd="sng">
                      <a:solidFill>
                        <a:srgbClr val="6D9EEB"/>
                      </a:solidFill>
                      <a:prstDash val="solid"/>
                      <a:round/>
                      <a:headEnd type="none" w="sm" len="sm"/>
                      <a:tailEnd type="none" w="sm" len="sm"/>
                    </a:lnL>
                    <a:lnR w="114300" cap="flat" cmpd="sng">
                      <a:solidFill>
                        <a:srgbClr val="6D9EEB"/>
                      </a:solidFill>
                      <a:prstDash val="solid"/>
                      <a:round/>
                      <a:headEnd type="none" w="sm" len="sm"/>
                      <a:tailEnd type="none" w="sm" len="sm"/>
                    </a:lnR>
                    <a:lnT w="114300" cap="flat" cmpd="sng">
                      <a:solidFill>
                        <a:srgbClr val="6D9EEB"/>
                      </a:solidFill>
                      <a:prstDash val="solid"/>
                      <a:round/>
                      <a:headEnd type="none" w="sm" len="sm"/>
                      <a:tailEnd type="none" w="sm" len="sm"/>
                    </a:lnT>
                    <a:lnB w="114300" cap="flat" cmpd="sng">
                      <a:solidFill>
                        <a:srgbClr val="6D9EEB"/>
                      </a:solidFill>
                      <a:prstDash val="solid"/>
                      <a:round/>
                      <a:headEnd type="none" w="sm" len="sm"/>
                      <a:tailEnd type="none" w="sm" len="sm"/>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p:nvPr>
        </p:nvSpPr>
        <p:spPr>
          <a:xfrm>
            <a:off x="457200" y="274638"/>
            <a:ext cx="8229600" cy="1143000"/>
          </a:xfrm>
          <a:prstGeom prst="rect">
            <a:avLst/>
          </a:prstGeom>
          <a:noFill/>
          <a:ln>
            <a:noFill/>
          </a:ln>
          <a:effectLst>
            <a:outerShdw blurRad="57150" dist="19050" dir="5400000" algn="bl" rotWithShape="0">
              <a:srgbClr val="FFFF00">
                <a:alpha val="7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4400"/>
              <a:buFont typeface="Calibri"/>
              <a:buNone/>
            </a:pPr>
            <a:r>
              <a:rPr lang="es-AR"/>
              <a:t>CLÍNICA</a:t>
            </a:r>
            <a:endParaRPr/>
          </a:p>
        </p:txBody>
      </p:sp>
      <p:sp>
        <p:nvSpPr>
          <p:cNvPr id="133" name="Google Shape;133;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lt1"/>
              </a:buClr>
              <a:buSzPts val="3200"/>
              <a:buChar char="•"/>
            </a:pPr>
            <a:r>
              <a:rPr lang="es-AR"/>
              <a:t>La Mayoría son </a:t>
            </a:r>
            <a:r>
              <a:rPr lang="es-AR">
                <a:solidFill>
                  <a:srgbClr val="FFFF00"/>
                </a:solidFill>
              </a:rPr>
              <a:t>ASINTOMÁTICOS</a:t>
            </a:r>
            <a:endParaRPr>
              <a:solidFill>
                <a:srgbClr val="FFFF00"/>
              </a:solidFill>
            </a:endParaRPr>
          </a:p>
          <a:p>
            <a:pPr marL="342900" lvl="0" indent="-342900" algn="l" rtl="0">
              <a:spcBef>
                <a:spcPts val="640"/>
              </a:spcBef>
              <a:spcAft>
                <a:spcPts val="0"/>
              </a:spcAft>
              <a:buClr>
                <a:schemeClr val="lt1"/>
              </a:buClr>
              <a:buSzPts val="3200"/>
              <a:buNone/>
            </a:pPr>
            <a:endParaRPr/>
          </a:p>
        </p:txBody>
      </p:sp>
      <p:sp>
        <p:nvSpPr>
          <p:cNvPr id="134" name="Google Shape;134;p7"/>
          <p:cNvSpPr/>
          <p:nvPr/>
        </p:nvSpPr>
        <p:spPr>
          <a:xfrm>
            <a:off x="1273228" y="2357433"/>
            <a:ext cx="2128706" cy="1277223"/>
          </a:xfrm>
          <a:prstGeom prst="rect">
            <a:avLst/>
          </a:prstGeom>
          <a:gradFill>
            <a:gsLst>
              <a:gs pos="0">
                <a:srgbClr val="992D2B"/>
              </a:gs>
              <a:gs pos="80000">
                <a:srgbClr val="C93D39"/>
              </a:gs>
              <a:gs pos="100000">
                <a:srgbClr val="CD3A36"/>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2400" b="1" i="0" u="none" strike="noStrike" cap="none">
                <a:solidFill>
                  <a:schemeClr val="dk1"/>
                </a:solidFill>
                <a:latin typeface="Calibri"/>
                <a:ea typeface="Calibri"/>
                <a:cs typeface="Calibri"/>
                <a:sym typeface="Calibri"/>
              </a:rPr>
              <a:t>Palpación</a:t>
            </a:r>
            <a:endParaRPr sz="2400" b="1" i="0" u="none" strike="noStrike" cap="none">
              <a:solidFill>
                <a:schemeClr val="dk1"/>
              </a:solidFill>
              <a:latin typeface="Calibri"/>
              <a:ea typeface="Calibri"/>
              <a:cs typeface="Calibri"/>
              <a:sym typeface="Calibri"/>
            </a:endParaRPr>
          </a:p>
        </p:txBody>
      </p:sp>
      <p:sp>
        <p:nvSpPr>
          <p:cNvPr id="135" name="Google Shape;135;p7"/>
          <p:cNvSpPr/>
          <p:nvPr/>
        </p:nvSpPr>
        <p:spPr>
          <a:xfrm>
            <a:off x="3614804" y="2357433"/>
            <a:ext cx="2128706" cy="1277223"/>
          </a:xfrm>
          <a:prstGeom prst="rect">
            <a:avLst/>
          </a:prstGeom>
          <a:gradFill>
            <a:gsLst>
              <a:gs pos="0">
                <a:srgbClr val="759336"/>
              </a:gs>
              <a:gs pos="80000">
                <a:srgbClr val="99C247"/>
              </a:gs>
              <a:gs pos="100000">
                <a:srgbClr val="9BC545"/>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2400" b="1" i="0" u="none" strike="noStrike" cap="none">
                <a:solidFill>
                  <a:schemeClr val="dk1"/>
                </a:solidFill>
                <a:latin typeface="Calibri"/>
                <a:ea typeface="Calibri"/>
                <a:cs typeface="Calibri"/>
                <a:sym typeface="Calibri"/>
              </a:rPr>
              <a:t>Bultoma</a:t>
            </a:r>
            <a:endParaRPr sz="2400" b="1" i="0" u="none" strike="noStrike" cap="none">
              <a:solidFill>
                <a:schemeClr val="dk1"/>
              </a:solidFill>
              <a:latin typeface="Calibri"/>
              <a:ea typeface="Calibri"/>
              <a:cs typeface="Calibri"/>
              <a:sym typeface="Calibri"/>
            </a:endParaRPr>
          </a:p>
        </p:txBody>
      </p:sp>
      <p:sp>
        <p:nvSpPr>
          <p:cNvPr id="136" name="Google Shape;136;p7"/>
          <p:cNvSpPr/>
          <p:nvPr/>
        </p:nvSpPr>
        <p:spPr>
          <a:xfrm>
            <a:off x="5956380" y="2357433"/>
            <a:ext cx="2128706" cy="1277223"/>
          </a:xfrm>
          <a:prstGeom prst="rect">
            <a:avLst/>
          </a:prstGeom>
          <a:gradFill>
            <a:gsLst>
              <a:gs pos="0">
                <a:srgbClr val="5D427D"/>
              </a:gs>
              <a:gs pos="80000">
                <a:srgbClr val="7A57A5"/>
              </a:gs>
              <a:gs pos="100000">
                <a:srgbClr val="7A56A7"/>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2400" b="1" i="0" u="none" strike="noStrike" cap="none">
                <a:solidFill>
                  <a:schemeClr val="dk1"/>
                </a:solidFill>
                <a:latin typeface="Calibri"/>
                <a:ea typeface="Calibri"/>
                <a:cs typeface="Calibri"/>
                <a:sym typeface="Calibri"/>
              </a:rPr>
              <a:t>Hipertiroi -dismo</a:t>
            </a:r>
            <a:endParaRPr sz="2400" b="1" i="0" u="none" strike="noStrike" cap="none">
              <a:solidFill>
                <a:schemeClr val="dk1"/>
              </a:solidFill>
              <a:latin typeface="Calibri"/>
              <a:ea typeface="Calibri"/>
              <a:cs typeface="Calibri"/>
              <a:sym typeface="Calibri"/>
            </a:endParaRPr>
          </a:p>
        </p:txBody>
      </p:sp>
      <p:sp>
        <p:nvSpPr>
          <p:cNvPr id="137" name="Google Shape;137;p7"/>
          <p:cNvSpPr/>
          <p:nvPr/>
        </p:nvSpPr>
        <p:spPr>
          <a:xfrm>
            <a:off x="1273228" y="3826239"/>
            <a:ext cx="2128706" cy="1277223"/>
          </a:xfrm>
          <a:prstGeom prst="rect">
            <a:avLst/>
          </a:prstGeom>
          <a:gradFill>
            <a:gsLst>
              <a:gs pos="0">
                <a:srgbClr val="29859E"/>
              </a:gs>
              <a:gs pos="80000">
                <a:srgbClr val="36B0D0"/>
              </a:gs>
              <a:gs pos="100000">
                <a:srgbClr val="33B3D5"/>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2400" b="1" i="0" u="none" strike="noStrike" cap="none">
                <a:solidFill>
                  <a:schemeClr val="dk1"/>
                </a:solidFill>
                <a:latin typeface="Calibri"/>
                <a:ea typeface="Calibri"/>
                <a:cs typeface="Calibri"/>
                <a:sym typeface="Calibri"/>
              </a:rPr>
              <a:t>Dolor</a:t>
            </a:r>
            <a:endParaRPr sz="2400" b="1" i="0" u="none" strike="noStrike" cap="none">
              <a:solidFill>
                <a:schemeClr val="dk1"/>
              </a:solidFill>
              <a:latin typeface="Calibri"/>
              <a:ea typeface="Calibri"/>
              <a:cs typeface="Calibri"/>
              <a:sym typeface="Calibri"/>
            </a:endParaRPr>
          </a:p>
        </p:txBody>
      </p:sp>
      <p:sp>
        <p:nvSpPr>
          <p:cNvPr id="138" name="Google Shape;138;p7"/>
          <p:cNvSpPr/>
          <p:nvPr/>
        </p:nvSpPr>
        <p:spPr>
          <a:xfrm>
            <a:off x="3614804" y="3826239"/>
            <a:ext cx="2128706" cy="1277223"/>
          </a:xfrm>
          <a:prstGeom prst="rect">
            <a:avLst/>
          </a:prstGeom>
          <a:gradFill>
            <a:gsLst>
              <a:gs pos="0">
                <a:srgbClr val="C86C1F"/>
              </a:gs>
              <a:gs pos="80000">
                <a:srgbClr val="FF8E29"/>
              </a:gs>
              <a:gs pos="100000">
                <a:srgbClr val="FF8D25"/>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2400" b="1" i="0" u="none" strike="noStrike" cap="none">
                <a:solidFill>
                  <a:schemeClr val="dk1"/>
                </a:solidFill>
                <a:latin typeface="Calibri"/>
                <a:ea typeface="Calibri"/>
                <a:cs typeface="Calibri"/>
                <a:sym typeface="Calibri"/>
              </a:rPr>
              <a:t>Odinofágia</a:t>
            </a:r>
            <a:endParaRPr sz="2400" b="1" i="0" u="none" strike="noStrike" cap="none">
              <a:solidFill>
                <a:schemeClr val="dk1"/>
              </a:solidFill>
              <a:latin typeface="Calibri"/>
              <a:ea typeface="Calibri"/>
              <a:cs typeface="Calibri"/>
              <a:sym typeface="Calibri"/>
            </a:endParaRPr>
          </a:p>
        </p:txBody>
      </p:sp>
      <p:sp>
        <p:nvSpPr>
          <p:cNvPr id="139" name="Google Shape;139;p7"/>
          <p:cNvSpPr/>
          <p:nvPr/>
        </p:nvSpPr>
        <p:spPr>
          <a:xfrm>
            <a:off x="5956380" y="3826239"/>
            <a:ext cx="2128706" cy="1277223"/>
          </a:xfrm>
          <a:prstGeom prst="rect">
            <a:avLst/>
          </a:prstGeom>
          <a:gradFill>
            <a:gsLst>
              <a:gs pos="0">
                <a:srgbClr val="992D2B"/>
              </a:gs>
              <a:gs pos="80000">
                <a:srgbClr val="C93D39"/>
              </a:gs>
              <a:gs pos="100000">
                <a:srgbClr val="CD3A36"/>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2400" b="1" i="0" u="none" strike="noStrike" cap="none">
                <a:solidFill>
                  <a:schemeClr val="dk1"/>
                </a:solidFill>
                <a:latin typeface="Calibri"/>
                <a:ea typeface="Calibri"/>
                <a:cs typeface="Calibri"/>
                <a:sym typeface="Calibri"/>
              </a:rPr>
              <a:t>Disnea</a:t>
            </a:r>
            <a:endParaRPr sz="2400" b="1" i="0" u="none" strike="noStrike" cap="none">
              <a:solidFill>
                <a:schemeClr val="dk1"/>
              </a:solidFill>
              <a:latin typeface="Calibri"/>
              <a:ea typeface="Calibri"/>
              <a:cs typeface="Calibri"/>
              <a:sym typeface="Calibri"/>
            </a:endParaRPr>
          </a:p>
        </p:txBody>
      </p:sp>
      <p:sp>
        <p:nvSpPr>
          <p:cNvPr id="140" name="Google Shape;140;p7"/>
          <p:cNvSpPr/>
          <p:nvPr/>
        </p:nvSpPr>
        <p:spPr>
          <a:xfrm>
            <a:off x="3614804" y="5295045"/>
            <a:ext cx="2128706" cy="1277223"/>
          </a:xfrm>
          <a:prstGeom prst="rect">
            <a:avLst/>
          </a:prstGeom>
          <a:gradFill>
            <a:gsLst>
              <a:gs pos="0">
                <a:srgbClr val="759336"/>
              </a:gs>
              <a:gs pos="80000">
                <a:srgbClr val="99C247"/>
              </a:gs>
              <a:gs pos="100000">
                <a:srgbClr val="9BC545"/>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None/>
            </a:pPr>
            <a:r>
              <a:rPr lang="es-AR" sz="2400" b="1" i="0" u="none" strike="noStrike" cap="none">
                <a:solidFill>
                  <a:schemeClr val="dk1"/>
                </a:solidFill>
                <a:latin typeface="Calibri"/>
                <a:ea typeface="Calibri"/>
                <a:cs typeface="Calibri"/>
                <a:sym typeface="Calibri"/>
              </a:rPr>
              <a:t>Ronquera</a:t>
            </a:r>
            <a:endParaRPr sz="2400" b="1"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457200" y="274638"/>
            <a:ext cx="8229600" cy="1143000"/>
          </a:xfrm>
          <a:prstGeom prst="rect">
            <a:avLst/>
          </a:prstGeom>
          <a:effectLst>
            <a:outerShdw blurRad="57150" dist="19050" dir="5400000" algn="bl" rotWithShape="0">
              <a:srgbClr val="FFFF00">
                <a:alpha val="64999"/>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4400"/>
              <a:buFont typeface="Calibri"/>
              <a:buNone/>
            </a:pPr>
            <a:r>
              <a:rPr lang="es-AR"/>
              <a:t>Evaluación inicial</a:t>
            </a:r>
            <a:endParaRPr/>
          </a:p>
        </p:txBody>
      </p:sp>
      <p:sp>
        <p:nvSpPr>
          <p:cNvPr id="147" name="Google Shape;147;p8"/>
          <p:cNvSpPr txBox="1">
            <a:spLocks noGrp="1"/>
          </p:cNvSpPr>
          <p:nvPr>
            <p:ph type="body" idx="1"/>
          </p:nvPr>
        </p:nvSpPr>
        <p:spPr>
          <a:xfrm>
            <a:off x="457200" y="1417650"/>
            <a:ext cx="8229600" cy="5225100"/>
          </a:xfrm>
          <a:prstGeom prst="rect">
            <a:avLst/>
          </a:prstGeom>
          <a:noFill/>
          <a:ln>
            <a:noFill/>
          </a:ln>
          <a:effectLst>
            <a:outerShdw blurRad="57150" dist="19050" dir="5400000" algn="bl" rotWithShape="0">
              <a:srgbClr val="FF0000">
                <a:alpha val="50000"/>
              </a:srgbClr>
            </a:outerShdw>
          </a:effectLst>
        </p:spPr>
        <p:txBody>
          <a:bodyPr spcFirstLastPara="1" wrap="square" lIns="91425" tIns="45700" rIns="91425" bIns="45700" anchor="t" anchorCtr="0">
            <a:normAutofit lnSpcReduction="10000"/>
          </a:bodyPr>
          <a:lstStyle/>
          <a:p>
            <a:pPr marL="342900" lvl="0" indent="-342900" algn="just" rtl="0">
              <a:spcBef>
                <a:spcPts val="0"/>
              </a:spcBef>
              <a:spcAft>
                <a:spcPts val="0"/>
              </a:spcAft>
              <a:buClr>
                <a:schemeClr val="lt1"/>
              </a:buClr>
              <a:buSzPts val="3200"/>
              <a:buNone/>
            </a:pPr>
            <a:r>
              <a:rPr lang="es-AR" sz="3300" b="1">
                <a:solidFill>
                  <a:srgbClr val="00FF00"/>
                </a:solidFill>
              </a:rPr>
              <a:t>Se sugiere indagar sobre:</a:t>
            </a:r>
            <a:endParaRPr sz="3300" b="1">
              <a:solidFill>
                <a:srgbClr val="00FF00"/>
              </a:solidFill>
            </a:endParaRPr>
          </a:p>
          <a:p>
            <a:pPr marL="342900" lvl="0" indent="-342900" algn="just" rtl="0">
              <a:spcBef>
                <a:spcPts val="0"/>
              </a:spcBef>
              <a:spcAft>
                <a:spcPts val="0"/>
              </a:spcAft>
              <a:buClr>
                <a:schemeClr val="lt1"/>
              </a:buClr>
              <a:buSzPts val="3200"/>
              <a:buNone/>
            </a:pPr>
            <a:endParaRPr/>
          </a:p>
          <a:p>
            <a:pPr marL="800100" lvl="0" indent="-358140" algn="just" rtl="0">
              <a:spcBef>
                <a:spcPts val="592"/>
              </a:spcBef>
              <a:spcAft>
                <a:spcPts val="0"/>
              </a:spcAft>
              <a:buClr>
                <a:schemeClr val="lt1"/>
              </a:buClr>
              <a:buSzPts val="3200"/>
              <a:buChar char="•"/>
            </a:pPr>
            <a:r>
              <a:rPr lang="es-AR"/>
              <a:t>Radiación ionizante</a:t>
            </a:r>
            <a:endParaRPr/>
          </a:p>
          <a:p>
            <a:pPr marL="800100" lvl="0" indent="-358140" algn="just" rtl="0">
              <a:spcBef>
                <a:spcPts val="592"/>
              </a:spcBef>
              <a:spcAft>
                <a:spcPts val="0"/>
              </a:spcAft>
              <a:buClr>
                <a:schemeClr val="lt1"/>
              </a:buClr>
              <a:buSzPts val="3200"/>
              <a:buChar char="•"/>
            </a:pPr>
            <a:r>
              <a:rPr lang="es-AR"/>
              <a:t>Antec de CA papilar familiar/ MEN 2</a:t>
            </a:r>
            <a:endParaRPr/>
          </a:p>
          <a:p>
            <a:pPr marL="800100" lvl="0" indent="-358140" algn="just" rtl="0">
              <a:spcBef>
                <a:spcPts val="592"/>
              </a:spcBef>
              <a:spcAft>
                <a:spcPts val="0"/>
              </a:spcAft>
              <a:buClr>
                <a:schemeClr val="lt1"/>
              </a:buClr>
              <a:buSzPts val="3200"/>
              <a:buChar char="•"/>
            </a:pPr>
            <a:r>
              <a:rPr lang="es-AR"/>
              <a:t>Formas hereditarias de CA de tiroides (Medular)</a:t>
            </a:r>
            <a:endParaRPr/>
          </a:p>
          <a:p>
            <a:pPr marL="800100" lvl="0" indent="-358140" algn="just" rtl="0">
              <a:spcBef>
                <a:spcPts val="592"/>
              </a:spcBef>
              <a:spcAft>
                <a:spcPts val="0"/>
              </a:spcAft>
              <a:buClr>
                <a:schemeClr val="lt1"/>
              </a:buClr>
              <a:buSzPts val="3200"/>
              <a:buChar char="•"/>
            </a:pPr>
            <a:r>
              <a:rPr lang="es-AR"/>
              <a:t>Poliposis familiar</a:t>
            </a:r>
            <a:endParaRPr/>
          </a:p>
          <a:p>
            <a:pPr marL="800100" lvl="0" indent="-358140" algn="just" rtl="0">
              <a:spcBef>
                <a:spcPts val="592"/>
              </a:spcBef>
              <a:spcAft>
                <a:spcPts val="0"/>
              </a:spcAft>
              <a:buClr>
                <a:schemeClr val="lt1"/>
              </a:buClr>
              <a:buSzPts val="3200"/>
              <a:buChar char="•"/>
            </a:pPr>
            <a:r>
              <a:rPr lang="es-AR"/>
              <a:t>Síndrome de Cowden</a:t>
            </a:r>
            <a:endParaRPr/>
          </a:p>
          <a:p>
            <a:pPr marL="800100" lvl="0" indent="-358140" algn="just" rtl="0">
              <a:spcBef>
                <a:spcPts val="592"/>
              </a:spcBef>
              <a:spcAft>
                <a:spcPts val="0"/>
              </a:spcAft>
              <a:buClr>
                <a:schemeClr val="lt1"/>
              </a:buClr>
              <a:buSzPts val="3200"/>
              <a:buChar char="•"/>
            </a:pPr>
            <a:r>
              <a:rPr lang="es-AR"/>
              <a:t>Síntomas : Aumento de volumen cervical</a:t>
            </a:r>
            <a:endParaRPr/>
          </a:p>
          <a:p>
            <a:pPr marL="342900" lvl="0" indent="-342900" algn="just" rtl="0">
              <a:spcBef>
                <a:spcPts val="592"/>
              </a:spcBef>
              <a:spcAft>
                <a:spcPts val="0"/>
              </a:spcAft>
              <a:buClr>
                <a:schemeClr val="lt1"/>
              </a:buClr>
              <a:buSzPts val="3200"/>
              <a:buNone/>
            </a:pPr>
            <a:r>
              <a:rPr lang="es-AR"/>
              <a:t>                            Disfonía/disfagia</a:t>
            </a: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457200" y="108988"/>
            <a:ext cx="8229600" cy="1143000"/>
          </a:xfrm>
          <a:prstGeom prst="rect">
            <a:avLst/>
          </a:prstGeom>
          <a:noFill/>
          <a:ln>
            <a:noFill/>
          </a:ln>
          <a:effectLst>
            <a:outerShdw blurRad="57150" dist="19050" dir="5400000" algn="bl" rotWithShape="0">
              <a:srgbClr val="FFFF00">
                <a:alpha val="7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4400"/>
              <a:buFont typeface="Calibri"/>
              <a:buNone/>
            </a:pPr>
            <a:r>
              <a:rPr lang="es-AR"/>
              <a:t>Evaluación inicial</a:t>
            </a:r>
            <a:endParaRPr/>
          </a:p>
        </p:txBody>
      </p:sp>
      <p:sp>
        <p:nvSpPr>
          <p:cNvPr id="153" name="Google Shape;153;p9"/>
          <p:cNvSpPr txBox="1">
            <a:spLocks noGrp="1"/>
          </p:cNvSpPr>
          <p:nvPr>
            <p:ph type="body" idx="1"/>
          </p:nvPr>
        </p:nvSpPr>
        <p:spPr>
          <a:xfrm>
            <a:off x="428596" y="1059123"/>
            <a:ext cx="8229600" cy="4526100"/>
          </a:xfrm>
          <a:prstGeom prst="rect">
            <a:avLst/>
          </a:prstGeom>
          <a:noFill/>
          <a:ln>
            <a:noFill/>
          </a:ln>
          <a:effectLst>
            <a:outerShdw blurRad="57150" dist="19050" dir="5400000" algn="bl" rotWithShape="0">
              <a:srgbClr val="FFFF00">
                <a:alpha val="70000"/>
              </a:srgbClr>
            </a:outerShdw>
          </a:effectLst>
        </p:spPr>
        <p:txBody>
          <a:bodyPr spcFirstLastPara="1" wrap="square" lIns="91425" tIns="45700" rIns="91425" bIns="45700" anchor="t" anchorCtr="0">
            <a:normAutofit/>
          </a:bodyPr>
          <a:lstStyle/>
          <a:p>
            <a:pPr marL="342900" lvl="0" indent="-342900" algn="just" rtl="0">
              <a:spcBef>
                <a:spcPts val="0"/>
              </a:spcBef>
              <a:spcAft>
                <a:spcPts val="0"/>
              </a:spcAft>
              <a:buClr>
                <a:schemeClr val="lt1"/>
              </a:buClr>
              <a:buSzPts val="3200"/>
              <a:buNone/>
            </a:pPr>
            <a:r>
              <a:rPr lang="es-AR" b="1">
                <a:solidFill>
                  <a:srgbClr val="00FF00"/>
                </a:solidFill>
              </a:rPr>
              <a:t>Sugestivo de malignidad:</a:t>
            </a:r>
            <a:endParaRPr b="1">
              <a:solidFill>
                <a:srgbClr val="00FF00"/>
              </a:solidFill>
            </a:endParaRPr>
          </a:p>
          <a:p>
            <a:pPr marL="342900" lvl="0" indent="0" algn="just" rtl="0">
              <a:spcBef>
                <a:spcPts val="544"/>
              </a:spcBef>
              <a:spcAft>
                <a:spcPts val="0"/>
              </a:spcAft>
              <a:buNone/>
            </a:pPr>
            <a:endParaRPr/>
          </a:p>
          <a:p>
            <a:pPr marL="342900" lvl="0" indent="-170180" algn="just" rtl="0">
              <a:spcBef>
                <a:spcPts val="544"/>
              </a:spcBef>
              <a:spcAft>
                <a:spcPts val="0"/>
              </a:spcAft>
              <a:buClr>
                <a:schemeClr val="lt1"/>
              </a:buClr>
              <a:buSzPts val="3200"/>
              <a:buNone/>
            </a:pPr>
            <a:endParaRPr/>
          </a:p>
        </p:txBody>
      </p:sp>
      <p:pic>
        <p:nvPicPr>
          <p:cNvPr id="154" name="Google Shape;154;p9"/>
          <p:cNvPicPr preferRelativeResize="0"/>
          <p:nvPr/>
        </p:nvPicPr>
        <p:blipFill>
          <a:blip r:embed="rId3">
            <a:alphaModFix/>
          </a:blip>
          <a:stretch>
            <a:fillRect/>
          </a:stretch>
        </p:blipFill>
        <p:spPr>
          <a:xfrm>
            <a:off x="1728263" y="1767825"/>
            <a:ext cx="5687474" cy="2886500"/>
          </a:xfrm>
          <a:prstGeom prst="rect">
            <a:avLst/>
          </a:prstGeom>
          <a:noFill/>
          <a:ln>
            <a:noFill/>
          </a:ln>
        </p:spPr>
      </p:pic>
      <p:pic>
        <p:nvPicPr>
          <p:cNvPr id="155" name="Google Shape;155;p9"/>
          <p:cNvPicPr preferRelativeResize="0"/>
          <p:nvPr/>
        </p:nvPicPr>
        <p:blipFill>
          <a:blip r:embed="rId4">
            <a:alphaModFix/>
          </a:blip>
          <a:stretch>
            <a:fillRect/>
          </a:stretch>
        </p:blipFill>
        <p:spPr>
          <a:xfrm>
            <a:off x="1811100" y="4654325"/>
            <a:ext cx="5604625" cy="1845108"/>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28094a0bef2_0_27"/>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pic>
        <p:nvPicPr>
          <p:cNvPr id="162" name="Google Shape;162;g28094a0bef2_0_27"/>
          <p:cNvPicPr preferRelativeResize="0"/>
          <p:nvPr/>
        </p:nvPicPr>
        <p:blipFill>
          <a:blip r:embed="rId3">
            <a:alphaModFix/>
          </a:blip>
          <a:stretch>
            <a:fillRect/>
          </a:stretch>
        </p:blipFill>
        <p:spPr>
          <a:xfrm>
            <a:off x="171450" y="545550"/>
            <a:ext cx="8801100" cy="5467625"/>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802eebfacd_0_11"/>
          <p:cNvSpPr txBox="1">
            <a:spLocks noGrp="1"/>
          </p:cNvSpPr>
          <p:nvPr>
            <p:ph type="title"/>
          </p:nvPr>
        </p:nvSpPr>
        <p:spPr>
          <a:xfrm>
            <a:off x="457200" y="82824"/>
            <a:ext cx="8229600" cy="1090500"/>
          </a:xfrm>
          <a:prstGeom prst="rect">
            <a:avLst/>
          </a:prstGeom>
          <a:effectLst>
            <a:outerShdw blurRad="57150" dist="19050" dir="5400000" algn="bl" rotWithShape="0">
              <a:srgbClr val="FFFF00">
                <a:alpha val="7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1100"/>
              <a:buFont typeface="Arial"/>
              <a:buNone/>
            </a:pPr>
            <a:r>
              <a:rPr lang="es-AR"/>
              <a:t>Evaluación inicial</a:t>
            </a:r>
            <a:endParaRPr/>
          </a:p>
        </p:txBody>
      </p:sp>
      <p:sp>
        <p:nvSpPr>
          <p:cNvPr id="169" name="Google Shape;169;g2802eebfacd_0_11"/>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170" name="Google Shape;170;g2802eebfacd_0_11"/>
          <p:cNvPicPr preferRelativeResize="0"/>
          <p:nvPr/>
        </p:nvPicPr>
        <p:blipFill>
          <a:blip r:embed="rId3">
            <a:alphaModFix/>
          </a:blip>
          <a:stretch>
            <a:fillRect/>
          </a:stretch>
        </p:blipFill>
        <p:spPr>
          <a:xfrm>
            <a:off x="399263" y="990850"/>
            <a:ext cx="8345474" cy="5744790"/>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2802eebfacd_0_18"/>
          <p:cNvSpPr txBox="1">
            <a:spLocks noGrp="1"/>
          </p:cNvSpPr>
          <p:nvPr>
            <p:ph type="title"/>
          </p:nvPr>
        </p:nvSpPr>
        <p:spPr>
          <a:xfrm>
            <a:off x="457200" y="115974"/>
            <a:ext cx="8229600" cy="1020000"/>
          </a:xfrm>
          <a:prstGeom prst="rect">
            <a:avLst/>
          </a:prstGeom>
          <a:effectLst>
            <a:outerShdw blurRad="57150" dist="19050" dir="5400000" algn="bl" rotWithShape="0">
              <a:srgbClr val="FFFF00">
                <a:alpha val="7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None/>
            </a:pPr>
            <a:r>
              <a:rPr lang="es-AR"/>
              <a:t>Evaluación inicial</a:t>
            </a:r>
            <a:endParaRPr/>
          </a:p>
        </p:txBody>
      </p:sp>
      <p:sp>
        <p:nvSpPr>
          <p:cNvPr id="177" name="Google Shape;177;g2802eebfacd_0_18"/>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178" name="Google Shape;178;g2802eebfacd_0_18"/>
          <p:cNvPicPr preferRelativeResize="0"/>
          <p:nvPr/>
        </p:nvPicPr>
        <p:blipFill>
          <a:blip r:embed="rId3">
            <a:alphaModFix/>
          </a:blip>
          <a:stretch>
            <a:fillRect/>
          </a:stretch>
        </p:blipFill>
        <p:spPr>
          <a:xfrm>
            <a:off x="299787" y="1083800"/>
            <a:ext cx="8544424" cy="5558895"/>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g2802eebfacd_0_25"/>
          <p:cNvPicPr preferRelativeResize="0"/>
          <p:nvPr/>
        </p:nvPicPr>
        <p:blipFill>
          <a:blip r:embed="rId3">
            <a:alphaModFix/>
          </a:blip>
          <a:stretch>
            <a:fillRect/>
          </a:stretch>
        </p:blipFill>
        <p:spPr>
          <a:xfrm>
            <a:off x="112875" y="410713"/>
            <a:ext cx="8918249" cy="6036574"/>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2802eebfacd_0_32"/>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191" name="Google Shape;191;g2802eebfacd_0_32"/>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192" name="Google Shape;192;g2802eebfacd_0_32"/>
          <p:cNvPicPr preferRelativeResize="0"/>
          <p:nvPr/>
        </p:nvPicPr>
        <p:blipFill>
          <a:blip r:embed="rId3">
            <a:alphaModFix/>
          </a:blip>
          <a:stretch>
            <a:fillRect/>
          </a:stretch>
        </p:blipFill>
        <p:spPr>
          <a:xfrm>
            <a:off x="132150" y="153075"/>
            <a:ext cx="8879676" cy="6340501"/>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28094a0bef2_0_0"/>
          <p:cNvSpPr txBox="1">
            <a:spLocks noGrp="1"/>
          </p:cNvSpPr>
          <p:nvPr>
            <p:ph type="title"/>
          </p:nvPr>
        </p:nvSpPr>
        <p:spPr>
          <a:xfrm>
            <a:off x="457200" y="274675"/>
            <a:ext cx="8229600" cy="5755200"/>
          </a:xfrm>
          <a:prstGeom prst="rect">
            <a:avLst/>
          </a:prstGeom>
          <a:effectLst>
            <a:outerShdw blurRad="57150" dist="19050" dir="5400000" algn="bl" rotWithShape="0">
              <a:srgbClr val="FF0000">
                <a:alpha val="5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None/>
            </a:pPr>
            <a:r>
              <a:rPr lang="es-AR" sz="4800">
                <a:latin typeface="Times New Roman"/>
                <a:ea typeface="Times New Roman"/>
                <a:cs typeface="Times New Roman"/>
                <a:sym typeface="Times New Roman"/>
              </a:rPr>
              <a:t>Patrones ecográficos del nódulo y riesgo de malignidad.</a:t>
            </a:r>
            <a:endParaRPr sz="80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5"/>
          <p:cNvSpPr txBox="1">
            <a:spLocks noGrp="1"/>
          </p:cNvSpPr>
          <p:nvPr>
            <p:ph type="body" idx="1"/>
          </p:nvPr>
        </p:nvSpPr>
        <p:spPr>
          <a:xfrm>
            <a:off x="71406" y="1571612"/>
            <a:ext cx="8786842"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lt1"/>
              </a:buClr>
              <a:buSzPts val="2800"/>
              <a:buChar char="•"/>
            </a:pPr>
            <a:r>
              <a:rPr lang="es-AR" sz="2800"/>
              <a:t>Mayormente nódulos quísticos   	 </a:t>
            </a:r>
            <a:endParaRPr/>
          </a:p>
          <a:p>
            <a:pPr marL="342900" lvl="0" indent="-342900" algn="just" rtl="0">
              <a:spcBef>
                <a:spcPts val="560"/>
              </a:spcBef>
              <a:spcAft>
                <a:spcPts val="0"/>
              </a:spcAft>
              <a:buClr>
                <a:schemeClr val="lt1"/>
              </a:buClr>
              <a:buSzPts val="2800"/>
              <a:buChar char="•"/>
            </a:pPr>
            <a:r>
              <a:rPr lang="es-AR" sz="2800"/>
              <a:t>Nódulos esponjosos no asociados con ningún hallazgo sospechoso en US o elastografía </a:t>
            </a:r>
            <a:endParaRPr sz="2800"/>
          </a:p>
        </p:txBody>
      </p:sp>
      <p:sp>
        <p:nvSpPr>
          <p:cNvPr id="204" name="Google Shape;204;p15"/>
          <p:cNvSpPr/>
          <p:nvPr/>
        </p:nvSpPr>
        <p:spPr>
          <a:xfrm>
            <a:off x="4000496" y="3500438"/>
            <a:ext cx="571504" cy="1000132"/>
          </a:xfrm>
          <a:prstGeom prst="downArrow">
            <a:avLst>
              <a:gd name="adj1" fmla="val 50000"/>
              <a:gd name="adj2" fmla="val 50000"/>
            </a:avLst>
          </a:prstGeom>
          <a:solidFill>
            <a:srgbClr val="FFFF00"/>
          </a:solidFill>
          <a:ln w="25400" cap="flat" cmpd="sng">
            <a:solidFill>
              <a:srgbClr val="C2D59B"/>
            </a:solidFill>
            <a:prstDash val="solid"/>
            <a:round/>
            <a:headEnd type="none" w="sm" len="sm"/>
            <a:tailEnd type="none" w="sm" len="sm"/>
          </a:ln>
          <a:effectLst>
            <a:outerShdw blurRad="57150" dist="19050" dir="5400000" algn="bl" rotWithShape="0">
              <a:srgbClr val="0000FF">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15"/>
          <p:cNvSpPr/>
          <p:nvPr/>
        </p:nvSpPr>
        <p:spPr>
          <a:xfrm>
            <a:off x="928662" y="5072074"/>
            <a:ext cx="2786082" cy="928694"/>
          </a:xfrm>
          <a:prstGeom prst="roundRect">
            <a:avLst>
              <a:gd name="adj" fmla="val 16667"/>
            </a:avLst>
          </a:prstGeom>
          <a:solidFill>
            <a:srgbClr val="FFFF00"/>
          </a:solidFill>
          <a:ln w="25400" cap="flat" cmpd="sng">
            <a:solidFill>
              <a:srgbClr val="76923C"/>
            </a:solidFill>
            <a:prstDash val="solid"/>
            <a:round/>
            <a:headEnd type="none" w="sm" len="sm"/>
            <a:tailEnd type="none" w="sm" len="sm"/>
          </a:ln>
          <a:effectLst>
            <a:outerShdw blurRad="57150" dist="19050" dir="5400000" algn="bl" rotWithShape="0">
              <a:srgbClr val="0000FF">
                <a:alpha val="7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s-AR" sz="1800">
                <a:solidFill>
                  <a:srgbClr val="0C0C0C"/>
                </a:solidFill>
              </a:rPr>
              <a:t>Lesión de tiroides de bajo riesgo</a:t>
            </a:r>
            <a:endParaRPr sz="1800">
              <a:solidFill>
                <a:srgbClr val="0C0C0C"/>
              </a:solidFill>
            </a:endParaRPr>
          </a:p>
        </p:txBody>
      </p:sp>
      <p:sp>
        <p:nvSpPr>
          <p:cNvPr id="206" name="Google Shape;206;p15"/>
          <p:cNvSpPr/>
          <p:nvPr/>
        </p:nvSpPr>
        <p:spPr>
          <a:xfrm>
            <a:off x="4857752" y="5072074"/>
            <a:ext cx="2786082" cy="928694"/>
          </a:xfrm>
          <a:prstGeom prst="roundRect">
            <a:avLst>
              <a:gd name="adj" fmla="val 16667"/>
            </a:avLst>
          </a:prstGeom>
          <a:solidFill>
            <a:srgbClr val="FFFF00"/>
          </a:solidFill>
          <a:ln w="25400" cap="flat" cmpd="sng">
            <a:solidFill>
              <a:srgbClr val="76923C"/>
            </a:solidFill>
            <a:prstDash val="solid"/>
            <a:round/>
            <a:headEnd type="none" w="sm" len="sm"/>
            <a:tailEnd type="none" w="sm" len="sm"/>
          </a:ln>
          <a:effectLst>
            <a:outerShdw blurRad="57150" dist="19050" dir="5400000" algn="bl" rotWithShape="0">
              <a:srgbClr val="0000FF">
                <a:alpha val="7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rgbClr val="0C0C0C"/>
              </a:buClr>
              <a:buSzPts val="1800"/>
              <a:buFont typeface="Calibri"/>
              <a:buNone/>
            </a:pPr>
            <a:r>
              <a:rPr lang="es-AR" sz="1800">
                <a:solidFill>
                  <a:srgbClr val="0C0C0C"/>
                </a:solidFill>
              </a:rPr>
              <a:t>Riesgo esperado de malignidad, alrededor del 1%. </a:t>
            </a:r>
            <a:endParaRPr sz="1800">
              <a:solidFill>
                <a:srgbClr val="0C0C0C"/>
              </a:solidFill>
            </a:endParaRPr>
          </a:p>
        </p:txBody>
      </p:sp>
      <p:pic>
        <p:nvPicPr>
          <p:cNvPr id="207" name="Google Shape;207;p15"/>
          <p:cNvPicPr preferRelativeResize="0"/>
          <p:nvPr/>
        </p:nvPicPr>
        <p:blipFill rotWithShape="1">
          <a:blip r:embed="rId3">
            <a:alphaModFix/>
          </a:blip>
          <a:srcRect/>
          <a:stretch/>
        </p:blipFill>
        <p:spPr>
          <a:xfrm>
            <a:off x="142844" y="285728"/>
            <a:ext cx="8929750" cy="27956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anim calcmode="lin" valueType="num">
                                      <p:cBhvr additive="base">
                                        <p:cTn id="7" dur="500"/>
                                        <p:tgtEl>
                                          <p:spTgt spid="204"/>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05"/>
                                        </p:tgtEl>
                                        <p:attrNameLst>
                                          <p:attrName>style.visibility</p:attrName>
                                        </p:attrNameLst>
                                      </p:cBhvr>
                                      <p:to>
                                        <p:strVal val="visible"/>
                                      </p:to>
                                    </p:set>
                                    <p:anim calcmode="lin" valueType="num">
                                      <p:cBhvr additive="base">
                                        <p:cTn id="10" dur="500"/>
                                        <p:tgtEl>
                                          <p:spTgt spid="205"/>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206"/>
                                        </p:tgtEl>
                                        <p:attrNameLst>
                                          <p:attrName>style.visibility</p:attrName>
                                        </p:attrNameLst>
                                      </p:cBhvr>
                                      <p:to>
                                        <p:strVal val="visible"/>
                                      </p:to>
                                    </p:set>
                                    <p:anim calcmode="lin" valueType="num">
                                      <p:cBhvr additive="base">
                                        <p:cTn id="13" dur="500"/>
                                        <p:tgtEl>
                                          <p:spTgt spid="206"/>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07"/>
                                        </p:tgtEl>
                                        <p:attrNameLst>
                                          <p:attrName>style.visibility</p:attrName>
                                        </p:attrNameLst>
                                      </p:cBhvr>
                                      <p:to>
                                        <p:strVal val="visible"/>
                                      </p:to>
                                    </p:set>
                                    <p:anim calcmode="lin" valueType="num">
                                      <p:cBhvr additive="base">
                                        <p:cTn id="18" dur="500"/>
                                        <p:tgtEl>
                                          <p:spTgt spid="2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4400"/>
              <a:buFont typeface="Calibri"/>
              <a:buNone/>
            </a:pPr>
            <a:endParaRPr/>
          </a:p>
        </p:txBody>
      </p:sp>
      <p:sp>
        <p:nvSpPr>
          <p:cNvPr id="214" name="Google Shape;214;p16"/>
          <p:cNvSpPr txBox="1">
            <a:spLocks noGrp="1"/>
          </p:cNvSpPr>
          <p:nvPr>
            <p:ph type="body" idx="1"/>
          </p:nvPr>
        </p:nvSpPr>
        <p:spPr>
          <a:xfrm>
            <a:off x="71406" y="1571612"/>
            <a:ext cx="8786842"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lt1"/>
              </a:buClr>
              <a:buSzPts val="2400"/>
              <a:buChar char="•"/>
            </a:pPr>
            <a:r>
              <a:rPr lang="es-AR" sz="2400"/>
              <a:t>Ligeramente hipoecoicos o isoecoicos </a:t>
            </a:r>
            <a:endParaRPr/>
          </a:p>
          <a:p>
            <a:pPr marL="342900" lvl="0" indent="-342900" algn="just" rtl="0">
              <a:spcBef>
                <a:spcPts val="480"/>
              </a:spcBef>
              <a:spcAft>
                <a:spcPts val="0"/>
              </a:spcAft>
              <a:buClr>
                <a:schemeClr val="lt1"/>
              </a:buClr>
              <a:buSzPts val="2400"/>
              <a:buChar char="•"/>
            </a:pPr>
            <a:r>
              <a:rPr lang="es-AR" sz="2400"/>
              <a:t>Forma ovoide a redonda </a:t>
            </a:r>
            <a:endParaRPr/>
          </a:p>
          <a:p>
            <a:pPr marL="342900" lvl="0" indent="-342900" algn="just" rtl="0">
              <a:spcBef>
                <a:spcPts val="480"/>
              </a:spcBef>
              <a:spcAft>
                <a:spcPts val="0"/>
              </a:spcAft>
              <a:buClr>
                <a:schemeClr val="lt1"/>
              </a:buClr>
              <a:buSzPts val="2400"/>
              <a:buChar char="•"/>
            </a:pPr>
            <a:r>
              <a:rPr lang="es-AR" sz="2400"/>
              <a:t>Márgenes lisos o mal definidos.</a:t>
            </a:r>
            <a:endParaRPr/>
          </a:p>
          <a:p>
            <a:pPr marL="342900" lvl="0" indent="-342900" algn="just" rtl="0">
              <a:spcBef>
                <a:spcPts val="480"/>
              </a:spcBef>
              <a:spcAft>
                <a:spcPts val="0"/>
              </a:spcAft>
              <a:buClr>
                <a:schemeClr val="lt1"/>
              </a:buClr>
              <a:buSzPts val="2400"/>
              <a:buChar char="•"/>
            </a:pPr>
            <a:r>
              <a:rPr lang="es-AR" sz="2400"/>
              <a:t>Vascularización intranodular </a:t>
            </a:r>
            <a:endParaRPr/>
          </a:p>
          <a:p>
            <a:pPr marL="342900" lvl="0" indent="-342900" algn="just" rtl="0">
              <a:spcBef>
                <a:spcPts val="480"/>
              </a:spcBef>
              <a:spcAft>
                <a:spcPts val="0"/>
              </a:spcAft>
              <a:buClr>
                <a:schemeClr val="lt1"/>
              </a:buClr>
              <a:buSzPts val="2400"/>
              <a:buChar char="•"/>
            </a:pPr>
            <a:r>
              <a:rPr lang="es-AR" sz="2400"/>
              <a:t>Calcificaciones de borde macro o continuo</a:t>
            </a:r>
            <a:endParaRPr/>
          </a:p>
          <a:p>
            <a:pPr marL="342900" lvl="0" indent="-342900" algn="just" rtl="0">
              <a:spcBef>
                <a:spcPts val="480"/>
              </a:spcBef>
              <a:spcAft>
                <a:spcPts val="0"/>
              </a:spcAft>
              <a:buClr>
                <a:schemeClr val="lt1"/>
              </a:buClr>
              <a:buSzPts val="2400"/>
              <a:buChar char="•"/>
            </a:pPr>
            <a:r>
              <a:rPr lang="es-AR" sz="2400"/>
              <a:t>Aumento de la rigidez en la elastografía  </a:t>
            </a:r>
            <a:endParaRPr sz="2400"/>
          </a:p>
        </p:txBody>
      </p:sp>
      <p:sp>
        <p:nvSpPr>
          <p:cNvPr id="215" name="Google Shape;215;p16"/>
          <p:cNvSpPr/>
          <p:nvPr/>
        </p:nvSpPr>
        <p:spPr>
          <a:xfrm>
            <a:off x="4000496" y="4357694"/>
            <a:ext cx="571504" cy="1000132"/>
          </a:xfrm>
          <a:prstGeom prst="downArrow">
            <a:avLst>
              <a:gd name="adj1" fmla="val 50000"/>
              <a:gd name="adj2" fmla="val 50000"/>
            </a:avLst>
          </a:prstGeom>
          <a:solidFill>
            <a:srgbClr val="FFFF00"/>
          </a:solidFill>
          <a:ln w="25400" cap="flat" cmpd="sng">
            <a:solidFill>
              <a:srgbClr val="F3F347"/>
            </a:solidFill>
            <a:prstDash val="solid"/>
            <a:round/>
            <a:headEnd type="none" w="sm" len="sm"/>
            <a:tailEnd type="none" w="sm" len="sm"/>
          </a:ln>
          <a:effectLst>
            <a:outerShdw blurRad="57150" dist="19050" dir="5400000" algn="bl" rotWithShape="0">
              <a:srgbClr val="0000FF">
                <a:alpha val="7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6" name="Google Shape;216;p16"/>
          <p:cNvSpPr/>
          <p:nvPr/>
        </p:nvSpPr>
        <p:spPr>
          <a:xfrm>
            <a:off x="928662" y="5572140"/>
            <a:ext cx="2786082" cy="928694"/>
          </a:xfrm>
          <a:prstGeom prst="roundRect">
            <a:avLst>
              <a:gd name="adj" fmla="val 16667"/>
            </a:avLst>
          </a:prstGeom>
          <a:solidFill>
            <a:srgbClr val="FFFF00"/>
          </a:solidFill>
          <a:ln w="25400" cap="flat" cmpd="sng">
            <a:solidFill>
              <a:srgbClr val="F3F347"/>
            </a:solidFill>
            <a:prstDash val="solid"/>
            <a:round/>
            <a:headEnd type="none" w="sm" len="sm"/>
            <a:tailEnd type="none" w="sm" len="sm"/>
          </a:ln>
          <a:effectLst>
            <a:outerShdw blurRad="57150" dist="19050" dir="5400000" algn="bl" rotWithShape="0">
              <a:srgbClr val="0000FF">
                <a:alpha val="7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s-AR" sz="1800">
                <a:solidFill>
                  <a:srgbClr val="0C0C0C"/>
                </a:solidFill>
                <a:latin typeface="Calibri"/>
                <a:ea typeface="Calibri"/>
                <a:cs typeface="Calibri"/>
                <a:sym typeface="Calibri"/>
              </a:rPr>
              <a:t>Lesión de tiroides de  riesgo intermedio</a:t>
            </a:r>
            <a:endParaRPr sz="1800">
              <a:solidFill>
                <a:srgbClr val="0C0C0C"/>
              </a:solidFill>
              <a:latin typeface="Calibri"/>
              <a:ea typeface="Calibri"/>
              <a:cs typeface="Calibri"/>
              <a:sym typeface="Calibri"/>
            </a:endParaRPr>
          </a:p>
        </p:txBody>
      </p:sp>
      <p:sp>
        <p:nvSpPr>
          <p:cNvPr id="217" name="Google Shape;217;p16"/>
          <p:cNvSpPr/>
          <p:nvPr/>
        </p:nvSpPr>
        <p:spPr>
          <a:xfrm>
            <a:off x="4857752" y="5572140"/>
            <a:ext cx="2786082" cy="928694"/>
          </a:xfrm>
          <a:prstGeom prst="roundRect">
            <a:avLst>
              <a:gd name="adj" fmla="val 16667"/>
            </a:avLst>
          </a:prstGeom>
          <a:solidFill>
            <a:srgbClr val="FFFF00"/>
          </a:solidFill>
          <a:ln w="25400" cap="flat" cmpd="sng">
            <a:solidFill>
              <a:srgbClr val="F3F347"/>
            </a:solidFill>
            <a:prstDash val="solid"/>
            <a:round/>
            <a:headEnd type="none" w="sm" len="sm"/>
            <a:tailEnd type="none" w="sm" len="sm"/>
          </a:ln>
          <a:effectLst>
            <a:outerShdw blurRad="57150" dist="19050" dir="5400000" algn="bl" rotWithShape="0">
              <a:srgbClr val="0000FF">
                <a:alpha val="7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rgbClr val="0C0C0C"/>
              </a:buClr>
              <a:buSzPts val="1800"/>
              <a:buFont typeface="Calibri"/>
              <a:buNone/>
            </a:pPr>
            <a:r>
              <a:rPr lang="es-AR" sz="1800">
                <a:solidFill>
                  <a:srgbClr val="0C0C0C"/>
                </a:solidFill>
                <a:latin typeface="Calibri"/>
                <a:ea typeface="Calibri"/>
                <a:cs typeface="Calibri"/>
                <a:sym typeface="Calibri"/>
              </a:rPr>
              <a:t>Riesgo esperado de malignidad, alrededor del  5 a 15% </a:t>
            </a:r>
            <a:endParaRPr sz="1800">
              <a:solidFill>
                <a:srgbClr val="0C0C0C"/>
              </a:solidFill>
              <a:latin typeface="Calibri"/>
              <a:ea typeface="Calibri"/>
              <a:cs typeface="Calibri"/>
              <a:sym typeface="Calibri"/>
            </a:endParaRPr>
          </a:p>
        </p:txBody>
      </p:sp>
      <p:pic>
        <p:nvPicPr>
          <p:cNvPr id="218" name="Google Shape;218;p16"/>
          <p:cNvPicPr preferRelativeResize="0"/>
          <p:nvPr/>
        </p:nvPicPr>
        <p:blipFill rotWithShape="1">
          <a:blip r:embed="rId3">
            <a:alphaModFix/>
          </a:blip>
          <a:srcRect/>
          <a:stretch/>
        </p:blipFill>
        <p:spPr>
          <a:xfrm>
            <a:off x="142844" y="214290"/>
            <a:ext cx="8715436" cy="400281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5"/>
                                        </p:tgtEl>
                                        <p:attrNameLst>
                                          <p:attrName>style.visibility</p:attrName>
                                        </p:attrNameLst>
                                      </p:cBhvr>
                                      <p:to>
                                        <p:strVal val="visible"/>
                                      </p:to>
                                    </p:set>
                                    <p:anim calcmode="lin" valueType="num">
                                      <p:cBhvr additive="base">
                                        <p:cTn id="7" dur="500"/>
                                        <p:tgtEl>
                                          <p:spTgt spid="21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16"/>
                                        </p:tgtEl>
                                        <p:attrNameLst>
                                          <p:attrName>style.visibility</p:attrName>
                                        </p:attrNameLst>
                                      </p:cBhvr>
                                      <p:to>
                                        <p:strVal val="visible"/>
                                      </p:to>
                                    </p:set>
                                    <p:anim calcmode="lin" valueType="num">
                                      <p:cBhvr additive="base">
                                        <p:cTn id="10" dur="500"/>
                                        <p:tgtEl>
                                          <p:spTgt spid="216"/>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217"/>
                                        </p:tgtEl>
                                        <p:attrNameLst>
                                          <p:attrName>style.visibility</p:attrName>
                                        </p:attrNameLst>
                                      </p:cBhvr>
                                      <p:to>
                                        <p:strVal val="visible"/>
                                      </p:to>
                                    </p:set>
                                    <p:anim calcmode="lin" valueType="num">
                                      <p:cBhvr additive="base">
                                        <p:cTn id="13" dur="500"/>
                                        <p:tgtEl>
                                          <p:spTgt spid="21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18"/>
                                        </p:tgtEl>
                                        <p:attrNameLst>
                                          <p:attrName>style.visibility</p:attrName>
                                        </p:attrNameLst>
                                      </p:cBhvr>
                                      <p:to>
                                        <p:strVal val="visible"/>
                                      </p:to>
                                    </p:set>
                                    <p:anim calcmode="lin" valueType="num">
                                      <p:cBhvr additive="base">
                                        <p:cTn id="18" dur="500"/>
                                        <p:tgtEl>
                                          <p:spTgt spid="2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7"/>
          <p:cNvSpPr txBox="1">
            <a:spLocks noGrp="1"/>
          </p:cNvSpPr>
          <p:nvPr>
            <p:ph type="body" idx="1"/>
          </p:nvPr>
        </p:nvSpPr>
        <p:spPr>
          <a:xfrm>
            <a:off x="71406" y="1571612"/>
            <a:ext cx="8786842"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lt1"/>
              </a:buClr>
              <a:buSzPts val="2400"/>
              <a:buChar char="•"/>
            </a:pPr>
            <a:r>
              <a:rPr lang="es-AR" sz="2400"/>
              <a:t>Nódulos con al menos 1 de los siguientes hallazgos: </a:t>
            </a:r>
            <a:endParaRPr/>
          </a:p>
          <a:p>
            <a:pPr marL="342900" lvl="0" indent="-342900" algn="just" rtl="0">
              <a:spcBef>
                <a:spcPts val="480"/>
              </a:spcBef>
              <a:spcAft>
                <a:spcPts val="0"/>
              </a:spcAft>
              <a:buClr>
                <a:schemeClr val="lt1"/>
              </a:buClr>
              <a:buSzPts val="2400"/>
              <a:buChar char="•"/>
            </a:pPr>
            <a:r>
              <a:rPr lang="es-AR" sz="2400"/>
              <a:t>Hipoecogenicidad marcada</a:t>
            </a:r>
            <a:endParaRPr/>
          </a:p>
          <a:p>
            <a:pPr marL="342900" lvl="0" indent="-342900" algn="just" rtl="0">
              <a:spcBef>
                <a:spcPts val="480"/>
              </a:spcBef>
              <a:spcAft>
                <a:spcPts val="0"/>
              </a:spcAft>
              <a:buClr>
                <a:schemeClr val="lt1"/>
              </a:buClr>
              <a:buSzPts val="2400"/>
              <a:buChar char="•"/>
            </a:pPr>
            <a:r>
              <a:rPr lang="es-AR" sz="2400"/>
              <a:t>Márgenes espiculados o microlobulados</a:t>
            </a:r>
            <a:endParaRPr sz="2400"/>
          </a:p>
          <a:p>
            <a:pPr marL="342900" lvl="0" indent="-342900" algn="just" rtl="0">
              <a:spcBef>
                <a:spcPts val="480"/>
              </a:spcBef>
              <a:spcAft>
                <a:spcPts val="0"/>
              </a:spcAft>
              <a:buClr>
                <a:schemeClr val="lt1"/>
              </a:buClr>
              <a:buSzPts val="2400"/>
              <a:buChar char="•"/>
            </a:pPr>
            <a:r>
              <a:rPr lang="es-AR" sz="2400"/>
              <a:t>Microcalcificaciones</a:t>
            </a:r>
            <a:endParaRPr sz="2400"/>
          </a:p>
          <a:p>
            <a:pPr marL="342900" lvl="0" indent="-342900" algn="just" rtl="0">
              <a:spcBef>
                <a:spcPts val="480"/>
              </a:spcBef>
              <a:spcAft>
                <a:spcPts val="0"/>
              </a:spcAft>
              <a:buClr>
                <a:schemeClr val="lt1"/>
              </a:buClr>
              <a:buSzPts val="2400"/>
              <a:buChar char="•"/>
            </a:pPr>
            <a:r>
              <a:rPr lang="es-AR" sz="2400"/>
              <a:t>Forma más alta que el ancho </a:t>
            </a:r>
            <a:endParaRPr sz="2400"/>
          </a:p>
          <a:p>
            <a:pPr marL="342900" lvl="0" indent="-342900" algn="just" rtl="0">
              <a:spcBef>
                <a:spcPts val="480"/>
              </a:spcBef>
              <a:spcAft>
                <a:spcPts val="0"/>
              </a:spcAft>
              <a:buClr>
                <a:schemeClr val="lt1"/>
              </a:buClr>
              <a:buSzPts val="2400"/>
              <a:buChar char="•"/>
            </a:pPr>
            <a:r>
              <a:rPr lang="es-AR" sz="2400"/>
              <a:t>Crecimiento extratiroideo o linfadenopatía patológica</a:t>
            </a:r>
            <a:endParaRPr sz="2400"/>
          </a:p>
        </p:txBody>
      </p:sp>
      <p:sp>
        <p:nvSpPr>
          <p:cNvPr id="225" name="Google Shape;225;p17"/>
          <p:cNvSpPr/>
          <p:nvPr/>
        </p:nvSpPr>
        <p:spPr>
          <a:xfrm>
            <a:off x="4000496" y="4357694"/>
            <a:ext cx="571504" cy="1000132"/>
          </a:xfrm>
          <a:prstGeom prst="downArrow">
            <a:avLst>
              <a:gd name="adj1" fmla="val 50000"/>
              <a:gd name="adj2" fmla="val 50000"/>
            </a:avLst>
          </a:prstGeom>
          <a:solidFill>
            <a:srgbClr val="FFFF00"/>
          </a:solidFill>
          <a:ln w="25400" cap="flat" cmpd="sng">
            <a:solidFill>
              <a:srgbClr val="FFFF00"/>
            </a:solidFill>
            <a:prstDash val="solid"/>
            <a:round/>
            <a:headEnd type="none" w="sm" len="sm"/>
            <a:tailEnd type="none" w="sm" len="sm"/>
          </a:ln>
          <a:effectLst>
            <a:outerShdw blurRad="57150" dist="19050" dir="5400000" algn="bl" rotWithShape="0">
              <a:srgbClr val="0000FF">
                <a:alpha val="7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17"/>
          <p:cNvSpPr/>
          <p:nvPr/>
        </p:nvSpPr>
        <p:spPr>
          <a:xfrm>
            <a:off x="1000100" y="5500702"/>
            <a:ext cx="2786082" cy="928694"/>
          </a:xfrm>
          <a:prstGeom prst="roundRect">
            <a:avLst>
              <a:gd name="adj" fmla="val 16667"/>
            </a:avLst>
          </a:prstGeom>
          <a:solidFill>
            <a:srgbClr val="FFFF00"/>
          </a:solidFill>
          <a:ln w="25400" cap="flat" cmpd="sng">
            <a:solidFill>
              <a:srgbClr val="FFFF00"/>
            </a:solidFill>
            <a:prstDash val="solid"/>
            <a:round/>
            <a:headEnd type="none" w="sm" len="sm"/>
            <a:tailEnd type="none" w="sm" len="sm"/>
          </a:ln>
          <a:effectLst>
            <a:outerShdw blurRad="57150" dist="19050" dir="5400000" algn="bl" rotWithShape="0">
              <a:srgbClr val="0000FF">
                <a:alpha val="7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s-AR" sz="2000">
                <a:solidFill>
                  <a:srgbClr val="0C0C0C"/>
                </a:solidFill>
                <a:latin typeface="Calibri"/>
                <a:ea typeface="Calibri"/>
                <a:cs typeface="Calibri"/>
                <a:sym typeface="Calibri"/>
              </a:rPr>
              <a:t>Lesión de tiroides de  alto riesgo</a:t>
            </a:r>
            <a:endParaRPr sz="2000">
              <a:solidFill>
                <a:srgbClr val="0C0C0C"/>
              </a:solidFill>
              <a:latin typeface="Calibri"/>
              <a:ea typeface="Calibri"/>
              <a:cs typeface="Calibri"/>
              <a:sym typeface="Calibri"/>
            </a:endParaRPr>
          </a:p>
        </p:txBody>
      </p:sp>
      <p:sp>
        <p:nvSpPr>
          <p:cNvPr id="227" name="Google Shape;227;p17"/>
          <p:cNvSpPr/>
          <p:nvPr/>
        </p:nvSpPr>
        <p:spPr>
          <a:xfrm>
            <a:off x="4857752" y="5572140"/>
            <a:ext cx="2786082" cy="928694"/>
          </a:xfrm>
          <a:prstGeom prst="roundRect">
            <a:avLst>
              <a:gd name="adj" fmla="val 16667"/>
            </a:avLst>
          </a:prstGeom>
          <a:solidFill>
            <a:srgbClr val="FFFF00"/>
          </a:solidFill>
          <a:ln w="25400" cap="flat" cmpd="sng">
            <a:solidFill>
              <a:srgbClr val="FFFF00"/>
            </a:solidFill>
            <a:prstDash val="solid"/>
            <a:round/>
            <a:headEnd type="none" w="sm" len="sm"/>
            <a:tailEnd type="none" w="sm" len="sm"/>
          </a:ln>
          <a:effectLst>
            <a:outerShdw blurRad="57150" dist="19050" dir="5400000" algn="bl" rotWithShape="0">
              <a:srgbClr val="0000FF">
                <a:alpha val="7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rgbClr val="0C0C0C"/>
              </a:buClr>
              <a:buSzPts val="2000"/>
              <a:buFont typeface="Calibri"/>
              <a:buNone/>
            </a:pPr>
            <a:r>
              <a:rPr lang="es-AR" sz="2000">
                <a:solidFill>
                  <a:srgbClr val="0C0C0C"/>
                </a:solidFill>
                <a:latin typeface="Calibri"/>
                <a:ea typeface="Calibri"/>
                <a:cs typeface="Calibri"/>
                <a:sym typeface="Calibri"/>
              </a:rPr>
              <a:t>Riesgo esperado de malignidad, alrededor del  50 a 90% </a:t>
            </a:r>
            <a:endParaRPr sz="2000">
              <a:solidFill>
                <a:srgbClr val="0C0C0C"/>
              </a:solidFill>
              <a:latin typeface="Calibri"/>
              <a:ea typeface="Calibri"/>
              <a:cs typeface="Calibri"/>
              <a:sym typeface="Calibri"/>
            </a:endParaRPr>
          </a:p>
        </p:txBody>
      </p:sp>
      <p:pic>
        <p:nvPicPr>
          <p:cNvPr id="228" name="Google Shape;228;p17"/>
          <p:cNvPicPr preferRelativeResize="0"/>
          <p:nvPr/>
        </p:nvPicPr>
        <p:blipFill rotWithShape="1">
          <a:blip r:embed="rId3">
            <a:alphaModFix/>
          </a:blip>
          <a:srcRect/>
          <a:stretch/>
        </p:blipFill>
        <p:spPr>
          <a:xfrm>
            <a:off x="142844" y="785794"/>
            <a:ext cx="8715436" cy="335758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 calcmode="lin" valueType="num">
                                      <p:cBhvr additive="base">
                                        <p:cTn id="7" dur="500"/>
                                        <p:tgtEl>
                                          <p:spTgt spid="22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26"/>
                                        </p:tgtEl>
                                        <p:attrNameLst>
                                          <p:attrName>style.visibility</p:attrName>
                                        </p:attrNameLst>
                                      </p:cBhvr>
                                      <p:to>
                                        <p:strVal val="visible"/>
                                      </p:to>
                                    </p:set>
                                    <p:anim calcmode="lin" valueType="num">
                                      <p:cBhvr additive="base">
                                        <p:cTn id="10" dur="500"/>
                                        <p:tgtEl>
                                          <p:spTgt spid="226"/>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227"/>
                                        </p:tgtEl>
                                        <p:attrNameLst>
                                          <p:attrName>style.visibility</p:attrName>
                                        </p:attrNameLst>
                                      </p:cBhvr>
                                      <p:to>
                                        <p:strVal val="visible"/>
                                      </p:to>
                                    </p:set>
                                    <p:anim calcmode="lin" valueType="num">
                                      <p:cBhvr additive="base">
                                        <p:cTn id="13" dur="500"/>
                                        <p:tgtEl>
                                          <p:spTgt spid="227"/>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28"/>
                                        </p:tgtEl>
                                        <p:attrNameLst>
                                          <p:attrName>style.visibility</p:attrName>
                                        </p:attrNameLst>
                                      </p:cBhvr>
                                      <p:to>
                                        <p:strVal val="visible"/>
                                      </p:to>
                                    </p:set>
                                    <p:anim calcmode="lin" valueType="num">
                                      <p:cBhvr additive="base">
                                        <p:cTn id="18" dur="500"/>
                                        <p:tgtEl>
                                          <p:spTgt spid="2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28094a0bef2_0_7"/>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235" name="Google Shape;235;g28094a0bef2_0_7"/>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pic>
        <p:nvPicPr>
          <p:cNvPr id="236" name="Google Shape;236;g28094a0bef2_0_7"/>
          <p:cNvPicPr preferRelativeResize="0"/>
          <p:nvPr/>
        </p:nvPicPr>
        <p:blipFill>
          <a:blip r:embed="rId3">
            <a:alphaModFix/>
          </a:blip>
          <a:stretch>
            <a:fillRect/>
          </a:stretch>
        </p:blipFill>
        <p:spPr>
          <a:xfrm>
            <a:off x="0" y="256953"/>
            <a:ext cx="9144000" cy="634409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pic>
        <p:nvPicPr>
          <p:cNvPr id="242" name="Google Shape;242;g28094a0bef2_0_14"/>
          <p:cNvPicPr preferRelativeResize="0"/>
          <p:nvPr/>
        </p:nvPicPr>
        <p:blipFill>
          <a:blip r:embed="rId3">
            <a:alphaModFix/>
          </a:blip>
          <a:stretch>
            <a:fillRect/>
          </a:stretch>
        </p:blipFill>
        <p:spPr>
          <a:xfrm>
            <a:off x="0" y="770860"/>
            <a:ext cx="9144000" cy="531627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9"/>
          <p:cNvSpPr txBox="1">
            <a:spLocks noGrp="1"/>
          </p:cNvSpPr>
          <p:nvPr>
            <p:ph type="body" idx="1"/>
          </p:nvPr>
        </p:nvSpPr>
        <p:spPr>
          <a:xfrm>
            <a:off x="457200" y="1285860"/>
            <a:ext cx="8229600" cy="4525963"/>
          </a:xfrm>
          <a:prstGeom prst="rect">
            <a:avLst/>
          </a:prstGeom>
          <a:noFill/>
          <a:ln>
            <a:noFill/>
          </a:ln>
          <a:effectLst>
            <a:outerShdw blurRad="57150" dist="19050" dir="5400000" algn="bl" rotWithShape="0">
              <a:srgbClr val="FF0000">
                <a:alpha val="70000"/>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chemeClr val="lt1"/>
              </a:buClr>
              <a:buSzPts val="3200"/>
              <a:buNone/>
            </a:pPr>
            <a:r>
              <a:rPr lang="es-AR">
                <a:solidFill>
                  <a:schemeClr val="lt2"/>
                </a:solidFill>
              </a:rPr>
              <a:t>• </a:t>
            </a:r>
            <a:r>
              <a:rPr lang="es-AR" u="sng">
                <a:solidFill>
                  <a:schemeClr val="lt2"/>
                </a:solidFill>
              </a:rPr>
              <a:t>DIAGNÓSTICO DE NÓDULOS TIROIDEOS:  PAAF </a:t>
            </a:r>
            <a:endParaRPr>
              <a:solidFill>
                <a:schemeClr val="lt2"/>
              </a:solidFill>
            </a:endParaRPr>
          </a:p>
          <a:p>
            <a:pPr marL="1257300" lvl="0" indent="-342900" algn="l" rtl="0">
              <a:spcBef>
                <a:spcPts val="640"/>
              </a:spcBef>
              <a:spcAft>
                <a:spcPts val="0"/>
              </a:spcAft>
              <a:buClr>
                <a:schemeClr val="lt1"/>
              </a:buClr>
              <a:buSzPts val="3200"/>
              <a:buNone/>
            </a:pPr>
            <a:r>
              <a:rPr lang="es-AR">
                <a:solidFill>
                  <a:schemeClr val="lt2"/>
                </a:solidFill>
              </a:rPr>
              <a:t>Guías Para Nódulo tiroideo (ATA 2015)</a:t>
            </a:r>
            <a:endParaRPr>
              <a:solidFill>
                <a:schemeClr val="lt2"/>
              </a:solidFill>
            </a:endParaRPr>
          </a:p>
          <a:p>
            <a:pPr marL="342900" lvl="0" indent="-342900" algn="l" rtl="0">
              <a:spcBef>
                <a:spcPts val="640"/>
              </a:spcBef>
              <a:spcAft>
                <a:spcPts val="0"/>
              </a:spcAft>
              <a:buClr>
                <a:schemeClr val="lt1"/>
              </a:buClr>
              <a:buSzPts val="3200"/>
              <a:buNone/>
            </a:pPr>
            <a:endParaRPr/>
          </a:p>
          <a:p>
            <a:pPr marL="342900" lvl="0" indent="-342900" algn="l" rtl="0">
              <a:spcBef>
                <a:spcPts val="640"/>
              </a:spcBef>
              <a:spcAft>
                <a:spcPts val="0"/>
              </a:spcAft>
              <a:buClr>
                <a:schemeClr val="lt1"/>
              </a:buClr>
              <a:buSzPts val="3200"/>
              <a:buNone/>
            </a:pPr>
            <a:endParaRPr/>
          </a:p>
        </p:txBody>
      </p:sp>
      <p:sp>
        <p:nvSpPr>
          <p:cNvPr id="248" name="Google Shape;248;p19"/>
          <p:cNvSpPr/>
          <p:nvPr/>
        </p:nvSpPr>
        <p:spPr>
          <a:xfrm>
            <a:off x="571472" y="2714620"/>
            <a:ext cx="8072494" cy="1571636"/>
          </a:xfrm>
          <a:prstGeom prst="roundRect">
            <a:avLst>
              <a:gd name="adj" fmla="val 16667"/>
            </a:avLst>
          </a:prstGeom>
          <a:solidFill>
            <a:srgbClr val="FFFF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2700" b="1">
                <a:solidFill>
                  <a:schemeClr val="dk1"/>
                </a:solidFill>
                <a:latin typeface="Calibri"/>
                <a:ea typeface="Calibri"/>
                <a:cs typeface="Calibri"/>
                <a:sym typeface="Calibri"/>
              </a:rPr>
              <a:t>Nódulos &gt; de 1 cm en su eje mayor con alta sospecha de los patrones ecográficos.</a:t>
            </a:r>
            <a:r>
              <a:rPr lang="es-AR"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249" name="Google Shape;249;p19"/>
          <p:cNvSpPr/>
          <p:nvPr/>
        </p:nvSpPr>
        <p:spPr>
          <a:xfrm>
            <a:off x="571472" y="4500570"/>
            <a:ext cx="8072494" cy="1571636"/>
          </a:xfrm>
          <a:prstGeom prst="roundRect">
            <a:avLst>
              <a:gd name="adj" fmla="val 16667"/>
            </a:avLst>
          </a:prstGeom>
          <a:solidFill>
            <a:srgbClr val="FFFF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alibri"/>
              <a:buNone/>
            </a:pPr>
            <a:r>
              <a:rPr lang="es-AR" sz="2700" b="1">
                <a:solidFill>
                  <a:schemeClr val="dk1"/>
                </a:solidFill>
                <a:latin typeface="Calibri"/>
                <a:ea typeface="Calibri"/>
                <a:cs typeface="Calibri"/>
                <a:sym typeface="Calibri"/>
              </a:rPr>
              <a:t>Nódulos &gt; de 1 cm en su eje mayor con sospecha intermedia de los patrones ecográficos.</a:t>
            </a:r>
            <a:endParaRPr sz="2700" b="1">
              <a:solidFill>
                <a:schemeClr val="dk1"/>
              </a:solidFill>
              <a:latin typeface="Calibri"/>
              <a:ea typeface="Calibri"/>
              <a:cs typeface="Calibri"/>
              <a:sym typeface="Calibri"/>
            </a:endParaRPr>
          </a:p>
        </p:txBody>
      </p:sp>
      <p:sp>
        <p:nvSpPr>
          <p:cNvPr id="250" name="Google Shape;250;p19"/>
          <p:cNvSpPr txBox="1"/>
          <p:nvPr/>
        </p:nvSpPr>
        <p:spPr>
          <a:xfrm>
            <a:off x="0" y="6466668"/>
            <a:ext cx="9081100"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1000">
                <a:solidFill>
                  <a:schemeClr val="lt1"/>
                </a:solidFill>
                <a:latin typeface="Calibri"/>
                <a:ea typeface="Calibri"/>
                <a:cs typeface="Calibri"/>
                <a:sym typeface="Calibri"/>
              </a:rPr>
              <a:t>2015 American Thyroid Association Management Guidelines for Adult Patients with Thyroid Nodules and Differentiated Thyroid Cancer The American Thyroid Association Guidelines Task Force on Thyroid Nodules and Differentiated Thyroid Cancer</a:t>
            </a:r>
            <a:endParaRPr sz="10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48"/>
                                        </p:tgtEl>
                                        <p:attrNameLst>
                                          <p:attrName>style.visibility</p:attrName>
                                        </p:attrNameLst>
                                      </p:cBhvr>
                                      <p:to>
                                        <p:strVal val="visible"/>
                                      </p:to>
                                    </p:set>
                                    <p:anim calcmode="lin" valueType="num">
                                      <p:cBhvr additive="base">
                                        <p:cTn id="7" dur="500"/>
                                        <p:tgtEl>
                                          <p:spTgt spid="248"/>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49"/>
                                        </p:tgtEl>
                                        <p:attrNameLst>
                                          <p:attrName>style.visibility</p:attrName>
                                        </p:attrNameLst>
                                      </p:cBhvr>
                                      <p:to>
                                        <p:strVal val="visible"/>
                                      </p:to>
                                    </p:set>
                                    <p:anim calcmode="lin" valueType="num">
                                      <p:cBhvr additive="base">
                                        <p:cTn id="10" dur="500"/>
                                        <p:tgtEl>
                                          <p:spTgt spid="2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body" idx="1"/>
          </p:nvPr>
        </p:nvSpPr>
        <p:spPr>
          <a:xfrm>
            <a:off x="457200" y="1285860"/>
            <a:ext cx="8229600" cy="4525963"/>
          </a:xfrm>
          <a:prstGeom prst="rect">
            <a:avLst/>
          </a:prstGeom>
          <a:noFill/>
          <a:ln>
            <a:noFill/>
          </a:ln>
          <a:effectLst>
            <a:outerShdw blurRad="57150" dist="19050" dir="5400000" algn="bl" rotWithShape="0">
              <a:srgbClr val="FF0000">
                <a:alpha val="70000"/>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chemeClr val="lt1"/>
              </a:buClr>
              <a:buSzPts val="3200"/>
              <a:buNone/>
            </a:pPr>
            <a:r>
              <a:rPr lang="es-AR" u="sng">
                <a:solidFill>
                  <a:schemeClr val="lt2"/>
                </a:solidFill>
              </a:rPr>
              <a:t>DIAGNÓSTICO DE NÓDULOS TIROIDEOS:  PAAF </a:t>
            </a:r>
            <a:endParaRPr>
              <a:solidFill>
                <a:schemeClr val="lt2"/>
              </a:solidFill>
            </a:endParaRPr>
          </a:p>
          <a:p>
            <a:pPr marL="1257300" lvl="0" indent="-342900" algn="l" rtl="0">
              <a:spcBef>
                <a:spcPts val="640"/>
              </a:spcBef>
              <a:spcAft>
                <a:spcPts val="0"/>
              </a:spcAft>
              <a:buClr>
                <a:schemeClr val="lt1"/>
              </a:buClr>
              <a:buSzPts val="3200"/>
              <a:buNone/>
            </a:pPr>
            <a:r>
              <a:rPr lang="es-AR">
                <a:solidFill>
                  <a:schemeClr val="lt2"/>
                </a:solidFill>
              </a:rPr>
              <a:t>Guías Para Nódulo tiroideo (ATA 2015)</a:t>
            </a:r>
            <a:endParaRPr>
              <a:solidFill>
                <a:schemeClr val="lt2"/>
              </a:solidFill>
            </a:endParaRPr>
          </a:p>
          <a:p>
            <a:pPr marL="342900" lvl="0" indent="-342900" algn="l" rtl="0">
              <a:spcBef>
                <a:spcPts val="640"/>
              </a:spcBef>
              <a:spcAft>
                <a:spcPts val="0"/>
              </a:spcAft>
              <a:buClr>
                <a:schemeClr val="lt1"/>
              </a:buClr>
              <a:buSzPts val="3200"/>
              <a:buNone/>
            </a:pPr>
            <a:endParaRPr/>
          </a:p>
        </p:txBody>
      </p:sp>
      <p:sp>
        <p:nvSpPr>
          <p:cNvPr id="256" name="Google Shape;256;p20"/>
          <p:cNvSpPr/>
          <p:nvPr/>
        </p:nvSpPr>
        <p:spPr>
          <a:xfrm>
            <a:off x="500034" y="4714884"/>
            <a:ext cx="8072494" cy="1571636"/>
          </a:xfrm>
          <a:prstGeom prst="roundRect">
            <a:avLst>
              <a:gd name="adj" fmla="val 16667"/>
            </a:avLst>
          </a:prstGeom>
          <a:solidFill>
            <a:srgbClr val="FFFF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alibri"/>
              <a:buNone/>
            </a:pPr>
            <a:r>
              <a:rPr lang="es-AR" sz="2700" b="1">
                <a:solidFill>
                  <a:schemeClr val="dk1"/>
                </a:solidFill>
                <a:latin typeface="Calibri"/>
                <a:ea typeface="Calibri"/>
                <a:cs typeface="Calibri"/>
                <a:sym typeface="Calibri"/>
              </a:rPr>
              <a:t>Nódulos &gt; de 2 cm en su eje mayor con muy baja sospecha de los patrones ecográficos. (Espongiformes)</a:t>
            </a:r>
            <a:endParaRPr sz="2700" b="1">
              <a:solidFill>
                <a:schemeClr val="dk1"/>
              </a:solidFill>
              <a:latin typeface="Calibri"/>
              <a:ea typeface="Calibri"/>
              <a:cs typeface="Calibri"/>
              <a:sym typeface="Calibri"/>
            </a:endParaRPr>
          </a:p>
        </p:txBody>
      </p:sp>
      <p:sp>
        <p:nvSpPr>
          <p:cNvPr id="257" name="Google Shape;257;p20"/>
          <p:cNvSpPr/>
          <p:nvPr/>
        </p:nvSpPr>
        <p:spPr>
          <a:xfrm>
            <a:off x="500034" y="2857496"/>
            <a:ext cx="8072494" cy="1571636"/>
          </a:xfrm>
          <a:prstGeom prst="roundRect">
            <a:avLst>
              <a:gd name="adj" fmla="val 16667"/>
            </a:avLst>
          </a:prstGeom>
          <a:solidFill>
            <a:srgbClr val="FFFF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2700" b="1">
                <a:solidFill>
                  <a:schemeClr val="dk1"/>
                </a:solidFill>
                <a:latin typeface="Calibri"/>
                <a:ea typeface="Calibri"/>
                <a:cs typeface="Calibri"/>
                <a:sym typeface="Calibri"/>
              </a:rPr>
              <a:t>Nódulos &gt; de 1.5 cm en su eje mayor con baja sospecha de los patrones ecográficos.</a:t>
            </a:r>
            <a:endParaRPr sz="1700" b="1"/>
          </a:p>
        </p:txBody>
      </p:sp>
      <p:sp>
        <p:nvSpPr>
          <p:cNvPr id="258" name="Google Shape;258;p20"/>
          <p:cNvSpPr txBox="1"/>
          <p:nvPr/>
        </p:nvSpPr>
        <p:spPr>
          <a:xfrm>
            <a:off x="0" y="6466668"/>
            <a:ext cx="9081100"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1000">
                <a:solidFill>
                  <a:schemeClr val="lt1"/>
                </a:solidFill>
                <a:latin typeface="Calibri"/>
                <a:ea typeface="Calibri"/>
                <a:cs typeface="Calibri"/>
                <a:sym typeface="Calibri"/>
              </a:rPr>
              <a:t>2015 American Thyroid Association Management Guidelines for Adult Patients with Thyroid Nodules and Differentiated Thyroid Cancer The American Thyroid Association Guidelines Task Force on Thyroid Nodules and Differentiated Thyroid Cancer</a:t>
            </a:r>
            <a:endParaRPr sz="10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56"/>
                                        </p:tgtEl>
                                        <p:attrNameLst>
                                          <p:attrName>style.visibility</p:attrName>
                                        </p:attrNameLst>
                                      </p:cBhvr>
                                      <p:to>
                                        <p:strVal val="visible"/>
                                      </p:to>
                                    </p:set>
                                    <p:anim calcmode="lin" valueType="num">
                                      <p:cBhvr additive="base">
                                        <p:cTn id="7" dur="500"/>
                                        <p:tgtEl>
                                          <p:spTgt spid="25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57"/>
                                        </p:tgtEl>
                                        <p:attrNameLst>
                                          <p:attrName>style.visibility</p:attrName>
                                        </p:attrNameLst>
                                      </p:cBhvr>
                                      <p:to>
                                        <p:strVal val="visible"/>
                                      </p:to>
                                    </p:set>
                                    <p:anim calcmode="lin" valueType="num">
                                      <p:cBhvr additive="base">
                                        <p:cTn id="10" dur="500"/>
                                        <p:tgtEl>
                                          <p:spTgt spid="25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1"/>
          <p:cNvSpPr txBox="1">
            <a:spLocks noGrp="1"/>
          </p:cNvSpPr>
          <p:nvPr>
            <p:ph type="body" idx="1"/>
          </p:nvPr>
        </p:nvSpPr>
        <p:spPr>
          <a:xfrm>
            <a:off x="457200" y="1500174"/>
            <a:ext cx="8229600" cy="4525963"/>
          </a:xfrm>
          <a:prstGeom prst="rect">
            <a:avLst/>
          </a:prstGeom>
          <a:noFill/>
          <a:ln>
            <a:noFill/>
          </a:ln>
          <a:effectLst>
            <a:outerShdw blurRad="57150" dist="19050" dir="5400000" algn="bl" rotWithShape="0">
              <a:srgbClr val="FF0000">
                <a:alpha val="70000"/>
              </a:srgbClr>
            </a:outerShdw>
          </a:effectLst>
        </p:spPr>
        <p:txBody>
          <a:bodyPr spcFirstLastPara="1" wrap="square" lIns="91425" tIns="45700" rIns="91425" bIns="45700" anchor="t" anchorCtr="0">
            <a:normAutofit/>
          </a:bodyPr>
          <a:lstStyle/>
          <a:p>
            <a:pPr marL="800100" lvl="0" indent="-342900" algn="l" rtl="0">
              <a:spcBef>
                <a:spcPts val="0"/>
              </a:spcBef>
              <a:spcAft>
                <a:spcPts val="0"/>
              </a:spcAft>
              <a:buClr>
                <a:schemeClr val="lt1"/>
              </a:buClr>
              <a:buSzPts val="2800"/>
              <a:buNone/>
            </a:pPr>
            <a:r>
              <a:rPr lang="es-AR" sz="2800" u="sng">
                <a:solidFill>
                  <a:schemeClr val="lt2"/>
                </a:solidFill>
              </a:rPr>
              <a:t>DIAGNÓSTICO DE NÓDULOS TIROIDEOS: </a:t>
            </a:r>
            <a:r>
              <a:rPr lang="es-AR" b="1" u="sng">
                <a:solidFill>
                  <a:srgbClr val="FF0000"/>
                </a:solidFill>
              </a:rPr>
              <a:t>NO</a:t>
            </a:r>
            <a:r>
              <a:rPr lang="es-AR" sz="2800" u="sng">
                <a:solidFill>
                  <a:schemeClr val="lt2"/>
                </a:solidFill>
              </a:rPr>
              <a:t> PAAF </a:t>
            </a:r>
            <a:endParaRPr>
              <a:solidFill>
                <a:schemeClr val="lt2"/>
              </a:solidFill>
            </a:endParaRPr>
          </a:p>
          <a:p>
            <a:pPr marL="1257300" lvl="0" indent="-342900" algn="l" rtl="0">
              <a:spcBef>
                <a:spcPts val="640"/>
              </a:spcBef>
              <a:spcAft>
                <a:spcPts val="0"/>
              </a:spcAft>
              <a:buClr>
                <a:schemeClr val="lt1"/>
              </a:buClr>
              <a:buSzPts val="3200"/>
              <a:buNone/>
            </a:pPr>
            <a:r>
              <a:rPr lang="es-AR">
                <a:solidFill>
                  <a:schemeClr val="lt2"/>
                </a:solidFill>
              </a:rPr>
              <a:t>Guías Para Nódulo tiroideo (ATA 2015)</a:t>
            </a:r>
            <a:endParaRPr>
              <a:solidFill>
                <a:schemeClr val="lt2"/>
              </a:solidFill>
            </a:endParaRPr>
          </a:p>
          <a:p>
            <a:pPr marL="342900" lvl="0" indent="-342900" algn="l" rtl="0">
              <a:spcBef>
                <a:spcPts val="640"/>
              </a:spcBef>
              <a:spcAft>
                <a:spcPts val="0"/>
              </a:spcAft>
              <a:buClr>
                <a:schemeClr val="lt1"/>
              </a:buClr>
              <a:buSzPts val="3200"/>
              <a:buNone/>
            </a:pPr>
            <a:endParaRPr/>
          </a:p>
          <a:p>
            <a:pPr marL="342900" lvl="0" indent="-342900" algn="l" rtl="0">
              <a:spcBef>
                <a:spcPts val="640"/>
              </a:spcBef>
              <a:spcAft>
                <a:spcPts val="0"/>
              </a:spcAft>
              <a:buClr>
                <a:schemeClr val="lt1"/>
              </a:buClr>
              <a:buSzPts val="3200"/>
              <a:buNone/>
            </a:pPr>
            <a:endParaRPr/>
          </a:p>
        </p:txBody>
      </p:sp>
      <p:sp>
        <p:nvSpPr>
          <p:cNvPr id="265" name="Google Shape;265;p21"/>
          <p:cNvSpPr/>
          <p:nvPr/>
        </p:nvSpPr>
        <p:spPr>
          <a:xfrm>
            <a:off x="500034" y="4714884"/>
            <a:ext cx="8072494" cy="1571636"/>
          </a:xfrm>
          <a:prstGeom prst="roundRect">
            <a:avLst>
              <a:gd name="adj" fmla="val 16667"/>
            </a:avLst>
          </a:prstGeom>
          <a:solidFill>
            <a:srgbClr val="FFFF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2700" b="1">
                <a:solidFill>
                  <a:schemeClr val="dk1"/>
                </a:solidFill>
                <a:latin typeface="Calibri"/>
                <a:ea typeface="Calibri"/>
                <a:cs typeface="Calibri"/>
                <a:sym typeface="Calibri"/>
              </a:rPr>
              <a:t>Nódulos que tienen un contenido puramente quístico.</a:t>
            </a:r>
            <a:r>
              <a:rPr lang="es-AR" sz="2400">
                <a:solidFill>
                  <a:schemeClr val="dk1"/>
                </a:solidFill>
                <a:latin typeface="Calibri"/>
                <a:ea typeface="Calibri"/>
                <a:cs typeface="Calibri"/>
                <a:sym typeface="Calibri"/>
              </a:rPr>
              <a:t> </a:t>
            </a:r>
            <a:endParaRPr/>
          </a:p>
          <a:p>
            <a:pPr marL="0" marR="0" lvl="0" indent="0" algn="ctr"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21"/>
          <p:cNvSpPr/>
          <p:nvPr/>
        </p:nvSpPr>
        <p:spPr>
          <a:xfrm>
            <a:off x="500034" y="2857496"/>
            <a:ext cx="8072494" cy="1571636"/>
          </a:xfrm>
          <a:prstGeom prst="roundRect">
            <a:avLst>
              <a:gd name="adj" fmla="val 16667"/>
            </a:avLst>
          </a:prstGeom>
          <a:solidFill>
            <a:srgbClr val="FFFF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2700" b="1">
                <a:solidFill>
                  <a:schemeClr val="dk1"/>
                </a:solidFill>
                <a:latin typeface="Calibri"/>
                <a:ea typeface="Calibri"/>
                <a:cs typeface="Calibri"/>
                <a:sym typeface="Calibri"/>
              </a:rPr>
              <a:t>Nódulos que no reúnen los criterios anteriores.</a:t>
            </a:r>
            <a:endParaRPr sz="2700" b="1">
              <a:solidFill>
                <a:schemeClr val="dk1"/>
              </a:solidFill>
              <a:latin typeface="Calibri"/>
              <a:ea typeface="Calibri"/>
              <a:cs typeface="Calibri"/>
              <a:sym typeface="Calibri"/>
            </a:endParaRPr>
          </a:p>
        </p:txBody>
      </p:sp>
      <p:sp>
        <p:nvSpPr>
          <p:cNvPr id="267" name="Google Shape;267;p21"/>
          <p:cNvSpPr txBox="1"/>
          <p:nvPr/>
        </p:nvSpPr>
        <p:spPr>
          <a:xfrm>
            <a:off x="0" y="6466668"/>
            <a:ext cx="9081100"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1000">
                <a:solidFill>
                  <a:schemeClr val="lt1"/>
                </a:solidFill>
                <a:latin typeface="Calibri"/>
                <a:ea typeface="Calibri"/>
                <a:cs typeface="Calibri"/>
                <a:sym typeface="Calibri"/>
              </a:rPr>
              <a:t>2015 American Thyroid Association Management Guidelines for Adult Patients with Thyroid Nodules and Differentiated Thyroid Cancer The American Thyroid Association Guidelines Task Force on Thyroid Nodules and Differentiated Thyroid Cancer</a:t>
            </a:r>
            <a:endParaRPr sz="10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65"/>
                                        </p:tgtEl>
                                        <p:attrNameLst>
                                          <p:attrName>style.visibility</p:attrName>
                                        </p:attrNameLst>
                                      </p:cBhvr>
                                      <p:to>
                                        <p:strVal val="visible"/>
                                      </p:to>
                                    </p:set>
                                    <p:anim calcmode="lin" valueType="num">
                                      <p:cBhvr additive="base">
                                        <p:cTn id="7" dur="500"/>
                                        <p:tgtEl>
                                          <p:spTgt spid="265"/>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66"/>
                                        </p:tgtEl>
                                        <p:attrNameLst>
                                          <p:attrName>style.visibility</p:attrName>
                                        </p:attrNameLst>
                                      </p:cBhvr>
                                      <p:to>
                                        <p:strVal val="visible"/>
                                      </p:to>
                                    </p:set>
                                    <p:anim calcmode="lin" valueType="num">
                                      <p:cBhvr additive="base">
                                        <p:cTn id="10" dur="500"/>
                                        <p:tgtEl>
                                          <p:spTgt spid="2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2"/>
          <p:cNvSpPr txBox="1">
            <a:spLocks noGrp="1"/>
          </p:cNvSpPr>
          <p:nvPr>
            <p:ph type="title"/>
          </p:nvPr>
        </p:nvSpPr>
        <p:spPr>
          <a:xfrm>
            <a:off x="457200" y="274638"/>
            <a:ext cx="8229600" cy="1143000"/>
          </a:xfrm>
          <a:prstGeom prst="rect">
            <a:avLst/>
          </a:prstGeom>
          <a:noFill/>
          <a:ln>
            <a:noFill/>
          </a:ln>
          <a:effectLst>
            <a:outerShdw blurRad="57150" dist="19050" dir="5400000" algn="bl" rotWithShape="0">
              <a:srgbClr val="FF0000">
                <a:alpha val="7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4400"/>
              <a:buFont typeface="Calibri"/>
              <a:buNone/>
            </a:pPr>
            <a:r>
              <a:rPr lang="es-AR">
                <a:solidFill>
                  <a:schemeClr val="lt2"/>
                </a:solidFill>
              </a:rPr>
              <a:t>Tratamiento</a:t>
            </a:r>
            <a:endParaRPr>
              <a:solidFill>
                <a:schemeClr val="lt2"/>
              </a:solidFill>
            </a:endParaRPr>
          </a:p>
        </p:txBody>
      </p:sp>
      <p:sp>
        <p:nvSpPr>
          <p:cNvPr id="274" name="Google Shape;274;p22"/>
          <p:cNvSpPr txBox="1">
            <a:spLocks noGrp="1"/>
          </p:cNvSpPr>
          <p:nvPr>
            <p:ph type="body" idx="1"/>
          </p:nvPr>
        </p:nvSpPr>
        <p:spPr>
          <a:xfrm>
            <a:off x="457200" y="1285860"/>
            <a:ext cx="8229600" cy="4525963"/>
          </a:xfrm>
          <a:prstGeom prst="rect">
            <a:avLst/>
          </a:prstGeom>
          <a:noFill/>
          <a:ln>
            <a:noFill/>
          </a:ln>
          <a:effectLst>
            <a:outerShdw blurRad="57150" dist="19050" dir="5400000" algn="bl" rotWithShape="0">
              <a:srgbClr val="FF0000">
                <a:alpha val="70000"/>
              </a:srgbClr>
            </a:outerShdw>
          </a:effectLst>
        </p:spPr>
        <p:txBody>
          <a:bodyPr spcFirstLastPara="1" wrap="square" lIns="91425" tIns="45700" rIns="91425" bIns="45700" anchor="t" anchorCtr="0">
            <a:noAutofit/>
          </a:bodyPr>
          <a:lstStyle/>
          <a:p>
            <a:pPr marL="342900" lvl="0" indent="-342900" algn="l" rtl="0">
              <a:spcBef>
                <a:spcPts val="0"/>
              </a:spcBef>
              <a:spcAft>
                <a:spcPts val="0"/>
              </a:spcAft>
              <a:buClr>
                <a:schemeClr val="lt2"/>
              </a:buClr>
              <a:buSzPts val="2800"/>
              <a:buChar char="•"/>
            </a:pPr>
            <a:r>
              <a:rPr lang="es-AR" sz="2800">
                <a:solidFill>
                  <a:schemeClr val="lt2"/>
                </a:solidFill>
              </a:rPr>
              <a:t>Quistes tiroideos </a:t>
            </a:r>
            <a:endParaRPr>
              <a:solidFill>
                <a:schemeClr val="lt2"/>
              </a:solidFill>
            </a:endParaRPr>
          </a:p>
          <a:p>
            <a:pPr marL="342900" lvl="0" indent="-342900" algn="l" rtl="0">
              <a:spcBef>
                <a:spcPts val="560"/>
              </a:spcBef>
              <a:spcAft>
                <a:spcPts val="0"/>
              </a:spcAft>
              <a:buClr>
                <a:schemeClr val="lt1"/>
              </a:buClr>
              <a:buSzPts val="2800"/>
              <a:buNone/>
            </a:pPr>
            <a:r>
              <a:rPr lang="es-AR" sz="2800">
                <a:solidFill>
                  <a:schemeClr val="lt2"/>
                </a:solidFill>
              </a:rPr>
              <a:t>		🡪  Conservador  🡪 seguimiento sin tratamiento. </a:t>
            </a:r>
            <a:endParaRPr>
              <a:solidFill>
                <a:schemeClr val="lt2"/>
              </a:solidFill>
            </a:endParaRPr>
          </a:p>
          <a:p>
            <a:pPr marL="342900" lvl="0" indent="-342900" algn="l" rtl="0">
              <a:spcBef>
                <a:spcPts val="560"/>
              </a:spcBef>
              <a:spcAft>
                <a:spcPts val="0"/>
              </a:spcAft>
              <a:buClr>
                <a:schemeClr val="lt1"/>
              </a:buClr>
              <a:buSzPts val="2800"/>
              <a:buNone/>
            </a:pPr>
            <a:r>
              <a:rPr lang="es-AR" sz="2800">
                <a:solidFill>
                  <a:schemeClr val="lt2"/>
                </a:solidFill>
              </a:rPr>
              <a:t>		🡪  La aspiración diagnóstica y terapéutica </a:t>
            </a:r>
            <a:endParaRPr>
              <a:solidFill>
                <a:schemeClr val="lt2"/>
              </a:solidFill>
            </a:endParaRPr>
          </a:p>
          <a:p>
            <a:pPr marL="342900" lvl="0" indent="-342900" algn="l" rtl="0">
              <a:spcBef>
                <a:spcPts val="560"/>
              </a:spcBef>
              <a:spcAft>
                <a:spcPts val="0"/>
              </a:spcAft>
              <a:buClr>
                <a:schemeClr val="lt1"/>
              </a:buClr>
              <a:buSzPts val="2800"/>
              <a:buNone/>
            </a:pPr>
            <a:r>
              <a:rPr lang="es-AR" sz="2800">
                <a:solidFill>
                  <a:schemeClr val="lt2"/>
                </a:solidFill>
              </a:rPr>
              <a:t>			recurren en el 60 a 90% </a:t>
            </a:r>
            <a:endParaRPr>
              <a:solidFill>
                <a:schemeClr val="lt2"/>
              </a:solidFill>
            </a:endParaRPr>
          </a:p>
          <a:p>
            <a:pPr marL="342900" lvl="0" indent="-342900" algn="ctr" rtl="0">
              <a:spcBef>
                <a:spcPts val="560"/>
              </a:spcBef>
              <a:spcAft>
                <a:spcPts val="0"/>
              </a:spcAft>
              <a:buClr>
                <a:schemeClr val="lt1"/>
              </a:buClr>
              <a:buSzPts val="2800"/>
              <a:buNone/>
            </a:pPr>
            <a:r>
              <a:rPr lang="es-AR" sz="2800">
                <a:solidFill>
                  <a:schemeClr val="lt2"/>
                </a:solidFill>
              </a:rPr>
              <a:t>La resolución espontánea puede ocurrir en quiste pequeños. </a:t>
            </a:r>
            <a:endParaRPr>
              <a:solidFill>
                <a:schemeClr val="lt2"/>
              </a:solidFill>
            </a:endParaRPr>
          </a:p>
        </p:txBody>
      </p:sp>
      <p:sp>
        <p:nvSpPr>
          <p:cNvPr id="275" name="Google Shape;275;p22"/>
          <p:cNvSpPr/>
          <p:nvPr/>
        </p:nvSpPr>
        <p:spPr>
          <a:xfrm>
            <a:off x="500034" y="4572008"/>
            <a:ext cx="8072494" cy="1571636"/>
          </a:xfrm>
          <a:prstGeom prst="roundRect">
            <a:avLst>
              <a:gd name="adj" fmla="val 16667"/>
            </a:avLst>
          </a:prstGeom>
          <a:solidFill>
            <a:srgbClr val="FFFF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alibri"/>
              <a:buNone/>
            </a:pPr>
            <a:r>
              <a:rPr lang="es-AR" sz="2700" b="1">
                <a:solidFill>
                  <a:schemeClr val="dk1"/>
                </a:solidFill>
                <a:latin typeface="Calibri"/>
                <a:ea typeface="Calibri"/>
                <a:cs typeface="Calibri"/>
                <a:sym typeface="Calibri"/>
              </a:rPr>
              <a:t>En aquellos pacientes con nódulos tiroideos quísticos, se recomienda manejo conservador </a:t>
            </a:r>
            <a:endParaRPr sz="1700" b="1"/>
          </a:p>
          <a:p>
            <a:pPr marL="0" marR="0" lvl="0" indent="0" algn="ctr" rtl="0">
              <a:spcBef>
                <a:spcPts val="0"/>
              </a:spcBef>
              <a:spcAft>
                <a:spcPts val="0"/>
              </a:spcAft>
              <a:buNone/>
            </a:pPr>
            <a:r>
              <a:rPr lang="es-AR"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p:txBody>
      </p:sp>
      <p:sp>
        <p:nvSpPr>
          <p:cNvPr id="276" name="Google Shape;276;p22"/>
          <p:cNvSpPr txBox="1"/>
          <p:nvPr/>
        </p:nvSpPr>
        <p:spPr>
          <a:xfrm>
            <a:off x="0" y="6466668"/>
            <a:ext cx="9081100" cy="67710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1000">
                <a:solidFill>
                  <a:schemeClr val="lt1"/>
                </a:solidFill>
                <a:latin typeface="Calibri"/>
                <a:ea typeface="Calibri"/>
                <a:cs typeface="Calibri"/>
                <a:sym typeface="Calibri"/>
              </a:rPr>
              <a:t>2015 American Thyroid Association Management Guidelines for Adult Patients with Thyroid Nodules and Differentiated Thyroid Cancer The American Thyroid Association Guidelines Task Force on Thyroid Nodules and Differentiated Thyroid Cancer</a:t>
            </a:r>
            <a:endParaRPr sz="1000">
              <a:solidFill>
                <a:schemeClr val="lt1"/>
              </a:solidFill>
              <a:latin typeface="Calibri"/>
              <a:ea typeface="Calibri"/>
              <a:cs typeface="Calibri"/>
              <a:sym typeface="Calibri"/>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75"/>
                                        </p:tgtEl>
                                        <p:attrNameLst>
                                          <p:attrName>style.visibility</p:attrName>
                                        </p:attrNameLst>
                                      </p:cBhvr>
                                      <p:to>
                                        <p:strVal val="visible"/>
                                      </p:to>
                                    </p:set>
                                    <p:anim calcmode="lin" valueType="num">
                                      <p:cBhvr additive="base">
                                        <p:cTn id="7" dur="500"/>
                                        <p:tgtEl>
                                          <p:spTgt spid="2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28094a0bef2_0_21"/>
          <p:cNvSpPr txBox="1">
            <a:spLocks noGrp="1"/>
          </p:cNvSpPr>
          <p:nvPr>
            <p:ph type="title"/>
          </p:nvPr>
        </p:nvSpPr>
        <p:spPr>
          <a:xfrm>
            <a:off x="457200" y="1757071"/>
            <a:ext cx="8229600" cy="3154500"/>
          </a:xfrm>
          <a:prstGeom prst="rect">
            <a:avLst/>
          </a:prstGeom>
          <a:effectLst>
            <a:outerShdw blurRad="57150" dist="19050" dir="5400000" algn="bl" rotWithShape="0">
              <a:srgbClr val="FF0000">
                <a:alpha val="7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None/>
            </a:pPr>
            <a:r>
              <a:rPr lang="es-AR">
                <a:solidFill>
                  <a:schemeClr val="lt2"/>
                </a:solidFill>
              </a:rPr>
              <a:t>Clasificación anatomopatológica de nódulos</a:t>
            </a:r>
            <a:endParaRPr>
              <a:solidFill>
                <a:schemeClr val="lt2"/>
              </a:solidFill>
            </a:endParaRPr>
          </a:p>
          <a:p>
            <a:pPr marL="0" lvl="0" indent="0" algn="ctr" rtl="0">
              <a:spcBef>
                <a:spcPts val="0"/>
              </a:spcBef>
              <a:spcAft>
                <a:spcPts val="0"/>
              </a:spcAft>
              <a:buNone/>
            </a:pPr>
            <a:r>
              <a:rPr lang="es-AR" sz="5900" b="1">
                <a:solidFill>
                  <a:srgbClr val="F1C232"/>
                </a:solidFill>
              </a:rPr>
              <a:t>BETHESDA</a:t>
            </a:r>
            <a:endParaRPr sz="5900" b="1">
              <a:solidFill>
                <a:srgbClr val="F1C23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p23" descr="http://www.scielo.cl/fbpe/img/rmc/v142n3/art07-tab01.jpg"/>
          <p:cNvPicPr preferRelativeResize="0"/>
          <p:nvPr/>
        </p:nvPicPr>
        <p:blipFill rotWithShape="1">
          <a:blip r:embed="rId3">
            <a:alphaModFix/>
          </a:blip>
          <a:srcRect/>
          <a:stretch/>
        </p:blipFill>
        <p:spPr>
          <a:xfrm>
            <a:off x="1557275" y="82825"/>
            <a:ext cx="6244075" cy="6692350"/>
          </a:xfrm>
          <a:prstGeom prst="rect">
            <a:avLst/>
          </a:prstGeom>
          <a:noFill/>
          <a:ln w="9525" cap="flat" cmpd="sng">
            <a:solidFill>
              <a:srgbClr val="FFFF00"/>
            </a:solidFill>
            <a:prstDash val="solid"/>
            <a:round/>
            <a:headEnd type="none" w="sm" len="sm"/>
            <a:tailEnd type="none" w="sm" len="sm"/>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93" name="Google Shape;293;p24"/>
          <p:cNvPicPr preferRelativeResize="0"/>
          <p:nvPr/>
        </p:nvPicPr>
        <p:blipFill rotWithShape="1">
          <a:blip r:embed="rId3">
            <a:alphaModFix/>
          </a:blip>
          <a:srcRect l="1019" r="1020"/>
          <a:stretch/>
        </p:blipFill>
        <p:spPr>
          <a:xfrm>
            <a:off x="1214414" y="571480"/>
            <a:ext cx="6858048" cy="5830153"/>
          </a:xfrm>
          <a:prstGeom prst="rect">
            <a:avLst/>
          </a:prstGeom>
          <a:noFill/>
          <a:ln w="9525" cap="flat" cmpd="sng">
            <a:solidFill>
              <a:srgbClr val="FFFF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5"/>
          <p:cNvSpPr txBox="1">
            <a:spLocks noGrp="1"/>
          </p:cNvSpPr>
          <p:nvPr>
            <p:ph type="body" idx="1"/>
          </p:nvPr>
        </p:nvSpPr>
        <p:spPr>
          <a:xfrm>
            <a:off x="539100" y="785705"/>
            <a:ext cx="8229600" cy="6072300"/>
          </a:xfrm>
          <a:prstGeom prst="rect">
            <a:avLst/>
          </a:prstGeom>
          <a:noFill/>
          <a:ln>
            <a:noFill/>
          </a:ln>
          <a:effectLst>
            <a:outerShdw blurRad="57150" dist="19050" dir="5400000" algn="bl" rotWithShape="0">
              <a:srgbClr val="FF0000">
                <a:alpha val="50000"/>
              </a:srgbClr>
            </a:outerShdw>
          </a:effectLst>
        </p:spPr>
        <p:txBody>
          <a:bodyPr spcFirstLastPara="1" wrap="square" lIns="91425" tIns="45700" rIns="91425" bIns="45700" anchor="t" anchorCtr="0">
            <a:normAutofit/>
          </a:bodyPr>
          <a:lstStyle/>
          <a:p>
            <a:pPr marL="342900" lvl="0" indent="-342900" algn="l" rtl="0">
              <a:spcBef>
                <a:spcPts val="0"/>
              </a:spcBef>
              <a:spcAft>
                <a:spcPts val="0"/>
              </a:spcAft>
              <a:buClr>
                <a:schemeClr val="lt1"/>
              </a:buClr>
              <a:buSzPct val="100000"/>
              <a:buNone/>
            </a:pPr>
            <a:endParaRPr b="1">
              <a:solidFill>
                <a:schemeClr val="lt2"/>
              </a:solidFill>
            </a:endParaRPr>
          </a:p>
          <a:p>
            <a:pPr marL="342900" lvl="0" indent="-329565" algn="just" rtl="0">
              <a:spcBef>
                <a:spcPts val="560"/>
              </a:spcBef>
              <a:spcAft>
                <a:spcPts val="0"/>
              </a:spcAft>
              <a:buClr>
                <a:schemeClr val="lt2"/>
              </a:buClr>
              <a:buSzPct val="100000"/>
              <a:buChar char="•"/>
            </a:pPr>
            <a:r>
              <a:rPr lang="es-AR" sz="2800" b="1">
                <a:solidFill>
                  <a:schemeClr val="lt2"/>
                </a:solidFill>
              </a:rPr>
              <a:t>Material insuficiente  (B:I) 🡪  Repetir PAAF</a:t>
            </a:r>
            <a:endParaRPr sz="2800" b="1">
              <a:solidFill>
                <a:schemeClr val="lt2"/>
              </a:solidFill>
            </a:endParaRPr>
          </a:p>
          <a:p>
            <a:pPr marL="342900" lvl="0" indent="-329565" algn="just" rtl="0">
              <a:spcBef>
                <a:spcPts val="560"/>
              </a:spcBef>
              <a:spcAft>
                <a:spcPts val="0"/>
              </a:spcAft>
              <a:buClr>
                <a:schemeClr val="lt2"/>
              </a:buClr>
              <a:buSzPct val="100000"/>
              <a:buChar char="•"/>
            </a:pPr>
            <a:r>
              <a:rPr lang="es-AR" sz="2800" b="1">
                <a:solidFill>
                  <a:schemeClr val="lt2"/>
                </a:solidFill>
              </a:rPr>
              <a:t>Benignos 80 % (B:II) 🡪 3 a 5% maligno</a:t>
            </a:r>
            <a:endParaRPr b="1">
              <a:solidFill>
                <a:schemeClr val="lt2"/>
              </a:solidFill>
            </a:endParaRPr>
          </a:p>
          <a:p>
            <a:pPr marL="342900" lvl="0" indent="-342900" algn="just" rtl="0">
              <a:spcBef>
                <a:spcPts val="560"/>
              </a:spcBef>
              <a:spcAft>
                <a:spcPts val="0"/>
              </a:spcAft>
              <a:buClr>
                <a:schemeClr val="lt1"/>
              </a:buClr>
              <a:buSzPct val="100000"/>
              <a:buNone/>
            </a:pPr>
            <a:r>
              <a:rPr lang="es-AR" sz="2800" b="1">
                <a:solidFill>
                  <a:schemeClr val="lt2"/>
                </a:solidFill>
              </a:rPr>
              <a:t>🡪 Seguimiento US ( intervalo de 6 a 18 meses)	</a:t>
            </a:r>
            <a:endParaRPr b="1">
              <a:solidFill>
                <a:schemeClr val="lt2"/>
              </a:solidFill>
            </a:endParaRPr>
          </a:p>
          <a:p>
            <a:pPr marL="342900" lvl="0" indent="-342900" algn="just" rtl="0">
              <a:spcBef>
                <a:spcPts val="560"/>
              </a:spcBef>
              <a:spcAft>
                <a:spcPts val="0"/>
              </a:spcAft>
              <a:buClr>
                <a:schemeClr val="lt1"/>
              </a:buClr>
              <a:buSzPct val="100000"/>
              <a:buNone/>
            </a:pPr>
            <a:endParaRPr sz="2800" b="1">
              <a:solidFill>
                <a:schemeClr val="lt2"/>
              </a:solidFill>
            </a:endParaRPr>
          </a:p>
          <a:p>
            <a:pPr marL="342900" lvl="0" indent="-329565" algn="just" rtl="0">
              <a:spcBef>
                <a:spcPts val="560"/>
              </a:spcBef>
              <a:spcAft>
                <a:spcPts val="0"/>
              </a:spcAft>
              <a:buClr>
                <a:schemeClr val="lt2"/>
              </a:buClr>
              <a:buSzPct val="100000"/>
              <a:buChar char="•"/>
            </a:pPr>
            <a:r>
              <a:rPr lang="es-AR" sz="2800" b="1">
                <a:solidFill>
                  <a:schemeClr val="lt2"/>
                </a:solidFill>
              </a:rPr>
              <a:t>Indeterminado (B: III)</a:t>
            </a:r>
            <a:endParaRPr b="1">
              <a:solidFill>
                <a:schemeClr val="lt2"/>
              </a:solidFill>
            </a:endParaRPr>
          </a:p>
          <a:p>
            <a:pPr marL="342900" lvl="0" indent="-342900" algn="just" rtl="0">
              <a:spcBef>
                <a:spcPts val="560"/>
              </a:spcBef>
              <a:spcAft>
                <a:spcPts val="0"/>
              </a:spcAft>
              <a:buClr>
                <a:schemeClr val="lt1"/>
              </a:buClr>
              <a:buSzPct val="100000"/>
              <a:buNone/>
            </a:pPr>
            <a:r>
              <a:rPr lang="es-AR" sz="2800" b="1">
                <a:solidFill>
                  <a:schemeClr val="lt2"/>
                </a:solidFill>
              </a:rPr>
              <a:t>	🡪 Lesión folicular 🡪 20 a 30% Maligno 🡪  Cx</a:t>
            </a:r>
            <a:endParaRPr sz="2800" b="1">
              <a:solidFill>
                <a:schemeClr val="lt2"/>
              </a:solidFill>
            </a:endParaRPr>
          </a:p>
          <a:p>
            <a:pPr marL="342900" lvl="0" indent="-342900" algn="just" rtl="0">
              <a:spcBef>
                <a:spcPts val="560"/>
              </a:spcBef>
              <a:spcAft>
                <a:spcPts val="0"/>
              </a:spcAft>
              <a:buClr>
                <a:schemeClr val="lt1"/>
              </a:buClr>
              <a:buSzPct val="100000"/>
              <a:buNone/>
            </a:pPr>
            <a:r>
              <a:rPr lang="es-AR" sz="2800" b="1">
                <a:solidFill>
                  <a:schemeClr val="lt2"/>
                </a:solidFill>
              </a:rPr>
              <a:t>	🡪 Atipia o una lesión folicular de significado indeterminado 🡪 Repetir PAAF</a:t>
            </a:r>
            <a:endParaRPr b="1">
              <a:solidFill>
                <a:schemeClr val="lt2"/>
              </a:solidFill>
            </a:endParaRPr>
          </a:p>
          <a:p>
            <a:pPr marL="342900" lvl="0" indent="-329565" algn="just" rtl="0">
              <a:spcBef>
                <a:spcPts val="560"/>
              </a:spcBef>
              <a:spcAft>
                <a:spcPts val="0"/>
              </a:spcAft>
              <a:buClr>
                <a:schemeClr val="lt2"/>
              </a:buClr>
              <a:buSzPct val="100000"/>
              <a:buChar char="•"/>
            </a:pPr>
            <a:r>
              <a:rPr lang="es-AR" sz="2800" b="1">
                <a:solidFill>
                  <a:schemeClr val="lt2"/>
                </a:solidFill>
              </a:rPr>
              <a:t>Neoplasia Folicular o sospechosa (B:IV) 🡪 Cx</a:t>
            </a:r>
            <a:endParaRPr sz="2800" b="1">
              <a:solidFill>
                <a:schemeClr val="lt2"/>
              </a:solidFill>
            </a:endParaRPr>
          </a:p>
          <a:p>
            <a:pPr marL="342900" lvl="0" indent="-329565" algn="just" rtl="0">
              <a:spcBef>
                <a:spcPts val="560"/>
              </a:spcBef>
              <a:spcAft>
                <a:spcPts val="0"/>
              </a:spcAft>
              <a:buClr>
                <a:schemeClr val="lt2"/>
              </a:buClr>
              <a:buSzPct val="100000"/>
              <a:buChar char="•"/>
            </a:pPr>
            <a:r>
              <a:rPr lang="es-AR" sz="2800" b="1">
                <a:solidFill>
                  <a:schemeClr val="lt2"/>
                </a:solidFill>
              </a:rPr>
              <a:t>Maligno 5% (B: V-VI) 🡪 Ca papilar más frecuente 🡪 Cx</a:t>
            </a:r>
            <a:endParaRPr sz="2800" b="1">
              <a:solidFill>
                <a:schemeClr val="lt2"/>
              </a:solidFill>
            </a:endParaRPr>
          </a:p>
          <a:p>
            <a:pPr marL="342900" lvl="0" indent="-342900" algn="l" rtl="0">
              <a:spcBef>
                <a:spcPts val="640"/>
              </a:spcBef>
              <a:spcAft>
                <a:spcPts val="0"/>
              </a:spcAft>
              <a:buClr>
                <a:schemeClr val="lt1"/>
              </a:buClr>
              <a:buSzPct val="100000"/>
              <a:buNone/>
            </a:pPr>
            <a:endParaRPr/>
          </a:p>
          <a:p>
            <a:pPr marL="342900" lvl="0" indent="-342900" algn="l" rtl="0">
              <a:spcBef>
                <a:spcPts val="640"/>
              </a:spcBef>
              <a:spcAft>
                <a:spcPts val="0"/>
              </a:spcAft>
              <a:buClr>
                <a:schemeClr val="lt1"/>
              </a:buClr>
              <a:buSzPct val="100000"/>
              <a:buNone/>
            </a:pPr>
            <a:endParaRPr/>
          </a:p>
          <a:p>
            <a:pPr marL="342900" lvl="0" indent="-139700" algn="l" rtl="0">
              <a:spcBef>
                <a:spcPts val="640"/>
              </a:spcBef>
              <a:spcAft>
                <a:spcPts val="0"/>
              </a:spcAft>
              <a:buClr>
                <a:schemeClr val="lt1"/>
              </a:buClr>
              <a:buSzPct val="100000"/>
              <a:buNone/>
            </a:pPr>
            <a:endParaRPr/>
          </a:p>
        </p:txBody>
      </p:sp>
      <p:sp>
        <p:nvSpPr>
          <p:cNvPr id="300" name="Google Shape;300;p25"/>
          <p:cNvSpPr/>
          <p:nvPr/>
        </p:nvSpPr>
        <p:spPr>
          <a:xfrm>
            <a:off x="4877425" y="1259977"/>
            <a:ext cx="2214600" cy="383100"/>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00"/>
              </a:solidFill>
              <a:latin typeface="Calibri"/>
              <a:ea typeface="Calibri"/>
              <a:cs typeface="Calibri"/>
              <a:sym typeface="Calibri"/>
            </a:endParaRPr>
          </a:p>
        </p:txBody>
      </p:sp>
      <p:sp>
        <p:nvSpPr>
          <p:cNvPr id="301" name="Google Shape;301;p25"/>
          <p:cNvSpPr/>
          <p:nvPr/>
        </p:nvSpPr>
        <p:spPr>
          <a:xfrm>
            <a:off x="943625" y="1974950"/>
            <a:ext cx="2214600" cy="383100"/>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2" name="Google Shape;302;p25"/>
          <p:cNvSpPr/>
          <p:nvPr/>
        </p:nvSpPr>
        <p:spPr>
          <a:xfrm>
            <a:off x="6646975" y="3150748"/>
            <a:ext cx="652500" cy="383100"/>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3" name="Google Shape;303;p25"/>
          <p:cNvSpPr/>
          <p:nvPr/>
        </p:nvSpPr>
        <p:spPr>
          <a:xfrm>
            <a:off x="3301025" y="3877274"/>
            <a:ext cx="2214600" cy="383100"/>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4" name="Google Shape;304;p25"/>
          <p:cNvSpPr/>
          <p:nvPr/>
        </p:nvSpPr>
        <p:spPr>
          <a:xfrm>
            <a:off x="6517050" y="4260378"/>
            <a:ext cx="652500" cy="383100"/>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5" name="Google Shape;305;p25"/>
          <p:cNvSpPr/>
          <p:nvPr/>
        </p:nvSpPr>
        <p:spPr>
          <a:xfrm>
            <a:off x="7823475" y="4643424"/>
            <a:ext cx="652500" cy="383100"/>
          </a:xfrm>
          <a:prstGeom prst="roundRect">
            <a:avLst>
              <a:gd name="adj" fmla="val 16667"/>
            </a:avLst>
          </a:prstGeom>
          <a:noFill/>
          <a:ln w="25400" cap="flat" cmpd="sng">
            <a:solidFill>
              <a:srgbClr val="FF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6" name="Google Shape;306;p25"/>
          <p:cNvSpPr txBox="1"/>
          <p:nvPr/>
        </p:nvSpPr>
        <p:spPr>
          <a:xfrm>
            <a:off x="3071802" y="214290"/>
            <a:ext cx="3643338" cy="707886"/>
          </a:xfrm>
          <a:prstGeom prst="rect">
            <a:avLst/>
          </a:prstGeom>
          <a:noFill/>
          <a:ln>
            <a:noFill/>
          </a:ln>
          <a:effectLst>
            <a:outerShdw blurRad="57150" dist="19050" dir="5400000" algn="bl" rotWithShape="0">
              <a:srgbClr val="FFFF00">
                <a:alpha val="6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s-AR" sz="4000" b="1">
                <a:solidFill>
                  <a:schemeClr val="lt1"/>
                </a:solidFill>
                <a:latin typeface="Calibri"/>
                <a:ea typeface="Calibri"/>
                <a:cs typeface="Calibri"/>
                <a:sym typeface="Calibri"/>
              </a:rPr>
              <a:t>Tratamiento</a:t>
            </a:r>
            <a:endParaRPr sz="4000" b="1">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anim calcmode="lin" valueType="num">
                                      <p:cBhvr additive="base">
                                        <p:cTn id="7" dur="500"/>
                                        <p:tgtEl>
                                          <p:spTgt spid="300"/>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01"/>
                                        </p:tgtEl>
                                        <p:attrNameLst>
                                          <p:attrName>style.visibility</p:attrName>
                                        </p:attrNameLst>
                                      </p:cBhvr>
                                      <p:to>
                                        <p:strVal val="visible"/>
                                      </p:to>
                                    </p:set>
                                    <p:anim calcmode="lin" valueType="num">
                                      <p:cBhvr additive="base">
                                        <p:cTn id="12" dur="500"/>
                                        <p:tgtEl>
                                          <p:spTgt spid="301"/>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2"/>
                                        </p:tgtEl>
                                        <p:attrNameLst>
                                          <p:attrName>style.visibility</p:attrName>
                                        </p:attrNameLst>
                                      </p:cBhvr>
                                      <p:to>
                                        <p:strVal val="visible"/>
                                      </p:to>
                                    </p:set>
                                    <p:anim calcmode="lin" valueType="num">
                                      <p:cBhvr additive="base">
                                        <p:cTn id="17" dur="500"/>
                                        <p:tgtEl>
                                          <p:spTgt spid="30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03"/>
                                        </p:tgtEl>
                                        <p:attrNameLst>
                                          <p:attrName>style.visibility</p:attrName>
                                        </p:attrNameLst>
                                      </p:cBhvr>
                                      <p:to>
                                        <p:strVal val="visible"/>
                                      </p:to>
                                    </p:set>
                                    <p:anim calcmode="lin" valueType="num">
                                      <p:cBhvr additive="base">
                                        <p:cTn id="22" dur="500"/>
                                        <p:tgtEl>
                                          <p:spTgt spid="30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04"/>
                                        </p:tgtEl>
                                        <p:attrNameLst>
                                          <p:attrName>style.visibility</p:attrName>
                                        </p:attrNameLst>
                                      </p:cBhvr>
                                      <p:to>
                                        <p:strVal val="visible"/>
                                      </p:to>
                                    </p:set>
                                    <p:anim calcmode="lin" valueType="num">
                                      <p:cBhvr additive="base">
                                        <p:cTn id="27" dur="500"/>
                                        <p:tgtEl>
                                          <p:spTgt spid="30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05"/>
                                        </p:tgtEl>
                                        <p:attrNameLst>
                                          <p:attrName>style.visibility</p:attrName>
                                        </p:attrNameLst>
                                      </p:cBhvr>
                                      <p:to>
                                        <p:strVal val="visible"/>
                                      </p:to>
                                    </p:set>
                                    <p:anim calcmode="lin" valueType="num">
                                      <p:cBhvr additive="base">
                                        <p:cTn id="32" dur="500"/>
                                        <p:tgtEl>
                                          <p:spTgt spid="30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8"/>
          <p:cNvSpPr txBox="1">
            <a:spLocks noGrp="1"/>
          </p:cNvSpPr>
          <p:nvPr>
            <p:ph type="title"/>
          </p:nvPr>
        </p:nvSpPr>
        <p:spPr>
          <a:xfrm>
            <a:off x="397300" y="2610538"/>
            <a:ext cx="8229600" cy="1143000"/>
          </a:xfrm>
          <a:prstGeom prst="rect">
            <a:avLst/>
          </a:prstGeom>
          <a:noFill/>
          <a:ln>
            <a:noFill/>
          </a:ln>
          <a:effectLst>
            <a:outerShdw blurRad="57150" dist="19050" dir="5400000" algn="bl" rotWithShape="0">
              <a:srgbClr val="FF0000">
                <a:alpha val="70000"/>
              </a:srgbClr>
            </a:outerShdw>
          </a:effectLst>
        </p:spPr>
        <p:txBody>
          <a:bodyPr spcFirstLastPara="1" wrap="square" lIns="91425" tIns="45700" rIns="91425" bIns="45700" anchor="ctr" anchorCtr="0">
            <a:normAutofit/>
          </a:bodyPr>
          <a:lstStyle/>
          <a:p>
            <a:pPr marL="0" lvl="0" indent="0" algn="ctr" rtl="0">
              <a:spcBef>
                <a:spcPts val="0"/>
              </a:spcBef>
              <a:spcAft>
                <a:spcPts val="0"/>
              </a:spcAft>
              <a:buClr>
                <a:schemeClr val="lt1"/>
              </a:buClr>
              <a:buSzPts val="4400"/>
              <a:buFont typeface="Calibri"/>
              <a:buNone/>
            </a:pPr>
            <a:r>
              <a:rPr lang="es-AR"/>
              <a:t>MUCHAS GRACIAS</a:t>
            </a:r>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1086</Words>
  <Application>Microsoft Office PowerPoint</Application>
  <PresentationFormat>Presentación en pantalla (4:3)</PresentationFormat>
  <Paragraphs>170</Paragraphs>
  <Slides>29</Slides>
  <Notes>29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Arial</vt:lpstr>
      <vt:lpstr>Calibri</vt:lpstr>
      <vt:lpstr>Noto Sans Symbols</vt:lpstr>
      <vt:lpstr>Times New Roman</vt:lpstr>
      <vt:lpstr>Tema de Office</vt:lpstr>
      <vt:lpstr>NÓDULO TIROIDEO</vt:lpstr>
      <vt:lpstr>Presentación de PowerPoint</vt:lpstr>
      <vt:lpstr>IMPORTANCIA</vt:lpstr>
      <vt:lpstr>Presentación de PowerPoint</vt:lpstr>
      <vt:lpstr>Presentación de PowerPoint</vt:lpstr>
      <vt:lpstr>CAUSAS</vt:lpstr>
      <vt:lpstr>CLÍNICA</vt:lpstr>
      <vt:lpstr>Evaluación inicial</vt:lpstr>
      <vt:lpstr>Evaluación inicial</vt:lpstr>
      <vt:lpstr>Presentación de PowerPoint</vt:lpstr>
      <vt:lpstr>Evaluación inicial</vt:lpstr>
      <vt:lpstr>Evaluación inicial</vt:lpstr>
      <vt:lpstr>Presentación de PowerPoint</vt:lpstr>
      <vt:lpstr>Presentación de PowerPoint</vt:lpstr>
      <vt:lpstr>Patrones ecográficos del nódulo y riesgo de malignidad.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Tratamiento</vt:lpstr>
      <vt:lpstr>Clasificación anatomopatológica de nódulos BETHESDA</vt:lpstr>
      <vt:lpstr>Presentación de PowerPoint</vt:lpstr>
      <vt:lpstr>Presentación de PowerPoint</vt:lpstr>
      <vt:lpstr>Presentación de PowerPoint</vt:lpstr>
      <vt:lpstr>MUCHAS GRACIAS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NÓDULO TIROIDEO</dc:title>
  <dc:creator>jessi</dc:creator>
  <cp:lastModifiedBy>usuario</cp:lastModifiedBy>
  <cp:revision>1</cp:revision>
  <dcterms:created xsi:type="dcterms:W3CDTF">2017-10-17T21:20:35Z</dcterms:created>
  <dcterms:modified xsi:type="dcterms:W3CDTF">2026-09-08T16:01:08Z</dcterms:modified>
</cp:coreProperties>
</file>