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Nixie One"/>
      <p:regular r:id="rId29"/>
    </p:embeddedFont>
    <p:embeddedFont>
      <p:font typeface="Kumbh Sans Medium"/>
      <p:regular r:id="rId30"/>
      <p:bold r:id="rId31"/>
    </p:embeddedFont>
    <p:embeddedFont>
      <p:font typeface="Century Gothic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ixie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KumbhSansMedium-bold.fntdata"/><Relationship Id="rId30" Type="http://schemas.openxmlformats.org/officeDocument/2006/relationships/font" Target="fonts/KumbhSansMedium-regular.fntdata"/><Relationship Id="rId11" Type="http://schemas.openxmlformats.org/officeDocument/2006/relationships/slide" Target="slides/slide6.xml"/><Relationship Id="rId33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32" Type="http://schemas.openxmlformats.org/officeDocument/2006/relationships/font" Target="fonts/CenturyGothic-regular.fntdata"/><Relationship Id="rId13" Type="http://schemas.openxmlformats.org/officeDocument/2006/relationships/slide" Target="slides/slide8.xml"/><Relationship Id="rId35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34" Type="http://schemas.openxmlformats.org/officeDocument/2006/relationships/font" Target="fonts/CenturyGothic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7537bc0c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7537bc0c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537bc0ce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537bc0ce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537bc0ce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537bc0ce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537bc0ce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27537bc0ce7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537bc0ce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27537bc0ce7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537bc0ce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537bc0ce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537bc0ce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537bc0c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537bc0ce7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537bc0ce7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537bc0ce7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537bc0ce7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537bc0ce7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537bc0ce7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537bc0ce7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537bc0ce7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537bc0ce7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537bc0ce7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537bc0ce7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537bc0ce7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537bc0ce7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537bc0ce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537bc0ce7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537bc0ce7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7537bc0ce7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537bc0ce7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537bc0ce7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537bc0ce7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537bc0ce7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537bc0ce7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7537bc0ce7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7537bc0ce7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7537bc0ce7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7537bc0ce7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537bc0ce7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537bc0ce7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537bc0ce7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27537bc0ce7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 + 1 column + Imag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7" y="-37"/>
            <a:ext cx="6256515" cy="5142022"/>
            <a:chOff x="-8" y="-13"/>
            <a:chExt cx="7710766" cy="5142022"/>
          </a:xfrm>
        </p:grpSpPr>
        <p:sp>
          <p:nvSpPr>
            <p:cNvPr id="52" name="Google Shape;52;p13"/>
            <p:cNvSpPr/>
            <p:nvPr/>
          </p:nvSpPr>
          <p:spPr>
            <a:xfrm>
              <a:off x="-8" y="-13"/>
              <a:ext cx="7710766" cy="5142022"/>
            </a:xfrm>
            <a:custGeom>
              <a:rect b="b" l="l" r="r" t="t"/>
              <a:pathLst>
                <a:path extrusionOk="0" h="2285343" w="3427007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74120"/>
                </a:scheme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-8" y="-13"/>
              <a:ext cx="7536339" cy="5142022"/>
            </a:xfrm>
            <a:custGeom>
              <a:rect b="b" l="l" r="r" t="t"/>
              <a:pathLst>
                <a:path extrusionOk="0" h="2285343" w="3349484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29020"/>
                </a:scheme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-8" y="-13"/>
              <a:ext cx="6852517" cy="5142022"/>
            </a:xfrm>
            <a:custGeom>
              <a:rect b="b" l="l" r="r" t="t"/>
              <a:pathLst>
                <a:path extrusionOk="0" h="2285343" w="3045563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29020"/>
                </a:scheme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-8" y="-13"/>
              <a:ext cx="6478551" cy="5142022"/>
            </a:xfrm>
            <a:custGeom>
              <a:rect b="b" l="l" r="r" t="t"/>
              <a:pathLst>
                <a:path extrusionOk="0" h="2285343" w="2879356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29020"/>
                </a:scheme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-8" y="-13"/>
              <a:ext cx="6272190" cy="5142022"/>
            </a:xfrm>
            <a:custGeom>
              <a:rect b="b" l="l" r="r" t="t"/>
              <a:pathLst>
                <a:path extrusionOk="0" h="2285343" w="278764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29020"/>
                </a:scheme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-8" y="-13"/>
              <a:ext cx="5978795" cy="5142022"/>
            </a:xfrm>
            <a:custGeom>
              <a:rect b="b" l="l" r="r" t="t"/>
              <a:pathLst>
                <a:path extrusionOk="0" h="2285343" w="2657242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29020"/>
                </a:scheme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13"/>
          <p:cNvSpPr txBox="1"/>
          <p:nvPr>
            <p:ph type="title"/>
          </p:nvPr>
        </p:nvSpPr>
        <p:spPr>
          <a:xfrm>
            <a:off x="457200" y="1051625"/>
            <a:ext cx="27723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457200" y="2049800"/>
            <a:ext cx="2772300" cy="24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800"/>
            </a:lvl1pPr>
            <a:lvl2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indent="-3175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indent="-3175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indent="-3175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indent="-3175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ixie One"/>
              <a:buNone/>
              <a:defRPr b="0" i="0" sz="1200" u="none" cap="none" strike="noStrike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ixie One"/>
              <a:buNone/>
              <a:defRPr b="0" i="0" sz="1200" u="none" cap="none" strike="noStrike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ixie One"/>
              <a:buNone/>
              <a:defRPr b="0" i="0" sz="1200" u="none" cap="none" strike="noStrike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ixie One"/>
              <a:buNone/>
              <a:defRPr b="0" i="0" sz="1200" u="none" cap="none" strike="noStrike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ixie One"/>
              <a:buNone/>
              <a:defRPr b="0" i="0" sz="1200" u="none" cap="none" strike="noStrike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ixie One"/>
              <a:buNone/>
              <a:defRPr b="0" i="0" sz="1200" u="none" cap="none" strike="noStrike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ixie One"/>
              <a:buNone/>
              <a:defRPr b="0" i="0" sz="1200" u="none" cap="none" strike="noStrike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ixie One"/>
              <a:buNone/>
              <a:defRPr b="0" i="0" sz="1200" u="none" cap="none" strike="noStrike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ixie One"/>
              <a:buNone/>
              <a:defRPr b="0" i="0" sz="1200" u="none" cap="none" strike="noStrike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hyperlink" Target="https://doi.org/10.1038/nrrheum.2014.15" TargetMode="External"/><Relationship Id="rId6" Type="http://schemas.openxmlformats.org/officeDocument/2006/relationships/hyperlink" Target="https://doi.org/10.1038/s41584-018-0156-8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258677" y="323250"/>
            <a:ext cx="6251100" cy="1902900"/>
          </a:xfrm>
          <a:prstGeom prst="rect">
            <a:avLst/>
          </a:prstGeom>
          <a:solidFill>
            <a:srgbClr val="E06666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LES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tratamiento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80250" y="3470300"/>
            <a:ext cx="2298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5F636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Dra Luciana Grassi</a:t>
            </a:r>
            <a:endParaRPr sz="1700">
              <a:solidFill>
                <a:srgbClr val="5F6368"/>
              </a:solidFill>
              <a:latin typeface="Kumbh Sans Medium"/>
              <a:ea typeface="Kumbh Sans Medium"/>
              <a:cs typeface="Kumbh Sans Medium"/>
              <a:sym typeface="Kumbh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5F636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Medicina Interna III</a:t>
            </a:r>
            <a:endParaRPr sz="1700">
              <a:solidFill>
                <a:srgbClr val="5F6368"/>
              </a:solidFill>
              <a:latin typeface="Kumbh Sans Medium"/>
              <a:ea typeface="Kumbh Sans Medium"/>
              <a:cs typeface="Kumbh Sans Medium"/>
              <a:sym typeface="Kumbh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5F636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Reumatología </a:t>
            </a:r>
            <a:endParaRPr sz="1700">
              <a:solidFill>
                <a:srgbClr val="5F6368"/>
              </a:solidFill>
              <a:latin typeface="Kumbh Sans Medium"/>
              <a:ea typeface="Kumbh Sans Medium"/>
              <a:cs typeface="Kumbh Sans Medium"/>
              <a:sym typeface="Kumbh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5F6368"/>
                </a:solidFill>
                <a:latin typeface="Kumbh Sans Medium"/>
                <a:ea typeface="Kumbh Sans Medium"/>
                <a:cs typeface="Kumbh Sans Medium"/>
                <a:sym typeface="Kumbh Sans Medium"/>
              </a:rPr>
              <a:t>2023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3088" y="323250"/>
            <a:ext cx="1096325" cy="10936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7700" y="2450700"/>
            <a:ext cx="2861950" cy="22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Medidas</a:t>
            </a:r>
            <a:r>
              <a:rPr lang="es" sz="3300"/>
              <a:t> </a:t>
            </a:r>
            <a:r>
              <a:rPr lang="es">
                <a:solidFill>
                  <a:srgbClr val="FFFFFF"/>
                </a:solidFill>
              </a:rPr>
              <a:t>Generales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628900" cy="37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6732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5"/>
              <a:buChar char="●"/>
            </a:pPr>
            <a:r>
              <a:rPr lang="es" sz="2184"/>
              <a:t>Explicar al paciente su enfermedad</a:t>
            </a:r>
            <a:endParaRPr sz="2184"/>
          </a:p>
          <a:p>
            <a:pPr indent="-36732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5"/>
              <a:buChar char="●"/>
            </a:pPr>
            <a:r>
              <a:rPr lang="es" sz="2184"/>
              <a:t>Evitar exposición solar: Cremas fotoprotectoras, sombreros, etc. Indicar Vit D3.</a:t>
            </a:r>
            <a:endParaRPr sz="2184"/>
          </a:p>
          <a:p>
            <a:pPr indent="-36732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5"/>
              <a:buChar char="●"/>
            </a:pPr>
            <a:r>
              <a:rPr lang="es" sz="2184"/>
              <a:t>Dieta: Normo calórica; evitar brotes de alfalfa; Zn; y ácidos grasos esenciales-</a:t>
            </a:r>
            <a:endParaRPr sz="2184"/>
          </a:p>
          <a:p>
            <a:pPr indent="-36732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5"/>
              <a:buChar char="●"/>
            </a:pPr>
            <a:r>
              <a:rPr lang="es" sz="2184"/>
              <a:t>Evitar el tabaco.</a:t>
            </a:r>
            <a:endParaRPr sz="2184"/>
          </a:p>
          <a:p>
            <a:pPr indent="-36732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5"/>
              <a:buChar char="●"/>
            </a:pPr>
            <a:r>
              <a:rPr lang="es" sz="2184"/>
              <a:t>Si toma corticoides: restringir la sal y los hidratos de carbono. Prevenir Osteoporosis</a:t>
            </a:r>
            <a:endParaRPr sz="2184"/>
          </a:p>
          <a:p>
            <a:pPr indent="-36732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5"/>
              <a:buChar char="●"/>
            </a:pPr>
            <a:r>
              <a:rPr lang="es" sz="2184"/>
              <a:t>AINES: tener cuidado cuando hay daño renal.</a:t>
            </a:r>
            <a:endParaRPr sz="2184"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5201750" y="823275"/>
            <a:ext cx="3598800" cy="19296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Hidroxicloroquina 5 mg/kg/d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Corticoides 0,5-1mg/kg/d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cDMARs (Metotrexato, Azatioprina, Leflunomida)</a:t>
            </a:r>
            <a:endParaRPr sz="1600">
              <a:solidFill>
                <a:srgbClr val="3C78D8"/>
              </a:solidFill>
            </a:endParaRPr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44625" y="98425"/>
            <a:ext cx="9024000" cy="6561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Dermatológico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5201750" y="2852875"/>
            <a:ext cx="3598800" cy="2223600"/>
          </a:xfrm>
          <a:prstGeom prst="rect">
            <a:avLst/>
          </a:prstGeom>
          <a:solidFill>
            <a:srgbClr val="FF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</a:rPr>
              <a:t>Corticoides pulsos (250-1000 mg/d x 3-5 días) EV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FFFFFF"/>
                </a:solidFill>
              </a:rPr>
              <a:t>Inmunosupresores (Micofenolato, Ciclofosfamida, Rituximab)</a:t>
            </a:r>
            <a:endParaRPr sz="1600">
              <a:solidFill>
                <a:srgbClr val="FFFFFF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6138" l="9247" r="9345" t="0"/>
          <a:stretch/>
        </p:blipFill>
        <p:spPr>
          <a:xfrm>
            <a:off x="220913" y="823313"/>
            <a:ext cx="2087375" cy="19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0762" y="823312"/>
            <a:ext cx="2572674" cy="19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5">
            <a:alphaModFix/>
          </a:blip>
          <a:srcRect b="0" l="23131" r="6021" t="0"/>
          <a:stretch/>
        </p:blipFill>
        <p:spPr>
          <a:xfrm>
            <a:off x="110850" y="2852863"/>
            <a:ext cx="1378275" cy="14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6">
            <a:alphaModFix/>
          </a:blip>
          <a:srcRect b="0" l="20114" r="15539" t="18864"/>
          <a:stretch/>
        </p:blipFill>
        <p:spPr>
          <a:xfrm>
            <a:off x="1568050" y="2852862"/>
            <a:ext cx="1748650" cy="14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 rotWithShape="1">
          <a:blip r:embed="rId7">
            <a:alphaModFix/>
          </a:blip>
          <a:srcRect b="11068" l="27873" r="21132" t="28351"/>
          <a:stretch/>
        </p:blipFill>
        <p:spPr>
          <a:xfrm>
            <a:off x="3395625" y="2852862"/>
            <a:ext cx="1646825" cy="146732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917775" y="4420250"/>
            <a:ext cx="3049200" cy="656100"/>
          </a:xfrm>
          <a:prstGeom prst="rect">
            <a:avLst/>
          </a:prstGeom>
          <a:solidFill>
            <a:srgbClr val="FFD966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434343"/>
                </a:solidFill>
              </a:rPr>
              <a:t>Mecanismo: inflamatorio, inmunocomplejos, vasculitis</a:t>
            </a:r>
            <a:endParaRPr sz="1600">
              <a:solidFill>
                <a:srgbClr val="43434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5469900" y="915675"/>
            <a:ext cx="3598800" cy="39810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AINEs dosis anti-inflamatorias (1200-1600 ibuprofeno)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Prednisona 7.5 mg/d (bajas)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DMARs convencionales (metotrexato 10-25 mg/sem + fólico)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Combinación DMARs convencionales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bDMARs (biológicos)</a:t>
            </a:r>
            <a:endParaRPr sz="1600">
              <a:solidFill>
                <a:srgbClr val="3C78D8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25" y="1403925"/>
            <a:ext cx="2331700" cy="189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type="title"/>
          </p:nvPr>
        </p:nvSpPr>
        <p:spPr>
          <a:xfrm>
            <a:off x="44625" y="98425"/>
            <a:ext cx="9024000" cy="6561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Compromiso articular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4625" y="3461531"/>
            <a:ext cx="2331600" cy="656100"/>
          </a:xfrm>
          <a:prstGeom prst="rect">
            <a:avLst/>
          </a:prstGeom>
          <a:solidFill>
            <a:srgbClr val="FFD966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434343"/>
                </a:solidFill>
              </a:rPr>
              <a:t>Deformación no reducible</a:t>
            </a:r>
            <a:endParaRPr sz="1600">
              <a:solidFill>
                <a:srgbClr val="434343"/>
              </a:solidFill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4">
            <a:alphaModFix/>
          </a:blip>
          <a:srcRect b="37053" l="49578" r="22155" t="31331"/>
          <a:stretch/>
        </p:blipFill>
        <p:spPr>
          <a:xfrm>
            <a:off x="2416059" y="1403925"/>
            <a:ext cx="3014107" cy="189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757263" y="3461531"/>
            <a:ext cx="2331600" cy="656100"/>
          </a:xfrm>
          <a:prstGeom prst="rect">
            <a:avLst/>
          </a:prstGeom>
          <a:solidFill>
            <a:srgbClr val="FFD966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434343"/>
                </a:solidFill>
              </a:rPr>
              <a:t>Deformación reducible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44644" y="4205925"/>
            <a:ext cx="2331600" cy="408900"/>
          </a:xfrm>
          <a:prstGeom prst="rect">
            <a:avLst/>
          </a:prstGeom>
          <a:solidFill>
            <a:srgbClr val="FFD966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434343"/>
                </a:solidFill>
              </a:rPr>
              <a:t>Lesión articular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757263" y="4205925"/>
            <a:ext cx="2331600" cy="408900"/>
          </a:xfrm>
          <a:prstGeom prst="rect">
            <a:avLst/>
          </a:prstGeom>
          <a:solidFill>
            <a:srgbClr val="FFD966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434343"/>
                </a:solidFill>
              </a:rPr>
              <a:t>Partes blandas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56631" y="915675"/>
            <a:ext cx="1307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AR</a:t>
            </a:r>
            <a:endParaRPr sz="2300"/>
          </a:p>
        </p:txBody>
      </p:sp>
      <p:sp>
        <p:nvSpPr>
          <p:cNvPr id="101" name="Google Shape;101;p17"/>
          <p:cNvSpPr txBox="1"/>
          <p:nvPr/>
        </p:nvSpPr>
        <p:spPr>
          <a:xfrm>
            <a:off x="3140981" y="915675"/>
            <a:ext cx="1307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Jaccoud</a:t>
            </a:r>
            <a:endParaRPr sz="2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idx="4294967295" type="title"/>
          </p:nvPr>
        </p:nvSpPr>
        <p:spPr>
          <a:xfrm>
            <a:off x="44625" y="98425"/>
            <a:ext cx="9024000" cy="6561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Serosas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7" name="Google Shape;107;p18"/>
          <p:cNvSpPr txBox="1"/>
          <p:nvPr>
            <p:ph idx="4294967295" type="body"/>
          </p:nvPr>
        </p:nvSpPr>
        <p:spPr>
          <a:xfrm>
            <a:off x="5506825" y="841500"/>
            <a:ext cx="3513300" cy="9051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Corticoides 0,5 mg/kg/d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3C78D8"/>
                </a:solidFill>
              </a:rPr>
              <a:t>cDMARs (MTX, AZA, LFN)</a:t>
            </a:r>
            <a:endParaRPr sz="1600">
              <a:solidFill>
                <a:srgbClr val="3C78D8"/>
              </a:solidFill>
            </a:endParaRPr>
          </a:p>
        </p:txBody>
      </p:sp>
      <p:sp>
        <p:nvSpPr>
          <p:cNvPr id="108" name="Google Shape;108;p18"/>
          <p:cNvSpPr txBox="1"/>
          <p:nvPr>
            <p:ph idx="4294967295" type="body"/>
          </p:nvPr>
        </p:nvSpPr>
        <p:spPr>
          <a:xfrm>
            <a:off x="5506750" y="1833575"/>
            <a:ext cx="3513300" cy="2038500"/>
          </a:xfrm>
          <a:prstGeom prst="rect">
            <a:avLst/>
          </a:prstGeom>
          <a:solidFill>
            <a:srgbClr val="FF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</a:rPr>
              <a:t>Taponamiento o refractariedad: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s" sz="1600">
                <a:solidFill>
                  <a:srgbClr val="FFFFFF"/>
                </a:solidFill>
              </a:rPr>
              <a:t>Inmunosupresores (Ciclofosfamida)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s" sz="1600">
                <a:solidFill>
                  <a:schemeClr val="lt1"/>
                </a:solidFill>
              </a:rPr>
              <a:t>Corticoides pulsos (250-1000 mg/d x 3-5 días) EV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612350" y="4714150"/>
            <a:ext cx="4184400" cy="421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Inflamatorio</a:t>
            </a:r>
            <a:endParaRPr sz="1400"/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2665" r="4449" t="0"/>
          <a:stretch/>
        </p:blipFill>
        <p:spPr>
          <a:xfrm>
            <a:off x="243300" y="841500"/>
            <a:ext cx="2207125" cy="191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 rotWithShape="1">
          <a:blip r:embed="rId4">
            <a:alphaModFix/>
          </a:blip>
          <a:srcRect b="13942" l="0" r="0" t="10898"/>
          <a:stretch/>
        </p:blipFill>
        <p:spPr>
          <a:xfrm>
            <a:off x="243300" y="2791175"/>
            <a:ext cx="2207125" cy="188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 rotWithShape="1">
          <a:blip r:embed="rId5">
            <a:alphaModFix/>
          </a:blip>
          <a:srcRect b="5864" l="3025" r="2714" t="0"/>
          <a:stretch/>
        </p:blipFill>
        <p:spPr>
          <a:xfrm>
            <a:off x="2536850" y="2791175"/>
            <a:ext cx="2671800" cy="18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 rotWithShape="1">
          <a:blip r:embed="rId6">
            <a:alphaModFix/>
          </a:blip>
          <a:srcRect b="8045" l="718" r="51372" t="0"/>
          <a:stretch/>
        </p:blipFill>
        <p:spPr>
          <a:xfrm>
            <a:off x="2536862" y="841500"/>
            <a:ext cx="2671788" cy="191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4294967295" type="title"/>
          </p:nvPr>
        </p:nvSpPr>
        <p:spPr>
          <a:xfrm>
            <a:off x="44625" y="98425"/>
            <a:ext cx="9024000" cy="6561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Sistema nervioso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 rot="-5400000">
            <a:off x="-1583513" y="2755025"/>
            <a:ext cx="3966000" cy="421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Inflamatorio/trombosis/vasculitis</a:t>
            </a:r>
            <a:endParaRPr sz="1400"/>
          </a:p>
        </p:txBody>
      </p:sp>
      <p:sp>
        <p:nvSpPr>
          <p:cNvPr id="120" name="Google Shape;120;p19"/>
          <p:cNvSpPr txBox="1"/>
          <p:nvPr/>
        </p:nvSpPr>
        <p:spPr>
          <a:xfrm>
            <a:off x="4462000" y="3379426"/>
            <a:ext cx="4458300" cy="1003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FFFFFF"/>
                </a:solidFill>
              </a:rPr>
              <a:t>Inmunosupresión</a:t>
            </a:r>
            <a:endParaRPr sz="1400">
              <a:solidFill>
                <a:srgbClr val="FFFFFF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s" sz="1400">
                <a:solidFill>
                  <a:srgbClr val="FFFFFF"/>
                </a:solidFill>
              </a:rPr>
              <a:t>CFM o RTX + pulsos corticoides</a:t>
            </a:r>
            <a:endParaRPr sz="1400">
              <a:solidFill>
                <a:srgbClr val="FFFFFF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s" sz="1400">
                <a:solidFill>
                  <a:srgbClr val="FFFFFF"/>
                </a:solidFill>
              </a:rPr>
              <a:t>Mantenimiento: Aza, MMF, RTX</a:t>
            </a:r>
            <a:endParaRPr sz="1400">
              <a:solidFill>
                <a:srgbClr val="FFFFFF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s" sz="1400">
                <a:solidFill>
                  <a:srgbClr val="FFFFFF"/>
                </a:solidFill>
              </a:rPr>
              <a:t>Plasmaféresis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4462000" y="4426825"/>
            <a:ext cx="4458300" cy="59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FFFFFF"/>
                </a:solidFill>
              </a:rPr>
              <a:t>SAF:</a:t>
            </a:r>
            <a:endParaRPr sz="1400">
              <a:solidFill>
                <a:srgbClr val="FFFFFF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s" sz="1400">
                <a:solidFill>
                  <a:srgbClr val="FFFFFF"/>
                </a:solidFill>
              </a:rPr>
              <a:t>Anticoagulación</a:t>
            </a:r>
            <a:endParaRPr sz="1400">
              <a:solidFill>
                <a:srgbClr val="FFFFFF"/>
              </a:solidFill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/>
          </a:blip>
          <a:srcRect b="2788" l="16218" r="49601" t="14710"/>
          <a:stretch/>
        </p:blipFill>
        <p:spPr>
          <a:xfrm>
            <a:off x="610225" y="806275"/>
            <a:ext cx="3116626" cy="423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 rotWithShape="1">
          <a:blip r:embed="rId4">
            <a:alphaModFix/>
          </a:blip>
          <a:srcRect b="19628" l="10586" r="36900" t="25405"/>
          <a:stretch/>
        </p:blipFill>
        <p:spPr>
          <a:xfrm>
            <a:off x="5431700" y="849750"/>
            <a:ext cx="3183802" cy="187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5188350" y="2724300"/>
            <a:ext cx="36705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270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chemeClr val="dk1"/>
                </a:solidFill>
              </a:rPr>
              <a:t>Hanly JG. Diagnosis and management of neuropsychiatric SLE. </a:t>
            </a:r>
            <a:r>
              <a:rPr i="1" lang="es" sz="600">
                <a:solidFill>
                  <a:schemeClr val="dk1"/>
                </a:solidFill>
              </a:rPr>
              <a:t>Nat Rev Rheumatol</a:t>
            </a:r>
            <a:r>
              <a:rPr lang="es" sz="600">
                <a:solidFill>
                  <a:schemeClr val="dk1"/>
                </a:solidFill>
              </a:rPr>
              <a:t>. 2014;10(6):338-347. doi:</a:t>
            </a:r>
            <a:r>
              <a:rPr lang="es" sz="600" u="sng">
                <a:solidFill>
                  <a:schemeClr val="hlink"/>
                </a:solidFill>
                <a:hlinkClick r:id="rId5"/>
              </a:rPr>
              <a:t>10.1038/nrrheum.2014.15</a:t>
            </a:r>
            <a:endParaRPr sz="600" u="sng">
              <a:solidFill>
                <a:schemeClr val="hlink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 rot="-2699341">
            <a:off x="-645480" y="204528"/>
            <a:ext cx="2213386" cy="7097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FFFFFF"/>
                </a:solidFill>
              </a:rPr>
              <a:t>PRONOSTICO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745125" y="982775"/>
            <a:ext cx="1668300" cy="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chemeClr val="dk1"/>
                </a:solidFill>
              </a:rPr>
              <a:t>Schwartz N, Stock AD, Putterman C. Neuropsychiatric lupus: new mechanistic insights and future treatment directions. </a:t>
            </a:r>
            <a:r>
              <a:rPr i="1" lang="es" sz="600">
                <a:solidFill>
                  <a:schemeClr val="dk1"/>
                </a:solidFill>
              </a:rPr>
              <a:t>Nat Rev Rheumatol</a:t>
            </a:r>
            <a:r>
              <a:rPr lang="es" sz="600">
                <a:solidFill>
                  <a:schemeClr val="dk1"/>
                </a:solidFill>
              </a:rPr>
              <a:t>. 2019;15(3):137-152. doi:</a:t>
            </a:r>
            <a:r>
              <a:rPr lang="es" sz="600" u="sng">
                <a:solidFill>
                  <a:schemeClr val="hlink"/>
                </a:solidFill>
                <a:hlinkClick r:id="rId6"/>
              </a:rPr>
              <a:t>10.1038/s41584-018-0156-8</a:t>
            </a:r>
            <a:endParaRPr sz="600" u="sng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Nefritis Lúpica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Aproximadamente el 35% de los pacientes con LES tienen nefritis al diagnóstico y 50-60% la desarrollan en los primeros 10 años</a:t>
            </a:r>
            <a:endParaRPr sz="2000"/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Más</a:t>
            </a:r>
            <a:r>
              <a:rPr lang="es" sz="2000"/>
              <a:t> prevalente y severa en Afroamericanos y mestizos que en caucásicos y en hombres.</a:t>
            </a:r>
            <a:endParaRPr sz="2000"/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Impacta en la mortalidad con una reducción de un 4-10% a10 años.</a:t>
            </a:r>
            <a:endParaRPr sz="2000"/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s" sz="2000"/>
              <a:t>En Latinoamérica y Argentina, datos similares a los de EEUU.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Detección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152475"/>
            <a:ext cx="8520600" cy="26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3756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785"/>
              <a:buFont typeface="Noto Sans Symbols"/>
              <a:buChar char="▶"/>
            </a:pPr>
            <a:r>
              <a:rPr lang="es" sz="29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los pacientes con LES, deberían ser monitoreados con sedimento de orina y proteinuria en cada visita.</a:t>
            </a:r>
            <a:endParaRPr sz="29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756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5785"/>
              <a:buFont typeface="Noto Sans Symbols"/>
              <a:buChar char="▶"/>
            </a:pPr>
            <a:r>
              <a:rPr lang="es" sz="29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hubiera &gt;5 GR, &gt;5 GB (sin ITU), proteinura &gt;0.5 o +++ (la Pr24hs se puede reemplazar por índice Pr/cr en orina espontanea) o cilindros</a:t>
            </a:r>
            <a:endParaRPr sz="29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p21"/>
          <p:cNvSpPr/>
          <p:nvPr/>
        </p:nvSpPr>
        <p:spPr>
          <a:xfrm rot="5400000">
            <a:off x="4277404" y="-836027"/>
            <a:ext cx="589200" cy="8889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CD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3857203" y="4060977"/>
            <a:ext cx="142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5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PBR</a:t>
            </a:r>
            <a:endParaRPr sz="5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Indicaciones de biopsia renal en pacientes con LES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152475"/>
            <a:ext cx="8520600" cy="3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Aumento de la creatinina sérica sin causas alternativas convincentes (como sepsis, hipovolemia o medicación)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Proteinuria confirmada de ≥1,0 g cada 24 horas (se aceptan muestras de orina de 24 horas o </a:t>
            </a:r>
            <a:r>
              <a:rPr lang="es"/>
              <a:t>índices</a:t>
            </a:r>
            <a:r>
              <a:rPr lang="es"/>
              <a:t> puntuales de proteína/creatinina) Combinaciones de lo siguiente, suponiendo que los hallazgos se </a:t>
            </a:r>
            <a:r>
              <a:rPr lang="es"/>
              <a:t>confirman</a:t>
            </a:r>
            <a:r>
              <a:rPr lang="es"/>
              <a:t> en al menos 2 pruebas realizadas en un período corto de tiempo y en el ausencia de causas alternativas: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Proteinuria 20,5 g por 24 horas más hematuria, definida como 25 glóbulos rojos por campo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Proteinuria 20,5 g por 24 horas más celulares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7039" y="622723"/>
            <a:ext cx="4529925" cy="40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 rotWithShape="1">
          <a:blip r:embed="rId3">
            <a:alphaModFix/>
          </a:blip>
          <a:srcRect b="24130" l="10171" r="35980" t="16345"/>
          <a:stretch/>
        </p:blipFill>
        <p:spPr>
          <a:xfrm>
            <a:off x="823263" y="183500"/>
            <a:ext cx="7497475" cy="46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27085" l="9850" r="33921" t="22559"/>
          <a:stretch/>
        </p:blipFill>
        <p:spPr>
          <a:xfrm>
            <a:off x="248262" y="445025"/>
            <a:ext cx="8186875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3">
            <a:alphaModFix/>
          </a:blip>
          <a:srcRect b="31531" l="10444" r="34525" t="23761"/>
          <a:stretch/>
        </p:blipFill>
        <p:spPr>
          <a:xfrm>
            <a:off x="244500" y="661375"/>
            <a:ext cx="8817552" cy="402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Tratamiento: ¿A quién?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311700" y="1017725"/>
            <a:ext cx="852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s" sz="1450"/>
              <a:t>INDUCCIÓN</a:t>
            </a:r>
            <a:r>
              <a:rPr lang="es" sz="1450"/>
              <a:t>: </a:t>
            </a:r>
            <a:endParaRPr sz="1450"/>
          </a:p>
          <a:p>
            <a:pPr indent="-32131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Char char="▶"/>
            </a:pPr>
            <a:r>
              <a:rPr lang="es" sz="1450"/>
              <a:t>Clase I/II:</a:t>
            </a:r>
            <a:endParaRPr sz="1450"/>
          </a:p>
          <a:p>
            <a:pPr indent="-269494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84"/>
              <a:buFont typeface="Arial"/>
              <a:buChar char="▶"/>
            </a:pPr>
            <a:r>
              <a:rPr lang="es" sz="1355"/>
              <a:t>No requiere tratamiento inmunosupresor (ACR)</a:t>
            </a:r>
            <a:endParaRPr sz="1355"/>
          </a:p>
          <a:p>
            <a:pPr indent="-269494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84"/>
              <a:buFont typeface="Arial"/>
              <a:buChar char="▶"/>
            </a:pPr>
            <a:r>
              <a:rPr lang="es" sz="1355"/>
              <a:t>Esteroides en aquellos que no disminuyen la proteinuria (&lt;0.5) con IECA/ARAII (SAR).</a:t>
            </a:r>
            <a:endParaRPr sz="1355"/>
          </a:p>
          <a:p>
            <a:pPr indent="-32131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Char char="▶"/>
            </a:pPr>
            <a:r>
              <a:rPr lang="es" sz="1450"/>
              <a:t>Clase III/IV (±V): MP 500-1000 en pulsos x 3 y luego 0.5-1 mg/kg</a:t>
            </a:r>
            <a:endParaRPr sz="1450"/>
          </a:p>
          <a:p>
            <a:pPr indent="-269494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84"/>
              <a:buFont typeface="Arial"/>
              <a:buChar char="▶"/>
            </a:pPr>
            <a:r>
              <a:rPr lang="es" sz="1355"/>
              <a:t>MMF/MFS 2-3 gramos (si o si 3 en los que tienen semilunas o Cr elevada) </a:t>
            </a:r>
            <a:endParaRPr sz="1355"/>
          </a:p>
          <a:p>
            <a:pPr indent="-269494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84"/>
              <a:buFont typeface="Arial"/>
              <a:buChar char="▶"/>
            </a:pPr>
            <a:r>
              <a:rPr lang="es" sz="1355"/>
              <a:t>CYC IV.  (cuidar la fertilidad)</a:t>
            </a:r>
            <a:endParaRPr sz="1355"/>
          </a:p>
          <a:p>
            <a:pPr indent="-217678" lvl="2" marL="11430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8"/>
              <a:buFont typeface="Arial"/>
              <a:buChar char="▶"/>
            </a:pPr>
            <a:r>
              <a:rPr lang="es" sz="1260"/>
              <a:t>EuroLupus: 500 mg IV cada 15 dias x 6 (caucásicos europeos) = menos EA y similar Rta.</a:t>
            </a:r>
            <a:endParaRPr sz="1260"/>
          </a:p>
          <a:p>
            <a:pPr indent="-217678" lvl="2" marL="11430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8"/>
              <a:buFont typeface="Arial"/>
              <a:buChar char="▶"/>
            </a:pPr>
            <a:r>
              <a:rPr lang="es" sz="1260"/>
              <a:t>NIH: 500-1 gr/m2 por mes x 6</a:t>
            </a:r>
            <a:endParaRPr sz="1260"/>
          </a:p>
          <a:p>
            <a:pPr indent="-32131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Char char="▶"/>
            </a:pPr>
            <a:r>
              <a:rPr lang="es" sz="1450"/>
              <a:t>Clase V: Si tiene proteinuria en rango nefrótico igual que III/IV (MMF) sino IECA/ARA </a:t>
            </a:r>
            <a:endParaRPr sz="145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s" sz="1450"/>
              <a:t>MANTENIMIENTO:</a:t>
            </a:r>
            <a:endParaRPr sz="1450"/>
          </a:p>
          <a:p>
            <a:pPr indent="-32131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Char char="▶"/>
            </a:pPr>
            <a:r>
              <a:rPr lang="es" sz="1450"/>
              <a:t>AZA 2 mg/kg/día o MMF 1 a 2 gr/día (estudio MAINTAIN)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15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Crite</a:t>
            </a:r>
            <a:r>
              <a:rPr lang="es">
                <a:solidFill>
                  <a:srgbClr val="FFFFFF"/>
                </a:solidFill>
              </a:rPr>
              <a:t>rios</a:t>
            </a:r>
            <a:r>
              <a:rPr lang="es" sz="420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>
                <a:solidFill>
                  <a:srgbClr val="FFFFFF"/>
                </a:solidFill>
              </a:rPr>
              <a:t>de Respuesta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>
                <a:highlight>
                  <a:schemeClr val="lt1"/>
                </a:highlight>
              </a:rPr>
              <a:t>EULAR: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s" sz="1800">
                <a:highlight>
                  <a:schemeClr val="lt1"/>
                </a:highlight>
              </a:rPr>
              <a:t>Remisión completa: prot &lt;0.5 y GFR normal o hasta 10% debajo de lo normal si estaba alterado.</a:t>
            </a:r>
            <a:endParaRPr sz="1800">
              <a:highlight>
                <a:schemeClr val="lt1"/>
              </a:highlight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chemeClr val="lt1"/>
              </a:highlight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s" sz="1800">
                <a:highlight>
                  <a:schemeClr val="lt1"/>
                </a:highlight>
              </a:rPr>
              <a:t>Remisión parcial: Dism ≥50% de prot. (a rango subnefrotico)y GFR normal o hasta 10% debajo de lo normal si estaba alterado.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Tratamientos</a:t>
            </a:r>
            <a:r>
              <a:rPr lang="es" sz="420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>
                <a:solidFill>
                  <a:srgbClr val="FFFFFF"/>
                </a:solidFill>
              </a:rPr>
              <a:t>coadyuvantes</a:t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441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▶"/>
            </a:pPr>
            <a:r>
              <a:rPr lang="es" sz="2220"/>
              <a:t>HCQ: TODOS!!! (</a:t>
            </a:r>
            <a:r>
              <a:rPr lang="es" sz="2220"/>
              <a:t>Demostró</a:t>
            </a:r>
            <a:r>
              <a:rPr lang="es" sz="2220"/>
              <a:t> menos flares y mejor sobrevida renal)</a:t>
            </a:r>
            <a:endParaRPr sz="2000"/>
          </a:p>
          <a:p>
            <a:pPr indent="-230123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None/>
            </a:pPr>
            <a:r>
              <a:t/>
            </a:r>
            <a:endParaRPr sz="2220"/>
          </a:p>
          <a:p>
            <a:pPr indent="-334441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▶"/>
            </a:pPr>
            <a:r>
              <a:rPr lang="es" sz="2220"/>
              <a:t>Si proteinuria &gt;0.5: IECA/ARAII</a:t>
            </a:r>
            <a:endParaRPr sz="2000"/>
          </a:p>
          <a:p>
            <a:pPr indent="-230123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None/>
            </a:pPr>
            <a:r>
              <a:t/>
            </a:r>
            <a:endParaRPr sz="2220"/>
          </a:p>
          <a:p>
            <a:pPr indent="-334441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▶"/>
            </a:pPr>
            <a:r>
              <a:rPr lang="es" sz="2220"/>
              <a:t>Control de TA con cifras ≤130/80</a:t>
            </a:r>
            <a:endParaRPr sz="2000"/>
          </a:p>
          <a:p>
            <a:pPr indent="-230123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None/>
            </a:pPr>
            <a:r>
              <a:t/>
            </a:r>
            <a:endParaRPr sz="2220"/>
          </a:p>
          <a:p>
            <a:pPr indent="-334441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▶"/>
            </a:pPr>
            <a:r>
              <a:rPr lang="es" sz="2220"/>
              <a:t>Estatinas si LDL &gt;100</a:t>
            </a:r>
            <a:endParaRPr sz="2000"/>
          </a:p>
          <a:p>
            <a:pPr indent="-230123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None/>
            </a:pPr>
            <a:r>
              <a:t/>
            </a:r>
            <a:endParaRPr sz="2220"/>
          </a:p>
          <a:p>
            <a:pPr indent="-334441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Font typeface="Arial"/>
              <a:buChar char="▶"/>
            </a:pPr>
            <a:r>
              <a:rPr lang="es" sz="2220"/>
              <a:t>Planificación</a:t>
            </a:r>
            <a:r>
              <a:rPr lang="es" sz="2220"/>
              <a:t> familiar!!!!!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LUPUS Y EMBARAZO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Predictores Clínicos Morbi-mortalidad Materno Fetal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➔"/>
            </a:pPr>
            <a:r>
              <a:rPr lang="es"/>
              <a:t>Reactivación lúpica durante el embarazo</a:t>
            </a:r>
            <a:endParaRPr/>
          </a:p>
          <a:p>
            <a:pPr indent="-334327" lvl="0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Suspensión tratamiento HCQ</a:t>
            </a:r>
            <a:endParaRPr/>
          </a:p>
          <a:p>
            <a:pPr indent="-334327" lvl="0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Historia de +3 reactivaciones previas</a:t>
            </a:r>
            <a:endParaRPr/>
          </a:p>
          <a:p>
            <a:pPr indent="-334327" lvl="0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SLEDAI &gt; 5</a:t>
            </a:r>
            <a:endParaRPr/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➔"/>
            </a:pPr>
            <a:r>
              <a:rPr lang="es"/>
              <a:t>Nefropatía</a:t>
            </a:r>
            <a:r>
              <a:rPr lang="es"/>
              <a:t> lúpica previa</a:t>
            </a:r>
            <a:endParaRPr/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➔"/>
            </a:pPr>
            <a:r>
              <a:rPr lang="es"/>
              <a:t>Hipertensión arterial</a:t>
            </a:r>
            <a:endParaRPr/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➔"/>
            </a:pPr>
            <a:r>
              <a:rPr lang="es"/>
              <a:t>Anticuerpos anti-FL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156" y="2243781"/>
            <a:ext cx="3786700" cy="25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Factores de Buen Pronóstico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Enfermedad en remisión 3-6 meses antes del embarazo.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Creatinina &lt;1,5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Proteinuria &lt;3 grs en 24 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Buen control de 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LUPUS Y EMBARAZO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PREECLAMPSIA</a:t>
            </a:r>
            <a:endParaRPr/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/>
              <a:t>Hipertensión Arterial : &gt; 140 mmHg ( sistólica) y &gt; 90 mmHg (diastólica) en 2 ocasiones después de la semana 20 de gestación</a:t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/>
              <a:t>+</a:t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/>
              <a:t>Proteinuria : &gt; 300 mg en muestra de 24 hs.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Manejo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Evaluación de proteinuria en cada visita Presencia de &gt;2 cruces en muestra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Proteinuria de 24 hs o Indice Prot/Creat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Sedimento urinario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Hallazgos de hematuria, cilindros, aumento de DNA.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Terapéutica</a:t>
            </a:r>
            <a:r>
              <a:rPr lang="es"/>
              <a:t> con esteroides y azatioprina.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respuesta 7 días finalización del embarazo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NL</a:t>
            </a:r>
            <a:r>
              <a:rPr lang="es" sz="1800">
                <a:solidFill>
                  <a:schemeClr val="dk2"/>
                </a:solidFill>
              </a:rPr>
              <a:t> </a:t>
            </a:r>
            <a:r>
              <a:rPr lang="es">
                <a:solidFill>
                  <a:srgbClr val="FFFFFF"/>
                </a:solidFill>
              </a:rPr>
              <a:t>y Embarazo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Debe estar estable e inactiva los 6/12 meses previos (EULAR; KDIGO)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Continuar HCQ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Cambiar MMF a AZA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Brote en embarazo - esteroides (KDIGO) +/- AZA No disminuir dosis durnate el embarazo o al menos los 3/12 post parto (KDIGO)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Baja dosis aspirina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LUPUS NEONATAL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Lupus Cutáneo Neonatal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Bloqueo Cardíaco Congénito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s" sz="1700"/>
              <a:t>El período más vulnerable es entre las semanas 18 a 24 de gestación. Se sugiere realizar ecocardiograma doppler fetal entre la semanas 16 y la 32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Manifestaciones Hepatobiliares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Plaquetopenia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5"/>
          <p:cNvPicPr preferRelativeResize="0"/>
          <p:nvPr/>
        </p:nvPicPr>
        <p:blipFill rotWithShape="1">
          <a:blip r:embed="rId3">
            <a:alphaModFix/>
          </a:blip>
          <a:srcRect b="40295" l="62934" r="23235" t="37718"/>
          <a:stretch/>
        </p:blipFill>
        <p:spPr>
          <a:xfrm>
            <a:off x="6664050" y="3107300"/>
            <a:ext cx="2168251" cy="193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517208" y="1926020"/>
            <a:ext cx="27723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" sz="2700">
                <a:solidFill>
                  <a:srgbClr val="FF0000"/>
                </a:solidFill>
              </a:rPr>
              <a:t>Muchas Gracias</a:t>
            </a:r>
            <a:endParaRPr sz="2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