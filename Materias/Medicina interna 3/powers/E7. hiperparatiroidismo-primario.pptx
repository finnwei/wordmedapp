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6858000" cx="9144000"/>
  <p:notesSz cx="6858000" cy="9144000"/>
  <p:embeddedFontLst>
    <p:embeddedFont>
      <p:font typeface="Libre Franklin"/>
      <p:regular r:id="rId51"/>
      <p:bold r:id="rId52"/>
      <p:italic r:id="rId53"/>
      <p:boldItalic r:id="rId54"/>
    </p:embeddedFont>
    <p:embeddedFont>
      <p:font typeface="Roboto"/>
      <p:regular r:id="rId55"/>
      <p:bold r:id="rId56"/>
      <p:italic r:id="rId57"/>
      <p:boldItalic r:id="rId58"/>
    </p:embeddedFont>
    <p:embeddedFont>
      <p:font typeface="Libre Baskerville"/>
      <p:regular r:id="rId59"/>
      <p:bold r:id="rId60"/>
      <p:italic r:id="rId61"/>
    </p:embeddedFont>
    <p:embeddedFont>
      <p:font typeface="Merriweather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hyWzbsQgadCEnct/6b2gyPA9BT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erriweather-regular.fntdata"/><Relationship Id="rId61" Type="http://schemas.openxmlformats.org/officeDocument/2006/relationships/font" Target="fonts/LibreBaskerville-italic.fntdata"/><Relationship Id="rId20" Type="http://schemas.openxmlformats.org/officeDocument/2006/relationships/slide" Target="slides/slide15.xml"/><Relationship Id="rId64" Type="http://schemas.openxmlformats.org/officeDocument/2006/relationships/font" Target="fonts/Merriweather-italic.fntdata"/><Relationship Id="rId63" Type="http://schemas.openxmlformats.org/officeDocument/2006/relationships/font" Target="fonts/Merriweather-bold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Merriweather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LibreBaskerville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ibreFranklin-regular.fntdata"/><Relationship Id="rId50" Type="http://schemas.openxmlformats.org/officeDocument/2006/relationships/slide" Target="slides/slide45.xml"/><Relationship Id="rId53" Type="http://schemas.openxmlformats.org/officeDocument/2006/relationships/font" Target="fonts/LibreFranklin-italic.fntdata"/><Relationship Id="rId52" Type="http://schemas.openxmlformats.org/officeDocument/2006/relationships/font" Target="fonts/LibreFranklin-bold.fntdata"/><Relationship Id="rId11" Type="http://schemas.openxmlformats.org/officeDocument/2006/relationships/slide" Target="slides/slide6.xml"/><Relationship Id="rId55" Type="http://schemas.openxmlformats.org/officeDocument/2006/relationships/font" Target="fonts/Roboto-regular.fntdata"/><Relationship Id="rId10" Type="http://schemas.openxmlformats.org/officeDocument/2006/relationships/slide" Target="slides/slide5.xml"/><Relationship Id="rId54" Type="http://schemas.openxmlformats.org/officeDocument/2006/relationships/font" Target="fonts/LibreFranklin-boldItalic.fntdata"/><Relationship Id="rId13" Type="http://schemas.openxmlformats.org/officeDocument/2006/relationships/slide" Target="slides/slide8.xml"/><Relationship Id="rId57" Type="http://schemas.openxmlformats.org/officeDocument/2006/relationships/font" Target="fonts/Roboto-italic.fntdata"/><Relationship Id="rId12" Type="http://schemas.openxmlformats.org/officeDocument/2006/relationships/slide" Target="slides/slide7.xml"/><Relationship Id="rId56" Type="http://schemas.openxmlformats.org/officeDocument/2006/relationships/font" Target="fonts/Roboto-bold.fntdata"/><Relationship Id="rId15" Type="http://schemas.openxmlformats.org/officeDocument/2006/relationships/slide" Target="slides/slide10.xml"/><Relationship Id="rId59" Type="http://schemas.openxmlformats.org/officeDocument/2006/relationships/font" Target="fonts/LibreBaskerville-regular.fntdata"/><Relationship Id="rId14" Type="http://schemas.openxmlformats.org/officeDocument/2006/relationships/slide" Target="slides/slide9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062759a2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5062759a2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eb328d913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1eb328d91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eb328d913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1eb328d913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f1e08803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4f1e0880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44398558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4439855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44398558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24439855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f1e08803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4f1e08803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44398558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244398558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f1e08803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4f1e08803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44398558b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244398558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f1e08803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24f1e0880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44398558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24439855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244398558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24439855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4f1e08803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4f1e08803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20539a247_0_3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820539a247_0_3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820539a247_0_3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820539a247_0_3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820539a247_0_3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20539a247_0_3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820539a247_0_3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820539a247_0_3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20539a247_0_3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820539a247_0_32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820539a247_0_32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820539a247_0_3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20539a247_0_3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820539a247_0_3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20539a247_0_33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820539a247_0_33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820539a247_0_3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20539a247_0_33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820539a247_0_3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20539a247_0_34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20539a247_0_34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820539a247_0_34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820539a247_0_34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820539a247_0_3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20539a247_0_34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820539a247_0_3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20539a247_0_34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820539a247_0_34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820539a247_0_3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20539a247_0_3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20539a247_0_35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820539a247_0_355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820539a247_0_35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820539a247_0_35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55" name="Google Shape;55;g3820539a247_0_35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20539a247_0_3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820539a247_0_3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820539a247_0_3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link.springer.com/journal/198/28/1/page/1" TargetMode="External"/><Relationship Id="rId4" Type="http://schemas.openxmlformats.org/officeDocument/2006/relationships/hyperlink" Target="https://link.springer.com/article/10.1007/s00198-016-3716-2" TargetMode="External"/><Relationship Id="rId5" Type="http://schemas.openxmlformats.org/officeDocument/2006/relationships/hyperlink" Target="https://doi.org/10.1210/jc.2018-01225" TargetMode="External"/><Relationship Id="rId6" Type="http://schemas.openxmlformats.org/officeDocument/2006/relationships/hyperlink" Target="https://doi.org/10.1210/jc.2014-141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062759a25_0_4"/>
          <p:cNvSpPr txBox="1"/>
          <p:nvPr>
            <p:ph idx="1" type="subTitle"/>
          </p:nvPr>
        </p:nvSpPr>
        <p:spPr>
          <a:xfrm>
            <a:off x="394525" y="5087500"/>
            <a:ext cx="4260300" cy="1056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b="1" lang="es-AR" sz="3350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Fuller Albright</a:t>
            </a:r>
            <a:endParaRPr b="1" sz="4800"/>
          </a:p>
        </p:txBody>
      </p:sp>
      <p:sp>
        <p:nvSpPr>
          <p:cNvPr id="61" name="Google Shape;61;g25062759a25_0_4"/>
          <p:cNvSpPr txBox="1"/>
          <p:nvPr>
            <p:ph type="ctrTitle"/>
          </p:nvPr>
        </p:nvSpPr>
        <p:spPr>
          <a:xfrm>
            <a:off x="293700" y="231925"/>
            <a:ext cx="8556600" cy="319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s-AR" sz="395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Enfermedad de huesos, piedras, gemidos y lamentos</a:t>
            </a:r>
            <a:r>
              <a:rPr b="1" lang="es-AR" sz="235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endParaRPr b="1" sz="5200">
              <a:solidFill>
                <a:srgbClr val="FFFFFF"/>
              </a:solidFill>
            </a:endParaRPr>
          </a:p>
        </p:txBody>
      </p:sp>
      <p:pic>
        <p:nvPicPr>
          <p:cNvPr id="62" name="Google Shape;62;g25062759a25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900" y="2663488"/>
            <a:ext cx="4591050" cy="402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8928"/>
              <a:buNone/>
            </a:pPr>
            <a:r>
              <a:rPr lang="es-AR"/>
              <a:t>DR: Rubin Malco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8928"/>
              <a:buNone/>
            </a:pPr>
            <a:r>
              <a:rPr lang="es-AR"/>
              <a:t>Cátedra</a:t>
            </a:r>
            <a:r>
              <a:rPr lang="es-AR"/>
              <a:t> Medicina Interna III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8928"/>
              <a:buNone/>
            </a:pPr>
            <a:r>
              <a:rPr lang="es-AR"/>
              <a:t>2025</a:t>
            </a:r>
            <a:endParaRPr/>
          </a:p>
        </p:txBody>
      </p:sp>
      <p:sp>
        <p:nvSpPr>
          <p:cNvPr id="68" name="Google Shape;68;p1"/>
          <p:cNvSpPr txBox="1"/>
          <p:nvPr>
            <p:ph type="ctrTitle"/>
          </p:nvPr>
        </p:nvSpPr>
        <p:spPr>
          <a:xfrm>
            <a:off x="457200" y="1984375"/>
            <a:ext cx="8229600" cy="98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62283"/>
              <a:buFont typeface="Libre Franklin"/>
              <a:buNone/>
            </a:pPr>
            <a:r>
              <a:rPr b="1" lang="es-AR" sz="6422">
                <a:solidFill>
                  <a:srgbClr val="CC0000"/>
                </a:solidFill>
              </a:rPr>
              <a:t>Manejo Hiperparatiroidismo Primario</a:t>
            </a:r>
            <a:br>
              <a:rPr b="1" lang="es-AR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827584" y="274638"/>
            <a:ext cx="7859216" cy="157018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</a:pPr>
            <a:r>
              <a:rPr b="1" lang="es-AR" sz="4800">
                <a:solidFill>
                  <a:srgbClr val="1155CC"/>
                </a:solidFill>
              </a:rPr>
              <a:t>Introducción</a:t>
            </a:r>
            <a:br>
              <a:rPr b="1" lang="es-AR" sz="4800"/>
            </a:br>
            <a:endParaRPr b="1" sz="4800"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285750" y="1349375"/>
            <a:ext cx="8588400" cy="5110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➔"/>
            </a:pPr>
            <a:r>
              <a:rPr lang="es-AR" sz="2300">
                <a:solidFill>
                  <a:srgbClr val="000000"/>
                </a:solidFill>
              </a:rPr>
              <a:t>Evolución clínica en los últimos 70 años. 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➔"/>
            </a:pPr>
            <a:r>
              <a:rPr lang="es-AR" sz="2300">
                <a:solidFill>
                  <a:srgbClr val="000000"/>
                </a:solidFill>
              </a:rPr>
              <a:t>Relación 4/1 F:M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➔"/>
            </a:pPr>
            <a:r>
              <a:rPr lang="es-AR" sz="2300">
                <a:solidFill>
                  <a:srgbClr val="000000"/>
                </a:solidFill>
              </a:rPr>
              <a:t>Adenoma único 85%, hiperplasia 15%, carcinoma &lt; 1%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➔"/>
            </a:pPr>
            <a:r>
              <a:rPr lang="es-AR" sz="2300">
                <a:solidFill>
                  <a:srgbClr val="000000"/>
                </a:solidFill>
              </a:rPr>
              <a:t>Generalmente se Dx en etapa asintomática.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➔"/>
            </a:pPr>
            <a:r>
              <a:rPr lang="es-AR" sz="2300">
                <a:solidFill>
                  <a:srgbClr val="000000"/>
                </a:solidFill>
              </a:rPr>
              <a:t>Paratiroidectomía es el único enfoque curativo. </a:t>
            </a:r>
            <a:endParaRPr sz="2300">
              <a:solidFill>
                <a:srgbClr val="000000"/>
              </a:solidFill>
            </a:endParaRPr>
          </a:p>
          <a:p>
            <a:pPr indent="-252730" lvl="1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212121"/>
              </a:buClr>
              <a:buSzPts val="1910"/>
              <a:buChar char="◆"/>
            </a:pPr>
            <a:r>
              <a:rPr i="1" lang="es-AR" sz="2300">
                <a:solidFill>
                  <a:srgbClr val="212121"/>
                </a:solidFill>
              </a:rPr>
              <a:t>Indicado en hiperparatiroidismo primario sintomático</a:t>
            </a:r>
            <a:endParaRPr i="1" sz="2300">
              <a:solidFill>
                <a:srgbClr val="212121"/>
              </a:solidFill>
            </a:endParaRPr>
          </a:p>
          <a:p>
            <a:pPr indent="-252730" lvl="1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212121"/>
              </a:buClr>
              <a:buSzPts val="1910"/>
              <a:buChar char="◆"/>
            </a:pPr>
            <a:r>
              <a:rPr i="1" lang="es-AR" sz="2300">
                <a:solidFill>
                  <a:srgbClr val="212121"/>
                </a:solidFill>
              </a:rPr>
              <a:t>Asintomáticos: Recomendado según los criterios de la guía quirúrgica.</a:t>
            </a:r>
            <a:endParaRPr i="1" sz="2300">
              <a:solidFill>
                <a:srgbClr val="212121"/>
              </a:solidFill>
            </a:endParaRPr>
          </a:p>
          <a:p>
            <a:pPr indent="-252730" lvl="1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212121"/>
              </a:buClr>
              <a:buSzPts val="1910"/>
              <a:buChar char="◆"/>
            </a:pPr>
            <a:r>
              <a:rPr i="1" lang="es-AR" sz="2300">
                <a:solidFill>
                  <a:srgbClr val="212121"/>
                </a:solidFill>
              </a:rPr>
              <a:t>Opción razonable entre quienes solicitan cirugía.</a:t>
            </a:r>
            <a:endParaRPr i="1" sz="230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3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s-AR" sz="2300">
                <a:solidFill>
                  <a:srgbClr val="FF0000"/>
                </a:solidFill>
              </a:rPr>
              <a:t>Si cirugía no posible o no deseable, hay enfoque para la protección esquelética y la reducción del calcio sérico.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b328d9132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4900" u="sng">
                <a:solidFill>
                  <a:srgbClr val="0000FF"/>
                </a:solidFill>
              </a:rPr>
              <a:t>Clasificación:</a:t>
            </a:r>
            <a:endParaRPr b="1" sz="4900" u="sng">
              <a:solidFill>
                <a:srgbClr val="0000FF"/>
              </a:solidFill>
            </a:endParaRPr>
          </a:p>
        </p:txBody>
      </p:sp>
      <p:sp>
        <p:nvSpPr>
          <p:cNvPr id="80" name="Google Shape;80;g1eb328d9132_0_0"/>
          <p:cNvSpPr txBox="1"/>
          <p:nvPr>
            <p:ph idx="1" type="body"/>
          </p:nvPr>
        </p:nvSpPr>
        <p:spPr>
          <a:xfrm>
            <a:off x="364150" y="1836975"/>
            <a:ext cx="8602800" cy="41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92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0000"/>
              </a:buClr>
              <a:buSzPts val="2530"/>
              <a:buChar char="●"/>
            </a:pPr>
            <a:r>
              <a:rPr b="1" lang="es-AR" sz="2800">
                <a:solidFill>
                  <a:srgbClr val="FF0000"/>
                </a:solidFill>
              </a:rPr>
              <a:t>Hiperparatiroidismo primario Sintomático.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s-AR" sz="2800">
                <a:solidFill>
                  <a:srgbClr val="212121"/>
                </a:solidFill>
              </a:rPr>
              <a:t>	</a:t>
            </a:r>
            <a:r>
              <a:rPr i="1" lang="es-AR" sz="2700">
                <a:solidFill>
                  <a:srgbClr val="212121"/>
                </a:solidFill>
              </a:rPr>
              <a:t>-PTH elevada , Calcio elevado, con síntomas de hipercalcemia.</a:t>
            </a:r>
            <a:endParaRPr i="1" sz="2700">
              <a:solidFill>
                <a:srgbClr val="212121"/>
              </a:solidFill>
            </a:endParaRPr>
          </a:p>
          <a:p>
            <a:pPr indent="-3892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0000"/>
              </a:buClr>
              <a:buSzPts val="2530"/>
              <a:buChar char="●"/>
            </a:pPr>
            <a:r>
              <a:rPr b="1" lang="es-AR" sz="2800">
                <a:solidFill>
                  <a:srgbClr val="FF0000"/>
                </a:solidFill>
              </a:rPr>
              <a:t>Hiperparatiroidismo Asintomático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s-AR" sz="2800">
                <a:solidFill>
                  <a:srgbClr val="212121"/>
                </a:solidFill>
              </a:rPr>
              <a:t>	</a:t>
            </a:r>
            <a:r>
              <a:rPr i="1" lang="es-AR" sz="2700">
                <a:solidFill>
                  <a:srgbClr val="212121"/>
                </a:solidFill>
              </a:rPr>
              <a:t>-PTH elevada, Calcio elevado, sin síntomas.</a:t>
            </a:r>
            <a:endParaRPr i="1" sz="2700">
              <a:solidFill>
                <a:srgbClr val="212121"/>
              </a:solidFill>
            </a:endParaRPr>
          </a:p>
          <a:p>
            <a:pPr indent="-3892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0000"/>
              </a:buClr>
              <a:buSzPts val="2530"/>
              <a:buChar char="●"/>
            </a:pPr>
            <a:r>
              <a:rPr b="1" lang="es-AR" sz="2800">
                <a:solidFill>
                  <a:srgbClr val="FF0000"/>
                </a:solidFill>
              </a:rPr>
              <a:t>Hiperparatiroidismo Normocalcémico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s-AR" sz="2800">
                <a:solidFill>
                  <a:srgbClr val="212121"/>
                </a:solidFill>
              </a:rPr>
              <a:t>	</a:t>
            </a:r>
            <a:r>
              <a:rPr i="1" lang="es-AR" sz="2700">
                <a:solidFill>
                  <a:srgbClr val="212121"/>
                </a:solidFill>
              </a:rPr>
              <a:t>-PTH elevada, Calcio normal.</a:t>
            </a:r>
            <a:endParaRPr i="1" sz="27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b328d9132_0_24"/>
          <p:cNvSpPr txBox="1"/>
          <p:nvPr>
            <p:ph type="title"/>
          </p:nvPr>
        </p:nvSpPr>
        <p:spPr>
          <a:xfrm>
            <a:off x="914400" y="25708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1800"/>
              </a:spcBef>
              <a:spcAft>
                <a:spcPts val="1700"/>
              </a:spcAft>
              <a:buSzPts val="1800"/>
              <a:buNone/>
            </a:pPr>
            <a:r>
              <a:rPr b="1" lang="es-AR" sz="5266" u="sng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Manifestaciones clínicas</a:t>
            </a:r>
            <a:endParaRPr b="1" sz="5900" u="sng">
              <a:solidFill>
                <a:srgbClr val="1155CC"/>
              </a:solidFill>
            </a:endParaRPr>
          </a:p>
        </p:txBody>
      </p:sp>
      <p:sp>
        <p:nvSpPr>
          <p:cNvPr id="86" name="Google Shape;86;g1eb328d9132_0_24"/>
          <p:cNvSpPr txBox="1"/>
          <p:nvPr>
            <p:ph idx="1" type="body"/>
          </p:nvPr>
        </p:nvSpPr>
        <p:spPr>
          <a:xfrm>
            <a:off x="3383475" y="4657975"/>
            <a:ext cx="53034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f1e088033_0_6"/>
          <p:cNvSpPr txBox="1"/>
          <p:nvPr>
            <p:ph type="title"/>
          </p:nvPr>
        </p:nvSpPr>
        <p:spPr>
          <a:xfrm>
            <a:off x="914400" y="190497"/>
            <a:ext cx="7772400" cy="207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73076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4155" u="sng">
                <a:solidFill>
                  <a:srgbClr val="0000FF"/>
                </a:solidFill>
              </a:rPr>
              <a:t>Compromiso esquelético</a:t>
            </a:r>
            <a:endParaRPr b="1" sz="4155" u="sng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2" name="Google Shape;92;g24f1e088033_0_6"/>
          <p:cNvSpPr txBox="1"/>
          <p:nvPr>
            <p:ph idx="1" type="body"/>
          </p:nvPr>
        </p:nvSpPr>
        <p:spPr>
          <a:xfrm>
            <a:off x="539750" y="1447800"/>
            <a:ext cx="81471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es-AR" sz="27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Signos radiográficos del HPTP </a:t>
            </a:r>
            <a:endParaRPr b="1" sz="2700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40005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Libre Franklin"/>
              <a:buChar char="★"/>
            </a:pPr>
            <a:r>
              <a:rPr lang="es-AR" sz="27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Desmineralización del cráneo con patrón de sal y pimienta</a:t>
            </a:r>
            <a:endParaRPr sz="27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Libre Franklin"/>
              <a:buChar char="★"/>
            </a:pPr>
            <a:r>
              <a:rPr lang="es-AR" sz="27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Disminución de la clavícula distal </a:t>
            </a:r>
            <a:endParaRPr sz="27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Libre Franklin"/>
              <a:buChar char="★"/>
            </a:pPr>
            <a:r>
              <a:rPr lang="es-AR" sz="27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Reabsorción ósea subperióstica</a:t>
            </a:r>
            <a:endParaRPr sz="27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40005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Libre Franklin"/>
              <a:buChar char="★"/>
            </a:pPr>
            <a:r>
              <a:rPr lang="es-AR" sz="27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Quistes y tumores marrones. </a:t>
            </a:r>
            <a:endParaRPr sz="27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700"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es-AR" sz="2700">
                <a:solidFill>
                  <a:srgbClr val="FF0000"/>
                </a:solidFill>
                <a:highlight>
                  <a:srgbClr val="FFFFFF"/>
                </a:highlight>
                <a:latin typeface="Libre Franklin"/>
                <a:ea typeface="Libre Franklin"/>
                <a:cs typeface="Libre Franklin"/>
                <a:sym typeface="Libre Franklin"/>
              </a:rPr>
              <a:t>Juntas, estas características se describen como osteítis fibrosa quística</a:t>
            </a:r>
            <a:endParaRPr b="1" sz="3800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244398558b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2244398558b_0_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g2244398558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350" y="431675"/>
            <a:ext cx="8599300" cy="628861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44398558b_0_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244398558b_0_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g2244398558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74" y="455175"/>
            <a:ext cx="8540275" cy="6053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f1e088033_0_13"/>
          <p:cNvSpPr txBox="1"/>
          <p:nvPr>
            <p:ph type="title"/>
          </p:nvPr>
        </p:nvSpPr>
        <p:spPr>
          <a:xfrm>
            <a:off x="914400" y="254000"/>
            <a:ext cx="7772400" cy="217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73076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4822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Compromiso renal</a:t>
            </a:r>
            <a:endParaRPr b="1" sz="4822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2" name="Google Shape;112;g24f1e088033_0_13"/>
          <p:cNvSpPr txBox="1"/>
          <p:nvPr>
            <p:ph idx="1" type="body"/>
          </p:nvPr>
        </p:nvSpPr>
        <p:spPr>
          <a:xfrm>
            <a:off x="914400" y="1666875"/>
            <a:ext cx="7772400" cy="435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❖"/>
            </a:pPr>
            <a:r>
              <a:rPr lang="es-AR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Hipercalciuria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❖"/>
            </a:pPr>
            <a:r>
              <a:rPr lang="es-AR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Nefrocalcinosis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❖"/>
            </a:pPr>
            <a:r>
              <a:rPr lang="es-AR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 cálculos renales (jóvenes y con mayor frecuencia hombres)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❖"/>
            </a:pPr>
            <a:r>
              <a:rPr lang="es-AR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Disminución del filtrado glomerular.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44398558b_0_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2244398558b_0_1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g2244398558b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600" y="274650"/>
            <a:ext cx="6930675" cy="6128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f1e088033_0_21"/>
          <p:cNvSpPr txBox="1"/>
          <p:nvPr>
            <p:ph type="title"/>
          </p:nvPr>
        </p:nvSpPr>
        <p:spPr>
          <a:xfrm>
            <a:off x="381000" y="222250"/>
            <a:ext cx="8445600" cy="212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73076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AR" sz="4488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Manifestaciones no clásicas de HPTP</a:t>
            </a:r>
            <a:endParaRPr b="1" sz="4488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1428"/>
              <a:buNone/>
            </a:pPr>
            <a:r>
              <a:t/>
            </a:r>
            <a:endParaRPr/>
          </a:p>
        </p:txBody>
      </p:sp>
      <p:sp>
        <p:nvSpPr>
          <p:cNvPr id="125" name="Google Shape;125;g24f1e088033_0_21"/>
          <p:cNvSpPr txBox="1"/>
          <p:nvPr>
            <p:ph idx="1" type="body"/>
          </p:nvPr>
        </p:nvSpPr>
        <p:spPr>
          <a:xfrm>
            <a:off x="381000" y="1809750"/>
            <a:ext cx="8305800" cy="4653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21212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Cambios neurocognitivos y depresión</a:t>
            </a:r>
            <a:r>
              <a:rPr b="1" lang="es-AR" sz="2400">
                <a:solidFill>
                  <a:srgbClr val="21212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1" sz="2400">
              <a:solidFill>
                <a:srgbClr val="21212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(estos cambios cognitivos no han mejorado de manera constante después del </a:t>
            </a:r>
            <a:r>
              <a:rPr lang="es-A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Paratiroidectomía</a:t>
            </a:r>
            <a:r>
              <a:rPr lang="es-A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Cardiovascular/metabólico</a:t>
            </a:r>
            <a:r>
              <a:rPr b="1" lang="es-AR" sz="1850"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1" sz="185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50">
                <a:latin typeface="Libre Franklin"/>
                <a:ea typeface="Libre Franklin"/>
                <a:cs typeface="Libre Franklin"/>
                <a:sym typeface="Libre Franklin"/>
              </a:rPr>
              <a:t>(</a:t>
            </a:r>
            <a:r>
              <a:rPr lang="es-AR" sz="1700">
                <a:latin typeface="Libre Franklin"/>
                <a:ea typeface="Libre Franklin"/>
                <a:cs typeface="Libre Franklin"/>
                <a:sym typeface="Libre Franklin"/>
              </a:rPr>
              <a:t>hipertensión, hipertrofia ventricular izquierda, rigidez arterial )</a:t>
            </a:r>
            <a:endParaRPr sz="1700">
              <a:solidFill>
                <a:srgbClr val="1C1D1E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C1D1E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21212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Manifestaciones gastrointestinales.</a:t>
            </a:r>
            <a:endParaRPr b="1" sz="2700">
              <a:solidFill>
                <a:srgbClr val="21212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21212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Neoplasia endocrina múltiple (NEM)</a:t>
            </a:r>
            <a:r>
              <a:rPr lang="es-AR" sz="2400">
                <a:solidFill>
                  <a:srgbClr val="21212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2400">
              <a:solidFill>
                <a:srgbClr val="21212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13716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Arial"/>
              <a:buChar char="❏"/>
            </a:pPr>
            <a:r>
              <a:rPr lang="es-AR" sz="2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tipos 1, 2A, </a:t>
            </a:r>
            <a:endParaRPr sz="2400">
              <a:solidFill>
                <a:srgbClr val="212121"/>
              </a:solidFill>
            </a:endParaRPr>
          </a:p>
          <a:p>
            <a:pPr indent="-3810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Arial"/>
              <a:buChar char="❏"/>
            </a:pPr>
            <a:r>
              <a:rPr lang="es-AR" sz="2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hiperparatiroidismo aislado familiar (FIH).</a:t>
            </a:r>
            <a:endParaRPr sz="2400">
              <a:solidFill>
                <a:srgbClr val="212121"/>
              </a:solidFill>
            </a:endParaRPr>
          </a:p>
          <a:p>
            <a:pPr indent="-3810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Arial"/>
              <a:buChar char="❏"/>
            </a:pPr>
            <a:r>
              <a:rPr lang="es-A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Deben considerarse en personas menores de 35 </a:t>
            </a:r>
            <a:r>
              <a:rPr lang="es-AR" sz="24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años.</a:t>
            </a:r>
            <a:endParaRPr sz="2400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44398558b_0_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244398558b_0_1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g2244398558b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850" y="274650"/>
            <a:ext cx="7413050" cy="64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u="sng">
                <a:solidFill>
                  <a:srgbClr val="0000FF"/>
                </a:solidFill>
              </a:rPr>
              <a:t>Diagnóstico</a:t>
            </a:r>
            <a:br>
              <a:rPr lang="es-AR"/>
            </a:br>
            <a:endParaRPr/>
          </a:p>
        </p:txBody>
      </p:sp>
      <p:sp>
        <p:nvSpPr>
          <p:cNvPr id="138" name="Google Shape;138;p3"/>
          <p:cNvSpPr txBox="1"/>
          <p:nvPr>
            <p:ph idx="1" type="body"/>
          </p:nvPr>
        </p:nvSpPr>
        <p:spPr>
          <a:xfrm>
            <a:off x="412750" y="1052725"/>
            <a:ext cx="8331300" cy="507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es-AR" sz="2309">
                <a:solidFill>
                  <a:srgbClr val="000000"/>
                </a:solidFill>
              </a:rPr>
              <a:t>(PTH) elevada o inadecuadamente normal</a:t>
            </a:r>
            <a:endParaRPr b="1" sz="2309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es-AR">
                <a:solidFill>
                  <a:srgbClr val="FF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VN:10 a 65 pg/ml</a:t>
            </a:r>
            <a:endParaRPr b="1" sz="3409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1" sz="2309"/>
          </a:p>
          <a:p>
            <a:pPr indent="-22708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5"/>
              <a:buChar char="❏"/>
            </a:pPr>
            <a:r>
              <a:rPr b="1" lang="es-AR" sz="2309">
                <a:solidFill>
                  <a:srgbClr val="000000"/>
                </a:solidFill>
              </a:rPr>
              <a:t>Hipercalcemia o normocalcemia:</a:t>
            </a:r>
            <a:endParaRPr b="1" sz="1409">
              <a:solidFill>
                <a:srgbClr val="000000"/>
              </a:solidFill>
            </a:endParaRPr>
          </a:p>
          <a:p>
            <a:pPr indent="-181366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785"/>
              <a:buChar char="❏"/>
            </a:pPr>
            <a:r>
              <a:rPr b="1" lang="es-AR" sz="2309">
                <a:solidFill>
                  <a:srgbClr val="000000"/>
                </a:solidFill>
              </a:rPr>
              <a:t>C</a:t>
            </a:r>
            <a:r>
              <a:rPr b="1" lang="es-AR" sz="2309">
                <a:solidFill>
                  <a:srgbClr val="000000"/>
                </a:solidFill>
              </a:rPr>
              <a:t>alcio sérico  ajustado a la albúmina</a:t>
            </a:r>
            <a:endParaRPr b="1" sz="1209">
              <a:solidFill>
                <a:srgbClr val="000000"/>
              </a:solidFill>
            </a:endParaRPr>
          </a:p>
          <a:p>
            <a:pPr indent="-181366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785"/>
              <a:buChar char="❏"/>
            </a:pPr>
            <a:r>
              <a:rPr b="1" lang="es-AR" sz="2309">
                <a:solidFill>
                  <a:srgbClr val="000000"/>
                </a:solidFill>
              </a:rPr>
              <a:t>Calcio iónico.</a:t>
            </a:r>
            <a:endParaRPr b="1" sz="1209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1" sz="1409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1409"/>
          </a:p>
          <a:p>
            <a:pPr indent="-25790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0000"/>
              </a:buClr>
              <a:buSzPts val="1620"/>
              <a:buChar char="❏"/>
            </a:pPr>
            <a:r>
              <a:rPr b="1" lang="es-AR" sz="2009">
                <a:solidFill>
                  <a:srgbClr val="FF0000"/>
                </a:solidFill>
              </a:rPr>
              <a:t>El diagnóstico diferencial :</a:t>
            </a:r>
            <a:endParaRPr b="1" sz="2009">
              <a:solidFill>
                <a:srgbClr val="FF0000"/>
              </a:solidFill>
            </a:endParaRPr>
          </a:p>
          <a:p>
            <a:pPr indent="-21056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50"/>
              <a:buChar char="❏"/>
            </a:pPr>
            <a:r>
              <a:rPr lang="es-AR" sz="1809">
                <a:solidFill>
                  <a:srgbClr val="000000"/>
                </a:solidFill>
              </a:rPr>
              <a:t>hipercalcemia hipocalciúrica familiar. </a:t>
            </a:r>
            <a:endParaRPr sz="1809">
              <a:solidFill>
                <a:srgbClr val="000000"/>
              </a:solidFill>
            </a:endParaRPr>
          </a:p>
          <a:p>
            <a:pPr indent="-21056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50"/>
              <a:buChar char="❏"/>
            </a:pPr>
            <a:r>
              <a:rPr lang="es-AR" sz="1809">
                <a:solidFill>
                  <a:srgbClr val="000000"/>
                </a:solidFill>
              </a:rPr>
              <a:t>hipercalciuria primaria.</a:t>
            </a:r>
            <a:endParaRPr sz="1809">
              <a:solidFill>
                <a:srgbClr val="000000"/>
              </a:solidFill>
            </a:endParaRPr>
          </a:p>
          <a:p>
            <a:pPr indent="-21056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50"/>
              <a:buChar char="❏"/>
            </a:pPr>
            <a:r>
              <a:rPr lang="es-AR" sz="1809">
                <a:solidFill>
                  <a:srgbClr val="000000"/>
                </a:solidFill>
              </a:rPr>
              <a:t>Malabsorción.Déficit vit D</a:t>
            </a:r>
            <a:endParaRPr sz="1809">
              <a:solidFill>
                <a:srgbClr val="000000"/>
              </a:solidFill>
            </a:endParaRPr>
          </a:p>
          <a:p>
            <a:pPr indent="-21056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50"/>
              <a:buChar char="❏"/>
            </a:pPr>
            <a:r>
              <a:rPr lang="es-AR" sz="1809">
                <a:solidFill>
                  <a:srgbClr val="000000"/>
                </a:solidFill>
              </a:rPr>
              <a:t>diuréticos de asa. </a:t>
            </a:r>
            <a:endParaRPr sz="1809">
              <a:solidFill>
                <a:srgbClr val="000000"/>
              </a:solidFill>
            </a:endParaRPr>
          </a:p>
          <a:p>
            <a:pPr indent="-21056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50"/>
              <a:buChar char="❏"/>
            </a:pPr>
            <a:r>
              <a:rPr lang="es-AR" sz="1809">
                <a:solidFill>
                  <a:srgbClr val="000000"/>
                </a:solidFill>
              </a:rPr>
              <a:t>bifosfonatos. </a:t>
            </a:r>
            <a:endParaRPr sz="1809">
              <a:solidFill>
                <a:srgbClr val="000000"/>
              </a:solidFill>
            </a:endParaRPr>
          </a:p>
          <a:p>
            <a:pPr indent="-21056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50"/>
              <a:buChar char="❏"/>
            </a:pPr>
            <a:r>
              <a:rPr lang="es-AR" sz="1809">
                <a:solidFill>
                  <a:srgbClr val="000000"/>
                </a:solidFill>
              </a:rPr>
              <a:t>denosumab.</a:t>
            </a:r>
            <a:endParaRPr sz="1809">
              <a:solidFill>
                <a:srgbClr val="000000"/>
              </a:solidFill>
            </a:endParaRPr>
          </a:p>
          <a:p>
            <a:pPr indent="-136842" lvl="2" marL="82296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/>
          </a:p>
        </p:txBody>
      </p:sp>
      <p:pic>
        <p:nvPicPr>
          <p:cNvPr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2175" y="4534525"/>
            <a:ext cx="4582300" cy="206282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0525" y="2911925"/>
            <a:ext cx="3713950" cy="638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f1e088033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6" name="Google Shape;146;g24f1e088033_0_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147" name="Google Shape;147;g24f1e08803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175" y="1717675"/>
            <a:ext cx="8375649" cy="377046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197250" y="274650"/>
            <a:ext cx="8755500" cy="163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b="1" lang="es-AR" sz="3600" u="sng">
                <a:solidFill>
                  <a:srgbClr val="0000FF"/>
                </a:solidFill>
              </a:rPr>
              <a:t>Localización preoperatoria de paratiroides</a:t>
            </a:r>
            <a:br>
              <a:rPr b="1" lang="es-AR" u="sng">
                <a:solidFill>
                  <a:srgbClr val="0000FF"/>
                </a:solidFill>
              </a:rPr>
            </a:br>
            <a:endParaRPr u="sng">
              <a:solidFill>
                <a:srgbClr val="0000FF"/>
              </a:solidFill>
            </a:endParaRPr>
          </a:p>
        </p:txBody>
      </p:sp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317500" y="1619250"/>
            <a:ext cx="8369400" cy="440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16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0"/>
              <a:buChar char="❏"/>
            </a:pPr>
            <a:r>
              <a:rPr b="1" lang="es-AR" sz="2400">
                <a:solidFill>
                  <a:srgbClr val="000000"/>
                </a:solidFill>
              </a:rPr>
              <a:t>IMÁGENES  (no es indispensable)</a:t>
            </a:r>
            <a:endParaRPr b="1" sz="24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740"/>
              <a:buChar char="❏"/>
            </a:pPr>
            <a:r>
              <a:rPr lang="es-AR" sz="2100">
                <a:solidFill>
                  <a:srgbClr val="000000"/>
                </a:solidFill>
              </a:rPr>
              <a:t>C</a:t>
            </a:r>
            <a:r>
              <a:rPr lang="es-AR" sz="2100">
                <a:solidFill>
                  <a:srgbClr val="000000"/>
                </a:solidFill>
              </a:rPr>
              <a:t>uatro polos de la glándula tiroides</a:t>
            </a:r>
            <a:endParaRPr sz="21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740"/>
              <a:buChar char="❏"/>
            </a:pPr>
            <a:r>
              <a:rPr lang="es-AR" sz="2100">
                <a:solidFill>
                  <a:srgbClr val="000000"/>
                </a:solidFill>
              </a:rPr>
              <a:t>Paratiroides en otros lugares y pueden ser difíciles de localizar.</a:t>
            </a:r>
            <a:endParaRPr sz="21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740"/>
              <a:buChar char="❏"/>
            </a:pPr>
            <a:r>
              <a:rPr lang="es-AR" sz="2100">
                <a:solidFill>
                  <a:srgbClr val="000000"/>
                </a:solidFill>
              </a:rPr>
              <a:t>Cirugía de cuello repetida</a:t>
            </a:r>
            <a:endParaRPr sz="2100">
              <a:solidFill>
                <a:srgbClr val="000000"/>
              </a:solidFill>
            </a:endParaRPr>
          </a:p>
          <a:p>
            <a:pPr indent="0" lvl="0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b="1" lang="es-AR" sz="2300">
                <a:solidFill>
                  <a:srgbClr val="000000"/>
                </a:solidFill>
              </a:rPr>
              <a:t>Técnicas más frecuentes:</a:t>
            </a:r>
            <a:endParaRPr b="1" sz="23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s-AR" sz="1700">
                <a:solidFill>
                  <a:srgbClr val="000000"/>
                </a:solidFill>
              </a:rPr>
              <a:t>Ecografía</a:t>
            </a:r>
            <a:endParaRPr sz="21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s-AR" sz="1700">
                <a:solidFill>
                  <a:srgbClr val="000000"/>
                </a:solidFill>
              </a:rPr>
              <a:t>Gammagrafía sestamibi marcado con tecnecio-99m</a:t>
            </a:r>
            <a:endParaRPr sz="21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s-AR" sz="1700">
                <a:solidFill>
                  <a:srgbClr val="000000"/>
                </a:solidFill>
              </a:rPr>
              <a:t>TC de alta resolución 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504275" y="3853827"/>
            <a:ext cx="648000" cy="1412100"/>
          </a:xfrm>
          <a:prstGeom prst="rightBrace">
            <a:avLst>
              <a:gd fmla="val 8333" name="adj1"/>
              <a:gd fmla="val 48851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7152273" y="4004134"/>
            <a:ext cx="180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s-AR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valor predictivo positivo de 97%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type="title"/>
          </p:nvPr>
        </p:nvSpPr>
        <p:spPr>
          <a:xfrm>
            <a:off x="650875" y="470350"/>
            <a:ext cx="8035800" cy="127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u="sng">
                <a:solidFill>
                  <a:srgbClr val="0000FF"/>
                </a:solidFill>
              </a:rPr>
              <a:t>Gammagrafía con </a:t>
            </a:r>
            <a:r>
              <a:rPr b="1" baseline="30000" lang="es-AR" u="sng">
                <a:solidFill>
                  <a:srgbClr val="0000FF"/>
                </a:solidFill>
              </a:rPr>
              <a:t>99m</a:t>
            </a:r>
            <a:r>
              <a:rPr b="1" lang="es-AR" u="sng">
                <a:solidFill>
                  <a:srgbClr val="0000FF"/>
                </a:solidFill>
              </a:rPr>
              <a:t> Tc-sestamibi</a:t>
            </a:r>
            <a:br>
              <a:rPr lang="es-AR"/>
            </a:br>
            <a:endParaRPr/>
          </a:p>
        </p:txBody>
      </p: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396875" y="1744750"/>
            <a:ext cx="8397900" cy="4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16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s-AR" sz="1800">
                <a:solidFill>
                  <a:srgbClr val="000000"/>
                </a:solidFill>
              </a:rPr>
              <a:t>Sensible (90%) y precisa (97,2%)</a:t>
            </a:r>
            <a:endParaRPr sz="2400">
              <a:solidFill>
                <a:srgbClr val="000000"/>
              </a:solidFill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s-AR" sz="1800">
                <a:solidFill>
                  <a:srgbClr val="000000"/>
                </a:solidFill>
              </a:rPr>
              <a:t>captación preferencial en células de adenoma paratiroideo.</a:t>
            </a:r>
            <a:endParaRPr sz="2400">
              <a:solidFill>
                <a:srgbClr val="000000"/>
              </a:solidFill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s-AR" sz="1800">
                <a:solidFill>
                  <a:srgbClr val="000000"/>
                </a:solidFill>
              </a:rPr>
              <a:t>Glándula tiroides, las glándulas salivales, el timo (en individuos jóvenes), el hígado, las glándulas mamarias (durante la lactancia), la médula ósea y el tejido adiposo marrón.</a:t>
            </a:r>
            <a:endParaRPr sz="2400">
              <a:solidFill>
                <a:srgbClr val="000000"/>
              </a:solidFill>
            </a:endParaRPr>
          </a:p>
          <a:p>
            <a:pPr indent="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</a:pPr>
            <a:r>
              <a:rPr b="1" lang="es-AR" sz="1800">
                <a:solidFill>
                  <a:srgbClr val="000000"/>
                </a:solidFill>
              </a:rPr>
              <a:t>Gammagrafía de lavado con un solo isótopo</a:t>
            </a:r>
            <a:endParaRPr b="1" sz="2400">
              <a:solidFill>
                <a:srgbClr val="000000"/>
              </a:solidFill>
            </a:endParaRPr>
          </a:p>
          <a:p>
            <a:pPr indent="-226695" lvl="1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s-AR" sz="1800">
                <a:solidFill>
                  <a:srgbClr val="000000"/>
                </a:solidFill>
              </a:rPr>
              <a:t>lavado más rápido del tejido tiroideo</a:t>
            </a:r>
            <a:endParaRPr sz="2400">
              <a:solidFill>
                <a:srgbClr val="000000"/>
              </a:solidFill>
            </a:endParaRPr>
          </a:p>
          <a:p>
            <a:pPr indent="-226695" lvl="1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s-AR" sz="1800">
                <a:solidFill>
                  <a:srgbClr val="000000"/>
                </a:solidFill>
              </a:rPr>
              <a:t>Se mide 10-15 minutos después de la administración de isótopos y después del lavado (90-120 minutos)</a:t>
            </a:r>
            <a:endParaRPr sz="2400">
              <a:solidFill>
                <a:srgbClr val="000000"/>
              </a:solidFill>
            </a:endParaRPr>
          </a:p>
          <a:p>
            <a:pPr indent="-226695" lvl="1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s-AR" sz="1800">
                <a:solidFill>
                  <a:srgbClr val="000000"/>
                </a:solidFill>
              </a:rPr>
              <a:t>Retención del marcador identifica la presencia de tejido paratiroideo hiperfuncionante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55576" y="5445224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s-AR" sz="3100">
                <a:solidFill>
                  <a:schemeClr val="dk1"/>
                </a:solidFill>
              </a:rPr>
              <a:t>Gammagrafía con 99mTC-sestaMIBI con SPECT y TC de dosis baja</a:t>
            </a:r>
            <a:endParaRPr sz="3100">
              <a:solidFill>
                <a:schemeClr val="dk1"/>
              </a:solidFill>
            </a:endParaRPr>
          </a:p>
        </p:txBody>
      </p:sp>
      <p:pic>
        <p:nvPicPr>
          <p:cNvPr id="167" name="Google Shape;16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226" y="151800"/>
            <a:ext cx="4148400" cy="529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Libre Franklin"/>
              <a:buNone/>
            </a:pPr>
            <a:r>
              <a:rPr lang="es-AR" sz="3100">
                <a:solidFill>
                  <a:srgbClr val="0000FF"/>
                </a:solidFill>
              </a:rPr>
              <a:t>Gammagrafía con </a:t>
            </a:r>
            <a:r>
              <a:rPr baseline="30000" lang="es-AR" sz="3100">
                <a:solidFill>
                  <a:srgbClr val="0000FF"/>
                </a:solidFill>
              </a:rPr>
              <a:t>99m</a:t>
            </a:r>
            <a:r>
              <a:rPr lang="es-AR" sz="3100">
                <a:solidFill>
                  <a:srgbClr val="0000FF"/>
                </a:solidFill>
              </a:rPr>
              <a:t> Tc-sestamibi</a:t>
            </a:r>
            <a:br>
              <a:rPr lang="es-AR"/>
            </a:br>
            <a:endParaRPr/>
          </a:p>
        </p:txBody>
      </p:sp>
      <p:sp>
        <p:nvSpPr>
          <p:cNvPr id="173" name="Google Shape;173;p7"/>
          <p:cNvSpPr txBox="1"/>
          <p:nvPr>
            <p:ph idx="1" type="body"/>
          </p:nvPr>
        </p:nvSpPr>
        <p:spPr>
          <a:xfrm>
            <a:off x="899592" y="980728"/>
            <a:ext cx="77724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b="1" lang="es-AR" sz="2100">
                <a:solidFill>
                  <a:srgbClr val="000000"/>
                </a:solidFill>
              </a:rPr>
              <a:t>Gammagrafía de resta</a:t>
            </a:r>
            <a:endParaRPr sz="2100">
              <a:solidFill>
                <a:srgbClr val="000000"/>
              </a:solidFill>
            </a:endParaRPr>
          </a:p>
          <a:p>
            <a:pPr indent="-2425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540"/>
              <a:buChar char="❏"/>
            </a:pPr>
            <a:r>
              <a:rPr lang="es-AR" sz="1900"/>
              <a:t> ( </a:t>
            </a:r>
            <a:r>
              <a:rPr baseline="30000" lang="es-AR" sz="1900"/>
              <a:t>99m</a:t>
            </a:r>
            <a:r>
              <a:rPr lang="es-AR" sz="1900"/>
              <a:t> Tc-pertecnetato y </a:t>
            </a:r>
            <a:r>
              <a:rPr baseline="30000" lang="es-AR" sz="1900"/>
              <a:t>123</a:t>
            </a:r>
            <a:r>
              <a:rPr lang="es-AR" sz="1900"/>
              <a:t> I) y ( </a:t>
            </a:r>
            <a:r>
              <a:rPr baseline="30000" lang="es-AR" sz="1900"/>
              <a:t>99m</a:t>
            </a:r>
            <a:r>
              <a:rPr lang="es-AR" sz="1900"/>
              <a:t> Tc-sestamibi)</a:t>
            </a:r>
            <a:endParaRPr sz="2100"/>
          </a:p>
          <a:p>
            <a:pPr indent="-2425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540"/>
              <a:buChar char="❏"/>
            </a:pPr>
            <a:r>
              <a:rPr lang="es-AR" sz="1900"/>
              <a:t> Adición de SPECT) solo o con CT mejora la localización de lesión</a:t>
            </a:r>
            <a:endParaRPr sz="2100"/>
          </a:p>
          <a:p>
            <a:pPr indent="-2425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540"/>
              <a:buChar char="❏"/>
            </a:pPr>
            <a:r>
              <a:rPr lang="es-AR" sz="1900"/>
              <a:t>Útiles cuando se planea repetir la cirugía</a:t>
            </a:r>
            <a:endParaRPr sz="2100"/>
          </a:p>
          <a:p>
            <a:pPr indent="-2425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540"/>
              <a:buChar char="❏"/>
            </a:pPr>
            <a:r>
              <a:rPr lang="es-AR" sz="1900"/>
              <a:t>No es confiable en presencia de una tiroides multinodular</a:t>
            </a:r>
            <a:endParaRPr sz="1900"/>
          </a:p>
          <a:p>
            <a:pPr indent="-2425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540"/>
              <a:buChar char="❏"/>
            </a:pPr>
            <a:r>
              <a:rPr lang="es-AR" sz="1900"/>
              <a:t>Sensibilidad del 79%</a:t>
            </a:r>
            <a:endParaRPr sz="2100"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0211" y="3683000"/>
            <a:ext cx="5783575" cy="2946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>
            <p:ph type="title"/>
          </p:nvPr>
        </p:nvSpPr>
        <p:spPr>
          <a:xfrm>
            <a:off x="587375" y="274650"/>
            <a:ext cx="8099400" cy="185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es-AR" sz="3200" u="sng">
                <a:solidFill>
                  <a:srgbClr val="0000FF"/>
                </a:solidFill>
              </a:rPr>
              <a:t>Ultrasonido de las glándulas paratiroides.</a:t>
            </a:r>
            <a:br>
              <a:rPr b="1" lang="es-AR" u="sng">
                <a:solidFill>
                  <a:schemeClr val="dk1"/>
                </a:solidFill>
              </a:rPr>
            </a:br>
            <a:endParaRPr b="1" u="sng">
              <a:solidFill>
                <a:schemeClr val="dk1"/>
              </a:solidFill>
            </a:endParaRPr>
          </a:p>
        </p:txBody>
      </p:sp>
      <p:sp>
        <p:nvSpPr>
          <p:cNvPr id="180" name="Google Shape;180;p8"/>
          <p:cNvSpPr txBox="1"/>
          <p:nvPr>
            <p:ph idx="1" type="body"/>
          </p:nvPr>
        </p:nvSpPr>
        <p:spPr>
          <a:xfrm>
            <a:off x="301650" y="2132850"/>
            <a:ext cx="8540700" cy="3925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0"/>
              <a:buChar char="❏"/>
            </a:pPr>
            <a:r>
              <a:rPr lang="es-AR" sz="2600">
                <a:solidFill>
                  <a:srgbClr val="000000"/>
                </a:solidFill>
              </a:rPr>
              <a:t>Sensibilidad de  76 al 87%.</a:t>
            </a:r>
            <a:endParaRPr sz="2600">
              <a:solidFill>
                <a:srgbClr val="0000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210"/>
              <a:buChar char="❏"/>
            </a:pPr>
            <a:r>
              <a:rPr lang="es-AR" sz="2600">
                <a:solidFill>
                  <a:srgbClr val="000000"/>
                </a:solidFill>
              </a:rPr>
              <a:t>Valor predictivo positivo del 93 al 97%.</a:t>
            </a:r>
            <a:endParaRPr sz="2600">
              <a:solidFill>
                <a:srgbClr val="0000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210"/>
              <a:buChar char="❏"/>
            </a:pPr>
            <a:r>
              <a:rPr lang="es-AR" sz="2600">
                <a:solidFill>
                  <a:srgbClr val="000000"/>
                </a:solidFill>
              </a:rPr>
              <a:t>Menos útil para adenomas tráquea o el esófago o mediastino.</a:t>
            </a:r>
            <a:endParaRPr sz="2600">
              <a:solidFill>
                <a:srgbClr val="0000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210"/>
              <a:buChar char="❏"/>
            </a:pPr>
            <a:r>
              <a:rPr lang="es-AR" sz="2600">
                <a:solidFill>
                  <a:srgbClr val="000000"/>
                </a:solidFill>
              </a:rPr>
              <a:t>Útil como complementario con </a:t>
            </a:r>
            <a:r>
              <a:rPr baseline="30000" lang="es-AR" sz="2600">
                <a:solidFill>
                  <a:srgbClr val="000000"/>
                </a:solidFill>
              </a:rPr>
              <a:t>99m</a:t>
            </a:r>
            <a:r>
              <a:rPr lang="es-AR" sz="2600">
                <a:solidFill>
                  <a:srgbClr val="000000"/>
                </a:solidFill>
              </a:rPr>
              <a:t>-sestamibi gammagrafía.</a:t>
            </a:r>
            <a:endParaRPr sz="2600">
              <a:solidFill>
                <a:srgbClr val="0000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210"/>
              <a:buChar char="❏"/>
            </a:pPr>
            <a:r>
              <a:rPr lang="es-AR" sz="2600">
                <a:solidFill>
                  <a:srgbClr val="000000"/>
                </a:solidFill>
              </a:rPr>
              <a:t> Glándulas paratiroides 4 mm y no se detectan por ultrasonido.</a:t>
            </a:r>
            <a:endParaRPr sz="2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244398558b_0_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244398558b_0_2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g2244398558b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022" y="274652"/>
            <a:ext cx="7772400" cy="6346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>
            <p:ph type="title"/>
          </p:nvPr>
        </p:nvSpPr>
        <p:spPr>
          <a:xfrm>
            <a:off x="936625" y="476675"/>
            <a:ext cx="79575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b="1" lang="es-AR" sz="3600" u="sng">
                <a:solidFill>
                  <a:srgbClr val="0000FF"/>
                </a:solidFill>
              </a:rPr>
              <a:t>Imagen de Resonancia Magnética</a:t>
            </a:r>
            <a:br>
              <a:rPr lang="es-AR"/>
            </a:br>
            <a:endParaRPr/>
          </a:p>
        </p:txBody>
      </p:sp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428625" y="1619675"/>
            <a:ext cx="8397900" cy="4400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0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0"/>
              <a:buChar char="❏"/>
            </a:pPr>
            <a:r>
              <a:rPr lang="es-AR" sz="2600">
                <a:solidFill>
                  <a:srgbClr val="000000"/>
                </a:solidFill>
              </a:rPr>
              <a:t>Masa de tejido blando con alta intensidad de señal en T2. </a:t>
            </a:r>
            <a:endParaRPr sz="2800">
              <a:solidFill>
                <a:srgbClr val="000000"/>
              </a:solidFill>
            </a:endParaRPr>
          </a:p>
          <a:p>
            <a:pPr indent="-2870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920"/>
              <a:buChar char="❏"/>
            </a:pPr>
            <a:r>
              <a:rPr lang="es-AR" sz="2600">
                <a:solidFill>
                  <a:srgbClr val="000000"/>
                </a:solidFill>
              </a:rPr>
              <a:t>Bajo a moderado intensidad en T1.</a:t>
            </a:r>
            <a:endParaRPr sz="2800">
              <a:solidFill>
                <a:srgbClr val="000000"/>
              </a:solidFill>
            </a:endParaRPr>
          </a:p>
          <a:p>
            <a:pPr indent="-2870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920"/>
              <a:buChar char="❏"/>
            </a:pPr>
            <a:r>
              <a:rPr lang="es-AR" sz="2600">
                <a:solidFill>
                  <a:srgbClr val="000000"/>
                </a:solidFill>
              </a:rPr>
              <a:t>Señal aumenta con gadolinio en T1.</a:t>
            </a:r>
            <a:endParaRPr sz="2800">
              <a:solidFill>
                <a:srgbClr val="000000"/>
              </a:solidFill>
            </a:endParaRPr>
          </a:p>
          <a:p>
            <a:pPr indent="-2870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920"/>
              <a:buChar char="❏"/>
            </a:pPr>
            <a:r>
              <a:rPr lang="es-AR" sz="2600">
                <a:solidFill>
                  <a:srgbClr val="000000"/>
                </a:solidFill>
              </a:rPr>
              <a:t>Sensibilidad del 50%</a:t>
            </a:r>
            <a:endParaRPr sz="2800">
              <a:solidFill>
                <a:srgbClr val="000000"/>
              </a:solidFill>
            </a:endParaRPr>
          </a:p>
          <a:p>
            <a:pPr indent="-2870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920"/>
              <a:buChar char="❏"/>
            </a:pPr>
            <a:r>
              <a:rPr lang="es-AR" sz="2600">
                <a:solidFill>
                  <a:srgbClr val="000000"/>
                </a:solidFill>
              </a:rPr>
              <a:t>Útil en embarazo debido a la falta de radiación ionizante.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971600" y="476672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b="1" lang="es-AR" sz="4900" u="sng">
                <a:solidFill>
                  <a:srgbClr val="0000FF"/>
                </a:solidFill>
              </a:rPr>
              <a:t>CT convencional</a:t>
            </a:r>
            <a:br>
              <a:rPr lang="es-AR"/>
            </a:br>
            <a:endParaRPr/>
          </a:p>
        </p:txBody>
      </p:sp>
      <p:sp>
        <p:nvSpPr>
          <p:cNvPr id="199" name="Google Shape;199;p11"/>
          <p:cNvSpPr txBox="1"/>
          <p:nvPr>
            <p:ph idx="1" type="body"/>
          </p:nvPr>
        </p:nvSpPr>
        <p:spPr>
          <a:xfrm>
            <a:off x="476250" y="1447800"/>
            <a:ext cx="82107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0"/>
              <a:buChar char="❏"/>
            </a:pPr>
            <a:r>
              <a:rPr lang="es-AR" sz="2900">
                <a:solidFill>
                  <a:srgbClr val="000000"/>
                </a:solidFill>
              </a:rPr>
              <a:t>Con contraste es una valiosa herramienta para la localización de las glándulas paratiroides mediastínicas ectópicas.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20"/>
              <a:buChar char="❏"/>
            </a:pPr>
            <a:r>
              <a:rPr lang="es-AR" sz="2900">
                <a:solidFill>
                  <a:srgbClr val="000000"/>
                </a:solidFill>
              </a:rPr>
              <a:t>La sensibilidad de la TC es de aproximadamente 46 a 87%.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20"/>
              <a:buChar char="❏"/>
            </a:pPr>
            <a:r>
              <a:rPr lang="es-AR" sz="2900">
                <a:solidFill>
                  <a:srgbClr val="000000"/>
                </a:solidFill>
              </a:rPr>
              <a:t>Desventajas incluyen la exposición a la radiación.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type="title"/>
          </p:nvPr>
        </p:nvSpPr>
        <p:spPr>
          <a:xfrm>
            <a:off x="132525" y="274650"/>
            <a:ext cx="8862300" cy="194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3100" u="sng">
                <a:solidFill>
                  <a:srgbClr val="0000FF"/>
                </a:solidFill>
              </a:rPr>
              <a:t>Muestreo venoso selectivo con medición de PTH</a:t>
            </a:r>
            <a:br>
              <a:rPr b="1" lang="es-AR">
                <a:solidFill>
                  <a:srgbClr val="0000FF"/>
                </a:solidFill>
              </a:rPr>
            </a:br>
            <a:endParaRPr b="1">
              <a:solidFill>
                <a:srgbClr val="0000FF"/>
              </a:solidFill>
            </a:endParaRPr>
          </a:p>
        </p:txBody>
      </p:sp>
      <p:sp>
        <p:nvSpPr>
          <p:cNvPr id="205" name="Google Shape;205;p12"/>
          <p:cNvSpPr txBox="1"/>
          <p:nvPr>
            <p:ph idx="1" type="body"/>
          </p:nvPr>
        </p:nvSpPr>
        <p:spPr>
          <a:xfrm>
            <a:off x="508000" y="2222500"/>
            <a:ext cx="8163900" cy="419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62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0"/>
              <a:buChar char="❏"/>
            </a:pPr>
            <a:r>
              <a:rPr lang="es-AR" sz="3000">
                <a:solidFill>
                  <a:srgbClr val="000000"/>
                </a:solidFill>
              </a:rPr>
              <a:t>Costosa y requiere un angiografista experimentado</a:t>
            </a:r>
            <a:endParaRPr sz="2000">
              <a:solidFill>
                <a:srgbClr val="000000"/>
              </a:solidFill>
            </a:endParaRPr>
          </a:p>
          <a:p>
            <a:pPr indent="-2362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60"/>
              <a:buChar char="❏"/>
            </a:pPr>
            <a:r>
              <a:rPr lang="es-AR" sz="3000">
                <a:solidFill>
                  <a:srgbClr val="000000"/>
                </a:solidFill>
              </a:rPr>
              <a:t>En pacientes con cirugía que no tuvo éxito anteriormente</a:t>
            </a:r>
            <a:endParaRPr sz="2000">
              <a:solidFill>
                <a:srgbClr val="000000"/>
              </a:solidFill>
            </a:endParaRPr>
          </a:p>
          <a:p>
            <a:pPr indent="-2362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60"/>
              <a:buChar char="❏"/>
            </a:pPr>
            <a:r>
              <a:rPr lang="es-AR" sz="3000">
                <a:solidFill>
                  <a:srgbClr val="000000"/>
                </a:solidFill>
              </a:rPr>
              <a:t>Cuando los estudios de imagen no invasivos no son informativos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es-AR" sz="4400" u="sng">
                <a:solidFill>
                  <a:srgbClr val="0000FF"/>
                </a:solidFill>
              </a:rPr>
              <a:t>Manejo preoperatorio</a:t>
            </a:r>
            <a:endParaRPr b="1" u="sng">
              <a:solidFill>
                <a:srgbClr val="0000FF"/>
              </a:solidFill>
            </a:endParaRPr>
          </a:p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>
            <a:off x="381001" y="1772825"/>
            <a:ext cx="82911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16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0"/>
              <a:buChar char="❏"/>
            </a:pPr>
            <a:r>
              <a:rPr lang="es-AR" sz="2400">
                <a:solidFill>
                  <a:srgbClr val="000000"/>
                </a:solidFill>
              </a:rPr>
              <a:t>Se recomienda una ingesta diaria de 1000 a 1200 mg de calcio para adultos .</a:t>
            </a:r>
            <a:endParaRPr sz="2400">
              <a:solidFill>
                <a:srgbClr val="000000"/>
              </a:solidFill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010"/>
              <a:buChar char="❏"/>
            </a:pPr>
            <a:r>
              <a:rPr lang="es-AR" sz="2400">
                <a:solidFill>
                  <a:srgbClr val="000000"/>
                </a:solidFill>
              </a:rPr>
              <a:t> Deficiencia de vitamina D:</a:t>
            </a:r>
            <a:endParaRPr sz="2400">
              <a:solidFill>
                <a:srgbClr val="000000"/>
              </a:solidFill>
            </a:endParaRPr>
          </a:p>
          <a:p>
            <a:pPr indent="-21590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840"/>
              <a:buChar char="❏"/>
            </a:pPr>
            <a:r>
              <a:rPr i="1" lang="es-AR" sz="2200">
                <a:solidFill>
                  <a:srgbClr val="000000"/>
                </a:solidFill>
              </a:rPr>
              <a:t>comenzar de forma segura la administración de suplementos de vitamina D.</a:t>
            </a:r>
            <a:endParaRPr i="1" sz="2200">
              <a:solidFill>
                <a:srgbClr val="000000"/>
              </a:solidFill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010"/>
              <a:buChar char="❏"/>
            </a:pPr>
            <a:r>
              <a:rPr lang="es-AR" sz="2400">
                <a:solidFill>
                  <a:srgbClr val="000000"/>
                </a:solidFill>
              </a:rPr>
              <a:t>La evaluación preoperatoria de la voz.</a:t>
            </a:r>
            <a:endParaRPr sz="2400">
              <a:solidFill>
                <a:srgbClr val="000000"/>
              </a:solidFill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010"/>
              <a:buChar char="❏"/>
            </a:pPr>
            <a:r>
              <a:rPr lang="es-AR" sz="2400">
                <a:solidFill>
                  <a:srgbClr val="000000"/>
                </a:solidFill>
              </a:rPr>
              <a:t>Crisis hipercalcémica deben recibir tratamiento médico, seguido de paratiroidectomía.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248475" y="274650"/>
            <a:ext cx="86637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3700" u="sng">
                <a:solidFill>
                  <a:srgbClr val="0000FF"/>
                </a:solidFill>
              </a:rPr>
              <a:t>Monitoreo intraoperatorio de PTH</a:t>
            </a:r>
            <a:endParaRPr b="1" sz="3700" u="sng">
              <a:solidFill>
                <a:srgbClr val="0000FF"/>
              </a:solidFill>
            </a:endParaRPr>
          </a:p>
        </p:txBody>
      </p:sp>
      <p:sp>
        <p:nvSpPr>
          <p:cNvPr id="217" name="Google Shape;217;p14"/>
          <p:cNvSpPr txBox="1"/>
          <p:nvPr>
            <p:ph idx="1" type="body"/>
          </p:nvPr>
        </p:nvSpPr>
        <p:spPr>
          <a:xfrm>
            <a:off x="333374" y="1988850"/>
            <a:ext cx="82665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3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0"/>
              <a:buChar char="❏"/>
            </a:pPr>
            <a:r>
              <a:rPr lang="es-AR" sz="2300">
                <a:solidFill>
                  <a:srgbClr val="000000"/>
                </a:solidFill>
              </a:rPr>
              <a:t>El éxito de las operaciones guiadas por PTH intraoperatoria ha sido excelente, con tasas de curación de hasta 97% a 99%</a:t>
            </a:r>
            <a:endParaRPr sz="2900">
              <a:solidFill>
                <a:srgbClr val="000000"/>
              </a:solidFill>
            </a:endParaRPr>
          </a:p>
          <a:p>
            <a:pPr indent="-2933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680"/>
              <a:buChar char="❏"/>
            </a:pPr>
            <a:r>
              <a:rPr lang="es-AR" sz="2300">
                <a:solidFill>
                  <a:srgbClr val="000000"/>
                </a:solidFill>
              </a:rPr>
              <a:t>Mediciones intraoperatorias de PTH:</a:t>
            </a:r>
            <a:endParaRPr sz="2900">
              <a:solidFill>
                <a:srgbClr val="000000"/>
              </a:solidFill>
            </a:endParaRPr>
          </a:p>
          <a:p>
            <a:pPr indent="-215900" lvl="2" marL="82296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ts val="2180"/>
              <a:buChar char="❏"/>
            </a:pPr>
            <a:r>
              <a:rPr lang="es-AR" sz="2600">
                <a:solidFill>
                  <a:srgbClr val="FF0000"/>
                </a:solidFill>
              </a:rPr>
              <a:t>No exceder el 50% de la concentración de PTH preoperatoria inmediata</a:t>
            </a:r>
            <a:endParaRPr sz="1800">
              <a:solidFill>
                <a:srgbClr val="FF0000"/>
              </a:solidFill>
            </a:endParaRPr>
          </a:p>
          <a:p>
            <a:pPr indent="-215900" lvl="2" marL="82296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ts val="2180"/>
              <a:buChar char="❏"/>
            </a:pPr>
            <a:r>
              <a:rPr lang="es-AR" sz="2600">
                <a:solidFill>
                  <a:srgbClr val="FF0000"/>
                </a:solidFill>
              </a:rPr>
              <a:t>Rango normal dentro de los 15 a 30 minutos posteriores a la Cx.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</a:pPr>
            <a:r>
              <a:rPr b="1" lang="es-AR" sz="4700" u="sng">
                <a:solidFill>
                  <a:srgbClr val="0000FF"/>
                </a:solidFill>
              </a:rPr>
              <a:t>Manejo quirúrgico</a:t>
            </a:r>
            <a:endParaRPr b="1" sz="4700" u="sng">
              <a:solidFill>
                <a:srgbClr val="0000FF"/>
              </a:solidFill>
            </a:endParaRPr>
          </a:p>
        </p:txBody>
      </p:sp>
      <p:pic>
        <p:nvPicPr>
          <p:cNvPr id="223" name="Google Shape;22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559" y="4244851"/>
            <a:ext cx="6936900" cy="194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4" name="Google Shape;224;p15"/>
          <p:cNvSpPr txBox="1"/>
          <p:nvPr/>
        </p:nvSpPr>
        <p:spPr>
          <a:xfrm>
            <a:off x="412750" y="1700800"/>
            <a:ext cx="8274000" cy="169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AR" sz="2600" u="none" cap="none" strike="noStrike">
                <a:latin typeface="Libre Baskerville"/>
                <a:ea typeface="Libre Baskerville"/>
                <a:cs typeface="Libre Baskerville"/>
                <a:sym typeface="Libre Baskerville"/>
              </a:rPr>
              <a:t>La cirugía en HPTP ofrece la promesa de una cura definitiva y debe recomendarse a aquellos que cumplen con cualquiera de los criterios para la cirugía.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444500" y="476675"/>
            <a:ext cx="84333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2857"/>
              <a:buFont typeface="Libre Franklin"/>
              <a:buNone/>
            </a:pPr>
            <a:r>
              <a:rPr b="1" lang="es-AR" sz="3888" u="sng">
                <a:solidFill>
                  <a:srgbClr val="0000FF"/>
                </a:solidFill>
              </a:rPr>
              <a:t>¿Quién debe someterse a una cirugía?</a:t>
            </a:r>
            <a:br>
              <a:rPr lang="es-AR"/>
            </a:br>
            <a:endParaRPr/>
          </a:p>
        </p:txBody>
      </p:sp>
      <p:pic>
        <p:nvPicPr>
          <p:cNvPr id="230" name="Google Shape;23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050" y="1340775"/>
            <a:ext cx="7509900" cy="437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1" name="Google Shape;2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952" y="6093296"/>
            <a:ext cx="4737745" cy="56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es-AR" sz="3200" u="sng">
                <a:solidFill>
                  <a:srgbClr val="0000FF"/>
                </a:solidFill>
              </a:rPr>
              <a:t>Paratiroidectomía mínimamente invasiva</a:t>
            </a:r>
            <a:endParaRPr u="sng">
              <a:solidFill>
                <a:srgbClr val="0000FF"/>
              </a:solidFill>
            </a:endParaRPr>
          </a:p>
        </p:txBody>
      </p:sp>
      <p:sp>
        <p:nvSpPr>
          <p:cNvPr id="237" name="Google Shape;237;p17"/>
          <p:cNvSpPr txBox="1"/>
          <p:nvPr>
            <p:ph idx="1" type="body"/>
          </p:nvPr>
        </p:nvSpPr>
        <p:spPr>
          <a:xfrm>
            <a:off x="365125" y="1700800"/>
            <a:ext cx="84297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89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0"/>
              <a:buChar char="❏"/>
            </a:pPr>
            <a:r>
              <a:rPr lang="es-AR" sz="2200">
                <a:solidFill>
                  <a:srgbClr val="000000"/>
                </a:solidFill>
              </a:rPr>
              <a:t>85% de los pacientes con HPTP tienen un adenoma solitario.</a:t>
            </a:r>
            <a:endParaRPr sz="2200">
              <a:solidFill>
                <a:srgbClr val="000000"/>
              </a:solidFill>
            </a:endParaRPr>
          </a:p>
          <a:p>
            <a:pPr indent="-2489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810"/>
              <a:buChar char="❏"/>
            </a:pPr>
            <a:r>
              <a:rPr lang="es-AR" sz="2200">
                <a:solidFill>
                  <a:srgbClr val="000000"/>
                </a:solidFill>
              </a:rPr>
              <a:t>CX puede lograr la curación en el 97% al 99%</a:t>
            </a:r>
            <a:endParaRPr sz="2200">
              <a:solidFill>
                <a:srgbClr val="000000"/>
              </a:solidFill>
            </a:endParaRPr>
          </a:p>
          <a:p>
            <a:pPr indent="-2489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810"/>
              <a:buChar char="❏"/>
            </a:pPr>
            <a:r>
              <a:rPr lang="es-AR" sz="2200">
                <a:solidFill>
                  <a:srgbClr val="000000"/>
                </a:solidFill>
              </a:rPr>
              <a:t>Durante la muestra PTH intraoperatoria, si sugiere tejido hipersecretor residual, la conversión a exploración bilateral (EB) está garantizada y tiene tasas de curación equivalentes a la EB planificada.</a:t>
            </a:r>
            <a:endParaRPr sz="2200">
              <a:solidFill>
                <a:srgbClr val="000000"/>
              </a:solidFill>
            </a:endParaRPr>
          </a:p>
          <a:p>
            <a:pPr indent="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/>
          </a:p>
          <a:p>
            <a:pPr indent="-248920" lvl="0" marL="27432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0000"/>
              </a:buClr>
              <a:buSzPts val="1810"/>
              <a:buChar char="❏"/>
            </a:pPr>
            <a:r>
              <a:rPr b="1" i="1" lang="es-AR" sz="2200">
                <a:solidFill>
                  <a:srgbClr val="FF0000"/>
                </a:solidFill>
              </a:rPr>
              <a:t>La EB planificada es la estrategia operativa preferida en situaciones de imagen preoperatoria discordante o no localizadora, cuando existe una alta sospecha de Enfermedad multi glandular, cuando no hay PTH intraoperatoria disponible</a:t>
            </a:r>
            <a:endParaRPr b="1"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4000" u="sng">
                <a:solidFill>
                  <a:srgbClr val="0000FF"/>
                </a:solidFill>
              </a:rPr>
              <a:t>Tiroidectomía concurrente</a:t>
            </a:r>
            <a:endParaRPr sz="4000" u="sng">
              <a:solidFill>
                <a:srgbClr val="0000FF"/>
              </a:solidFill>
            </a:endParaRPr>
          </a:p>
        </p:txBody>
      </p:sp>
      <p:sp>
        <p:nvSpPr>
          <p:cNvPr id="243" name="Google Shape;243;p18"/>
          <p:cNvSpPr txBox="1"/>
          <p:nvPr>
            <p:ph idx="1" type="body"/>
          </p:nvPr>
        </p:nvSpPr>
        <p:spPr>
          <a:xfrm>
            <a:off x="317500" y="1916825"/>
            <a:ext cx="85248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0"/>
              <a:buChar char="❏"/>
            </a:pPr>
            <a:r>
              <a:rPr lang="es-AR" sz="2900">
                <a:solidFill>
                  <a:srgbClr val="000000"/>
                </a:solidFill>
              </a:rPr>
              <a:t>En pacientes con HPTP, la enfermedad tiroidea concomitante es frecuente (12% -67%)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20"/>
              <a:buChar char="❏"/>
            </a:pPr>
            <a:r>
              <a:rPr lang="es-AR" sz="2900">
                <a:solidFill>
                  <a:srgbClr val="000000"/>
                </a:solidFill>
              </a:rPr>
              <a:t>La resección tiroidea debe realizarse al momento de la paratiroidectomía.</a:t>
            </a:r>
            <a:endParaRPr sz="2300">
              <a:solidFill>
                <a:srgbClr val="0000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720"/>
              <a:buChar char="❏"/>
            </a:pPr>
            <a:r>
              <a:rPr lang="es-AR" sz="2900">
                <a:solidFill>
                  <a:srgbClr val="000000"/>
                </a:solidFill>
              </a:rPr>
              <a:t>La ecografía preoperatoria es más sensible y específica.</a:t>
            </a:r>
            <a:r>
              <a:rPr lang="es-AR" sz="2300">
                <a:solidFill>
                  <a:srgbClr val="000000"/>
                </a:solidFill>
              </a:rPr>
              <a:t> 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44398558b_0_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2244398558b_0_3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g2244398558b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7138" y="474298"/>
            <a:ext cx="6006915" cy="59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793750" y="222250"/>
            <a:ext cx="7893000" cy="90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3500" u="sng">
                <a:solidFill>
                  <a:srgbClr val="0000FF"/>
                </a:solidFill>
              </a:rPr>
              <a:t>Carcinoma paratiroideo</a:t>
            </a:r>
            <a:endParaRPr sz="3500" u="sng">
              <a:solidFill>
                <a:srgbClr val="0000FF"/>
              </a:solidFill>
            </a:endParaRPr>
          </a:p>
        </p:txBody>
      </p:sp>
      <p:sp>
        <p:nvSpPr>
          <p:cNvPr id="256" name="Google Shape;256;p19"/>
          <p:cNvSpPr txBox="1"/>
          <p:nvPr>
            <p:ph idx="1" type="body"/>
          </p:nvPr>
        </p:nvSpPr>
        <p:spPr>
          <a:xfrm>
            <a:off x="301625" y="1340775"/>
            <a:ext cx="85143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2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Representa aproximadamente el 1% de todos los casos de PHPT y generalmente se presenta con niveles muy altos de PTH y calcio.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Ante la sospecha intraoperatoria de carcinoma paratiroideo, la resección completa que evita la alteración capsular mejora la probabilidad de curación y puede requerir la resección en bloque de los tejidos adherentes.</a:t>
            </a:r>
            <a:endParaRPr sz="2300">
              <a:solidFill>
                <a:srgbClr val="000000"/>
              </a:solidFill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373625" y="4077075"/>
            <a:ext cx="84423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b="1" i="0" lang="es-AR" sz="3600" u="sng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Autotrasplante y criopreservación</a:t>
            </a:r>
            <a:endParaRPr b="1" i="0" sz="3600" u="sng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01625" y="5164825"/>
            <a:ext cx="8442300" cy="169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7970" lvl="0" marL="2743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110"/>
              <a:buFont typeface="Noto Sans Symbols"/>
              <a:buChar char="❏"/>
            </a:pPr>
            <a:r>
              <a:rPr b="0" i="0" lang="es-AR" sz="2500" cap="none" strike="noStrike">
                <a:solidFill>
                  <a:srgbClr val="98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 recomienda el autotrasplante inmediato para las glándulas paratiroides normales que parecen desvascularizada.</a:t>
            </a:r>
            <a:endParaRPr b="0" i="0" sz="2500" cap="none" strike="noStrike">
              <a:solidFill>
                <a:srgbClr val="98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type="title"/>
          </p:nvPr>
        </p:nvSpPr>
        <p:spPr>
          <a:xfrm>
            <a:off x="555625" y="274650"/>
            <a:ext cx="81312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3700" u="sng">
                <a:solidFill>
                  <a:srgbClr val="0000FF"/>
                </a:solidFill>
              </a:rPr>
              <a:t>Cuidado postoperatorio inmediato</a:t>
            </a:r>
            <a:endParaRPr sz="3700" u="sng">
              <a:solidFill>
                <a:srgbClr val="0000FF"/>
              </a:solidFill>
            </a:endParaRPr>
          </a:p>
        </p:txBody>
      </p:sp>
      <p:sp>
        <p:nvSpPr>
          <p:cNvPr id="264" name="Google Shape;264;p20"/>
          <p:cNvSpPr txBox="1"/>
          <p:nvPr>
            <p:ph idx="1" type="body"/>
          </p:nvPr>
        </p:nvSpPr>
        <p:spPr>
          <a:xfrm>
            <a:off x="427050" y="1638300"/>
            <a:ext cx="8289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27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La hipocalcemia sintomática es típicamente transitoria y se maneja como paciente ambulatorio( 5% a 47%)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Hipoparatiroidismo permanente es raro (0%-3,6%)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Monitoreo para el desarrollo de hematoma cervical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Administración de suplementos de calcio y / o vitamina D a corto plazo como profilaxis.</a:t>
            </a:r>
            <a:endParaRPr sz="23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La evaluación de la cura y las complicaciones </a:t>
            </a:r>
            <a:endParaRPr sz="2300">
              <a:solidFill>
                <a:srgbClr val="000000"/>
              </a:solidFill>
            </a:endParaRPr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1740"/>
              <a:buChar char="❏"/>
            </a:pPr>
            <a:r>
              <a:rPr i="1" lang="es-AR" sz="2100">
                <a:solidFill>
                  <a:srgbClr val="000000"/>
                </a:solidFill>
              </a:rPr>
              <a:t>(hipoparatiroidismo prolongado, parálisis permanente del NLR) requiere evaluación durante al menos 6 meses</a:t>
            </a:r>
            <a:endParaRPr sz="2100">
              <a:solidFill>
                <a:srgbClr val="000000"/>
              </a:solidFill>
            </a:endParaRPr>
          </a:p>
          <a:p>
            <a:pPr indent="-25527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10"/>
              <a:buChar char="❏"/>
            </a:pPr>
            <a:r>
              <a:rPr lang="es-AR" sz="2300">
                <a:solidFill>
                  <a:srgbClr val="000000"/>
                </a:solidFill>
              </a:rPr>
              <a:t>Las pruebas longitudinales deben incluir niveles de calcio, PTH y 25-hidroxivitamina D. 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 txBox="1"/>
          <p:nvPr>
            <p:ph type="title"/>
          </p:nvPr>
        </p:nvSpPr>
        <p:spPr>
          <a:xfrm>
            <a:off x="730250" y="274650"/>
            <a:ext cx="7956600" cy="101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4300" u="sng">
                <a:solidFill>
                  <a:srgbClr val="0000FF"/>
                </a:solidFill>
              </a:rPr>
              <a:t>Definiciones</a:t>
            </a:r>
            <a:endParaRPr sz="4300" u="sng">
              <a:solidFill>
                <a:srgbClr val="0000FF"/>
              </a:solidFill>
            </a:endParaRPr>
          </a:p>
        </p:txBody>
      </p:sp>
      <p:sp>
        <p:nvSpPr>
          <p:cNvPr id="270" name="Google Shape;270;p21"/>
          <p:cNvSpPr txBox="1"/>
          <p:nvPr>
            <p:ph idx="1" type="body"/>
          </p:nvPr>
        </p:nvSpPr>
        <p:spPr>
          <a:xfrm>
            <a:off x="412750" y="1447800"/>
            <a:ext cx="82740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444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4"/>
              <a:buChar char="❏"/>
            </a:pPr>
            <a:r>
              <a:rPr lang="es-AR" sz="2305">
                <a:solidFill>
                  <a:srgbClr val="000000"/>
                </a:solidFill>
              </a:rPr>
              <a:t>El HPTP persistente: </a:t>
            </a:r>
            <a:endParaRPr sz="2305">
              <a:solidFill>
                <a:srgbClr val="000000"/>
              </a:solidFill>
            </a:endParaRPr>
          </a:p>
          <a:p>
            <a:pPr indent="-254904" lvl="1" marL="5486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4"/>
              <a:buChar char="❏"/>
            </a:pPr>
            <a:r>
              <a:rPr lang="es-AR" sz="2305">
                <a:solidFill>
                  <a:srgbClr val="000000"/>
                </a:solidFill>
              </a:rPr>
              <a:t>fracaso para lograr la normocalcemia </a:t>
            </a:r>
            <a:r>
              <a:rPr b="1" lang="es-AR" sz="2305">
                <a:solidFill>
                  <a:srgbClr val="000000"/>
                </a:solidFill>
              </a:rPr>
              <a:t>dentro de los 6 meses</a:t>
            </a:r>
            <a:r>
              <a:rPr lang="es-AR" sz="2305">
                <a:solidFill>
                  <a:srgbClr val="000000"/>
                </a:solidFill>
              </a:rPr>
              <a:t> posteriores a la paratiroidectomía.</a:t>
            </a:r>
            <a:endParaRPr sz="2305">
              <a:solidFill>
                <a:srgbClr val="000000"/>
              </a:solidFill>
            </a:endParaRPr>
          </a:p>
          <a:p>
            <a:pPr indent="-133985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2044"/>
              <a:buNone/>
            </a:pPr>
            <a:r>
              <a:t/>
            </a:r>
            <a:endParaRPr sz="2305">
              <a:solidFill>
                <a:srgbClr val="000000"/>
              </a:solidFill>
            </a:endParaRPr>
          </a:p>
          <a:p>
            <a:pPr indent="-257444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44"/>
              <a:buChar char="❏"/>
            </a:pPr>
            <a:r>
              <a:rPr lang="es-AR" sz="2305">
                <a:solidFill>
                  <a:srgbClr val="000000"/>
                </a:solidFill>
              </a:rPr>
              <a:t>El HPTP recurrente:</a:t>
            </a:r>
            <a:endParaRPr sz="2305">
              <a:solidFill>
                <a:srgbClr val="000000"/>
              </a:solidFill>
            </a:endParaRPr>
          </a:p>
          <a:p>
            <a:pPr indent="-254904" lvl="1" marL="54864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944"/>
              <a:buChar char="❏"/>
            </a:pPr>
            <a:r>
              <a:rPr lang="es-AR" sz="2305">
                <a:solidFill>
                  <a:srgbClr val="000000"/>
                </a:solidFill>
              </a:rPr>
              <a:t>recurrencia de hipercalcemia después de un intervalo normocalcémico a </a:t>
            </a:r>
            <a:r>
              <a:rPr b="1" lang="es-AR" sz="2305">
                <a:solidFill>
                  <a:srgbClr val="000000"/>
                </a:solidFill>
              </a:rPr>
              <a:t>más de 6 meses </a:t>
            </a:r>
            <a:r>
              <a:rPr lang="es-AR" sz="2305">
                <a:solidFill>
                  <a:srgbClr val="000000"/>
                </a:solidFill>
              </a:rPr>
              <a:t>después de la paratiroidectomía.</a:t>
            </a:r>
            <a:endParaRPr sz="2305">
              <a:solidFill>
                <a:srgbClr val="000000"/>
              </a:solidFill>
            </a:endParaRPr>
          </a:p>
          <a:p>
            <a:pPr indent="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305"/>
          </a:p>
          <a:p>
            <a:pPr indent="-257444" lvl="0" marL="274320" rtl="0" algn="ctr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944"/>
              <a:buChar char="❏"/>
            </a:pPr>
            <a:r>
              <a:rPr b="1" i="1" lang="es-AR" sz="2305">
                <a:solidFill>
                  <a:srgbClr val="FF0000"/>
                </a:solidFill>
              </a:rPr>
              <a:t>En definitiva  la cura después de la paratiroidectomía se define como el restablecimiento de la homeostasis del calcio normal que dura un mínimo de 6 meses</a:t>
            </a:r>
            <a:endParaRPr sz="2305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4200" u="sng">
                <a:solidFill>
                  <a:schemeClr val="dk1"/>
                </a:solidFill>
              </a:rPr>
              <a:t>Complicaciones</a:t>
            </a:r>
            <a:endParaRPr sz="4200" u="sng">
              <a:solidFill>
                <a:schemeClr val="dk1"/>
              </a:solidFill>
            </a:endParaRPr>
          </a:p>
        </p:txBody>
      </p:sp>
      <p:sp>
        <p:nvSpPr>
          <p:cNvPr id="276" name="Google Shape;276;p22"/>
          <p:cNvSpPr txBox="1"/>
          <p:nvPr>
            <p:ph idx="1" type="body"/>
          </p:nvPr>
        </p:nvSpPr>
        <p:spPr>
          <a:xfrm>
            <a:off x="428625" y="1447800"/>
            <a:ext cx="8258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9719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0"/>
              <a:buChar char="❏"/>
            </a:pPr>
            <a:r>
              <a:rPr lang="es-AR" sz="2200">
                <a:solidFill>
                  <a:srgbClr val="000000"/>
                </a:solidFill>
              </a:rPr>
              <a:t>Transección Nervio Laringeo Recurrente durante la paratiroidectomía, se debe intentar un procedimiento de reinervación.</a:t>
            </a:r>
            <a:endParaRPr sz="2200">
              <a:solidFill>
                <a:srgbClr val="000000"/>
              </a:solidFill>
            </a:endParaRPr>
          </a:p>
          <a:p>
            <a:pPr indent="-299719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610"/>
              <a:buChar char="❏"/>
            </a:pPr>
            <a:r>
              <a:rPr lang="es-AR" sz="2200">
                <a:solidFill>
                  <a:srgbClr val="000000"/>
                </a:solidFill>
              </a:rPr>
              <a:t>Síntomas del hipoparatiroidismo postoperatorio</a:t>
            </a:r>
            <a:endParaRPr sz="2200">
              <a:solidFill>
                <a:srgbClr val="000000"/>
              </a:solidFill>
            </a:endParaRPr>
          </a:p>
          <a:p>
            <a:pPr indent="-253999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2440"/>
              <a:buChar char="❏"/>
            </a:pPr>
            <a:r>
              <a:rPr lang="es-AR" sz="1800">
                <a:solidFill>
                  <a:srgbClr val="000000"/>
                </a:solidFill>
              </a:rPr>
              <a:t> hambre ósea euparatiroidea </a:t>
            </a:r>
            <a:endParaRPr sz="1800">
              <a:solidFill>
                <a:srgbClr val="000000"/>
              </a:solidFill>
            </a:endParaRPr>
          </a:p>
          <a:p>
            <a:pPr indent="-253999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2440"/>
              <a:buChar char="❏"/>
            </a:pPr>
            <a:r>
              <a:rPr lang="es-AR" sz="1800">
                <a:solidFill>
                  <a:srgbClr val="000000"/>
                </a:solidFill>
              </a:rPr>
              <a:t> hipoparatiroidismo transitorio (resuelve en los cuatro días )</a:t>
            </a:r>
            <a:endParaRPr sz="1800">
              <a:solidFill>
                <a:srgbClr val="000000"/>
              </a:solidFill>
            </a:endParaRPr>
          </a:p>
          <a:p>
            <a:pPr indent="-253999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ts val="2440"/>
              <a:buChar char="❏"/>
            </a:pPr>
            <a:r>
              <a:rPr lang="es-AR" sz="1800">
                <a:solidFill>
                  <a:srgbClr val="000000"/>
                </a:solidFill>
              </a:rPr>
              <a:t> hipoparatiroidismo prolongado (PTH recombinante)</a:t>
            </a:r>
            <a:endParaRPr sz="1800">
              <a:solidFill>
                <a:srgbClr val="000000"/>
              </a:solidFill>
            </a:endParaRPr>
          </a:p>
          <a:p>
            <a:pPr indent="0" lvl="0" marL="54864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54"/>
              <a:buNone/>
            </a:pPr>
            <a:r>
              <a:t/>
            </a:r>
            <a:endParaRPr b="1" i="1">
              <a:solidFill>
                <a:srgbClr val="FF0000"/>
              </a:solidFill>
            </a:endParaRPr>
          </a:p>
          <a:p>
            <a:pPr indent="-274319" lvl="0" marL="27432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❏"/>
            </a:pPr>
            <a:r>
              <a:rPr b="1" i="1" lang="es-AR">
                <a:solidFill>
                  <a:srgbClr val="FF0000"/>
                </a:solidFill>
              </a:rPr>
              <a:t>Los pacientes pueden requerir la administración temporal de calcio postoperatorio ,calcitriol y en casos grave gluconato de calcio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4f1e088033_0_29"/>
          <p:cNvSpPr txBox="1"/>
          <p:nvPr>
            <p:ph type="title"/>
          </p:nvPr>
        </p:nvSpPr>
        <p:spPr>
          <a:xfrm>
            <a:off x="349250" y="301625"/>
            <a:ext cx="8524800" cy="217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73076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AR" sz="314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Monitoreado sin cirugía y opciones médicas.</a:t>
            </a:r>
            <a:endParaRPr b="1" sz="314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800"/>
          </a:p>
        </p:txBody>
      </p:sp>
      <p:sp>
        <p:nvSpPr>
          <p:cNvPr id="282" name="Google Shape;282;g24f1e088033_0_29"/>
          <p:cNvSpPr txBox="1"/>
          <p:nvPr>
            <p:ph idx="1" type="body"/>
          </p:nvPr>
        </p:nvSpPr>
        <p:spPr>
          <a:xfrm>
            <a:off x="349250" y="1651000"/>
            <a:ext cx="8337600" cy="436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Times New Roman"/>
              <a:buChar char="❏"/>
            </a:pPr>
            <a:r>
              <a:rPr lang="es-AR" sz="23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Opción segura durante posiblemente hasta 8 a 10 años para pacientes con HPTP asintomático que no cumplen con las pautas para la cirugía o que no pueden o no quieren someterse a PTx.</a:t>
            </a:r>
            <a:endParaRPr sz="23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Times New Roman"/>
              <a:buChar char="❏"/>
            </a:pPr>
            <a:r>
              <a:rPr lang="es-AR" sz="23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DMO cada 1 o 2 años, además del control anual del perfil bioquímico.</a:t>
            </a:r>
            <a:endParaRPr sz="23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Times New Roman"/>
              <a:buChar char="❏"/>
            </a:pPr>
            <a:r>
              <a:rPr lang="es-AR" sz="23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Ingesta de calcio debe recomendarse sin restricciones.</a:t>
            </a:r>
            <a:endParaRPr sz="23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Times New Roman"/>
              <a:buChar char="❏"/>
            </a:pPr>
            <a:r>
              <a:rPr lang="es-AR" sz="23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Corregir la deficiencia/insuficiencia de vitamina D</a:t>
            </a:r>
            <a:endParaRPr sz="23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❏"/>
            </a:pPr>
            <a:r>
              <a:rPr lang="es-AR" sz="2300">
                <a:solidFill>
                  <a:srgbClr val="6036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Terapia antirresortiva:</a:t>
            </a:r>
            <a:r>
              <a:rPr lang="es-AR" sz="23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bisfosfonatos sustituidos con amino y la terapia de reemplazo hormonal (TRH) mejoran la DMO y reducen los marcadores bioquímicos del recambio óseo.</a:t>
            </a:r>
            <a:endParaRPr sz="23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Times New Roman"/>
              <a:buChar char="❏"/>
            </a:pPr>
            <a:r>
              <a:rPr lang="es-AR" sz="23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Cinacalcet, un agente calcimimético, reduce el calcio sérico y la PTH al aumentar la sensibilidad del CaSR al calcio extracelular,</a:t>
            </a:r>
            <a:endParaRPr sz="23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type="title"/>
          </p:nvPr>
        </p:nvSpPr>
        <p:spPr>
          <a:xfrm>
            <a:off x="555625" y="158750"/>
            <a:ext cx="8350200" cy="153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6647"/>
              <a:buFont typeface="Libre Franklin"/>
              <a:buNone/>
            </a:pPr>
            <a:r>
              <a:rPr b="1" lang="es-AR" sz="3311" u="sng">
                <a:solidFill>
                  <a:srgbClr val="0000FF"/>
                </a:solidFill>
              </a:rPr>
              <a:t>Historia natural del PHPT con y sin cirugía</a:t>
            </a:r>
            <a:br>
              <a:rPr b="1" lang="es-AR">
                <a:solidFill>
                  <a:srgbClr val="0000FF"/>
                </a:solidFill>
              </a:rPr>
            </a:br>
            <a:endParaRPr>
              <a:solidFill>
                <a:srgbClr val="0000FF"/>
              </a:solidFill>
            </a:endParaRPr>
          </a:p>
        </p:txBody>
      </p:sp>
      <p:sp>
        <p:nvSpPr>
          <p:cNvPr id="288" name="Google Shape;288;p23"/>
          <p:cNvSpPr txBox="1"/>
          <p:nvPr>
            <p:ph idx="1" type="body"/>
          </p:nvPr>
        </p:nvSpPr>
        <p:spPr>
          <a:xfrm>
            <a:off x="428625" y="1196750"/>
            <a:ext cx="8258100" cy="532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27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10"/>
              <a:buChar char="❏"/>
            </a:pPr>
            <a:r>
              <a:rPr i="1" lang="es-AR" sz="2300">
                <a:solidFill>
                  <a:srgbClr val="FF0000"/>
                </a:solidFill>
              </a:rPr>
              <a:t>Sin Cx:</a:t>
            </a:r>
            <a:endParaRPr sz="23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La DMO fue estable en los tres sitios hasta el año 8 cuando el cuello femoral y el radio distal de un tercio comenzaron a disminuir. </a:t>
            </a:r>
            <a:endParaRPr sz="21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Notablemente evidentes entre los años 10 y 15.</a:t>
            </a:r>
            <a:endParaRPr sz="21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Recurrencia de cálculos renales fue común.</a:t>
            </a:r>
            <a:endParaRPr sz="2100"/>
          </a:p>
          <a:p>
            <a:pPr indent="-255270" lvl="0" marL="27432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1910"/>
              <a:buChar char="❏"/>
            </a:pPr>
            <a:r>
              <a:rPr i="1" lang="es-AR" sz="2300">
                <a:solidFill>
                  <a:srgbClr val="FF0000"/>
                </a:solidFill>
              </a:rPr>
              <a:t>Con Cx:</a:t>
            </a:r>
            <a:endParaRPr sz="23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Indices bioquímicos se normalizarán rápidamente </a:t>
            </a:r>
            <a:endParaRPr sz="21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DMO mejoró en todos los sitios.</a:t>
            </a:r>
            <a:endParaRPr sz="21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Mejoras en la microestructura esquelética y la resistencia ósea</a:t>
            </a:r>
            <a:endParaRPr sz="21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Reducción en la incidencia de fracturas</a:t>
            </a:r>
            <a:endParaRPr sz="2100"/>
          </a:p>
          <a:p>
            <a:pPr indent="-209550" lvl="1" marL="54864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SzPts val="1740"/>
              <a:buChar char="❏"/>
            </a:pPr>
            <a:r>
              <a:rPr lang="es-AR" sz="2100"/>
              <a:t>Reducción en excreción urinaria de calcio y cálculos renales</a:t>
            </a:r>
            <a:endParaRPr sz="2100"/>
          </a:p>
          <a:p>
            <a:pPr indent="0" lvl="0" marL="91440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/>
          <p:nvPr>
            <p:ph type="title"/>
          </p:nvPr>
        </p:nvSpPr>
        <p:spPr>
          <a:xfrm>
            <a:off x="508000" y="274650"/>
            <a:ext cx="8178900" cy="1074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u="sng">
                <a:solidFill>
                  <a:srgbClr val="0000FF"/>
                </a:solidFill>
              </a:rPr>
              <a:t>Síndrome de hueso hambriento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4" name="Google Shape;294;p24"/>
          <p:cNvSpPr txBox="1"/>
          <p:nvPr>
            <p:ph idx="1" type="body"/>
          </p:nvPr>
        </p:nvSpPr>
        <p:spPr>
          <a:xfrm>
            <a:off x="507900" y="1447800"/>
            <a:ext cx="8178900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Char char="❏"/>
            </a:pPr>
            <a:r>
              <a:rPr b="1" lang="es-AR" sz="3200"/>
              <a:t>Aumento de la captación ósea de calcio, fósforo y magnesio luego del descenso brusco de la hormona paratiroidea posparatiroidectomía.</a:t>
            </a:r>
            <a:endParaRPr b="1"/>
          </a:p>
          <a:p>
            <a:pPr indent="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3060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710"/>
              <a:buChar char="❏"/>
            </a:pPr>
            <a:r>
              <a:rPr lang="es-AR" sz="2300"/>
              <a:t>Se traduce como:</a:t>
            </a:r>
            <a:endParaRPr sz="2300"/>
          </a:p>
          <a:p>
            <a:pPr indent="-2603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540"/>
              <a:buChar char="❏"/>
            </a:pPr>
            <a:r>
              <a:rPr lang="es-AR" sz="1900"/>
              <a:t>requerimiento alto de calcio por los huesos</a:t>
            </a:r>
            <a:endParaRPr sz="1900"/>
          </a:p>
          <a:p>
            <a:pPr indent="-2603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540"/>
              <a:buChar char="❏"/>
            </a:pPr>
            <a:r>
              <a:rPr lang="es-AR" sz="1900"/>
              <a:t>crisis hipOcalcémicas severas y prolongadas </a:t>
            </a:r>
            <a:endParaRPr sz="1900"/>
          </a:p>
          <a:p>
            <a:pPr indent="-3060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710"/>
              <a:buChar char="❏"/>
            </a:pPr>
            <a:r>
              <a:rPr lang="es-AR" sz="2300"/>
              <a:t>Complicación presente en el 12-13% </a:t>
            </a:r>
            <a:endParaRPr sz="2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/>
          <p:nvPr>
            <p:ph type="title"/>
          </p:nvPr>
        </p:nvSpPr>
        <p:spPr>
          <a:xfrm>
            <a:off x="914400" y="274648"/>
            <a:ext cx="77724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4200" u="sng">
                <a:solidFill>
                  <a:srgbClr val="0000FF"/>
                </a:solidFill>
              </a:rPr>
              <a:t>Fisiopatogenia</a:t>
            </a:r>
            <a:endParaRPr b="1" sz="4200" u="sng">
              <a:solidFill>
                <a:srgbClr val="0000FF"/>
              </a:solidFill>
            </a:endParaRPr>
          </a:p>
        </p:txBody>
      </p:sp>
      <p:sp>
        <p:nvSpPr>
          <p:cNvPr id="300" name="Google Shape;300;p25"/>
          <p:cNvSpPr txBox="1"/>
          <p:nvPr>
            <p:ph idx="1" type="body"/>
          </p:nvPr>
        </p:nvSpPr>
        <p:spPr>
          <a:xfrm>
            <a:off x="444500" y="1447800"/>
            <a:ext cx="8242500" cy="4854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s-AR" sz="2400"/>
              <a:t>Desequilibrio entre la formación y la resorción ósea, debida principalmente al estado de hipoparatiroidismo funcional o relativo postparatiroidectomía:</a:t>
            </a:r>
            <a:endParaRPr sz="2400"/>
          </a:p>
          <a:p>
            <a:pPr indent="0" lvl="0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400"/>
          </a:p>
          <a:p>
            <a:pPr indent="-26670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640"/>
              <a:buChar char="❏"/>
            </a:pPr>
            <a:r>
              <a:rPr lang="es-AR" sz="2000"/>
              <a:t>Bajada de la PTH 	</a:t>
            </a:r>
            <a:endParaRPr sz="2000"/>
          </a:p>
          <a:p>
            <a:pPr indent="-26670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640"/>
              <a:buChar char="❏"/>
            </a:pPr>
            <a:r>
              <a:rPr lang="es-AR" sz="2000"/>
              <a:t>Freno de resorción ósea por los osteoclastos </a:t>
            </a:r>
            <a:endParaRPr sz="2000"/>
          </a:p>
          <a:p>
            <a:pPr indent="-26670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640"/>
              <a:buChar char="❏"/>
            </a:pPr>
            <a:r>
              <a:rPr lang="es-AR" sz="2000"/>
              <a:t>Sin afectar a la actividad osteoblástica </a:t>
            </a:r>
            <a:endParaRPr sz="2000"/>
          </a:p>
          <a:p>
            <a:pPr indent="-26670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640"/>
              <a:buChar char="❏"/>
            </a:pPr>
            <a:r>
              <a:rPr lang="es-AR" sz="2000"/>
              <a:t>Incremento de la captación ósea de calcio, fosfato y magnesio </a:t>
            </a:r>
            <a:endParaRPr sz="2000"/>
          </a:p>
          <a:p>
            <a:pPr indent="-26670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640"/>
              <a:buChar char="❏"/>
            </a:pPr>
            <a:r>
              <a:rPr lang="es-AR" sz="2000">
                <a:solidFill>
                  <a:srgbClr val="FF0000"/>
                </a:solidFill>
              </a:rPr>
              <a:t>Originando hipocalcemia, hipofosfatemia e hipomagnesemia</a:t>
            </a:r>
            <a:endParaRPr sz="2000">
              <a:solidFill>
                <a:srgbClr val="FF0000"/>
              </a:solidFill>
            </a:endParaRPr>
          </a:p>
          <a:p>
            <a:pPr indent="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1" i="1" sz="2400"/>
          </a:p>
          <a:p>
            <a:pPr indent="-3124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810"/>
              <a:buChar char="❏"/>
            </a:pPr>
            <a:r>
              <a:rPr b="1" i="1" lang="es-AR" sz="2400"/>
              <a:t>Generalmente  es transitorio (aprox una semana) </a:t>
            </a:r>
            <a:endParaRPr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3600" u="sng">
                <a:solidFill>
                  <a:srgbClr val="0000FF"/>
                </a:solidFill>
              </a:rPr>
              <a:t>Factores de riesgo de SHH</a:t>
            </a:r>
            <a:r>
              <a:rPr b="1" lang="es-AR">
                <a:solidFill>
                  <a:srgbClr val="0000FF"/>
                </a:solidFill>
              </a:rPr>
              <a:t>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306" name="Google Shape;306;p26"/>
          <p:cNvSpPr txBox="1"/>
          <p:nvPr>
            <p:ph idx="1" type="body"/>
          </p:nvPr>
        </p:nvSpPr>
        <p:spPr>
          <a:xfrm>
            <a:off x="508000" y="1666875"/>
            <a:ext cx="8334300" cy="435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6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10"/>
              <a:buChar char="❏"/>
            </a:pPr>
            <a:r>
              <a:rPr lang="es-AR" sz="2700"/>
              <a:t>Adenomas grandes (&gt; 5 cm) </a:t>
            </a:r>
            <a:endParaRPr sz="2700"/>
          </a:p>
          <a:p>
            <a:pPr indent="-2806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10"/>
              <a:buChar char="❏"/>
            </a:pPr>
            <a:r>
              <a:rPr lang="es-AR" sz="2700"/>
              <a:t>Carcinomas , metástasis osteoblásticas</a:t>
            </a:r>
            <a:endParaRPr sz="2700"/>
          </a:p>
          <a:p>
            <a:pPr indent="-2806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10"/>
              <a:buChar char="❏"/>
            </a:pPr>
            <a:r>
              <a:rPr lang="es-AR" sz="2700"/>
              <a:t>Edad &gt;60 años</a:t>
            </a:r>
            <a:endParaRPr sz="2700"/>
          </a:p>
          <a:p>
            <a:pPr indent="-2806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10"/>
              <a:buChar char="❏"/>
            </a:pPr>
            <a:r>
              <a:rPr lang="es-AR" sz="2700"/>
              <a:t>Déficit de vitamina D </a:t>
            </a:r>
            <a:endParaRPr sz="2700"/>
          </a:p>
          <a:p>
            <a:pPr indent="-2806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10"/>
              <a:buChar char="❏"/>
            </a:pPr>
            <a:r>
              <a:rPr lang="es-AR" sz="2700"/>
              <a:t>Niveles preoperatorios elevados :</a:t>
            </a:r>
            <a:endParaRPr sz="2700"/>
          </a:p>
          <a:p>
            <a:pPr indent="-234950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140"/>
              <a:buChar char="❏"/>
            </a:pPr>
            <a:r>
              <a:rPr lang="es-AR" sz="2500"/>
              <a:t> PTH, calcio y fosfatasa alcalina (ALP)</a:t>
            </a:r>
            <a:endParaRPr sz="2500"/>
          </a:p>
          <a:p>
            <a:pPr indent="-2806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10"/>
              <a:buChar char="❏"/>
            </a:pPr>
            <a:r>
              <a:rPr lang="es-AR" sz="2700"/>
              <a:t>Compromiso óseo prequirúrgico (dolor, fracturas, resorción subperióstica o tumores pardos)</a:t>
            </a:r>
            <a:endParaRPr sz="2700"/>
          </a:p>
          <a:p>
            <a:pPr indent="-99059" lvl="1" marL="5486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/>
          <p:nvPr>
            <p:ph type="title"/>
          </p:nvPr>
        </p:nvSpPr>
        <p:spPr>
          <a:xfrm>
            <a:off x="914400" y="274648"/>
            <a:ext cx="7772400" cy="93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3600" u="sng">
                <a:solidFill>
                  <a:srgbClr val="0000FF"/>
                </a:solidFill>
              </a:rPr>
              <a:t>Diagnóstico</a:t>
            </a:r>
            <a:r>
              <a:rPr lang="es-AR" u="sng">
                <a:solidFill>
                  <a:schemeClr val="dk1"/>
                </a:solidFill>
              </a:rPr>
              <a:t> </a:t>
            </a:r>
            <a:endParaRPr u="sng">
              <a:solidFill>
                <a:schemeClr val="dk1"/>
              </a:solidFill>
            </a:endParaRPr>
          </a:p>
        </p:txBody>
      </p:sp>
      <p:sp>
        <p:nvSpPr>
          <p:cNvPr id="312" name="Google Shape;312;p27"/>
          <p:cNvSpPr txBox="1"/>
          <p:nvPr>
            <p:ph idx="1" type="body"/>
          </p:nvPr>
        </p:nvSpPr>
        <p:spPr>
          <a:xfrm>
            <a:off x="539552" y="1340768"/>
            <a:ext cx="8064896" cy="457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16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Char char="❏"/>
            </a:pPr>
            <a:r>
              <a:rPr lang="es-AR" sz="3000"/>
              <a:t>Hipocalcemia sintomática (&lt; 7,5 a 8,5 mg/dl)</a:t>
            </a:r>
            <a:endParaRPr sz="2400"/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520"/>
              <a:buChar char="❏"/>
            </a:pPr>
            <a:r>
              <a:rPr lang="es-AR" sz="3000"/>
              <a:t>Incluso tetania y convulsiones</a:t>
            </a:r>
            <a:endParaRPr sz="2400"/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520"/>
              <a:buChar char="❏"/>
            </a:pPr>
            <a:r>
              <a:rPr lang="es-AR" sz="3000"/>
              <a:t>Valores normales o bajos de fósforo (≤3 mg/dL), </a:t>
            </a:r>
            <a:endParaRPr sz="2400"/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520"/>
              <a:buChar char="❏"/>
            </a:pPr>
            <a:r>
              <a:rPr lang="es-AR" sz="3000"/>
              <a:t>Elevación de la FAL</a:t>
            </a:r>
            <a:endParaRPr sz="2400"/>
          </a:p>
          <a:p>
            <a:pPr indent="-2616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520"/>
              <a:buChar char="❏"/>
            </a:pPr>
            <a:r>
              <a:rPr lang="es-AR" sz="3000"/>
              <a:t>Altos requerimientos de calcio intravenoso y por vía oral.</a:t>
            </a:r>
            <a:endParaRPr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914400" y="274648"/>
            <a:ext cx="7772400" cy="9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 sz="4400" u="sng">
                <a:solidFill>
                  <a:srgbClr val="0000FF"/>
                </a:solidFill>
              </a:rPr>
              <a:t>Tratamiento</a:t>
            </a:r>
            <a:endParaRPr sz="4400" u="sng">
              <a:solidFill>
                <a:srgbClr val="0000FF"/>
              </a:solidFill>
            </a:endParaRPr>
          </a:p>
        </p:txBody>
      </p:sp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231925" y="1222350"/>
            <a:ext cx="8713200" cy="548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6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44"/>
              <a:buChar char="❏"/>
            </a:pPr>
            <a:r>
              <a:rPr lang="es-AR" sz="2204"/>
              <a:t>Identificar al paciente con riesgo</a:t>
            </a:r>
            <a:endParaRPr sz="2204"/>
          </a:p>
          <a:p>
            <a:pPr indent="-2616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844"/>
              <a:buChar char="❏"/>
            </a:pPr>
            <a:r>
              <a:rPr lang="es-AR" sz="2204"/>
              <a:t>Se recomienda administrar 1-2 µg de calcitriol preqx.</a:t>
            </a:r>
            <a:endParaRPr sz="2204"/>
          </a:p>
          <a:p>
            <a:pPr indent="-2616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844"/>
              <a:buChar char="❏"/>
            </a:pPr>
            <a:r>
              <a:rPr lang="es-AR" sz="2204"/>
              <a:t>Bifosfonatos (controvertido) atenúa el remodelado óseo pre qx.</a:t>
            </a:r>
            <a:endParaRPr sz="2204"/>
          </a:p>
          <a:p>
            <a:pPr indent="-26162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844"/>
              <a:buChar char="❏"/>
            </a:pPr>
            <a:r>
              <a:rPr lang="es-AR" sz="2204"/>
              <a:t>Posqx. infusión de 10 ampollas de gluconato al 10% por vía central (37,5 mg/ hora de calcio elemental) </a:t>
            </a:r>
            <a:endParaRPr sz="2204"/>
          </a:p>
          <a:p>
            <a:pPr indent="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4"/>
          </a:p>
          <a:p>
            <a:pPr indent="-261619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844"/>
              <a:buChar char="❏"/>
            </a:pPr>
            <a:r>
              <a:rPr b="1" lang="es-AR" sz="2204"/>
              <a:t>Hipocalcemia sintomática :</a:t>
            </a:r>
            <a:endParaRPr b="1" sz="2204"/>
          </a:p>
          <a:p>
            <a:pPr indent="-203199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487"/>
              <a:buChar char="❏"/>
            </a:pPr>
            <a:r>
              <a:rPr lang="es-AR" sz="2020"/>
              <a:t>Infundir 90-180 mg de calcio elemental en 50 ml durante 10-20 minutos, seguido de </a:t>
            </a:r>
            <a:r>
              <a:rPr lang="es-AR" sz="2204"/>
              <a:t>infusión 10 ampollas de gluconato al 10% por vía central </a:t>
            </a:r>
            <a:endParaRPr sz="2020"/>
          </a:p>
          <a:p>
            <a:pPr indent="-235853" lvl="1" marL="54864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644"/>
              <a:buChar char="❏"/>
            </a:pPr>
            <a:r>
              <a:rPr lang="es-AR" sz="2004"/>
              <a:t>Calcemia cada 4-6 horas en las primeras 48 horas </a:t>
            </a:r>
            <a:endParaRPr sz="2004"/>
          </a:p>
          <a:p>
            <a:pPr indent="-235853" lvl="1" marL="54864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644"/>
              <a:buChar char="❏"/>
            </a:pPr>
            <a:r>
              <a:rPr lang="es-AR" sz="2004"/>
              <a:t>Calcio y Calcitriol vía oral cuando se autoriza la ingesta:</a:t>
            </a:r>
            <a:endParaRPr sz="2004"/>
          </a:p>
          <a:p>
            <a:pPr indent="-215899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687"/>
              <a:buChar char="❏"/>
            </a:pPr>
            <a:r>
              <a:rPr lang="es-AR" sz="2020"/>
              <a:t>Calcio elemental por vía oral entre 2 y 6 gramos/día, dividida en 3-5 tomas.</a:t>
            </a:r>
            <a:endParaRPr sz="2020"/>
          </a:p>
          <a:p>
            <a:pPr indent="-215899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687"/>
              <a:buChar char="❏"/>
            </a:pPr>
            <a:r>
              <a:rPr lang="es-AR" sz="2020"/>
              <a:t>Calcitriol entre 0,25 y 1 μg cada 6 horas.</a:t>
            </a:r>
            <a:endParaRPr sz="2020"/>
          </a:p>
          <a:p>
            <a:pPr indent="-235853" lvl="1" marL="54864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644"/>
              <a:buChar char="❏"/>
            </a:pPr>
            <a:r>
              <a:rPr lang="es-AR" sz="2004"/>
              <a:t>La reducción de la medicación administrada debe ser gradual.</a:t>
            </a:r>
            <a:endParaRPr sz="2004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type="title"/>
          </p:nvPr>
        </p:nvSpPr>
        <p:spPr>
          <a:xfrm>
            <a:off x="251520" y="274638"/>
            <a:ext cx="8640960" cy="113813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</a:pPr>
            <a:r>
              <a:rPr b="1" lang="es-AR" sz="2800" u="sng">
                <a:solidFill>
                  <a:schemeClr val="dk1"/>
                </a:solidFill>
              </a:rPr>
              <a:t>Preparaciones de calcio: contenido de calcio elemental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324" name="Google Shape;32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125" y="1645375"/>
            <a:ext cx="6634200" cy="490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pic>
        <p:nvPicPr>
          <p:cNvPr id="330" name="Google Shape;330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143783"/>
            <a:ext cx="6120679" cy="660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es-AR" sz="3200" u="sng">
                <a:solidFill>
                  <a:srgbClr val="0000FF"/>
                </a:solidFill>
              </a:rPr>
              <a:t>Seguimiento a largo plazo posterior a la paratiroidectomía</a:t>
            </a:r>
            <a:endParaRPr b="1" sz="3200" u="sng">
              <a:solidFill>
                <a:srgbClr val="0000FF"/>
              </a:solidFill>
            </a:endParaRPr>
          </a:p>
        </p:txBody>
      </p:sp>
      <p:sp>
        <p:nvSpPr>
          <p:cNvPr id="336" name="Google Shape;336;p31"/>
          <p:cNvSpPr txBox="1"/>
          <p:nvPr>
            <p:ph idx="1" type="body"/>
          </p:nvPr>
        </p:nvSpPr>
        <p:spPr>
          <a:xfrm>
            <a:off x="523875" y="1714500"/>
            <a:ext cx="8163000" cy="4305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10"/>
              <a:buChar char="❏"/>
            </a:pPr>
            <a:r>
              <a:rPr lang="es-AR" sz="2300"/>
              <a:t>Evaluar los niveles de calcio y fósforo dos veces por semana, en forma semanal y luego quincenal, durante los dos primeros meses hasta obtener valores estables y luego continuar con los controles mensuales habituales.</a:t>
            </a:r>
            <a:endParaRPr sz="2300"/>
          </a:p>
          <a:p>
            <a:pPr indent="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300"/>
          </a:p>
          <a:p>
            <a:pPr indent="-25527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910"/>
              <a:buChar char="❏"/>
            </a:pPr>
            <a:r>
              <a:rPr lang="es-AR" sz="2300"/>
              <a:t>En casos de compromiso óseo muy importante, el requerimiento de calcio y vitamina D por SHH puede prolongarse durante meses o años.</a:t>
            </a:r>
            <a:endParaRPr sz="2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s-AR">
                <a:solidFill>
                  <a:schemeClr val="dk1"/>
                </a:solidFill>
              </a:rPr>
              <a:t>Bibliografía: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2" name="Google Shape;342;p32"/>
          <p:cNvSpPr txBox="1"/>
          <p:nvPr>
            <p:ph idx="1" type="body"/>
          </p:nvPr>
        </p:nvSpPr>
        <p:spPr>
          <a:xfrm>
            <a:off x="914400" y="1447800"/>
            <a:ext cx="7772400" cy="4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797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7"/>
              <a:buChar char="❏"/>
            </a:pPr>
            <a:r>
              <a:rPr b="1" lang="es-AR" sz="1720"/>
              <a:t>The American Association of Endocrine Surgeons</a:t>
            </a:r>
            <a:endParaRPr sz="1720"/>
          </a:p>
          <a:p>
            <a:pPr indent="-222250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328"/>
              <a:buChar char="❏"/>
            </a:pPr>
            <a:r>
              <a:rPr lang="es-AR" sz="1580"/>
              <a:t>doi:10.1001/jamasurg.2016.2310</a:t>
            </a:r>
            <a:endParaRPr sz="1580"/>
          </a:p>
          <a:p>
            <a:pPr indent="-26797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447"/>
              <a:buChar char="❏"/>
            </a:pPr>
            <a:r>
              <a:rPr b="1" lang="es-AR" sz="1720"/>
              <a:t>Primary hyperparathyroidism: review and recommendations on evaluation, diagnosis, and management. A Canadian and international consensus</a:t>
            </a:r>
            <a:endParaRPr sz="1720"/>
          </a:p>
          <a:p>
            <a:pPr indent="-222250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328"/>
              <a:buChar char="❏"/>
            </a:pPr>
            <a:r>
              <a:rPr lang="es-AR" sz="1580"/>
              <a:t>January 2017, Volume 28, </a:t>
            </a:r>
            <a:r>
              <a:rPr lang="es-AR" sz="1580" u="sng">
                <a:solidFill>
                  <a:schemeClr val="hlink"/>
                </a:solidFill>
                <a:hlinkClick r:id="rId3"/>
              </a:rPr>
              <a:t>Issue 1</a:t>
            </a:r>
            <a:r>
              <a:rPr lang="es-AR" sz="1580"/>
              <a:t>, pp 1–19| </a:t>
            </a:r>
            <a:r>
              <a:rPr lang="es-AR" sz="1580" u="sng">
                <a:solidFill>
                  <a:schemeClr val="hlink"/>
                </a:solidFill>
                <a:hlinkClick r:id="rId4"/>
              </a:rPr>
              <a:t>Cite as</a:t>
            </a:r>
            <a:endParaRPr sz="1580"/>
          </a:p>
          <a:p>
            <a:pPr indent="-26797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447"/>
              <a:buChar char="❏"/>
            </a:pPr>
            <a:r>
              <a:rPr b="1" lang="es-AR" sz="1720"/>
              <a:t>SÍNDROME DE HUESO HAMBRIENTO </a:t>
            </a:r>
            <a:endParaRPr sz="1720"/>
          </a:p>
          <a:p>
            <a:pPr indent="-222250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328"/>
              <a:buChar char="❏"/>
            </a:pPr>
            <a:r>
              <a:rPr lang="es-AR" sz="1580"/>
              <a:t>Actual. Osteol 2014; 10(1): 11-19. Internet: http://www.osteologia.org.ar </a:t>
            </a:r>
            <a:endParaRPr sz="1580"/>
          </a:p>
          <a:p>
            <a:pPr indent="-26797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447"/>
              <a:buChar char="❏"/>
            </a:pPr>
            <a:r>
              <a:rPr b="1" lang="es-AR" sz="1720"/>
              <a:t>Primary Hyperparathyroidism</a:t>
            </a:r>
            <a:endParaRPr b="1" sz="1720"/>
          </a:p>
          <a:p>
            <a:pPr indent="-222250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328"/>
              <a:buChar char="❏"/>
            </a:pPr>
            <a:r>
              <a:rPr i="1" lang="es-AR" sz="1580"/>
              <a:t>The Journal of Clinical Endocrinology &amp; Metabolism</a:t>
            </a:r>
            <a:r>
              <a:rPr lang="es-AR" sz="1580"/>
              <a:t>, Volume 103, Issue 11, November 2018, Pages 3993–4004, </a:t>
            </a:r>
            <a:r>
              <a:rPr lang="es-AR" sz="1580" u="sng">
                <a:solidFill>
                  <a:schemeClr val="hlink"/>
                </a:solidFill>
                <a:hlinkClick r:id="rId5"/>
              </a:rPr>
              <a:t>https://doi.org/10.1210/jc.2018-01225</a:t>
            </a:r>
            <a:endParaRPr sz="1580"/>
          </a:p>
          <a:p>
            <a:pPr indent="-231774" lvl="1" marL="5486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80"/>
              <a:buChar char="❏"/>
            </a:pPr>
            <a:r>
              <a:t/>
            </a:r>
            <a:endParaRPr b="1" sz="1580"/>
          </a:p>
          <a:p>
            <a:pPr indent="-267970" lvl="0" marL="274320" rtl="0" algn="l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SzPts val="1447"/>
              <a:buChar char="❏"/>
            </a:pPr>
            <a:r>
              <a:rPr b="1" lang="es-AR" sz="1720"/>
              <a:t>Guidelines for the Management of Asymptomatic Primary Hyperparathyroidism: Summary Statement from the Fourth International Workshop</a:t>
            </a:r>
            <a:endParaRPr sz="1720"/>
          </a:p>
          <a:p>
            <a:pPr indent="-222250" lvl="1" marL="54864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SzPts val="1328"/>
              <a:buChar char="❏"/>
            </a:pPr>
            <a:r>
              <a:rPr i="1" lang="es-AR" sz="1580"/>
              <a:t>The Journal of Clinical Endocrinology &amp; Metabolism</a:t>
            </a:r>
            <a:r>
              <a:rPr lang="es-AR" sz="1580"/>
              <a:t>, Volume 99, Issue 10, 1 October 2014, Pages 3561–3569, </a:t>
            </a:r>
            <a:r>
              <a:rPr lang="es-AR" sz="1580" u="sng">
                <a:solidFill>
                  <a:schemeClr val="hlink"/>
                </a:solidFill>
                <a:hlinkClick r:id="rId6"/>
              </a:rPr>
              <a:t>https://doi.org/10.1210/jc.2014-1413</a:t>
            </a:r>
            <a:endParaRPr b="1" sz="15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2019-11-07T00:28:58Z</dcterms:created>
  <dc:creator>Usuario Digital</dc:creator>
</cp:coreProperties>
</file>