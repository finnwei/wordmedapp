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913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  <p:sldLayoutId id="2147483671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657615"/>
          </a:xfrm>
          <a:prstGeom prst="rect">
            <a:avLst/>
          </a:prstGeom>
        </p:spPr>
        <p:txBody>
          <a:bodyPr vert="horz" wrap="square" lIns="0" tIns="209295" rIns="0" bIns="0" rtlCol="0">
            <a:spAutoFit/>
          </a:bodyPr>
          <a:lstStyle/>
          <a:p>
            <a:pPr marL="1927225">
              <a:lnSpc>
                <a:spcPct val="100000"/>
              </a:lnSpc>
              <a:spcBef>
                <a:spcPts val="105"/>
              </a:spcBef>
            </a:pPr>
            <a:r>
              <a:rPr lang="es-ES" sz="2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MEDICINA</a:t>
            </a:r>
            <a:r>
              <a:rPr lang="es-ES" sz="2900" b="1" spc="-1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</a:t>
            </a:r>
            <a:r>
              <a:rPr lang="es-ES" sz="2900" b="1" spc="-8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900" b="1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endParaRPr lang="es-ES" sz="2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17290" y="2448654"/>
            <a:ext cx="7112509" cy="29579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60755" marR="942340" algn="ctr">
              <a:lnSpc>
                <a:spcPct val="146200"/>
              </a:lnSpc>
              <a:spcBef>
                <a:spcPts val="105"/>
              </a:spcBef>
            </a:pPr>
            <a:r>
              <a:rPr lang="es-ES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</a:t>
            </a:r>
            <a:r>
              <a:rPr lang="es-ES" sz="1800" b="1" spc="-7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ES" sz="1800" b="1" spc="-3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CIENCIAS</a:t>
            </a:r>
            <a:r>
              <a:rPr lang="es-ES" sz="1800" b="1" spc="-5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MÉDICAS</a:t>
            </a:r>
          </a:p>
          <a:p>
            <a:pPr marL="960755" marR="942340" algn="ctr">
              <a:lnSpc>
                <a:spcPct val="146200"/>
              </a:lnSpc>
              <a:spcBef>
                <a:spcPts val="105"/>
              </a:spcBef>
            </a:pPr>
            <a:r>
              <a:rPr lang="es-ES" sz="1800" b="1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UNIVERSIDAD</a:t>
            </a:r>
            <a:r>
              <a:rPr lang="es-ES" sz="1800" b="1" spc="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ES" sz="1800" b="1" spc="-6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MENDOZA  </a:t>
            </a:r>
            <a:r>
              <a:rPr lang="es-ES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SEDE</a:t>
            </a:r>
            <a:r>
              <a:rPr lang="es-ES" sz="1800" b="1" spc="-9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</a:t>
            </a:r>
            <a:r>
              <a:rPr lang="es-ES" sz="1800" b="1" spc="-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RAFAEL</a:t>
            </a:r>
            <a:endParaRPr lang="es-ES" sz="18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40" algn="ctr">
              <a:lnSpc>
                <a:spcPct val="100000"/>
              </a:lnSpc>
              <a:spcBef>
                <a:spcPts val="1380"/>
              </a:spcBef>
            </a:pPr>
            <a:endParaRPr lang="es-ES" sz="18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endParaRPr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525" algn="ctr">
              <a:lnSpc>
                <a:spcPct val="100000"/>
              </a:lnSpc>
            </a:pPr>
            <a:r>
              <a:rPr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ENDOCRINOLOGÍA</a:t>
            </a:r>
            <a:r>
              <a:rPr sz="1800" b="1" spc="-16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800" b="1" spc="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DIABETOLOGÍA</a:t>
            </a:r>
            <a:endParaRPr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</a:t>
            </a:r>
            <a:r>
              <a:rPr sz="1800" b="1" spc="-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Roberto</a:t>
            </a:r>
            <a:r>
              <a:rPr sz="1800" b="1" spc="-4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</a:t>
            </a:r>
            <a:r>
              <a:rPr sz="1800" b="1" spc="-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Pelayes</a:t>
            </a:r>
            <a:r>
              <a:rPr sz="1800" b="1" spc="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800" b="1" spc="-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</a:t>
            </a:r>
            <a:r>
              <a:rPr sz="1800" b="1" spc="-229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Adjunto</a:t>
            </a:r>
            <a:r>
              <a:rPr sz="1800" b="1" spc="-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Cargo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59" y="569976"/>
            <a:ext cx="1970531" cy="112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05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1" y="624110"/>
            <a:ext cx="8229600" cy="659154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810510">
              <a:lnSpc>
                <a:spcPct val="100000"/>
              </a:lnSpc>
              <a:spcBef>
                <a:spcPts val="105"/>
              </a:spcBef>
            </a:pPr>
            <a:r>
              <a:rPr sz="36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PROLACTINA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946" y="2373629"/>
            <a:ext cx="10069195" cy="39497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2D050"/>
              </a:buClr>
              <a:buSzPct val="79166"/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Es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una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proteína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199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a.a.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(PM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23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KDa)</a:t>
            </a:r>
            <a:r>
              <a:rPr sz="2400" b="1" spc="-25" dirty="0">
                <a:latin typeface="Arial"/>
                <a:cs typeface="Arial"/>
              </a:rPr>
              <a:t> 85%</a:t>
            </a:r>
            <a:endParaRPr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1680"/>
              </a:spcBef>
              <a:buClr>
                <a:srgbClr val="92D050"/>
              </a:buClr>
              <a:buFont typeface="Wingdings" panose="05000000000000000000" pitchFamily="2" charset="2"/>
              <a:buChar char="Ø"/>
            </a:pP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92D050"/>
              </a:buClr>
              <a:buSzPct val="79166"/>
              <a:buFont typeface="Wingdings" panose="05000000000000000000" pitchFamily="2" charset="2"/>
              <a:buChar char="Ø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Big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PRL</a:t>
            </a:r>
            <a:r>
              <a:rPr sz="2400" b="1" spc="-1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(PM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50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KDa)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10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15%</a:t>
            </a:r>
            <a:endParaRPr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2070"/>
              </a:spcBef>
              <a:buClr>
                <a:srgbClr val="92D050"/>
              </a:buClr>
              <a:buFont typeface="Wingdings" panose="05000000000000000000" pitchFamily="2" charset="2"/>
              <a:buChar char="Ø"/>
            </a:pPr>
            <a:endParaRPr sz="2400" dirty="0">
              <a:latin typeface="Arial"/>
              <a:cs typeface="Arial"/>
            </a:endParaRPr>
          </a:p>
          <a:p>
            <a:pPr marL="355600" marR="5080" indent="-342900">
              <a:lnSpc>
                <a:spcPts val="2600"/>
              </a:lnSpc>
              <a:spcBef>
                <a:spcPts val="5"/>
              </a:spcBef>
              <a:buClr>
                <a:srgbClr val="92D050"/>
              </a:buClr>
              <a:buSzPct val="79166"/>
              <a:buFont typeface="Wingdings" panose="05000000000000000000" pitchFamily="2" charset="2"/>
              <a:buChar char="Ø"/>
              <a:tabLst>
                <a:tab pos="355600" algn="l"/>
                <a:tab pos="895985" algn="l"/>
              </a:tabLst>
            </a:pPr>
            <a:r>
              <a:rPr sz="2400" b="1" dirty="0">
                <a:latin typeface="Arial"/>
                <a:cs typeface="Arial"/>
              </a:rPr>
              <a:t>Big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Big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PRL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(PM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150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KDa)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FF00"/>
                </a:solidFill>
                <a:latin typeface="Arial"/>
                <a:cs typeface="Arial"/>
              </a:rPr>
              <a:t>MACROPROLACTINA</a:t>
            </a:r>
            <a:r>
              <a:rPr sz="2400" b="1" spc="-1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(unión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PRL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a </a:t>
            </a:r>
            <a:r>
              <a:rPr sz="2400" b="1" spc="-25" dirty="0">
                <a:latin typeface="Arial"/>
                <a:cs typeface="Arial"/>
              </a:rPr>
              <a:t>un</a:t>
            </a:r>
            <a:r>
              <a:rPr sz="2400" b="1" dirty="0">
                <a:latin typeface="Arial"/>
                <a:cs typeface="Arial"/>
              </a:rPr>
              <a:t>	anticuerpo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Ig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glucosilación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 la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PRL</a:t>
            </a:r>
            <a:r>
              <a:rPr sz="2400" b="1" spc="-1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monomérica)</a:t>
            </a:r>
            <a:endParaRPr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2055"/>
              </a:spcBef>
              <a:buClr>
                <a:srgbClr val="92D050"/>
              </a:buClr>
              <a:buFont typeface="Wingdings" panose="05000000000000000000" pitchFamily="2" charset="2"/>
              <a:buChar char="Ø"/>
            </a:pPr>
            <a:endParaRPr sz="2400" dirty="0">
              <a:latin typeface="Arial"/>
              <a:cs typeface="Arial"/>
            </a:endParaRPr>
          </a:p>
          <a:p>
            <a:pPr marL="355600" marR="930275" indent="-342900">
              <a:lnSpc>
                <a:spcPts val="2590"/>
              </a:lnSpc>
              <a:buClr>
                <a:srgbClr val="92D050"/>
              </a:buClr>
              <a:buSzPct val="79166"/>
              <a:buFont typeface="Wingdings" panose="05000000000000000000" pitchFamily="2" charset="2"/>
              <a:buChar char="Ø"/>
              <a:tabLst>
                <a:tab pos="355600" algn="l"/>
                <a:tab pos="1827530" algn="l"/>
              </a:tabLst>
            </a:pPr>
            <a:r>
              <a:rPr sz="2400" b="1" dirty="0">
                <a:latin typeface="Arial"/>
                <a:cs typeface="Arial"/>
              </a:rPr>
              <a:t>El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PRL-</a:t>
            </a:r>
            <a:r>
              <a:rPr sz="2400" b="1" spc="-50" dirty="0">
                <a:latin typeface="Arial"/>
                <a:cs typeface="Arial"/>
              </a:rPr>
              <a:t>R</a:t>
            </a:r>
            <a:r>
              <a:rPr sz="2400" b="1" dirty="0">
                <a:latin typeface="Arial"/>
                <a:cs typeface="Arial"/>
              </a:rPr>
              <a:t>	es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familia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citoquinas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tipo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y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puede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ser </a:t>
            </a:r>
            <a:r>
              <a:rPr sz="2400" b="1" dirty="0">
                <a:latin typeface="Arial"/>
                <a:cs typeface="Arial"/>
              </a:rPr>
              <a:t>activado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por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GH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y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hPL.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144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0" y="609600"/>
            <a:ext cx="9216487" cy="963853"/>
          </a:xfrm>
          <a:prstGeom prst="rect">
            <a:avLst/>
          </a:prstGeom>
        </p:spPr>
        <p:txBody>
          <a:bodyPr vert="horz" wrap="square" lIns="0" tIns="405891" rIns="0" bIns="0" rtlCol="0">
            <a:spAutoFit/>
          </a:bodyPr>
          <a:lstStyle/>
          <a:p>
            <a:pPr marL="1395095">
              <a:lnSpc>
                <a:spcPct val="100000"/>
              </a:lnSpc>
              <a:spcBef>
                <a:spcPts val="105"/>
              </a:spcBef>
            </a:pPr>
            <a:r>
              <a:rPr b="1" spc="-30" dirty="0">
                <a:solidFill>
                  <a:schemeClr val="tx1"/>
                </a:solidFill>
              </a:rPr>
              <a:t>VALORES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NORMALES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49096" y="2596895"/>
            <a:ext cx="9867265" cy="4022090"/>
            <a:chOff x="1149096" y="2596895"/>
            <a:chExt cx="9867265" cy="4022090"/>
          </a:xfrm>
        </p:grpSpPr>
        <p:sp>
          <p:nvSpPr>
            <p:cNvPr id="4" name="object 4"/>
            <p:cNvSpPr/>
            <p:nvPr/>
          </p:nvSpPr>
          <p:spPr>
            <a:xfrm>
              <a:off x="1155192" y="2602991"/>
              <a:ext cx="9852660" cy="3996054"/>
            </a:xfrm>
            <a:custGeom>
              <a:avLst/>
              <a:gdLst/>
              <a:ahLst/>
              <a:cxnLst/>
              <a:rect l="l" t="t" r="r" b="b"/>
              <a:pathLst>
                <a:path w="9852660" h="3996054">
                  <a:moveTo>
                    <a:pt x="9852279" y="0"/>
                  </a:moveTo>
                  <a:lnTo>
                    <a:pt x="0" y="0"/>
                  </a:lnTo>
                  <a:lnTo>
                    <a:pt x="0" y="3995547"/>
                  </a:lnTo>
                  <a:lnTo>
                    <a:pt x="9852279" y="3995547"/>
                  </a:lnTo>
                  <a:lnTo>
                    <a:pt x="9852279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9096" y="2596895"/>
              <a:ext cx="9865995" cy="4021454"/>
            </a:xfrm>
            <a:custGeom>
              <a:avLst/>
              <a:gdLst/>
              <a:ahLst/>
              <a:cxnLst/>
              <a:rect l="l" t="t" r="r" b="b"/>
              <a:pathLst>
                <a:path w="9865995" h="4021454">
                  <a:moveTo>
                    <a:pt x="3290824" y="0"/>
                  </a:moveTo>
                  <a:lnTo>
                    <a:pt x="3290824" y="4021404"/>
                  </a:lnTo>
                </a:path>
                <a:path w="9865995" h="4021454">
                  <a:moveTo>
                    <a:pt x="6575171" y="0"/>
                  </a:moveTo>
                  <a:lnTo>
                    <a:pt x="6575171" y="4021404"/>
                  </a:lnTo>
                </a:path>
                <a:path w="9865995" h="4021454">
                  <a:moveTo>
                    <a:pt x="6350" y="0"/>
                  </a:moveTo>
                  <a:lnTo>
                    <a:pt x="6350" y="4021404"/>
                  </a:lnTo>
                </a:path>
                <a:path w="9865995" h="4021454">
                  <a:moveTo>
                    <a:pt x="9859645" y="0"/>
                  </a:moveTo>
                  <a:lnTo>
                    <a:pt x="9859645" y="4021404"/>
                  </a:lnTo>
                </a:path>
                <a:path w="9865995" h="4021454">
                  <a:moveTo>
                    <a:pt x="0" y="6350"/>
                  </a:moveTo>
                  <a:lnTo>
                    <a:pt x="9865995" y="6350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9858" y="6599681"/>
              <a:ext cx="9865995" cy="0"/>
            </a:xfrm>
            <a:custGeom>
              <a:avLst/>
              <a:gdLst/>
              <a:ahLst/>
              <a:cxnLst/>
              <a:rect l="l" t="t" r="r" b="b"/>
              <a:pathLst>
                <a:path w="9865995">
                  <a:moveTo>
                    <a:pt x="0" y="0"/>
                  </a:moveTo>
                  <a:lnTo>
                    <a:pt x="986599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61541" y="2609342"/>
            <a:ext cx="3272790" cy="2662267"/>
          </a:xfrm>
          <a:prstGeom prst="rect">
            <a:avLst/>
          </a:prstGeom>
          <a:solidFill>
            <a:srgbClr val="B3116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2800" dirty="0">
              <a:solidFill>
                <a:srgbClr val="92D050"/>
              </a:solidFill>
              <a:latin typeface="Times New Roman"/>
              <a:cs typeface="Times New Roman"/>
            </a:endParaRPr>
          </a:p>
          <a:p>
            <a:pPr marL="408940" marR="394335" algn="ctr">
              <a:lnSpc>
                <a:spcPct val="100000"/>
              </a:lnSpc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Mujeres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embarazadas 2-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6015" y="2609342"/>
            <a:ext cx="3272154" cy="3971290"/>
          </a:xfrm>
          <a:prstGeom prst="rect">
            <a:avLst/>
          </a:prstGeom>
          <a:solidFill>
            <a:srgbClr val="B3116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2800">
              <a:latin typeface="Times New Roman"/>
              <a:cs typeface="Times New Roman"/>
            </a:endParaRPr>
          </a:p>
          <a:p>
            <a:pPr marL="370205" marR="353695" indent="-2540" algn="ctr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Mujeres embarazadas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80</a:t>
            </a:r>
            <a:r>
              <a:rPr sz="2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400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30363" y="2609342"/>
            <a:ext cx="3272790" cy="3971290"/>
          </a:xfrm>
          <a:prstGeom prst="rect">
            <a:avLst/>
          </a:prstGeom>
          <a:solidFill>
            <a:srgbClr val="B3116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32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Hombres</a:t>
            </a:r>
            <a:endParaRPr sz="3200">
              <a:latin typeface="Arial"/>
              <a:cs typeface="Arial"/>
            </a:endParaRPr>
          </a:p>
          <a:p>
            <a:pPr marL="361950">
              <a:lnSpc>
                <a:spcPct val="100000"/>
              </a:lnSpc>
              <a:tabLst>
                <a:tab pos="812800" algn="l"/>
              </a:tabLst>
            </a:pP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-</a:t>
            </a:r>
            <a:r>
              <a:rPr sz="32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r>
              <a:rPr sz="32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sz="32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95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1" y="624110"/>
            <a:ext cx="9218612" cy="690829"/>
          </a:xfrm>
          <a:prstGeom prst="rect">
            <a:avLst/>
          </a:prstGeom>
        </p:spPr>
        <p:txBody>
          <a:bodyPr vert="horz" wrap="square" lIns="0" tIns="196468" rIns="0" bIns="0" rtlCol="0">
            <a:spAutoFit/>
          </a:bodyPr>
          <a:lstStyle/>
          <a:p>
            <a:pPr marL="1826895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HIPERPROLACTINEMIA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443" y="2506196"/>
            <a:ext cx="10885170" cy="41235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3014345" indent="-342900">
              <a:lnSpc>
                <a:spcPts val="2400"/>
              </a:lnSpc>
              <a:spcBef>
                <a:spcPts val="375"/>
              </a:spcBef>
              <a:buClr>
                <a:srgbClr val="B31166"/>
              </a:buClr>
              <a:buSzPct val="79545"/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b="1" dirty="0">
                <a:latin typeface="Arial"/>
                <a:cs typeface="Arial"/>
              </a:rPr>
              <a:t>Es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la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alteración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hipotálamo-</a:t>
            </a:r>
            <a:r>
              <a:rPr sz="2200" b="1" dirty="0">
                <a:latin typeface="Arial"/>
                <a:cs typeface="Arial"/>
              </a:rPr>
              <a:t>hipofisaria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más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frecuente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spc="-25" dirty="0">
                <a:latin typeface="Arial"/>
                <a:cs typeface="Arial"/>
              </a:rPr>
              <a:t>en </a:t>
            </a:r>
            <a:r>
              <a:rPr sz="2200" b="1" dirty="0" err="1">
                <a:latin typeface="Arial"/>
                <a:cs typeface="Arial"/>
              </a:rPr>
              <a:t>endocrinología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dirty="0" err="1" smtClean="0">
                <a:latin typeface="Arial"/>
                <a:cs typeface="Arial"/>
              </a:rPr>
              <a:t>clínica</a:t>
            </a:r>
            <a:r>
              <a:rPr lang="es-ES" sz="2200" b="1" dirty="0" smtClean="0">
                <a:latin typeface="Arial"/>
                <a:cs typeface="Arial"/>
              </a:rPr>
              <a:t>.</a:t>
            </a:r>
          </a:p>
          <a:p>
            <a:pPr marL="355600" marR="3014345" indent="-342900">
              <a:lnSpc>
                <a:spcPts val="2400"/>
              </a:lnSpc>
              <a:spcBef>
                <a:spcPts val="375"/>
              </a:spcBef>
              <a:buClr>
                <a:srgbClr val="B31166"/>
              </a:buClr>
              <a:buSzPct val="79545"/>
              <a:buFont typeface="Wingdings" panose="05000000000000000000" pitchFamily="2" charset="2"/>
              <a:buChar char="Ø"/>
              <a:tabLst>
                <a:tab pos="355600" algn="l"/>
              </a:tabLst>
            </a:pPr>
            <a:endParaRPr lang="es-ES" sz="2200" b="1" u="heavy" dirty="0">
              <a:uFill>
                <a:solidFill>
                  <a:srgbClr val="FF0000"/>
                </a:solidFill>
              </a:uFill>
              <a:latin typeface="Arial"/>
              <a:cs typeface="Arial"/>
            </a:endParaRPr>
          </a:p>
          <a:p>
            <a:pPr marL="355600" marR="3014345" indent="-342900">
              <a:lnSpc>
                <a:spcPts val="2400"/>
              </a:lnSpc>
              <a:spcBef>
                <a:spcPts val="375"/>
              </a:spcBef>
              <a:buClr>
                <a:srgbClr val="B31166"/>
              </a:buClr>
              <a:buSzPct val="79545"/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s-ES" sz="2200" b="1" dirty="0" smtClean="0"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Los P</a:t>
            </a:r>
            <a:r>
              <a:rPr sz="2000" b="1" dirty="0" err="1" smtClean="0"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rolactinomas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200" b="1" spc="-25" dirty="0" smtClean="0">
                <a:latin typeface="Arial"/>
                <a:cs typeface="Arial"/>
              </a:rPr>
              <a:t>son</a:t>
            </a:r>
            <a:r>
              <a:rPr lang="es-ES" sz="2200" dirty="0">
                <a:latin typeface="Arial"/>
                <a:cs typeface="Arial"/>
              </a:rPr>
              <a:t> </a:t>
            </a:r>
            <a:r>
              <a:rPr sz="2200" b="1" dirty="0" smtClean="0">
                <a:latin typeface="Arial"/>
                <a:cs typeface="Arial"/>
              </a:rPr>
              <a:t>los</a:t>
            </a:r>
            <a:r>
              <a:rPr sz="2200" b="1" spc="-55" dirty="0" smtClean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tumores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 err="1">
                <a:latin typeface="Arial"/>
                <a:cs typeface="Arial"/>
              </a:rPr>
              <a:t>hipofisarios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dirty="0" err="1" smtClean="0">
                <a:latin typeface="Arial"/>
                <a:cs typeface="Arial"/>
              </a:rPr>
              <a:t>más</a:t>
            </a:r>
            <a:r>
              <a:rPr lang="es-ES" sz="2200" b="1" spc="-45" dirty="0">
                <a:latin typeface="Arial"/>
                <a:cs typeface="Arial"/>
              </a:rPr>
              <a:t> </a:t>
            </a:r>
            <a:r>
              <a:rPr sz="2200" b="1" dirty="0" err="1" smtClean="0">
                <a:latin typeface="Arial"/>
                <a:cs typeface="Arial"/>
              </a:rPr>
              <a:t>comunes</a:t>
            </a:r>
            <a:r>
              <a:rPr sz="2200" b="1" spc="-80" dirty="0" smtClean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representando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más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del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50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%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del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total.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2200" dirty="0">
              <a:latin typeface="Arial"/>
              <a:cs typeface="Arial"/>
            </a:endParaRPr>
          </a:p>
          <a:p>
            <a:pPr marL="355600" marR="389890" indent="-342900">
              <a:lnSpc>
                <a:spcPts val="2600"/>
              </a:lnSpc>
              <a:buClr>
                <a:srgbClr val="B31166"/>
              </a:buClr>
              <a:buSzPct val="79545"/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b="1" dirty="0">
                <a:latin typeface="Arial"/>
                <a:cs typeface="Arial"/>
              </a:rPr>
              <a:t>La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prolactina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es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segregada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en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diversas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situaciones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fisiológicas,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en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especial </a:t>
            </a:r>
            <a:r>
              <a:rPr sz="2200" b="1" dirty="0">
                <a:latin typeface="Arial"/>
                <a:cs typeface="Arial"/>
              </a:rPr>
              <a:t>durante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el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dirty="0" err="1" smtClean="0">
                <a:latin typeface="Arial"/>
                <a:cs typeface="Arial"/>
              </a:rPr>
              <a:t>embarazo</a:t>
            </a:r>
            <a:r>
              <a:rPr lang="es-ES" sz="2200" b="1" spc="-65" dirty="0">
                <a:latin typeface="Arial"/>
                <a:cs typeface="Arial"/>
              </a:rPr>
              <a:t>,</a:t>
            </a:r>
            <a:r>
              <a:rPr sz="2200" b="1" spc="-35" dirty="0" smtClean="0">
                <a:latin typeface="Arial"/>
                <a:cs typeface="Arial"/>
              </a:rPr>
              <a:t> </a:t>
            </a:r>
            <a:r>
              <a:rPr sz="2200" b="1" dirty="0" err="1" smtClean="0">
                <a:latin typeface="Arial"/>
                <a:cs typeface="Arial"/>
              </a:rPr>
              <a:t>lactancia</a:t>
            </a:r>
            <a:r>
              <a:rPr sz="2200" b="1" dirty="0">
                <a:latin typeface="Arial"/>
                <a:cs typeface="Arial"/>
              </a:rPr>
              <a:t>,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el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sueño,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el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ejercicio</a:t>
            </a:r>
            <a:endParaRPr sz="2200" dirty="0">
              <a:latin typeface="Arial"/>
              <a:cs typeface="Arial"/>
            </a:endParaRPr>
          </a:p>
          <a:p>
            <a:pPr marL="355600">
              <a:lnSpc>
                <a:spcPts val="2325"/>
              </a:lnSpc>
            </a:pPr>
            <a:r>
              <a:rPr sz="2200" b="1" dirty="0">
                <a:latin typeface="Arial"/>
                <a:cs typeface="Arial"/>
              </a:rPr>
              <a:t>físico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y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spc="-10" dirty="0" err="1" smtClean="0">
                <a:latin typeface="Arial"/>
                <a:cs typeface="Arial"/>
              </a:rPr>
              <a:t>estrés</a:t>
            </a:r>
            <a:endParaRPr sz="22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1985"/>
              </a:spcBef>
              <a:buFont typeface="Wingdings" panose="05000000000000000000" pitchFamily="2" charset="2"/>
              <a:buChar char="Ø"/>
            </a:pPr>
            <a:endParaRPr sz="2200" dirty="0">
              <a:latin typeface="Arial"/>
              <a:cs typeface="Arial"/>
            </a:endParaRPr>
          </a:p>
          <a:p>
            <a:pPr marL="12700" marR="5080">
              <a:lnSpc>
                <a:spcPts val="2400"/>
              </a:lnSpc>
              <a:buClr>
                <a:srgbClr val="B31166"/>
              </a:buClr>
              <a:buSzPct val="79545"/>
              <a:tabLst>
                <a:tab pos="355600" algn="l"/>
              </a:tabLst>
            </a:pPr>
            <a:endParaRPr sz="2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156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1" y="624110"/>
            <a:ext cx="9294812" cy="781367"/>
          </a:xfrm>
          <a:prstGeom prst="rect">
            <a:avLst/>
          </a:prstGeom>
        </p:spPr>
        <p:txBody>
          <a:bodyPr vert="horz" wrap="square" lIns="0" tIns="286130" rIns="0" bIns="0" rtlCol="0">
            <a:spAutoFit/>
          </a:bodyPr>
          <a:lstStyle/>
          <a:p>
            <a:pPr marL="1826895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HIPERPROLACTINEMIA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474" y="2519298"/>
            <a:ext cx="10765790" cy="3279102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marR="5080" indent="-342900">
              <a:lnSpc>
                <a:spcPts val="2610"/>
              </a:lnSpc>
              <a:spcBef>
                <a:spcPts val="409"/>
              </a:spcBef>
              <a:buClr>
                <a:srgbClr val="B31166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En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45" dirty="0">
                <a:latin typeface="Arial"/>
                <a:cs typeface="Arial"/>
              </a:rPr>
              <a:t>mujer,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manifestaciones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clínicas,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consisten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frecuencia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en </a:t>
            </a:r>
            <a:r>
              <a:rPr sz="2400" b="1" dirty="0">
                <a:latin typeface="Arial"/>
                <a:cs typeface="Arial"/>
              </a:rPr>
              <a:t>anomalías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menstruales,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como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oligomenorrea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amenorrea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secundaria</a:t>
            </a:r>
            <a:r>
              <a:rPr sz="2400" b="1" spc="-50" dirty="0">
                <a:latin typeface="Arial"/>
                <a:cs typeface="Arial"/>
              </a:rPr>
              <a:t> e </a:t>
            </a:r>
            <a:r>
              <a:rPr sz="2400" b="1" dirty="0">
                <a:latin typeface="Arial"/>
                <a:cs typeface="Arial"/>
              </a:rPr>
              <a:t>infertilidad.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El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40-</a:t>
            </a:r>
            <a:r>
              <a:rPr sz="2400" b="1" dirty="0">
                <a:latin typeface="Arial"/>
                <a:cs typeface="Arial"/>
              </a:rPr>
              <a:t>80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%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presentan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galactorrea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espontánea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provocada.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9"/>
              </a:spcBef>
              <a:buClr>
                <a:srgbClr val="B31166"/>
              </a:buClr>
              <a:buFont typeface="Wingdings"/>
              <a:buChar char=""/>
            </a:pPr>
            <a:endParaRPr sz="2400" dirty="0">
              <a:latin typeface="Arial"/>
              <a:cs typeface="Arial"/>
            </a:endParaRPr>
          </a:p>
          <a:p>
            <a:pPr marL="355600" marR="1030605" indent="-342900">
              <a:lnSpc>
                <a:spcPts val="2700"/>
              </a:lnSpc>
              <a:buClr>
                <a:srgbClr val="B31166"/>
              </a:buClr>
              <a:buSzPct val="79166"/>
              <a:buFont typeface="Wingdings"/>
              <a:buChar char="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En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el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varón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las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manifestaciones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clínicas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son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pérdida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libido, </a:t>
            </a:r>
            <a:r>
              <a:rPr sz="2400" b="1" dirty="0">
                <a:latin typeface="Arial"/>
                <a:cs typeface="Arial"/>
              </a:rPr>
              <a:t>impotencia,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reducción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del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fluido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seminal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infertilidad.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75"/>
              </a:spcBef>
              <a:buClr>
                <a:srgbClr val="B31166"/>
              </a:buClr>
              <a:buFont typeface="Wingdings"/>
              <a:buChar char=""/>
            </a:pPr>
            <a:endParaRPr sz="2400" dirty="0">
              <a:latin typeface="Arial"/>
              <a:cs typeface="Arial"/>
            </a:endParaRPr>
          </a:p>
          <a:p>
            <a:pPr marL="12700" marR="233045">
              <a:lnSpc>
                <a:spcPts val="2700"/>
              </a:lnSpc>
              <a:spcBef>
                <a:spcPts val="5"/>
              </a:spcBef>
              <a:buClr>
                <a:srgbClr val="B31166"/>
              </a:buClr>
              <a:buSzPct val="79166"/>
              <a:tabLst>
                <a:tab pos="355600" algn="l"/>
              </a:tabLst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088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1" y="624110"/>
            <a:ext cx="952341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19145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CLINÍCA</a:t>
            </a:r>
          </a:p>
        </p:txBody>
      </p:sp>
      <p:sp>
        <p:nvSpPr>
          <p:cNvPr id="3" name="object 3"/>
          <p:cNvSpPr/>
          <p:nvPr/>
        </p:nvSpPr>
        <p:spPr>
          <a:xfrm>
            <a:off x="694722" y="1604665"/>
            <a:ext cx="10843005" cy="5082540"/>
          </a:xfrm>
          <a:custGeom>
            <a:avLst/>
            <a:gdLst/>
            <a:ahLst/>
            <a:cxnLst/>
            <a:rect l="l" t="t" r="r" b="b"/>
            <a:pathLst>
              <a:path w="11210290" h="5082540">
                <a:moveTo>
                  <a:pt x="11210163" y="0"/>
                </a:moveTo>
                <a:lnTo>
                  <a:pt x="0" y="0"/>
                </a:lnTo>
                <a:lnTo>
                  <a:pt x="0" y="5082540"/>
                </a:lnTo>
                <a:lnTo>
                  <a:pt x="11210163" y="5082540"/>
                </a:lnTo>
                <a:lnTo>
                  <a:pt x="112101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13354" y="1667001"/>
            <a:ext cx="5591810" cy="12966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3818254" algn="l"/>
              </a:tabLst>
            </a:pPr>
            <a:r>
              <a:rPr sz="2400" b="1" dirty="0">
                <a:solidFill>
                  <a:srgbClr val="006EC0"/>
                </a:solidFill>
                <a:latin typeface="Arial"/>
                <a:cs typeface="Arial"/>
              </a:rPr>
              <a:t>Exceso</a:t>
            </a:r>
            <a:r>
              <a:rPr sz="2400" b="1" spc="-50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EC0"/>
                </a:solidFill>
                <a:latin typeface="Arial"/>
                <a:cs typeface="Arial"/>
              </a:rPr>
              <a:t>de</a:t>
            </a:r>
            <a:r>
              <a:rPr sz="2400" b="1" spc="-65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6EC0"/>
                </a:solidFill>
                <a:latin typeface="Arial"/>
                <a:cs typeface="Arial"/>
              </a:rPr>
              <a:t>PRL</a:t>
            </a:r>
            <a:r>
              <a:rPr sz="2400" b="1" dirty="0">
                <a:solidFill>
                  <a:srgbClr val="006EC0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006EC0"/>
                </a:solidFill>
                <a:latin typeface="Arial"/>
                <a:cs typeface="Arial"/>
              </a:rPr>
              <a:t>lactotrópos:</a:t>
            </a:r>
            <a:endParaRPr sz="2400" dirty="0">
              <a:latin typeface="Arial"/>
              <a:cs typeface="Arial"/>
            </a:endParaRPr>
          </a:p>
          <a:p>
            <a:pPr marR="109220" algn="ctr">
              <a:lnSpc>
                <a:spcPct val="100000"/>
              </a:lnSpc>
              <a:spcBef>
                <a:spcPts val="760"/>
              </a:spcBef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sobre</a:t>
            </a:r>
            <a:r>
              <a:rPr sz="18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el</a:t>
            </a:r>
            <a:r>
              <a:rPr sz="18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tejido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mamario</a:t>
            </a:r>
            <a:r>
              <a:rPr sz="18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produciendo</a:t>
            </a:r>
            <a:r>
              <a:rPr sz="18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galactorrea.</a:t>
            </a:r>
            <a:endParaRPr sz="1800" dirty="0">
              <a:latin typeface="Arial"/>
              <a:cs typeface="Arial"/>
            </a:endParaRPr>
          </a:p>
          <a:p>
            <a:pPr marR="114935" algn="ctr">
              <a:lnSpc>
                <a:spcPct val="100000"/>
              </a:lnSpc>
              <a:spcBef>
                <a:spcPts val="1040"/>
              </a:spcBef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inhibe</a:t>
            </a:r>
            <a:r>
              <a:rPr sz="18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la</a:t>
            </a:r>
            <a:r>
              <a:rPr sz="18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secreción</a:t>
            </a:r>
            <a:r>
              <a:rPr sz="18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pulsátil</a:t>
            </a:r>
            <a:r>
              <a:rPr sz="18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18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Arial"/>
                <a:cs typeface="Arial"/>
              </a:rPr>
              <a:t>GnRH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1813" y="3893057"/>
            <a:ext cx="8724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Alteración</a:t>
            </a:r>
            <a:r>
              <a:rPr sz="2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4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los</a:t>
            </a:r>
            <a:r>
              <a:rPr sz="24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pulsos</a:t>
            </a:r>
            <a:r>
              <a:rPr sz="24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secreción</a:t>
            </a:r>
            <a:r>
              <a:rPr sz="24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las</a:t>
            </a:r>
            <a:r>
              <a:rPr sz="24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/>
                <a:cs typeface="Arial"/>
              </a:rPr>
              <a:t>gonadotrofinas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5878" y="5865672"/>
            <a:ext cx="4712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Alteración</a:t>
            </a:r>
            <a:r>
              <a:rPr sz="2400" b="1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la</a:t>
            </a:r>
            <a:r>
              <a:rPr sz="2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función</a:t>
            </a:r>
            <a:r>
              <a:rPr sz="24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/>
                <a:cs typeface="Arial"/>
              </a:rPr>
              <a:t>gonadal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75105" y="1875789"/>
            <a:ext cx="5847715" cy="1225550"/>
            <a:chOff x="975105" y="1875789"/>
            <a:chExt cx="5847715" cy="1225550"/>
          </a:xfrm>
        </p:grpSpPr>
        <p:sp>
          <p:nvSpPr>
            <p:cNvPr id="8" name="object 8"/>
            <p:cNvSpPr/>
            <p:nvPr/>
          </p:nvSpPr>
          <p:spPr>
            <a:xfrm>
              <a:off x="5647944" y="1885187"/>
              <a:ext cx="1163955" cy="354965"/>
            </a:xfrm>
            <a:custGeom>
              <a:avLst/>
              <a:gdLst/>
              <a:ahLst/>
              <a:cxnLst/>
              <a:rect l="l" t="t" r="r" b="b"/>
              <a:pathLst>
                <a:path w="1163954" h="354964">
                  <a:moveTo>
                    <a:pt x="986916" y="0"/>
                  </a:moveTo>
                  <a:lnTo>
                    <a:pt x="986916" y="88773"/>
                  </a:lnTo>
                  <a:lnTo>
                    <a:pt x="0" y="88773"/>
                  </a:lnTo>
                  <a:lnTo>
                    <a:pt x="0" y="266191"/>
                  </a:lnTo>
                  <a:lnTo>
                    <a:pt x="986916" y="266191"/>
                  </a:lnTo>
                  <a:lnTo>
                    <a:pt x="986916" y="354964"/>
                  </a:lnTo>
                  <a:lnTo>
                    <a:pt x="1163827" y="177546"/>
                  </a:lnTo>
                  <a:lnTo>
                    <a:pt x="986916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48705" y="1885949"/>
              <a:ext cx="1163955" cy="354965"/>
            </a:xfrm>
            <a:custGeom>
              <a:avLst/>
              <a:gdLst/>
              <a:ahLst/>
              <a:cxnLst/>
              <a:rect l="l" t="t" r="r" b="b"/>
              <a:pathLst>
                <a:path w="1163954" h="354964">
                  <a:moveTo>
                    <a:pt x="0" y="88773"/>
                  </a:moveTo>
                  <a:lnTo>
                    <a:pt x="986917" y="88773"/>
                  </a:lnTo>
                  <a:lnTo>
                    <a:pt x="986917" y="0"/>
                  </a:lnTo>
                  <a:lnTo>
                    <a:pt x="1163827" y="177546"/>
                  </a:lnTo>
                  <a:lnTo>
                    <a:pt x="986917" y="354964"/>
                  </a:lnTo>
                  <a:lnTo>
                    <a:pt x="986917" y="266191"/>
                  </a:lnTo>
                  <a:lnTo>
                    <a:pt x="0" y="266191"/>
                  </a:lnTo>
                  <a:lnTo>
                    <a:pt x="0" y="88773"/>
                  </a:lnTo>
                  <a:close/>
                </a:path>
              </a:pathLst>
            </a:custGeom>
            <a:ln w="19812">
              <a:solidFill>
                <a:srgbClr val="8309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4503" y="2153411"/>
              <a:ext cx="2103120" cy="419100"/>
            </a:xfrm>
            <a:custGeom>
              <a:avLst/>
              <a:gdLst/>
              <a:ahLst/>
              <a:cxnLst/>
              <a:rect l="l" t="t" r="r" b="b"/>
              <a:pathLst>
                <a:path w="2103120" h="419100">
                  <a:moveTo>
                    <a:pt x="2033270" y="0"/>
                  </a:moveTo>
                  <a:lnTo>
                    <a:pt x="69634" y="0"/>
                  </a:lnTo>
                  <a:lnTo>
                    <a:pt x="42532" y="5461"/>
                  </a:lnTo>
                  <a:lnTo>
                    <a:pt x="20396" y="20447"/>
                  </a:lnTo>
                  <a:lnTo>
                    <a:pt x="5473" y="42672"/>
                  </a:lnTo>
                  <a:lnTo>
                    <a:pt x="0" y="69850"/>
                  </a:lnTo>
                  <a:lnTo>
                    <a:pt x="0" y="348996"/>
                  </a:lnTo>
                  <a:lnTo>
                    <a:pt x="5473" y="376174"/>
                  </a:lnTo>
                  <a:lnTo>
                    <a:pt x="20396" y="398399"/>
                  </a:lnTo>
                  <a:lnTo>
                    <a:pt x="42532" y="413385"/>
                  </a:lnTo>
                  <a:lnTo>
                    <a:pt x="69634" y="418846"/>
                  </a:lnTo>
                  <a:lnTo>
                    <a:pt x="2033270" y="418846"/>
                  </a:lnTo>
                  <a:lnTo>
                    <a:pt x="2060321" y="413385"/>
                  </a:lnTo>
                  <a:lnTo>
                    <a:pt x="2082546" y="398399"/>
                  </a:lnTo>
                  <a:lnTo>
                    <a:pt x="2097404" y="376174"/>
                  </a:lnTo>
                  <a:lnTo>
                    <a:pt x="2102866" y="348996"/>
                  </a:lnTo>
                  <a:lnTo>
                    <a:pt x="2102866" y="69850"/>
                  </a:lnTo>
                  <a:lnTo>
                    <a:pt x="2097404" y="42672"/>
                  </a:lnTo>
                  <a:lnTo>
                    <a:pt x="2082546" y="20447"/>
                  </a:lnTo>
                  <a:lnTo>
                    <a:pt x="2060321" y="5461"/>
                  </a:lnTo>
                  <a:lnTo>
                    <a:pt x="203327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5265" y="2154173"/>
              <a:ext cx="2103120" cy="419100"/>
            </a:xfrm>
            <a:custGeom>
              <a:avLst/>
              <a:gdLst/>
              <a:ahLst/>
              <a:cxnLst/>
              <a:rect l="l" t="t" r="r" b="b"/>
              <a:pathLst>
                <a:path w="2103120" h="419100">
                  <a:moveTo>
                    <a:pt x="0" y="69850"/>
                  </a:moveTo>
                  <a:lnTo>
                    <a:pt x="5473" y="42672"/>
                  </a:lnTo>
                  <a:lnTo>
                    <a:pt x="20396" y="20447"/>
                  </a:lnTo>
                  <a:lnTo>
                    <a:pt x="42532" y="5461"/>
                  </a:lnTo>
                  <a:lnTo>
                    <a:pt x="69634" y="0"/>
                  </a:lnTo>
                  <a:lnTo>
                    <a:pt x="2033270" y="0"/>
                  </a:lnTo>
                  <a:lnTo>
                    <a:pt x="2060321" y="5461"/>
                  </a:lnTo>
                  <a:lnTo>
                    <a:pt x="2082546" y="20447"/>
                  </a:lnTo>
                  <a:lnTo>
                    <a:pt x="2097404" y="42672"/>
                  </a:lnTo>
                  <a:lnTo>
                    <a:pt x="2102866" y="69850"/>
                  </a:lnTo>
                  <a:lnTo>
                    <a:pt x="2102866" y="348996"/>
                  </a:lnTo>
                  <a:lnTo>
                    <a:pt x="2097404" y="376174"/>
                  </a:lnTo>
                  <a:lnTo>
                    <a:pt x="2082546" y="398399"/>
                  </a:lnTo>
                  <a:lnTo>
                    <a:pt x="2060321" y="413385"/>
                  </a:lnTo>
                  <a:lnTo>
                    <a:pt x="2033270" y="418846"/>
                  </a:lnTo>
                  <a:lnTo>
                    <a:pt x="69634" y="418846"/>
                  </a:lnTo>
                  <a:lnTo>
                    <a:pt x="42532" y="413385"/>
                  </a:lnTo>
                  <a:lnTo>
                    <a:pt x="20396" y="398399"/>
                  </a:lnTo>
                  <a:lnTo>
                    <a:pt x="5473" y="376174"/>
                  </a:lnTo>
                  <a:lnTo>
                    <a:pt x="0" y="348996"/>
                  </a:lnTo>
                  <a:lnTo>
                    <a:pt x="0" y="69850"/>
                  </a:lnTo>
                  <a:close/>
                </a:path>
              </a:pathLst>
            </a:custGeom>
            <a:ln w="19812">
              <a:solidFill>
                <a:srgbClr val="8309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4503" y="2673095"/>
              <a:ext cx="2827020" cy="417195"/>
            </a:xfrm>
            <a:custGeom>
              <a:avLst/>
              <a:gdLst/>
              <a:ahLst/>
              <a:cxnLst/>
              <a:rect l="l" t="t" r="r" b="b"/>
              <a:pathLst>
                <a:path w="2827020" h="417194">
                  <a:moveTo>
                    <a:pt x="2757424" y="0"/>
                  </a:moveTo>
                  <a:lnTo>
                    <a:pt x="69367" y="0"/>
                  </a:lnTo>
                  <a:lnTo>
                    <a:pt x="42367" y="5461"/>
                  </a:lnTo>
                  <a:lnTo>
                    <a:pt x="20320" y="20319"/>
                  </a:lnTo>
                  <a:lnTo>
                    <a:pt x="5448" y="42417"/>
                  </a:lnTo>
                  <a:lnTo>
                    <a:pt x="0" y="69468"/>
                  </a:lnTo>
                  <a:lnTo>
                    <a:pt x="0" y="347599"/>
                  </a:lnTo>
                  <a:lnTo>
                    <a:pt x="5448" y="374650"/>
                  </a:lnTo>
                  <a:lnTo>
                    <a:pt x="20320" y="396748"/>
                  </a:lnTo>
                  <a:lnTo>
                    <a:pt x="42367" y="411606"/>
                  </a:lnTo>
                  <a:lnTo>
                    <a:pt x="69367" y="417067"/>
                  </a:lnTo>
                  <a:lnTo>
                    <a:pt x="2757424" y="417067"/>
                  </a:lnTo>
                  <a:lnTo>
                    <a:pt x="2784475" y="411606"/>
                  </a:lnTo>
                  <a:lnTo>
                    <a:pt x="2806446" y="396748"/>
                  </a:lnTo>
                  <a:lnTo>
                    <a:pt x="2821305" y="374650"/>
                  </a:lnTo>
                  <a:lnTo>
                    <a:pt x="2826766" y="347599"/>
                  </a:lnTo>
                  <a:lnTo>
                    <a:pt x="2826766" y="69468"/>
                  </a:lnTo>
                  <a:lnTo>
                    <a:pt x="2821305" y="42417"/>
                  </a:lnTo>
                  <a:lnTo>
                    <a:pt x="2806446" y="20319"/>
                  </a:lnTo>
                  <a:lnTo>
                    <a:pt x="2784475" y="5461"/>
                  </a:lnTo>
                  <a:lnTo>
                    <a:pt x="2757424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85265" y="2673857"/>
              <a:ext cx="2827020" cy="417195"/>
            </a:xfrm>
            <a:custGeom>
              <a:avLst/>
              <a:gdLst/>
              <a:ahLst/>
              <a:cxnLst/>
              <a:rect l="l" t="t" r="r" b="b"/>
              <a:pathLst>
                <a:path w="2827020" h="417194">
                  <a:moveTo>
                    <a:pt x="0" y="69468"/>
                  </a:moveTo>
                  <a:lnTo>
                    <a:pt x="5448" y="42417"/>
                  </a:lnTo>
                  <a:lnTo>
                    <a:pt x="20320" y="20319"/>
                  </a:lnTo>
                  <a:lnTo>
                    <a:pt x="42367" y="5461"/>
                  </a:lnTo>
                  <a:lnTo>
                    <a:pt x="69367" y="0"/>
                  </a:lnTo>
                  <a:lnTo>
                    <a:pt x="2757424" y="0"/>
                  </a:lnTo>
                  <a:lnTo>
                    <a:pt x="2784475" y="5461"/>
                  </a:lnTo>
                  <a:lnTo>
                    <a:pt x="2806446" y="20319"/>
                  </a:lnTo>
                  <a:lnTo>
                    <a:pt x="2821305" y="42417"/>
                  </a:lnTo>
                  <a:lnTo>
                    <a:pt x="2826766" y="69468"/>
                  </a:lnTo>
                  <a:lnTo>
                    <a:pt x="2826766" y="347599"/>
                  </a:lnTo>
                  <a:lnTo>
                    <a:pt x="2821305" y="374650"/>
                  </a:lnTo>
                  <a:lnTo>
                    <a:pt x="2806446" y="396747"/>
                  </a:lnTo>
                  <a:lnTo>
                    <a:pt x="2784475" y="411606"/>
                  </a:lnTo>
                  <a:lnTo>
                    <a:pt x="2757424" y="417067"/>
                  </a:lnTo>
                  <a:lnTo>
                    <a:pt x="69367" y="417067"/>
                  </a:lnTo>
                  <a:lnTo>
                    <a:pt x="42367" y="411606"/>
                  </a:lnTo>
                  <a:lnTo>
                    <a:pt x="20320" y="396747"/>
                  </a:lnTo>
                  <a:lnTo>
                    <a:pt x="5448" y="374650"/>
                  </a:lnTo>
                  <a:lnTo>
                    <a:pt x="0" y="347599"/>
                  </a:lnTo>
                  <a:lnTo>
                    <a:pt x="0" y="69468"/>
                  </a:lnTo>
                  <a:close/>
                </a:path>
              </a:pathLst>
            </a:custGeom>
            <a:ln w="19812">
              <a:solidFill>
                <a:srgbClr val="8309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97908" y="2201417"/>
            <a:ext cx="221742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Efecto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directo</a:t>
            </a:r>
            <a:endParaRPr sz="1800">
              <a:latin typeface="Arial"/>
              <a:cs typeface="Arial"/>
            </a:endParaRPr>
          </a:p>
          <a:p>
            <a:pPr marL="99060">
              <a:lnSpc>
                <a:spcPct val="100000"/>
              </a:lnSpc>
              <a:spcBef>
                <a:spcPts val="1980"/>
              </a:spcBef>
              <a:tabLst>
                <a:tab pos="1113790" algn="l"/>
              </a:tabLst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Efectos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indirectos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16167" y="3011423"/>
            <a:ext cx="420370" cy="2621280"/>
            <a:chOff x="5916167" y="3011423"/>
            <a:chExt cx="420370" cy="2621280"/>
          </a:xfrm>
        </p:grpSpPr>
        <p:sp>
          <p:nvSpPr>
            <p:cNvPr id="16" name="object 16"/>
            <p:cNvSpPr/>
            <p:nvPr/>
          </p:nvSpPr>
          <p:spPr>
            <a:xfrm>
              <a:off x="5992367" y="3020567"/>
              <a:ext cx="252729" cy="714375"/>
            </a:xfrm>
            <a:custGeom>
              <a:avLst/>
              <a:gdLst/>
              <a:ahLst/>
              <a:cxnLst/>
              <a:rect l="l" t="t" r="r" b="b"/>
              <a:pathLst>
                <a:path w="252729" h="714375">
                  <a:moveTo>
                    <a:pt x="211962" y="0"/>
                  </a:moveTo>
                  <a:lnTo>
                    <a:pt x="40640" y="0"/>
                  </a:lnTo>
                  <a:lnTo>
                    <a:pt x="40640" y="587629"/>
                  </a:lnTo>
                  <a:lnTo>
                    <a:pt x="0" y="587629"/>
                  </a:lnTo>
                  <a:lnTo>
                    <a:pt x="126365" y="714248"/>
                  </a:lnTo>
                  <a:lnTo>
                    <a:pt x="252603" y="587629"/>
                  </a:lnTo>
                  <a:lnTo>
                    <a:pt x="211962" y="587629"/>
                  </a:lnTo>
                  <a:lnTo>
                    <a:pt x="211962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93129" y="3021329"/>
              <a:ext cx="252729" cy="714375"/>
            </a:xfrm>
            <a:custGeom>
              <a:avLst/>
              <a:gdLst/>
              <a:ahLst/>
              <a:cxnLst/>
              <a:rect l="l" t="t" r="r" b="b"/>
              <a:pathLst>
                <a:path w="252729" h="714375">
                  <a:moveTo>
                    <a:pt x="0" y="587629"/>
                  </a:moveTo>
                  <a:lnTo>
                    <a:pt x="40640" y="587629"/>
                  </a:lnTo>
                  <a:lnTo>
                    <a:pt x="40640" y="0"/>
                  </a:lnTo>
                  <a:lnTo>
                    <a:pt x="211962" y="0"/>
                  </a:lnTo>
                  <a:lnTo>
                    <a:pt x="211962" y="587629"/>
                  </a:lnTo>
                  <a:lnTo>
                    <a:pt x="252603" y="587629"/>
                  </a:lnTo>
                  <a:lnTo>
                    <a:pt x="126365" y="714248"/>
                  </a:lnTo>
                  <a:lnTo>
                    <a:pt x="0" y="587629"/>
                  </a:lnTo>
                  <a:close/>
                </a:path>
              </a:pathLst>
            </a:custGeom>
            <a:ln w="19812">
              <a:solidFill>
                <a:srgbClr val="8309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25311" y="4381499"/>
              <a:ext cx="400685" cy="1240155"/>
            </a:xfrm>
            <a:custGeom>
              <a:avLst/>
              <a:gdLst/>
              <a:ahLst/>
              <a:cxnLst/>
              <a:rect l="l" t="t" r="r" b="b"/>
              <a:pathLst>
                <a:path w="400685" h="1240154">
                  <a:moveTo>
                    <a:pt x="300227" y="0"/>
                  </a:moveTo>
                  <a:lnTo>
                    <a:pt x="100075" y="0"/>
                  </a:lnTo>
                  <a:lnTo>
                    <a:pt x="100075" y="1039494"/>
                  </a:lnTo>
                  <a:lnTo>
                    <a:pt x="0" y="1039494"/>
                  </a:lnTo>
                  <a:lnTo>
                    <a:pt x="200151" y="1240028"/>
                  </a:lnTo>
                  <a:lnTo>
                    <a:pt x="400303" y="1039494"/>
                  </a:lnTo>
                  <a:lnTo>
                    <a:pt x="300227" y="1039494"/>
                  </a:lnTo>
                  <a:lnTo>
                    <a:pt x="300227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26073" y="4382261"/>
              <a:ext cx="400685" cy="1240155"/>
            </a:xfrm>
            <a:custGeom>
              <a:avLst/>
              <a:gdLst/>
              <a:ahLst/>
              <a:cxnLst/>
              <a:rect l="l" t="t" r="r" b="b"/>
              <a:pathLst>
                <a:path w="400685" h="1240154">
                  <a:moveTo>
                    <a:pt x="0" y="1039494"/>
                  </a:moveTo>
                  <a:lnTo>
                    <a:pt x="100075" y="1039494"/>
                  </a:lnTo>
                  <a:lnTo>
                    <a:pt x="100075" y="0"/>
                  </a:lnTo>
                  <a:lnTo>
                    <a:pt x="300227" y="0"/>
                  </a:lnTo>
                  <a:lnTo>
                    <a:pt x="300227" y="1039494"/>
                  </a:lnTo>
                  <a:lnTo>
                    <a:pt x="400303" y="1039494"/>
                  </a:lnTo>
                  <a:lnTo>
                    <a:pt x="200151" y="1240028"/>
                  </a:lnTo>
                  <a:lnTo>
                    <a:pt x="0" y="1039494"/>
                  </a:lnTo>
                  <a:close/>
                </a:path>
              </a:pathLst>
            </a:custGeom>
            <a:ln w="19812">
              <a:solidFill>
                <a:srgbClr val="8309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338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829072"/>
          </a:xfrm>
          <a:prstGeom prst="rect">
            <a:avLst/>
          </a:prstGeom>
        </p:spPr>
        <p:txBody>
          <a:bodyPr vert="horz" wrap="square" lIns="0" tIns="333374" rIns="0" bIns="0" rtlCol="0">
            <a:spAutoFit/>
          </a:bodyPr>
          <a:lstStyle/>
          <a:p>
            <a:pPr marL="2835275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CLÍNICA</a:t>
            </a:r>
            <a:endParaRPr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635" y="2270861"/>
            <a:ext cx="3693160" cy="3551613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B31166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Mujeres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premenopáusicas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80000"/>
              <a:tabLst>
                <a:tab pos="354965" algn="l"/>
              </a:tabLst>
            </a:pPr>
            <a:r>
              <a:rPr sz="2000" b="1" spc="-10" dirty="0">
                <a:latin typeface="Arial"/>
                <a:cs typeface="Arial"/>
              </a:rPr>
              <a:t>Microprolactinomas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45"/>
              </a:spcBef>
            </a:pPr>
            <a:endParaRPr sz="20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B31166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Mujeres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postmenopáusicas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80000"/>
              <a:tabLst>
                <a:tab pos="354965" algn="l"/>
              </a:tabLst>
            </a:pPr>
            <a:r>
              <a:rPr sz="2000" b="1" spc="-10" dirty="0">
                <a:latin typeface="Arial"/>
                <a:cs typeface="Arial"/>
              </a:rPr>
              <a:t>Macroprolactinomas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35"/>
              </a:spcBef>
            </a:pPr>
            <a:endParaRPr sz="20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B31166"/>
              </a:buClr>
              <a:buSzPct val="80000"/>
              <a:buFont typeface="Wingdings"/>
              <a:buChar char=""/>
              <a:tabLst>
                <a:tab pos="354965" algn="l"/>
              </a:tabLst>
            </a:pPr>
            <a:r>
              <a:rPr sz="2000" b="1" spc="-10" dirty="0">
                <a:latin typeface="Arial"/>
                <a:cs typeface="Arial"/>
              </a:rPr>
              <a:t>Hombres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  <a:buClr>
                <a:srgbClr val="B31166"/>
              </a:buClr>
              <a:buSzPct val="80000"/>
              <a:tabLst>
                <a:tab pos="354965" algn="l"/>
              </a:tabLst>
            </a:pPr>
            <a:r>
              <a:rPr sz="2000" b="1" spc="-10" dirty="0">
                <a:latin typeface="Arial"/>
                <a:cs typeface="Arial"/>
              </a:rPr>
              <a:t>Macroprolactinomas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54267" y="2772155"/>
            <a:ext cx="4677410" cy="2639695"/>
            <a:chOff x="5954267" y="2772155"/>
            <a:chExt cx="4677410" cy="26396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0843" y="2810255"/>
              <a:ext cx="4600956" cy="25618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73317" y="2791205"/>
              <a:ext cx="4639310" cy="2601595"/>
            </a:xfrm>
            <a:custGeom>
              <a:avLst/>
              <a:gdLst/>
              <a:ahLst/>
              <a:cxnLst/>
              <a:rect l="l" t="t" r="r" b="b"/>
              <a:pathLst>
                <a:path w="4639309" h="2601595">
                  <a:moveTo>
                    <a:pt x="0" y="2601087"/>
                  </a:moveTo>
                  <a:lnTo>
                    <a:pt x="4638801" y="2601087"/>
                  </a:lnTo>
                  <a:lnTo>
                    <a:pt x="4638801" y="0"/>
                  </a:lnTo>
                  <a:lnTo>
                    <a:pt x="0" y="0"/>
                  </a:lnTo>
                  <a:lnTo>
                    <a:pt x="0" y="2601087"/>
                  </a:lnTo>
                  <a:close/>
                </a:path>
              </a:pathLst>
            </a:custGeom>
            <a:ln w="38100">
              <a:solidFill>
                <a:srgbClr val="FF9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1278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1" y="624110"/>
            <a:ext cx="9447212" cy="768031"/>
          </a:xfrm>
          <a:prstGeom prst="rect">
            <a:avLst/>
          </a:prstGeom>
        </p:spPr>
        <p:txBody>
          <a:bodyPr vert="horz" wrap="square" lIns="0" tIns="272923" rIns="0" bIns="0" rtlCol="0">
            <a:spAutoFit/>
          </a:bodyPr>
          <a:lstStyle/>
          <a:p>
            <a:pPr marL="270764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DIAGNÓSTICO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2619502"/>
            <a:ext cx="5080635" cy="34060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B31166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Confirmar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Hiperprolactinemia.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80"/>
              </a:spcBef>
              <a:buClr>
                <a:srgbClr val="B31166"/>
              </a:buClr>
            </a:pP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B31166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Descartar: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B31166"/>
              </a:buClr>
              <a:buSzPct val="79166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Fármacos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79166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Embarazo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B31166"/>
              </a:buClr>
              <a:buSzPct val="79166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Hipotiroidismo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79166"/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IRC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Insuficiencia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hepática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9211" y="2734055"/>
            <a:ext cx="48768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6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1437" y="624110"/>
            <a:ext cx="9453175" cy="811503"/>
          </a:xfrm>
          <a:prstGeom prst="rect">
            <a:avLst/>
          </a:prstGeom>
        </p:spPr>
        <p:txBody>
          <a:bodyPr vert="horz" wrap="square" lIns="0" tIns="315975" rIns="0" bIns="0" rtlCol="0">
            <a:spAutoFit/>
          </a:bodyPr>
          <a:lstStyle/>
          <a:p>
            <a:pPr marL="44704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  <a:r>
              <a:rPr sz="3200" b="1" spc="-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200" b="1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HIPERPROLACTINEMIA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6795" y="2283967"/>
            <a:ext cx="3705225" cy="3333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lvl="1">
              <a:spcBef>
                <a:spcPts val="100"/>
              </a:spcBef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FISIOLÓGICAS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gestación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lactancia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estimulación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del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pezón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coito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sueño,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ejercicio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estrés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56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3972" y="624110"/>
            <a:ext cx="9540641" cy="866005"/>
          </a:xfrm>
          <a:prstGeom prst="rect">
            <a:avLst/>
          </a:prstGeom>
        </p:spPr>
        <p:txBody>
          <a:bodyPr vert="horz" wrap="square" lIns="0" tIns="369950" rIns="0" bIns="0" rtlCol="0">
            <a:spAutoFit/>
          </a:bodyPr>
          <a:lstStyle/>
          <a:p>
            <a:pPr marL="651510">
              <a:lnSpc>
                <a:spcPct val="100000"/>
              </a:lnSpc>
              <a:spcBef>
                <a:spcPts val="105"/>
              </a:spcBef>
            </a:pPr>
            <a:r>
              <a:rPr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  <a:r>
              <a:rPr sz="3200" b="1" spc="-7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200" b="1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HIPERPROLACTINEMIA</a:t>
            </a:r>
            <a:endParaRPr sz="3200" b="1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5883" y="2330957"/>
            <a:ext cx="9213215" cy="34747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buClr>
                <a:srgbClr val="B31166"/>
              </a:buClr>
              <a:buSzPct val="79166"/>
              <a:tabLst>
                <a:tab pos="354965" algn="l"/>
              </a:tabLst>
            </a:pP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FARMACOLÓGICAS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79166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Anticonceptivos</a:t>
            </a:r>
            <a:r>
              <a:rPr sz="2400"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orales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79166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Antihipertensivos:</a:t>
            </a:r>
            <a:r>
              <a:rPr sz="24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metildopa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B31166"/>
              </a:buClr>
              <a:buSzPct val="79166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Anticonvulsivantes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B31166"/>
              </a:buClr>
              <a:buSzPct val="79166"/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Opiáceos:</a:t>
            </a:r>
            <a:r>
              <a:rPr sz="2400" b="1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cocaína,</a:t>
            </a:r>
            <a:r>
              <a:rPr sz="24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morfina,</a:t>
            </a:r>
            <a:r>
              <a:rPr sz="24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heroína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B31166"/>
              </a:buClr>
              <a:buSzPct val="79166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Benzodiazepinas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B31166"/>
              </a:buClr>
              <a:buSzPct val="79166"/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Bloqueadores</a:t>
            </a:r>
            <a:r>
              <a:rPr sz="2400" b="1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dopaminérgicos:</a:t>
            </a:r>
            <a:r>
              <a:rPr sz="2400" b="1" spc="-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metoclopramida,</a:t>
            </a:r>
            <a:r>
              <a:rPr sz="24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domperidona,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95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5475" y="624110"/>
            <a:ext cx="10439138" cy="839844"/>
          </a:xfrm>
          <a:prstGeom prst="rect">
            <a:avLst/>
          </a:prstGeom>
        </p:spPr>
        <p:txBody>
          <a:bodyPr vert="horz" wrap="square" lIns="0" tIns="344042" rIns="0" bIns="0" rtlCol="0">
            <a:spAutoFit/>
          </a:bodyPr>
          <a:lstStyle/>
          <a:p>
            <a:pPr marL="89217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  <a:r>
              <a:rPr sz="3200" b="1" spc="-7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200" b="1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HIPERPROLACTINEMIA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065475" y="2181308"/>
            <a:ext cx="10216501" cy="3271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B31166"/>
              </a:buClr>
              <a:buSzPct val="78846"/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Procesos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hipotálamo-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hipofisarios:</a:t>
            </a: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5080" indent="0">
              <a:lnSpc>
                <a:spcPts val="2880"/>
              </a:lnSpc>
              <a:buNone/>
            </a:pPr>
            <a:r>
              <a:rPr sz="2000" b="1" dirty="0">
                <a:solidFill>
                  <a:srgbClr val="B311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2000" b="1" spc="-360" dirty="0">
                <a:solidFill>
                  <a:srgbClr val="B311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Patología</a:t>
            </a:r>
            <a:r>
              <a:rPr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hipofisaria:</a:t>
            </a:r>
            <a:r>
              <a:rPr sz="2000"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prolactinomas,</a:t>
            </a:r>
            <a:r>
              <a:rPr sz="2000"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acromegalia,</a:t>
            </a:r>
            <a:r>
              <a:rPr sz="20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adenomas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plurihormonales,</a:t>
            </a:r>
            <a:r>
              <a:rPr sz="2000" b="1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cirugía,</a:t>
            </a:r>
            <a:r>
              <a:rPr sz="20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radioterapia,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traumatismo,</a:t>
            </a:r>
            <a:r>
              <a:rPr sz="2000" b="1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hipofisitis</a:t>
            </a: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855"/>
              </a:spcBef>
              <a:buNone/>
            </a:pP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711835" indent="0">
              <a:lnSpc>
                <a:spcPct val="91000"/>
              </a:lnSpc>
              <a:buNone/>
            </a:pPr>
            <a:r>
              <a:rPr sz="2000" b="1" dirty="0">
                <a:solidFill>
                  <a:srgbClr val="B311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2000" b="1" spc="-360" dirty="0">
                <a:solidFill>
                  <a:srgbClr val="B311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Patología</a:t>
            </a:r>
            <a:r>
              <a:rPr sz="2000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hipotalámica/compresión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tallo</a:t>
            </a:r>
            <a:r>
              <a:rPr sz="2000"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hipofisario: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tumores</a:t>
            </a:r>
            <a:r>
              <a:rPr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(craneofaringioma,</a:t>
            </a:r>
            <a:r>
              <a:rPr sz="2000" b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germinoma,</a:t>
            </a:r>
            <a:r>
              <a:rPr sz="2000"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meningioma,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metástasis,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quiste</a:t>
            </a:r>
            <a:r>
              <a:rPr sz="20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Rathke),</a:t>
            </a:r>
            <a:r>
              <a:rPr sz="20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granulomas,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enfermedades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infiltrativas,</a:t>
            </a:r>
            <a:r>
              <a:rPr sz="20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traumatismos</a:t>
            </a:r>
            <a:r>
              <a:rPr sz="2000"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sección</a:t>
            </a:r>
            <a:r>
              <a:rPr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tallo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38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6853" y="857416"/>
            <a:ext cx="8225887" cy="900758"/>
          </a:xfrm>
          <a:prstGeom prst="rect">
            <a:avLst/>
          </a:prstGeom>
        </p:spPr>
        <p:txBody>
          <a:bodyPr vert="horz" wrap="square" lIns="0" tIns="4043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  <a:r>
              <a:rPr sz="3200" b="1" spc="-6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200" b="1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HIPERPROLACTINEMIA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3627" y="2505202"/>
            <a:ext cx="6996430" cy="3444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B31166"/>
              </a:buClr>
              <a:buSzPct val="79166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Otros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procesos: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95"/>
              </a:spcBef>
              <a:buClr>
                <a:srgbClr val="B31166"/>
              </a:buClr>
              <a:buFont typeface="Wingdings"/>
              <a:buChar char=""/>
            </a:pP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900" spc="-50" dirty="0">
                <a:latin typeface="Lucida Sans Unicode"/>
                <a:cs typeface="Lucida Sans Unicode"/>
              </a:rPr>
              <a:t>▶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Síndrome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ovario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poliquístico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-50" dirty="0">
                <a:latin typeface="Lucida Sans Unicode"/>
                <a:cs typeface="Lucida Sans Unicode"/>
              </a:rPr>
              <a:t>▶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Neurogénicas: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trauma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torácico,</a:t>
            </a:r>
            <a:r>
              <a:rPr sz="2400" b="1" spc="-1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herpes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zoster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-50" dirty="0">
                <a:latin typeface="Lucida Sans Unicode"/>
                <a:cs typeface="Lucida Sans Unicode"/>
              </a:rPr>
              <a:t>▶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b="1" spc="-10" dirty="0">
                <a:latin typeface="Arial"/>
                <a:cs typeface="Arial"/>
              </a:rPr>
              <a:t>Hiperprolactinemia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idiopática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65"/>
              </a:spcBef>
            </a:pP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buClr>
                <a:srgbClr val="B31166"/>
              </a:buClr>
              <a:buSzPct val="79166"/>
              <a:tabLst>
                <a:tab pos="438784" algn="l"/>
              </a:tabLst>
            </a:pPr>
            <a:r>
              <a:rPr sz="2400" b="1" spc="-10" dirty="0">
                <a:latin typeface="Arial"/>
                <a:cs typeface="Arial"/>
              </a:rPr>
              <a:t>Macroprolactina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27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2167" y="624110"/>
            <a:ext cx="9572445" cy="873059"/>
          </a:xfrm>
          <a:prstGeom prst="rect">
            <a:avLst/>
          </a:prstGeom>
        </p:spPr>
        <p:txBody>
          <a:bodyPr vert="horz" wrap="square" lIns="0" tIns="376935" rIns="0" bIns="0" rtlCol="0">
            <a:spAutoFit/>
          </a:bodyPr>
          <a:lstStyle/>
          <a:p>
            <a:pPr marL="182626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Arial" panose="020B0604020202020204" pitchFamily="34" charset="0"/>
                <a:cs typeface="Arial" panose="020B0604020202020204" pitchFamily="34" charset="0"/>
              </a:rPr>
              <a:t>HIPERPROLACTINEMIA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606163" y="2392680"/>
            <a:ext cx="9572445" cy="3588033"/>
          </a:xfrm>
          <a:prstGeom prst="rect">
            <a:avLst/>
          </a:prstGeom>
        </p:spPr>
        <p:txBody>
          <a:bodyPr vert="horz" wrap="square" lIns="0" tIns="70853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causa</a:t>
            </a:r>
            <a:r>
              <a:rPr sz="20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2000" b="1" spc="-20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frecuente</a:t>
            </a:r>
            <a:r>
              <a:rPr sz="2000" b="1" spc="-50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30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hiperprolactinemia</a:t>
            </a:r>
            <a:r>
              <a:rPr sz="2000" b="1" spc="-105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2000" b="1" spc="-55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tumoral</a:t>
            </a:r>
            <a:r>
              <a:rPr sz="2000" b="1" spc="-40" dirty="0">
                <a:uFill>
                  <a:solidFill>
                    <a:srgbClr val="FF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endParaRPr lang="es-ES" b="1" spc="-3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acción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fármacos,</a:t>
            </a:r>
            <a:r>
              <a:rPr sz="2000"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2000" b="1" spc="-75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endParaRPr lang="es-ES" b="1" spc="-7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fundamentalmente</a:t>
            </a:r>
            <a:r>
              <a:rPr sz="2000" b="1" spc="-9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antipsicóticos</a:t>
            </a:r>
            <a:r>
              <a:rPr sz="2000" b="1" spc="-9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neurolépticos, </a:t>
            </a:r>
            <a:endParaRPr lang="es-ES" sz="2000" b="1" spc="-1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endParaRPr lang="es-ES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bloqueantes</a:t>
            </a:r>
            <a:r>
              <a:rPr sz="2000" b="1" spc="-6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000"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canales</a:t>
            </a:r>
            <a:r>
              <a:rPr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calcio</a:t>
            </a:r>
            <a:r>
              <a:rPr sz="2000" b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(verapamilo),</a:t>
            </a:r>
            <a:r>
              <a:rPr sz="2000" b="1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2000" b="1" spc="-8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endParaRPr lang="es-ES" b="1" spc="-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 spc="-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antidepresivos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, antieméticos</a:t>
            </a:r>
            <a:r>
              <a:rPr sz="2000" b="1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(metoclopramida).</a:t>
            </a:r>
          </a:p>
        </p:txBody>
      </p:sp>
    </p:spTree>
    <p:extLst>
      <p:ext uri="{BB962C8B-B14F-4D97-AF65-F5344CB8AC3E}">
        <p14:creationId xmlns:p14="http://schemas.microsoft.com/office/powerpoint/2010/main" val="116415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99476" y="9144"/>
            <a:ext cx="3790315" cy="2278380"/>
            <a:chOff x="7999476" y="9144"/>
            <a:chExt cx="3790315" cy="22783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9476" y="9144"/>
              <a:ext cx="1600200" cy="1600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502396" y="1519427"/>
              <a:ext cx="3287395" cy="767715"/>
            </a:xfrm>
            <a:custGeom>
              <a:avLst/>
              <a:gdLst/>
              <a:ahLst/>
              <a:cxnLst/>
              <a:rect l="l" t="t" r="r" b="b"/>
              <a:pathLst>
                <a:path w="3287395" h="767714">
                  <a:moveTo>
                    <a:pt x="3225546" y="0"/>
                  </a:moveTo>
                  <a:lnTo>
                    <a:pt x="2909315" y="104775"/>
                  </a:lnTo>
                  <a:lnTo>
                    <a:pt x="2590419" y="200533"/>
                  </a:lnTo>
                  <a:lnTo>
                    <a:pt x="2485008" y="229870"/>
                  </a:lnTo>
                  <a:lnTo>
                    <a:pt x="2271013" y="287147"/>
                  </a:lnTo>
                  <a:lnTo>
                    <a:pt x="2059304" y="340360"/>
                  </a:lnTo>
                  <a:lnTo>
                    <a:pt x="1954149" y="365633"/>
                  </a:lnTo>
                  <a:lnTo>
                    <a:pt x="1639315" y="436118"/>
                  </a:lnTo>
                  <a:lnTo>
                    <a:pt x="1329817" y="498729"/>
                  </a:lnTo>
                  <a:lnTo>
                    <a:pt x="1127125" y="536701"/>
                  </a:lnTo>
                  <a:lnTo>
                    <a:pt x="829055" y="588263"/>
                  </a:lnTo>
                  <a:lnTo>
                    <a:pt x="447801" y="646557"/>
                  </a:lnTo>
                  <a:lnTo>
                    <a:pt x="174751" y="683641"/>
                  </a:lnTo>
                  <a:lnTo>
                    <a:pt x="0" y="704850"/>
                  </a:lnTo>
                  <a:lnTo>
                    <a:pt x="39115" y="766318"/>
                  </a:lnTo>
                  <a:lnTo>
                    <a:pt x="66167" y="767080"/>
                  </a:lnTo>
                  <a:lnTo>
                    <a:pt x="95123" y="767588"/>
                  </a:lnTo>
                  <a:lnTo>
                    <a:pt x="125983" y="767714"/>
                  </a:lnTo>
                  <a:lnTo>
                    <a:pt x="192912" y="766952"/>
                  </a:lnTo>
                  <a:lnTo>
                    <a:pt x="305943" y="763651"/>
                  </a:lnTo>
                  <a:lnTo>
                    <a:pt x="477647" y="755142"/>
                  </a:lnTo>
                  <a:lnTo>
                    <a:pt x="772922" y="735076"/>
                  </a:lnTo>
                  <a:lnTo>
                    <a:pt x="1335658" y="685038"/>
                  </a:lnTo>
                  <a:lnTo>
                    <a:pt x="2058543" y="606806"/>
                  </a:lnTo>
                  <a:lnTo>
                    <a:pt x="2688462" y="527176"/>
                  </a:lnTo>
                  <a:lnTo>
                    <a:pt x="3037585" y="477012"/>
                  </a:lnTo>
                  <a:lnTo>
                    <a:pt x="3249422" y="443102"/>
                  </a:lnTo>
                  <a:lnTo>
                    <a:pt x="3287268" y="436625"/>
                  </a:lnTo>
                  <a:lnTo>
                    <a:pt x="3264154" y="270383"/>
                  </a:lnTo>
                  <a:lnTo>
                    <a:pt x="3244596" y="138049"/>
                  </a:lnTo>
                  <a:lnTo>
                    <a:pt x="322554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09076" y="5867399"/>
              <a:ext cx="990600" cy="9906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1523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6856475"/>
                  </a:lnTo>
                  <a:lnTo>
                    <a:pt x="12192000" y="6856475"/>
                  </a:lnTo>
                  <a:lnTo>
                    <a:pt x="12192000" y="470153"/>
                  </a:lnTo>
                  <a:lnTo>
                    <a:pt x="11709273" y="470153"/>
                  </a:lnTo>
                  <a:lnTo>
                    <a:pt x="11709273" y="1871345"/>
                  </a:lnTo>
                  <a:lnTo>
                    <a:pt x="10971022" y="1981327"/>
                  </a:lnTo>
                  <a:lnTo>
                    <a:pt x="10201148" y="2075052"/>
                  </a:lnTo>
                  <a:lnTo>
                    <a:pt x="9947148" y="2100453"/>
                  </a:lnTo>
                  <a:lnTo>
                    <a:pt x="9434322" y="2146427"/>
                  </a:lnTo>
                  <a:lnTo>
                    <a:pt x="8927973" y="2184527"/>
                  </a:lnTo>
                  <a:lnTo>
                    <a:pt x="8675497" y="2200402"/>
                  </a:lnTo>
                  <a:lnTo>
                    <a:pt x="7926197" y="2236978"/>
                  </a:lnTo>
                  <a:lnTo>
                    <a:pt x="7191248" y="2257552"/>
                  </a:lnTo>
                  <a:lnTo>
                    <a:pt x="6473698" y="2265553"/>
                  </a:lnTo>
                  <a:lnTo>
                    <a:pt x="6006973" y="2263902"/>
                  </a:lnTo>
                  <a:lnTo>
                    <a:pt x="5108448" y="2246503"/>
                  </a:lnTo>
                  <a:lnTo>
                    <a:pt x="4467098" y="2222627"/>
                  </a:lnTo>
                  <a:lnTo>
                    <a:pt x="3665347" y="2179828"/>
                  </a:lnTo>
                  <a:lnTo>
                    <a:pt x="2931922" y="2130552"/>
                  </a:lnTo>
                  <a:lnTo>
                    <a:pt x="2592197" y="2103628"/>
                  </a:lnTo>
                  <a:lnTo>
                    <a:pt x="1979422" y="2046477"/>
                  </a:lnTo>
                  <a:lnTo>
                    <a:pt x="1233360" y="1965452"/>
                  </a:lnTo>
                  <a:lnTo>
                    <a:pt x="863472" y="1921002"/>
                  </a:lnTo>
                  <a:lnTo>
                    <a:pt x="476377" y="1867789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98252" y="0"/>
              <a:ext cx="760476" cy="12039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158740" y="6401506"/>
            <a:ext cx="6195695" cy="447040"/>
          </a:xfrm>
          <a:custGeom>
            <a:avLst/>
            <a:gdLst/>
            <a:ahLst/>
            <a:cxnLst/>
            <a:rect l="l" t="t" r="r" b="b"/>
            <a:pathLst>
              <a:path w="6195695" h="447040">
                <a:moveTo>
                  <a:pt x="6195695" y="0"/>
                </a:moveTo>
                <a:lnTo>
                  <a:pt x="0" y="0"/>
                </a:lnTo>
                <a:lnTo>
                  <a:pt x="0" y="446963"/>
                </a:lnTo>
                <a:lnTo>
                  <a:pt x="6195695" y="446963"/>
                </a:lnTo>
                <a:lnTo>
                  <a:pt x="61956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139007"/>
              </p:ext>
            </p:extLst>
          </p:nvPr>
        </p:nvGraphicFramePr>
        <p:xfrm>
          <a:off x="811034" y="2337097"/>
          <a:ext cx="10543402" cy="4509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77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9569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06103">
                <a:tc gridSpan="2">
                  <a:txBody>
                    <a:bodyPr/>
                    <a:lstStyle/>
                    <a:p>
                      <a:pPr marL="38100">
                        <a:lnSpc>
                          <a:spcPts val="2655"/>
                        </a:lnSpc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Antipsicóticos</a:t>
                      </a:r>
                      <a:r>
                        <a:rPr sz="2400" b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4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latin typeface="Arial"/>
                          <a:cs typeface="Arial"/>
                        </a:rPr>
                        <a:t>primera</a:t>
                      </a:r>
                      <a:r>
                        <a:rPr sz="24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latin typeface="Arial"/>
                          <a:cs typeface="Arial"/>
                        </a:rPr>
                        <a:t>generación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Haloperidol,</a:t>
                      </a:r>
                      <a:r>
                        <a:rPr sz="2400" b="1" spc="-6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b="1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perfenazina</a:t>
                      </a:r>
                      <a:endParaRPr sz="2400" b="1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2225" marB="0">
                    <a:solidFill>
                      <a:srgbClr val="D9D2D2"/>
                    </a:solidFill>
                  </a:tcPr>
                </a:tc>
                <a:tc>
                  <a:txBody>
                    <a:bodyPr/>
                    <a:lstStyle/>
                    <a:p>
                      <a:pPr marL="9759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33-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87%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88340">
                <a:tc grid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Antipsicóticos</a:t>
                      </a:r>
                      <a:r>
                        <a:rPr sz="2400" b="1" spc="-10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2400" b="1" spc="-4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segunda</a:t>
                      </a:r>
                      <a:r>
                        <a:rPr sz="2400" b="1" spc="-7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generación</a:t>
                      </a:r>
                      <a:endParaRPr sz="24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solidFill>
                      <a:srgbClr val="D9D2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9278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03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Aripiprazol</a:t>
                      </a:r>
                      <a:endParaRPr sz="2400" b="1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58445" marB="0">
                    <a:solidFill>
                      <a:srgbClr val="D9D2D2"/>
                    </a:solidFill>
                  </a:tcPr>
                </a:tc>
                <a:tc>
                  <a:txBody>
                    <a:bodyPr/>
                    <a:lstStyle/>
                    <a:p>
                      <a:pPr marL="975994">
                        <a:lnSpc>
                          <a:spcPct val="100000"/>
                        </a:lnSpc>
                        <a:spcBef>
                          <a:spcPts val="2035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3,1-</a:t>
                      </a:r>
                      <a:r>
                        <a:rPr sz="2400" b="1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5%</a:t>
                      </a:r>
                      <a:endParaRPr sz="2400" b="1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58445" marB="0">
                    <a:solidFill>
                      <a:srgbClr val="D9D2D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Clozapina</a:t>
                      </a:r>
                      <a:endParaRPr sz="2400" b="1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2225" marB="0">
                    <a:solidFill>
                      <a:srgbClr val="D9D2D2"/>
                    </a:solidFill>
                  </a:tcPr>
                </a:tc>
                <a:tc>
                  <a:txBody>
                    <a:bodyPr/>
                    <a:lstStyle/>
                    <a:p>
                      <a:pPr marL="9759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&lt;5%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Olanzapina</a:t>
                      </a:r>
                      <a:endParaRPr sz="2400" b="1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D9D2D2"/>
                    </a:solidFill>
                  </a:tcPr>
                </a:tc>
                <a:tc>
                  <a:txBody>
                    <a:bodyPr/>
                    <a:lstStyle/>
                    <a:p>
                      <a:pPr marL="97599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10" dirty="0">
                          <a:latin typeface="Arial MT"/>
                          <a:cs typeface="Arial MT"/>
                        </a:rPr>
                        <a:t>6-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40%</a:t>
                      </a:r>
                      <a:endParaRPr sz="2400" dirty="0">
                        <a:latin typeface="Arial MT"/>
                        <a:cs typeface="Arial MT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Quetiapina</a:t>
                      </a:r>
                      <a:endParaRPr sz="2400" b="1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D9D2D2"/>
                    </a:solidFill>
                  </a:tcPr>
                </a:tc>
                <a:tc>
                  <a:txBody>
                    <a:bodyPr/>
                    <a:lstStyle/>
                    <a:p>
                      <a:pPr marL="975994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400" spc="-20" dirty="0">
                          <a:latin typeface="Arial MT"/>
                          <a:cs typeface="Arial MT"/>
                        </a:rPr>
                        <a:t>0-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29%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29844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-1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Risperidona</a:t>
                      </a:r>
                      <a:endParaRPr sz="2400" b="1" dirty="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D9D2D2"/>
                    </a:solidFill>
                  </a:tcPr>
                </a:tc>
                <a:tc>
                  <a:txBody>
                    <a:bodyPr/>
                    <a:lstStyle/>
                    <a:p>
                      <a:pPr marL="97599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b="1" spc="-2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72-100%</a:t>
                      </a:r>
                      <a:endParaRPr sz="2400" b="1" dirty="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2735199" y="1078212"/>
            <a:ext cx="3496310" cy="428625"/>
            <a:chOff x="4431791" y="909827"/>
            <a:chExt cx="3496310" cy="42862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31791" y="979931"/>
              <a:ext cx="1933956" cy="35813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462272" y="1001636"/>
              <a:ext cx="1578610" cy="292100"/>
            </a:xfrm>
            <a:custGeom>
              <a:avLst/>
              <a:gdLst/>
              <a:ahLst/>
              <a:cxnLst/>
              <a:rect l="l" t="t" r="r" b="b"/>
              <a:pathLst>
                <a:path w="1578610" h="292100">
                  <a:moveTo>
                    <a:pt x="292227" y="291477"/>
                  </a:moveTo>
                  <a:lnTo>
                    <a:pt x="265684" y="225310"/>
                  </a:lnTo>
                  <a:lnTo>
                    <a:pt x="245999" y="176161"/>
                  </a:lnTo>
                  <a:lnTo>
                    <a:pt x="202819" y="67957"/>
                  </a:lnTo>
                  <a:lnTo>
                    <a:pt x="183896" y="20878"/>
                  </a:lnTo>
                  <a:lnTo>
                    <a:pt x="183896" y="176161"/>
                  </a:lnTo>
                  <a:lnTo>
                    <a:pt x="104521" y="176161"/>
                  </a:lnTo>
                  <a:lnTo>
                    <a:pt x="143891" y="67957"/>
                  </a:lnTo>
                  <a:lnTo>
                    <a:pt x="183896" y="176161"/>
                  </a:lnTo>
                  <a:lnTo>
                    <a:pt x="183896" y="20878"/>
                  </a:lnTo>
                  <a:lnTo>
                    <a:pt x="175514" y="12"/>
                  </a:lnTo>
                  <a:lnTo>
                    <a:pt x="113538" y="12"/>
                  </a:lnTo>
                  <a:lnTo>
                    <a:pt x="0" y="291477"/>
                  </a:lnTo>
                  <a:lnTo>
                    <a:pt x="62484" y="291477"/>
                  </a:lnTo>
                  <a:lnTo>
                    <a:pt x="86487" y="225310"/>
                  </a:lnTo>
                  <a:lnTo>
                    <a:pt x="202819" y="225310"/>
                  </a:lnTo>
                  <a:lnTo>
                    <a:pt x="228219" y="291477"/>
                  </a:lnTo>
                  <a:lnTo>
                    <a:pt x="292227" y="291477"/>
                  </a:lnTo>
                  <a:close/>
                </a:path>
                <a:path w="1578610" h="292100">
                  <a:moveTo>
                    <a:pt x="555244" y="194703"/>
                  </a:moveTo>
                  <a:lnTo>
                    <a:pt x="555218" y="63"/>
                  </a:lnTo>
                  <a:lnTo>
                    <a:pt x="500634" y="63"/>
                  </a:lnTo>
                  <a:lnTo>
                    <a:pt x="500634" y="194703"/>
                  </a:lnTo>
                  <a:lnTo>
                    <a:pt x="443611" y="101358"/>
                  </a:lnTo>
                  <a:lnTo>
                    <a:pt x="381508" y="12"/>
                  </a:lnTo>
                  <a:lnTo>
                    <a:pt x="324231" y="12"/>
                  </a:lnTo>
                  <a:lnTo>
                    <a:pt x="324231" y="291477"/>
                  </a:lnTo>
                  <a:lnTo>
                    <a:pt x="378968" y="291477"/>
                  </a:lnTo>
                  <a:lnTo>
                    <a:pt x="378968" y="101358"/>
                  </a:lnTo>
                  <a:lnTo>
                    <a:pt x="496189" y="291477"/>
                  </a:lnTo>
                  <a:lnTo>
                    <a:pt x="555244" y="291477"/>
                  </a:lnTo>
                  <a:lnTo>
                    <a:pt x="555244" y="194703"/>
                  </a:lnTo>
                  <a:close/>
                </a:path>
                <a:path w="1578610" h="292100">
                  <a:moveTo>
                    <a:pt x="742035" y="49314"/>
                  </a:moveTo>
                  <a:lnTo>
                    <a:pt x="683260" y="49314"/>
                  </a:lnTo>
                  <a:lnTo>
                    <a:pt x="683260" y="291477"/>
                  </a:lnTo>
                  <a:lnTo>
                    <a:pt x="742035" y="291477"/>
                  </a:lnTo>
                  <a:lnTo>
                    <a:pt x="742035" y="49314"/>
                  </a:lnTo>
                  <a:close/>
                </a:path>
                <a:path w="1578610" h="292100">
                  <a:moveTo>
                    <a:pt x="828205" y="0"/>
                  </a:moveTo>
                  <a:lnTo>
                    <a:pt x="596773" y="0"/>
                  </a:lnTo>
                  <a:lnTo>
                    <a:pt x="596773" y="49288"/>
                  </a:lnTo>
                  <a:lnTo>
                    <a:pt x="828205" y="49288"/>
                  </a:lnTo>
                  <a:lnTo>
                    <a:pt x="828205" y="0"/>
                  </a:lnTo>
                  <a:close/>
                </a:path>
                <a:path w="1578610" h="292100">
                  <a:moveTo>
                    <a:pt x="923010" y="12"/>
                  </a:moveTo>
                  <a:lnTo>
                    <a:pt x="864235" y="12"/>
                  </a:lnTo>
                  <a:lnTo>
                    <a:pt x="864235" y="291477"/>
                  </a:lnTo>
                  <a:lnTo>
                    <a:pt x="923010" y="291477"/>
                  </a:lnTo>
                  <a:lnTo>
                    <a:pt x="923010" y="12"/>
                  </a:lnTo>
                  <a:close/>
                </a:path>
                <a:path w="1578610" h="292100">
                  <a:moveTo>
                    <a:pt x="1194054" y="49288"/>
                  </a:moveTo>
                  <a:lnTo>
                    <a:pt x="1165987" y="14871"/>
                  </a:lnTo>
                  <a:lnTo>
                    <a:pt x="1117346" y="1155"/>
                  </a:lnTo>
                  <a:lnTo>
                    <a:pt x="1073150" y="12"/>
                  </a:lnTo>
                  <a:lnTo>
                    <a:pt x="978789" y="12"/>
                  </a:lnTo>
                  <a:lnTo>
                    <a:pt x="978789" y="291477"/>
                  </a:lnTo>
                  <a:lnTo>
                    <a:pt x="1037590" y="291477"/>
                  </a:lnTo>
                  <a:lnTo>
                    <a:pt x="1037590" y="181622"/>
                  </a:lnTo>
                  <a:lnTo>
                    <a:pt x="1075944" y="181622"/>
                  </a:lnTo>
                  <a:lnTo>
                    <a:pt x="1125093" y="179209"/>
                  </a:lnTo>
                  <a:lnTo>
                    <a:pt x="1167257" y="163588"/>
                  </a:lnTo>
                  <a:lnTo>
                    <a:pt x="1193292" y="131965"/>
                  </a:lnTo>
                  <a:lnTo>
                    <a:pt x="1037590" y="131965"/>
                  </a:lnTo>
                  <a:lnTo>
                    <a:pt x="1037590" y="49288"/>
                  </a:lnTo>
                  <a:lnTo>
                    <a:pt x="1194054" y="49288"/>
                  </a:lnTo>
                  <a:close/>
                </a:path>
                <a:path w="1578610" h="292100">
                  <a:moveTo>
                    <a:pt x="1578076" y="12"/>
                  </a:moveTo>
                  <a:lnTo>
                    <a:pt x="1519301" y="12"/>
                  </a:lnTo>
                  <a:lnTo>
                    <a:pt x="1519301" y="291477"/>
                  </a:lnTo>
                  <a:lnTo>
                    <a:pt x="1578076" y="291477"/>
                  </a:lnTo>
                  <a:lnTo>
                    <a:pt x="1578076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94019" y="1045463"/>
              <a:ext cx="169925" cy="9296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085713" y="996695"/>
              <a:ext cx="254000" cy="301625"/>
            </a:xfrm>
            <a:custGeom>
              <a:avLst/>
              <a:gdLst/>
              <a:ahLst/>
              <a:cxnLst/>
              <a:rect l="l" t="t" r="r" b="b"/>
              <a:pathLst>
                <a:path w="254000" h="301625">
                  <a:moveTo>
                    <a:pt x="253619" y="207391"/>
                  </a:moveTo>
                  <a:lnTo>
                    <a:pt x="196596" y="189357"/>
                  </a:lnTo>
                  <a:lnTo>
                    <a:pt x="180213" y="227711"/>
                  </a:lnTo>
                  <a:lnTo>
                    <a:pt x="143383" y="250190"/>
                  </a:lnTo>
                  <a:lnTo>
                    <a:pt x="80518" y="227711"/>
                  </a:lnTo>
                  <a:lnTo>
                    <a:pt x="61849" y="174498"/>
                  </a:lnTo>
                  <a:lnTo>
                    <a:pt x="60579" y="148844"/>
                  </a:lnTo>
                  <a:lnTo>
                    <a:pt x="61849" y="124714"/>
                  </a:lnTo>
                  <a:lnTo>
                    <a:pt x="71882" y="86995"/>
                  </a:lnTo>
                  <a:lnTo>
                    <a:pt x="103886" y="56134"/>
                  </a:lnTo>
                  <a:lnTo>
                    <a:pt x="133223" y="50292"/>
                  </a:lnTo>
                  <a:lnTo>
                    <a:pt x="144526" y="51181"/>
                  </a:lnTo>
                  <a:lnTo>
                    <a:pt x="154940" y="53594"/>
                  </a:lnTo>
                  <a:lnTo>
                    <a:pt x="186690" y="78994"/>
                  </a:lnTo>
                  <a:lnTo>
                    <a:pt x="194564" y="99187"/>
                  </a:lnTo>
                  <a:lnTo>
                    <a:pt x="252857" y="85217"/>
                  </a:lnTo>
                  <a:lnTo>
                    <a:pt x="232283" y="42037"/>
                  </a:lnTo>
                  <a:lnTo>
                    <a:pt x="184658" y="7874"/>
                  </a:lnTo>
                  <a:lnTo>
                    <a:pt x="136144" y="0"/>
                  </a:lnTo>
                  <a:lnTo>
                    <a:pt x="81026" y="10033"/>
                  </a:lnTo>
                  <a:lnTo>
                    <a:pt x="37592" y="40259"/>
                  </a:lnTo>
                  <a:lnTo>
                    <a:pt x="9398" y="88646"/>
                  </a:lnTo>
                  <a:lnTo>
                    <a:pt x="0" y="153289"/>
                  </a:lnTo>
                  <a:lnTo>
                    <a:pt x="2286" y="185801"/>
                  </a:lnTo>
                  <a:lnTo>
                    <a:pt x="20955" y="240030"/>
                  </a:lnTo>
                  <a:lnTo>
                    <a:pt x="57277" y="279019"/>
                  </a:lnTo>
                  <a:lnTo>
                    <a:pt x="104902" y="298831"/>
                  </a:lnTo>
                  <a:lnTo>
                    <a:pt x="132588" y="301371"/>
                  </a:lnTo>
                  <a:lnTo>
                    <a:pt x="155067" y="299974"/>
                  </a:lnTo>
                  <a:lnTo>
                    <a:pt x="193802" y="288290"/>
                  </a:lnTo>
                  <a:lnTo>
                    <a:pt x="224155" y="265049"/>
                  </a:lnTo>
                  <a:lnTo>
                    <a:pt x="234569" y="251079"/>
                  </a:lnTo>
                  <a:lnTo>
                    <a:pt x="236220" y="248920"/>
                  </a:lnTo>
                  <a:lnTo>
                    <a:pt x="245999" y="229616"/>
                  </a:lnTo>
                  <a:lnTo>
                    <a:pt x="253619" y="207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97219" y="996695"/>
              <a:ext cx="236727" cy="3016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463033" y="997457"/>
              <a:ext cx="1877060" cy="301625"/>
            </a:xfrm>
            <a:custGeom>
              <a:avLst/>
              <a:gdLst/>
              <a:ahLst/>
              <a:cxnLst/>
              <a:rect l="l" t="t" r="r" b="b"/>
              <a:pathLst>
                <a:path w="1877060" h="301625">
                  <a:moveTo>
                    <a:pt x="143382" y="73151"/>
                  </a:moveTo>
                  <a:lnTo>
                    <a:pt x="103631" y="180847"/>
                  </a:lnTo>
                  <a:lnTo>
                    <a:pt x="183895" y="180847"/>
                  </a:lnTo>
                  <a:lnTo>
                    <a:pt x="143382" y="73151"/>
                  </a:lnTo>
                  <a:close/>
                </a:path>
                <a:path w="1877060" h="301625">
                  <a:moveTo>
                    <a:pt x="1519301" y="296417"/>
                  </a:moveTo>
                  <a:lnTo>
                    <a:pt x="1578077" y="296417"/>
                  </a:lnTo>
                  <a:lnTo>
                    <a:pt x="1578077" y="4952"/>
                  </a:lnTo>
                  <a:lnTo>
                    <a:pt x="1519301" y="4952"/>
                  </a:lnTo>
                  <a:lnTo>
                    <a:pt x="1519301" y="296417"/>
                  </a:lnTo>
                  <a:close/>
                </a:path>
                <a:path w="1877060" h="301625">
                  <a:moveTo>
                    <a:pt x="978788" y="4952"/>
                  </a:moveTo>
                  <a:lnTo>
                    <a:pt x="1073150" y="4952"/>
                  </a:lnTo>
                  <a:lnTo>
                    <a:pt x="1097533" y="5206"/>
                  </a:lnTo>
                  <a:lnTo>
                    <a:pt x="1142873" y="9397"/>
                  </a:lnTo>
                  <a:lnTo>
                    <a:pt x="1184782" y="37845"/>
                  </a:lnTo>
                  <a:lnTo>
                    <a:pt x="1200657" y="78104"/>
                  </a:lnTo>
                  <a:lnTo>
                    <a:pt x="1201674" y="94614"/>
                  </a:lnTo>
                  <a:lnTo>
                    <a:pt x="1201039" y="107568"/>
                  </a:lnTo>
                  <a:lnTo>
                    <a:pt x="1186814" y="148462"/>
                  </a:lnTo>
                  <a:lnTo>
                    <a:pt x="1152143" y="177164"/>
                  </a:lnTo>
                  <a:lnTo>
                    <a:pt x="1110995" y="185419"/>
                  </a:lnTo>
                  <a:lnTo>
                    <a:pt x="1075943" y="186562"/>
                  </a:lnTo>
                  <a:lnTo>
                    <a:pt x="1037589" y="186562"/>
                  </a:lnTo>
                  <a:lnTo>
                    <a:pt x="1037589" y="296417"/>
                  </a:lnTo>
                  <a:lnTo>
                    <a:pt x="978788" y="296417"/>
                  </a:lnTo>
                  <a:lnTo>
                    <a:pt x="978788" y="4952"/>
                  </a:lnTo>
                  <a:close/>
                </a:path>
                <a:path w="1877060" h="301625">
                  <a:moveTo>
                    <a:pt x="864235" y="296417"/>
                  </a:moveTo>
                  <a:lnTo>
                    <a:pt x="923011" y="296417"/>
                  </a:lnTo>
                  <a:lnTo>
                    <a:pt x="923011" y="4952"/>
                  </a:lnTo>
                  <a:lnTo>
                    <a:pt x="864235" y="4952"/>
                  </a:lnTo>
                  <a:lnTo>
                    <a:pt x="864235" y="296417"/>
                  </a:lnTo>
                  <a:close/>
                </a:path>
                <a:path w="1877060" h="301625">
                  <a:moveTo>
                    <a:pt x="596773" y="4952"/>
                  </a:moveTo>
                  <a:lnTo>
                    <a:pt x="828166" y="4952"/>
                  </a:lnTo>
                  <a:lnTo>
                    <a:pt x="828166" y="54228"/>
                  </a:lnTo>
                  <a:lnTo>
                    <a:pt x="742061" y="54228"/>
                  </a:lnTo>
                  <a:lnTo>
                    <a:pt x="742061" y="296417"/>
                  </a:lnTo>
                  <a:lnTo>
                    <a:pt x="683260" y="296417"/>
                  </a:lnTo>
                  <a:lnTo>
                    <a:pt x="683260" y="54228"/>
                  </a:lnTo>
                  <a:lnTo>
                    <a:pt x="596773" y="54228"/>
                  </a:lnTo>
                  <a:lnTo>
                    <a:pt x="596773" y="4952"/>
                  </a:lnTo>
                  <a:close/>
                </a:path>
                <a:path w="1877060" h="301625">
                  <a:moveTo>
                    <a:pt x="324230" y="4952"/>
                  </a:moveTo>
                  <a:lnTo>
                    <a:pt x="381507" y="4952"/>
                  </a:lnTo>
                  <a:lnTo>
                    <a:pt x="500633" y="199643"/>
                  </a:lnTo>
                  <a:lnTo>
                    <a:pt x="500633" y="4952"/>
                  </a:lnTo>
                  <a:lnTo>
                    <a:pt x="555243" y="4952"/>
                  </a:lnTo>
                  <a:lnTo>
                    <a:pt x="555243" y="296417"/>
                  </a:lnTo>
                  <a:lnTo>
                    <a:pt x="496188" y="296417"/>
                  </a:lnTo>
                  <a:lnTo>
                    <a:pt x="378967" y="106299"/>
                  </a:lnTo>
                  <a:lnTo>
                    <a:pt x="378967" y="296417"/>
                  </a:lnTo>
                  <a:lnTo>
                    <a:pt x="324230" y="296417"/>
                  </a:lnTo>
                  <a:lnTo>
                    <a:pt x="324230" y="4952"/>
                  </a:lnTo>
                  <a:close/>
                </a:path>
                <a:path w="1877060" h="301625">
                  <a:moveTo>
                    <a:pt x="113537" y="4952"/>
                  </a:moveTo>
                  <a:lnTo>
                    <a:pt x="175513" y="4952"/>
                  </a:lnTo>
                  <a:lnTo>
                    <a:pt x="292226" y="296417"/>
                  </a:lnTo>
                  <a:lnTo>
                    <a:pt x="228218" y="296417"/>
                  </a:lnTo>
                  <a:lnTo>
                    <a:pt x="202818" y="230250"/>
                  </a:lnTo>
                  <a:lnTo>
                    <a:pt x="86487" y="230250"/>
                  </a:lnTo>
                  <a:lnTo>
                    <a:pt x="62483" y="296417"/>
                  </a:lnTo>
                  <a:lnTo>
                    <a:pt x="0" y="296417"/>
                  </a:lnTo>
                  <a:lnTo>
                    <a:pt x="113537" y="4952"/>
                  </a:lnTo>
                  <a:close/>
                </a:path>
                <a:path w="1877060" h="301625">
                  <a:moveTo>
                    <a:pt x="1759585" y="0"/>
                  </a:moveTo>
                  <a:lnTo>
                    <a:pt x="1808099" y="7874"/>
                  </a:lnTo>
                  <a:lnTo>
                    <a:pt x="1846452" y="31622"/>
                  </a:lnTo>
                  <a:lnTo>
                    <a:pt x="1870710" y="68833"/>
                  </a:lnTo>
                  <a:lnTo>
                    <a:pt x="1876298" y="85216"/>
                  </a:lnTo>
                  <a:lnTo>
                    <a:pt x="1818004" y="99187"/>
                  </a:lnTo>
                  <a:lnTo>
                    <a:pt x="1814702" y="88518"/>
                  </a:lnTo>
                  <a:lnTo>
                    <a:pt x="1810130" y="78993"/>
                  </a:lnTo>
                  <a:lnTo>
                    <a:pt x="1778380" y="53593"/>
                  </a:lnTo>
                  <a:lnTo>
                    <a:pt x="1756664" y="50291"/>
                  </a:lnTo>
                  <a:lnTo>
                    <a:pt x="1741296" y="51815"/>
                  </a:lnTo>
                  <a:lnTo>
                    <a:pt x="1704213" y="73532"/>
                  </a:lnTo>
                  <a:lnTo>
                    <a:pt x="1685289" y="124713"/>
                  </a:lnTo>
                  <a:lnTo>
                    <a:pt x="1684019" y="148843"/>
                  </a:lnTo>
                  <a:lnTo>
                    <a:pt x="1685289" y="174497"/>
                  </a:lnTo>
                  <a:lnTo>
                    <a:pt x="1695195" y="213867"/>
                  </a:lnTo>
                  <a:lnTo>
                    <a:pt x="1726691" y="245237"/>
                  </a:lnTo>
                  <a:lnTo>
                    <a:pt x="1755520" y="251078"/>
                  </a:lnTo>
                  <a:lnTo>
                    <a:pt x="1766824" y="250189"/>
                  </a:lnTo>
                  <a:lnTo>
                    <a:pt x="1803653" y="227711"/>
                  </a:lnTo>
                  <a:lnTo>
                    <a:pt x="1820037" y="189356"/>
                  </a:lnTo>
                  <a:lnTo>
                    <a:pt x="1877060" y="207390"/>
                  </a:lnTo>
                  <a:lnTo>
                    <a:pt x="1859661" y="248919"/>
                  </a:lnTo>
                  <a:lnTo>
                    <a:pt x="1833499" y="278256"/>
                  </a:lnTo>
                  <a:lnTo>
                    <a:pt x="1798954" y="295528"/>
                  </a:lnTo>
                  <a:lnTo>
                    <a:pt x="1756028" y="301370"/>
                  </a:lnTo>
                  <a:lnTo>
                    <a:pt x="1728342" y="298830"/>
                  </a:lnTo>
                  <a:lnTo>
                    <a:pt x="1680717" y="279018"/>
                  </a:lnTo>
                  <a:lnTo>
                    <a:pt x="1644395" y="240029"/>
                  </a:lnTo>
                  <a:lnTo>
                    <a:pt x="1625727" y="185800"/>
                  </a:lnTo>
                  <a:lnTo>
                    <a:pt x="1623440" y="153288"/>
                  </a:lnTo>
                  <a:lnTo>
                    <a:pt x="1625727" y="118871"/>
                  </a:lnTo>
                  <a:lnTo>
                    <a:pt x="1644523" y="62483"/>
                  </a:lnTo>
                  <a:lnTo>
                    <a:pt x="1681226" y="22732"/>
                  </a:lnTo>
                  <a:lnTo>
                    <a:pt x="1730502" y="2539"/>
                  </a:lnTo>
                  <a:lnTo>
                    <a:pt x="1759585" y="0"/>
                  </a:lnTo>
                  <a:close/>
                </a:path>
                <a:path w="1877060" h="301625">
                  <a:moveTo>
                    <a:pt x="1351788" y="0"/>
                  </a:moveTo>
                  <a:lnTo>
                    <a:pt x="1399793" y="5968"/>
                  </a:lnTo>
                  <a:lnTo>
                    <a:pt x="1434211" y="24129"/>
                  </a:lnTo>
                  <a:lnTo>
                    <a:pt x="1461007" y="69214"/>
                  </a:lnTo>
                  <a:lnTo>
                    <a:pt x="1463293" y="88264"/>
                  </a:lnTo>
                  <a:lnTo>
                    <a:pt x="1404619" y="90804"/>
                  </a:lnTo>
                  <a:lnTo>
                    <a:pt x="1402079" y="80390"/>
                  </a:lnTo>
                  <a:lnTo>
                    <a:pt x="1398651" y="71500"/>
                  </a:lnTo>
                  <a:lnTo>
                    <a:pt x="1362837" y="49402"/>
                  </a:lnTo>
                  <a:lnTo>
                    <a:pt x="1351152" y="48767"/>
                  </a:lnTo>
                  <a:lnTo>
                    <a:pt x="1339088" y="49402"/>
                  </a:lnTo>
                  <a:lnTo>
                    <a:pt x="1301750" y="69722"/>
                  </a:lnTo>
                  <a:lnTo>
                    <a:pt x="1301750" y="77342"/>
                  </a:lnTo>
                  <a:lnTo>
                    <a:pt x="1301750" y="84200"/>
                  </a:lnTo>
                  <a:lnTo>
                    <a:pt x="1345056" y="109474"/>
                  </a:lnTo>
                  <a:lnTo>
                    <a:pt x="1384553" y="119633"/>
                  </a:lnTo>
                  <a:lnTo>
                    <a:pt x="1401826" y="124840"/>
                  </a:lnTo>
                  <a:lnTo>
                    <a:pt x="1437639" y="141350"/>
                  </a:lnTo>
                  <a:lnTo>
                    <a:pt x="1465199" y="175132"/>
                  </a:lnTo>
                  <a:lnTo>
                    <a:pt x="1471676" y="211581"/>
                  </a:lnTo>
                  <a:lnTo>
                    <a:pt x="1470914" y="223774"/>
                  </a:lnTo>
                  <a:lnTo>
                    <a:pt x="1450213" y="268731"/>
                  </a:lnTo>
                  <a:lnTo>
                    <a:pt x="1418463" y="290956"/>
                  </a:lnTo>
                  <a:lnTo>
                    <a:pt x="1373377" y="300989"/>
                  </a:lnTo>
                  <a:lnTo>
                    <a:pt x="1355216" y="301625"/>
                  </a:lnTo>
                  <a:lnTo>
                    <a:pt x="1329181" y="299974"/>
                  </a:lnTo>
                  <a:lnTo>
                    <a:pt x="1286764" y="287146"/>
                  </a:lnTo>
                  <a:lnTo>
                    <a:pt x="1257045" y="261746"/>
                  </a:lnTo>
                  <a:lnTo>
                    <a:pt x="1239392" y="224536"/>
                  </a:lnTo>
                  <a:lnTo>
                    <a:pt x="1234948" y="201675"/>
                  </a:lnTo>
                  <a:lnTo>
                    <a:pt x="1292225" y="196087"/>
                  </a:lnTo>
                  <a:lnTo>
                    <a:pt x="1295400" y="209422"/>
                  </a:lnTo>
                  <a:lnTo>
                    <a:pt x="1299971" y="220979"/>
                  </a:lnTo>
                  <a:lnTo>
                    <a:pt x="1331721" y="248412"/>
                  </a:lnTo>
                  <a:lnTo>
                    <a:pt x="1355725" y="251840"/>
                  </a:lnTo>
                  <a:lnTo>
                    <a:pt x="1369060" y="251078"/>
                  </a:lnTo>
                  <a:lnTo>
                    <a:pt x="1404874" y="233552"/>
                  </a:lnTo>
                  <a:lnTo>
                    <a:pt x="1412875" y="211708"/>
                  </a:lnTo>
                  <a:lnTo>
                    <a:pt x="1412875" y="204850"/>
                  </a:lnTo>
                  <a:lnTo>
                    <a:pt x="1378965" y="179450"/>
                  </a:lnTo>
                  <a:lnTo>
                    <a:pt x="1338706" y="168782"/>
                  </a:lnTo>
                  <a:lnTo>
                    <a:pt x="1316863" y="162559"/>
                  </a:lnTo>
                  <a:lnTo>
                    <a:pt x="1272286" y="139953"/>
                  </a:lnTo>
                  <a:lnTo>
                    <a:pt x="1247139" y="97916"/>
                  </a:lnTo>
                  <a:lnTo>
                    <a:pt x="1245489" y="81279"/>
                  </a:lnTo>
                  <a:lnTo>
                    <a:pt x="1246251" y="70357"/>
                  </a:lnTo>
                  <a:lnTo>
                    <a:pt x="1265174" y="30606"/>
                  </a:lnTo>
                  <a:lnTo>
                    <a:pt x="1306956" y="5714"/>
                  </a:lnTo>
                  <a:lnTo>
                    <a:pt x="1335531" y="634"/>
                  </a:lnTo>
                  <a:lnTo>
                    <a:pt x="1351788" y="0"/>
                  </a:lnTo>
                  <a:close/>
                </a:path>
              </a:pathLst>
            </a:custGeom>
            <a:ln w="10668">
              <a:solidFill>
                <a:srgbClr val="9B6B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48983" y="909827"/>
              <a:ext cx="339852" cy="42824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377939" y="996314"/>
              <a:ext cx="253365" cy="302260"/>
            </a:xfrm>
            <a:custGeom>
              <a:avLst/>
              <a:gdLst/>
              <a:ahLst/>
              <a:cxnLst/>
              <a:rect l="l" t="t" r="r" b="b"/>
              <a:pathLst>
                <a:path w="253365" h="302259">
                  <a:moveTo>
                    <a:pt x="141224" y="0"/>
                  </a:moveTo>
                  <a:lnTo>
                    <a:pt x="92456" y="6476"/>
                  </a:lnTo>
                  <a:lnTo>
                    <a:pt x="49275" y="29590"/>
                  </a:lnTo>
                  <a:lnTo>
                    <a:pt x="18796" y="66929"/>
                  </a:lnTo>
                  <a:lnTo>
                    <a:pt x="3301" y="111633"/>
                  </a:lnTo>
                  <a:lnTo>
                    <a:pt x="0" y="152654"/>
                  </a:lnTo>
                  <a:lnTo>
                    <a:pt x="2412" y="185674"/>
                  </a:lnTo>
                  <a:lnTo>
                    <a:pt x="21589" y="240284"/>
                  </a:lnTo>
                  <a:lnTo>
                    <a:pt x="59309" y="279400"/>
                  </a:lnTo>
                  <a:lnTo>
                    <a:pt x="111125" y="299212"/>
                  </a:lnTo>
                  <a:lnTo>
                    <a:pt x="142112" y="301751"/>
                  </a:lnTo>
                  <a:lnTo>
                    <a:pt x="172592" y="299212"/>
                  </a:lnTo>
                  <a:lnTo>
                    <a:pt x="199898" y="291719"/>
                  </a:lnTo>
                  <a:lnTo>
                    <a:pt x="224028" y="279273"/>
                  </a:lnTo>
                  <a:lnTo>
                    <a:pt x="244856" y="261747"/>
                  </a:lnTo>
                  <a:lnTo>
                    <a:pt x="252857" y="251333"/>
                  </a:lnTo>
                  <a:lnTo>
                    <a:pt x="141859" y="251333"/>
                  </a:lnTo>
                  <a:lnTo>
                    <a:pt x="125094" y="249809"/>
                  </a:lnTo>
                  <a:lnTo>
                    <a:pt x="83693" y="225806"/>
                  </a:lnTo>
                  <a:lnTo>
                    <a:pt x="62230" y="173989"/>
                  </a:lnTo>
                  <a:lnTo>
                    <a:pt x="60833" y="149860"/>
                  </a:lnTo>
                  <a:lnTo>
                    <a:pt x="62102" y="127126"/>
                  </a:lnTo>
                  <a:lnTo>
                    <a:pt x="73279" y="89408"/>
                  </a:lnTo>
                  <a:lnTo>
                    <a:pt x="108965" y="56642"/>
                  </a:lnTo>
                  <a:lnTo>
                    <a:pt x="141859" y="50419"/>
                  </a:lnTo>
                  <a:lnTo>
                    <a:pt x="252603" y="50419"/>
                  </a:lnTo>
                  <a:lnTo>
                    <a:pt x="244602" y="40005"/>
                  </a:lnTo>
                  <a:lnTo>
                    <a:pt x="223646" y="22479"/>
                  </a:lnTo>
                  <a:lnTo>
                    <a:pt x="199389" y="10033"/>
                  </a:lnTo>
                  <a:lnTo>
                    <a:pt x="171958" y="2539"/>
                  </a:lnTo>
                  <a:lnTo>
                    <a:pt x="141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19798" y="1046733"/>
              <a:ext cx="141350" cy="20091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483349" y="925067"/>
              <a:ext cx="90805" cy="59690"/>
            </a:xfrm>
            <a:custGeom>
              <a:avLst/>
              <a:gdLst/>
              <a:ahLst/>
              <a:cxnLst/>
              <a:rect l="l" t="t" r="r" b="b"/>
              <a:pathLst>
                <a:path w="90804" h="59690">
                  <a:moveTo>
                    <a:pt x="90297" y="0"/>
                  </a:moveTo>
                  <a:lnTo>
                    <a:pt x="27431" y="0"/>
                  </a:lnTo>
                  <a:lnTo>
                    <a:pt x="0" y="59562"/>
                  </a:lnTo>
                  <a:lnTo>
                    <a:pt x="35432" y="59562"/>
                  </a:lnTo>
                  <a:lnTo>
                    <a:pt x="902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4327" y="1042415"/>
              <a:ext cx="170688" cy="21031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378701" y="925829"/>
              <a:ext cx="283845" cy="373380"/>
            </a:xfrm>
            <a:custGeom>
              <a:avLst/>
              <a:gdLst/>
              <a:ahLst/>
              <a:cxnLst/>
              <a:rect l="l" t="t" r="r" b="b"/>
              <a:pathLst>
                <a:path w="283845" h="373380">
                  <a:moveTo>
                    <a:pt x="141224" y="71247"/>
                  </a:moveTo>
                  <a:lnTo>
                    <a:pt x="199390" y="81280"/>
                  </a:lnTo>
                  <a:lnTo>
                    <a:pt x="244601" y="111252"/>
                  </a:lnTo>
                  <a:lnTo>
                    <a:pt x="273684" y="159131"/>
                  </a:lnTo>
                  <a:lnTo>
                    <a:pt x="283337" y="222504"/>
                  </a:lnTo>
                  <a:lnTo>
                    <a:pt x="280924" y="255905"/>
                  </a:lnTo>
                  <a:lnTo>
                    <a:pt x="261747" y="311150"/>
                  </a:lnTo>
                  <a:lnTo>
                    <a:pt x="224027" y="350520"/>
                  </a:lnTo>
                  <a:lnTo>
                    <a:pt x="172593" y="370459"/>
                  </a:lnTo>
                  <a:lnTo>
                    <a:pt x="142113" y="372999"/>
                  </a:lnTo>
                  <a:lnTo>
                    <a:pt x="111125" y="370459"/>
                  </a:lnTo>
                  <a:lnTo>
                    <a:pt x="59309" y="350647"/>
                  </a:lnTo>
                  <a:lnTo>
                    <a:pt x="21589" y="311531"/>
                  </a:lnTo>
                  <a:lnTo>
                    <a:pt x="2412" y="256921"/>
                  </a:lnTo>
                  <a:lnTo>
                    <a:pt x="0" y="223900"/>
                  </a:lnTo>
                  <a:lnTo>
                    <a:pt x="888" y="202565"/>
                  </a:lnTo>
                  <a:lnTo>
                    <a:pt x="13335" y="149098"/>
                  </a:lnTo>
                  <a:lnTo>
                    <a:pt x="40512" y="108966"/>
                  </a:lnTo>
                  <a:lnTo>
                    <a:pt x="78359" y="82804"/>
                  </a:lnTo>
                  <a:lnTo>
                    <a:pt x="123951" y="72009"/>
                  </a:lnTo>
                  <a:lnTo>
                    <a:pt x="141224" y="71247"/>
                  </a:lnTo>
                  <a:close/>
                </a:path>
                <a:path w="283845" h="373380">
                  <a:moveTo>
                    <a:pt x="132842" y="0"/>
                  </a:moveTo>
                  <a:lnTo>
                    <a:pt x="195706" y="0"/>
                  </a:lnTo>
                  <a:lnTo>
                    <a:pt x="140843" y="59562"/>
                  </a:lnTo>
                  <a:lnTo>
                    <a:pt x="105410" y="59562"/>
                  </a:lnTo>
                  <a:lnTo>
                    <a:pt x="132842" y="0"/>
                  </a:lnTo>
                  <a:close/>
                </a:path>
              </a:pathLst>
            </a:custGeom>
            <a:ln w="10668">
              <a:solidFill>
                <a:srgbClr val="9B6B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6831" y="979931"/>
              <a:ext cx="1271016" cy="35813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772275" y="1001648"/>
              <a:ext cx="240665" cy="291465"/>
            </a:xfrm>
            <a:custGeom>
              <a:avLst/>
              <a:gdLst/>
              <a:ahLst/>
              <a:cxnLst/>
              <a:rect l="l" t="t" r="r" b="b"/>
              <a:pathLst>
                <a:path w="240665" h="291465">
                  <a:moveTo>
                    <a:pt x="58826" y="49301"/>
                  </a:moveTo>
                  <a:lnTo>
                    <a:pt x="0" y="49301"/>
                  </a:lnTo>
                  <a:lnTo>
                    <a:pt x="0" y="291465"/>
                  </a:lnTo>
                  <a:lnTo>
                    <a:pt x="58826" y="291465"/>
                  </a:lnTo>
                  <a:lnTo>
                    <a:pt x="58826" y="49301"/>
                  </a:lnTo>
                  <a:close/>
                </a:path>
                <a:path w="240665" h="291465">
                  <a:moveTo>
                    <a:pt x="240068" y="0"/>
                  </a:moveTo>
                  <a:lnTo>
                    <a:pt x="181229" y="0"/>
                  </a:lnTo>
                  <a:lnTo>
                    <a:pt x="181229" y="291465"/>
                  </a:lnTo>
                  <a:lnTo>
                    <a:pt x="240068" y="291465"/>
                  </a:lnTo>
                  <a:lnTo>
                    <a:pt x="240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50505" y="996695"/>
              <a:ext cx="282575" cy="30137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685787" y="1001628"/>
              <a:ext cx="231775" cy="49530"/>
            </a:xfrm>
            <a:custGeom>
              <a:avLst/>
              <a:gdLst/>
              <a:ahLst/>
              <a:cxnLst/>
              <a:rect l="l" t="t" r="r" b="b"/>
              <a:pathLst>
                <a:path w="231775" h="49530">
                  <a:moveTo>
                    <a:pt x="231660" y="0"/>
                  </a:moveTo>
                  <a:lnTo>
                    <a:pt x="0" y="0"/>
                  </a:lnTo>
                  <a:lnTo>
                    <a:pt x="0" y="49296"/>
                  </a:lnTo>
                  <a:lnTo>
                    <a:pt x="231660" y="49296"/>
                  </a:lnTo>
                  <a:lnTo>
                    <a:pt x="231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64703" y="996695"/>
              <a:ext cx="236981" cy="30162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057771" y="996695"/>
              <a:ext cx="254000" cy="301625"/>
            </a:xfrm>
            <a:custGeom>
              <a:avLst/>
              <a:gdLst/>
              <a:ahLst/>
              <a:cxnLst/>
              <a:rect l="l" t="t" r="r" b="b"/>
              <a:pathLst>
                <a:path w="254000" h="301625">
                  <a:moveTo>
                    <a:pt x="253873" y="207391"/>
                  </a:moveTo>
                  <a:lnTo>
                    <a:pt x="196850" y="189357"/>
                  </a:lnTo>
                  <a:lnTo>
                    <a:pt x="180467" y="227711"/>
                  </a:lnTo>
                  <a:lnTo>
                    <a:pt x="143637" y="250190"/>
                  </a:lnTo>
                  <a:lnTo>
                    <a:pt x="80518" y="227711"/>
                  </a:lnTo>
                  <a:lnTo>
                    <a:pt x="61849" y="174498"/>
                  </a:lnTo>
                  <a:lnTo>
                    <a:pt x="60579" y="148844"/>
                  </a:lnTo>
                  <a:lnTo>
                    <a:pt x="61849" y="124714"/>
                  </a:lnTo>
                  <a:lnTo>
                    <a:pt x="72009" y="86995"/>
                  </a:lnTo>
                  <a:lnTo>
                    <a:pt x="104013" y="56134"/>
                  </a:lnTo>
                  <a:lnTo>
                    <a:pt x="133350" y="50292"/>
                  </a:lnTo>
                  <a:lnTo>
                    <a:pt x="144653" y="51181"/>
                  </a:lnTo>
                  <a:lnTo>
                    <a:pt x="155067" y="53594"/>
                  </a:lnTo>
                  <a:lnTo>
                    <a:pt x="186817" y="78994"/>
                  </a:lnTo>
                  <a:lnTo>
                    <a:pt x="194818" y="99187"/>
                  </a:lnTo>
                  <a:lnTo>
                    <a:pt x="253111" y="85217"/>
                  </a:lnTo>
                  <a:lnTo>
                    <a:pt x="232537" y="42037"/>
                  </a:lnTo>
                  <a:lnTo>
                    <a:pt x="184785" y="7874"/>
                  </a:lnTo>
                  <a:lnTo>
                    <a:pt x="136398" y="0"/>
                  </a:lnTo>
                  <a:lnTo>
                    <a:pt x="81026" y="10033"/>
                  </a:lnTo>
                  <a:lnTo>
                    <a:pt x="37592" y="40259"/>
                  </a:lnTo>
                  <a:lnTo>
                    <a:pt x="9398" y="88646"/>
                  </a:lnTo>
                  <a:lnTo>
                    <a:pt x="0" y="153289"/>
                  </a:lnTo>
                  <a:lnTo>
                    <a:pt x="2286" y="185801"/>
                  </a:lnTo>
                  <a:lnTo>
                    <a:pt x="20955" y="240030"/>
                  </a:lnTo>
                  <a:lnTo>
                    <a:pt x="57277" y="279019"/>
                  </a:lnTo>
                  <a:lnTo>
                    <a:pt x="105029" y="298831"/>
                  </a:lnTo>
                  <a:lnTo>
                    <a:pt x="132715" y="301371"/>
                  </a:lnTo>
                  <a:lnTo>
                    <a:pt x="155194" y="299974"/>
                  </a:lnTo>
                  <a:lnTo>
                    <a:pt x="194056" y="288290"/>
                  </a:lnTo>
                  <a:lnTo>
                    <a:pt x="224409" y="265049"/>
                  </a:lnTo>
                  <a:lnTo>
                    <a:pt x="234823" y="251079"/>
                  </a:lnTo>
                  <a:lnTo>
                    <a:pt x="236474" y="248920"/>
                  </a:lnTo>
                  <a:lnTo>
                    <a:pt x="246253" y="229616"/>
                  </a:lnTo>
                  <a:lnTo>
                    <a:pt x="253873" y="207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86549" y="997457"/>
              <a:ext cx="1216025" cy="301625"/>
            </a:xfrm>
            <a:custGeom>
              <a:avLst/>
              <a:gdLst/>
              <a:ahLst/>
              <a:cxnLst/>
              <a:rect l="l" t="t" r="r" b="b"/>
              <a:pathLst>
                <a:path w="1216025" h="301625">
                  <a:moveTo>
                    <a:pt x="267716" y="296417"/>
                  </a:moveTo>
                  <a:lnTo>
                    <a:pt x="326555" y="296417"/>
                  </a:lnTo>
                  <a:lnTo>
                    <a:pt x="326555" y="4952"/>
                  </a:lnTo>
                  <a:lnTo>
                    <a:pt x="267716" y="4952"/>
                  </a:lnTo>
                  <a:lnTo>
                    <a:pt x="267716" y="296417"/>
                  </a:lnTo>
                  <a:close/>
                </a:path>
                <a:path w="1216025" h="301625">
                  <a:moveTo>
                    <a:pt x="0" y="4952"/>
                  </a:moveTo>
                  <a:lnTo>
                    <a:pt x="231648" y="4952"/>
                  </a:lnTo>
                  <a:lnTo>
                    <a:pt x="231648" y="54228"/>
                  </a:lnTo>
                  <a:lnTo>
                    <a:pt x="145415" y="54228"/>
                  </a:lnTo>
                  <a:lnTo>
                    <a:pt x="145415" y="296417"/>
                  </a:lnTo>
                  <a:lnTo>
                    <a:pt x="86486" y="296417"/>
                  </a:lnTo>
                  <a:lnTo>
                    <a:pt x="86486" y="54228"/>
                  </a:lnTo>
                  <a:lnTo>
                    <a:pt x="0" y="54228"/>
                  </a:lnTo>
                  <a:lnTo>
                    <a:pt x="0" y="4952"/>
                  </a:lnTo>
                  <a:close/>
                </a:path>
                <a:path w="1216025" h="301625">
                  <a:moveTo>
                    <a:pt x="1095755" y="0"/>
                  </a:moveTo>
                  <a:lnTo>
                    <a:pt x="1143889" y="5968"/>
                  </a:lnTo>
                  <a:lnTo>
                    <a:pt x="1178432" y="24129"/>
                  </a:lnTo>
                  <a:lnTo>
                    <a:pt x="1205229" y="69214"/>
                  </a:lnTo>
                  <a:lnTo>
                    <a:pt x="1207516" y="88264"/>
                  </a:lnTo>
                  <a:lnTo>
                    <a:pt x="1148715" y="90804"/>
                  </a:lnTo>
                  <a:lnTo>
                    <a:pt x="1146302" y="80390"/>
                  </a:lnTo>
                  <a:lnTo>
                    <a:pt x="1142746" y="71500"/>
                  </a:lnTo>
                  <a:lnTo>
                    <a:pt x="1106931" y="49402"/>
                  </a:lnTo>
                  <a:lnTo>
                    <a:pt x="1095121" y="48767"/>
                  </a:lnTo>
                  <a:lnTo>
                    <a:pt x="1083055" y="49402"/>
                  </a:lnTo>
                  <a:lnTo>
                    <a:pt x="1045718" y="69722"/>
                  </a:lnTo>
                  <a:lnTo>
                    <a:pt x="1045718" y="77342"/>
                  </a:lnTo>
                  <a:lnTo>
                    <a:pt x="1045718" y="84200"/>
                  </a:lnTo>
                  <a:lnTo>
                    <a:pt x="1089025" y="109474"/>
                  </a:lnTo>
                  <a:lnTo>
                    <a:pt x="1128649" y="119633"/>
                  </a:lnTo>
                  <a:lnTo>
                    <a:pt x="1145921" y="124840"/>
                  </a:lnTo>
                  <a:lnTo>
                    <a:pt x="1181734" y="141350"/>
                  </a:lnTo>
                  <a:lnTo>
                    <a:pt x="1209421" y="175132"/>
                  </a:lnTo>
                  <a:lnTo>
                    <a:pt x="1215898" y="211581"/>
                  </a:lnTo>
                  <a:lnTo>
                    <a:pt x="1215008" y="223774"/>
                  </a:lnTo>
                  <a:lnTo>
                    <a:pt x="1194307" y="268731"/>
                  </a:lnTo>
                  <a:lnTo>
                    <a:pt x="1162684" y="290956"/>
                  </a:lnTo>
                  <a:lnTo>
                    <a:pt x="1117473" y="300989"/>
                  </a:lnTo>
                  <a:lnTo>
                    <a:pt x="1099184" y="301625"/>
                  </a:lnTo>
                  <a:lnTo>
                    <a:pt x="1073150" y="299974"/>
                  </a:lnTo>
                  <a:lnTo>
                    <a:pt x="1030731" y="287146"/>
                  </a:lnTo>
                  <a:lnTo>
                    <a:pt x="1001014" y="261746"/>
                  </a:lnTo>
                  <a:lnTo>
                    <a:pt x="983360" y="224536"/>
                  </a:lnTo>
                  <a:lnTo>
                    <a:pt x="978916" y="201675"/>
                  </a:lnTo>
                  <a:lnTo>
                    <a:pt x="1036193" y="196087"/>
                  </a:lnTo>
                  <a:lnTo>
                    <a:pt x="1039495" y="209422"/>
                  </a:lnTo>
                  <a:lnTo>
                    <a:pt x="1044067" y="220979"/>
                  </a:lnTo>
                  <a:lnTo>
                    <a:pt x="1075690" y="248412"/>
                  </a:lnTo>
                  <a:lnTo>
                    <a:pt x="1099693" y="251840"/>
                  </a:lnTo>
                  <a:lnTo>
                    <a:pt x="1113154" y="251078"/>
                  </a:lnTo>
                  <a:lnTo>
                    <a:pt x="1148969" y="233552"/>
                  </a:lnTo>
                  <a:lnTo>
                    <a:pt x="1157097" y="211708"/>
                  </a:lnTo>
                  <a:lnTo>
                    <a:pt x="1157097" y="204850"/>
                  </a:lnTo>
                  <a:lnTo>
                    <a:pt x="1155065" y="199008"/>
                  </a:lnTo>
                  <a:lnTo>
                    <a:pt x="1151001" y="194182"/>
                  </a:lnTo>
                  <a:lnTo>
                    <a:pt x="1146936" y="189356"/>
                  </a:lnTo>
                  <a:lnTo>
                    <a:pt x="1099439" y="172974"/>
                  </a:lnTo>
                  <a:lnTo>
                    <a:pt x="1082675" y="168782"/>
                  </a:lnTo>
                  <a:lnTo>
                    <a:pt x="1060830" y="162559"/>
                  </a:lnTo>
                  <a:lnTo>
                    <a:pt x="1016253" y="139953"/>
                  </a:lnTo>
                  <a:lnTo>
                    <a:pt x="991107" y="97916"/>
                  </a:lnTo>
                  <a:lnTo>
                    <a:pt x="989456" y="81279"/>
                  </a:lnTo>
                  <a:lnTo>
                    <a:pt x="990219" y="70357"/>
                  </a:lnTo>
                  <a:lnTo>
                    <a:pt x="1009142" y="30606"/>
                  </a:lnTo>
                  <a:lnTo>
                    <a:pt x="1050925" y="5714"/>
                  </a:lnTo>
                  <a:lnTo>
                    <a:pt x="1079627" y="634"/>
                  </a:lnTo>
                  <a:lnTo>
                    <a:pt x="1095755" y="0"/>
                  </a:lnTo>
                  <a:close/>
                </a:path>
                <a:path w="1216025" h="301625">
                  <a:moveTo>
                    <a:pt x="805688" y="0"/>
                  </a:moveTo>
                  <a:lnTo>
                    <a:pt x="863600" y="10032"/>
                  </a:lnTo>
                  <a:lnTo>
                    <a:pt x="908684" y="40004"/>
                  </a:lnTo>
                  <a:lnTo>
                    <a:pt x="937768" y="87756"/>
                  </a:lnTo>
                  <a:lnTo>
                    <a:pt x="947420" y="151002"/>
                  </a:lnTo>
                  <a:lnTo>
                    <a:pt x="945006" y="184403"/>
                  </a:lnTo>
                  <a:lnTo>
                    <a:pt x="925829" y="239649"/>
                  </a:lnTo>
                  <a:lnTo>
                    <a:pt x="888238" y="278891"/>
                  </a:lnTo>
                  <a:lnTo>
                    <a:pt x="836929" y="298830"/>
                  </a:lnTo>
                  <a:lnTo>
                    <a:pt x="806450" y="301370"/>
                  </a:lnTo>
                  <a:lnTo>
                    <a:pt x="775589" y="298830"/>
                  </a:lnTo>
                  <a:lnTo>
                    <a:pt x="723900" y="279018"/>
                  </a:lnTo>
                  <a:lnTo>
                    <a:pt x="686307" y="240029"/>
                  </a:lnTo>
                  <a:lnTo>
                    <a:pt x="667130" y="185419"/>
                  </a:lnTo>
                  <a:lnTo>
                    <a:pt x="664718" y="152526"/>
                  </a:lnTo>
                  <a:lnTo>
                    <a:pt x="665606" y="131063"/>
                  </a:lnTo>
                  <a:lnTo>
                    <a:pt x="678052" y="77724"/>
                  </a:lnTo>
                  <a:lnTo>
                    <a:pt x="705103" y="37718"/>
                  </a:lnTo>
                  <a:lnTo>
                    <a:pt x="742950" y="11556"/>
                  </a:lnTo>
                  <a:lnTo>
                    <a:pt x="788416" y="762"/>
                  </a:lnTo>
                  <a:lnTo>
                    <a:pt x="805688" y="0"/>
                  </a:lnTo>
                  <a:close/>
                </a:path>
                <a:path w="1216025" h="301625">
                  <a:moveTo>
                    <a:pt x="508380" y="0"/>
                  </a:moveTo>
                  <a:lnTo>
                    <a:pt x="556768" y="7874"/>
                  </a:lnTo>
                  <a:lnTo>
                    <a:pt x="595249" y="31622"/>
                  </a:lnTo>
                  <a:lnTo>
                    <a:pt x="619505" y="68833"/>
                  </a:lnTo>
                  <a:lnTo>
                    <a:pt x="625094" y="85216"/>
                  </a:lnTo>
                  <a:lnTo>
                    <a:pt x="566801" y="99187"/>
                  </a:lnTo>
                  <a:lnTo>
                    <a:pt x="563499" y="88518"/>
                  </a:lnTo>
                  <a:lnTo>
                    <a:pt x="558800" y="78993"/>
                  </a:lnTo>
                  <a:lnTo>
                    <a:pt x="527050" y="53593"/>
                  </a:lnTo>
                  <a:lnTo>
                    <a:pt x="505332" y="50291"/>
                  </a:lnTo>
                  <a:lnTo>
                    <a:pt x="489966" y="51815"/>
                  </a:lnTo>
                  <a:lnTo>
                    <a:pt x="452754" y="73532"/>
                  </a:lnTo>
                  <a:lnTo>
                    <a:pt x="433831" y="124713"/>
                  </a:lnTo>
                  <a:lnTo>
                    <a:pt x="432561" y="148843"/>
                  </a:lnTo>
                  <a:lnTo>
                    <a:pt x="433831" y="174497"/>
                  </a:lnTo>
                  <a:lnTo>
                    <a:pt x="443865" y="213867"/>
                  </a:lnTo>
                  <a:lnTo>
                    <a:pt x="475360" y="245237"/>
                  </a:lnTo>
                  <a:lnTo>
                    <a:pt x="504190" y="251078"/>
                  </a:lnTo>
                  <a:lnTo>
                    <a:pt x="515620" y="250189"/>
                  </a:lnTo>
                  <a:lnTo>
                    <a:pt x="552450" y="227711"/>
                  </a:lnTo>
                  <a:lnTo>
                    <a:pt x="568832" y="189356"/>
                  </a:lnTo>
                  <a:lnTo>
                    <a:pt x="625855" y="207390"/>
                  </a:lnTo>
                  <a:lnTo>
                    <a:pt x="608456" y="248919"/>
                  </a:lnTo>
                  <a:lnTo>
                    <a:pt x="582295" y="278256"/>
                  </a:lnTo>
                  <a:lnTo>
                    <a:pt x="547624" y="295528"/>
                  </a:lnTo>
                  <a:lnTo>
                    <a:pt x="504698" y="301370"/>
                  </a:lnTo>
                  <a:lnTo>
                    <a:pt x="477011" y="298830"/>
                  </a:lnTo>
                  <a:lnTo>
                    <a:pt x="429259" y="279018"/>
                  </a:lnTo>
                  <a:lnTo>
                    <a:pt x="392938" y="240029"/>
                  </a:lnTo>
                  <a:lnTo>
                    <a:pt x="374269" y="185800"/>
                  </a:lnTo>
                  <a:lnTo>
                    <a:pt x="371982" y="153288"/>
                  </a:lnTo>
                  <a:lnTo>
                    <a:pt x="374269" y="118871"/>
                  </a:lnTo>
                  <a:lnTo>
                    <a:pt x="393192" y="62483"/>
                  </a:lnTo>
                  <a:lnTo>
                    <a:pt x="429768" y="22732"/>
                  </a:lnTo>
                  <a:lnTo>
                    <a:pt x="479171" y="2539"/>
                  </a:lnTo>
                  <a:lnTo>
                    <a:pt x="508380" y="0"/>
                  </a:lnTo>
                  <a:close/>
                </a:path>
              </a:pathLst>
            </a:custGeom>
            <a:ln w="10668">
              <a:solidFill>
                <a:srgbClr val="9B6B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6145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2292223"/>
            <a:ext cx="10078085" cy="4297971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marR="5080" indent="-343535">
              <a:lnSpc>
                <a:spcPts val="2500"/>
              </a:lnSpc>
              <a:spcBef>
                <a:spcPts val="295"/>
              </a:spcBef>
              <a:buClr>
                <a:srgbClr val="B31166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b="1" dirty="0">
                <a:latin typeface="Arial"/>
                <a:cs typeface="Arial"/>
              </a:rPr>
              <a:t>La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mayoría</a:t>
            </a:r>
            <a:r>
              <a:rPr sz="2200" b="1" spc="1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de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las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causas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secundarias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y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la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spc="-10" dirty="0" err="1" smtClean="0">
                <a:latin typeface="Arial"/>
                <a:cs typeface="Arial"/>
              </a:rPr>
              <a:t>macroprolactinemia</a:t>
            </a:r>
            <a:r>
              <a:rPr lang="es-MX" sz="2200" b="1" spc="-70" dirty="0">
                <a:latin typeface="Arial"/>
                <a:cs typeface="Arial"/>
              </a:rPr>
              <a:t> </a:t>
            </a:r>
            <a:r>
              <a:rPr lang="es-MX" sz="2200" b="1" spc="-70" dirty="0" smtClean="0">
                <a:latin typeface="Arial"/>
                <a:cs typeface="Arial"/>
              </a:rPr>
              <a:t>producen</a:t>
            </a:r>
            <a:r>
              <a:rPr sz="2200" b="1" spc="-10" dirty="0" smtClean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valores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de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PRL</a:t>
            </a:r>
            <a:r>
              <a:rPr sz="2200" b="1" spc="-11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entre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25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y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100ng/ml.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20"/>
              </a:spcBef>
              <a:buClr>
                <a:srgbClr val="B31166"/>
              </a:buClr>
              <a:buFont typeface="Wingdings"/>
              <a:buChar char=""/>
            </a:pPr>
            <a:endParaRPr sz="2200" b="1" dirty="0">
              <a:latin typeface="Arial"/>
              <a:cs typeface="Arial"/>
            </a:endParaRPr>
          </a:p>
          <a:p>
            <a:pPr marL="354965" indent="-342265">
              <a:lnSpc>
                <a:spcPts val="2575"/>
              </a:lnSpc>
              <a:buClr>
                <a:srgbClr val="B31166"/>
              </a:buClr>
              <a:buSzPct val="79545"/>
              <a:buFont typeface="Wingdings"/>
              <a:buChar char=""/>
              <a:tabLst>
                <a:tab pos="354965" algn="l"/>
                <a:tab pos="9427210" algn="l"/>
              </a:tabLst>
            </a:pPr>
            <a:r>
              <a:rPr sz="2200" b="1" dirty="0">
                <a:latin typeface="Arial"/>
                <a:cs typeface="Arial"/>
              </a:rPr>
              <a:t>La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hiperprolactinemia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por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daño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hipotalámico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por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compresión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spc="-25" dirty="0">
                <a:latin typeface="Arial"/>
                <a:cs typeface="Arial"/>
              </a:rPr>
              <a:t>del</a:t>
            </a:r>
            <a:r>
              <a:rPr sz="2200" b="1" dirty="0">
                <a:latin typeface="Arial"/>
                <a:cs typeface="Arial"/>
              </a:rPr>
              <a:t>	</a:t>
            </a:r>
            <a:r>
              <a:rPr sz="2200" b="1" spc="-10" dirty="0">
                <a:latin typeface="Arial"/>
                <a:cs typeface="Arial"/>
              </a:rPr>
              <a:t>tallo</a:t>
            </a:r>
            <a:endParaRPr sz="2200" dirty="0">
              <a:latin typeface="Arial"/>
              <a:cs typeface="Arial"/>
            </a:endParaRPr>
          </a:p>
          <a:p>
            <a:pPr marL="355600">
              <a:lnSpc>
                <a:spcPts val="2575"/>
              </a:lnSpc>
            </a:pPr>
            <a:r>
              <a:rPr sz="2200" b="1" dirty="0">
                <a:latin typeface="Arial"/>
                <a:cs typeface="Arial"/>
              </a:rPr>
              <a:t>hipofisario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suele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ser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inferior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100-</a:t>
            </a:r>
            <a:r>
              <a:rPr sz="2200" b="1" spc="-10" dirty="0">
                <a:latin typeface="Arial"/>
                <a:cs typeface="Arial"/>
              </a:rPr>
              <a:t>150ng/ml.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2200" dirty="0">
              <a:latin typeface="Arial"/>
              <a:cs typeface="Arial"/>
            </a:endParaRPr>
          </a:p>
          <a:p>
            <a:pPr marL="354965" indent="-342265">
              <a:lnSpc>
                <a:spcPts val="2570"/>
              </a:lnSpc>
              <a:spcBef>
                <a:spcPts val="5"/>
              </a:spcBef>
              <a:buClr>
                <a:srgbClr val="B31166"/>
              </a:buClr>
              <a:buSzPct val="79545"/>
              <a:buFont typeface="Wingdings"/>
              <a:buChar char=""/>
              <a:tabLst>
                <a:tab pos="354965" algn="l"/>
              </a:tabLst>
            </a:pPr>
            <a:r>
              <a:rPr sz="2200" b="1" spc="-35" dirty="0">
                <a:latin typeface="Arial"/>
                <a:cs typeface="Arial"/>
              </a:rPr>
              <a:t>Valores</a:t>
            </a:r>
            <a:r>
              <a:rPr sz="2200" b="1" spc="-8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de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PRL</a:t>
            </a:r>
            <a:r>
              <a:rPr sz="2200" b="1" spc="-13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superiores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250ng/ml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generalmente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indican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la</a:t>
            </a:r>
            <a:r>
              <a:rPr sz="2200" b="1" spc="-7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presencia</a:t>
            </a:r>
            <a:endParaRPr sz="2200" dirty="0">
              <a:latin typeface="Arial"/>
              <a:cs typeface="Arial"/>
            </a:endParaRPr>
          </a:p>
          <a:p>
            <a:pPr marL="355600">
              <a:lnSpc>
                <a:spcPts val="2570"/>
              </a:lnSpc>
            </a:pPr>
            <a:r>
              <a:rPr sz="2200" b="1" dirty="0">
                <a:latin typeface="Arial"/>
                <a:cs typeface="Arial"/>
              </a:rPr>
              <a:t>de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un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prolactinoma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(macroprolactinoma)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2200" dirty="0">
              <a:latin typeface="Arial"/>
              <a:cs typeface="Arial"/>
            </a:endParaRPr>
          </a:p>
          <a:p>
            <a:pPr marL="355600" marR="348615" indent="-343535">
              <a:lnSpc>
                <a:spcPts val="2400"/>
              </a:lnSpc>
              <a:buClr>
                <a:srgbClr val="B31166"/>
              </a:buClr>
              <a:buSzPct val="79545"/>
              <a:buFont typeface="Wingdings"/>
              <a:buChar char=""/>
              <a:tabLst>
                <a:tab pos="355600" algn="l"/>
              </a:tabLst>
            </a:pPr>
            <a:r>
              <a:rPr sz="2200" b="1" dirty="0">
                <a:latin typeface="Arial"/>
                <a:cs typeface="Arial"/>
              </a:rPr>
              <a:t>Fármacos</a:t>
            </a:r>
            <a:r>
              <a:rPr sz="2200" b="1" spc="-7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como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la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metoclopramida,</a:t>
            </a:r>
            <a:r>
              <a:rPr sz="2200" b="1" spc="-7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risperidona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y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fenotiazinas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pueden </a:t>
            </a:r>
            <a:r>
              <a:rPr sz="2200" b="1" dirty="0">
                <a:latin typeface="Arial"/>
                <a:cs typeface="Arial"/>
              </a:rPr>
              <a:t>llegar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producir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valores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de</a:t>
            </a:r>
            <a:r>
              <a:rPr sz="2200" b="1" spc="-2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PRL</a:t>
            </a:r>
            <a:r>
              <a:rPr sz="2200" b="1" spc="-13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superiores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200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ng/ml.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9448" y="1200657"/>
            <a:ext cx="5235204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HIPERPROLACTINEMIA</a:t>
            </a:r>
            <a:endParaRPr sz="3200" b="1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 flipH="1">
            <a:off x="12484211" y="1453611"/>
            <a:ext cx="5065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AR" sz="1800" b="1" spc="-10" dirty="0" smtClean="0">
                <a:solidFill>
                  <a:schemeClr val="tx1"/>
                </a:solidFill>
              </a:rPr>
              <a:t>HIPERPROLACTINEMIA</a:t>
            </a:r>
            <a:endParaRPr lang="es-AR" sz="1800" b="1" spc="-1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34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9076" y="5867399"/>
            <a:ext cx="990600" cy="990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-1"/>
            <a:ext cx="12192000" cy="6858000"/>
            <a:chOff x="0" y="0"/>
            <a:chExt cx="12192000" cy="68580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9476" y="9144"/>
              <a:ext cx="1600200" cy="1600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02395" y="1519427"/>
              <a:ext cx="3287395" cy="767715"/>
            </a:xfrm>
            <a:custGeom>
              <a:avLst/>
              <a:gdLst/>
              <a:ahLst/>
              <a:cxnLst/>
              <a:rect l="l" t="t" r="r" b="b"/>
              <a:pathLst>
                <a:path w="3287395" h="767714">
                  <a:moveTo>
                    <a:pt x="3225546" y="0"/>
                  </a:moveTo>
                  <a:lnTo>
                    <a:pt x="2909315" y="104775"/>
                  </a:lnTo>
                  <a:lnTo>
                    <a:pt x="2590419" y="200533"/>
                  </a:lnTo>
                  <a:lnTo>
                    <a:pt x="2485008" y="229870"/>
                  </a:lnTo>
                  <a:lnTo>
                    <a:pt x="2271013" y="287147"/>
                  </a:lnTo>
                  <a:lnTo>
                    <a:pt x="2059304" y="340360"/>
                  </a:lnTo>
                  <a:lnTo>
                    <a:pt x="1954149" y="365633"/>
                  </a:lnTo>
                  <a:lnTo>
                    <a:pt x="1639315" y="436118"/>
                  </a:lnTo>
                  <a:lnTo>
                    <a:pt x="1329817" y="498729"/>
                  </a:lnTo>
                  <a:lnTo>
                    <a:pt x="1127125" y="536701"/>
                  </a:lnTo>
                  <a:lnTo>
                    <a:pt x="829055" y="588263"/>
                  </a:lnTo>
                  <a:lnTo>
                    <a:pt x="447801" y="646557"/>
                  </a:lnTo>
                  <a:lnTo>
                    <a:pt x="174751" y="683641"/>
                  </a:lnTo>
                  <a:lnTo>
                    <a:pt x="0" y="704850"/>
                  </a:lnTo>
                  <a:lnTo>
                    <a:pt x="39115" y="766318"/>
                  </a:lnTo>
                  <a:lnTo>
                    <a:pt x="66167" y="767080"/>
                  </a:lnTo>
                  <a:lnTo>
                    <a:pt x="95123" y="767588"/>
                  </a:lnTo>
                  <a:lnTo>
                    <a:pt x="125983" y="767714"/>
                  </a:lnTo>
                  <a:lnTo>
                    <a:pt x="192912" y="766952"/>
                  </a:lnTo>
                  <a:lnTo>
                    <a:pt x="305943" y="763651"/>
                  </a:lnTo>
                  <a:lnTo>
                    <a:pt x="477647" y="755142"/>
                  </a:lnTo>
                  <a:lnTo>
                    <a:pt x="772922" y="735076"/>
                  </a:lnTo>
                  <a:lnTo>
                    <a:pt x="1335658" y="685038"/>
                  </a:lnTo>
                  <a:lnTo>
                    <a:pt x="2058543" y="606806"/>
                  </a:lnTo>
                  <a:lnTo>
                    <a:pt x="2688462" y="527176"/>
                  </a:lnTo>
                  <a:lnTo>
                    <a:pt x="3037585" y="477012"/>
                  </a:lnTo>
                  <a:lnTo>
                    <a:pt x="3249422" y="443102"/>
                  </a:lnTo>
                  <a:lnTo>
                    <a:pt x="3287268" y="436625"/>
                  </a:lnTo>
                  <a:lnTo>
                    <a:pt x="3264154" y="270383"/>
                  </a:lnTo>
                  <a:lnTo>
                    <a:pt x="3244596" y="138049"/>
                  </a:lnTo>
                  <a:lnTo>
                    <a:pt x="322554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23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6856475"/>
                  </a:lnTo>
                  <a:lnTo>
                    <a:pt x="12192000" y="6856475"/>
                  </a:lnTo>
                  <a:lnTo>
                    <a:pt x="12192000" y="470153"/>
                  </a:lnTo>
                  <a:lnTo>
                    <a:pt x="11709273" y="470153"/>
                  </a:lnTo>
                  <a:lnTo>
                    <a:pt x="11709273" y="1871345"/>
                  </a:lnTo>
                  <a:lnTo>
                    <a:pt x="10971022" y="1981327"/>
                  </a:lnTo>
                  <a:lnTo>
                    <a:pt x="10201148" y="2075052"/>
                  </a:lnTo>
                  <a:lnTo>
                    <a:pt x="9947148" y="2100453"/>
                  </a:lnTo>
                  <a:lnTo>
                    <a:pt x="9434322" y="2146427"/>
                  </a:lnTo>
                  <a:lnTo>
                    <a:pt x="8927973" y="2184527"/>
                  </a:lnTo>
                  <a:lnTo>
                    <a:pt x="8675497" y="2200402"/>
                  </a:lnTo>
                  <a:lnTo>
                    <a:pt x="7926197" y="2236978"/>
                  </a:lnTo>
                  <a:lnTo>
                    <a:pt x="7191248" y="2257552"/>
                  </a:lnTo>
                  <a:lnTo>
                    <a:pt x="6473698" y="2265553"/>
                  </a:lnTo>
                  <a:lnTo>
                    <a:pt x="6006973" y="2263902"/>
                  </a:lnTo>
                  <a:lnTo>
                    <a:pt x="5108448" y="2246503"/>
                  </a:lnTo>
                  <a:lnTo>
                    <a:pt x="4467098" y="2222627"/>
                  </a:lnTo>
                  <a:lnTo>
                    <a:pt x="3665347" y="2179828"/>
                  </a:lnTo>
                  <a:lnTo>
                    <a:pt x="2931922" y="2130552"/>
                  </a:lnTo>
                  <a:lnTo>
                    <a:pt x="2592197" y="2103628"/>
                  </a:lnTo>
                  <a:lnTo>
                    <a:pt x="1979422" y="2046477"/>
                  </a:lnTo>
                  <a:lnTo>
                    <a:pt x="1233360" y="1965452"/>
                  </a:lnTo>
                  <a:lnTo>
                    <a:pt x="863472" y="1921002"/>
                  </a:lnTo>
                  <a:lnTo>
                    <a:pt x="476377" y="1867789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98252" y="0"/>
              <a:ext cx="760476" cy="12039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5511" y="4754879"/>
              <a:ext cx="4619244" cy="3489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07891" y="4747259"/>
              <a:ext cx="4605527" cy="3368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20384" y="4741164"/>
              <a:ext cx="2199132" cy="3489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01796" y="4741164"/>
              <a:ext cx="2238755" cy="3489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963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</TotalTime>
  <Words>439</Words>
  <Application>Microsoft Office PowerPoint</Application>
  <PresentationFormat>Panorámica</PresentationFormat>
  <Paragraphs>133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Arial MT</vt:lpstr>
      <vt:lpstr>Century Gothic</vt:lpstr>
      <vt:lpstr>Lucida Sans Unicode</vt:lpstr>
      <vt:lpstr>Times New Roman</vt:lpstr>
      <vt:lpstr>Wingdings</vt:lpstr>
      <vt:lpstr>Wingdings 3</vt:lpstr>
      <vt:lpstr>Ion</vt:lpstr>
      <vt:lpstr>MEDICINA INTERNA III</vt:lpstr>
      <vt:lpstr>PROLACTINA</vt:lpstr>
      <vt:lpstr>VALORES NORMALES</vt:lpstr>
      <vt:lpstr>HIPERPROLACTINEMIA</vt:lpstr>
      <vt:lpstr>HIPERPROLACTINEMIA</vt:lpstr>
      <vt:lpstr>CLINÍCA</vt:lpstr>
      <vt:lpstr>CLÍNICA</vt:lpstr>
      <vt:lpstr>DIAGNÓSTICO</vt:lpstr>
      <vt:lpstr>CAUSAS DE HIPERPROLACTINEMIA</vt:lpstr>
      <vt:lpstr>CAUSAS DE HIPERPROLACTINEMIA</vt:lpstr>
      <vt:lpstr>CAUSAS DE HIPERPROLACTINEMIA</vt:lpstr>
      <vt:lpstr>CAUSAS DE HIPERPROLACTINEMIA</vt:lpstr>
      <vt:lpstr>HIPERPROLACTINEMIA</vt:lpstr>
      <vt:lpstr>Presentación de PowerPoint</vt:lpstr>
      <vt:lpstr>HIPERPROLACTINEMIA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Medicina Interna III</dc:title>
  <dc:creator>usuario</dc:creator>
  <cp:lastModifiedBy>usuario</cp:lastModifiedBy>
  <cp:revision>6</cp:revision>
  <dcterms:created xsi:type="dcterms:W3CDTF">2026-07-16T14:43:22Z</dcterms:created>
  <dcterms:modified xsi:type="dcterms:W3CDTF">2026-07-17T19:34:15Z</dcterms:modified>
</cp:coreProperties>
</file>