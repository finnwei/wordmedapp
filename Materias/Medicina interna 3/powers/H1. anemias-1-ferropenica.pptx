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.jpg" ContentType="image/jpg"/>
  <Override PartName="/ppt/media/image4.jpg" ContentType="image/jpg"/>
  <Override PartName="/ppt/media/image5.jpg" ContentType="image/jpg"/>
  <Override PartName="/ppt/media/image7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8" r:id="rId31"/>
    <p:sldId id="289" r:id="rId32"/>
    <p:sldId id="285" r:id="rId33"/>
    <p:sldId id="286" r:id="rId34"/>
    <p:sldId id="287" r:id="rId3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08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0690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5495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539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18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1127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9648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701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474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964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4712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0C22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13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409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76600" y="2261960"/>
            <a:ext cx="723595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sz="3200" b="1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INTERNA</a:t>
            </a:r>
            <a:r>
              <a:rPr sz="3200" b="1" spc="-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III</a:t>
            </a:r>
            <a:r>
              <a:rPr lang="es-ES" sz="3200" b="1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1000" y="3180237"/>
            <a:ext cx="272605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35" dirty="0">
                <a:solidFill>
                  <a:srgbClr val="404040"/>
                </a:solidFill>
                <a:latin typeface="Arial"/>
                <a:cs typeface="Arial"/>
              </a:rPr>
              <a:t>HEMATOLOGÍA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3400" y="3810000"/>
            <a:ext cx="2514600" cy="1782539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0"/>
              </a:spcBef>
            </a:pPr>
            <a:r>
              <a:rPr lang="es-MX" sz="2000" b="1" dirty="0" smtClean="0">
                <a:solidFill>
                  <a:srgbClr val="404040"/>
                </a:solidFill>
                <a:latin typeface="Arial MT"/>
                <a:cs typeface="Arial MT"/>
              </a:rPr>
              <a:t>ANEMIA 1</a:t>
            </a:r>
          </a:p>
          <a:p>
            <a:pPr marL="12700" algn="ctr">
              <a:lnSpc>
                <a:spcPct val="100000"/>
              </a:lnSpc>
              <a:spcBef>
                <a:spcPts val="1100"/>
              </a:spcBef>
            </a:pPr>
            <a:endParaRPr lang="es-MX" sz="2000" b="1" dirty="0">
              <a:solidFill>
                <a:srgbClr val="404040"/>
              </a:solidFill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100"/>
              </a:spcBef>
            </a:pPr>
            <a:r>
              <a:rPr sz="2000" b="1" dirty="0" smtClean="0">
                <a:solidFill>
                  <a:srgbClr val="404040"/>
                </a:solidFill>
                <a:latin typeface="Arial MT"/>
                <a:cs typeface="Arial MT"/>
              </a:rPr>
              <a:t>Dra</a:t>
            </a:r>
            <a:r>
              <a:rPr sz="2000" b="1" spc="-80" dirty="0" smtClean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 MT"/>
                <a:cs typeface="Arial MT"/>
              </a:rPr>
              <a:t>Susana</a:t>
            </a:r>
            <a:r>
              <a:rPr sz="2000" b="1" spc="-10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b="1" spc="-20" dirty="0">
                <a:solidFill>
                  <a:srgbClr val="404040"/>
                </a:solidFill>
                <a:latin typeface="Arial MT"/>
                <a:cs typeface="Arial MT"/>
              </a:rPr>
              <a:t>Tortosa</a:t>
            </a:r>
            <a:endParaRPr sz="2000" b="1" dirty="0">
              <a:latin typeface="Arial MT"/>
              <a:cs typeface="Arial MT"/>
            </a:endParaRPr>
          </a:p>
          <a:p>
            <a:pPr marL="144780" algn="ctr">
              <a:lnSpc>
                <a:spcPct val="100000"/>
              </a:lnSpc>
              <a:spcBef>
                <a:spcPts val="1000"/>
              </a:spcBef>
            </a:pPr>
            <a:r>
              <a:rPr sz="2000" b="1" spc="-20" dirty="0">
                <a:solidFill>
                  <a:srgbClr val="404040"/>
                </a:solidFill>
                <a:latin typeface="Arial MT"/>
                <a:cs typeface="Arial MT"/>
              </a:rPr>
              <a:t>Profesora</a:t>
            </a:r>
            <a:r>
              <a:rPr sz="2000" b="1" spc="-9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 MT"/>
                <a:cs typeface="Arial MT"/>
              </a:rPr>
              <a:t>Adjunta</a:t>
            </a:r>
            <a:endParaRPr sz="2000" b="1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513659"/>
            <a:ext cx="2784348" cy="1534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1354563"/>
            <a:ext cx="1005840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5" dirty="0">
                <a:latin typeface="Arial" panose="020B0604020202020204" pitchFamily="34" charset="0"/>
                <a:cs typeface="Arial" panose="020B0604020202020204" pitchFamily="34" charset="0"/>
              </a:rPr>
              <a:t>HEMATOLOGÍA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2286000"/>
            <a:ext cx="81781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4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hematología</a:t>
            </a:r>
            <a:r>
              <a:rPr sz="2400" b="1" spc="-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4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rama</a:t>
            </a:r>
            <a:r>
              <a:rPr sz="24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medicina</a:t>
            </a:r>
            <a:r>
              <a:rPr sz="24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24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</a:t>
            </a:r>
            <a:r>
              <a:rPr sz="24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sangre,</a:t>
            </a:r>
            <a:r>
              <a:rPr sz="24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4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órganos</a:t>
            </a:r>
            <a:r>
              <a:rPr sz="24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formadores</a:t>
            </a:r>
            <a:r>
              <a:rPr sz="24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  <a:r>
              <a:rPr sz="24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4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enfermedades</a:t>
            </a:r>
            <a:r>
              <a:rPr sz="24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spc="-8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9224" y="3581400"/>
            <a:ext cx="3334511" cy="21244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97280" y="936628"/>
            <a:ext cx="10058400" cy="800732"/>
          </a:xfrm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2392045">
              <a:lnSpc>
                <a:spcPct val="100000"/>
              </a:lnSpc>
              <a:spcBef>
                <a:spcPts val="100"/>
              </a:spcBef>
            </a:pPr>
            <a:r>
              <a:rPr lang="es-E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HEMATOPOYESIS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1" y="1904999"/>
            <a:ext cx="9365970" cy="4373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450" spc="65" dirty="0" smtClean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 smtClean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Formación</a:t>
            </a:r>
            <a:r>
              <a:rPr sz="1800" b="1" spc="-25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sanguíneas: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4700" marR="5718175" indent="-762635">
              <a:lnSpc>
                <a:spcPct val="1461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órganos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hematopoyéticos: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Prenatal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vitelino.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81835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hígado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bazo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1°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4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3°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981835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médula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ósea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4to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7470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Postnatal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Médula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ósea: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vértebras,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huesos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largos,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esternón,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costillas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cresta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iliaca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Extramedular: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hígado,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bazo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ganglios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linfáticos,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timo,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4020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Anemias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hemolítica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congénitas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4020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Síndromes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mieloproliferativo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875073"/>
            <a:ext cx="10058400" cy="862287"/>
          </a:xfrm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2392045">
              <a:lnSpc>
                <a:spcPct val="100000"/>
              </a:lnSpc>
              <a:spcBef>
                <a:spcPts val="100"/>
              </a:spcBef>
            </a:pPr>
            <a:r>
              <a:rPr sz="2800" spc="-25" dirty="0"/>
              <a:t>HEMATOPOYESIS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423" y="1856232"/>
            <a:ext cx="8764524" cy="415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80769" y="94204"/>
            <a:ext cx="72688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TIMO</a:t>
            </a:r>
            <a:r>
              <a:rPr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deriva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griego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“thymos”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significa</a:t>
            </a:r>
            <a:r>
              <a:rPr sz="2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energía</a:t>
            </a:r>
            <a:r>
              <a:rPr sz="20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vital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0760" y="1042796"/>
            <a:ext cx="7777480" cy="56303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Directamente</a:t>
            </a:r>
            <a:r>
              <a:rPr sz="20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conectado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los</a:t>
            </a:r>
            <a:r>
              <a:rPr sz="20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sentidos,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conciencia</a:t>
            </a:r>
            <a:r>
              <a:rPr sz="20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y</a:t>
            </a:r>
            <a:r>
              <a:rPr sz="20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al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 lenguaje.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Aumenta</a:t>
            </a:r>
            <a:r>
              <a:rPr sz="20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cuando</a:t>
            </a:r>
            <a:r>
              <a:rPr sz="20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estamos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alegres.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Disminuye</a:t>
            </a:r>
            <a:r>
              <a:rPr sz="20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cuando</a:t>
            </a:r>
            <a:r>
              <a:rPr sz="20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estamos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estresados</a:t>
            </a:r>
            <a:r>
              <a:rPr sz="2000" spc="484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o</a:t>
            </a:r>
            <a:r>
              <a:rPr sz="20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enfermos.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Se</a:t>
            </a:r>
            <a:r>
              <a:rPr sz="20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ve</a:t>
            </a:r>
            <a:r>
              <a:rPr sz="20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afectado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negativamente</a:t>
            </a:r>
            <a:r>
              <a:rPr sz="20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por</a:t>
            </a:r>
            <a:r>
              <a:rPr sz="20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20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quimioterapia</a:t>
            </a:r>
            <a:r>
              <a:rPr sz="20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y</a:t>
            </a:r>
            <a:r>
              <a:rPr sz="20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radioterapia.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Regula</a:t>
            </a:r>
            <a:r>
              <a:rPr sz="20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las</a:t>
            </a:r>
            <a:r>
              <a:rPr sz="20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emociones.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Lo</a:t>
            </a:r>
            <a:r>
              <a:rPr sz="20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estimula</a:t>
            </a:r>
            <a:r>
              <a:rPr sz="20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20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suplemento</a:t>
            </a:r>
            <a:r>
              <a:rPr sz="2000" spc="-7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Zinc.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10"/>
              </a:spcBef>
            </a:pP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b="1" dirty="0">
                <a:solidFill>
                  <a:schemeClr val="bg2"/>
                </a:solidFill>
                <a:latin typeface="Arial MT"/>
                <a:cs typeface="Arial MT"/>
              </a:rPr>
              <a:t>Se</a:t>
            </a:r>
            <a:r>
              <a:rPr sz="2000" b="1" spc="-40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bg2"/>
                </a:solidFill>
                <a:latin typeface="Arial MT"/>
                <a:cs typeface="Arial MT"/>
              </a:rPr>
              <a:t>atrofia</a:t>
            </a:r>
            <a:r>
              <a:rPr sz="2000" b="1" spc="-50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bg2"/>
                </a:solidFill>
                <a:latin typeface="Arial MT"/>
                <a:cs typeface="Arial MT"/>
              </a:rPr>
              <a:t>a</a:t>
            </a:r>
            <a:r>
              <a:rPr sz="2000" b="1" spc="-30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chemeClr val="bg2"/>
                </a:solidFill>
                <a:latin typeface="Arial MT"/>
                <a:cs typeface="Arial MT"/>
              </a:rPr>
              <a:t>tejido</a:t>
            </a:r>
            <a:r>
              <a:rPr sz="2000" b="1" spc="-25" dirty="0">
                <a:solidFill>
                  <a:schemeClr val="bg2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chemeClr val="bg2"/>
                </a:solidFill>
                <a:latin typeface="Arial MT"/>
                <a:cs typeface="Arial MT"/>
              </a:rPr>
              <a:t>graso.</a:t>
            </a:r>
            <a:endParaRPr sz="2000" b="1" dirty="0">
              <a:solidFill>
                <a:schemeClr val="bg2"/>
              </a:solidFill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5103" y="4245864"/>
            <a:ext cx="3639311" cy="22387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92929" y="487325"/>
            <a:ext cx="11684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latin typeface="Arial" panose="020B0604020202020204" pitchFamily="34" charset="0"/>
                <a:cs typeface="Arial" panose="020B0604020202020204" pitchFamily="34" charset="0"/>
              </a:rPr>
              <a:t>TIMO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931036"/>
            <a:ext cx="8900160" cy="5337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500" spc="9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Es</a:t>
            </a:r>
            <a:r>
              <a:rPr sz="19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una</a:t>
            </a:r>
            <a:r>
              <a:rPr sz="19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glándula</a:t>
            </a:r>
            <a:r>
              <a:rPr sz="19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impar.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500" spc="9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Libera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una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hormona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Timosina.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500" spc="9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Estimula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crecimiento</a:t>
            </a:r>
            <a:r>
              <a:rPr sz="19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las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células</a:t>
            </a:r>
            <a:r>
              <a:rPr sz="1900" b="1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spc="-10" dirty="0">
                <a:solidFill>
                  <a:srgbClr val="404040"/>
                </a:solidFill>
                <a:latin typeface="Arial"/>
                <a:cs typeface="Arial"/>
              </a:rPr>
              <a:t>inmunológicas,</a:t>
            </a:r>
            <a:r>
              <a:rPr sz="19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404040"/>
                </a:solidFill>
                <a:latin typeface="Arial"/>
                <a:cs typeface="Arial"/>
              </a:rPr>
              <a:t>linfocitos</a:t>
            </a:r>
            <a:r>
              <a:rPr sz="19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900" b="1" spc="-25" dirty="0">
                <a:solidFill>
                  <a:srgbClr val="404040"/>
                </a:solidFill>
                <a:latin typeface="Arial"/>
                <a:cs typeface="Arial"/>
              </a:rPr>
              <a:t>T.</a:t>
            </a:r>
            <a:endParaRPr sz="1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Detectar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y</a:t>
            </a:r>
            <a:r>
              <a:rPr sz="19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eliminar</a:t>
            </a:r>
            <a:r>
              <a:rPr sz="19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moléculas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patógenos</a:t>
            </a:r>
            <a:r>
              <a:rPr sz="19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o</a:t>
            </a:r>
            <a:r>
              <a:rPr sz="19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propias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modificadas</a:t>
            </a:r>
            <a:r>
              <a:rPr sz="19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(cancerígenas).</a:t>
            </a: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500" spc="9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Se</a:t>
            </a:r>
            <a:r>
              <a:rPr sz="19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ubica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en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mediastino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 anterior.</a:t>
            </a: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500" spc="9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Es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glándula</a:t>
            </a:r>
            <a:r>
              <a:rPr sz="19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9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energía.</a:t>
            </a: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500" spc="9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Se</a:t>
            </a:r>
            <a:r>
              <a:rPr sz="19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atrofia</a:t>
            </a:r>
            <a:r>
              <a:rPr sz="19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en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la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adolescencia.</a:t>
            </a: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500" spc="90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5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Se</a:t>
            </a:r>
            <a:r>
              <a:rPr sz="19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pensaba</a:t>
            </a:r>
            <a:r>
              <a:rPr sz="19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que</a:t>
            </a:r>
            <a:r>
              <a:rPr sz="19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en</a:t>
            </a:r>
            <a:r>
              <a:rPr sz="19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9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404040"/>
                </a:solidFill>
                <a:latin typeface="Arial MT"/>
                <a:cs typeface="Arial MT"/>
              </a:rPr>
              <a:t>adulto</a:t>
            </a:r>
            <a:r>
              <a:rPr sz="19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404040"/>
                </a:solidFill>
                <a:latin typeface="Arial MT"/>
                <a:cs typeface="Arial MT"/>
              </a:rPr>
              <a:t>desaparecía.</a:t>
            </a:r>
            <a:endParaRPr sz="19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612123" y="2519172"/>
            <a:ext cx="515620" cy="666115"/>
            <a:chOff x="8612123" y="2519172"/>
            <a:chExt cx="515620" cy="666115"/>
          </a:xfrm>
        </p:grpSpPr>
        <p:sp>
          <p:nvSpPr>
            <p:cNvPr id="5" name="object 5"/>
            <p:cNvSpPr/>
            <p:nvPr/>
          </p:nvSpPr>
          <p:spPr>
            <a:xfrm>
              <a:off x="8622029" y="2824988"/>
              <a:ext cx="495934" cy="350520"/>
            </a:xfrm>
            <a:custGeom>
              <a:avLst/>
              <a:gdLst/>
              <a:ahLst/>
              <a:cxnLst/>
              <a:rect l="l" t="t" r="r" b="b"/>
              <a:pathLst>
                <a:path w="495934" h="350519">
                  <a:moveTo>
                    <a:pt x="477647" y="0"/>
                  </a:moveTo>
                  <a:lnTo>
                    <a:pt x="426702" y="56919"/>
                  </a:lnTo>
                  <a:lnTo>
                    <a:pt x="390352" y="82144"/>
                  </a:lnTo>
                  <a:lnTo>
                    <a:pt x="347551" y="104838"/>
                  </a:lnTo>
                  <a:lnTo>
                    <a:pt x="298898" y="124722"/>
                  </a:lnTo>
                  <a:lnTo>
                    <a:pt x="244992" y="141517"/>
                  </a:lnTo>
                  <a:lnTo>
                    <a:pt x="186435" y="154942"/>
                  </a:lnTo>
                  <a:lnTo>
                    <a:pt x="123825" y="164719"/>
                  </a:lnTo>
                  <a:lnTo>
                    <a:pt x="123825" y="102742"/>
                  </a:lnTo>
                  <a:lnTo>
                    <a:pt x="0" y="234061"/>
                  </a:lnTo>
                  <a:lnTo>
                    <a:pt x="123825" y="350392"/>
                  </a:lnTo>
                  <a:lnTo>
                    <a:pt x="123825" y="288544"/>
                  </a:lnTo>
                  <a:lnTo>
                    <a:pt x="131064" y="287654"/>
                  </a:lnTo>
                  <a:lnTo>
                    <a:pt x="194677" y="277200"/>
                  </a:lnTo>
                  <a:lnTo>
                    <a:pt x="253353" y="263145"/>
                  </a:lnTo>
                  <a:lnTo>
                    <a:pt x="306679" y="245834"/>
                  </a:lnTo>
                  <a:lnTo>
                    <a:pt x="354240" y="225608"/>
                  </a:lnTo>
                  <a:lnTo>
                    <a:pt x="395624" y="202810"/>
                  </a:lnTo>
                  <a:lnTo>
                    <a:pt x="430418" y="177784"/>
                  </a:lnTo>
                  <a:lnTo>
                    <a:pt x="458209" y="150870"/>
                  </a:lnTo>
                  <a:lnTo>
                    <a:pt x="491126" y="92755"/>
                  </a:lnTo>
                  <a:lnTo>
                    <a:pt x="495427" y="62238"/>
                  </a:lnTo>
                  <a:lnTo>
                    <a:pt x="491072" y="31206"/>
                  </a:lnTo>
                  <a:lnTo>
                    <a:pt x="477647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22029" y="2529078"/>
              <a:ext cx="495300" cy="358140"/>
            </a:xfrm>
            <a:custGeom>
              <a:avLst/>
              <a:gdLst/>
              <a:ahLst/>
              <a:cxnLst/>
              <a:rect l="l" t="t" r="r" b="b"/>
              <a:pathLst>
                <a:path w="495300" h="358139">
                  <a:moveTo>
                    <a:pt x="0" y="0"/>
                  </a:moveTo>
                  <a:lnTo>
                    <a:pt x="0" y="123825"/>
                  </a:lnTo>
                  <a:lnTo>
                    <a:pt x="62131" y="125648"/>
                  </a:lnTo>
                  <a:lnTo>
                    <a:pt x="121959" y="130972"/>
                  </a:lnTo>
                  <a:lnTo>
                    <a:pt x="179019" y="139577"/>
                  </a:lnTo>
                  <a:lnTo>
                    <a:pt x="232848" y="151245"/>
                  </a:lnTo>
                  <a:lnTo>
                    <a:pt x="282980" y="165756"/>
                  </a:lnTo>
                  <a:lnTo>
                    <a:pt x="328953" y="182890"/>
                  </a:lnTo>
                  <a:lnTo>
                    <a:pt x="370301" y="202429"/>
                  </a:lnTo>
                  <a:lnTo>
                    <a:pt x="406561" y="224154"/>
                  </a:lnTo>
                  <a:lnTo>
                    <a:pt x="437270" y="247844"/>
                  </a:lnTo>
                  <a:lnTo>
                    <a:pt x="480173" y="300248"/>
                  </a:lnTo>
                  <a:lnTo>
                    <a:pt x="495300" y="357886"/>
                  </a:lnTo>
                  <a:lnTo>
                    <a:pt x="495300" y="234061"/>
                  </a:lnTo>
                  <a:lnTo>
                    <a:pt x="480173" y="176423"/>
                  </a:lnTo>
                  <a:lnTo>
                    <a:pt x="437270" y="124019"/>
                  </a:lnTo>
                  <a:lnTo>
                    <a:pt x="406561" y="100329"/>
                  </a:lnTo>
                  <a:lnTo>
                    <a:pt x="370301" y="78604"/>
                  </a:lnTo>
                  <a:lnTo>
                    <a:pt x="328953" y="59065"/>
                  </a:lnTo>
                  <a:lnTo>
                    <a:pt x="282980" y="41931"/>
                  </a:lnTo>
                  <a:lnTo>
                    <a:pt x="232848" y="27420"/>
                  </a:lnTo>
                  <a:lnTo>
                    <a:pt x="179019" y="15752"/>
                  </a:lnTo>
                  <a:lnTo>
                    <a:pt x="121959" y="7147"/>
                  </a:lnTo>
                  <a:lnTo>
                    <a:pt x="62131" y="18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22029" y="2529078"/>
              <a:ext cx="495300" cy="646430"/>
            </a:xfrm>
            <a:custGeom>
              <a:avLst/>
              <a:gdLst/>
              <a:ahLst/>
              <a:cxnLst/>
              <a:rect l="l" t="t" r="r" b="b"/>
              <a:pathLst>
                <a:path w="495300" h="646430">
                  <a:moveTo>
                    <a:pt x="495300" y="357886"/>
                  </a:moveTo>
                  <a:lnTo>
                    <a:pt x="480173" y="300248"/>
                  </a:lnTo>
                  <a:lnTo>
                    <a:pt x="437270" y="247844"/>
                  </a:lnTo>
                  <a:lnTo>
                    <a:pt x="406561" y="224154"/>
                  </a:lnTo>
                  <a:lnTo>
                    <a:pt x="370301" y="202429"/>
                  </a:lnTo>
                  <a:lnTo>
                    <a:pt x="328953" y="182890"/>
                  </a:lnTo>
                  <a:lnTo>
                    <a:pt x="282980" y="165756"/>
                  </a:lnTo>
                  <a:lnTo>
                    <a:pt x="232848" y="151245"/>
                  </a:lnTo>
                  <a:lnTo>
                    <a:pt x="179019" y="139577"/>
                  </a:lnTo>
                  <a:lnTo>
                    <a:pt x="121959" y="130972"/>
                  </a:lnTo>
                  <a:lnTo>
                    <a:pt x="62131" y="125648"/>
                  </a:lnTo>
                  <a:lnTo>
                    <a:pt x="0" y="123825"/>
                  </a:lnTo>
                  <a:lnTo>
                    <a:pt x="0" y="0"/>
                  </a:lnTo>
                  <a:lnTo>
                    <a:pt x="62131" y="1823"/>
                  </a:lnTo>
                  <a:lnTo>
                    <a:pt x="121959" y="7147"/>
                  </a:lnTo>
                  <a:lnTo>
                    <a:pt x="179019" y="15752"/>
                  </a:lnTo>
                  <a:lnTo>
                    <a:pt x="232848" y="27420"/>
                  </a:lnTo>
                  <a:lnTo>
                    <a:pt x="282980" y="41931"/>
                  </a:lnTo>
                  <a:lnTo>
                    <a:pt x="328953" y="59065"/>
                  </a:lnTo>
                  <a:lnTo>
                    <a:pt x="370301" y="78604"/>
                  </a:lnTo>
                  <a:lnTo>
                    <a:pt x="406561" y="100329"/>
                  </a:lnTo>
                  <a:lnTo>
                    <a:pt x="437270" y="124019"/>
                  </a:lnTo>
                  <a:lnTo>
                    <a:pt x="480173" y="176423"/>
                  </a:lnTo>
                  <a:lnTo>
                    <a:pt x="495300" y="234061"/>
                  </a:lnTo>
                  <a:lnTo>
                    <a:pt x="495300" y="357886"/>
                  </a:lnTo>
                  <a:lnTo>
                    <a:pt x="477661" y="419853"/>
                  </a:lnTo>
                  <a:lnTo>
                    <a:pt x="427524" y="476042"/>
                  </a:lnTo>
                  <a:lnTo>
                    <a:pt x="391572" y="501173"/>
                  </a:lnTo>
                  <a:lnTo>
                    <a:pt x="349060" y="523904"/>
                  </a:lnTo>
                  <a:lnTo>
                    <a:pt x="300507" y="543916"/>
                  </a:lnTo>
                  <a:lnTo>
                    <a:pt x="246436" y="560890"/>
                  </a:lnTo>
                  <a:lnTo>
                    <a:pt x="187368" y="574509"/>
                  </a:lnTo>
                  <a:lnTo>
                    <a:pt x="123825" y="584454"/>
                  </a:lnTo>
                  <a:lnTo>
                    <a:pt x="123825" y="646302"/>
                  </a:lnTo>
                  <a:lnTo>
                    <a:pt x="0" y="529971"/>
                  </a:lnTo>
                  <a:lnTo>
                    <a:pt x="123825" y="398652"/>
                  </a:lnTo>
                  <a:lnTo>
                    <a:pt x="123825" y="460629"/>
                  </a:lnTo>
                  <a:lnTo>
                    <a:pt x="186435" y="450852"/>
                  </a:lnTo>
                  <a:lnTo>
                    <a:pt x="244992" y="437427"/>
                  </a:lnTo>
                  <a:lnTo>
                    <a:pt x="298898" y="420632"/>
                  </a:lnTo>
                  <a:lnTo>
                    <a:pt x="347551" y="400748"/>
                  </a:lnTo>
                  <a:lnTo>
                    <a:pt x="390352" y="378054"/>
                  </a:lnTo>
                  <a:lnTo>
                    <a:pt x="426702" y="352829"/>
                  </a:lnTo>
                  <a:lnTo>
                    <a:pt x="456000" y="325355"/>
                  </a:lnTo>
                  <a:lnTo>
                    <a:pt x="477647" y="295910"/>
                  </a:lnTo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1165281"/>
            <a:ext cx="10058400" cy="572079"/>
          </a:xfrm>
          <a:prstGeom prst="rect">
            <a:avLst/>
          </a:prstGeom>
        </p:spPr>
        <p:txBody>
          <a:bodyPr vert="horz" wrap="square" lIns="0" tIns="78866" rIns="0" bIns="0" rtlCol="0">
            <a:spAutoFit/>
          </a:bodyPr>
          <a:lstStyle/>
          <a:p>
            <a:pPr marL="2869565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MÉDULA</a:t>
            </a:r>
            <a:r>
              <a:rPr sz="3200"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20" dirty="0">
                <a:latin typeface="Arial" panose="020B0604020202020204" pitchFamily="34" charset="0"/>
                <a:cs typeface="Arial" panose="020B0604020202020204" pitchFamily="34" charset="0"/>
              </a:rPr>
              <a:t>ÓSEA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1905000"/>
            <a:ext cx="10399370" cy="2768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1305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</a:t>
            </a:r>
            <a:r>
              <a:rPr b="1" spc="-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stem</a:t>
            </a:r>
            <a:r>
              <a:rPr b="1" spc="-4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 err="1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pluripotente</a:t>
            </a:r>
            <a:r>
              <a:rPr b="1" spc="-3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 err="1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spc="-30" dirty="0" smtClean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capacidad</a:t>
            </a:r>
            <a:r>
              <a:rPr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autorrenovación,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proliferación</a:t>
            </a:r>
            <a:r>
              <a:rPr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diferenciación</a:t>
            </a:r>
            <a:r>
              <a:rPr spc="4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progenitoras</a:t>
            </a:r>
            <a:r>
              <a:rPr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comprometidas</a:t>
            </a:r>
            <a:r>
              <a:rPr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líneas</a:t>
            </a:r>
            <a:r>
              <a:rPr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celulares</a:t>
            </a:r>
            <a:r>
              <a:rPr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específicas.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5080" indent="-342900" algn="just">
              <a:lnSpc>
                <a:spcPct val="100000"/>
              </a:lnSpc>
            </a:pPr>
            <a:r>
              <a:rPr spc="12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pc="12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</a:t>
            </a:r>
            <a:r>
              <a:rPr spc="3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</a:t>
            </a:r>
            <a:r>
              <a:rPr spc="3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progenitora</a:t>
            </a:r>
            <a:r>
              <a:rPr spc="3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tendrá</a:t>
            </a:r>
            <a:r>
              <a:rPr spc="3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pc="3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microambiente</a:t>
            </a:r>
            <a:r>
              <a:rPr spc="3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específico</a:t>
            </a:r>
            <a:r>
              <a:rPr spc="3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pc="3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 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diferenciación.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6350" indent="-342900" algn="just">
              <a:lnSpc>
                <a:spcPct val="100000"/>
              </a:lnSpc>
            </a:pPr>
            <a:r>
              <a:rPr spc="12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 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pc="4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</a:t>
            </a:r>
            <a:r>
              <a:rPr spc="48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extracelular</a:t>
            </a:r>
            <a:r>
              <a:rPr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(soporte</a:t>
            </a:r>
            <a:r>
              <a:rPr spc="49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físico)</a:t>
            </a:r>
            <a:r>
              <a:rPr spc="4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fijará</a:t>
            </a:r>
            <a:r>
              <a:rPr spc="4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pc="48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progenitoras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mediante</a:t>
            </a:r>
            <a:r>
              <a:rPr spc="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moléculas</a:t>
            </a:r>
            <a:r>
              <a:rPr spc="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pc="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adhesión</a:t>
            </a:r>
            <a:r>
              <a:rPr spc="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pc="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pc="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sobre</a:t>
            </a:r>
            <a:r>
              <a:rPr spc="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ellas</a:t>
            </a:r>
            <a:r>
              <a:rPr spc="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actúen</a:t>
            </a:r>
            <a:r>
              <a:rPr spc="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citocinas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producidas</a:t>
            </a:r>
            <a:r>
              <a:rPr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propias</a:t>
            </a:r>
            <a:r>
              <a:rPr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estroma</a:t>
            </a:r>
            <a:r>
              <a:rPr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células</a:t>
            </a:r>
            <a:r>
              <a:rPr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accesorias.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1416759"/>
            <a:ext cx="106222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9105">
              <a:lnSpc>
                <a:spcPct val="100000"/>
              </a:lnSpc>
              <a:spcBef>
                <a:spcPts val="100"/>
              </a:spcBef>
            </a:pPr>
            <a:r>
              <a:rPr sz="2000" spc="-25" dirty="0"/>
              <a:t>HEMATOPOYESIS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990600"/>
            <a:ext cx="9209531" cy="5401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66825" y="700045"/>
            <a:ext cx="741934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¿QUÉ</a:t>
            </a:r>
            <a:r>
              <a:rPr sz="28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ESTUDIA</a:t>
            </a:r>
            <a:r>
              <a:rPr sz="2800" b="1" spc="-1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800" b="1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HEMATRIMETRÍA?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441450"/>
            <a:ext cx="7908925" cy="4690387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marR="691515" indent="-342900">
              <a:lnSpc>
                <a:spcPts val="2160"/>
              </a:lnSpc>
              <a:spcBef>
                <a:spcPts val="37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estudio</a:t>
            </a:r>
            <a:r>
              <a:rPr sz="20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rutinario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donde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20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cuantificar</a:t>
            </a:r>
            <a:r>
              <a:rPr sz="20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evaluar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diferentes</a:t>
            </a:r>
            <a:r>
              <a:rPr sz="20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grupos</a:t>
            </a:r>
            <a:r>
              <a:rPr sz="20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celulares: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0600" marR="3475354">
              <a:lnSpc>
                <a:spcPts val="6310"/>
              </a:lnSpc>
              <a:spcBef>
                <a:spcPts val="844"/>
              </a:spcBef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Glóbulos</a:t>
            </a:r>
            <a:r>
              <a:rPr sz="20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rojos</a:t>
            </a:r>
            <a:r>
              <a:rPr sz="20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hematíes.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Glóbulos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blancos</a:t>
            </a:r>
            <a:r>
              <a:rPr sz="20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leucocitos.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76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06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Plaquetas</a:t>
            </a:r>
            <a:r>
              <a:rPr sz="20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trombocitos.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06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Concentración</a:t>
            </a:r>
            <a:r>
              <a:rPr sz="2000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hemoglobina.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90600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Parámetros</a:t>
            </a:r>
            <a:r>
              <a:rPr sz="2000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relacionados</a:t>
            </a:r>
            <a:r>
              <a:rPr sz="20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20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cantidad,</a:t>
            </a:r>
            <a:r>
              <a:rPr sz="20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</a:t>
            </a:r>
            <a:r>
              <a:rPr sz="20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contenido.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61476" y="2776727"/>
            <a:ext cx="2622804" cy="29611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148329"/>
            <a:ext cx="2449830" cy="3709670"/>
            <a:chOff x="0" y="3148329"/>
            <a:chExt cx="2449830" cy="3709670"/>
          </a:xfrm>
        </p:grpSpPr>
        <p:sp>
          <p:nvSpPr>
            <p:cNvPr id="3" name="object 3"/>
            <p:cNvSpPr/>
            <p:nvPr/>
          </p:nvSpPr>
          <p:spPr>
            <a:xfrm>
              <a:off x="314706" y="3158489"/>
              <a:ext cx="2124710" cy="1348740"/>
            </a:xfrm>
            <a:custGeom>
              <a:avLst/>
              <a:gdLst/>
              <a:ahLst/>
              <a:cxnLst/>
              <a:rect l="l" t="t" r="r" b="b"/>
              <a:pathLst>
                <a:path w="2124710" h="1348739">
                  <a:moveTo>
                    <a:pt x="1899666" y="0"/>
                  </a:moveTo>
                  <a:lnTo>
                    <a:pt x="224789" y="0"/>
                  </a:lnTo>
                  <a:lnTo>
                    <a:pt x="179488" y="4564"/>
                  </a:lnTo>
                  <a:lnTo>
                    <a:pt x="137293" y="17656"/>
                  </a:lnTo>
                  <a:lnTo>
                    <a:pt x="99110" y="38375"/>
                  </a:lnTo>
                  <a:lnTo>
                    <a:pt x="65841" y="65817"/>
                  </a:lnTo>
                  <a:lnTo>
                    <a:pt x="38392" y="99082"/>
                  </a:lnTo>
                  <a:lnTo>
                    <a:pt x="17665" y="137267"/>
                  </a:lnTo>
                  <a:lnTo>
                    <a:pt x="4567" y="179470"/>
                  </a:lnTo>
                  <a:lnTo>
                    <a:pt x="0" y="224789"/>
                  </a:lnTo>
                  <a:lnTo>
                    <a:pt x="0" y="1123950"/>
                  </a:lnTo>
                  <a:lnTo>
                    <a:pt x="4567" y="1169269"/>
                  </a:lnTo>
                  <a:lnTo>
                    <a:pt x="17665" y="1211472"/>
                  </a:lnTo>
                  <a:lnTo>
                    <a:pt x="38392" y="1249657"/>
                  </a:lnTo>
                  <a:lnTo>
                    <a:pt x="65841" y="1282922"/>
                  </a:lnTo>
                  <a:lnTo>
                    <a:pt x="99110" y="1310364"/>
                  </a:lnTo>
                  <a:lnTo>
                    <a:pt x="137293" y="1331083"/>
                  </a:lnTo>
                  <a:lnTo>
                    <a:pt x="179488" y="1344175"/>
                  </a:lnTo>
                  <a:lnTo>
                    <a:pt x="224789" y="1348740"/>
                  </a:lnTo>
                  <a:lnTo>
                    <a:pt x="1899666" y="1348740"/>
                  </a:lnTo>
                  <a:lnTo>
                    <a:pt x="1944985" y="1344175"/>
                  </a:lnTo>
                  <a:lnTo>
                    <a:pt x="1987188" y="1331083"/>
                  </a:lnTo>
                  <a:lnTo>
                    <a:pt x="2025373" y="1310364"/>
                  </a:lnTo>
                  <a:lnTo>
                    <a:pt x="2058638" y="1282922"/>
                  </a:lnTo>
                  <a:lnTo>
                    <a:pt x="2086080" y="1249657"/>
                  </a:lnTo>
                  <a:lnTo>
                    <a:pt x="2106799" y="1211472"/>
                  </a:lnTo>
                  <a:lnTo>
                    <a:pt x="2119891" y="1169269"/>
                  </a:lnTo>
                  <a:lnTo>
                    <a:pt x="2124456" y="1123950"/>
                  </a:lnTo>
                  <a:lnTo>
                    <a:pt x="2124456" y="224789"/>
                  </a:lnTo>
                  <a:lnTo>
                    <a:pt x="2119891" y="179470"/>
                  </a:lnTo>
                  <a:lnTo>
                    <a:pt x="2106799" y="137267"/>
                  </a:lnTo>
                  <a:lnTo>
                    <a:pt x="2086080" y="99082"/>
                  </a:lnTo>
                  <a:lnTo>
                    <a:pt x="2058638" y="65817"/>
                  </a:lnTo>
                  <a:lnTo>
                    <a:pt x="2025373" y="38375"/>
                  </a:lnTo>
                  <a:lnTo>
                    <a:pt x="1987188" y="17656"/>
                  </a:lnTo>
                  <a:lnTo>
                    <a:pt x="1944985" y="4564"/>
                  </a:lnTo>
                  <a:lnTo>
                    <a:pt x="1899666" y="0"/>
                  </a:lnTo>
                  <a:close/>
                </a:path>
              </a:pathLst>
            </a:custGeom>
            <a:solidFill>
              <a:srgbClr val="0AAC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4706" y="3158489"/>
              <a:ext cx="2124710" cy="1348740"/>
            </a:xfrm>
            <a:custGeom>
              <a:avLst/>
              <a:gdLst/>
              <a:ahLst/>
              <a:cxnLst/>
              <a:rect l="l" t="t" r="r" b="b"/>
              <a:pathLst>
                <a:path w="2124710" h="1348739">
                  <a:moveTo>
                    <a:pt x="0" y="224789"/>
                  </a:moveTo>
                  <a:lnTo>
                    <a:pt x="4567" y="179470"/>
                  </a:lnTo>
                  <a:lnTo>
                    <a:pt x="17665" y="137267"/>
                  </a:lnTo>
                  <a:lnTo>
                    <a:pt x="38392" y="99082"/>
                  </a:lnTo>
                  <a:lnTo>
                    <a:pt x="65841" y="65817"/>
                  </a:lnTo>
                  <a:lnTo>
                    <a:pt x="99110" y="38375"/>
                  </a:lnTo>
                  <a:lnTo>
                    <a:pt x="137293" y="17656"/>
                  </a:lnTo>
                  <a:lnTo>
                    <a:pt x="179488" y="4564"/>
                  </a:lnTo>
                  <a:lnTo>
                    <a:pt x="224789" y="0"/>
                  </a:lnTo>
                  <a:lnTo>
                    <a:pt x="1899666" y="0"/>
                  </a:lnTo>
                  <a:lnTo>
                    <a:pt x="1944985" y="4564"/>
                  </a:lnTo>
                  <a:lnTo>
                    <a:pt x="1987188" y="17656"/>
                  </a:lnTo>
                  <a:lnTo>
                    <a:pt x="2025373" y="38375"/>
                  </a:lnTo>
                  <a:lnTo>
                    <a:pt x="2058638" y="65817"/>
                  </a:lnTo>
                  <a:lnTo>
                    <a:pt x="2086080" y="99082"/>
                  </a:lnTo>
                  <a:lnTo>
                    <a:pt x="2106799" y="137267"/>
                  </a:lnTo>
                  <a:lnTo>
                    <a:pt x="2119891" y="179470"/>
                  </a:lnTo>
                  <a:lnTo>
                    <a:pt x="2124456" y="224789"/>
                  </a:lnTo>
                  <a:lnTo>
                    <a:pt x="2124456" y="1123950"/>
                  </a:lnTo>
                  <a:lnTo>
                    <a:pt x="2119891" y="1169269"/>
                  </a:lnTo>
                  <a:lnTo>
                    <a:pt x="2106799" y="1211472"/>
                  </a:lnTo>
                  <a:lnTo>
                    <a:pt x="2086080" y="1249657"/>
                  </a:lnTo>
                  <a:lnTo>
                    <a:pt x="2058638" y="1282922"/>
                  </a:lnTo>
                  <a:lnTo>
                    <a:pt x="2025373" y="1310364"/>
                  </a:lnTo>
                  <a:lnTo>
                    <a:pt x="1987188" y="1331083"/>
                  </a:lnTo>
                  <a:lnTo>
                    <a:pt x="1944985" y="1344175"/>
                  </a:lnTo>
                  <a:lnTo>
                    <a:pt x="1899666" y="1348740"/>
                  </a:lnTo>
                  <a:lnTo>
                    <a:pt x="224789" y="1348740"/>
                  </a:lnTo>
                  <a:lnTo>
                    <a:pt x="179488" y="1344175"/>
                  </a:lnTo>
                  <a:lnTo>
                    <a:pt x="137293" y="1331083"/>
                  </a:lnTo>
                  <a:lnTo>
                    <a:pt x="99110" y="1310364"/>
                  </a:lnTo>
                  <a:lnTo>
                    <a:pt x="65841" y="1282922"/>
                  </a:lnTo>
                  <a:lnTo>
                    <a:pt x="38392" y="1249657"/>
                  </a:lnTo>
                  <a:lnTo>
                    <a:pt x="17665" y="1211472"/>
                  </a:lnTo>
                  <a:lnTo>
                    <a:pt x="4567" y="1169269"/>
                  </a:lnTo>
                  <a:lnTo>
                    <a:pt x="0" y="1123950"/>
                  </a:lnTo>
                  <a:lnTo>
                    <a:pt x="0" y="224789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511046" y="312239"/>
            <a:ext cx="9265920" cy="727891"/>
          </a:xfrm>
          <a:prstGeom prst="rect">
            <a:avLst/>
          </a:prstGeom>
        </p:spPr>
        <p:txBody>
          <a:bodyPr vert="horz" wrap="square" lIns="0" tIns="172211" rIns="0" bIns="0" rtlCol="0">
            <a:spAutoFit/>
          </a:bodyPr>
          <a:lstStyle/>
          <a:p>
            <a:pPr marL="2814955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Arial" panose="020B0604020202020204" pitchFamily="34" charset="0"/>
                <a:cs typeface="Arial" panose="020B0604020202020204" pitchFamily="34" charset="0"/>
              </a:rPr>
              <a:t>HEMOGRAMA</a:t>
            </a:r>
            <a:endParaRPr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8431" y="1487424"/>
            <a:ext cx="2068195" cy="1195070"/>
            <a:chOff x="408431" y="1487424"/>
            <a:chExt cx="2068195" cy="1195070"/>
          </a:xfrm>
        </p:grpSpPr>
        <p:sp>
          <p:nvSpPr>
            <p:cNvPr id="7" name="object 7"/>
            <p:cNvSpPr/>
            <p:nvPr/>
          </p:nvSpPr>
          <p:spPr>
            <a:xfrm>
              <a:off x="418337" y="1497330"/>
              <a:ext cx="2048510" cy="1175385"/>
            </a:xfrm>
            <a:custGeom>
              <a:avLst/>
              <a:gdLst/>
              <a:ahLst/>
              <a:cxnLst/>
              <a:rect l="l" t="t" r="r" b="b"/>
              <a:pathLst>
                <a:path w="2048510" h="1175385">
                  <a:moveTo>
                    <a:pt x="1852422" y="0"/>
                  </a:moveTo>
                  <a:lnTo>
                    <a:pt x="195834" y="0"/>
                  </a:lnTo>
                  <a:lnTo>
                    <a:pt x="150931" y="5169"/>
                  </a:lnTo>
                  <a:lnTo>
                    <a:pt x="109712" y="19896"/>
                  </a:lnTo>
                  <a:lnTo>
                    <a:pt x="73351" y="43007"/>
                  </a:lnTo>
                  <a:lnTo>
                    <a:pt x="43023" y="73329"/>
                  </a:lnTo>
                  <a:lnTo>
                    <a:pt x="19905" y="109690"/>
                  </a:lnTo>
                  <a:lnTo>
                    <a:pt x="5172" y="150915"/>
                  </a:lnTo>
                  <a:lnTo>
                    <a:pt x="0" y="195834"/>
                  </a:lnTo>
                  <a:lnTo>
                    <a:pt x="0" y="979170"/>
                  </a:lnTo>
                  <a:lnTo>
                    <a:pt x="5172" y="1024088"/>
                  </a:lnTo>
                  <a:lnTo>
                    <a:pt x="19905" y="1065313"/>
                  </a:lnTo>
                  <a:lnTo>
                    <a:pt x="43023" y="1101674"/>
                  </a:lnTo>
                  <a:lnTo>
                    <a:pt x="73351" y="1131996"/>
                  </a:lnTo>
                  <a:lnTo>
                    <a:pt x="109712" y="1155107"/>
                  </a:lnTo>
                  <a:lnTo>
                    <a:pt x="150931" y="1169834"/>
                  </a:lnTo>
                  <a:lnTo>
                    <a:pt x="195834" y="1175004"/>
                  </a:lnTo>
                  <a:lnTo>
                    <a:pt x="1852422" y="1175004"/>
                  </a:lnTo>
                  <a:lnTo>
                    <a:pt x="1897340" y="1169834"/>
                  </a:lnTo>
                  <a:lnTo>
                    <a:pt x="1938565" y="1155107"/>
                  </a:lnTo>
                  <a:lnTo>
                    <a:pt x="1974926" y="1131996"/>
                  </a:lnTo>
                  <a:lnTo>
                    <a:pt x="2005248" y="1101674"/>
                  </a:lnTo>
                  <a:lnTo>
                    <a:pt x="2028359" y="1065313"/>
                  </a:lnTo>
                  <a:lnTo>
                    <a:pt x="2043086" y="1024088"/>
                  </a:lnTo>
                  <a:lnTo>
                    <a:pt x="2048256" y="979170"/>
                  </a:lnTo>
                  <a:lnTo>
                    <a:pt x="2048256" y="195834"/>
                  </a:lnTo>
                  <a:lnTo>
                    <a:pt x="2043086" y="150915"/>
                  </a:lnTo>
                  <a:lnTo>
                    <a:pt x="2028359" y="109690"/>
                  </a:lnTo>
                  <a:lnTo>
                    <a:pt x="2005248" y="73329"/>
                  </a:lnTo>
                  <a:lnTo>
                    <a:pt x="1974926" y="43007"/>
                  </a:lnTo>
                  <a:lnTo>
                    <a:pt x="1938565" y="19896"/>
                  </a:lnTo>
                  <a:lnTo>
                    <a:pt x="1897340" y="5169"/>
                  </a:lnTo>
                  <a:lnTo>
                    <a:pt x="1852422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8337" y="1497330"/>
              <a:ext cx="2048510" cy="1175385"/>
            </a:xfrm>
            <a:custGeom>
              <a:avLst/>
              <a:gdLst/>
              <a:ahLst/>
              <a:cxnLst/>
              <a:rect l="l" t="t" r="r" b="b"/>
              <a:pathLst>
                <a:path w="2048510" h="1175385">
                  <a:moveTo>
                    <a:pt x="0" y="195834"/>
                  </a:moveTo>
                  <a:lnTo>
                    <a:pt x="5172" y="150915"/>
                  </a:lnTo>
                  <a:lnTo>
                    <a:pt x="19905" y="109690"/>
                  </a:lnTo>
                  <a:lnTo>
                    <a:pt x="43023" y="73329"/>
                  </a:lnTo>
                  <a:lnTo>
                    <a:pt x="73351" y="43007"/>
                  </a:lnTo>
                  <a:lnTo>
                    <a:pt x="109712" y="19896"/>
                  </a:lnTo>
                  <a:lnTo>
                    <a:pt x="150931" y="5169"/>
                  </a:lnTo>
                  <a:lnTo>
                    <a:pt x="195834" y="0"/>
                  </a:lnTo>
                  <a:lnTo>
                    <a:pt x="1852422" y="0"/>
                  </a:lnTo>
                  <a:lnTo>
                    <a:pt x="1897340" y="5169"/>
                  </a:lnTo>
                  <a:lnTo>
                    <a:pt x="1938565" y="19896"/>
                  </a:lnTo>
                  <a:lnTo>
                    <a:pt x="1974926" y="43007"/>
                  </a:lnTo>
                  <a:lnTo>
                    <a:pt x="2005248" y="73329"/>
                  </a:lnTo>
                  <a:lnTo>
                    <a:pt x="2028359" y="109690"/>
                  </a:lnTo>
                  <a:lnTo>
                    <a:pt x="2043086" y="150915"/>
                  </a:lnTo>
                  <a:lnTo>
                    <a:pt x="2048256" y="195834"/>
                  </a:lnTo>
                  <a:lnTo>
                    <a:pt x="2048256" y="979170"/>
                  </a:lnTo>
                  <a:lnTo>
                    <a:pt x="2043086" y="1024088"/>
                  </a:lnTo>
                  <a:lnTo>
                    <a:pt x="2028359" y="1065313"/>
                  </a:lnTo>
                  <a:lnTo>
                    <a:pt x="2005248" y="1101674"/>
                  </a:lnTo>
                  <a:lnTo>
                    <a:pt x="1974926" y="1131996"/>
                  </a:lnTo>
                  <a:lnTo>
                    <a:pt x="1938565" y="1155107"/>
                  </a:lnTo>
                  <a:lnTo>
                    <a:pt x="1897340" y="1169834"/>
                  </a:lnTo>
                  <a:lnTo>
                    <a:pt x="1852422" y="1175004"/>
                  </a:lnTo>
                  <a:lnTo>
                    <a:pt x="195834" y="1175004"/>
                  </a:lnTo>
                  <a:lnTo>
                    <a:pt x="150931" y="1169834"/>
                  </a:lnTo>
                  <a:lnTo>
                    <a:pt x="109712" y="1155107"/>
                  </a:lnTo>
                  <a:lnTo>
                    <a:pt x="73351" y="1131996"/>
                  </a:lnTo>
                  <a:lnTo>
                    <a:pt x="43023" y="1101674"/>
                  </a:lnTo>
                  <a:lnTo>
                    <a:pt x="19905" y="1065313"/>
                  </a:lnTo>
                  <a:lnTo>
                    <a:pt x="5172" y="1024088"/>
                  </a:lnTo>
                  <a:lnTo>
                    <a:pt x="0" y="979170"/>
                  </a:lnTo>
                  <a:lnTo>
                    <a:pt x="0" y="195834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7575" y="1638300"/>
              <a:ext cx="2048510" cy="922019"/>
            </a:xfrm>
            <a:custGeom>
              <a:avLst/>
              <a:gdLst/>
              <a:ahLst/>
              <a:cxnLst/>
              <a:rect l="l" t="t" r="r" b="b"/>
              <a:pathLst>
                <a:path w="2048510" h="922019">
                  <a:moveTo>
                    <a:pt x="2048256" y="0"/>
                  </a:moveTo>
                  <a:lnTo>
                    <a:pt x="0" y="0"/>
                  </a:lnTo>
                  <a:lnTo>
                    <a:pt x="0" y="922020"/>
                  </a:lnTo>
                  <a:lnTo>
                    <a:pt x="2048256" y="922020"/>
                  </a:lnTo>
                  <a:lnTo>
                    <a:pt x="2048256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34593" y="1664970"/>
            <a:ext cx="1614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Glóbulos</a:t>
            </a:r>
            <a:r>
              <a:rPr sz="1800" b="1" spc="-1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rojos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0711" y="1938985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821" y="2213864"/>
            <a:ext cx="1014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Hematíes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78835" y="1485900"/>
            <a:ext cx="2108200" cy="1193800"/>
            <a:chOff x="2878835" y="1485900"/>
            <a:chExt cx="2108200" cy="1193800"/>
          </a:xfrm>
        </p:grpSpPr>
        <p:sp>
          <p:nvSpPr>
            <p:cNvPr id="14" name="object 14"/>
            <p:cNvSpPr/>
            <p:nvPr/>
          </p:nvSpPr>
          <p:spPr>
            <a:xfrm>
              <a:off x="2888741" y="1495805"/>
              <a:ext cx="2087880" cy="1173480"/>
            </a:xfrm>
            <a:custGeom>
              <a:avLst/>
              <a:gdLst/>
              <a:ahLst/>
              <a:cxnLst/>
              <a:rect l="l" t="t" r="r" b="b"/>
              <a:pathLst>
                <a:path w="2087879" h="1173480">
                  <a:moveTo>
                    <a:pt x="1892299" y="0"/>
                  </a:moveTo>
                  <a:lnTo>
                    <a:pt x="195580" y="0"/>
                  </a:lnTo>
                  <a:lnTo>
                    <a:pt x="150716" y="5162"/>
                  </a:lnTo>
                  <a:lnTo>
                    <a:pt x="109542" y="19868"/>
                  </a:lnTo>
                  <a:lnTo>
                    <a:pt x="73229" y="42947"/>
                  </a:lnTo>
                  <a:lnTo>
                    <a:pt x="42947" y="73229"/>
                  </a:lnTo>
                  <a:lnTo>
                    <a:pt x="19868" y="109542"/>
                  </a:lnTo>
                  <a:lnTo>
                    <a:pt x="5162" y="150716"/>
                  </a:lnTo>
                  <a:lnTo>
                    <a:pt x="0" y="195580"/>
                  </a:lnTo>
                  <a:lnTo>
                    <a:pt x="0" y="977900"/>
                  </a:lnTo>
                  <a:lnTo>
                    <a:pt x="5162" y="1022763"/>
                  </a:lnTo>
                  <a:lnTo>
                    <a:pt x="19868" y="1063937"/>
                  </a:lnTo>
                  <a:lnTo>
                    <a:pt x="42947" y="1100250"/>
                  </a:lnTo>
                  <a:lnTo>
                    <a:pt x="73229" y="1130532"/>
                  </a:lnTo>
                  <a:lnTo>
                    <a:pt x="109542" y="1153611"/>
                  </a:lnTo>
                  <a:lnTo>
                    <a:pt x="150716" y="1168317"/>
                  </a:lnTo>
                  <a:lnTo>
                    <a:pt x="195580" y="1173480"/>
                  </a:lnTo>
                  <a:lnTo>
                    <a:pt x="1892299" y="1173480"/>
                  </a:lnTo>
                  <a:lnTo>
                    <a:pt x="1937163" y="1168317"/>
                  </a:lnTo>
                  <a:lnTo>
                    <a:pt x="1978337" y="1153611"/>
                  </a:lnTo>
                  <a:lnTo>
                    <a:pt x="2014650" y="1130532"/>
                  </a:lnTo>
                  <a:lnTo>
                    <a:pt x="2044932" y="1100250"/>
                  </a:lnTo>
                  <a:lnTo>
                    <a:pt x="2068011" y="1063937"/>
                  </a:lnTo>
                  <a:lnTo>
                    <a:pt x="2082717" y="1022763"/>
                  </a:lnTo>
                  <a:lnTo>
                    <a:pt x="2087880" y="977900"/>
                  </a:lnTo>
                  <a:lnTo>
                    <a:pt x="2087880" y="195580"/>
                  </a:lnTo>
                  <a:lnTo>
                    <a:pt x="2082717" y="150716"/>
                  </a:lnTo>
                  <a:lnTo>
                    <a:pt x="2068011" y="109542"/>
                  </a:lnTo>
                  <a:lnTo>
                    <a:pt x="2044932" y="73229"/>
                  </a:lnTo>
                  <a:lnTo>
                    <a:pt x="2014650" y="42947"/>
                  </a:lnTo>
                  <a:lnTo>
                    <a:pt x="1978337" y="19868"/>
                  </a:lnTo>
                  <a:lnTo>
                    <a:pt x="1937163" y="5162"/>
                  </a:lnTo>
                  <a:lnTo>
                    <a:pt x="1892299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88741" y="1495805"/>
              <a:ext cx="2087880" cy="1173480"/>
            </a:xfrm>
            <a:custGeom>
              <a:avLst/>
              <a:gdLst/>
              <a:ahLst/>
              <a:cxnLst/>
              <a:rect l="l" t="t" r="r" b="b"/>
              <a:pathLst>
                <a:path w="2087879" h="1173480">
                  <a:moveTo>
                    <a:pt x="0" y="195580"/>
                  </a:moveTo>
                  <a:lnTo>
                    <a:pt x="5162" y="150716"/>
                  </a:lnTo>
                  <a:lnTo>
                    <a:pt x="19868" y="109542"/>
                  </a:lnTo>
                  <a:lnTo>
                    <a:pt x="42947" y="73229"/>
                  </a:lnTo>
                  <a:lnTo>
                    <a:pt x="73229" y="42947"/>
                  </a:lnTo>
                  <a:lnTo>
                    <a:pt x="109542" y="19868"/>
                  </a:lnTo>
                  <a:lnTo>
                    <a:pt x="150716" y="5162"/>
                  </a:lnTo>
                  <a:lnTo>
                    <a:pt x="195580" y="0"/>
                  </a:lnTo>
                  <a:lnTo>
                    <a:pt x="1892299" y="0"/>
                  </a:lnTo>
                  <a:lnTo>
                    <a:pt x="1937163" y="5162"/>
                  </a:lnTo>
                  <a:lnTo>
                    <a:pt x="1978337" y="19868"/>
                  </a:lnTo>
                  <a:lnTo>
                    <a:pt x="2014650" y="42947"/>
                  </a:lnTo>
                  <a:lnTo>
                    <a:pt x="2044932" y="73229"/>
                  </a:lnTo>
                  <a:lnTo>
                    <a:pt x="2068011" y="109542"/>
                  </a:lnTo>
                  <a:lnTo>
                    <a:pt x="2082717" y="150716"/>
                  </a:lnTo>
                  <a:lnTo>
                    <a:pt x="2087880" y="195580"/>
                  </a:lnTo>
                  <a:lnTo>
                    <a:pt x="2087880" y="977900"/>
                  </a:lnTo>
                  <a:lnTo>
                    <a:pt x="2082717" y="1022763"/>
                  </a:lnTo>
                  <a:lnTo>
                    <a:pt x="2068011" y="1063937"/>
                  </a:lnTo>
                  <a:lnTo>
                    <a:pt x="2044932" y="1100250"/>
                  </a:lnTo>
                  <a:lnTo>
                    <a:pt x="2014650" y="1130532"/>
                  </a:lnTo>
                  <a:lnTo>
                    <a:pt x="1978337" y="1153611"/>
                  </a:lnTo>
                  <a:lnTo>
                    <a:pt x="1937163" y="1168317"/>
                  </a:lnTo>
                  <a:lnTo>
                    <a:pt x="1892299" y="1173480"/>
                  </a:lnTo>
                  <a:lnTo>
                    <a:pt x="195580" y="1173480"/>
                  </a:lnTo>
                  <a:lnTo>
                    <a:pt x="150716" y="1168317"/>
                  </a:lnTo>
                  <a:lnTo>
                    <a:pt x="109542" y="1153611"/>
                  </a:lnTo>
                  <a:lnTo>
                    <a:pt x="73229" y="1130532"/>
                  </a:lnTo>
                  <a:lnTo>
                    <a:pt x="42947" y="1100250"/>
                  </a:lnTo>
                  <a:lnTo>
                    <a:pt x="19868" y="1063937"/>
                  </a:lnTo>
                  <a:lnTo>
                    <a:pt x="5162" y="1022763"/>
                  </a:lnTo>
                  <a:lnTo>
                    <a:pt x="0" y="977900"/>
                  </a:lnTo>
                  <a:lnTo>
                    <a:pt x="0" y="195580"/>
                  </a:lnTo>
                  <a:close/>
                </a:path>
              </a:pathLst>
            </a:custGeom>
            <a:ln w="19811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434207" y="1514602"/>
            <a:ext cx="9944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 indent="-5334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Glóbulos Blancos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1180" y="206324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27527" y="2337561"/>
            <a:ext cx="1207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Leucocitos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49823" y="1485900"/>
            <a:ext cx="2066925" cy="1193800"/>
            <a:chOff x="5449823" y="1485900"/>
            <a:chExt cx="2066925" cy="1193800"/>
          </a:xfrm>
        </p:grpSpPr>
        <p:sp>
          <p:nvSpPr>
            <p:cNvPr id="20" name="object 20"/>
            <p:cNvSpPr/>
            <p:nvPr/>
          </p:nvSpPr>
          <p:spPr>
            <a:xfrm>
              <a:off x="5459729" y="1495805"/>
              <a:ext cx="2047239" cy="1173480"/>
            </a:xfrm>
            <a:custGeom>
              <a:avLst/>
              <a:gdLst/>
              <a:ahLst/>
              <a:cxnLst/>
              <a:rect l="l" t="t" r="r" b="b"/>
              <a:pathLst>
                <a:path w="2047240" h="1173480">
                  <a:moveTo>
                    <a:pt x="1851152" y="0"/>
                  </a:moveTo>
                  <a:lnTo>
                    <a:pt x="195580" y="0"/>
                  </a:lnTo>
                  <a:lnTo>
                    <a:pt x="150716" y="5162"/>
                  </a:lnTo>
                  <a:lnTo>
                    <a:pt x="109542" y="19868"/>
                  </a:lnTo>
                  <a:lnTo>
                    <a:pt x="73229" y="42947"/>
                  </a:lnTo>
                  <a:lnTo>
                    <a:pt x="42947" y="73229"/>
                  </a:lnTo>
                  <a:lnTo>
                    <a:pt x="19868" y="109542"/>
                  </a:lnTo>
                  <a:lnTo>
                    <a:pt x="5162" y="150716"/>
                  </a:lnTo>
                  <a:lnTo>
                    <a:pt x="0" y="195580"/>
                  </a:lnTo>
                  <a:lnTo>
                    <a:pt x="0" y="977900"/>
                  </a:lnTo>
                  <a:lnTo>
                    <a:pt x="5162" y="1022763"/>
                  </a:lnTo>
                  <a:lnTo>
                    <a:pt x="19868" y="1063937"/>
                  </a:lnTo>
                  <a:lnTo>
                    <a:pt x="42947" y="1100250"/>
                  </a:lnTo>
                  <a:lnTo>
                    <a:pt x="73229" y="1130532"/>
                  </a:lnTo>
                  <a:lnTo>
                    <a:pt x="109542" y="1153611"/>
                  </a:lnTo>
                  <a:lnTo>
                    <a:pt x="150716" y="1168317"/>
                  </a:lnTo>
                  <a:lnTo>
                    <a:pt x="195580" y="1173480"/>
                  </a:lnTo>
                  <a:lnTo>
                    <a:pt x="1851152" y="1173480"/>
                  </a:lnTo>
                  <a:lnTo>
                    <a:pt x="1896015" y="1168317"/>
                  </a:lnTo>
                  <a:lnTo>
                    <a:pt x="1937189" y="1153611"/>
                  </a:lnTo>
                  <a:lnTo>
                    <a:pt x="1973502" y="1130532"/>
                  </a:lnTo>
                  <a:lnTo>
                    <a:pt x="2003784" y="1100250"/>
                  </a:lnTo>
                  <a:lnTo>
                    <a:pt x="2026863" y="1063937"/>
                  </a:lnTo>
                  <a:lnTo>
                    <a:pt x="2041569" y="1022763"/>
                  </a:lnTo>
                  <a:lnTo>
                    <a:pt x="2046731" y="977900"/>
                  </a:lnTo>
                  <a:lnTo>
                    <a:pt x="2046731" y="195580"/>
                  </a:lnTo>
                  <a:lnTo>
                    <a:pt x="2041569" y="150716"/>
                  </a:lnTo>
                  <a:lnTo>
                    <a:pt x="2026863" y="109542"/>
                  </a:lnTo>
                  <a:lnTo>
                    <a:pt x="2003784" y="73229"/>
                  </a:lnTo>
                  <a:lnTo>
                    <a:pt x="1973502" y="42947"/>
                  </a:lnTo>
                  <a:lnTo>
                    <a:pt x="1937189" y="19868"/>
                  </a:lnTo>
                  <a:lnTo>
                    <a:pt x="1896015" y="5162"/>
                  </a:lnTo>
                  <a:lnTo>
                    <a:pt x="1851152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459729" y="1495805"/>
              <a:ext cx="2047239" cy="1173480"/>
            </a:xfrm>
            <a:custGeom>
              <a:avLst/>
              <a:gdLst/>
              <a:ahLst/>
              <a:cxnLst/>
              <a:rect l="l" t="t" r="r" b="b"/>
              <a:pathLst>
                <a:path w="2047240" h="1173480">
                  <a:moveTo>
                    <a:pt x="0" y="195580"/>
                  </a:moveTo>
                  <a:lnTo>
                    <a:pt x="5162" y="150716"/>
                  </a:lnTo>
                  <a:lnTo>
                    <a:pt x="19868" y="109542"/>
                  </a:lnTo>
                  <a:lnTo>
                    <a:pt x="42947" y="73229"/>
                  </a:lnTo>
                  <a:lnTo>
                    <a:pt x="73229" y="42947"/>
                  </a:lnTo>
                  <a:lnTo>
                    <a:pt x="109542" y="19868"/>
                  </a:lnTo>
                  <a:lnTo>
                    <a:pt x="150716" y="5162"/>
                  </a:lnTo>
                  <a:lnTo>
                    <a:pt x="195580" y="0"/>
                  </a:lnTo>
                  <a:lnTo>
                    <a:pt x="1851152" y="0"/>
                  </a:lnTo>
                  <a:lnTo>
                    <a:pt x="1896015" y="5162"/>
                  </a:lnTo>
                  <a:lnTo>
                    <a:pt x="1937189" y="19868"/>
                  </a:lnTo>
                  <a:lnTo>
                    <a:pt x="1973502" y="42947"/>
                  </a:lnTo>
                  <a:lnTo>
                    <a:pt x="2003784" y="73229"/>
                  </a:lnTo>
                  <a:lnTo>
                    <a:pt x="2026863" y="109542"/>
                  </a:lnTo>
                  <a:lnTo>
                    <a:pt x="2041569" y="150716"/>
                  </a:lnTo>
                  <a:lnTo>
                    <a:pt x="2046731" y="195580"/>
                  </a:lnTo>
                  <a:lnTo>
                    <a:pt x="2046731" y="977900"/>
                  </a:lnTo>
                  <a:lnTo>
                    <a:pt x="2041569" y="1022763"/>
                  </a:lnTo>
                  <a:lnTo>
                    <a:pt x="2026863" y="1063937"/>
                  </a:lnTo>
                  <a:lnTo>
                    <a:pt x="2003784" y="1100250"/>
                  </a:lnTo>
                  <a:lnTo>
                    <a:pt x="1973502" y="1130532"/>
                  </a:lnTo>
                  <a:lnTo>
                    <a:pt x="1937189" y="1153611"/>
                  </a:lnTo>
                  <a:lnTo>
                    <a:pt x="1896015" y="1168317"/>
                  </a:lnTo>
                  <a:lnTo>
                    <a:pt x="1851152" y="1173480"/>
                  </a:lnTo>
                  <a:lnTo>
                    <a:pt x="195580" y="1173480"/>
                  </a:lnTo>
                  <a:lnTo>
                    <a:pt x="150716" y="1168317"/>
                  </a:lnTo>
                  <a:lnTo>
                    <a:pt x="109542" y="1153611"/>
                  </a:lnTo>
                  <a:lnTo>
                    <a:pt x="73229" y="1130532"/>
                  </a:lnTo>
                  <a:lnTo>
                    <a:pt x="42947" y="1100250"/>
                  </a:lnTo>
                  <a:lnTo>
                    <a:pt x="19868" y="1063937"/>
                  </a:lnTo>
                  <a:lnTo>
                    <a:pt x="5162" y="1022763"/>
                  </a:lnTo>
                  <a:lnTo>
                    <a:pt x="0" y="977900"/>
                  </a:lnTo>
                  <a:lnTo>
                    <a:pt x="0" y="195580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943853" y="1651761"/>
            <a:ext cx="107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Plaquetas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13246" y="192608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96026" y="2200402"/>
            <a:ext cx="1373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Trombocitos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101583" y="1485900"/>
            <a:ext cx="2066925" cy="1286510"/>
            <a:chOff x="8101583" y="1485900"/>
            <a:chExt cx="2066925" cy="1286510"/>
          </a:xfrm>
        </p:grpSpPr>
        <p:sp>
          <p:nvSpPr>
            <p:cNvPr id="26" name="object 26"/>
            <p:cNvSpPr/>
            <p:nvPr/>
          </p:nvSpPr>
          <p:spPr>
            <a:xfrm>
              <a:off x="8111489" y="1495805"/>
              <a:ext cx="2047239" cy="1266825"/>
            </a:xfrm>
            <a:custGeom>
              <a:avLst/>
              <a:gdLst/>
              <a:ahLst/>
              <a:cxnLst/>
              <a:rect l="l" t="t" r="r" b="b"/>
              <a:pathLst>
                <a:path w="2047240" h="1266825">
                  <a:moveTo>
                    <a:pt x="1835657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0" y="1055370"/>
                  </a:lnTo>
                  <a:lnTo>
                    <a:pt x="5573" y="1103771"/>
                  </a:lnTo>
                  <a:lnTo>
                    <a:pt x="21451" y="1148200"/>
                  </a:lnTo>
                  <a:lnTo>
                    <a:pt x="46366" y="1187391"/>
                  </a:lnTo>
                  <a:lnTo>
                    <a:pt x="79052" y="1220077"/>
                  </a:lnTo>
                  <a:lnTo>
                    <a:pt x="118243" y="1244992"/>
                  </a:lnTo>
                  <a:lnTo>
                    <a:pt x="162672" y="1260870"/>
                  </a:lnTo>
                  <a:lnTo>
                    <a:pt x="211074" y="1266444"/>
                  </a:lnTo>
                  <a:lnTo>
                    <a:pt x="1835657" y="1266444"/>
                  </a:lnTo>
                  <a:lnTo>
                    <a:pt x="1884059" y="1260870"/>
                  </a:lnTo>
                  <a:lnTo>
                    <a:pt x="1928488" y="1244992"/>
                  </a:lnTo>
                  <a:lnTo>
                    <a:pt x="1967679" y="1220077"/>
                  </a:lnTo>
                  <a:lnTo>
                    <a:pt x="2000365" y="1187391"/>
                  </a:lnTo>
                  <a:lnTo>
                    <a:pt x="2025280" y="1148200"/>
                  </a:lnTo>
                  <a:lnTo>
                    <a:pt x="2041158" y="1103771"/>
                  </a:lnTo>
                  <a:lnTo>
                    <a:pt x="2046731" y="1055370"/>
                  </a:lnTo>
                  <a:lnTo>
                    <a:pt x="2046731" y="211074"/>
                  </a:lnTo>
                  <a:lnTo>
                    <a:pt x="2041158" y="162672"/>
                  </a:lnTo>
                  <a:lnTo>
                    <a:pt x="2025280" y="118243"/>
                  </a:lnTo>
                  <a:lnTo>
                    <a:pt x="2000365" y="79052"/>
                  </a:lnTo>
                  <a:lnTo>
                    <a:pt x="1967679" y="46366"/>
                  </a:lnTo>
                  <a:lnTo>
                    <a:pt x="1928488" y="21451"/>
                  </a:lnTo>
                  <a:lnTo>
                    <a:pt x="1884059" y="5573"/>
                  </a:lnTo>
                  <a:lnTo>
                    <a:pt x="1835657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111489" y="1495805"/>
              <a:ext cx="2047239" cy="1266825"/>
            </a:xfrm>
            <a:custGeom>
              <a:avLst/>
              <a:gdLst/>
              <a:ahLst/>
              <a:cxnLst/>
              <a:rect l="l" t="t" r="r" b="b"/>
              <a:pathLst>
                <a:path w="2047240" h="126682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1835657" y="0"/>
                  </a:lnTo>
                  <a:lnTo>
                    <a:pt x="1884059" y="5573"/>
                  </a:lnTo>
                  <a:lnTo>
                    <a:pt x="1928488" y="21451"/>
                  </a:lnTo>
                  <a:lnTo>
                    <a:pt x="1967679" y="46366"/>
                  </a:lnTo>
                  <a:lnTo>
                    <a:pt x="2000365" y="79052"/>
                  </a:lnTo>
                  <a:lnTo>
                    <a:pt x="2025280" y="118243"/>
                  </a:lnTo>
                  <a:lnTo>
                    <a:pt x="2041158" y="162672"/>
                  </a:lnTo>
                  <a:lnTo>
                    <a:pt x="2046731" y="211074"/>
                  </a:lnTo>
                  <a:lnTo>
                    <a:pt x="2046731" y="1055370"/>
                  </a:lnTo>
                  <a:lnTo>
                    <a:pt x="2041158" y="1103771"/>
                  </a:lnTo>
                  <a:lnTo>
                    <a:pt x="2025280" y="1148200"/>
                  </a:lnTo>
                  <a:lnTo>
                    <a:pt x="2000365" y="1187391"/>
                  </a:lnTo>
                  <a:lnTo>
                    <a:pt x="1967679" y="1220077"/>
                  </a:lnTo>
                  <a:lnTo>
                    <a:pt x="1928488" y="1244992"/>
                  </a:lnTo>
                  <a:lnTo>
                    <a:pt x="1884059" y="1260870"/>
                  </a:lnTo>
                  <a:lnTo>
                    <a:pt x="1835657" y="1266444"/>
                  </a:lnTo>
                  <a:lnTo>
                    <a:pt x="211074" y="1266444"/>
                  </a:lnTo>
                  <a:lnTo>
                    <a:pt x="162672" y="1260870"/>
                  </a:lnTo>
                  <a:lnTo>
                    <a:pt x="118243" y="1244992"/>
                  </a:lnTo>
                  <a:lnTo>
                    <a:pt x="79052" y="1220077"/>
                  </a:lnTo>
                  <a:lnTo>
                    <a:pt x="46366" y="1187391"/>
                  </a:lnTo>
                  <a:lnTo>
                    <a:pt x="21451" y="1148200"/>
                  </a:lnTo>
                  <a:lnTo>
                    <a:pt x="5573" y="1103771"/>
                  </a:lnTo>
                  <a:lnTo>
                    <a:pt x="0" y="1055370"/>
                  </a:lnTo>
                  <a:lnTo>
                    <a:pt x="0" y="211074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265921" y="1835022"/>
            <a:ext cx="17373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616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Índices Hematimétricos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9308" y="3153155"/>
            <a:ext cx="1670685" cy="1353820"/>
          </a:xfrm>
          <a:prstGeom prst="rect">
            <a:avLst/>
          </a:prstGeom>
          <a:solidFill>
            <a:srgbClr val="0AACB5"/>
          </a:solidFill>
        </p:spPr>
        <p:txBody>
          <a:bodyPr vert="horz" wrap="square" lIns="0" tIns="41275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325"/>
              </a:spcBef>
            </a:pPr>
            <a:r>
              <a:rPr sz="1600" b="1" dirty="0">
                <a:latin typeface="Arial"/>
                <a:cs typeface="Arial"/>
              </a:rPr>
              <a:t>GR: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5,5</a:t>
            </a:r>
            <a:endParaRPr sz="1600">
              <a:latin typeface="Arial"/>
              <a:cs typeface="Arial"/>
            </a:endParaRPr>
          </a:p>
          <a:p>
            <a:pPr marL="111760" marR="105410" indent="165735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millones/ml </a:t>
            </a:r>
            <a:r>
              <a:rPr sz="1600" b="1" dirty="0">
                <a:latin typeface="Arial"/>
                <a:cs typeface="Arial"/>
              </a:rPr>
              <a:t>Hb: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13 - 17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g/dl</a:t>
            </a:r>
            <a:endParaRPr sz="160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Hto: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40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52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%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48995" y="4645152"/>
            <a:ext cx="2075814" cy="1513840"/>
            <a:chOff x="348995" y="4645152"/>
            <a:chExt cx="2075814" cy="1513840"/>
          </a:xfrm>
        </p:grpSpPr>
        <p:sp>
          <p:nvSpPr>
            <p:cNvPr id="31" name="object 31"/>
            <p:cNvSpPr/>
            <p:nvPr/>
          </p:nvSpPr>
          <p:spPr>
            <a:xfrm>
              <a:off x="358901" y="4655058"/>
              <a:ext cx="2056130" cy="1493520"/>
            </a:xfrm>
            <a:custGeom>
              <a:avLst/>
              <a:gdLst/>
              <a:ahLst/>
              <a:cxnLst/>
              <a:rect l="l" t="t" r="r" b="b"/>
              <a:pathLst>
                <a:path w="2056130" h="1493520">
                  <a:moveTo>
                    <a:pt x="1806956" y="0"/>
                  </a:moveTo>
                  <a:lnTo>
                    <a:pt x="248919" y="0"/>
                  </a:lnTo>
                  <a:lnTo>
                    <a:pt x="204175" y="4012"/>
                  </a:lnTo>
                  <a:lnTo>
                    <a:pt x="162062" y="15580"/>
                  </a:lnTo>
                  <a:lnTo>
                    <a:pt x="123284" y="33998"/>
                  </a:lnTo>
                  <a:lnTo>
                    <a:pt x="88542" y="58562"/>
                  </a:lnTo>
                  <a:lnTo>
                    <a:pt x="58541" y="88568"/>
                  </a:lnTo>
                  <a:lnTo>
                    <a:pt x="33984" y="123312"/>
                  </a:lnTo>
                  <a:lnTo>
                    <a:pt x="15572" y="162088"/>
                  </a:lnTo>
                  <a:lnTo>
                    <a:pt x="4010" y="204192"/>
                  </a:lnTo>
                  <a:lnTo>
                    <a:pt x="0" y="248920"/>
                  </a:lnTo>
                  <a:lnTo>
                    <a:pt x="0" y="1244600"/>
                  </a:lnTo>
                  <a:lnTo>
                    <a:pt x="4010" y="1289344"/>
                  </a:lnTo>
                  <a:lnTo>
                    <a:pt x="15572" y="1331457"/>
                  </a:lnTo>
                  <a:lnTo>
                    <a:pt x="33984" y="1370235"/>
                  </a:lnTo>
                  <a:lnTo>
                    <a:pt x="58541" y="1404977"/>
                  </a:lnTo>
                  <a:lnTo>
                    <a:pt x="88542" y="1434978"/>
                  </a:lnTo>
                  <a:lnTo>
                    <a:pt x="123284" y="1459535"/>
                  </a:lnTo>
                  <a:lnTo>
                    <a:pt x="162062" y="1477947"/>
                  </a:lnTo>
                  <a:lnTo>
                    <a:pt x="204175" y="1489509"/>
                  </a:lnTo>
                  <a:lnTo>
                    <a:pt x="248919" y="1493520"/>
                  </a:lnTo>
                  <a:lnTo>
                    <a:pt x="1806956" y="1493520"/>
                  </a:lnTo>
                  <a:lnTo>
                    <a:pt x="1851683" y="1489509"/>
                  </a:lnTo>
                  <a:lnTo>
                    <a:pt x="1893787" y="1477947"/>
                  </a:lnTo>
                  <a:lnTo>
                    <a:pt x="1932563" y="1459535"/>
                  </a:lnTo>
                  <a:lnTo>
                    <a:pt x="1967307" y="1434978"/>
                  </a:lnTo>
                  <a:lnTo>
                    <a:pt x="1997313" y="1404977"/>
                  </a:lnTo>
                  <a:lnTo>
                    <a:pt x="2021877" y="1370235"/>
                  </a:lnTo>
                  <a:lnTo>
                    <a:pt x="2040295" y="1331457"/>
                  </a:lnTo>
                  <a:lnTo>
                    <a:pt x="2051863" y="1289344"/>
                  </a:lnTo>
                  <a:lnTo>
                    <a:pt x="2055876" y="1244600"/>
                  </a:lnTo>
                  <a:lnTo>
                    <a:pt x="2055876" y="248920"/>
                  </a:lnTo>
                  <a:lnTo>
                    <a:pt x="2051863" y="204192"/>
                  </a:lnTo>
                  <a:lnTo>
                    <a:pt x="2040295" y="162088"/>
                  </a:lnTo>
                  <a:lnTo>
                    <a:pt x="2021877" y="123312"/>
                  </a:lnTo>
                  <a:lnTo>
                    <a:pt x="1997313" y="88568"/>
                  </a:lnTo>
                  <a:lnTo>
                    <a:pt x="1967307" y="58562"/>
                  </a:lnTo>
                  <a:lnTo>
                    <a:pt x="1932563" y="33998"/>
                  </a:lnTo>
                  <a:lnTo>
                    <a:pt x="1893787" y="15580"/>
                  </a:lnTo>
                  <a:lnTo>
                    <a:pt x="1851683" y="4012"/>
                  </a:lnTo>
                  <a:lnTo>
                    <a:pt x="1806956" y="0"/>
                  </a:lnTo>
                  <a:close/>
                </a:path>
              </a:pathLst>
            </a:custGeom>
            <a:solidFill>
              <a:srgbClr val="F0A2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8901" y="4655058"/>
              <a:ext cx="2056130" cy="1493520"/>
            </a:xfrm>
            <a:custGeom>
              <a:avLst/>
              <a:gdLst/>
              <a:ahLst/>
              <a:cxnLst/>
              <a:rect l="l" t="t" r="r" b="b"/>
              <a:pathLst>
                <a:path w="2056130" h="1493520">
                  <a:moveTo>
                    <a:pt x="0" y="248920"/>
                  </a:moveTo>
                  <a:lnTo>
                    <a:pt x="4010" y="204192"/>
                  </a:lnTo>
                  <a:lnTo>
                    <a:pt x="15572" y="162088"/>
                  </a:lnTo>
                  <a:lnTo>
                    <a:pt x="33984" y="123312"/>
                  </a:lnTo>
                  <a:lnTo>
                    <a:pt x="58541" y="88568"/>
                  </a:lnTo>
                  <a:lnTo>
                    <a:pt x="88542" y="58562"/>
                  </a:lnTo>
                  <a:lnTo>
                    <a:pt x="123284" y="33998"/>
                  </a:lnTo>
                  <a:lnTo>
                    <a:pt x="162062" y="15580"/>
                  </a:lnTo>
                  <a:lnTo>
                    <a:pt x="204175" y="4012"/>
                  </a:lnTo>
                  <a:lnTo>
                    <a:pt x="248919" y="0"/>
                  </a:lnTo>
                  <a:lnTo>
                    <a:pt x="1806956" y="0"/>
                  </a:lnTo>
                  <a:lnTo>
                    <a:pt x="1851683" y="4012"/>
                  </a:lnTo>
                  <a:lnTo>
                    <a:pt x="1893787" y="15580"/>
                  </a:lnTo>
                  <a:lnTo>
                    <a:pt x="1932563" y="33998"/>
                  </a:lnTo>
                  <a:lnTo>
                    <a:pt x="1967307" y="58562"/>
                  </a:lnTo>
                  <a:lnTo>
                    <a:pt x="1997313" y="88568"/>
                  </a:lnTo>
                  <a:lnTo>
                    <a:pt x="2021877" y="123312"/>
                  </a:lnTo>
                  <a:lnTo>
                    <a:pt x="2040295" y="162088"/>
                  </a:lnTo>
                  <a:lnTo>
                    <a:pt x="2051863" y="204192"/>
                  </a:lnTo>
                  <a:lnTo>
                    <a:pt x="2055876" y="248920"/>
                  </a:lnTo>
                  <a:lnTo>
                    <a:pt x="2055876" y="1244600"/>
                  </a:lnTo>
                  <a:lnTo>
                    <a:pt x="2051863" y="1289344"/>
                  </a:lnTo>
                  <a:lnTo>
                    <a:pt x="2040295" y="1331457"/>
                  </a:lnTo>
                  <a:lnTo>
                    <a:pt x="2021877" y="1370235"/>
                  </a:lnTo>
                  <a:lnTo>
                    <a:pt x="1997313" y="1404977"/>
                  </a:lnTo>
                  <a:lnTo>
                    <a:pt x="1967307" y="1434978"/>
                  </a:lnTo>
                  <a:lnTo>
                    <a:pt x="1932563" y="1459535"/>
                  </a:lnTo>
                  <a:lnTo>
                    <a:pt x="1893787" y="1477947"/>
                  </a:lnTo>
                  <a:lnTo>
                    <a:pt x="1851683" y="1489509"/>
                  </a:lnTo>
                  <a:lnTo>
                    <a:pt x="1806956" y="1493520"/>
                  </a:lnTo>
                  <a:lnTo>
                    <a:pt x="248919" y="1493520"/>
                  </a:lnTo>
                  <a:lnTo>
                    <a:pt x="204175" y="1489509"/>
                  </a:lnTo>
                  <a:lnTo>
                    <a:pt x="162062" y="1477947"/>
                  </a:lnTo>
                  <a:lnTo>
                    <a:pt x="123284" y="1459535"/>
                  </a:lnTo>
                  <a:lnTo>
                    <a:pt x="88542" y="1434978"/>
                  </a:lnTo>
                  <a:lnTo>
                    <a:pt x="58541" y="1404977"/>
                  </a:lnTo>
                  <a:lnTo>
                    <a:pt x="33984" y="1370235"/>
                  </a:lnTo>
                  <a:lnTo>
                    <a:pt x="15572" y="1331457"/>
                  </a:lnTo>
                  <a:lnTo>
                    <a:pt x="4010" y="1289344"/>
                  </a:lnTo>
                  <a:lnTo>
                    <a:pt x="0" y="1244600"/>
                  </a:lnTo>
                  <a:lnTo>
                    <a:pt x="0" y="248920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1154" y="4897373"/>
            <a:ext cx="147002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GR: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3,9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–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4,9</a:t>
            </a:r>
            <a:endParaRPr sz="1600">
              <a:latin typeface="Arial"/>
              <a:cs typeface="Arial"/>
            </a:endParaRPr>
          </a:p>
          <a:p>
            <a:pPr marL="177165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millones/ml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Hb: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12 -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15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g/dl</a:t>
            </a:r>
            <a:endParaRPr sz="160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Hto: 36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45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50" dirty="0">
                <a:latin typeface="Arial"/>
                <a:cs typeface="Arial"/>
              </a:rPr>
              <a:t>%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878835" y="3073907"/>
            <a:ext cx="2169160" cy="1358265"/>
            <a:chOff x="2878835" y="3073907"/>
            <a:chExt cx="2169160" cy="1358265"/>
          </a:xfrm>
        </p:grpSpPr>
        <p:sp>
          <p:nvSpPr>
            <p:cNvPr id="35" name="object 35"/>
            <p:cNvSpPr/>
            <p:nvPr/>
          </p:nvSpPr>
          <p:spPr>
            <a:xfrm>
              <a:off x="2888741" y="3083813"/>
              <a:ext cx="2148840" cy="1338580"/>
            </a:xfrm>
            <a:custGeom>
              <a:avLst/>
              <a:gdLst/>
              <a:ahLst/>
              <a:cxnLst/>
              <a:rect l="l" t="t" r="r" b="b"/>
              <a:pathLst>
                <a:path w="2148840" h="1338579">
                  <a:moveTo>
                    <a:pt x="1925828" y="0"/>
                  </a:moveTo>
                  <a:lnTo>
                    <a:pt x="223012" y="0"/>
                  </a:lnTo>
                  <a:lnTo>
                    <a:pt x="178060" y="4529"/>
                  </a:lnTo>
                  <a:lnTo>
                    <a:pt x="136195" y="17522"/>
                  </a:lnTo>
                  <a:lnTo>
                    <a:pt x="98313" y="38080"/>
                  </a:lnTo>
                  <a:lnTo>
                    <a:pt x="65309" y="65309"/>
                  </a:lnTo>
                  <a:lnTo>
                    <a:pt x="38080" y="98313"/>
                  </a:lnTo>
                  <a:lnTo>
                    <a:pt x="17522" y="136195"/>
                  </a:lnTo>
                  <a:lnTo>
                    <a:pt x="4529" y="178060"/>
                  </a:lnTo>
                  <a:lnTo>
                    <a:pt x="0" y="223012"/>
                  </a:lnTo>
                  <a:lnTo>
                    <a:pt x="0" y="1115060"/>
                  </a:lnTo>
                  <a:lnTo>
                    <a:pt x="4529" y="1160011"/>
                  </a:lnTo>
                  <a:lnTo>
                    <a:pt x="17522" y="1201876"/>
                  </a:lnTo>
                  <a:lnTo>
                    <a:pt x="38080" y="1239758"/>
                  </a:lnTo>
                  <a:lnTo>
                    <a:pt x="65309" y="1272762"/>
                  </a:lnTo>
                  <a:lnTo>
                    <a:pt x="98313" y="1299991"/>
                  </a:lnTo>
                  <a:lnTo>
                    <a:pt x="136195" y="1320549"/>
                  </a:lnTo>
                  <a:lnTo>
                    <a:pt x="178060" y="1333542"/>
                  </a:lnTo>
                  <a:lnTo>
                    <a:pt x="223012" y="1338072"/>
                  </a:lnTo>
                  <a:lnTo>
                    <a:pt x="1925828" y="1338072"/>
                  </a:lnTo>
                  <a:lnTo>
                    <a:pt x="1970779" y="1333542"/>
                  </a:lnTo>
                  <a:lnTo>
                    <a:pt x="2012644" y="1320549"/>
                  </a:lnTo>
                  <a:lnTo>
                    <a:pt x="2050526" y="1299991"/>
                  </a:lnTo>
                  <a:lnTo>
                    <a:pt x="2083530" y="1272762"/>
                  </a:lnTo>
                  <a:lnTo>
                    <a:pt x="2110759" y="1239758"/>
                  </a:lnTo>
                  <a:lnTo>
                    <a:pt x="2131317" y="1201876"/>
                  </a:lnTo>
                  <a:lnTo>
                    <a:pt x="2144310" y="1160011"/>
                  </a:lnTo>
                  <a:lnTo>
                    <a:pt x="2148840" y="1115060"/>
                  </a:lnTo>
                  <a:lnTo>
                    <a:pt x="2148840" y="223012"/>
                  </a:lnTo>
                  <a:lnTo>
                    <a:pt x="2144310" y="178060"/>
                  </a:lnTo>
                  <a:lnTo>
                    <a:pt x="2131317" y="136195"/>
                  </a:lnTo>
                  <a:lnTo>
                    <a:pt x="2110759" y="98313"/>
                  </a:lnTo>
                  <a:lnTo>
                    <a:pt x="2083530" y="65309"/>
                  </a:lnTo>
                  <a:lnTo>
                    <a:pt x="2050526" y="38080"/>
                  </a:lnTo>
                  <a:lnTo>
                    <a:pt x="2012644" y="17522"/>
                  </a:lnTo>
                  <a:lnTo>
                    <a:pt x="1970779" y="4529"/>
                  </a:lnTo>
                  <a:lnTo>
                    <a:pt x="1925828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88741" y="3083813"/>
              <a:ext cx="2148840" cy="1338580"/>
            </a:xfrm>
            <a:custGeom>
              <a:avLst/>
              <a:gdLst/>
              <a:ahLst/>
              <a:cxnLst/>
              <a:rect l="l" t="t" r="r" b="b"/>
              <a:pathLst>
                <a:path w="2148840" h="1338579">
                  <a:moveTo>
                    <a:pt x="0" y="223012"/>
                  </a:moveTo>
                  <a:lnTo>
                    <a:pt x="4529" y="178060"/>
                  </a:lnTo>
                  <a:lnTo>
                    <a:pt x="17522" y="136195"/>
                  </a:lnTo>
                  <a:lnTo>
                    <a:pt x="38080" y="98313"/>
                  </a:lnTo>
                  <a:lnTo>
                    <a:pt x="65309" y="65309"/>
                  </a:lnTo>
                  <a:lnTo>
                    <a:pt x="98313" y="38080"/>
                  </a:lnTo>
                  <a:lnTo>
                    <a:pt x="136195" y="17522"/>
                  </a:lnTo>
                  <a:lnTo>
                    <a:pt x="178060" y="4529"/>
                  </a:lnTo>
                  <a:lnTo>
                    <a:pt x="223012" y="0"/>
                  </a:lnTo>
                  <a:lnTo>
                    <a:pt x="1925828" y="0"/>
                  </a:lnTo>
                  <a:lnTo>
                    <a:pt x="1970779" y="4529"/>
                  </a:lnTo>
                  <a:lnTo>
                    <a:pt x="2012644" y="17522"/>
                  </a:lnTo>
                  <a:lnTo>
                    <a:pt x="2050526" y="38080"/>
                  </a:lnTo>
                  <a:lnTo>
                    <a:pt x="2083530" y="65309"/>
                  </a:lnTo>
                  <a:lnTo>
                    <a:pt x="2110759" y="98313"/>
                  </a:lnTo>
                  <a:lnTo>
                    <a:pt x="2131317" y="136195"/>
                  </a:lnTo>
                  <a:lnTo>
                    <a:pt x="2144310" y="178060"/>
                  </a:lnTo>
                  <a:lnTo>
                    <a:pt x="2148840" y="223012"/>
                  </a:lnTo>
                  <a:lnTo>
                    <a:pt x="2148840" y="1115060"/>
                  </a:lnTo>
                  <a:lnTo>
                    <a:pt x="2144310" y="1160011"/>
                  </a:lnTo>
                  <a:lnTo>
                    <a:pt x="2131317" y="1201876"/>
                  </a:lnTo>
                  <a:lnTo>
                    <a:pt x="2110759" y="1239758"/>
                  </a:lnTo>
                  <a:lnTo>
                    <a:pt x="2083530" y="1272762"/>
                  </a:lnTo>
                  <a:lnTo>
                    <a:pt x="2050526" y="1299991"/>
                  </a:lnTo>
                  <a:lnTo>
                    <a:pt x="2012644" y="1320549"/>
                  </a:lnTo>
                  <a:lnTo>
                    <a:pt x="1970779" y="1333542"/>
                  </a:lnTo>
                  <a:lnTo>
                    <a:pt x="1925828" y="1338072"/>
                  </a:lnTo>
                  <a:lnTo>
                    <a:pt x="223012" y="1338072"/>
                  </a:lnTo>
                  <a:lnTo>
                    <a:pt x="178060" y="1333542"/>
                  </a:lnTo>
                  <a:lnTo>
                    <a:pt x="136195" y="1320549"/>
                  </a:lnTo>
                  <a:lnTo>
                    <a:pt x="98313" y="1299991"/>
                  </a:lnTo>
                  <a:lnTo>
                    <a:pt x="65309" y="1272762"/>
                  </a:lnTo>
                  <a:lnTo>
                    <a:pt x="38080" y="1239758"/>
                  </a:lnTo>
                  <a:lnTo>
                    <a:pt x="17522" y="1201876"/>
                  </a:lnTo>
                  <a:lnTo>
                    <a:pt x="4529" y="1160011"/>
                  </a:lnTo>
                  <a:lnTo>
                    <a:pt x="0" y="1115060"/>
                  </a:lnTo>
                  <a:lnTo>
                    <a:pt x="0" y="223012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86099" y="3290315"/>
              <a:ext cx="1766570" cy="923925"/>
            </a:xfrm>
            <a:custGeom>
              <a:avLst/>
              <a:gdLst/>
              <a:ahLst/>
              <a:cxnLst/>
              <a:rect l="l" t="t" r="r" b="b"/>
              <a:pathLst>
                <a:path w="1766570" h="923925">
                  <a:moveTo>
                    <a:pt x="1766316" y="0"/>
                  </a:moveTo>
                  <a:lnTo>
                    <a:pt x="0" y="0"/>
                  </a:lnTo>
                  <a:lnTo>
                    <a:pt x="0" y="923543"/>
                  </a:lnTo>
                  <a:lnTo>
                    <a:pt x="1766316" y="923543"/>
                  </a:lnTo>
                  <a:lnTo>
                    <a:pt x="1766316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442461" y="3318128"/>
            <a:ext cx="10528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5.000/ml</a:t>
            </a:r>
            <a:endParaRPr sz="1800">
              <a:latin typeface="Arial"/>
              <a:cs typeface="Arial"/>
            </a:endParaRPr>
          </a:p>
          <a:p>
            <a:pPr marL="12700" marR="5080" indent="703580">
              <a:lnSpc>
                <a:spcPct val="100000"/>
              </a:lnSpc>
            </a:pPr>
            <a:r>
              <a:rPr sz="1800" b="1" spc="-50" dirty="0">
                <a:latin typeface="Arial"/>
                <a:cs typeface="Arial"/>
              </a:rPr>
              <a:t>a </a:t>
            </a:r>
            <a:r>
              <a:rPr sz="1800" b="1" spc="-10" dirty="0">
                <a:latin typeface="Arial"/>
                <a:cs typeface="Arial"/>
              </a:rPr>
              <a:t>10.000/ml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475732" y="3134867"/>
            <a:ext cx="2089785" cy="1339850"/>
            <a:chOff x="5475732" y="3134867"/>
            <a:chExt cx="2089785" cy="1339850"/>
          </a:xfrm>
        </p:grpSpPr>
        <p:sp>
          <p:nvSpPr>
            <p:cNvPr id="40" name="object 40"/>
            <p:cNvSpPr/>
            <p:nvPr/>
          </p:nvSpPr>
          <p:spPr>
            <a:xfrm>
              <a:off x="5485638" y="3144773"/>
              <a:ext cx="2070100" cy="1320165"/>
            </a:xfrm>
            <a:custGeom>
              <a:avLst/>
              <a:gdLst/>
              <a:ahLst/>
              <a:cxnLst/>
              <a:rect l="l" t="t" r="r" b="b"/>
              <a:pathLst>
                <a:path w="2070100" h="1320164">
                  <a:moveTo>
                    <a:pt x="1849628" y="0"/>
                  </a:moveTo>
                  <a:lnTo>
                    <a:pt x="219963" y="0"/>
                  </a:lnTo>
                  <a:lnTo>
                    <a:pt x="175617" y="4466"/>
                  </a:lnTo>
                  <a:lnTo>
                    <a:pt x="134320" y="17277"/>
                  </a:lnTo>
                  <a:lnTo>
                    <a:pt x="96955" y="37551"/>
                  </a:lnTo>
                  <a:lnTo>
                    <a:pt x="64404" y="64404"/>
                  </a:lnTo>
                  <a:lnTo>
                    <a:pt x="37551" y="96955"/>
                  </a:lnTo>
                  <a:lnTo>
                    <a:pt x="17277" y="134320"/>
                  </a:lnTo>
                  <a:lnTo>
                    <a:pt x="4466" y="175617"/>
                  </a:lnTo>
                  <a:lnTo>
                    <a:pt x="0" y="219963"/>
                  </a:lnTo>
                  <a:lnTo>
                    <a:pt x="0" y="1099820"/>
                  </a:lnTo>
                  <a:lnTo>
                    <a:pt x="4466" y="1144166"/>
                  </a:lnTo>
                  <a:lnTo>
                    <a:pt x="17277" y="1185463"/>
                  </a:lnTo>
                  <a:lnTo>
                    <a:pt x="37551" y="1222828"/>
                  </a:lnTo>
                  <a:lnTo>
                    <a:pt x="64404" y="1255379"/>
                  </a:lnTo>
                  <a:lnTo>
                    <a:pt x="96955" y="1282232"/>
                  </a:lnTo>
                  <a:lnTo>
                    <a:pt x="134320" y="1302506"/>
                  </a:lnTo>
                  <a:lnTo>
                    <a:pt x="175617" y="1315317"/>
                  </a:lnTo>
                  <a:lnTo>
                    <a:pt x="219963" y="1319783"/>
                  </a:lnTo>
                  <a:lnTo>
                    <a:pt x="1849628" y="1319783"/>
                  </a:lnTo>
                  <a:lnTo>
                    <a:pt x="1893974" y="1315317"/>
                  </a:lnTo>
                  <a:lnTo>
                    <a:pt x="1935271" y="1302506"/>
                  </a:lnTo>
                  <a:lnTo>
                    <a:pt x="1972636" y="1282232"/>
                  </a:lnTo>
                  <a:lnTo>
                    <a:pt x="2005187" y="1255379"/>
                  </a:lnTo>
                  <a:lnTo>
                    <a:pt x="2032040" y="1222828"/>
                  </a:lnTo>
                  <a:lnTo>
                    <a:pt x="2052314" y="1185463"/>
                  </a:lnTo>
                  <a:lnTo>
                    <a:pt x="2065125" y="1144166"/>
                  </a:lnTo>
                  <a:lnTo>
                    <a:pt x="2069591" y="1099820"/>
                  </a:lnTo>
                  <a:lnTo>
                    <a:pt x="2069591" y="219963"/>
                  </a:lnTo>
                  <a:lnTo>
                    <a:pt x="2065125" y="175617"/>
                  </a:lnTo>
                  <a:lnTo>
                    <a:pt x="2052314" y="134320"/>
                  </a:lnTo>
                  <a:lnTo>
                    <a:pt x="2032040" y="96955"/>
                  </a:lnTo>
                  <a:lnTo>
                    <a:pt x="2005187" y="64404"/>
                  </a:lnTo>
                  <a:lnTo>
                    <a:pt x="1972636" y="37551"/>
                  </a:lnTo>
                  <a:lnTo>
                    <a:pt x="1935271" y="17277"/>
                  </a:lnTo>
                  <a:lnTo>
                    <a:pt x="1893974" y="4466"/>
                  </a:lnTo>
                  <a:lnTo>
                    <a:pt x="1849628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485638" y="3144773"/>
              <a:ext cx="2070100" cy="1320165"/>
            </a:xfrm>
            <a:custGeom>
              <a:avLst/>
              <a:gdLst/>
              <a:ahLst/>
              <a:cxnLst/>
              <a:rect l="l" t="t" r="r" b="b"/>
              <a:pathLst>
                <a:path w="2070100" h="1320164">
                  <a:moveTo>
                    <a:pt x="0" y="219963"/>
                  </a:moveTo>
                  <a:lnTo>
                    <a:pt x="4466" y="175617"/>
                  </a:lnTo>
                  <a:lnTo>
                    <a:pt x="17277" y="134320"/>
                  </a:lnTo>
                  <a:lnTo>
                    <a:pt x="37551" y="96955"/>
                  </a:lnTo>
                  <a:lnTo>
                    <a:pt x="64404" y="64404"/>
                  </a:lnTo>
                  <a:lnTo>
                    <a:pt x="96955" y="37551"/>
                  </a:lnTo>
                  <a:lnTo>
                    <a:pt x="134320" y="17277"/>
                  </a:lnTo>
                  <a:lnTo>
                    <a:pt x="175617" y="4466"/>
                  </a:lnTo>
                  <a:lnTo>
                    <a:pt x="219963" y="0"/>
                  </a:lnTo>
                  <a:lnTo>
                    <a:pt x="1849628" y="0"/>
                  </a:lnTo>
                  <a:lnTo>
                    <a:pt x="1893974" y="4466"/>
                  </a:lnTo>
                  <a:lnTo>
                    <a:pt x="1935271" y="17277"/>
                  </a:lnTo>
                  <a:lnTo>
                    <a:pt x="1972636" y="37551"/>
                  </a:lnTo>
                  <a:lnTo>
                    <a:pt x="2005187" y="64404"/>
                  </a:lnTo>
                  <a:lnTo>
                    <a:pt x="2032040" y="96955"/>
                  </a:lnTo>
                  <a:lnTo>
                    <a:pt x="2052314" y="134320"/>
                  </a:lnTo>
                  <a:lnTo>
                    <a:pt x="2065125" y="175617"/>
                  </a:lnTo>
                  <a:lnTo>
                    <a:pt x="2069591" y="219963"/>
                  </a:lnTo>
                  <a:lnTo>
                    <a:pt x="2069591" y="1099820"/>
                  </a:lnTo>
                  <a:lnTo>
                    <a:pt x="2065125" y="1144166"/>
                  </a:lnTo>
                  <a:lnTo>
                    <a:pt x="2052314" y="1185463"/>
                  </a:lnTo>
                  <a:lnTo>
                    <a:pt x="2032040" y="1222828"/>
                  </a:lnTo>
                  <a:lnTo>
                    <a:pt x="2005187" y="1255379"/>
                  </a:lnTo>
                  <a:lnTo>
                    <a:pt x="1972636" y="1282232"/>
                  </a:lnTo>
                  <a:lnTo>
                    <a:pt x="1935271" y="1302506"/>
                  </a:lnTo>
                  <a:lnTo>
                    <a:pt x="1893974" y="1315317"/>
                  </a:lnTo>
                  <a:lnTo>
                    <a:pt x="1849628" y="1319783"/>
                  </a:lnTo>
                  <a:lnTo>
                    <a:pt x="219963" y="1319783"/>
                  </a:lnTo>
                  <a:lnTo>
                    <a:pt x="175617" y="1315317"/>
                  </a:lnTo>
                  <a:lnTo>
                    <a:pt x="134320" y="1302506"/>
                  </a:lnTo>
                  <a:lnTo>
                    <a:pt x="96955" y="1282232"/>
                  </a:lnTo>
                  <a:lnTo>
                    <a:pt x="64404" y="1255379"/>
                  </a:lnTo>
                  <a:lnTo>
                    <a:pt x="37551" y="1222828"/>
                  </a:lnTo>
                  <a:lnTo>
                    <a:pt x="17277" y="1185463"/>
                  </a:lnTo>
                  <a:lnTo>
                    <a:pt x="4466" y="1144166"/>
                  </a:lnTo>
                  <a:lnTo>
                    <a:pt x="0" y="1099820"/>
                  </a:lnTo>
                  <a:lnTo>
                    <a:pt x="0" y="219963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898260" y="3373577"/>
            <a:ext cx="124523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150.000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/ml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450.000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/ml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677667" y="4558284"/>
            <a:ext cx="3627120" cy="2068195"/>
            <a:chOff x="2677667" y="4558284"/>
            <a:chExt cx="3627120" cy="2068195"/>
          </a:xfrm>
        </p:grpSpPr>
        <p:sp>
          <p:nvSpPr>
            <p:cNvPr id="44" name="object 44"/>
            <p:cNvSpPr/>
            <p:nvPr/>
          </p:nvSpPr>
          <p:spPr>
            <a:xfrm>
              <a:off x="2687573" y="4568190"/>
              <a:ext cx="3607435" cy="2048510"/>
            </a:xfrm>
            <a:custGeom>
              <a:avLst/>
              <a:gdLst/>
              <a:ahLst/>
              <a:cxnLst/>
              <a:rect l="l" t="t" r="r" b="b"/>
              <a:pathLst>
                <a:path w="3607435" h="2048509">
                  <a:moveTo>
                    <a:pt x="3265931" y="0"/>
                  </a:moveTo>
                  <a:lnTo>
                    <a:pt x="341375" y="0"/>
                  </a:lnTo>
                  <a:lnTo>
                    <a:pt x="295041" y="3115"/>
                  </a:lnTo>
                  <a:lnTo>
                    <a:pt x="250604" y="12190"/>
                  </a:lnTo>
                  <a:lnTo>
                    <a:pt x="208472" y="26818"/>
                  </a:lnTo>
                  <a:lnTo>
                    <a:pt x="169051" y="46594"/>
                  </a:lnTo>
                  <a:lnTo>
                    <a:pt x="132746" y="71112"/>
                  </a:lnTo>
                  <a:lnTo>
                    <a:pt x="99964" y="99964"/>
                  </a:lnTo>
                  <a:lnTo>
                    <a:pt x="71112" y="132746"/>
                  </a:lnTo>
                  <a:lnTo>
                    <a:pt x="46594" y="169051"/>
                  </a:lnTo>
                  <a:lnTo>
                    <a:pt x="26818" y="208472"/>
                  </a:lnTo>
                  <a:lnTo>
                    <a:pt x="12190" y="250604"/>
                  </a:lnTo>
                  <a:lnTo>
                    <a:pt x="3115" y="295041"/>
                  </a:lnTo>
                  <a:lnTo>
                    <a:pt x="0" y="341376"/>
                  </a:lnTo>
                  <a:lnTo>
                    <a:pt x="0" y="1706880"/>
                  </a:lnTo>
                  <a:lnTo>
                    <a:pt x="3115" y="1753201"/>
                  </a:lnTo>
                  <a:lnTo>
                    <a:pt x="12190" y="1797629"/>
                  </a:lnTo>
                  <a:lnTo>
                    <a:pt x="26818" y="1839756"/>
                  </a:lnTo>
                  <a:lnTo>
                    <a:pt x="46594" y="1879176"/>
                  </a:lnTo>
                  <a:lnTo>
                    <a:pt x="71112" y="1915482"/>
                  </a:lnTo>
                  <a:lnTo>
                    <a:pt x="99964" y="1948267"/>
                  </a:lnTo>
                  <a:lnTo>
                    <a:pt x="132746" y="1977124"/>
                  </a:lnTo>
                  <a:lnTo>
                    <a:pt x="169051" y="2001647"/>
                  </a:lnTo>
                  <a:lnTo>
                    <a:pt x="208472" y="2021428"/>
                  </a:lnTo>
                  <a:lnTo>
                    <a:pt x="250604" y="2036061"/>
                  </a:lnTo>
                  <a:lnTo>
                    <a:pt x="295041" y="2045139"/>
                  </a:lnTo>
                  <a:lnTo>
                    <a:pt x="341375" y="2048256"/>
                  </a:lnTo>
                  <a:lnTo>
                    <a:pt x="3265931" y="2048256"/>
                  </a:lnTo>
                  <a:lnTo>
                    <a:pt x="3312266" y="2045139"/>
                  </a:lnTo>
                  <a:lnTo>
                    <a:pt x="3356703" y="2036061"/>
                  </a:lnTo>
                  <a:lnTo>
                    <a:pt x="3398835" y="2021428"/>
                  </a:lnTo>
                  <a:lnTo>
                    <a:pt x="3438256" y="2001647"/>
                  </a:lnTo>
                  <a:lnTo>
                    <a:pt x="3474561" y="1977124"/>
                  </a:lnTo>
                  <a:lnTo>
                    <a:pt x="3507343" y="1948267"/>
                  </a:lnTo>
                  <a:lnTo>
                    <a:pt x="3536195" y="1915482"/>
                  </a:lnTo>
                  <a:lnTo>
                    <a:pt x="3560713" y="1879176"/>
                  </a:lnTo>
                  <a:lnTo>
                    <a:pt x="3580489" y="1839756"/>
                  </a:lnTo>
                  <a:lnTo>
                    <a:pt x="3595117" y="1797629"/>
                  </a:lnTo>
                  <a:lnTo>
                    <a:pt x="3604192" y="1753201"/>
                  </a:lnTo>
                  <a:lnTo>
                    <a:pt x="3607308" y="1706880"/>
                  </a:lnTo>
                  <a:lnTo>
                    <a:pt x="3607308" y="341376"/>
                  </a:lnTo>
                  <a:lnTo>
                    <a:pt x="3604192" y="295041"/>
                  </a:lnTo>
                  <a:lnTo>
                    <a:pt x="3595117" y="250604"/>
                  </a:lnTo>
                  <a:lnTo>
                    <a:pt x="3580489" y="208472"/>
                  </a:lnTo>
                  <a:lnTo>
                    <a:pt x="3560713" y="169051"/>
                  </a:lnTo>
                  <a:lnTo>
                    <a:pt x="3536195" y="132746"/>
                  </a:lnTo>
                  <a:lnTo>
                    <a:pt x="3507343" y="99964"/>
                  </a:lnTo>
                  <a:lnTo>
                    <a:pt x="3474561" y="71112"/>
                  </a:lnTo>
                  <a:lnTo>
                    <a:pt x="3438256" y="46594"/>
                  </a:lnTo>
                  <a:lnTo>
                    <a:pt x="3398835" y="26818"/>
                  </a:lnTo>
                  <a:lnTo>
                    <a:pt x="3356703" y="12190"/>
                  </a:lnTo>
                  <a:lnTo>
                    <a:pt x="3312266" y="3115"/>
                  </a:lnTo>
                  <a:lnTo>
                    <a:pt x="3265931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687573" y="4568190"/>
              <a:ext cx="3607435" cy="2048510"/>
            </a:xfrm>
            <a:custGeom>
              <a:avLst/>
              <a:gdLst/>
              <a:ahLst/>
              <a:cxnLst/>
              <a:rect l="l" t="t" r="r" b="b"/>
              <a:pathLst>
                <a:path w="3607435" h="2048509">
                  <a:moveTo>
                    <a:pt x="0" y="341376"/>
                  </a:moveTo>
                  <a:lnTo>
                    <a:pt x="3115" y="295041"/>
                  </a:lnTo>
                  <a:lnTo>
                    <a:pt x="12190" y="250604"/>
                  </a:lnTo>
                  <a:lnTo>
                    <a:pt x="26818" y="208472"/>
                  </a:lnTo>
                  <a:lnTo>
                    <a:pt x="46594" y="169051"/>
                  </a:lnTo>
                  <a:lnTo>
                    <a:pt x="71112" y="132746"/>
                  </a:lnTo>
                  <a:lnTo>
                    <a:pt x="99964" y="99964"/>
                  </a:lnTo>
                  <a:lnTo>
                    <a:pt x="132746" y="71112"/>
                  </a:lnTo>
                  <a:lnTo>
                    <a:pt x="169051" y="46594"/>
                  </a:lnTo>
                  <a:lnTo>
                    <a:pt x="208472" y="26818"/>
                  </a:lnTo>
                  <a:lnTo>
                    <a:pt x="250604" y="12190"/>
                  </a:lnTo>
                  <a:lnTo>
                    <a:pt x="295041" y="3115"/>
                  </a:lnTo>
                  <a:lnTo>
                    <a:pt x="341375" y="0"/>
                  </a:lnTo>
                  <a:lnTo>
                    <a:pt x="3265931" y="0"/>
                  </a:lnTo>
                  <a:lnTo>
                    <a:pt x="3312266" y="3115"/>
                  </a:lnTo>
                  <a:lnTo>
                    <a:pt x="3356703" y="12190"/>
                  </a:lnTo>
                  <a:lnTo>
                    <a:pt x="3398835" y="26818"/>
                  </a:lnTo>
                  <a:lnTo>
                    <a:pt x="3438256" y="46594"/>
                  </a:lnTo>
                  <a:lnTo>
                    <a:pt x="3474561" y="71112"/>
                  </a:lnTo>
                  <a:lnTo>
                    <a:pt x="3507343" y="99964"/>
                  </a:lnTo>
                  <a:lnTo>
                    <a:pt x="3536195" y="132746"/>
                  </a:lnTo>
                  <a:lnTo>
                    <a:pt x="3560713" y="169051"/>
                  </a:lnTo>
                  <a:lnTo>
                    <a:pt x="3580489" y="208472"/>
                  </a:lnTo>
                  <a:lnTo>
                    <a:pt x="3595117" y="250604"/>
                  </a:lnTo>
                  <a:lnTo>
                    <a:pt x="3604192" y="295041"/>
                  </a:lnTo>
                  <a:lnTo>
                    <a:pt x="3607308" y="341376"/>
                  </a:lnTo>
                  <a:lnTo>
                    <a:pt x="3607308" y="1706880"/>
                  </a:lnTo>
                  <a:lnTo>
                    <a:pt x="3604192" y="1753201"/>
                  </a:lnTo>
                  <a:lnTo>
                    <a:pt x="3595117" y="1797629"/>
                  </a:lnTo>
                  <a:lnTo>
                    <a:pt x="3580489" y="1839756"/>
                  </a:lnTo>
                  <a:lnTo>
                    <a:pt x="3560713" y="1879176"/>
                  </a:lnTo>
                  <a:lnTo>
                    <a:pt x="3536195" y="1915482"/>
                  </a:lnTo>
                  <a:lnTo>
                    <a:pt x="3507343" y="1948267"/>
                  </a:lnTo>
                  <a:lnTo>
                    <a:pt x="3474561" y="1977124"/>
                  </a:lnTo>
                  <a:lnTo>
                    <a:pt x="3438256" y="2001647"/>
                  </a:lnTo>
                  <a:lnTo>
                    <a:pt x="3398835" y="2021428"/>
                  </a:lnTo>
                  <a:lnTo>
                    <a:pt x="3356703" y="2036061"/>
                  </a:lnTo>
                  <a:lnTo>
                    <a:pt x="3312266" y="2045139"/>
                  </a:lnTo>
                  <a:lnTo>
                    <a:pt x="3265931" y="2048256"/>
                  </a:lnTo>
                  <a:lnTo>
                    <a:pt x="341375" y="2048256"/>
                  </a:lnTo>
                  <a:lnTo>
                    <a:pt x="295041" y="2045139"/>
                  </a:lnTo>
                  <a:lnTo>
                    <a:pt x="250604" y="2036061"/>
                  </a:lnTo>
                  <a:lnTo>
                    <a:pt x="208472" y="2021428"/>
                  </a:lnTo>
                  <a:lnTo>
                    <a:pt x="169051" y="2001647"/>
                  </a:lnTo>
                  <a:lnTo>
                    <a:pt x="132746" y="1977124"/>
                  </a:lnTo>
                  <a:lnTo>
                    <a:pt x="99964" y="1948267"/>
                  </a:lnTo>
                  <a:lnTo>
                    <a:pt x="71112" y="1915482"/>
                  </a:lnTo>
                  <a:lnTo>
                    <a:pt x="46594" y="1879176"/>
                  </a:lnTo>
                  <a:lnTo>
                    <a:pt x="26818" y="1839756"/>
                  </a:lnTo>
                  <a:lnTo>
                    <a:pt x="12190" y="1797629"/>
                  </a:lnTo>
                  <a:lnTo>
                    <a:pt x="3115" y="1753201"/>
                  </a:lnTo>
                  <a:lnTo>
                    <a:pt x="0" y="1706880"/>
                  </a:lnTo>
                  <a:lnTo>
                    <a:pt x="0" y="341376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003803" y="4654296"/>
              <a:ext cx="3107690" cy="1877695"/>
            </a:xfrm>
            <a:custGeom>
              <a:avLst/>
              <a:gdLst/>
              <a:ahLst/>
              <a:cxnLst/>
              <a:rect l="l" t="t" r="r" b="b"/>
              <a:pathLst>
                <a:path w="3107690" h="1877695">
                  <a:moveTo>
                    <a:pt x="3107436" y="0"/>
                  </a:moveTo>
                  <a:lnTo>
                    <a:pt x="0" y="0"/>
                  </a:lnTo>
                  <a:lnTo>
                    <a:pt x="0" y="1877567"/>
                  </a:lnTo>
                  <a:lnTo>
                    <a:pt x="3107436" y="1877567"/>
                  </a:lnTo>
                  <a:lnTo>
                    <a:pt x="3107436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083432" y="4681804"/>
            <a:ext cx="2791460" cy="179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Formula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Leucocitaria: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b="1" dirty="0">
                <a:latin typeface="Arial"/>
                <a:cs typeface="Arial"/>
              </a:rPr>
              <a:t>Neutrófilos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segmentados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45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25" dirty="0">
                <a:latin typeface="Arial"/>
                <a:cs typeface="Arial"/>
              </a:rPr>
              <a:t>70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spc="-50" dirty="0">
                <a:latin typeface="Arial"/>
                <a:cs typeface="Arial"/>
              </a:rPr>
              <a:t>%</a:t>
            </a:r>
            <a:endParaRPr sz="1400">
              <a:latin typeface="Arial"/>
              <a:cs typeface="Arial"/>
            </a:endParaRPr>
          </a:p>
          <a:p>
            <a:pPr marL="12700" marR="47752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Neutrófilos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cayados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0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a1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% </a:t>
            </a:r>
            <a:r>
              <a:rPr sz="1400" b="1" dirty="0">
                <a:latin typeface="Arial"/>
                <a:cs typeface="Arial"/>
              </a:rPr>
              <a:t>Basófilos</a:t>
            </a:r>
            <a:r>
              <a:rPr sz="1400" b="1" spc="-5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0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1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%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Eosínófilos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0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4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60" dirty="0">
                <a:latin typeface="Arial"/>
                <a:cs typeface="Arial"/>
              </a:rPr>
              <a:t>%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Monocitos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0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9</a:t>
            </a:r>
            <a:r>
              <a:rPr sz="1400" b="1" spc="-10" dirty="0">
                <a:latin typeface="Arial"/>
                <a:cs typeface="Arial"/>
              </a:rPr>
              <a:t> </a:t>
            </a:r>
            <a:r>
              <a:rPr sz="1400" b="1" spc="-50" dirty="0">
                <a:latin typeface="Arial"/>
                <a:cs typeface="Arial"/>
              </a:rPr>
              <a:t>%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Linfocitos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20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35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60" dirty="0">
                <a:latin typeface="Arial"/>
                <a:cs typeface="Arial"/>
              </a:rPr>
              <a:t>%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101583" y="3188207"/>
            <a:ext cx="2066925" cy="1286510"/>
            <a:chOff x="8101583" y="3188207"/>
            <a:chExt cx="2066925" cy="1286510"/>
          </a:xfrm>
        </p:grpSpPr>
        <p:sp>
          <p:nvSpPr>
            <p:cNvPr id="49" name="object 49"/>
            <p:cNvSpPr/>
            <p:nvPr/>
          </p:nvSpPr>
          <p:spPr>
            <a:xfrm>
              <a:off x="8111489" y="3198113"/>
              <a:ext cx="2047239" cy="1266825"/>
            </a:xfrm>
            <a:custGeom>
              <a:avLst/>
              <a:gdLst/>
              <a:ahLst/>
              <a:cxnLst/>
              <a:rect l="l" t="t" r="r" b="b"/>
              <a:pathLst>
                <a:path w="2047240" h="1266825">
                  <a:moveTo>
                    <a:pt x="1835657" y="0"/>
                  </a:moveTo>
                  <a:lnTo>
                    <a:pt x="211074" y="0"/>
                  </a:lnTo>
                  <a:lnTo>
                    <a:pt x="162672" y="5573"/>
                  </a:lnTo>
                  <a:lnTo>
                    <a:pt x="118243" y="21451"/>
                  </a:lnTo>
                  <a:lnTo>
                    <a:pt x="79052" y="46366"/>
                  </a:lnTo>
                  <a:lnTo>
                    <a:pt x="46366" y="79052"/>
                  </a:lnTo>
                  <a:lnTo>
                    <a:pt x="21451" y="118243"/>
                  </a:lnTo>
                  <a:lnTo>
                    <a:pt x="5573" y="162672"/>
                  </a:lnTo>
                  <a:lnTo>
                    <a:pt x="0" y="211074"/>
                  </a:lnTo>
                  <a:lnTo>
                    <a:pt x="0" y="1055370"/>
                  </a:lnTo>
                  <a:lnTo>
                    <a:pt x="5573" y="1103771"/>
                  </a:lnTo>
                  <a:lnTo>
                    <a:pt x="21451" y="1148200"/>
                  </a:lnTo>
                  <a:lnTo>
                    <a:pt x="46366" y="1187391"/>
                  </a:lnTo>
                  <a:lnTo>
                    <a:pt x="79052" y="1220077"/>
                  </a:lnTo>
                  <a:lnTo>
                    <a:pt x="118243" y="1244992"/>
                  </a:lnTo>
                  <a:lnTo>
                    <a:pt x="162672" y="1260870"/>
                  </a:lnTo>
                  <a:lnTo>
                    <a:pt x="211074" y="1266444"/>
                  </a:lnTo>
                  <a:lnTo>
                    <a:pt x="1835657" y="1266444"/>
                  </a:lnTo>
                  <a:lnTo>
                    <a:pt x="1884059" y="1260870"/>
                  </a:lnTo>
                  <a:lnTo>
                    <a:pt x="1928488" y="1244992"/>
                  </a:lnTo>
                  <a:lnTo>
                    <a:pt x="1967679" y="1220077"/>
                  </a:lnTo>
                  <a:lnTo>
                    <a:pt x="2000365" y="1187391"/>
                  </a:lnTo>
                  <a:lnTo>
                    <a:pt x="2025280" y="1148200"/>
                  </a:lnTo>
                  <a:lnTo>
                    <a:pt x="2041158" y="1103771"/>
                  </a:lnTo>
                  <a:lnTo>
                    <a:pt x="2046731" y="1055370"/>
                  </a:lnTo>
                  <a:lnTo>
                    <a:pt x="2046731" y="211074"/>
                  </a:lnTo>
                  <a:lnTo>
                    <a:pt x="2041158" y="162672"/>
                  </a:lnTo>
                  <a:lnTo>
                    <a:pt x="2025280" y="118243"/>
                  </a:lnTo>
                  <a:lnTo>
                    <a:pt x="2000365" y="79052"/>
                  </a:lnTo>
                  <a:lnTo>
                    <a:pt x="1967679" y="46366"/>
                  </a:lnTo>
                  <a:lnTo>
                    <a:pt x="1928488" y="21451"/>
                  </a:lnTo>
                  <a:lnTo>
                    <a:pt x="1884059" y="5573"/>
                  </a:lnTo>
                  <a:lnTo>
                    <a:pt x="1835657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111489" y="3198113"/>
              <a:ext cx="2047239" cy="1266825"/>
            </a:xfrm>
            <a:custGeom>
              <a:avLst/>
              <a:gdLst/>
              <a:ahLst/>
              <a:cxnLst/>
              <a:rect l="l" t="t" r="r" b="b"/>
              <a:pathLst>
                <a:path w="2047240" h="1266825">
                  <a:moveTo>
                    <a:pt x="0" y="211074"/>
                  </a:moveTo>
                  <a:lnTo>
                    <a:pt x="5573" y="162672"/>
                  </a:lnTo>
                  <a:lnTo>
                    <a:pt x="21451" y="118243"/>
                  </a:lnTo>
                  <a:lnTo>
                    <a:pt x="46366" y="79052"/>
                  </a:lnTo>
                  <a:lnTo>
                    <a:pt x="79052" y="46366"/>
                  </a:lnTo>
                  <a:lnTo>
                    <a:pt x="118243" y="21451"/>
                  </a:lnTo>
                  <a:lnTo>
                    <a:pt x="162672" y="5573"/>
                  </a:lnTo>
                  <a:lnTo>
                    <a:pt x="211074" y="0"/>
                  </a:lnTo>
                  <a:lnTo>
                    <a:pt x="1835657" y="0"/>
                  </a:lnTo>
                  <a:lnTo>
                    <a:pt x="1884059" y="5573"/>
                  </a:lnTo>
                  <a:lnTo>
                    <a:pt x="1928488" y="21451"/>
                  </a:lnTo>
                  <a:lnTo>
                    <a:pt x="1967679" y="46366"/>
                  </a:lnTo>
                  <a:lnTo>
                    <a:pt x="2000365" y="79052"/>
                  </a:lnTo>
                  <a:lnTo>
                    <a:pt x="2025280" y="118243"/>
                  </a:lnTo>
                  <a:lnTo>
                    <a:pt x="2041158" y="162672"/>
                  </a:lnTo>
                  <a:lnTo>
                    <a:pt x="2046731" y="211074"/>
                  </a:lnTo>
                  <a:lnTo>
                    <a:pt x="2046731" y="1055370"/>
                  </a:lnTo>
                  <a:lnTo>
                    <a:pt x="2041158" y="1103771"/>
                  </a:lnTo>
                  <a:lnTo>
                    <a:pt x="2025280" y="1148200"/>
                  </a:lnTo>
                  <a:lnTo>
                    <a:pt x="2000365" y="1187391"/>
                  </a:lnTo>
                  <a:lnTo>
                    <a:pt x="1967679" y="1220077"/>
                  </a:lnTo>
                  <a:lnTo>
                    <a:pt x="1928488" y="1244992"/>
                  </a:lnTo>
                  <a:lnTo>
                    <a:pt x="1884059" y="1260870"/>
                  </a:lnTo>
                  <a:lnTo>
                    <a:pt x="1835657" y="1266444"/>
                  </a:lnTo>
                  <a:lnTo>
                    <a:pt x="211074" y="1266444"/>
                  </a:lnTo>
                  <a:lnTo>
                    <a:pt x="162672" y="1260870"/>
                  </a:lnTo>
                  <a:lnTo>
                    <a:pt x="118243" y="1244992"/>
                  </a:lnTo>
                  <a:lnTo>
                    <a:pt x="79052" y="1220077"/>
                  </a:lnTo>
                  <a:lnTo>
                    <a:pt x="46366" y="1187391"/>
                  </a:lnTo>
                  <a:lnTo>
                    <a:pt x="21451" y="1148200"/>
                  </a:lnTo>
                  <a:lnTo>
                    <a:pt x="5573" y="1103771"/>
                  </a:lnTo>
                  <a:lnTo>
                    <a:pt x="0" y="1055370"/>
                  </a:lnTo>
                  <a:lnTo>
                    <a:pt x="0" y="211074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251697" y="3325443"/>
            <a:ext cx="155194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Arial"/>
                <a:cs typeface="Arial"/>
              </a:rPr>
              <a:t>VCM: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80 -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99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fl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latin typeface="Arial"/>
                <a:cs typeface="Arial"/>
              </a:rPr>
              <a:t>HCM: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27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32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pg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CMHC: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32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-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25" dirty="0">
                <a:latin typeface="Arial"/>
                <a:cs typeface="Arial"/>
              </a:rPr>
              <a:t>36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20" dirty="0">
                <a:latin typeface="Arial"/>
                <a:cs typeface="Arial"/>
              </a:rPr>
              <a:t>g/d</a:t>
            </a:r>
            <a:r>
              <a:rPr sz="1600" spc="-20" dirty="0">
                <a:latin typeface="Arial MT"/>
                <a:cs typeface="Arial MT"/>
              </a:rPr>
              <a:t>l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0338" y="323075"/>
            <a:ext cx="840549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ABORDAJE</a:t>
            </a:r>
            <a:r>
              <a:rPr sz="2400" b="1" spc="-10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2400" b="1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30" dirty="0">
                <a:latin typeface="Arial" panose="020B0604020202020204" pitchFamily="34" charset="0"/>
                <a:cs typeface="Arial" panose="020B0604020202020204" pitchFamily="34" charset="0"/>
              </a:rPr>
              <a:t>PACIENTE</a:t>
            </a:r>
            <a:r>
              <a:rPr sz="24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HEMATOLÓGICO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0633" y="609600"/>
            <a:ext cx="8585200" cy="5666423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99695" algn="ctr">
              <a:lnSpc>
                <a:spcPct val="100000"/>
              </a:lnSpc>
              <a:spcBef>
                <a:spcPts val="660"/>
              </a:spcBef>
            </a:pPr>
            <a:r>
              <a:rPr sz="1800" b="1" u="sng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HISTORIA</a:t>
            </a:r>
            <a:r>
              <a:rPr sz="1800" b="1" u="sng" spc="-10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Arial"/>
                <a:cs typeface="Arial"/>
              </a:rPr>
              <a:t>CLÍNICA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Anamnesis</a:t>
            </a:r>
            <a:r>
              <a:rPr sz="1800" b="1" spc="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(síntomas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signos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cuadros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hematológicos).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Examen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físico: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60500" marR="5080" indent="12065">
              <a:lnSpc>
                <a:spcPct val="126699"/>
              </a:lnSpc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Palidez,</a:t>
            </a:r>
            <a:r>
              <a:rPr sz="18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equímosis,</a:t>
            </a:r>
            <a:r>
              <a:rPr sz="18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enantemas,</a:t>
            </a:r>
            <a:r>
              <a:rPr sz="18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hematomas,</a:t>
            </a:r>
            <a:r>
              <a:rPr sz="18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telangiectasias,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ictericia.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Adenomegalias,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hepatomegalia</a:t>
            </a:r>
            <a:r>
              <a:rPr sz="18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esplenomegalia.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Laboratorio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clínico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hematológico.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Métodos</a:t>
            </a:r>
            <a:r>
              <a:rPr sz="1800" b="1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complementarios.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diferenciales.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19200" y="334984"/>
            <a:ext cx="9936480" cy="731816"/>
          </a:xfrm>
          <a:prstGeom prst="rect">
            <a:avLst/>
          </a:prstGeom>
        </p:spPr>
        <p:txBody>
          <a:bodyPr vert="horz" wrap="square" lIns="0" tIns="237058" rIns="0" bIns="0" rtlCol="0">
            <a:spAutoFit/>
          </a:bodyPr>
          <a:lstStyle/>
          <a:p>
            <a:pPr marL="3462654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9600" y="1905000"/>
            <a:ext cx="10356850" cy="1745350"/>
          </a:xfrm>
          <a:prstGeom prst="rect">
            <a:avLst/>
          </a:prstGeom>
        </p:spPr>
        <p:txBody>
          <a:bodyPr vert="horz" wrap="square" lIns="0" tIns="138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0"/>
              </a:spcBef>
            </a:pP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Concentración</a:t>
            </a:r>
            <a:r>
              <a:rPr sz="2400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baja</a:t>
            </a:r>
            <a:r>
              <a:rPr sz="24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hemoglobina</a:t>
            </a:r>
            <a:r>
              <a:rPr sz="24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400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just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2400" spc="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  <a:r>
              <a:rPr sz="2400" spc="20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1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hemoglobina</a:t>
            </a:r>
            <a:r>
              <a:rPr sz="2400" spc="2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menores</a:t>
            </a:r>
            <a:r>
              <a:rPr sz="2400" b="1" spc="20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r>
              <a:rPr sz="2400" b="1" spc="20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g/dl</a:t>
            </a:r>
            <a:r>
              <a:rPr sz="2400" b="1" spc="2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400" b="1" spc="19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hombres</a:t>
            </a:r>
            <a:r>
              <a:rPr sz="2400" b="1" spc="2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400" spc="2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2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sz="2400" b="1" spc="2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g/dl</a:t>
            </a:r>
            <a:r>
              <a:rPr sz="2400" b="1" spc="2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400" b="1" spc="2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400" b="1" spc="2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mujeres</a:t>
            </a:r>
            <a:r>
              <a:rPr sz="2400" b="1" spc="25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indican</a:t>
            </a:r>
            <a:r>
              <a:rPr sz="2400" spc="25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anemia,</a:t>
            </a:r>
            <a:r>
              <a:rPr sz="2400" spc="25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aunque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sz="24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400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</a:t>
            </a:r>
            <a:r>
              <a:rPr sz="24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necesidad</a:t>
            </a:r>
            <a:r>
              <a:rPr sz="24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transfusión</a:t>
            </a:r>
            <a:r>
              <a:rPr sz="2400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6811" y="4291584"/>
            <a:ext cx="1138427" cy="13624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50079" y="3797808"/>
            <a:ext cx="3200400" cy="2660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81400" y="381000"/>
            <a:ext cx="611695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MANIFESTACIONES</a:t>
            </a:r>
            <a:r>
              <a:rPr sz="2800" b="1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COMUNES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983" y="1105661"/>
            <a:ext cx="203835" cy="428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35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2983" y="1001534"/>
            <a:ext cx="4180840" cy="53088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2741295">
              <a:lnSpc>
                <a:spcPct val="131700"/>
              </a:lnSpc>
              <a:spcBef>
                <a:spcPts val="90"/>
              </a:spcBef>
            </a:pP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Astenia. Mareos. Cefaleas. Disnea.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231390">
              <a:lnSpc>
                <a:spcPts val="3170"/>
              </a:lnSpc>
              <a:spcBef>
                <a:spcPts val="220"/>
              </a:spcBef>
            </a:pP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Palpitaciones. Angina.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  <a:spcBef>
                <a:spcPts val="520"/>
              </a:spcBef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Claudicación</a:t>
            </a:r>
            <a:r>
              <a:rPr sz="2000" spc="-1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intermitente.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  <a:spcBef>
                <a:spcPts val="760"/>
              </a:spcBef>
            </a:pP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Palidez.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marR="2442210">
              <a:lnSpc>
                <a:spcPct val="131500"/>
              </a:lnSpc>
              <a:spcBef>
                <a:spcPts val="15"/>
              </a:spcBef>
            </a:pP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Taquicardia.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Soplo.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Insuficiencia</a:t>
            </a:r>
            <a:r>
              <a:rPr sz="20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cardíaca</a:t>
            </a:r>
            <a:r>
              <a:rPr sz="2000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congestiva.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Acufenos.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  <a:tabLst>
                <a:tab pos="355600" algn="l"/>
              </a:tabLst>
            </a:pPr>
            <a:r>
              <a:rPr sz="160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Anorexia</a:t>
            </a:r>
            <a:r>
              <a:rPr sz="20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trastornos</a:t>
            </a:r>
            <a:r>
              <a:rPr sz="20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intestinales</a:t>
            </a:r>
            <a:r>
              <a:rPr sz="2000" spc="-10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3955" y="2866389"/>
            <a:ext cx="396811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87450" marR="5080" indent="-11753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METABOLISMO</a:t>
            </a:r>
            <a:r>
              <a:rPr spc="-180" dirty="0"/>
              <a:t> </a:t>
            </a:r>
            <a:r>
              <a:rPr spc="-25" dirty="0"/>
              <a:t>DEL </a:t>
            </a:r>
            <a:r>
              <a:rPr spc="-10" dirty="0"/>
              <a:t>HIERRO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1955" y="131062"/>
            <a:ext cx="7072883" cy="6624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09800" y="433113"/>
            <a:ext cx="8945880" cy="862287"/>
          </a:xfrm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1075690">
              <a:lnSpc>
                <a:spcPct val="100000"/>
              </a:lnSpc>
              <a:spcBef>
                <a:spcPts val="100"/>
              </a:spcBef>
            </a:pPr>
            <a:r>
              <a:rPr sz="2800" b="1" spc="-30" dirty="0">
                <a:latin typeface="Arial" panose="020B0604020202020204" pitchFamily="34" charset="0"/>
                <a:cs typeface="Arial" panose="020B0604020202020204" pitchFamily="34" charset="0"/>
              </a:rPr>
              <a:t>COMPARTIMIENTOS</a:t>
            </a:r>
            <a:r>
              <a:rPr sz="2800" b="1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93063" y="1951482"/>
            <a:ext cx="8254365" cy="4758354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355600" marR="6350" indent="-342900">
              <a:lnSpc>
                <a:spcPts val="1939"/>
              </a:lnSpc>
              <a:spcBef>
                <a:spcPts val="34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funcionante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(60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70%):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2,5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(de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cuales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están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formando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parte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i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Hb).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circulante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(&lt;1%):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(transportado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transferrina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64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depósitos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(25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30%): 1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varón adulto,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0,5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29565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mujeres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fértiles.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Ferritina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(hígado,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músculo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esquelético).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5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Hemosiderina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depósito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excesivo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patológico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hemocromatosis).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Hierro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del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intracelular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(&lt;1%):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presente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enzimas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tisulares.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5682" y="440463"/>
            <a:ext cx="81286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NECESIDADES</a:t>
            </a:r>
            <a:r>
              <a:rPr sz="2800" b="1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DIARIAS</a:t>
            </a:r>
            <a:r>
              <a:rPr sz="2800" b="1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 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7153" y="1295599"/>
            <a:ext cx="9261247" cy="14585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24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Adulto</a:t>
            </a:r>
            <a:r>
              <a:rPr sz="2400" b="1" spc="-3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b="1" spc="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mg/día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dieta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habitual se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ingieren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mg/día.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spc="3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Absorbe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10%,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llegar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30%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ingerido.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153" y="2791205"/>
            <a:ext cx="4886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Las</a:t>
            </a:r>
            <a:r>
              <a:rPr sz="24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mujeres</a:t>
            </a:r>
            <a:r>
              <a:rPr sz="24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durante</a:t>
            </a:r>
            <a:r>
              <a:rPr sz="24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la</a:t>
            </a:r>
            <a:r>
              <a:rPr sz="2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edad</a:t>
            </a:r>
            <a:r>
              <a:rPr sz="24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fértil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27014" y="2841498"/>
            <a:ext cx="29711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1,5</a:t>
            </a:r>
            <a:r>
              <a:rPr sz="2000" b="1" spc="-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-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2</a:t>
            </a:r>
            <a:r>
              <a:rPr sz="20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/>
                <a:cs typeface="Arial"/>
              </a:rPr>
              <a:t>mg/día</a:t>
            </a:r>
            <a:r>
              <a:rPr sz="20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/>
                <a:cs typeface="Arial"/>
              </a:rPr>
              <a:t>(adicional)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7153" y="3694683"/>
            <a:ext cx="8036559" cy="2557751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Recién</a:t>
            </a:r>
            <a:r>
              <a:rPr sz="24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nacido</a:t>
            </a:r>
            <a:r>
              <a:rPr sz="24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término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Dispone del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 primeros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meses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hemólisis</a:t>
            </a:r>
            <a:r>
              <a:rPr sz="18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fisiológica.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leche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materna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aporta</a:t>
            </a:r>
            <a:r>
              <a:rPr sz="1800" spc="4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 err="1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Adolescentes</a:t>
            </a:r>
            <a:r>
              <a:rPr lang="es-ES" sz="2400" b="1" spc="-20" dirty="0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20" dirty="0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2400" b="1" spc="-20" dirty="0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 err="1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embarazadas</a:t>
            </a:r>
            <a:r>
              <a:rPr sz="24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Aumentan</a:t>
            </a:r>
            <a:r>
              <a:rPr sz="1800" b="1" spc="2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3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requerimientos.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76400" y="433113"/>
            <a:ext cx="9479280" cy="862287"/>
          </a:xfrm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1964055">
              <a:lnSpc>
                <a:spcPct val="100000"/>
              </a:lnSpc>
              <a:spcBef>
                <a:spcPts val="100"/>
              </a:spcBef>
            </a:pPr>
            <a:r>
              <a:rPr lang="es-ES" sz="2800" dirty="0" smtClean="0"/>
              <a:t>       </a:t>
            </a:r>
            <a:r>
              <a:rPr sz="2800" dirty="0" smtClean="0"/>
              <a:t>FUENTES </a:t>
            </a:r>
            <a:r>
              <a:rPr sz="2800" dirty="0"/>
              <a:t>DE </a:t>
            </a:r>
            <a:r>
              <a:rPr sz="2800" spc="-10" dirty="0"/>
              <a:t>HIERRO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676400"/>
            <a:ext cx="6918961" cy="48508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41245" y="3037713"/>
            <a:ext cx="52679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539F20"/>
                </a:solidFill>
              </a:rPr>
              <a:t>ANEMIA</a:t>
            </a:r>
            <a:r>
              <a:rPr sz="3600" spc="-220" dirty="0">
                <a:solidFill>
                  <a:srgbClr val="539F20"/>
                </a:solidFill>
              </a:rPr>
              <a:t> </a:t>
            </a:r>
            <a:r>
              <a:rPr sz="3600" spc="-10" dirty="0">
                <a:solidFill>
                  <a:srgbClr val="539F20"/>
                </a:solidFill>
              </a:rPr>
              <a:t>FERROPÉNICA</a:t>
            </a:r>
            <a:endParaRPr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3200" y="280713"/>
            <a:ext cx="8412480" cy="862287"/>
          </a:xfrm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CAUSAS</a:t>
            </a:r>
            <a:r>
              <a:rPr sz="2800" b="1" spc="-3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FERROPÉNICA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1371600"/>
            <a:ext cx="8986164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Disminución</a:t>
            </a:r>
            <a:r>
              <a:rPr sz="24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absorción</a:t>
            </a:r>
            <a:r>
              <a:rPr sz="24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hierro: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Gastrectomizados.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Síndrome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malabsorción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(ej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celíaca).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Parasitosis.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Inhibidores: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alcalinos, fosfatos,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fitatos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(salvado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cereales),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polifenoles (té,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café).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900" spc="1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900" spc="3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4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ferropénica</a:t>
            </a:r>
            <a:r>
              <a:rPr sz="24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refractaria</a:t>
            </a:r>
            <a:r>
              <a:rPr sz="2400" b="1"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2400" b="1" spc="-2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2400" b="1" spc="-3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400" b="1" spc="-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IRIDA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autosómico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recesivo.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responde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oral.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Parcialmente,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administración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intravenosa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Mutaciones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TMPRSS6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hepcidina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inhibiendo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absorción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spc="459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33600" y="108717"/>
            <a:ext cx="9022080" cy="958083"/>
          </a:xfrm>
          <a:prstGeom prst="rect">
            <a:avLst/>
          </a:prstGeom>
        </p:spPr>
        <p:txBody>
          <a:bodyPr vert="horz" wrap="square" lIns="0" tIns="522097" rIns="0" bIns="0" rtlCol="0">
            <a:spAutoFit/>
          </a:bodyPr>
          <a:lstStyle/>
          <a:p>
            <a:pPr marL="647065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Disminución</a:t>
            </a:r>
            <a:r>
              <a:rPr sz="2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2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ingesta</a:t>
            </a:r>
            <a:r>
              <a:rPr sz="2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hierro: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90800" y="2133600"/>
            <a:ext cx="6286500" cy="3613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9734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1800" b="1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frecuente.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419734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Dietas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desequilibradas</a:t>
            </a:r>
            <a:r>
              <a:rPr sz="1800" b="1" spc="484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anorexia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nerviosa.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19734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Regímenes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severos</a:t>
            </a:r>
            <a:r>
              <a:rPr sz="1800" b="1" spc="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adelgazamiento.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19734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Personas</a:t>
            </a:r>
            <a:r>
              <a:rPr sz="18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marginadas.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419734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Niños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alimentación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«comidas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rápidas».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289471"/>
            <a:ext cx="71221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sz="24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4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necesidades</a:t>
            </a:r>
            <a:r>
              <a:rPr sz="24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hierro: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021379"/>
            <a:ext cx="1991156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Embarazo.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Lactancia.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Adolescencia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8243" y="3234309"/>
            <a:ext cx="5138420" cy="87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Aumento</a:t>
            </a:r>
            <a:r>
              <a:rPr sz="24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4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las</a:t>
            </a:r>
            <a:r>
              <a:rPr sz="24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pérdidas</a:t>
            </a:r>
            <a:r>
              <a:rPr sz="24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4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hierro: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  <a:tabLst>
                <a:tab pos="440690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Pérdida</a:t>
            </a:r>
            <a:r>
              <a:rPr sz="1800" b="1" spc="75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crónica</a:t>
            </a:r>
            <a:r>
              <a:rPr sz="1800" b="1" spc="80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1800" b="1" spc="85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sangre</a:t>
            </a:r>
            <a:r>
              <a:rPr sz="1800" b="1" spc="80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(hemorroides,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85078" y="3802456"/>
            <a:ext cx="31819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esofagitis</a:t>
            </a:r>
            <a:r>
              <a:rPr sz="1800" spc="7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por</a:t>
            </a:r>
            <a:r>
              <a:rPr sz="1800" spc="80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reflujo,</a:t>
            </a:r>
            <a:r>
              <a:rPr sz="1800" spc="75" dirty="0">
                <a:solidFill>
                  <a:srgbClr val="404040"/>
                </a:solidFill>
                <a:latin typeface="Arial MT"/>
                <a:cs typeface="Arial MT"/>
              </a:rPr>
              <a:t> 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varices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243" y="4095750"/>
            <a:ext cx="7350759" cy="190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esofágicas,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úlcera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péptica,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uso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800" spc="-1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AINE,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neoplasias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Genitourinaria</a:t>
            </a:r>
            <a:r>
              <a:rPr sz="18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(hematuria</a:t>
            </a:r>
            <a:r>
              <a:rPr sz="18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microscópica,</a:t>
            </a:r>
            <a:r>
              <a:rPr sz="18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menstruaciones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excesivas.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55600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Hemodonación</a:t>
            </a:r>
            <a:r>
              <a:rPr sz="18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excesiva.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6000" y="64825"/>
            <a:ext cx="10058400" cy="862929"/>
          </a:xfrm>
          <a:prstGeom prst="rect">
            <a:avLst/>
          </a:prstGeom>
        </p:spPr>
        <p:txBody>
          <a:bodyPr vert="horz" wrap="square" lIns="0" tIns="42786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MANIFESTACIONES</a:t>
            </a:r>
            <a:r>
              <a:rPr sz="2800" b="1" spc="-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CLÍNICAS</a:t>
            </a:r>
            <a:r>
              <a:rPr sz="28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ESPECÍFICAS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905000"/>
            <a:ext cx="7204075" cy="38600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Glositis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(lengua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lisa,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roja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ulcerada).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Coiloniquia</a:t>
            </a:r>
            <a:r>
              <a:rPr sz="1800" b="1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(uñas</a:t>
            </a:r>
            <a:r>
              <a:rPr sz="1800" b="1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cucharilla).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60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Estomatitis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angular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(úlceras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grietas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ángulos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boca).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Alopecia.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7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Pica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(apetito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inusual,</a:t>
            </a:r>
            <a:r>
              <a:rPr sz="1800" b="1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ej.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hielo).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4579" y="1399032"/>
            <a:ext cx="2503931" cy="15057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52800" y="413287"/>
            <a:ext cx="562927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MÉTODOS</a:t>
            </a:r>
            <a:r>
              <a:rPr sz="2800" b="1" spc="-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COMPLEMENTARIOS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9508" y="859175"/>
            <a:ext cx="7797165" cy="4798108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Laboratorio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Clínico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Sangre</a:t>
            </a:r>
            <a:r>
              <a:rPr sz="20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oculta</a:t>
            </a:r>
            <a:r>
              <a:rPr sz="2000" spc="-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</a:t>
            </a:r>
            <a:r>
              <a:rPr sz="2000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fecal.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10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Parasitológico</a:t>
            </a:r>
            <a:r>
              <a:rPr sz="20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Seriado</a:t>
            </a:r>
            <a:r>
              <a:rPr sz="20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2000" spc="-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</a:t>
            </a:r>
            <a:r>
              <a:rPr sz="2000" spc="-8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fecal.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20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Hormonas</a:t>
            </a:r>
            <a:r>
              <a:rPr sz="2000" spc="-1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tiroideas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10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Hepatograma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05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LDH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25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Eritrosedimentación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05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Proteinograma</a:t>
            </a:r>
            <a:r>
              <a:rPr sz="20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electroforético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10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Orina</a:t>
            </a:r>
            <a:r>
              <a:rPr sz="20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completa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Laboratorio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Hematológico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27685" indent="-514984">
              <a:lnSpc>
                <a:spcPct val="100000"/>
              </a:lnSpc>
              <a:spcBef>
                <a:spcPts val="715"/>
              </a:spcBef>
              <a:buClr>
                <a:srgbClr val="90C225"/>
              </a:buClr>
              <a:buSzPct val="79166"/>
              <a:buAutoNum type="arabicPeriod"/>
              <a:tabLst>
                <a:tab pos="527685" algn="l"/>
              </a:tabLst>
            </a:pP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Hemograma</a:t>
            </a:r>
            <a:r>
              <a:rPr sz="2000" spc="-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000" spc="-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Coagulación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Estudios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gastrointestinales,</a:t>
            </a:r>
            <a:r>
              <a:rPr sz="2000" b="1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radiografías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tórax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etc.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012691"/>
            <a:ext cx="3501390" cy="2845435"/>
            <a:chOff x="0" y="4012691"/>
            <a:chExt cx="3501390" cy="2845435"/>
          </a:xfrm>
        </p:grpSpPr>
        <p:sp>
          <p:nvSpPr>
            <p:cNvPr id="3" name="object 3"/>
            <p:cNvSpPr/>
            <p:nvPr/>
          </p:nvSpPr>
          <p:spPr>
            <a:xfrm>
              <a:off x="464058" y="5535929"/>
              <a:ext cx="3027045" cy="914400"/>
            </a:xfrm>
            <a:custGeom>
              <a:avLst/>
              <a:gdLst/>
              <a:ahLst/>
              <a:cxnLst/>
              <a:rect l="l" t="t" r="r" b="b"/>
              <a:pathLst>
                <a:path w="3027045" h="914400">
                  <a:moveTo>
                    <a:pt x="2874264" y="0"/>
                  </a:moveTo>
                  <a:lnTo>
                    <a:pt x="152400" y="0"/>
                  </a:lnTo>
                  <a:lnTo>
                    <a:pt x="104231" y="7769"/>
                  </a:lnTo>
                  <a:lnTo>
                    <a:pt x="62396" y="29405"/>
                  </a:lnTo>
                  <a:lnTo>
                    <a:pt x="29405" y="62396"/>
                  </a:lnTo>
                  <a:lnTo>
                    <a:pt x="7769" y="104231"/>
                  </a:lnTo>
                  <a:lnTo>
                    <a:pt x="0" y="152400"/>
                  </a:lnTo>
                  <a:lnTo>
                    <a:pt x="0" y="762000"/>
                  </a:lnTo>
                  <a:lnTo>
                    <a:pt x="7769" y="810168"/>
                  </a:lnTo>
                  <a:lnTo>
                    <a:pt x="29405" y="852003"/>
                  </a:lnTo>
                  <a:lnTo>
                    <a:pt x="62396" y="884994"/>
                  </a:lnTo>
                  <a:lnTo>
                    <a:pt x="104231" y="906630"/>
                  </a:lnTo>
                  <a:lnTo>
                    <a:pt x="152400" y="914400"/>
                  </a:lnTo>
                  <a:lnTo>
                    <a:pt x="2874264" y="914400"/>
                  </a:lnTo>
                  <a:lnTo>
                    <a:pt x="2922446" y="906630"/>
                  </a:lnTo>
                  <a:lnTo>
                    <a:pt x="2964283" y="884994"/>
                  </a:lnTo>
                  <a:lnTo>
                    <a:pt x="2997269" y="852003"/>
                  </a:lnTo>
                  <a:lnTo>
                    <a:pt x="3018897" y="810168"/>
                  </a:lnTo>
                  <a:lnTo>
                    <a:pt x="3026664" y="762000"/>
                  </a:lnTo>
                  <a:lnTo>
                    <a:pt x="3026664" y="152400"/>
                  </a:lnTo>
                  <a:lnTo>
                    <a:pt x="3018897" y="104231"/>
                  </a:lnTo>
                  <a:lnTo>
                    <a:pt x="2997269" y="62396"/>
                  </a:lnTo>
                  <a:lnTo>
                    <a:pt x="2964283" y="29405"/>
                  </a:lnTo>
                  <a:lnTo>
                    <a:pt x="2922446" y="7769"/>
                  </a:lnTo>
                  <a:lnTo>
                    <a:pt x="2874264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4058" y="5535929"/>
              <a:ext cx="3027045" cy="914400"/>
            </a:xfrm>
            <a:custGeom>
              <a:avLst/>
              <a:gdLst/>
              <a:ahLst/>
              <a:cxnLst/>
              <a:rect l="l" t="t" r="r" b="b"/>
              <a:pathLst>
                <a:path w="3027045" h="914400">
                  <a:moveTo>
                    <a:pt x="0" y="152400"/>
                  </a:moveTo>
                  <a:lnTo>
                    <a:pt x="7769" y="104231"/>
                  </a:lnTo>
                  <a:lnTo>
                    <a:pt x="29405" y="62396"/>
                  </a:lnTo>
                  <a:lnTo>
                    <a:pt x="62396" y="29405"/>
                  </a:lnTo>
                  <a:lnTo>
                    <a:pt x="104231" y="7769"/>
                  </a:lnTo>
                  <a:lnTo>
                    <a:pt x="152400" y="0"/>
                  </a:lnTo>
                  <a:lnTo>
                    <a:pt x="2874264" y="0"/>
                  </a:lnTo>
                  <a:lnTo>
                    <a:pt x="2922446" y="7769"/>
                  </a:lnTo>
                  <a:lnTo>
                    <a:pt x="2964283" y="29405"/>
                  </a:lnTo>
                  <a:lnTo>
                    <a:pt x="2997269" y="62396"/>
                  </a:lnTo>
                  <a:lnTo>
                    <a:pt x="3018897" y="104231"/>
                  </a:lnTo>
                  <a:lnTo>
                    <a:pt x="3026664" y="152400"/>
                  </a:lnTo>
                  <a:lnTo>
                    <a:pt x="3026664" y="762000"/>
                  </a:lnTo>
                  <a:lnTo>
                    <a:pt x="3018897" y="810168"/>
                  </a:lnTo>
                  <a:lnTo>
                    <a:pt x="2997269" y="852003"/>
                  </a:lnTo>
                  <a:lnTo>
                    <a:pt x="2964283" y="884994"/>
                  </a:lnTo>
                  <a:lnTo>
                    <a:pt x="2922446" y="906630"/>
                  </a:lnTo>
                  <a:lnTo>
                    <a:pt x="2874264" y="914400"/>
                  </a:lnTo>
                  <a:lnTo>
                    <a:pt x="152400" y="914400"/>
                  </a:lnTo>
                  <a:lnTo>
                    <a:pt x="104231" y="906630"/>
                  </a:lnTo>
                  <a:lnTo>
                    <a:pt x="62396" y="884994"/>
                  </a:lnTo>
                  <a:lnTo>
                    <a:pt x="29405" y="852003"/>
                  </a:lnTo>
                  <a:lnTo>
                    <a:pt x="7769" y="810168"/>
                  </a:lnTo>
                  <a:lnTo>
                    <a:pt x="0" y="762000"/>
                  </a:lnTo>
                  <a:lnTo>
                    <a:pt x="0" y="152400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143000" y="1029943"/>
            <a:ext cx="10012680" cy="488979"/>
          </a:xfrm>
          <a:prstGeom prst="rect">
            <a:avLst/>
          </a:prstGeom>
        </p:spPr>
        <p:txBody>
          <a:bodyPr vert="horz" wrap="square" lIns="0" tIns="57530" rIns="0" bIns="0" rtlCol="0">
            <a:spAutoFit/>
          </a:bodyPr>
          <a:lstStyle/>
          <a:p>
            <a:pPr marL="648970"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HIPOCRÓMICA</a:t>
            </a:r>
            <a:r>
              <a:rPr sz="2800" b="1" spc="-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MICROCÍTICA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796284" y="1927860"/>
            <a:ext cx="3046730" cy="1321435"/>
            <a:chOff x="3796284" y="1927860"/>
            <a:chExt cx="3046730" cy="1321435"/>
          </a:xfrm>
        </p:grpSpPr>
        <p:sp>
          <p:nvSpPr>
            <p:cNvPr id="7" name="object 7"/>
            <p:cNvSpPr/>
            <p:nvPr/>
          </p:nvSpPr>
          <p:spPr>
            <a:xfrm>
              <a:off x="3806190" y="1937766"/>
              <a:ext cx="3027045" cy="1301750"/>
            </a:xfrm>
            <a:custGeom>
              <a:avLst/>
              <a:gdLst/>
              <a:ahLst/>
              <a:cxnLst/>
              <a:rect l="l" t="t" r="r" b="b"/>
              <a:pathLst>
                <a:path w="3027045" h="1301750">
                  <a:moveTo>
                    <a:pt x="2809748" y="0"/>
                  </a:moveTo>
                  <a:lnTo>
                    <a:pt x="216915" y="0"/>
                  </a:lnTo>
                  <a:lnTo>
                    <a:pt x="167191" y="5730"/>
                  </a:lnTo>
                  <a:lnTo>
                    <a:pt x="121538" y="22054"/>
                  </a:lnTo>
                  <a:lnTo>
                    <a:pt x="81262" y="47666"/>
                  </a:lnTo>
                  <a:lnTo>
                    <a:pt x="47666" y="81262"/>
                  </a:lnTo>
                  <a:lnTo>
                    <a:pt x="22054" y="121538"/>
                  </a:lnTo>
                  <a:lnTo>
                    <a:pt x="5730" y="167191"/>
                  </a:lnTo>
                  <a:lnTo>
                    <a:pt x="0" y="216916"/>
                  </a:lnTo>
                  <a:lnTo>
                    <a:pt x="0" y="1084580"/>
                  </a:lnTo>
                  <a:lnTo>
                    <a:pt x="5730" y="1134304"/>
                  </a:lnTo>
                  <a:lnTo>
                    <a:pt x="22054" y="1179957"/>
                  </a:lnTo>
                  <a:lnTo>
                    <a:pt x="47666" y="1220233"/>
                  </a:lnTo>
                  <a:lnTo>
                    <a:pt x="81262" y="1253829"/>
                  </a:lnTo>
                  <a:lnTo>
                    <a:pt x="121538" y="1279441"/>
                  </a:lnTo>
                  <a:lnTo>
                    <a:pt x="167191" y="1295765"/>
                  </a:lnTo>
                  <a:lnTo>
                    <a:pt x="216915" y="1301496"/>
                  </a:lnTo>
                  <a:lnTo>
                    <a:pt x="2809748" y="1301496"/>
                  </a:lnTo>
                  <a:lnTo>
                    <a:pt x="2859472" y="1295765"/>
                  </a:lnTo>
                  <a:lnTo>
                    <a:pt x="2905125" y="1279441"/>
                  </a:lnTo>
                  <a:lnTo>
                    <a:pt x="2945401" y="1253829"/>
                  </a:lnTo>
                  <a:lnTo>
                    <a:pt x="2978997" y="1220233"/>
                  </a:lnTo>
                  <a:lnTo>
                    <a:pt x="3004609" y="1179957"/>
                  </a:lnTo>
                  <a:lnTo>
                    <a:pt x="3020933" y="1134304"/>
                  </a:lnTo>
                  <a:lnTo>
                    <a:pt x="3026664" y="1084580"/>
                  </a:lnTo>
                  <a:lnTo>
                    <a:pt x="3026664" y="216916"/>
                  </a:lnTo>
                  <a:lnTo>
                    <a:pt x="3020933" y="167191"/>
                  </a:lnTo>
                  <a:lnTo>
                    <a:pt x="3004609" y="121538"/>
                  </a:lnTo>
                  <a:lnTo>
                    <a:pt x="2978997" y="81262"/>
                  </a:lnTo>
                  <a:lnTo>
                    <a:pt x="2945401" y="47666"/>
                  </a:lnTo>
                  <a:lnTo>
                    <a:pt x="2905125" y="22054"/>
                  </a:lnTo>
                  <a:lnTo>
                    <a:pt x="2859472" y="5730"/>
                  </a:lnTo>
                  <a:lnTo>
                    <a:pt x="2809748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06190" y="1937766"/>
              <a:ext cx="3027045" cy="1301750"/>
            </a:xfrm>
            <a:custGeom>
              <a:avLst/>
              <a:gdLst/>
              <a:ahLst/>
              <a:cxnLst/>
              <a:rect l="l" t="t" r="r" b="b"/>
              <a:pathLst>
                <a:path w="3027045" h="1301750">
                  <a:moveTo>
                    <a:pt x="0" y="216916"/>
                  </a:moveTo>
                  <a:lnTo>
                    <a:pt x="5730" y="167191"/>
                  </a:lnTo>
                  <a:lnTo>
                    <a:pt x="22054" y="121538"/>
                  </a:lnTo>
                  <a:lnTo>
                    <a:pt x="47666" y="81262"/>
                  </a:lnTo>
                  <a:lnTo>
                    <a:pt x="81262" y="47666"/>
                  </a:lnTo>
                  <a:lnTo>
                    <a:pt x="121538" y="22054"/>
                  </a:lnTo>
                  <a:lnTo>
                    <a:pt x="167191" y="5730"/>
                  </a:lnTo>
                  <a:lnTo>
                    <a:pt x="216915" y="0"/>
                  </a:lnTo>
                  <a:lnTo>
                    <a:pt x="2809748" y="0"/>
                  </a:lnTo>
                  <a:lnTo>
                    <a:pt x="2859472" y="5730"/>
                  </a:lnTo>
                  <a:lnTo>
                    <a:pt x="2905125" y="22054"/>
                  </a:lnTo>
                  <a:lnTo>
                    <a:pt x="2945401" y="47666"/>
                  </a:lnTo>
                  <a:lnTo>
                    <a:pt x="2978997" y="81262"/>
                  </a:lnTo>
                  <a:lnTo>
                    <a:pt x="3004609" y="121538"/>
                  </a:lnTo>
                  <a:lnTo>
                    <a:pt x="3020933" y="167191"/>
                  </a:lnTo>
                  <a:lnTo>
                    <a:pt x="3026664" y="216916"/>
                  </a:lnTo>
                  <a:lnTo>
                    <a:pt x="3026664" y="1084580"/>
                  </a:lnTo>
                  <a:lnTo>
                    <a:pt x="3020933" y="1134304"/>
                  </a:lnTo>
                  <a:lnTo>
                    <a:pt x="3004609" y="1179957"/>
                  </a:lnTo>
                  <a:lnTo>
                    <a:pt x="2978997" y="1220233"/>
                  </a:lnTo>
                  <a:lnTo>
                    <a:pt x="2945401" y="1253829"/>
                  </a:lnTo>
                  <a:lnTo>
                    <a:pt x="2905125" y="1279441"/>
                  </a:lnTo>
                  <a:lnTo>
                    <a:pt x="2859472" y="1295765"/>
                  </a:lnTo>
                  <a:lnTo>
                    <a:pt x="2809748" y="1301496"/>
                  </a:lnTo>
                  <a:lnTo>
                    <a:pt x="216915" y="1301496"/>
                  </a:lnTo>
                  <a:lnTo>
                    <a:pt x="167191" y="1295765"/>
                  </a:lnTo>
                  <a:lnTo>
                    <a:pt x="121538" y="1279441"/>
                  </a:lnTo>
                  <a:lnTo>
                    <a:pt x="81262" y="1253829"/>
                  </a:lnTo>
                  <a:lnTo>
                    <a:pt x="47666" y="1220233"/>
                  </a:lnTo>
                  <a:lnTo>
                    <a:pt x="22054" y="1179957"/>
                  </a:lnTo>
                  <a:lnTo>
                    <a:pt x="5730" y="1134304"/>
                  </a:lnTo>
                  <a:lnTo>
                    <a:pt x="0" y="1084580"/>
                  </a:lnTo>
                  <a:lnTo>
                    <a:pt x="0" y="216916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095115" y="2158110"/>
            <a:ext cx="244602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190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Hematocrito </a:t>
            </a:r>
            <a:r>
              <a:rPr sz="1800" b="1" dirty="0">
                <a:latin typeface="Arial"/>
                <a:cs typeface="Arial"/>
              </a:rPr>
              <a:t>hemoglobina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volumen </a:t>
            </a:r>
            <a:r>
              <a:rPr sz="1800" b="1" dirty="0">
                <a:latin typeface="Arial"/>
                <a:cs typeface="Arial"/>
              </a:rPr>
              <a:t>corpuscular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medio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970020" y="3648455"/>
            <a:ext cx="2722245" cy="1428115"/>
            <a:chOff x="3970020" y="3648455"/>
            <a:chExt cx="2722245" cy="1428115"/>
          </a:xfrm>
        </p:grpSpPr>
        <p:sp>
          <p:nvSpPr>
            <p:cNvPr id="11" name="object 11"/>
            <p:cNvSpPr/>
            <p:nvPr/>
          </p:nvSpPr>
          <p:spPr>
            <a:xfrm>
              <a:off x="3979926" y="3658361"/>
              <a:ext cx="2702560" cy="1408430"/>
            </a:xfrm>
            <a:custGeom>
              <a:avLst/>
              <a:gdLst/>
              <a:ahLst/>
              <a:cxnLst/>
              <a:rect l="l" t="t" r="r" b="b"/>
              <a:pathLst>
                <a:path w="2702559" h="1408429">
                  <a:moveTo>
                    <a:pt x="2467356" y="0"/>
                  </a:moveTo>
                  <a:lnTo>
                    <a:pt x="234696" y="0"/>
                  </a:lnTo>
                  <a:lnTo>
                    <a:pt x="187382" y="4766"/>
                  </a:lnTo>
                  <a:lnTo>
                    <a:pt x="143321" y="18436"/>
                  </a:lnTo>
                  <a:lnTo>
                    <a:pt x="103454" y="40069"/>
                  </a:lnTo>
                  <a:lnTo>
                    <a:pt x="68722" y="68722"/>
                  </a:lnTo>
                  <a:lnTo>
                    <a:pt x="40069" y="103454"/>
                  </a:lnTo>
                  <a:lnTo>
                    <a:pt x="18436" y="143321"/>
                  </a:lnTo>
                  <a:lnTo>
                    <a:pt x="4766" y="187382"/>
                  </a:lnTo>
                  <a:lnTo>
                    <a:pt x="0" y="234695"/>
                  </a:lnTo>
                  <a:lnTo>
                    <a:pt x="0" y="1173480"/>
                  </a:lnTo>
                  <a:lnTo>
                    <a:pt x="4766" y="1220793"/>
                  </a:lnTo>
                  <a:lnTo>
                    <a:pt x="18436" y="1264854"/>
                  </a:lnTo>
                  <a:lnTo>
                    <a:pt x="40069" y="1304721"/>
                  </a:lnTo>
                  <a:lnTo>
                    <a:pt x="68722" y="1339453"/>
                  </a:lnTo>
                  <a:lnTo>
                    <a:pt x="103454" y="1368106"/>
                  </a:lnTo>
                  <a:lnTo>
                    <a:pt x="143321" y="1389739"/>
                  </a:lnTo>
                  <a:lnTo>
                    <a:pt x="187382" y="1403409"/>
                  </a:lnTo>
                  <a:lnTo>
                    <a:pt x="234696" y="1408176"/>
                  </a:lnTo>
                  <a:lnTo>
                    <a:pt x="2467356" y="1408176"/>
                  </a:lnTo>
                  <a:lnTo>
                    <a:pt x="2514669" y="1403409"/>
                  </a:lnTo>
                  <a:lnTo>
                    <a:pt x="2558730" y="1389739"/>
                  </a:lnTo>
                  <a:lnTo>
                    <a:pt x="2598597" y="1368106"/>
                  </a:lnTo>
                  <a:lnTo>
                    <a:pt x="2633329" y="1339453"/>
                  </a:lnTo>
                  <a:lnTo>
                    <a:pt x="2661982" y="1304721"/>
                  </a:lnTo>
                  <a:lnTo>
                    <a:pt x="2683615" y="1264854"/>
                  </a:lnTo>
                  <a:lnTo>
                    <a:pt x="2697285" y="1220793"/>
                  </a:lnTo>
                  <a:lnTo>
                    <a:pt x="2702052" y="1173480"/>
                  </a:lnTo>
                  <a:lnTo>
                    <a:pt x="2702052" y="234695"/>
                  </a:lnTo>
                  <a:lnTo>
                    <a:pt x="2697285" y="187382"/>
                  </a:lnTo>
                  <a:lnTo>
                    <a:pt x="2683615" y="143321"/>
                  </a:lnTo>
                  <a:lnTo>
                    <a:pt x="2661982" y="103454"/>
                  </a:lnTo>
                  <a:lnTo>
                    <a:pt x="2633329" y="68722"/>
                  </a:lnTo>
                  <a:lnTo>
                    <a:pt x="2598597" y="40069"/>
                  </a:lnTo>
                  <a:lnTo>
                    <a:pt x="2558730" y="18436"/>
                  </a:lnTo>
                  <a:lnTo>
                    <a:pt x="2514669" y="4766"/>
                  </a:lnTo>
                  <a:lnTo>
                    <a:pt x="2467356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979926" y="3658361"/>
              <a:ext cx="2702560" cy="1408430"/>
            </a:xfrm>
            <a:custGeom>
              <a:avLst/>
              <a:gdLst/>
              <a:ahLst/>
              <a:cxnLst/>
              <a:rect l="l" t="t" r="r" b="b"/>
              <a:pathLst>
                <a:path w="2702559" h="1408429">
                  <a:moveTo>
                    <a:pt x="0" y="234695"/>
                  </a:moveTo>
                  <a:lnTo>
                    <a:pt x="4766" y="187382"/>
                  </a:lnTo>
                  <a:lnTo>
                    <a:pt x="18436" y="143321"/>
                  </a:lnTo>
                  <a:lnTo>
                    <a:pt x="40069" y="103454"/>
                  </a:lnTo>
                  <a:lnTo>
                    <a:pt x="68722" y="68722"/>
                  </a:lnTo>
                  <a:lnTo>
                    <a:pt x="103454" y="40069"/>
                  </a:lnTo>
                  <a:lnTo>
                    <a:pt x="143321" y="18436"/>
                  </a:lnTo>
                  <a:lnTo>
                    <a:pt x="187382" y="4766"/>
                  </a:lnTo>
                  <a:lnTo>
                    <a:pt x="234696" y="0"/>
                  </a:lnTo>
                  <a:lnTo>
                    <a:pt x="2467356" y="0"/>
                  </a:lnTo>
                  <a:lnTo>
                    <a:pt x="2514669" y="4766"/>
                  </a:lnTo>
                  <a:lnTo>
                    <a:pt x="2558730" y="18436"/>
                  </a:lnTo>
                  <a:lnTo>
                    <a:pt x="2598597" y="40069"/>
                  </a:lnTo>
                  <a:lnTo>
                    <a:pt x="2633329" y="68722"/>
                  </a:lnTo>
                  <a:lnTo>
                    <a:pt x="2661982" y="103454"/>
                  </a:lnTo>
                  <a:lnTo>
                    <a:pt x="2683615" y="143321"/>
                  </a:lnTo>
                  <a:lnTo>
                    <a:pt x="2697285" y="187382"/>
                  </a:lnTo>
                  <a:lnTo>
                    <a:pt x="2702052" y="234695"/>
                  </a:lnTo>
                  <a:lnTo>
                    <a:pt x="2702052" y="1173480"/>
                  </a:lnTo>
                  <a:lnTo>
                    <a:pt x="2697285" y="1220793"/>
                  </a:lnTo>
                  <a:lnTo>
                    <a:pt x="2683615" y="1264854"/>
                  </a:lnTo>
                  <a:lnTo>
                    <a:pt x="2661982" y="1304721"/>
                  </a:lnTo>
                  <a:lnTo>
                    <a:pt x="2633329" y="1339453"/>
                  </a:lnTo>
                  <a:lnTo>
                    <a:pt x="2598597" y="1368106"/>
                  </a:lnTo>
                  <a:lnTo>
                    <a:pt x="2558730" y="1389739"/>
                  </a:lnTo>
                  <a:lnTo>
                    <a:pt x="2514669" y="1403409"/>
                  </a:lnTo>
                  <a:lnTo>
                    <a:pt x="2467356" y="1408176"/>
                  </a:lnTo>
                  <a:lnTo>
                    <a:pt x="234696" y="1408176"/>
                  </a:lnTo>
                  <a:lnTo>
                    <a:pt x="187382" y="1403409"/>
                  </a:lnTo>
                  <a:lnTo>
                    <a:pt x="143321" y="1389739"/>
                  </a:lnTo>
                  <a:lnTo>
                    <a:pt x="103454" y="1368106"/>
                  </a:lnTo>
                  <a:lnTo>
                    <a:pt x="68722" y="1339453"/>
                  </a:lnTo>
                  <a:lnTo>
                    <a:pt x="40069" y="1304721"/>
                  </a:lnTo>
                  <a:lnTo>
                    <a:pt x="18436" y="1264854"/>
                  </a:lnTo>
                  <a:lnTo>
                    <a:pt x="4766" y="1220793"/>
                  </a:lnTo>
                  <a:lnTo>
                    <a:pt x="0" y="1173480"/>
                  </a:lnTo>
                  <a:lnTo>
                    <a:pt x="0" y="234695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37735" y="3884802"/>
            <a:ext cx="218884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Ferremia</a:t>
            </a:r>
            <a:r>
              <a:rPr sz="2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Ferritina </a:t>
            </a: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Saturación</a:t>
            </a:r>
            <a:r>
              <a:rPr sz="20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transferrina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2648" y="2086355"/>
            <a:ext cx="1995170" cy="870585"/>
            <a:chOff x="612648" y="2086355"/>
            <a:chExt cx="1995170" cy="870585"/>
          </a:xfrm>
        </p:grpSpPr>
        <p:sp>
          <p:nvSpPr>
            <p:cNvPr id="15" name="object 15"/>
            <p:cNvSpPr/>
            <p:nvPr/>
          </p:nvSpPr>
          <p:spPr>
            <a:xfrm>
              <a:off x="622554" y="2096261"/>
              <a:ext cx="1975485" cy="850900"/>
            </a:xfrm>
            <a:custGeom>
              <a:avLst/>
              <a:gdLst/>
              <a:ahLst/>
              <a:cxnLst/>
              <a:rect l="l" t="t" r="r" b="b"/>
              <a:pathLst>
                <a:path w="1975485" h="850900">
                  <a:moveTo>
                    <a:pt x="1833371" y="0"/>
                  </a:moveTo>
                  <a:lnTo>
                    <a:pt x="141731" y="0"/>
                  </a:lnTo>
                  <a:lnTo>
                    <a:pt x="96936" y="7229"/>
                  </a:lnTo>
                  <a:lnTo>
                    <a:pt x="58029" y="27358"/>
                  </a:lnTo>
                  <a:lnTo>
                    <a:pt x="27347" y="58046"/>
                  </a:lnTo>
                  <a:lnTo>
                    <a:pt x="7226" y="96950"/>
                  </a:lnTo>
                  <a:lnTo>
                    <a:pt x="0" y="141732"/>
                  </a:lnTo>
                  <a:lnTo>
                    <a:pt x="0" y="708660"/>
                  </a:lnTo>
                  <a:lnTo>
                    <a:pt x="7226" y="753441"/>
                  </a:lnTo>
                  <a:lnTo>
                    <a:pt x="27347" y="792345"/>
                  </a:lnTo>
                  <a:lnTo>
                    <a:pt x="58029" y="823033"/>
                  </a:lnTo>
                  <a:lnTo>
                    <a:pt x="96936" y="843162"/>
                  </a:lnTo>
                  <a:lnTo>
                    <a:pt x="141731" y="850391"/>
                  </a:lnTo>
                  <a:lnTo>
                    <a:pt x="1833371" y="850391"/>
                  </a:lnTo>
                  <a:lnTo>
                    <a:pt x="1878153" y="843162"/>
                  </a:lnTo>
                  <a:lnTo>
                    <a:pt x="1917057" y="823033"/>
                  </a:lnTo>
                  <a:lnTo>
                    <a:pt x="1947745" y="792345"/>
                  </a:lnTo>
                  <a:lnTo>
                    <a:pt x="1967874" y="753441"/>
                  </a:lnTo>
                  <a:lnTo>
                    <a:pt x="1975103" y="708660"/>
                  </a:lnTo>
                  <a:lnTo>
                    <a:pt x="1975103" y="141732"/>
                  </a:lnTo>
                  <a:lnTo>
                    <a:pt x="1967874" y="96950"/>
                  </a:lnTo>
                  <a:lnTo>
                    <a:pt x="1947745" y="58046"/>
                  </a:lnTo>
                  <a:lnTo>
                    <a:pt x="1917057" y="27358"/>
                  </a:lnTo>
                  <a:lnTo>
                    <a:pt x="1878153" y="7229"/>
                  </a:lnTo>
                  <a:lnTo>
                    <a:pt x="1833371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2554" y="2096261"/>
              <a:ext cx="1975485" cy="850900"/>
            </a:xfrm>
            <a:custGeom>
              <a:avLst/>
              <a:gdLst/>
              <a:ahLst/>
              <a:cxnLst/>
              <a:rect l="l" t="t" r="r" b="b"/>
              <a:pathLst>
                <a:path w="1975485" h="850900">
                  <a:moveTo>
                    <a:pt x="0" y="141732"/>
                  </a:moveTo>
                  <a:lnTo>
                    <a:pt x="7226" y="96950"/>
                  </a:lnTo>
                  <a:lnTo>
                    <a:pt x="27347" y="58046"/>
                  </a:lnTo>
                  <a:lnTo>
                    <a:pt x="58029" y="27358"/>
                  </a:lnTo>
                  <a:lnTo>
                    <a:pt x="96936" y="7229"/>
                  </a:lnTo>
                  <a:lnTo>
                    <a:pt x="141731" y="0"/>
                  </a:lnTo>
                  <a:lnTo>
                    <a:pt x="1833371" y="0"/>
                  </a:lnTo>
                  <a:lnTo>
                    <a:pt x="1878153" y="7229"/>
                  </a:lnTo>
                  <a:lnTo>
                    <a:pt x="1917057" y="27358"/>
                  </a:lnTo>
                  <a:lnTo>
                    <a:pt x="1947745" y="58046"/>
                  </a:lnTo>
                  <a:lnTo>
                    <a:pt x="1967874" y="96950"/>
                  </a:lnTo>
                  <a:lnTo>
                    <a:pt x="1975103" y="141732"/>
                  </a:lnTo>
                  <a:lnTo>
                    <a:pt x="1975103" y="708660"/>
                  </a:lnTo>
                  <a:lnTo>
                    <a:pt x="1967874" y="753441"/>
                  </a:lnTo>
                  <a:lnTo>
                    <a:pt x="1947745" y="792345"/>
                  </a:lnTo>
                  <a:lnTo>
                    <a:pt x="1917057" y="823033"/>
                  </a:lnTo>
                  <a:lnTo>
                    <a:pt x="1878153" y="843162"/>
                  </a:lnTo>
                  <a:lnTo>
                    <a:pt x="1833371" y="850391"/>
                  </a:lnTo>
                  <a:lnTo>
                    <a:pt x="141731" y="850391"/>
                  </a:lnTo>
                  <a:lnTo>
                    <a:pt x="96936" y="843162"/>
                  </a:lnTo>
                  <a:lnTo>
                    <a:pt x="58029" y="823033"/>
                  </a:lnTo>
                  <a:lnTo>
                    <a:pt x="27347" y="792345"/>
                  </a:lnTo>
                  <a:lnTo>
                    <a:pt x="7226" y="753441"/>
                  </a:lnTo>
                  <a:lnTo>
                    <a:pt x="0" y="708660"/>
                  </a:lnTo>
                  <a:lnTo>
                    <a:pt x="0" y="141732"/>
                  </a:lnTo>
                  <a:close/>
                </a:path>
              </a:pathLst>
            </a:custGeom>
            <a:ln w="19811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60856" y="2348230"/>
            <a:ext cx="1496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Arial"/>
                <a:cs typeface="Arial"/>
              </a:rPr>
              <a:t>Hemograma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769352" y="2086355"/>
            <a:ext cx="1993900" cy="870585"/>
            <a:chOff x="7769352" y="2086355"/>
            <a:chExt cx="1993900" cy="870585"/>
          </a:xfrm>
        </p:grpSpPr>
        <p:sp>
          <p:nvSpPr>
            <p:cNvPr id="19" name="object 19"/>
            <p:cNvSpPr/>
            <p:nvPr/>
          </p:nvSpPr>
          <p:spPr>
            <a:xfrm>
              <a:off x="7779258" y="2096261"/>
              <a:ext cx="1973580" cy="850900"/>
            </a:xfrm>
            <a:custGeom>
              <a:avLst/>
              <a:gdLst/>
              <a:ahLst/>
              <a:cxnLst/>
              <a:rect l="l" t="t" r="r" b="b"/>
              <a:pathLst>
                <a:path w="1973579" h="850900">
                  <a:moveTo>
                    <a:pt x="1831848" y="0"/>
                  </a:moveTo>
                  <a:lnTo>
                    <a:pt x="141732" y="0"/>
                  </a:lnTo>
                  <a:lnTo>
                    <a:pt x="96950" y="7229"/>
                  </a:lnTo>
                  <a:lnTo>
                    <a:pt x="58046" y="27358"/>
                  </a:lnTo>
                  <a:lnTo>
                    <a:pt x="27358" y="58046"/>
                  </a:lnTo>
                  <a:lnTo>
                    <a:pt x="7229" y="96950"/>
                  </a:lnTo>
                  <a:lnTo>
                    <a:pt x="0" y="141732"/>
                  </a:lnTo>
                  <a:lnTo>
                    <a:pt x="0" y="708660"/>
                  </a:lnTo>
                  <a:lnTo>
                    <a:pt x="7229" y="753441"/>
                  </a:lnTo>
                  <a:lnTo>
                    <a:pt x="27358" y="792345"/>
                  </a:lnTo>
                  <a:lnTo>
                    <a:pt x="58046" y="823033"/>
                  </a:lnTo>
                  <a:lnTo>
                    <a:pt x="96950" y="843162"/>
                  </a:lnTo>
                  <a:lnTo>
                    <a:pt x="141732" y="850391"/>
                  </a:lnTo>
                  <a:lnTo>
                    <a:pt x="1831848" y="850391"/>
                  </a:lnTo>
                  <a:lnTo>
                    <a:pt x="1876629" y="843162"/>
                  </a:lnTo>
                  <a:lnTo>
                    <a:pt x="1915533" y="823033"/>
                  </a:lnTo>
                  <a:lnTo>
                    <a:pt x="1946221" y="792345"/>
                  </a:lnTo>
                  <a:lnTo>
                    <a:pt x="1966350" y="753441"/>
                  </a:lnTo>
                  <a:lnTo>
                    <a:pt x="1973580" y="708660"/>
                  </a:lnTo>
                  <a:lnTo>
                    <a:pt x="1973580" y="141732"/>
                  </a:lnTo>
                  <a:lnTo>
                    <a:pt x="1966350" y="96950"/>
                  </a:lnTo>
                  <a:lnTo>
                    <a:pt x="1946221" y="58046"/>
                  </a:lnTo>
                  <a:lnTo>
                    <a:pt x="1915533" y="27358"/>
                  </a:lnTo>
                  <a:lnTo>
                    <a:pt x="1876629" y="7229"/>
                  </a:lnTo>
                  <a:lnTo>
                    <a:pt x="1831848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79258" y="2096261"/>
              <a:ext cx="1973580" cy="850900"/>
            </a:xfrm>
            <a:custGeom>
              <a:avLst/>
              <a:gdLst/>
              <a:ahLst/>
              <a:cxnLst/>
              <a:rect l="l" t="t" r="r" b="b"/>
              <a:pathLst>
                <a:path w="1973579" h="850900">
                  <a:moveTo>
                    <a:pt x="0" y="141732"/>
                  </a:moveTo>
                  <a:lnTo>
                    <a:pt x="7229" y="96950"/>
                  </a:lnTo>
                  <a:lnTo>
                    <a:pt x="27358" y="58046"/>
                  </a:lnTo>
                  <a:lnTo>
                    <a:pt x="58046" y="27358"/>
                  </a:lnTo>
                  <a:lnTo>
                    <a:pt x="96950" y="7229"/>
                  </a:lnTo>
                  <a:lnTo>
                    <a:pt x="141732" y="0"/>
                  </a:lnTo>
                  <a:lnTo>
                    <a:pt x="1831848" y="0"/>
                  </a:lnTo>
                  <a:lnTo>
                    <a:pt x="1876629" y="7229"/>
                  </a:lnTo>
                  <a:lnTo>
                    <a:pt x="1915533" y="27358"/>
                  </a:lnTo>
                  <a:lnTo>
                    <a:pt x="1946221" y="58046"/>
                  </a:lnTo>
                  <a:lnTo>
                    <a:pt x="1966350" y="96950"/>
                  </a:lnTo>
                  <a:lnTo>
                    <a:pt x="1973580" y="141732"/>
                  </a:lnTo>
                  <a:lnTo>
                    <a:pt x="1973580" y="708660"/>
                  </a:lnTo>
                  <a:lnTo>
                    <a:pt x="1966350" y="753441"/>
                  </a:lnTo>
                  <a:lnTo>
                    <a:pt x="1946221" y="792345"/>
                  </a:lnTo>
                  <a:lnTo>
                    <a:pt x="1915533" y="823033"/>
                  </a:lnTo>
                  <a:lnTo>
                    <a:pt x="1876629" y="843162"/>
                  </a:lnTo>
                  <a:lnTo>
                    <a:pt x="1831848" y="850391"/>
                  </a:lnTo>
                  <a:lnTo>
                    <a:pt x="141732" y="850391"/>
                  </a:lnTo>
                  <a:lnTo>
                    <a:pt x="96950" y="843162"/>
                  </a:lnTo>
                  <a:lnTo>
                    <a:pt x="58046" y="823033"/>
                  </a:lnTo>
                  <a:lnTo>
                    <a:pt x="27358" y="792345"/>
                  </a:lnTo>
                  <a:lnTo>
                    <a:pt x="7229" y="753441"/>
                  </a:lnTo>
                  <a:lnTo>
                    <a:pt x="0" y="708660"/>
                  </a:lnTo>
                  <a:lnTo>
                    <a:pt x="0" y="141732"/>
                  </a:lnTo>
                  <a:close/>
                </a:path>
              </a:pathLst>
            </a:custGeom>
            <a:ln w="19811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78393" y="2348230"/>
            <a:ext cx="577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Arial"/>
                <a:cs typeface="Arial"/>
              </a:rPr>
              <a:t>Bajo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7226" y="5820867"/>
            <a:ext cx="14979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Arial"/>
                <a:cs typeface="Arial"/>
              </a:rPr>
              <a:t>Transferrina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3898" y="3959097"/>
            <a:ext cx="2557780" cy="858519"/>
            <a:chOff x="453898" y="3959097"/>
            <a:chExt cx="2557780" cy="858519"/>
          </a:xfrm>
        </p:grpSpPr>
        <p:sp>
          <p:nvSpPr>
            <p:cNvPr id="24" name="object 24"/>
            <p:cNvSpPr/>
            <p:nvPr/>
          </p:nvSpPr>
          <p:spPr>
            <a:xfrm>
              <a:off x="464058" y="3969257"/>
              <a:ext cx="2537460" cy="838200"/>
            </a:xfrm>
            <a:custGeom>
              <a:avLst/>
              <a:gdLst/>
              <a:ahLst/>
              <a:cxnLst/>
              <a:rect l="l" t="t" r="r" b="b"/>
              <a:pathLst>
                <a:path w="2537460" h="838200">
                  <a:moveTo>
                    <a:pt x="2397760" y="0"/>
                  </a:moveTo>
                  <a:lnTo>
                    <a:pt x="139700" y="0"/>
                  </a:lnTo>
                  <a:lnTo>
                    <a:pt x="95544" y="7116"/>
                  </a:lnTo>
                  <a:lnTo>
                    <a:pt x="57195" y="26936"/>
                  </a:lnTo>
                  <a:lnTo>
                    <a:pt x="26954" y="57168"/>
                  </a:lnTo>
                  <a:lnTo>
                    <a:pt x="7122" y="95520"/>
                  </a:lnTo>
                  <a:lnTo>
                    <a:pt x="0" y="139700"/>
                  </a:lnTo>
                  <a:lnTo>
                    <a:pt x="0" y="698500"/>
                  </a:lnTo>
                  <a:lnTo>
                    <a:pt x="7122" y="742679"/>
                  </a:lnTo>
                  <a:lnTo>
                    <a:pt x="26954" y="781031"/>
                  </a:lnTo>
                  <a:lnTo>
                    <a:pt x="57195" y="811263"/>
                  </a:lnTo>
                  <a:lnTo>
                    <a:pt x="95544" y="831083"/>
                  </a:lnTo>
                  <a:lnTo>
                    <a:pt x="139700" y="838200"/>
                  </a:lnTo>
                  <a:lnTo>
                    <a:pt x="2397760" y="838200"/>
                  </a:lnTo>
                  <a:lnTo>
                    <a:pt x="2441939" y="831083"/>
                  </a:lnTo>
                  <a:lnTo>
                    <a:pt x="2480291" y="811263"/>
                  </a:lnTo>
                  <a:lnTo>
                    <a:pt x="2510523" y="781031"/>
                  </a:lnTo>
                  <a:lnTo>
                    <a:pt x="2530343" y="742679"/>
                  </a:lnTo>
                  <a:lnTo>
                    <a:pt x="2537460" y="698500"/>
                  </a:lnTo>
                  <a:lnTo>
                    <a:pt x="2537460" y="139700"/>
                  </a:lnTo>
                  <a:lnTo>
                    <a:pt x="2530343" y="95520"/>
                  </a:lnTo>
                  <a:lnTo>
                    <a:pt x="2510523" y="57168"/>
                  </a:lnTo>
                  <a:lnTo>
                    <a:pt x="2480291" y="26936"/>
                  </a:lnTo>
                  <a:lnTo>
                    <a:pt x="2441939" y="7116"/>
                  </a:lnTo>
                  <a:lnTo>
                    <a:pt x="239776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058" y="3969257"/>
              <a:ext cx="2537460" cy="838200"/>
            </a:xfrm>
            <a:custGeom>
              <a:avLst/>
              <a:gdLst/>
              <a:ahLst/>
              <a:cxnLst/>
              <a:rect l="l" t="t" r="r" b="b"/>
              <a:pathLst>
                <a:path w="2537460" h="838200">
                  <a:moveTo>
                    <a:pt x="0" y="139700"/>
                  </a:moveTo>
                  <a:lnTo>
                    <a:pt x="7122" y="95520"/>
                  </a:lnTo>
                  <a:lnTo>
                    <a:pt x="26954" y="57168"/>
                  </a:lnTo>
                  <a:lnTo>
                    <a:pt x="57195" y="26936"/>
                  </a:lnTo>
                  <a:lnTo>
                    <a:pt x="95544" y="7116"/>
                  </a:lnTo>
                  <a:lnTo>
                    <a:pt x="139700" y="0"/>
                  </a:lnTo>
                  <a:lnTo>
                    <a:pt x="2397760" y="0"/>
                  </a:lnTo>
                  <a:lnTo>
                    <a:pt x="2441939" y="7116"/>
                  </a:lnTo>
                  <a:lnTo>
                    <a:pt x="2480291" y="26936"/>
                  </a:lnTo>
                  <a:lnTo>
                    <a:pt x="2510523" y="57168"/>
                  </a:lnTo>
                  <a:lnTo>
                    <a:pt x="2530343" y="95520"/>
                  </a:lnTo>
                  <a:lnTo>
                    <a:pt x="2537460" y="139700"/>
                  </a:lnTo>
                  <a:lnTo>
                    <a:pt x="2537460" y="698500"/>
                  </a:lnTo>
                  <a:lnTo>
                    <a:pt x="2530343" y="742679"/>
                  </a:lnTo>
                  <a:lnTo>
                    <a:pt x="2510523" y="781031"/>
                  </a:lnTo>
                  <a:lnTo>
                    <a:pt x="2480291" y="811263"/>
                  </a:lnTo>
                  <a:lnTo>
                    <a:pt x="2441939" y="831083"/>
                  </a:lnTo>
                  <a:lnTo>
                    <a:pt x="2397760" y="838200"/>
                  </a:lnTo>
                  <a:lnTo>
                    <a:pt x="139700" y="838200"/>
                  </a:lnTo>
                  <a:lnTo>
                    <a:pt x="95544" y="831083"/>
                  </a:lnTo>
                  <a:lnTo>
                    <a:pt x="57195" y="811263"/>
                  </a:lnTo>
                  <a:lnTo>
                    <a:pt x="26954" y="781031"/>
                  </a:lnTo>
                  <a:lnTo>
                    <a:pt x="7122" y="742679"/>
                  </a:lnTo>
                  <a:lnTo>
                    <a:pt x="0" y="698500"/>
                  </a:lnTo>
                  <a:lnTo>
                    <a:pt x="0" y="139700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03249" y="4063441"/>
            <a:ext cx="1859914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Parámetros</a:t>
            </a:r>
            <a:r>
              <a:rPr sz="20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hierro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69352" y="3959352"/>
            <a:ext cx="1993900" cy="870585"/>
            <a:chOff x="7769352" y="3959352"/>
            <a:chExt cx="1993900" cy="870585"/>
          </a:xfrm>
        </p:grpSpPr>
        <p:sp>
          <p:nvSpPr>
            <p:cNvPr id="28" name="object 28"/>
            <p:cNvSpPr/>
            <p:nvPr/>
          </p:nvSpPr>
          <p:spPr>
            <a:xfrm>
              <a:off x="7779258" y="3969258"/>
              <a:ext cx="1973580" cy="850900"/>
            </a:xfrm>
            <a:custGeom>
              <a:avLst/>
              <a:gdLst/>
              <a:ahLst/>
              <a:cxnLst/>
              <a:rect l="l" t="t" r="r" b="b"/>
              <a:pathLst>
                <a:path w="1973579" h="850900">
                  <a:moveTo>
                    <a:pt x="1831848" y="0"/>
                  </a:moveTo>
                  <a:lnTo>
                    <a:pt x="141732" y="0"/>
                  </a:lnTo>
                  <a:lnTo>
                    <a:pt x="96950" y="7229"/>
                  </a:lnTo>
                  <a:lnTo>
                    <a:pt x="58046" y="27358"/>
                  </a:lnTo>
                  <a:lnTo>
                    <a:pt x="27358" y="58046"/>
                  </a:lnTo>
                  <a:lnTo>
                    <a:pt x="7229" y="96950"/>
                  </a:lnTo>
                  <a:lnTo>
                    <a:pt x="0" y="141732"/>
                  </a:lnTo>
                  <a:lnTo>
                    <a:pt x="0" y="708660"/>
                  </a:lnTo>
                  <a:lnTo>
                    <a:pt x="7229" y="753441"/>
                  </a:lnTo>
                  <a:lnTo>
                    <a:pt x="27358" y="792345"/>
                  </a:lnTo>
                  <a:lnTo>
                    <a:pt x="58046" y="823033"/>
                  </a:lnTo>
                  <a:lnTo>
                    <a:pt x="96950" y="843162"/>
                  </a:lnTo>
                  <a:lnTo>
                    <a:pt x="141732" y="850392"/>
                  </a:lnTo>
                  <a:lnTo>
                    <a:pt x="1831848" y="850392"/>
                  </a:lnTo>
                  <a:lnTo>
                    <a:pt x="1876629" y="843162"/>
                  </a:lnTo>
                  <a:lnTo>
                    <a:pt x="1915533" y="823033"/>
                  </a:lnTo>
                  <a:lnTo>
                    <a:pt x="1946221" y="792345"/>
                  </a:lnTo>
                  <a:lnTo>
                    <a:pt x="1966350" y="753441"/>
                  </a:lnTo>
                  <a:lnTo>
                    <a:pt x="1973580" y="708660"/>
                  </a:lnTo>
                  <a:lnTo>
                    <a:pt x="1973580" y="141732"/>
                  </a:lnTo>
                  <a:lnTo>
                    <a:pt x="1966350" y="96950"/>
                  </a:lnTo>
                  <a:lnTo>
                    <a:pt x="1946221" y="58046"/>
                  </a:lnTo>
                  <a:lnTo>
                    <a:pt x="1915533" y="27358"/>
                  </a:lnTo>
                  <a:lnTo>
                    <a:pt x="1876629" y="7229"/>
                  </a:lnTo>
                  <a:lnTo>
                    <a:pt x="1831848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79258" y="3969258"/>
              <a:ext cx="1973580" cy="850900"/>
            </a:xfrm>
            <a:custGeom>
              <a:avLst/>
              <a:gdLst/>
              <a:ahLst/>
              <a:cxnLst/>
              <a:rect l="l" t="t" r="r" b="b"/>
              <a:pathLst>
                <a:path w="1973579" h="850900">
                  <a:moveTo>
                    <a:pt x="0" y="141732"/>
                  </a:moveTo>
                  <a:lnTo>
                    <a:pt x="7229" y="96950"/>
                  </a:lnTo>
                  <a:lnTo>
                    <a:pt x="27358" y="58046"/>
                  </a:lnTo>
                  <a:lnTo>
                    <a:pt x="58046" y="27358"/>
                  </a:lnTo>
                  <a:lnTo>
                    <a:pt x="96950" y="7229"/>
                  </a:lnTo>
                  <a:lnTo>
                    <a:pt x="141732" y="0"/>
                  </a:lnTo>
                  <a:lnTo>
                    <a:pt x="1831848" y="0"/>
                  </a:lnTo>
                  <a:lnTo>
                    <a:pt x="1876629" y="7229"/>
                  </a:lnTo>
                  <a:lnTo>
                    <a:pt x="1915533" y="27358"/>
                  </a:lnTo>
                  <a:lnTo>
                    <a:pt x="1946221" y="58046"/>
                  </a:lnTo>
                  <a:lnTo>
                    <a:pt x="1966350" y="96950"/>
                  </a:lnTo>
                  <a:lnTo>
                    <a:pt x="1973580" y="141732"/>
                  </a:lnTo>
                  <a:lnTo>
                    <a:pt x="1973580" y="708660"/>
                  </a:lnTo>
                  <a:lnTo>
                    <a:pt x="1966350" y="753441"/>
                  </a:lnTo>
                  <a:lnTo>
                    <a:pt x="1946221" y="792345"/>
                  </a:lnTo>
                  <a:lnTo>
                    <a:pt x="1915533" y="823033"/>
                  </a:lnTo>
                  <a:lnTo>
                    <a:pt x="1876629" y="843162"/>
                  </a:lnTo>
                  <a:lnTo>
                    <a:pt x="1831848" y="850392"/>
                  </a:lnTo>
                  <a:lnTo>
                    <a:pt x="141732" y="850392"/>
                  </a:lnTo>
                  <a:lnTo>
                    <a:pt x="96950" y="843162"/>
                  </a:lnTo>
                  <a:lnTo>
                    <a:pt x="58046" y="823033"/>
                  </a:lnTo>
                  <a:lnTo>
                    <a:pt x="27358" y="792345"/>
                  </a:lnTo>
                  <a:lnTo>
                    <a:pt x="7229" y="753441"/>
                  </a:lnTo>
                  <a:lnTo>
                    <a:pt x="0" y="708660"/>
                  </a:lnTo>
                  <a:lnTo>
                    <a:pt x="0" y="141732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478393" y="4222191"/>
            <a:ext cx="5778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Bajo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19600" y="5558028"/>
            <a:ext cx="1993900" cy="870585"/>
            <a:chOff x="4419600" y="5558028"/>
            <a:chExt cx="1993900" cy="870585"/>
          </a:xfrm>
        </p:grpSpPr>
        <p:sp>
          <p:nvSpPr>
            <p:cNvPr id="32" name="object 32"/>
            <p:cNvSpPr/>
            <p:nvPr/>
          </p:nvSpPr>
          <p:spPr>
            <a:xfrm>
              <a:off x="4429505" y="5567934"/>
              <a:ext cx="1973580" cy="850900"/>
            </a:xfrm>
            <a:custGeom>
              <a:avLst/>
              <a:gdLst/>
              <a:ahLst/>
              <a:cxnLst/>
              <a:rect l="l" t="t" r="r" b="b"/>
              <a:pathLst>
                <a:path w="1973579" h="850900">
                  <a:moveTo>
                    <a:pt x="1831848" y="0"/>
                  </a:moveTo>
                  <a:lnTo>
                    <a:pt x="141732" y="0"/>
                  </a:lnTo>
                  <a:lnTo>
                    <a:pt x="96950" y="7226"/>
                  </a:lnTo>
                  <a:lnTo>
                    <a:pt x="58046" y="27347"/>
                  </a:lnTo>
                  <a:lnTo>
                    <a:pt x="27358" y="58029"/>
                  </a:lnTo>
                  <a:lnTo>
                    <a:pt x="7229" y="96936"/>
                  </a:lnTo>
                  <a:lnTo>
                    <a:pt x="0" y="141731"/>
                  </a:lnTo>
                  <a:lnTo>
                    <a:pt x="0" y="708659"/>
                  </a:lnTo>
                  <a:lnTo>
                    <a:pt x="7229" y="753455"/>
                  </a:lnTo>
                  <a:lnTo>
                    <a:pt x="27358" y="792362"/>
                  </a:lnTo>
                  <a:lnTo>
                    <a:pt x="58046" y="823044"/>
                  </a:lnTo>
                  <a:lnTo>
                    <a:pt x="96950" y="843165"/>
                  </a:lnTo>
                  <a:lnTo>
                    <a:pt x="141732" y="850391"/>
                  </a:lnTo>
                  <a:lnTo>
                    <a:pt x="1831848" y="850391"/>
                  </a:lnTo>
                  <a:lnTo>
                    <a:pt x="1876629" y="843165"/>
                  </a:lnTo>
                  <a:lnTo>
                    <a:pt x="1915533" y="823044"/>
                  </a:lnTo>
                  <a:lnTo>
                    <a:pt x="1946221" y="792362"/>
                  </a:lnTo>
                  <a:lnTo>
                    <a:pt x="1966350" y="753455"/>
                  </a:lnTo>
                  <a:lnTo>
                    <a:pt x="1973580" y="708659"/>
                  </a:lnTo>
                  <a:lnTo>
                    <a:pt x="1973580" y="141731"/>
                  </a:lnTo>
                  <a:lnTo>
                    <a:pt x="1966350" y="96936"/>
                  </a:lnTo>
                  <a:lnTo>
                    <a:pt x="1946221" y="58029"/>
                  </a:lnTo>
                  <a:lnTo>
                    <a:pt x="1915533" y="27347"/>
                  </a:lnTo>
                  <a:lnTo>
                    <a:pt x="1876629" y="7226"/>
                  </a:lnTo>
                  <a:lnTo>
                    <a:pt x="1831848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29505" y="5567934"/>
              <a:ext cx="1973580" cy="850900"/>
            </a:xfrm>
            <a:custGeom>
              <a:avLst/>
              <a:gdLst/>
              <a:ahLst/>
              <a:cxnLst/>
              <a:rect l="l" t="t" r="r" b="b"/>
              <a:pathLst>
                <a:path w="1973579" h="850900">
                  <a:moveTo>
                    <a:pt x="0" y="141731"/>
                  </a:moveTo>
                  <a:lnTo>
                    <a:pt x="7229" y="96936"/>
                  </a:lnTo>
                  <a:lnTo>
                    <a:pt x="27358" y="58029"/>
                  </a:lnTo>
                  <a:lnTo>
                    <a:pt x="58046" y="27347"/>
                  </a:lnTo>
                  <a:lnTo>
                    <a:pt x="96950" y="7226"/>
                  </a:lnTo>
                  <a:lnTo>
                    <a:pt x="141732" y="0"/>
                  </a:lnTo>
                  <a:lnTo>
                    <a:pt x="1831848" y="0"/>
                  </a:lnTo>
                  <a:lnTo>
                    <a:pt x="1876629" y="7226"/>
                  </a:lnTo>
                  <a:lnTo>
                    <a:pt x="1915533" y="27347"/>
                  </a:lnTo>
                  <a:lnTo>
                    <a:pt x="1946221" y="58029"/>
                  </a:lnTo>
                  <a:lnTo>
                    <a:pt x="1966350" y="96936"/>
                  </a:lnTo>
                  <a:lnTo>
                    <a:pt x="1973580" y="141731"/>
                  </a:lnTo>
                  <a:lnTo>
                    <a:pt x="1973580" y="708659"/>
                  </a:lnTo>
                  <a:lnTo>
                    <a:pt x="1966350" y="753455"/>
                  </a:lnTo>
                  <a:lnTo>
                    <a:pt x="1946221" y="792362"/>
                  </a:lnTo>
                  <a:lnTo>
                    <a:pt x="1915533" y="823044"/>
                  </a:lnTo>
                  <a:lnTo>
                    <a:pt x="1876629" y="843165"/>
                  </a:lnTo>
                  <a:lnTo>
                    <a:pt x="1831848" y="850391"/>
                  </a:lnTo>
                  <a:lnTo>
                    <a:pt x="141732" y="850391"/>
                  </a:lnTo>
                  <a:lnTo>
                    <a:pt x="96950" y="843165"/>
                  </a:lnTo>
                  <a:lnTo>
                    <a:pt x="58046" y="823044"/>
                  </a:lnTo>
                  <a:lnTo>
                    <a:pt x="27358" y="792362"/>
                  </a:lnTo>
                  <a:lnTo>
                    <a:pt x="7229" y="753455"/>
                  </a:lnTo>
                  <a:lnTo>
                    <a:pt x="0" y="708659"/>
                  </a:lnTo>
                  <a:lnTo>
                    <a:pt x="0" y="141731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576953" y="5820867"/>
            <a:ext cx="1677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Alta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o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Normal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878835" y="2296667"/>
            <a:ext cx="741045" cy="445134"/>
            <a:chOff x="2878835" y="2296667"/>
            <a:chExt cx="741045" cy="445134"/>
          </a:xfrm>
        </p:grpSpPr>
        <p:sp>
          <p:nvSpPr>
            <p:cNvPr id="36" name="object 36"/>
            <p:cNvSpPr/>
            <p:nvPr/>
          </p:nvSpPr>
          <p:spPr>
            <a:xfrm>
              <a:off x="2888741" y="2306573"/>
              <a:ext cx="721360" cy="425450"/>
            </a:xfrm>
            <a:custGeom>
              <a:avLst/>
              <a:gdLst/>
              <a:ahLst/>
              <a:cxnLst/>
              <a:rect l="l" t="t" r="r" b="b"/>
              <a:pathLst>
                <a:path w="721360" h="425450">
                  <a:moveTo>
                    <a:pt x="508254" y="0"/>
                  </a:moveTo>
                  <a:lnTo>
                    <a:pt x="508254" y="106299"/>
                  </a:lnTo>
                  <a:lnTo>
                    <a:pt x="0" y="106299"/>
                  </a:lnTo>
                  <a:lnTo>
                    <a:pt x="0" y="318897"/>
                  </a:lnTo>
                  <a:lnTo>
                    <a:pt x="508254" y="318897"/>
                  </a:lnTo>
                  <a:lnTo>
                    <a:pt x="508254" y="425196"/>
                  </a:lnTo>
                  <a:lnTo>
                    <a:pt x="720852" y="212598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888741" y="2306573"/>
              <a:ext cx="721360" cy="425450"/>
            </a:xfrm>
            <a:custGeom>
              <a:avLst/>
              <a:gdLst/>
              <a:ahLst/>
              <a:cxnLst/>
              <a:rect l="l" t="t" r="r" b="b"/>
              <a:pathLst>
                <a:path w="721360" h="425450">
                  <a:moveTo>
                    <a:pt x="0" y="106299"/>
                  </a:moveTo>
                  <a:lnTo>
                    <a:pt x="508254" y="106299"/>
                  </a:lnTo>
                  <a:lnTo>
                    <a:pt x="508254" y="0"/>
                  </a:lnTo>
                  <a:lnTo>
                    <a:pt x="720852" y="212598"/>
                  </a:lnTo>
                  <a:lnTo>
                    <a:pt x="508254" y="425196"/>
                  </a:lnTo>
                  <a:lnTo>
                    <a:pt x="508254" y="318897"/>
                  </a:lnTo>
                  <a:lnTo>
                    <a:pt x="0" y="318897"/>
                  </a:lnTo>
                  <a:lnTo>
                    <a:pt x="0" y="106299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3121151" y="4186428"/>
            <a:ext cx="1251585" cy="2077720"/>
            <a:chOff x="3121151" y="4186428"/>
            <a:chExt cx="1251585" cy="2077720"/>
          </a:xfrm>
        </p:grpSpPr>
        <p:sp>
          <p:nvSpPr>
            <p:cNvPr id="39" name="object 39"/>
            <p:cNvSpPr/>
            <p:nvPr/>
          </p:nvSpPr>
          <p:spPr>
            <a:xfrm>
              <a:off x="3131057" y="4196334"/>
              <a:ext cx="721360" cy="425450"/>
            </a:xfrm>
            <a:custGeom>
              <a:avLst/>
              <a:gdLst/>
              <a:ahLst/>
              <a:cxnLst/>
              <a:rect l="l" t="t" r="r" b="b"/>
              <a:pathLst>
                <a:path w="721360" h="425450">
                  <a:moveTo>
                    <a:pt x="508254" y="0"/>
                  </a:moveTo>
                  <a:lnTo>
                    <a:pt x="508254" y="106299"/>
                  </a:lnTo>
                  <a:lnTo>
                    <a:pt x="0" y="106299"/>
                  </a:lnTo>
                  <a:lnTo>
                    <a:pt x="0" y="318897"/>
                  </a:lnTo>
                  <a:lnTo>
                    <a:pt x="508254" y="318897"/>
                  </a:lnTo>
                  <a:lnTo>
                    <a:pt x="508254" y="425196"/>
                  </a:lnTo>
                  <a:lnTo>
                    <a:pt x="720852" y="212598"/>
                  </a:lnTo>
                  <a:lnTo>
                    <a:pt x="508254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131057" y="4196334"/>
              <a:ext cx="721360" cy="425450"/>
            </a:xfrm>
            <a:custGeom>
              <a:avLst/>
              <a:gdLst/>
              <a:ahLst/>
              <a:cxnLst/>
              <a:rect l="l" t="t" r="r" b="b"/>
              <a:pathLst>
                <a:path w="721360" h="425450">
                  <a:moveTo>
                    <a:pt x="0" y="106299"/>
                  </a:moveTo>
                  <a:lnTo>
                    <a:pt x="508254" y="106299"/>
                  </a:lnTo>
                  <a:lnTo>
                    <a:pt x="508254" y="0"/>
                  </a:lnTo>
                  <a:lnTo>
                    <a:pt x="720852" y="212598"/>
                  </a:lnTo>
                  <a:lnTo>
                    <a:pt x="508254" y="425196"/>
                  </a:lnTo>
                  <a:lnTo>
                    <a:pt x="508254" y="318897"/>
                  </a:lnTo>
                  <a:lnTo>
                    <a:pt x="0" y="318897"/>
                  </a:lnTo>
                  <a:lnTo>
                    <a:pt x="0" y="106299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640073" y="5828538"/>
              <a:ext cx="722630" cy="425450"/>
            </a:xfrm>
            <a:custGeom>
              <a:avLst/>
              <a:gdLst/>
              <a:ahLst/>
              <a:cxnLst/>
              <a:rect l="l" t="t" r="r" b="b"/>
              <a:pathLst>
                <a:path w="722629" h="425450">
                  <a:moveTo>
                    <a:pt x="509777" y="0"/>
                  </a:moveTo>
                  <a:lnTo>
                    <a:pt x="509777" y="106299"/>
                  </a:lnTo>
                  <a:lnTo>
                    <a:pt x="0" y="106299"/>
                  </a:lnTo>
                  <a:lnTo>
                    <a:pt x="0" y="318897"/>
                  </a:lnTo>
                  <a:lnTo>
                    <a:pt x="509777" y="318897"/>
                  </a:lnTo>
                  <a:lnTo>
                    <a:pt x="509777" y="425196"/>
                  </a:lnTo>
                  <a:lnTo>
                    <a:pt x="722376" y="212598"/>
                  </a:lnTo>
                  <a:lnTo>
                    <a:pt x="509777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640073" y="5828538"/>
              <a:ext cx="722630" cy="425450"/>
            </a:xfrm>
            <a:custGeom>
              <a:avLst/>
              <a:gdLst/>
              <a:ahLst/>
              <a:cxnLst/>
              <a:rect l="l" t="t" r="r" b="b"/>
              <a:pathLst>
                <a:path w="722629" h="425450">
                  <a:moveTo>
                    <a:pt x="0" y="106299"/>
                  </a:moveTo>
                  <a:lnTo>
                    <a:pt x="509777" y="106299"/>
                  </a:lnTo>
                  <a:lnTo>
                    <a:pt x="509777" y="0"/>
                  </a:lnTo>
                  <a:lnTo>
                    <a:pt x="722376" y="212598"/>
                  </a:lnTo>
                  <a:lnTo>
                    <a:pt x="509777" y="425196"/>
                  </a:lnTo>
                  <a:lnTo>
                    <a:pt x="509777" y="318897"/>
                  </a:lnTo>
                  <a:lnTo>
                    <a:pt x="0" y="318897"/>
                  </a:lnTo>
                  <a:lnTo>
                    <a:pt x="0" y="106299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6941819" y="2296667"/>
            <a:ext cx="741045" cy="445134"/>
            <a:chOff x="6941819" y="2296667"/>
            <a:chExt cx="741045" cy="445134"/>
          </a:xfrm>
        </p:grpSpPr>
        <p:sp>
          <p:nvSpPr>
            <p:cNvPr id="44" name="object 44"/>
            <p:cNvSpPr/>
            <p:nvPr/>
          </p:nvSpPr>
          <p:spPr>
            <a:xfrm>
              <a:off x="6951725" y="2306573"/>
              <a:ext cx="721360" cy="425450"/>
            </a:xfrm>
            <a:custGeom>
              <a:avLst/>
              <a:gdLst/>
              <a:ahLst/>
              <a:cxnLst/>
              <a:rect l="l" t="t" r="r" b="b"/>
              <a:pathLst>
                <a:path w="721359" h="425450">
                  <a:moveTo>
                    <a:pt x="508253" y="0"/>
                  </a:moveTo>
                  <a:lnTo>
                    <a:pt x="508253" y="106299"/>
                  </a:lnTo>
                  <a:lnTo>
                    <a:pt x="0" y="106299"/>
                  </a:lnTo>
                  <a:lnTo>
                    <a:pt x="0" y="318897"/>
                  </a:lnTo>
                  <a:lnTo>
                    <a:pt x="508253" y="318897"/>
                  </a:lnTo>
                  <a:lnTo>
                    <a:pt x="508253" y="425196"/>
                  </a:lnTo>
                  <a:lnTo>
                    <a:pt x="720851" y="212598"/>
                  </a:lnTo>
                  <a:lnTo>
                    <a:pt x="508253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951725" y="2306573"/>
              <a:ext cx="721360" cy="425450"/>
            </a:xfrm>
            <a:custGeom>
              <a:avLst/>
              <a:gdLst/>
              <a:ahLst/>
              <a:cxnLst/>
              <a:rect l="l" t="t" r="r" b="b"/>
              <a:pathLst>
                <a:path w="721359" h="425450">
                  <a:moveTo>
                    <a:pt x="0" y="106299"/>
                  </a:moveTo>
                  <a:lnTo>
                    <a:pt x="508253" y="106299"/>
                  </a:lnTo>
                  <a:lnTo>
                    <a:pt x="508253" y="0"/>
                  </a:lnTo>
                  <a:lnTo>
                    <a:pt x="720851" y="212598"/>
                  </a:lnTo>
                  <a:lnTo>
                    <a:pt x="508253" y="425196"/>
                  </a:lnTo>
                  <a:lnTo>
                    <a:pt x="508253" y="318897"/>
                  </a:lnTo>
                  <a:lnTo>
                    <a:pt x="0" y="318897"/>
                  </a:lnTo>
                  <a:lnTo>
                    <a:pt x="0" y="106299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6810756" y="4158996"/>
            <a:ext cx="742315" cy="447040"/>
            <a:chOff x="6810756" y="4158996"/>
            <a:chExt cx="742315" cy="447040"/>
          </a:xfrm>
        </p:grpSpPr>
        <p:sp>
          <p:nvSpPr>
            <p:cNvPr id="47" name="object 47"/>
            <p:cNvSpPr/>
            <p:nvPr/>
          </p:nvSpPr>
          <p:spPr>
            <a:xfrm>
              <a:off x="6820662" y="4168902"/>
              <a:ext cx="722630" cy="426720"/>
            </a:xfrm>
            <a:custGeom>
              <a:avLst/>
              <a:gdLst/>
              <a:ahLst/>
              <a:cxnLst/>
              <a:rect l="l" t="t" r="r" b="b"/>
              <a:pathLst>
                <a:path w="722629" h="426720">
                  <a:moveTo>
                    <a:pt x="509016" y="0"/>
                  </a:moveTo>
                  <a:lnTo>
                    <a:pt x="509016" y="106680"/>
                  </a:lnTo>
                  <a:lnTo>
                    <a:pt x="0" y="106680"/>
                  </a:lnTo>
                  <a:lnTo>
                    <a:pt x="0" y="320040"/>
                  </a:lnTo>
                  <a:lnTo>
                    <a:pt x="509016" y="320040"/>
                  </a:lnTo>
                  <a:lnTo>
                    <a:pt x="509016" y="426720"/>
                  </a:lnTo>
                  <a:lnTo>
                    <a:pt x="722376" y="213360"/>
                  </a:lnTo>
                  <a:lnTo>
                    <a:pt x="509016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820662" y="4168902"/>
              <a:ext cx="722630" cy="426720"/>
            </a:xfrm>
            <a:custGeom>
              <a:avLst/>
              <a:gdLst/>
              <a:ahLst/>
              <a:cxnLst/>
              <a:rect l="l" t="t" r="r" b="b"/>
              <a:pathLst>
                <a:path w="722629" h="426720">
                  <a:moveTo>
                    <a:pt x="0" y="106680"/>
                  </a:moveTo>
                  <a:lnTo>
                    <a:pt x="509016" y="106680"/>
                  </a:lnTo>
                  <a:lnTo>
                    <a:pt x="509016" y="0"/>
                  </a:lnTo>
                  <a:lnTo>
                    <a:pt x="722376" y="213360"/>
                  </a:lnTo>
                  <a:lnTo>
                    <a:pt x="509016" y="426720"/>
                  </a:lnTo>
                  <a:lnTo>
                    <a:pt x="509016" y="320040"/>
                  </a:lnTo>
                  <a:lnTo>
                    <a:pt x="0" y="320040"/>
                  </a:lnTo>
                  <a:lnTo>
                    <a:pt x="0" y="106680"/>
                  </a:lnTo>
                  <a:close/>
                </a:path>
              </a:pathLst>
            </a:custGeom>
            <a:ln w="19812">
              <a:solidFill>
                <a:srgbClr val="688E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1217269"/>
            <a:ext cx="10058400" cy="520091"/>
          </a:xfrm>
          <a:prstGeom prst="rect">
            <a:avLst/>
          </a:prstGeom>
        </p:spPr>
        <p:txBody>
          <a:bodyPr vert="horz" wrap="square" lIns="0" tIns="88341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05"/>
              </a:spcBef>
            </a:pPr>
            <a:r>
              <a:rPr lang="es-ES" sz="2800" dirty="0" smtClean="0"/>
              <a:t>        </a:t>
            </a:r>
            <a:r>
              <a:rPr sz="2800" dirty="0" smtClean="0"/>
              <a:t>FROTIS</a:t>
            </a:r>
            <a:r>
              <a:rPr sz="2800" spc="-45" dirty="0" smtClean="0"/>
              <a:t> </a:t>
            </a:r>
            <a:r>
              <a:rPr sz="2800" dirty="0"/>
              <a:t>DE</a:t>
            </a:r>
            <a:r>
              <a:rPr sz="2800" spc="-5" dirty="0"/>
              <a:t> </a:t>
            </a:r>
            <a:r>
              <a:rPr sz="2800" dirty="0"/>
              <a:t>SANGRE</a:t>
            </a:r>
            <a:r>
              <a:rPr sz="2800" spc="-30" dirty="0"/>
              <a:t> </a:t>
            </a:r>
            <a:r>
              <a:rPr sz="2800" dirty="0"/>
              <a:t>PERIFÉRICA</a:t>
            </a:r>
            <a:r>
              <a:rPr sz="2800" spc="-140" dirty="0"/>
              <a:t> </a:t>
            </a:r>
            <a:r>
              <a:rPr sz="2800" spc="-10" dirty="0"/>
              <a:t>NORMAL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1905000"/>
            <a:ext cx="8034528" cy="42550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874431"/>
            <a:ext cx="10058400" cy="862929"/>
          </a:xfrm>
          <a:prstGeom prst="rect">
            <a:avLst/>
          </a:prstGeom>
        </p:spPr>
        <p:txBody>
          <a:bodyPr vert="horz" wrap="square" lIns="0" tIns="427863" rIns="0" bIns="0" rtlCol="0">
            <a:spAutoFit/>
          </a:bodyPr>
          <a:lstStyle/>
          <a:p>
            <a:pPr marL="670560">
              <a:lnSpc>
                <a:spcPct val="100000"/>
              </a:lnSpc>
              <a:spcBef>
                <a:spcPts val="105"/>
              </a:spcBef>
            </a:pPr>
            <a:r>
              <a:rPr lang="es-ES" sz="2800" dirty="0" smtClean="0"/>
              <a:t>      </a:t>
            </a:r>
            <a:r>
              <a:rPr sz="2800" dirty="0" smtClean="0"/>
              <a:t>MICROSCOPÍA-</a:t>
            </a:r>
            <a:r>
              <a:rPr sz="2800" spc="-160" dirty="0" smtClean="0"/>
              <a:t> </a:t>
            </a:r>
            <a:r>
              <a:rPr sz="2800" dirty="0"/>
              <a:t>ANEMIA</a:t>
            </a:r>
            <a:r>
              <a:rPr sz="2800" spc="-135" dirty="0"/>
              <a:t> </a:t>
            </a:r>
            <a:r>
              <a:rPr sz="2800" spc="-10" dirty="0"/>
              <a:t>FERROPÉNICA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828800"/>
            <a:ext cx="6417564" cy="47030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18119" y="2738627"/>
            <a:ext cx="1876044" cy="1917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267200" y="387565"/>
            <a:ext cx="291782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 smtClean="0"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  <a:r>
              <a:rPr lang="es-ES" spc="-50" dirty="0" smtClean="0"/>
              <a:t/>
            </a:r>
            <a:br>
              <a:rPr lang="es-ES" spc="-50" dirty="0" smtClean="0"/>
            </a:br>
            <a:endParaRPr sz="2800"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756310" y="824864"/>
            <a:ext cx="8279765" cy="516102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900" spc="1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900" spc="40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24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Oral: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20"/>
              </a:spcBef>
              <a:buClr>
                <a:srgbClr val="90C225"/>
              </a:buClr>
              <a:buSzPct val="80000"/>
              <a:buFont typeface="Wingdings"/>
              <a:buChar char=""/>
              <a:tabLst>
                <a:tab pos="354965" algn="l"/>
              </a:tabLst>
            </a:pP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</a:t>
            </a:r>
            <a:r>
              <a:rPr sz="20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20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Sulfato</a:t>
            </a:r>
            <a:r>
              <a:rPr sz="20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Ferroso.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8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económica,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efectiva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usada.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sz="18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hay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intolerancia</a:t>
            </a:r>
            <a:r>
              <a:rPr sz="1800" spc="4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digestiva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(fumarato,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glutamato,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succinato).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6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Dosis: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comprimidos por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día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lejos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comidas,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jugo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naranjas.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Duración de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meses.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20"/>
              </a:spcBef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1800" b="1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USAR</a:t>
            </a:r>
            <a:r>
              <a:rPr sz="1800" b="1" spc="-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ALCALINOS,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CEREALES,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CONJUNTAMENTE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sz="1800" b="1" spc="-9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MEJORAR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TOLERANCIA.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1900" spc="1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900" spc="40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24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Intramuscular: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dextrano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bajo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molecular.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215"/>
              </a:spcBef>
              <a:buFont typeface="Wingdings"/>
              <a:buChar char=""/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Dosis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ampolla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profunda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día,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18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días.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2607" y="389077"/>
            <a:ext cx="28371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0" spc="165" dirty="0">
                <a:latin typeface="Lucida Sans Unicode"/>
                <a:cs typeface="Lucida Sans Unicode"/>
              </a:rPr>
              <a:t>▶</a:t>
            </a:r>
            <a:r>
              <a:rPr sz="1900" b="0" spc="405" dirty="0">
                <a:latin typeface="Lucida Sans Unicode"/>
                <a:cs typeface="Lucida Sans Unicode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2400" b="1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Endovenoso:</a:t>
            </a:r>
            <a:endParaRPr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2607" y="914400"/>
            <a:ext cx="8735695" cy="5312352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105"/>
              </a:spcBef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Carboximaltosa,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Hierro</a:t>
            </a:r>
            <a:r>
              <a:rPr sz="18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Sacarosa,</a:t>
            </a:r>
            <a:r>
              <a:rPr sz="18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Hierro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dextrano</a:t>
            </a:r>
            <a:r>
              <a:rPr sz="1800" b="1" spc="4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bajo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peso</a:t>
            </a:r>
            <a:r>
              <a:rPr sz="1800" b="1" spc="4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molecular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Usos:</a:t>
            </a:r>
            <a:endParaRPr sz="1800" dirty="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b="1" spc="-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Ferropénica</a:t>
            </a:r>
            <a:r>
              <a:rPr sz="1800" b="1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GRAVE.</a:t>
            </a:r>
            <a:endParaRPr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 marR="4475480">
              <a:lnSpc>
                <a:spcPts val="3170"/>
              </a:lnSpc>
              <a:spcBef>
                <a:spcPts val="26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Intolerancia 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vía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oral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intramuscular.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Enfermedad</a:t>
            </a:r>
            <a:r>
              <a:rPr sz="18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celíaca.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Cirugía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bariática.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Insuficiencia</a:t>
            </a:r>
            <a:r>
              <a:rPr sz="18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Cardíaca.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>
              <a:lnSpc>
                <a:spcPct val="100000"/>
              </a:lnSpc>
              <a:spcBef>
                <a:spcPts val="101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Insuficiencia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renal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crónica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junto</a:t>
            </a:r>
            <a:r>
              <a:rPr sz="1800" spc="-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eritropoyetina.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3700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Embarazo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(2ª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3ª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trimestre).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tabLst>
                <a:tab pos="3422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Dosis: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acuerdo al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nivel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hemoglobina</a:t>
            </a:r>
            <a:r>
              <a:rPr sz="1800" spc="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necesite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peso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paciente.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29845" algn="ctr">
              <a:lnSpc>
                <a:spcPct val="100000"/>
              </a:lnSpc>
              <a:spcBef>
                <a:spcPts val="1000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ampollas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diluidas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100ml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fisiológica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pasar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1hs.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5567045" algn="ctr">
              <a:lnSpc>
                <a:spcPct val="100000"/>
              </a:lnSpc>
              <a:spcBef>
                <a:spcPts val="994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veces por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semana.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7280" y="875073"/>
            <a:ext cx="10058400" cy="862287"/>
          </a:xfrm>
          <a:prstGeom prst="rect">
            <a:avLst/>
          </a:prstGeom>
        </p:spPr>
        <p:txBody>
          <a:bodyPr vert="horz" wrap="square" lIns="0" tIns="427228" rIns="0" bIns="0" rtlCol="0">
            <a:spAutoFit/>
          </a:bodyPr>
          <a:lstStyle/>
          <a:p>
            <a:pPr marL="1346835">
              <a:lnSpc>
                <a:spcPct val="100000"/>
              </a:lnSpc>
              <a:spcBef>
                <a:spcPts val="100"/>
              </a:spcBef>
            </a:pPr>
            <a:r>
              <a:rPr lang="es-ES" sz="2800" dirty="0" smtClean="0"/>
              <a:t>        </a:t>
            </a:r>
            <a:r>
              <a:rPr sz="2800" dirty="0" smtClean="0"/>
              <a:t>FROTIS</a:t>
            </a:r>
            <a:r>
              <a:rPr sz="2800" spc="-60" dirty="0" smtClean="0"/>
              <a:t> </a:t>
            </a:r>
            <a:r>
              <a:rPr sz="2800" dirty="0"/>
              <a:t>DE</a:t>
            </a:r>
            <a:r>
              <a:rPr sz="2800" spc="-60" dirty="0"/>
              <a:t> </a:t>
            </a:r>
            <a:r>
              <a:rPr sz="2800" spc="-10" dirty="0"/>
              <a:t>RETICULOCITOS</a:t>
            </a:r>
            <a:endParaRPr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99" y="1828800"/>
            <a:ext cx="7391401" cy="427329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2514600"/>
            <a:ext cx="10058400" cy="1450757"/>
          </a:xfrm>
        </p:spPr>
        <p:txBody>
          <a:bodyPr/>
          <a:lstStyle/>
          <a:p>
            <a:r>
              <a:rPr lang="es-ES" dirty="0" smtClean="0"/>
              <a:t>                        MUCHAS GRACIAS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6647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Rectángulo 2"/>
          <p:cNvSpPr/>
          <p:nvPr/>
        </p:nvSpPr>
        <p:spPr>
          <a:xfrm>
            <a:off x="1981200" y="3244334"/>
            <a:ext cx="90373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lang="es-ES" sz="2800" b="1" spc="-1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 ENFERMEDADES</a:t>
            </a:r>
            <a:r>
              <a:rPr lang="es-ES" sz="2800" b="1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b="1" spc="-10" dirty="0" smtClean="0">
                <a:latin typeface="Arial" panose="020B0604020202020204" pitchFamily="34" charset="0"/>
                <a:cs typeface="Arial" panose="020B0604020202020204" pitchFamily="34" charset="0"/>
              </a:rPr>
              <a:t>CRÓNICAS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0666512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66800" y="170343"/>
            <a:ext cx="10058400" cy="862929"/>
          </a:xfrm>
          <a:prstGeom prst="rect">
            <a:avLst/>
          </a:prstGeom>
        </p:spPr>
        <p:txBody>
          <a:bodyPr vert="horz" wrap="square" lIns="0" tIns="427863" rIns="0" bIns="0" rtlCol="0">
            <a:spAutoFit/>
          </a:bodyPr>
          <a:lstStyle/>
          <a:p>
            <a:pPr marL="481330">
              <a:lnSpc>
                <a:spcPct val="100000"/>
              </a:lnSpc>
              <a:spcBef>
                <a:spcPts val="105"/>
              </a:spcBef>
            </a:pPr>
            <a:r>
              <a:rPr lang="es-E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2800" b="1" spc="-14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DE ENFERMEDADES</a:t>
            </a:r>
            <a:r>
              <a:rPr sz="2800"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CRÓNICAS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221740"/>
            <a:ext cx="8441690" cy="2357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Asociada</a:t>
            </a:r>
            <a:r>
              <a:rPr sz="1800" b="1" spc="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trastornos</a:t>
            </a:r>
            <a:r>
              <a:rPr sz="1800" b="1" spc="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crónicos:</a:t>
            </a:r>
            <a:r>
              <a:rPr sz="1800" b="1" spc="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sz="1800" spc="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1800" spc="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infecciones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800" spc="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diabetes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800" spc="6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obesidad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neoplasias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insuficiencia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renal</a:t>
            </a:r>
            <a:r>
              <a:rPr sz="1800" b="1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trastornos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inmunitario.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994"/>
              </a:spcBef>
              <a:tabLst>
                <a:tab pos="342265" algn="l"/>
                <a:tab pos="1640839" algn="l"/>
                <a:tab pos="2153285" algn="l"/>
                <a:tab pos="2587625" algn="l"/>
                <a:tab pos="3900170" algn="l"/>
                <a:tab pos="4831080" algn="l"/>
                <a:tab pos="5203190" algn="l"/>
                <a:tab pos="5637530" algn="l"/>
                <a:tab pos="7012305" algn="l"/>
                <a:tab pos="752284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Activación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inmunidad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celular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5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producción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citocinas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proinflamatorias.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715" algn="ctr">
              <a:lnSpc>
                <a:spcPct val="100000"/>
              </a:lnSpc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45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sz="1800" spc="15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macrófagos</a:t>
            </a:r>
            <a:r>
              <a:rPr sz="1800" spc="1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activados</a:t>
            </a:r>
            <a:r>
              <a:rPr sz="1800" spc="1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</a:t>
            </a:r>
            <a:r>
              <a:rPr sz="1800" spc="16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eritrofagocíticos</a:t>
            </a:r>
            <a:r>
              <a:rPr sz="1800" spc="18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14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secretan</a:t>
            </a:r>
            <a:r>
              <a:rPr sz="1800" spc="1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citocinas,</a:t>
            </a:r>
            <a:r>
              <a:rPr sz="1800" spc="17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</a:t>
            </a:r>
            <a:r>
              <a:rPr sz="1800" spc="17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necrosis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tumoral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(TNF),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reducen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eritropoyesis</a:t>
            </a:r>
            <a:r>
              <a:rPr sz="1800" spc="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1800" spc="-4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vida</a:t>
            </a:r>
            <a:r>
              <a:rPr sz="1800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eritrocito.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310" y="4098163"/>
            <a:ext cx="186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2851" y="3928745"/>
            <a:ext cx="4343400" cy="163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marR="5080" indent="-12700">
              <a:lnSpc>
                <a:spcPct val="146300"/>
              </a:lnSpc>
              <a:spcBef>
                <a:spcPts val="95"/>
              </a:spcBef>
            </a:pP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sz="1800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Normocítica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Normocrómica.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Responde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</a:t>
            </a:r>
            <a:r>
              <a:rPr sz="1800" b="1" spc="-2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1800" b="1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hierro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1800" spc="-3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corrige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  <a:r>
              <a:rPr sz="1800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1800" spc="-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spc="-1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causa.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sz="1800" b="1" spc="-3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eritropoyetina</a:t>
            </a:r>
            <a:r>
              <a:rPr sz="1800" b="1" spc="-25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(EPO)</a:t>
            </a:r>
            <a:endParaRPr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310" y="4498975"/>
            <a:ext cx="186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6310" y="4900040"/>
            <a:ext cx="186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6310" y="5302377"/>
            <a:ext cx="18669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55317" y="460489"/>
            <a:ext cx="574103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DIAGNÓSTICO</a:t>
            </a:r>
            <a:r>
              <a:rPr sz="24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spc="-10" dirty="0">
                <a:latin typeface="Arial" panose="020B0604020202020204" pitchFamily="34" charset="0"/>
                <a:cs typeface="Arial" panose="020B0604020202020204" pitchFamily="34" charset="0"/>
              </a:rPr>
              <a:t>DIFERENCIAL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762000"/>
            <a:ext cx="9144000" cy="5404685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9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Anemia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Ferropénica</a:t>
            </a:r>
            <a:endParaRPr sz="24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25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Hierro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sérico: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bajo.</a:t>
            </a: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Ferritina: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baja.</a:t>
            </a: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Transferrina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sérica: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aumentada</a:t>
            </a:r>
            <a:r>
              <a:rPr sz="1800" b="1" spc="-5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o</a:t>
            </a:r>
            <a:r>
              <a:rPr sz="1800" b="1" spc="-10" dirty="0">
                <a:solidFill>
                  <a:srgbClr val="539F20"/>
                </a:solidFill>
                <a:latin typeface="Arial"/>
                <a:cs typeface="Arial"/>
              </a:rPr>
              <a:t> normal.</a:t>
            </a: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010"/>
              </a:spcBef>
              <a:buClr>
                <a:srgbClr val="90C225"/>
              </a:buClr>
              <a:buSzPct val="80555"/>
              <a:buFont typeface="Wingdings"/>
              <a:buChar char=""/>
              <a:tabLst>
                <a:tab pos="354965" algn="l"/>
              </a:tabLst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Receptores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para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la</a:t>
            </a:r>
            <a:r>
              <a:rPr sz="1800" b="1" spc="-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transferrina</a:t>
            </a:r>
            <a:r>
              <a:rPr sz="18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séricos:</a:t>
            </a:r>
            <a:r>
              <a:rPr sz="18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/>
                <a:cs typeface="Arial"/>
              </a:rPr>
              <a:t>aumentados.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38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Anemia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de</a:t>
            </a:r>
            <a:r>
              <a:rPr sz="2400" b="1" spc="-15" dirty="0">
                <a:solidFill>
                  <a:srgbClr val="404040"/>
                </a:solidFill>
                <a:latin typeface="Arial"/>
                <a:cs typeface="Arial"/>
              </a:rPr>
              <a:t>  </a:t>
            </a:r>
            <a:r>
              <a:rPr sz="2400" b="1" dirty="0">
                <a:solidFill>
                  <a:srgbClr val="404040"/>
                </a:solidFill>
                <a:latin typeface="Arial"/>
                <a:cs typeface="Arial"/>
              </a:rPr>
              <a:t>Enfermedades</a:t>
            </a:r>
            <a:r>
              <a:rPr sz="24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404040"/>
                </a:solidFill>
                <a:latin typeface="Arial"/>
                <a:cs typeface="Arial"/>
              </a:rPr>
              <a:t>Crónicas: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Hierro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sérico: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bajo.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Ferritina: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aumentada</a:t>
            </a:r>
            <a:r>
              <a:rPr sz="1800" b="1" spc="-15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/>
                <a:cs typeface="Arial"/>
              </a:rPr>
              <a:t>normal.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Transferrina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sérica:</a:t>
            </a:r>
            <a:r>
              <a:rPr sz="18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reducida</a:t>
            </a:r>
            <a:r>
              <a:rPr sz="1800" b="1" spc="-15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o</a:t>
            </a:r>
            <a:r>
              <a:rPr sz="1800" b="1" spc="-25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/>
                <a:cs typeface="Arial"/>
              </a:rPr>
              <a:t>normal.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450" spc="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45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Receptores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para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la</a:t>
            </a:r>
            <a:r>
              <a:rPr sz="1800" b="1" spc="-2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transferrina</a:t>
            </a:r>
            <a:r>
              <a:rPr sz="1800" b="1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séricos:</a:t>
            </a:r>
            <a:r>
              <a:rPr sz="1800" b="1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reducidos</a:t>
            </a:r>
            <a:r>
              <a:rPr sz="1800" b="1" spc="-30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39F20"/>
                </a:solidFill>
                <a:latin typeface="Arial"/>
                <a:cs typeface="Arial"/>
              </a:rPr>
              <a:t>o</a:t>
            </a:r>
            <a:r>
              <a:rPr sz="1800" b="1" spc="-15" dirty="0">
                <a:solidFill>
                  <a:srgbClr val="539F2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39F20"/>
                </a:solidFill>
                <a:latin typeface="Arial"/>
                <a:cs typeface="Arial"/>
              </a:rPr>
              <a:t>normales.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94"/>
              </a:spcBef>
            </a:pP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Enfermedad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crónica</a:t>
            </a:r>
            <a:r>
              <a:rPr sz="1800" b="1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NO</a:t>
            </a:r>
            <a:r>
              <a:rPr sz="1800" b="1" spc="-1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hay</a:t>
            </a:r>
            <a:r>
              <a:rPr sz="1800" b="1" spc="-2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carencia</a:t>
            </a:r>
            <a:r>
              <a:rPr sz="1800" b="1" spc="-5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de</a:t>
            </a:r>
            <a:r>
              <a:rPr sz="1800" b="1" spc="-20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6FC0"/>
                </a:solidFill>
                <a:latin typeface="Arial"/>
                <a:cs typeface="Arial"/>
              </a:rPr>
              <a:t>hierro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,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sólo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404040"/>
                </a:solidFill>
                <a:latin typeface="Arial"/>
                <a:cs typeface="Arial"/>
              </a:rPr>
              <a:t>un</a:t>
            </a:r>
            <a:r>
              <a:rPr sz="1800" b="1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defecto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en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la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capacidad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utilizar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los</a:t>
            </a:r>
            <a:r>
              <a:rPr sz="1800" b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depósitos</a:t>
            </a:r>
            <a:r>
              <a:rPr sz="18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00"/>
                </a:solidFill>
                <a:latin typeface="Arial"/>
                <a:cs typeface="Arial"/>
              </a:rPr>
              <a:t>de</a:t>
            </a:r>
            <a:r>
              <a:rPr sz="1800" b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Arial"/>
                <a:cs typeface="Arial"/>
              </a:rPr>
              <a:t>hierro.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66160" y="381000"/>
            <a:ext cx="475488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ANEMIA</a:t>
            </a:r>
            <a:r>
              <a:rPr lang="es-ES" sz="2800" b="1" dirty="0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b="1" spc="-10" dirty="0" smtClean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SIDEROBLÁSTICA</a:t>
            </a:r>
            <a:endParaRPr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14400" y="983855"/>
            <a:ext cx="10058400" cy="53097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93700" algn="l"/>
              </a:tabLst>
            </a:pPr>
            <a:r>
              <a:rPr sz="1600" b="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b="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Microcítica.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5"/>
              </a:spcBef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tabLst>
                <a:tab pos="393700" algn="l"/>
              </a:tabLst>
            </a:pPr>
            <a:r>
              <a:rPr sz="1600" b="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b="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Puede</a:t>
            </a:r>
            <a:r>
              <a:rPr b="1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hereditaria</a:t>
            </a:r>
            <a:r>
              <a:rPr b="1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0" dirty="0">
                <a:latin typeface="Arial" panose="020B0604020202020204" pitchFamily="34" charset="0"/>
                <a:cs typeface="Arial" panose="020B0604020202020204" pitchFamily="34" charset="0"/>
              </a:rPr>
              <a:t>adquirida.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  <a:tabLst>
                <a:tab pos="393700" algn="l"/>
              </a:tabLst>
            </a:pPr>
            <a:r>
              <a:rPr sz="1600" b="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b="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b="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refractaria</a:t>
            </a:r>
            <a:r>
              <a:rPr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b="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  <a:r>
              <a:rPr b="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b="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spc="-10" dirty="0"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tabLst>
                <a:tab pos="393700" algn="l"/>
              </a:tabLst>
            </a:pPr>
            <a:r>
              <a:rPr sz="1600" b="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b="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Aumento</a:t>
            </a:r>
            <a:r>
              <a:rPr b="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b="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hierro</a:t>
            </a:r>
            <a:r>
              <a:rPr b="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b="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la</a:t>
            </a:r>
            <a:r>
              <a:rPr b="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médula</a:t>
            </a:r>
            <a:r>
              <a:rPr b="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spc="-10" dirty="0">
                <a:latin typeface="Arial" panose="020B0604020202020204" pitchFamily="34" charset="0"/>
                <a:cs typeface="Arial" panose="020B0604020202020204" pitchFamily="34" charset="0"/>
              </a:rPr>
              <a:t>ósea.</a:t>
            </a: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110"/>
              </a:spcBef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tabLst>
                <a:tab pos="393700" algn="l"/>
              </a:tabLst>
            </a:pPr>
            <a:r>
              <a:rPr sz="1600" b="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b="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Presencia</a:t>
            </a:r>
            <a:r>
              <a:rPr b="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b="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sideroblastos</a:t>
            </a:r>
            <a:r>
              <a:rPr b="1" spc="-4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b="1" spc="-5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spc="-10" dirty="0">
                <a:solidFill>
                  <a:srgbClr val="539F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anillo.</a:t>
            </a:r>
            <a:endParaRPr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95"/>
              </a:spcBef>
            </a:pPr>
            <a:endParaRPr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tabLst>
                <a:tab pos="393700" algn="l"/>
              </a:tabLst>
            </a:pPr>
            <a:r>
              <a:rPr sz="1600" b="0" spc="75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▶</a:t>
            </a:r>
            <a:r>
              <a:rPr sz="1600" b="0" dirty="0">
                <a:solidFill>
                  <a:srgbClr val="90C22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Responden</a:t>
            </a:r>
            <a:r>
              <a:rPr b="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al</a:t>
            </a:r>
            <a:r>
              <a:rPr b="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tratamiento</a:t>
            </a:r>
            <a:r>
              <a:rPr b="0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0" dirty="0">
                <a:latin typeface="Arial" panose="020B0604020202020204" pitchFamily="34" charset="0"/>
                <a:cs typeface="Arial" panose="020B0604020202020204" pitchFamily="34" charset="0"/>
              </a:rPr>
              <a:t>con</a:t>
            </a:r>
            <a:r>
              <a:rPr b="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vitamina</a:t>
            </a:r>
            <a:r>
              <a:rPr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950" spc="-37" baseline="-21367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endParaRPr sz="1950" baseline="-213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</TotalTime>
  <Words>724</Words>
  <Application>Microsoft Office PowerPoint</Application>
  <PresentationFormat>Panorámica</PresentationFormat>
  <Paragraphs>320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1" baseType="lpstr">
      <vt:lpstr>Arial</vt:lpstr>
      <vt:lpstr>Arial MT</vt:lpstr>
      <vt:lpstr>Calibri</vt:lpstr>
      <vt:lpstr>Calibri Light</vt:lpstr>
      <vt:lpstr>Lucida Sans Unicode</vt:lpstr>
      <vt:lpstr>Wingdings</vt:lpstr>
      <vt:lpstr>Retrospección</vt:lpstr>
      <vt:lpstr>MEDICINA INTERNA III  </vt:lpstr>
      <vt:lpstr>HEMATOLOGÍA</vt:lpstr>
      <vt:lpstr>HEMATOPOYESIS</vt:lpstr>
      <vt:lpstr>HEMATOPOYESIS</vt:lpstr>
      <vt:lpstr>TIMO deriva del griego “thymos” y significa energía vital</vt:lpstr>
      <vt:lpstr>TIMO</vt:lpstr>
      <vt:lpstr>MÉDULA ÓSEA</vt:lpstr>
      <vt:lpstr>HEMATOPOYESIS</vt:lpstr>
      <vt:lpstr>¿QUÉ ESTUDIA LA HEMATRIMETRÍA?</vt:lpstr>
      <vt:lpstr>HEMOGRAMA</vt:lpstr>
      <vt:lpstr>ABORDAJE DE UN PACIENTE HEMATOLÓGICO</vt:lpstr>
      <vt:lpstr>ANEMIA</vt:lpstr>
      <vt:lpstr>MANIFESTACIONES COMUNES</vt:lpstr>
      <vt:lpstr>METABOLISMO DEL HIERRO</vt:lpstr>
      <vt:lpstr>COMPARTIMIENTOS DEL HIERRO</vt:lpstr>
      <vt:lpstr>NECESIDADES DIARIAS DE  HIERRO</vt:lpstr>
      <vt:lpstr>       FUENTES DE HIERRO</vt:lpstr>
      <vt:lpstr>ANEMIA FERROPÉNICA</vt:lpstr>
      <vt:lpstr>CAUSAS  DE ANEMIA FERROPÉNICA</vt:lpstr>
      <vt:lpstr>Disminución de la ingesta de hierro:</vt:lpstr>
      <vt:lpstr>Aumento de las necesidades de hierro:</vt:lpstr>
      <vt:lpstr>MANIFESTACIONES CLÍNICAS ESPECÍFICAS</vt:lpstr>
      <vt:lpstr>MÉTODOS COMPLEMENTARIOS</vt:lpstr>
      <vt:lpstr>ANEMIA HIPOCRÓMICA MICROCÍTICA</vt:lpstr>
      <vt:lpstr>        FROTIS DE SANGRE PERIFÉRICA NORMAL</vt:lpstr>
      <vt:lpstr>      MICROSCOPÍA- ANEMIA FERROPÉNICA</vt:lpstr>
      <vt:lpstr>TRATAMIENTO </vt:lpstr>
      <vt:lpstr>▶ Vía Endovenoso:</vt:lpstr>
      <vt:lpstr>        FROTIS DE RETICULOCITOS</vt:lpstr>
      <vt:lpstr>                        MUCHAS GRACIAS</vt:lpstr>
      <vt:lpstr>Presentación de PowerPoint</vt:lpstr>
      <vt:lpstr>       ANEMIA DE ENFERMEDADES CRÓNICAS</vt:lpstr>
      <vt:lpstr>DIAGNÓSTICO DIFERENCIAL</vt:lpstr>
      <vt:lpstr>ANEMIA SIDEROBLÁSTICA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MEDICINA INTERNA III</dc:title>
  <dc:creator>Susana Tortosa</dc:creator>
  <cp:lastModifiedBy>roberto mario pelayes</cp:lastModifiedBy>
  <cp:revision>13</cp:revision>
  <dcterms:created xsi:type="dcterms:W3CDTF">2026-07-24T16:57:34Z</dcterms:created>
  <dcterms:modified xsi:type="dcterms:W3CDTF">2026-07-28T17:44:06Z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2023-08-25T00:00:00Z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2016</vt:lpwstr>
  </property>
</Properties>
</file>