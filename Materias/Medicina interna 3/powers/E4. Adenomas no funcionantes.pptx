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3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88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16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5f9f2d5f38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5f9f2d5f38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5f9f2d5f38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5f9f2d5f38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5f9f2d5f38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5f9f2d5f38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5f9f2d5f38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5f9f2d5f38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5f9f2d5f3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5f9f2d5f3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5f9f2d5f38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5f9f2d5f38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5f9f2d5f3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5f9f2d5f3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5f9f2d5f38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5f9f2d5f38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5f9f2d5f38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5f9f2d5f38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5f9f2d5f38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5f9f2d5f38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5f9f2d5f38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5f9f2d5f38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5f9f2d5f38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5f9f2d5f38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5f9f2d5f38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5f9f2d5f38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5f9f2d5f38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5f9f2d5f38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5f9f2d5f38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5f9f2d5f38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5f9f2d5f38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5f9f2d5f38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5f9f2d5f38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5f9f2d5f38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5f9f2d5f38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5f9f2d5f38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5f9f2d5f38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5f9f2d5f38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5f9f2d5f38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5f9f2d5f38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5f9f2d5f38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5f9f2d5f38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5f9f2d5f38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5f9f2d5f38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5f9f2d5f38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5f9f2d5f38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5f9f2d5f38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5f9f2d5f38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5f9f2d5f38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5f9f2d5f38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5f9f2d5f38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5f9f2d5f38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5f9f2d5f38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5f9f2d5f38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5f9f2d5f38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5f9f2d5f38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5f9f2d5f38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5f9f2d5f38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5f9f2d5f38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5f9f2d5f38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5fdd95304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5fdd95304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55650" y="0"/>
            <a:ext cx="5950761" cy="51435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706411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8856" y="2571749"/>
            <a:ext cx="4138550" cy="1701419"/>
          </a:xfrm>
        </p:spPr>
        <p:txBody>
          <a:bodyPr anchor="t">
            <a:normAutofit/>
          </a:bodyPr>
          <a:lstStyle>
            <a:lvl1pPr algn="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79206" y="1701590"/>
            <a:ext cx="4018200" cy="870160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35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  <p:sp>
        <p:nvSpPr>
          <p:cNvPr id="13" name="TextBox 12"/>
          <p:cNvSpPr txBox="1"/>
          <p:nvPr/>
        </p:nvSpPr>
        <p:spPr>
          <a:xfrm>
            <a:off x="1643462" y="2447139"/>
            <a:ext cx="31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8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70031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  <p:sp>
        <p:nvSpPr>
          <p:cNvPr id="7" name="TextBox 6"/>
          <p:cNvSpPr txBox="1"/>
          <p:nvPr/>
        </p:nvSpPr>
        <p:spPr>
          <a:xfrm>
            <a:off x="1646207" y="480919"/>
            <a:ext cx="31172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5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75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57492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1643882" y="2221939"/>
            <a:ext cx="31172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5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75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7405" y="2360440"/>
            <a:ext cx="5967420" cy="1068560"/>
          </a:xfrm>
        </p:spPr>
        <p:txBody>
          <a:bodyPr anchor="t">
            <a:normAutofit/>
          </a:bodyPr>
          <a:lstStyle>
            <a:lvl1pPr algn="r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0477" y="1701590"/>
            <a:ext cx="5843948" cy="658851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4788885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7405" y="604363"/>
            <a:ext cx="5963238" cy="81127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54031" y="1539087"/>
            <a:ext cx="2918970" cy="2998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9977" y="1539086"/>
            <a:ext cx="2920667" cy="29983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8/3/2026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  <p:sp>
        <p:nvSpPr>
          <p:cNvPr id="10" name="TextBox 9"/>
          <p:cNvSpPr txBox="1"/>
          <p:nvPr/>
        </p:nvSpPr>
        <p:spPr>
          <a:xfrm>
            <a:off x="1647129" y="480917"/>
            <a:ext cx="31172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5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75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729697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1645238" y="477318"/>
            <a:ext cx="31172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5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75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7405" y="604364"/>
            <a:ext cx="5967420" cy="8087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56964" y="1539086"/>
            <a:ext cx="2922350" cy="535364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650" b="0" cap="none" baseline="0">
                <a:solidFill>
                  <a:schemeClr val="accent6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56964" y="2138498"/>
            <a:ext cx="2920217" cy="230357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99975" y="1539086"/>
            <a:ext cx="2924849" cy="535364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650" b="0" cap="none" baseline="0">
                <a:solidFill>
                  <a:schemeClr val="accent6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99976" y="2138498"/>
            <a:ext cx="2924849" cy="230357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8/3/2026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2510209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8/3/2026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  <p:sp>
        <p:nvSpPr>
          <p:cNvPr id="8" name="TextBox 7"/>
          <p:cNvSpPr txBox="1"/>
          <p:nvPr/>
        </p:nvSpPr>
        <p:spPr>
          <a:xfrm>
            <a:off x="1647129" y="480919"/>
            <a:ext cx="31172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5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75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83326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8/3/2026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4119701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165616" y="845662"/>
            <a:ext cx="31172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5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75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7743" y="961839"/>
            <a:ext cx="1998271" cy="1427431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0115" y="604363"/>
            <a:ext cx="4084709" cy="3933095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7742" y="2389616"/>
            <a:ext cx="1998271" cy="1789798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8/3/2026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936339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60296" y="2422"/>
            <a:ext cx="3472301" cy="51435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166015" y="845662"/>
            <a:ext cx="31172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5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75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8430" y="961839"/>
            <a:ext cx="2978240" cy="1425355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7741" y="2387196"/>
            <a:ext cx="2978906" cy="1789796"/>
          </a:xfrm>
        </p:spPr>
        <p:txBody>
          <a:bodyPr>
            <a:normAutofit/>
          </a:bodyPr>
          <a:lstStyle>
            <a:lvl1pPr marL="0" indent="0" algn="l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8/3/2026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8395463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1645677" y="480919"/>
            <a:ext cx="31172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5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75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8857" y="606042"/>
            <a:ext cx="5965568" cy="80792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8449265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7752856" y="300504"/>
            <a:ext cx="31172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5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75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29536" y="604363"/>
            <a:ext cx="994889" cy="393309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6564" y="727807"/>
            <a:ext cx="4850177" cy="380965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6721914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09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6" y="1578901"/>
            <a:ext cx="7020154" cy="356459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2400" cy="51435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723131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58857" y="606042"/>
            <a:ext cx="5968748" cy="8079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0199" y="1539087"/>
            <a:ext cx="5847405" cy="29983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607549" y="3952953"/>
            <a:ext cx="1997047" cy="13716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5586B75A-687E-405C-8A0B-8D00578BA2C3}" type="datetimeFigureOut">
              <a:rPr lang="en-US" smtClean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1677848" y="2745858"/>
            <a:ext cx="4414014" cy="134382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8806" y="123445"/>
            <a:ext cx="477545" cy="242138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  <p:sp>
        <p:nvSpPr>
          <p:cNvPr id="57" name="Rectangle 56"/>
          <p:cNvSpPr/>
          <p:nvPr/>
        </p:nvSpPr>
        <p:spPr>
          <a:xfrm>
            <a:off x="721532" y="0"/>
            <a:ext cx="34289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720799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sldNum="0" hdr="0" ftr="0" dt="0"/>
  <p:txStyles>
    <p:titleStyle>
      <a:lvl1pPr algn="r" defTabSz="685800" rtl="0" eaLnBrk="1" latinLnBrk="0" hangingPunct="1">
        <a:lnSpc>
          <a:spcPct val="90000"/>
        </a:lnSpc>
        <a:spcBef>
          <a:spcPct val="0"/>
        </a:spcBef>
        <a:buNone/>
        <a:defRPr sz="255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58366" indent="-258366" algn="l" defTabSz="685800" rtl="0" eaLnBrk="1" latinLnBrk="0" hangingPunct="1">
        <a:lnSpc>
          <a:spcPct val="120000"/>
        </a:lnSpc>
        <a:spcBef>
          <a:spcPts val="750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96504" indent="-253604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35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44166" indent="-25836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82304" indent="-253604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05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629966" indent="-25836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981962" indent="-25374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331720" indent="-25374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681478" indent="-25374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031236" indent="-25374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480457" y="1529180"/>
            <a:ext cx="4649605" cy="208514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ADENOMAS 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NO FUNCIONANTES DE HIPÓFISIS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6705601" y="1809750"/>
            <a:ext cx="2438399" cy="15240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s" sz="1840" b="1" dirty="0">
                <a:solidFill>
                  <a:srgbClr val="000000"/>
                </a:solidFill>
              </a:rPr>
              <a:t>CÁTEDRA MEDICINA INTERNA III</a:t>
            </a:r>
            <a:endParaRPr sz="1840" b="1" dirty="0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s" sz="1840" b="1" dirty="0">
                <a:solidFill>
                  <a:srgbClr val="000000"/>
                </a:solidFill>
              </a:rPr>
              <a:t>ENDOCRINOLOGÍA</a:t>
            </a:r>
            <a:endParaRPr sz="1840" b="1" dirty="0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s" sz="1840" b="1" dirty="0">
                <a:solidFill>
                  <a:srgbClr val="000000"/>
                </a:solidFill>
              </a:rPr>
              <a:t>Dr. </a:t>
            </a:r>
            <a:r>
              <a:rPr lang="es-MX" sz="1840" b="1" dirty="0">
                <a:solidFill>
                  <a:srgbClr val="000000"/>
                </a:solidFill>
              </a:rPr>
              <a:t>Franco Bellomo</a:t>
            </a:r>
            <a:endParaRPr sz="1840" b="1" dirty="0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s" sz="1840" b="1" dirty="0">
                <a:solidFill>
                  <a:srgbClr val="000000"/>
                </a:solidFill>
              </a:rPr>
              <a:t>2026</a:t>
            </a:r>
            <a:endParaRPr sz="184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175604"/>
            <a:ext cx="8520600" cy="572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/>
              <a:t>EPIDEMIOLOGÍA</a:t>
            </a:r>
            <a:endParaRPr b="1"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623400" y="1152475"/>
            <a:ext cx="8520600" cy="36771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</a:pPr>
            <a:r>
              <a:rPr lang="es" b="1" dirty="0"/>
              <a:t>Son adenomas hipofisarios que no segregan ninguna hormona hipofisaria en exceso;</a:t>
            </a:r>
            <a:endParaRPr b="1" dirty="0"/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</a:pPr>
            <a:r>
              <a:rPr lang="es" dirty="0">
                <a:solidFill>
                  <a:srgbClr val="000000"/>
                </a:solidFill>
              </a:rPr>
              <a:t>La etiología de los (ANFH) sigue sin estar aclarada, aunque la mayoría de estos tumores hipofisarios posiblemente sean derivados de una mutación celular con la consiguiente expansión monoclonal.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dirty="0">
                <a:solidFill>
                  <a:srgbClr val="000000"/>
                </a:solidFill>
              </a:rPr>
              <a:t>	Posibles alteraciones moleculares:</a:t>
            </a:r>
            <a:endParaRPr dirty="0">
              <a:solidFill>
                <a:srgbClr val="000000"/>
              </a:solidFill>
            </a:endParaRPr>
          </a:p>
          <a:p>
            <a:pPr marL="914400" lvl="0" indent="-3429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s" dirty="0">
                <a:solidFill>
                  <a:srgbClr val="000000"/>
                </a:solidFill>
              </a:rPr>
              <a:t>mutacion del gen regulador GNAS</a:t>
            </a:r>
            <a:endParaRPr dirty="0">
              <a:solidFill>
                <a:srgbClr val="000000"/>
              </a:solidFill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s" dirty="0">
                <a:solidFill>
                  <a:srgbClr val="000000"/>
                </a:solidFill>
              </a:rPr>
              <a:t>alteraciones en genes supresores tumorales como el MEG3</a:t>
            </a:r>
            <a:endParaRPr dirty="0">
              <a:solidFill>
                <a:srgbClr val="000000"/>
              </a:solidFill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s" dirty="0">
                <a:solidFill>
                  <a:srgbClr val="000000"/>
                </a:solidFill>
              </a:rPr>
              <a:t>el gen transformador de tumor hipofisario (PTTG)</a:t>
            </a:r>
            <a:endParaRPr dirty="0">
              <a:solidFill>
                <a:srgbClr val="000000"/>
              </a:solidFill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s" dirty="0">
                <a:solidFill>
                  <a:srgbClr val="000000"/>
                </a:solidFill>
              </a:rPr>
              <a:t>deficiencia del gen de la apoptosis tumoral hipofisaria.</a:t>
            </a:r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158675"/>
            <a:ext cx="8520600" cy="572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/>
              <a:t>EPIDEMIOLOGÍA</a:t>
            </a:r>
            <a:endParaRPr b="1" dirty="0"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703585" y="1282075"/>
            <a:ext cx="8520600" cy="34164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</a:pPr>
            <a:r>
              <a:rPr lang="es" dirty="0">
                <a:solidFill>
                  <a:srgbClr val="000000"/>
                </a:solidFill>
              </a:rPr>
              <a:t>Representan aproximadamente el 25-37% del total de los adenomas de hipófisis;</a:t>
            </a:r>
            <a:endParaRPr dirty="0">
              <a:solidFill>
                <a:srgbClr val="000000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</a:pPr>
            <a:r>
              <a:rPr lang="es" dirty="0">
                <a:solidFill>
                  <a:srgbClr val="000000"/>
                </a:solidFill>
              </a:rPr>
              <a:t>67-90% son macroadenomas (&gt;10mm);</a:t>
            </a:r>
            <a:endParaRPr dirty="0">
              <a:solidFill>
                <a:srgbClr val="000000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</a:pPr>
            <a:r>
              <a:rPr lang="es" dirty="0">
                <a:solidFill>
                  <a:srgbClr val="000000"/>
                </a:solidFill>
              </a:rPr>
              <a:t>Ambos sexos</a:t>
            </a:r>
            <a:endParaRPr dirty="0">
              <a:solidFill>
                <a:srgbClr val="000000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</a:pPr>
            <a:r>
              <a:rPr lang="es" dirty="0">
                <a:solidFill>
                  <a:srgbClr val="000000"/>
                </a:solidFill>
              </a:rPr>
              <a:t>Edad media al Dx 51.5 años (rango 19 a 79 años);</a:t>
            </a:r>
            <a:endParaRPr dirty="0">
              <a:solidFill>
                <a:srgbClr val="000000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</a:pPr>
            <a:r>
              <a:rPr lang="es" dirty="0">
                <a:solidFill>
                  <a:srgbClr val="000000"/>
                </a:solidFill>
              </a:rPr>
              <a:t>Incidencia: 4,5 por millón al año;</a:t>
            </a:r>
            <a:endParaRPr dirty="0">
              <a:solidFill>
                <a:srgbClr val="000000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</a:pPr>
            <a:r>
              <a:rPr lang="es" dirty="0">
                <a:solidFill>
                  <a:srgbClr val="000000"/>
                </a:solidFill>
              </a:rPr>
              <a:t>Prevalencia : 50 por millón.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/>
              <a:t>FISIOPATOLOGÍA</a:t>
            </a:r>
            <a:endParaRPr b="1" dirty="0"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855986" y="1023079"/>
            <a:ext cx="8520600" cy="33411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 dirty="0">
                <a:solidFill>
                  <a:srgbClr val="000000"/>
                </a:solidFill>
              </a:rPr>
              <a:t>Crecimiento del tumor;</a:t>
            </a:r>
            <a:endParaRPr sz="2800" dirty="0">
              <a:solidFill>
                <a:srgbClr val="000000"/>
              </a:solidFill>
            </a:endParaRPr>
          </a:p>
          <a:p>
            <a:pPr marL="508000" lvl="0" indent="-4572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s" sz="2800" dirty="0">
                <a:solidFill>
                  <a:srgbClr val="000000"/>
                </a:solidFill>
              </a:rPr>
              <a:t>compresión del tejido hipofisario normal;</a:t>
            </a:r>
            <a:endParaRPr sz="2800" dirty="0">
              <a:solidFill>
                <a:srgbClr val="000000"/>
              </a:solidFill>
            </a:endParaRPr>
          </a:p>
          <a:p>
            <a:pPr marL="508000" lvl="0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s" sz="2800" dirty="0">
                <a:solidFill>
                  <a:srgbClr val="000000"/>
                </a:solidFill>
              </a:rPr>
              <a:t>compresión del tallo hipofisario;</a:t>
            </a:r>
            <a:endParaRPr sz="2800" dirty="0">
              <a:solidFill>
                <a:srgbClr val="000000"/>
              </a:solidFill>
            </a:endParaRPr>
          </a:p>
          <a:p>
            <a:pPr marL="508000" lvl="0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s" sz="2800" dirty="0">
                <a:solidFill>
                  <a:srgbClr val="000000"/>
                </a:solidFill>
              </a:rPr>
              <a:t>compresión de estructuras adyacentes;</a:t>
            </a:r>
            <a:endParaRPr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5789" y="0"/>
            <a:ext cx="677242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31BD96-D07A-4DAF-94C0-110F0C694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77250"/>
            <a:ext cx="8520600" cy="572700"/>
          </a:xfrm>
        </p:spPr>
        <p:txBody>
          <a:bodyPr/>
          <a:lstStyle/>
          <a:p>
            <a:r>
              <a:rPr lang="es-AR" dirty="0"/>
              <a:t>Anatomía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4D1275-6E50-48F3-9BF1-6B3BFDAB36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6CC6D79-5E5A-4643-ADFC-0A56EB010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047" y="863550"/>
            <a:ext cx="5897905" cy="34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198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474001" y="216425"/>
            <a:ext cx="8520600" cy="572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/>
              <a:t>CLASIFICACIÓN</a:t>
            </a:r>
            <a:r>
              <a:rPr lang="es" b="1" dirty="0">
                <a:solidFill>
                  <a:srgbClr val="0000FF"/>
                </a:solidFill>
              </a:rPr>
              <a:t> </a:t>
            </a:r>
            <a:endParaRPr b="1" dirty="0">
              <a:solidFill>
                <a:srgbClr val="0000FF"/>
              </a:solidFill>
            </a:endParaRPr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1"/>
          </p:nvPr>
        </p:nvSpPr>
        <p:spPr>
          <a:xfrm>
            <a:off x="839184" y="1017725"/>
            <a:ext cx="8520600" cy="34164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rgbClr val="000000"/>
                </a:solidFill>
              </a:rPr>
              <a:t>Según su tamaño;</a:t>
            </a:r>
            <a:endParaRPr dirty="0">
              <a:solidFill>
                <a:srgbClr val="000000"/>
              </a:solidFill>
            </a:endParaRPr>
          </a:p>
          <a:p>
            <a:pPr marL="457200" lvl="0" indent="-334327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</a:pPr>
            <a:r>
              <a:rPr lang="es" dirty="0">
                <a:solidFill>
                  <a:srgbClr val="000000"/>
                </a:solidFill>
              </a:rPr>
              <a:t>Microadenoma (&lt;10mm)</a:t>
            </a:r>
            <a:endParaRPr dirty="0">
              <a:solidFill>
                <a:srgbClr val="000000"/>
              </a:solidFill>
            </a:endParaRPr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</a:pPr>
            <a:r>
              <a:rPr lang="es" dirty="0">
                <a:solidFill>
                  <a:srgbClr val="000000"/>
                </a:solidFill>
              </a:rPr>
              <a:t>Macroadenoma (&gt;10mm) (</a:t>
            </a:r>
            <a:r>
              <a:rPr lang="es" i="1" dirty="0">
                <a:solidFill>
                  <a:srgbClr val="000000"/>
                </a:solidFill>
              </a:rPr>
              <a:t>macroadenoma gigante &gt;40mm</a:t>
            </a:r>
            <a:r>
              <a:rPr lang="es" dirty="0">
                <a:solidFill>
                  <a:srgbClr val="000000"/>
                </a:solidFill>
              </a:rPr>
              <a:t>)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dirty="0">
                <a:solidFill>
                  <a:srgbClr val="000000"/>
                </a:solidFill>
              </a:rPr>
              <a:t>Según inmunohistoquímica: </a:t>
            </a:r>
            <a:endParaRPr dirty="0">
              <a:solidFill>
                <a:srgbClr val="000000"/>
              </a:solidFill>
            </a:endParaRPr>
          </a:p>
          <a:p>
            <a:pPr marL="1828800" lvl="0" indent="-334327" algn="l" rtl="0">
              <a:spcBef>
                <a:spcPts val="12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s" dirty="0"/>
              <a:t>Adenomas Null Cells;</a:t>
            </a:r>
            <a:endParaRPr dirty="0"/>
          </a:p>
          <a:p>
            <a:pPr marL="18288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s" dirty="0"/>
              <a:t>Adenomas </a:t>
            </a:r>
            <a:r>
              <a:rPr lang="es" b="1" dirty="0"/>
              <a:t>Gonadotropos</a:t>
            </a:r>
            <a:r>
              <a:rPr lang="es" dirty="0"/>
              <a:t> Silentes;</a:t>
            </a:r>
            <a:endParaRPr dirty="0"/>
          </a:p>
          <a:p>
            <a:pPr marL="18288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s" dirty="0"/>
              <a:t>Adenomas </a:t>
            </a:r>
            <a:r>
              <a:rPr lang="es" b="1" dirty="0"/>
              <a:t>Corticotropos</a:t>
            </a:r>
            <a:r>
              <a:rPr lang="es" dirty="0"/>
              <a:t> Silentes;</a:t>
            </a:r>
            <a:endParaRPr dirty="0"/>
          </a:p>
          <a:p>
            <a:pPr marL="18288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s" dirty="0"/>
              <a:t>Adenomas </a:t>
            </a:r>
            <a:r>
              <a:rPr lang="es" b="1" dirty="0"/>
              <a:t>Somatotropos</a:t>
            </a:r>
            <a:r>
              <a:rPr lang="es" dirty="0"/>
              <a:t> Silentes</a:t>
            </a:r>
            <a:endParaRPr dirty="0"/>
          </a:p>
          <a:p>
            <a:pPr marL="18288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s" dirty="0"/>
              <a:t>Adenomas </a:t>
            </a:r>
            <a:r>
              <a:rPr lang="es" b="1" dirty="0"/>
              <a:t>Tirotropos</a:t>
            </a:r>
            <a:r>
              <a:rPr lang="es" dirty="0"/>
              <a:t> Silentes;</a:t>
            </a:r>
            <a:endParaRPr dirty="0"/>
          </a:p>
          <a:p>
            <a:pPr marL="18288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s" dirty="0"/>
              <a:t>Adenomas </a:t>
            </a:r>
            <a:r>
              <a:rPr lang="es" b="1" dirty="0"/>
              <a:t>Lactotropos</a:t>
            </a:r>
            <a:r>
              <a:rPr lang="es" dirty="0"/>
              <a:t> Silentes;</a:t>
            </a:r>
            <a:endParaRPr dirty="0"/>
          </a:p>
          <a:p>
            <a:pPr marL="18288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s" dirty="0"/>
              <a:t>Adenomas Plurihormonal Pit-1 positivo.</a:t>
            </a:r>
            <a:endParaRPr dirty="0"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6019" y="2192111"/>
            <a:ext cx="4741180" cy="233992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1112" y="52387"/>
            <a:ext cx="6581775" cy="503872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>
            <a:spLocks noGrp="1"/>
          </p:cNvSpPr>
          <p:nvPr>
            <p:ph type="title"/>
          </p:nvPr>
        </p:nvSpPr>
        <p:spPr>
          <a:xfrm>
            <a:off x="311700" y="178325"/>
            <a:ext cx="8520600" cy="572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/>
              <a:t>CLÍNICA</a:t>
            </a:r>
            <a:endParaRPr b="1" dirty="0"/>
          </a:p>
        </p:txBody>
      </p:sp>
      <p:sp>
        <p:nvSpPr>
          <p:cNvPr id="100" name="Google Shape;100;p20"/>
          <p:cNvSpPr txBox="1">
            <a:spLocks noGrp="1"/>
          </p:cNvSpPr>
          <p:nvPr>
            <p:ph type="body" idx="1"/>
          </p:nvPr>
        </p:nvSpPr>
        <p:spPr>
          <a:xfrm>
            <a:off x="663863" y="1281775"/>
            <a:ext cx="4807500" cy="28440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rgbClr val="000000"/>
                </a:solidFill>
              </a:rPr>
              <a:t>EFECTOS DE MASA;</a:t>
            </a:r>
            <a:endParaRPr b="1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dirty="0">
                <a:solidFill>
                  <a:srgbClr val="000000"/>
                </a:solidFill>
              </a:rPr>
              <a:t>	Síntomas oftalmológicos (70%)</a:t>
            </a:r>
            <a:endParaRPr dirty="0">
              <a:solidFill>
                <a:srgbClr val="000000"/>
              </a:solidFill>
            </a:endParaRPr>
          </a:p>
          <a:p>
            <a:pPr marL="914400" lvl="0" indent="-3429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</a:pPr>
            <a:r>
              <a:rPr lang="es" dirty="0">
                <a:solidFill>
                  <a:srgbClr val="000000"/>
                </a:solidFill>
              </a:rPr>
              <a:t>Hemianopsia temporal por afectación del quiasma;</a:t>
            </a:r>
            <a:endParaRPr dirty="0">
              <a:solidFill>
                <a:srgbClr val="000000"/>
              </a:solidFill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</a:pPr>
            <a:r>
              <a:rPr lang="es" dirty="0">
                <a:solidFill>
                  <a:srgbClr val="000000"/>
                </a:solidFill>
              </a:rPr>
              <a:t>Afectación de la visión central;</a:t>
            </a: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</a:pPr>
            <a:r>
              <a:rPr lang="es" dirty="0">
                <a:solidFill>
                  <a:srgbClr val="000000"/>
                </a:solidFill>
              </a:rPr>
              <a:t>Diplopía</a:t>
            </a:r>
            <a:endParaRPr dirty="0">
              <a:solidFill>
                <a:srgbClr val="000000"/>
              </a:solidFill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</a:pPr>
            <a:r>
              <a:rPr lang="es" dirty="0">
                <a:solidFill>
                  <a:srgbClr val="000000"/>
                </a:solidFill>
              </a:rPr>
              <a:t>Disminución de la agudeza visual;</a:t>
            </a:r>
            <a:endParaRPr dirty="0">
              <a:solidFill>
                <a:srgbClr val="000000"/>
              </a:solidFill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</a:pPr>
            <a:r>
              <a:rPr lang="es" dirty="0">
                <a:solidFill>
                  <a:srgbClr val="000000"/>
                </a:solidFill>
              </a:rPr>
              <a:t>Oftalmoplejia.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4950" y="1046550"/>
            <a:ext cx="3247350" cy="325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>
            <a:spLocks noGrp="1"/>
          </p:cNvSpPr>
          <p:nvPr>
            <p:ph type="title"/>
          </p:nvPr>
        </p:nvSpPr>
        <p:spPr>
          <a:xfrm>
            <a:off x="845100" y="455444"/>
            <a:ext cx="8520600" cy="572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/>
              <a:t>CLÍNICA</a:t>
            </a:r>
            <a:endParaRPr b="1" dirty="0"/>
          </a:p>
        </p:txBody>
      </p:sp>
      <p:sp>
        <p:nvSpPr>
          <p:cNvPr id="107" name="Google Shape;107;p21"/>
          <p:cNvSpPr txBox="1">
            <a:spLocks noGrp="1"/>
          </p:cNvSpPr>
          <p:nvPr>
            <p:ph type="body" idx="1"/>
          </p:nvPr>
        </p:nvSpPr>
        <p:spPr>
          <a:xfrm>
            <a:off x="623400" y="1271656"/>
            <a:ext cx="8520600" cy="34164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rgbClr val="000000"/>
                </a:solidFill>
              </a:rPr>
              <a:t>EFECTO DE MASA:</a:t>
            </a:r>
            <a:endParaRPr b="1" dirty="0">
              <a:solidFill>
                <a:srgbClr val="000000"/>
              </a:solidFill>
            </a:endParaRPr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dirty="0">
                <a:solidFill>
                  <a:srgbClr val="000000"/>
                </a:solidFill>
              </a:rPr>
              <a:t>Síntomas Neurológicos:</a:t>
            </a:r>
            <a:endParaRPr dirty="0">
              <a:solidFill>
                <a:srgbClr val="000000"/>
              </a:solidFill>
            </a:endParaRPr>
          </a:p>
          <a:p>
            <a:pPr marL="914400" lvl="0" indent="-3429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</a:pPr>
            <a:r>
              <a:rPr lang="es" dirty="0">
                <a:solidFill>
                  <a:srgbClr val="000000"/>
                </a:solidFill>
              </a:rPr>
              <a:t>Cefalea;</a:t>
            </a:r>
            <a:endParaRPr dirty="0">
              <a:solidFill>
                <a:srgbClr val="000000"/>
              </a:solidFill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</a:pPr>
            <a:r>
              <a:rPr lang="es" dirty="0">
                <a:solidFill>
                  <a:srgbClr val="000000"/>
                </a:solidFill>
              </a:rPr>
              <a:t>Afección de los pares III,IV y VI;</a:t>
            </a:r>
            <a:endParaRPr dirty="0">
              <a:solidFill>
                <a:srgbClr val="000000"/>
              </a:solidFill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</a:pPr>
            <a:r>
              <a:rPr lang="es" dirty="0">
                <a:solidFill>
                  <a:srgbClr val="000000"/>
                </a:solidFill>
              </a:rPr>
              <a:t>Síndromes hipotalámicos;</a:t>
            </a:r>
            <a:endParaRPr dirty="0">
              <a:solidFill>
                <a:srgbClr val="000000"/>
              </a:solidFill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</a:pPr>
            <a:r>
              <a:rPr lang="es" dirty="0">
                <a:solidFill>
                  <a:srgbClr val="000000"/>
                </a:solidFill>
              </a:rPr>
              <a:t>Crisis Uncinadas;</a:t>
            </a:r>
            <a:endParaRPr dirty="0">
              <a:solidFill>
                <a:srgbClr val="000000"/>
              </a:solidFill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</a:pPr>
            <a:r>
              <a:rPr lang="es" dirty="0">
                <a:solidFill>
                  <a:srgbClr val="000000"/>
                </a:solidFill>
              </a:rPr>
              <a:t>Convulsiones.</a:t>
            </a:r>
            <a:endParaRPr dirty="0">
              <a:solidFill>
                <a:srgbClr val="000000"/>
              </a:solidFill>
            </a:endParaRPr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1013" y="1476513"/>
            <a:ext cx="4276725" cy="25431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>
            <a:spLocks noGrp="1"/>
          </p:cNvSpPr>
          <p:nvPr>
            <p:ph type="title"/>
          </p:nvPr>
        </p:nvSpPr>
        <p:spPr>
          <a:xfrm>
            <a:off x="311700" y="240650"/>
            <a:ext cx="8520600" cy="572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/>
              <a:t>CLÍNICA</a:t>
            </a:r>
            <a:endParaRPr b="1" dirty="0"/>
          </a:p>
        </p:txBody>
      </p:sp>
      <p:sp>
        <p:nvSpPr>
          <p:cNvPr id="114" name="Google Shape;114;p22"/>
          <p:cNvSpPr txBox="1">
            <a:spLocks noGrp="1"/>
          </p:cNvSpPr>
          <p:nvPr>
            <p:ph type="body" idx="1"/>
          </p:nvPr>
        </p:nvSpPr>
        <p:spPr>
          <a:xfrm>
            <a:off x="747128" y="993671"/>
            <a:ext cx="3322500" cy="34164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rgbClr val="000000"/>
                </a:solidFill>
              </a:rPr>
              <a:t>EFECTOS ENDOCRINOS:</a:t>
            </a:r>
            <a:endParaRPr b="1" dirty="0">
              <a:solidFill>
                <a:srgbClr val="000000"/>
              </a:solidFill>
            </a:endParaRPr>
          </a:p>
          <a:p>
            <a:pPr lvl="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</a:pPr>
            <a:r>
              <a:rPr lang="es" dirty="0">
                <a:solidFill>
                  <a:srgbClr val="000000"/>
                </a:solidFill>
              </a:rPr>
              <a:t>HIPOPITUITARISMO;</a:t>
            </a:r>
            <a:endParaRPr dirty="0">
              <a:solidFill>
                <a:srgbClr val="000000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</a:pPr>
            <a:r>
              <a:rPr lang="es" dirty="0">
                <a:solidFill>
                  <a:srgbClr val="000000"/>
                </a:solidFill>
              </a:rPr>
              <a:t>HIPOGONADISMO;</a:t>
            </a:r>
            <a:endParaRPr dirty="0">
              <a:solidFill>
                <a:srgbClr val="000000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</a:pPr>
            <a:r>
              <a:rPr lang="es" dirty="0">
                <a:solidFill>
                  <a:srgbClr val="000000"/>
                </a:solidFill>
              </a:rPr>
              <a:t>HIPOTIROIDISMO; </a:t>
            </a:r>
            <a:endParaRPr dirty="0">
              <a:solidFill>
                <a:srgbClr val="000000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s" dirty="0">
                <a:solidFill>
                  <a:srgbClr val="000000"/>
                </a:solidFill>
              </a:rPr>
              <a:t>HIPOCORTISOLISMO</a:t>
            </a:r>
            <a:r>
              <a:rPr lang="es" dirty="0"/>
              <a:t>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400" y="984300"/>
            <a:ext cx="2816125" cy="317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2" name="Google Shape;1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185" y="695325"/>
            <a:ext cx="7867650" cy="37528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>
            <a:spLocks noGrp="1"/>
          </p:cNvSpPr>
          <p:nvPr>
            <p:ph type="title"/>
          </p:nvPr>
        </p:nvSpPr>
        <p:spPr>
          <a:xfrm>
            <a:off x="311700" y="156082"/>
            <a:ext cx="8520600" cy="572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/>
              <a:t>EVOLUCIÓN DE ANF</a:t>
            </a:r>
            <a:endParaRPr b="1" dirty="0"/>
          </a:p>
        </p:txBody>
      </p:sp>
      <p:sp>
        <p:nvSpPr>
          <p:cNvPr id="128" name="Google Shape;128;p2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9" name="Google Shape;12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3225" y="1427162"/>
            <a:ext cx="7839075" cy="286702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>
            <a:spLocks noGrp="1"/>
          </p:cNvSpPr>
          <p:nvPr>
            <p:ph type="title"/>
          </p:nvPr>
        </p:nvSpPr>
        <p:spPr>
          <a:xfrm>
            <a:off x="311700" y="200096"/>
            <a:ext cx="8520600" cy="572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/>
              <a:t>DIAGNÓSTICO</a:t>
            </a:r>
            <a:endParaRPr b="1" dirty="0"/>
          </a:p>
        </p:txBody>
      </p:sp>
      <p:sp>
        <p:nvSpPr>
          <p:cNvPr id="135" name="Google Shape;135;p25"/>
          <p:cNvSpPr txBox="1">
            <a:spLocks noGrp="1"/>
          </p:cNvSpPr>
          <p:nvPr>
            <p:ph type="body" idx="1"/>
          </p:nvPr>
        </p:nvSpPr>
        <p:spPr>
          <a:xfrm>
            <a:off x="899528" y="1141589"/>
            <a:ext cx="8520600" cy="34164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08000" lvl="0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pitchFamily="2" charset="2"/>
              <a:buChar char="§"/>
            </a:pPr>
            <a:r>
              <a:rPr lang="es" sz="2800" dirty="0">
                <a:solidFill>
                  <a:srgbClr val="000000"/>
                </a:solidFill>
              </a:rPr>
              <a:t>Evaluación clínica minuciosa; </a:t>
            </a:r>
            <a:endParaRPr sz="2800" dirty="0">
              <a:solidFill>
                <a:srgbClr val="000000"/>
              </a:solidFill>
            </a:endParaRPr>
          </a:p>
          <a:p>
            <a:pPr marL="508000" lvl="0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pitchFamily="2" charset="2"/>
              <a:buChar char="§"/>
            </a:pPr>
            <a:r>
              <a:rPr lang="es" sz="2800" dirty="0">
                <a:solidFill>
                  <a:srgbClr val="000000"/>
                </a:solidFill>
              </a:rPr>
              <a:t>Pruebas bioquímicas;</a:t>
            </a:r>
            <a:endParaRPr sz="2800" dirty="0">
              <a:solidFill>
                <a:srgbClr val="000000"/>
              </a:solidFill>
            </a:endParaRPr>
          </a:p>
          <a:p>
            <a:pPr marL="508000" lvl="0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pitchFamily="2" charset="2"/>
              <a:buChar char="§"/>
            </a:pPr>
            <a:r>
              <a:rPr lang="es" sz="2800" dirty="0">
                <a:solidFill>
                  <a:srgbClr val="000000"/>
                </a:solidFill>
              </a:rPr>
              <a:t>Imagen;</a:t>
            </a:r>
            <a:endParaRPr sz="2800" dirty="0">
              <a:solidFill>
                <a:srgbClr val="000000"/>
              </a:solidFill>
            </a:endParaRPr>
          </a:p>
          <a:p>
            <a:pPr marL="508000" lvl="0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pitchFamily="2" charset="2"/>
              <a:buChar char="§"/>
            </a:pPr>
            <a:r>
              <a:rPr lang="es" sz="2800" dirty="0">
                <a:solidFill>
                  <a:srgbClr val="000000"/>
                </a:solidFill>
              </a:rPr>
              <a:t>Estudios oftalmológicos. </a:t>
            </a:r>
            <a:endParaRPr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>
            <a:spLocks noGrp="1"/>
          </p:cNvSpPr>
          <p:nvPr>
            <p:ph type="title"/>
          </p:nvPr>
        </p:nvSpPr>
        <p:spPr>
          <a:xfrm>
            <a:off x="311700" y="201189"/>
            <a:ext cx="8520600" cy="572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/>
              <a:t>DIAGNÓSTICO</a:t>
            </a:r>
            <a:endParaRPr b="1" dirty="0"/>
          </a:p>
        </p:txBody>
      </p:sp>
      <p:sp>
        <p:nvSpPr>
          <p:cNvPr id="141" name="Google Shape;141;p26"/>
          <p:cNvSpPr txBox="1">
            <a:spLocks noGrp="1"/>
          </p:cNvSpPr>
          <p:nvPr>
            <p:ph type="body" idx="1"/>
          </p:nvPr>
        </p:nvSpPr>
        <p:spPr>
          <a:xfrm>
            <a:off x="747129" y="1239561"/>
            <a:ext cx="8520600" cy="34164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 b="1" dirty="0">
                <a:solidFill>
                  <a:srgbClr val="000000"/>
                </a:solidFill>
              </a:rPr>
              <a:t>Historia clinica y exploracion fisica:</a:t>
            </a:r>
            <a:endParaRPr sz="2200" b="1" dirty="0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2200" dirty="0">
                <a:solidFill>
                  <a:srgbClr val="000000"/>
                </a:solidFill>
              </a:rPr>
              <a:t>Todos los pacientes deben ser evaluados buscando estigmas físicos o enfermedades relacionadas con la hipersecreción de hormonas hipofisarias o hipopituitarismo en el caso de macroadenomas.</a:t>
            </a:r>
            <a:endParaRPr sz="22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>
            <a:spLocks noGrp="1"/>
          </p:cNvSpPr>
          <p:nvPr>
            <p:ph type="title"/>
          </p:nvPr>
        </p:nvSpPr>
        <p:spPr>
          <a:xfrm>
            <a:off x="311700" y="166725"/>
            <a:ext cx="8520600" cy="572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/>
              <a:t>DIAGNÓSTICO NEURO-OFTALMOLÓGICA</a:t>
            </a:r>
            <a:endParaRPr b="1" dirty="0"/>
          </a:p>
        </p:txBody>
      </p:sp>
      <p:sp>
        <p:nvSpPr>
          <p:cNvPr id="147" name="Google Shape;147;p2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 dirty="0">
                <a:solidFill>
                  <a:srgbClr val="000000"/>
                </a:solidFill>
              </a:rPr>
              <a:t>Campimetría computarizada;</a:t>
            </a:r>
            <a:endParaRPr sz="21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100" dirty="0">
                <a:solidFill>
                  <a:srgbClr val="000000"/>
                </a:solidFill>
              </a:rPr>
              <a:t>Test de agudeza visual/Snellen;</a:t>
            </a:r>
            <a:endParaRPr sz="21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2100" dirty="0">
                <a:solidFill>
                  <a:srgbClr val="000000"/>
                </a:solidFill>
              </a:rPr>
              <a:t>Examen de fondo de ojo.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2100" dirty="0">
                <a:solidFill>
                  <a:srgbClr val="000000"/>
                </a:solidFill>
              </a:rPr>
              <a:t>OCT</a:t>
            </a:r>
            <a:endParaRPr sz="2100" dirty="0">
              <a:solidFill>
                <a:srgbClr val="000000"/>
              </a:solidFill>
            </a:endParaRPr>
          </a:p>
        </p:txBody>
      </p:sp>
      <p:pic>
        <p:nvPicPr>
          <p:cNvPr id="148" name="Google Shape;14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5600" y="1274025"/>
            <a:ext cx="2019300" cy="18097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49" name="Google Shape;14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52750" y="1274025"/>
            <a:ext cx="2277626" cy="34164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50" name="Google Shape;150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93412" y="2982225"/>
            <a:ext cx="2190475" cy="19333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51" name="Google Shape;151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65599" y="3190400"/>
            <a:ext cx="2019300" cy="18097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2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158" name="Google Shape;15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1728" y="512303"/>
            <a:ext cx="7120526" cy="450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B53F61B0-F4AB-4E11-B14F-914E269EB175}"/>
              </a:ext>
            </a:extLst>
          </p:cNvPr>
          <p:cNvSpPr/>
          <p:nvPr/>
        </p:nvSpPr>
        <p:spPr>
          <a:xfrm>
            <a:off x="5159829" y="1545771"/>
            <a:ext cx="2743200" cy="936172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9E1931C-1488-43F1-A247-B8C77A30E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0408" y="1195195"/>
            <a:ext cx="4763165" cy="27531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>
            <a:spLocks noGrp="1"/>
          </p:cNvSpPr>
          <p:nvPr>
            <p:ph type="title"/>
          </p:nvPr>
        </p:nvSpPr>
        <p:spPr>
          <a:xfrm>
            <a:off x="311700" y="139625"/>
            <a:ext cx="8520600" cy="572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/>
              <a:t>DIAGNÓSTICO: PRUEBAS DE IMAGEN</a:t>
            </a:r>
            <a:endParaRPr b="1" dirty="0"/>
          </a:p>
        </p:txBody>
      </p:sp>
      <p:sp>
        <p:nvSpPr>
          <p:cNvPr id="164" name="Google Shape;164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278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</a:pPr>
            <a:r>
              <a:rPr lang="es" dirty="0">
                <a:solidFill>
                  <a:srgbClr val="000000"/>
                </a:solidFill>
              </a:rPr>
              <a:t>La resonancia magnética (RM) con gadolinio centrada en hipófisis es , actualmente la técnica de elección.</a:t>
            </a:r>
            <a:endParaRPr dirty="0">
              <a:solidFill>
                <a:srgbClr val="000000"/>
              </a:solidFill>
            </a:endParaRPr>
          </a:p>
          <a:p>
            <a:pPr marL="742950" lvl="0" indent="-285750" algn="l" rtl="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>
              <a:solidFill>
                <a:srgbClr val="000000"/>
              </a:solidFill>
            </a:endParaRPr>
          </a:p>
          <a:p>
            <a:pPr lvl="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</a:pPr>
            <a:r>
              <a:rPr lang="es" dirty="0">
                <a:solidFill>
                  <a:srgbClr val="000000"/>
                </a:solidFill>
              </a:rPr>
              <a:t>Permite evaluar el tamaño, ubicación, extensión y relación con las estructuras adyacentes.</a:t>
            </a:r>
            <a:endParaRPr dirty="0">
              <a:solidFill>
                <a:srgbClr val="000000"/>
              </a:solidFill>
            </a:endParaRPr>
          </a:p>
          <a:p>
            <a:pPr marL="742950" lvl="0" indent="-285750" algn="l" rtl="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>
              <a:solidFill>
                <a:srgbClr val="000000"/>
              </a:solidFill>
            </a:endParaRPr>
          </a:p>
          <a:p>
            <a:pPr lvl="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</a:pPr>
            <a:r>
              <a:rPr lang="es" dirty="0">
                <a:solidFill>
                  <a:srgbClr val="000000"/>
                </a:solidFill>
              </a:rPr>
              <a:t>Son típicamente hipointensos o isointensos en T1, permaneciendo hipointensos luego del contraste, por un realce más intenso y temprano del tejido hipofisario sano. En T2, isointensos con la sustancia blanca.</a:t>
            </a:r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3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71" name="Google Shape;17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6338" y="266700"/>
            <a:ext cx="6791325" cy="461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78" name="Google Shape;17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13" y="277025"/>
            <a:ext cx="7572574" cy="4589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85" name="Google Shape;18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0640" y="98452"/>
            <a:ext cx="6402725" cy="482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>
            <a:spLocks noGrp="1"/>
          </p:cNvSpPr>
          <p:nvPr>
            <p:ph type="title"/>
          </p:nvPr>
        </p:nvSpPr>
        <p:spPr>
          <a:xfrm>
            <a:off x="311700" y="74325"/>
            <a:ext cx="8520600" cy="572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/>
              <a:t>CLASIFICACIÓN DE KNOSP</a:t>
            </a:r>
            <a:endParaRPr b="1" dirty="0"/>
          </a:p>
        </p:txBody>
      </p:sp>
      <p:pic>
        <p:nvPicPr>
          <p:cNvPr id="191" name="Google Shape;19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6950" y="743625"/>
            <a:ext cx="6591300" cy="375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5325" y="2362600"/>
            <a:ext cx="2384800" cy="199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3"/>
          <p:cNvSpPr txBox="1"/>
          <p:nvPr/>
        </p:nvSpPr>
        <p:spPr>
          <a:xfrm>
            <a:off x="311700" y="4358700"/>
            <a:ext cx="8753700" cy="6771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</a:rPr>
              <a:t>La Clasificación de Knosp define la invasión en grados de 1 a 4 según la relación con el seno cavernoso en el corte coronal en la RMN</a:t>
            </a:r>
            <a:endParaRPr sz="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4"/>
          <p:cNvSpPr txBox="1">
            <a:spLocks noGrp="1"/>
          </p:cNvSpPr>
          <p:nvPr>
            <p:ph type="title"/>
          </p:nvPr>
        </p:nvSpPr>
        <p:spPr>
          <a:xfrm>
            <a:off x="311700" y="263925"/>
            <a:ext cx="8520600" cy="572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/>
              <a:t>CLASIFICACIÓN DE HARDY</a:t>
            </a:r>
            <a:endParaRPr b="1" dirty="0"/>
          </a:p>
        </p:txBody>
      </p:sp>
      <p:pic>
        <p:nvPicPr>
          <p:cNvPr id="199" name="Google Shape;19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275" y="917625"/>
            <a:ext cx="3205775" cy="410372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00" name="Google Shape;20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6327" y="1996188"/>
            <a:ext cx="5036250" cy="19466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5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/>
              <a:t>DIAGNÓSTICO: EVALUACIÓN ENDOCRINOLÓGICA</a:t>
            </a:r>
            <a:endParaRPr b="1" dirty="0"/>
          </a:p>
        </p:txBody>
      </p:sp>
      <p:sp>
        <p:nvSpPr>
          <p:cNvPr id="206" name="Google Shape;206;p3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07" name="Google Shape;20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81025"/>
            <a:ext cx="8520601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6"/>
          <p:cNvSpPr txBox="1">
            <a:spLocks noGrp="1"/>
          </p:cNvSpPr>
          <p:nvPr>
            <p:ph type="title"/>
          </p:nvPr>
        </p:nvSpPr>
        <p:spPr>
          <a:xfrm>
            <a:off x="311700" y="142325"/>
            <a:ext cx="8520600" cy="572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/>
              <a:t>DIAGNÓSTICO DIFERENCIAL</a:t>
            </a:r>
            <a:endParaRPr b="1" dirty="0"/>
          </a:p>
        </p:txBody>
      </p:sp>
      <p:pic>
        <p:nvPicPr>
          <p:cNvPr id="213" name="Google Shape;21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437" y="904825"/>
            <a:ext cx="8239125" cy="35623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FDE809-5EDB-4271-9D87-56643D7FC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</p:spPr>
        <p:txBody>
          <a:bodyPr/>
          <a:lstStyle/>
          <a:p>
            <a:r>
              <a:rPr lang="es-AR" dirty="0"/>
              <a:t>Tratamiento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4AA510-C6EC-42F8-BFAE-AFCC45B13B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s-AR" dirty="0"/>
              <a:t>Objetivos:</a:t>
            </a:r>
          </a:p>
          <a:p>
            <a:pPr algn="ctr">
              <a:buFont typeface="Wingdings" panose="05000000000000000000" pitchFamily="2" charset="2"/>
              <a:buChar char="q"/>
            </a:pPr>
            <a:r>
              <a:rPr lang="es-AR" dirty="0">
                <a:solidFill>
                  <a:schemeClr val="bg1"/>
                </a:solidFill>
              </a:rPr>
              <a:t>Aliviar los efectos por compresión local de la masa</a:t>
            </a:r>
          </a:p>
          <a:p>
            <a:pPr algn="ctr">
              <a:buFont typeface="Wingdings" panose="05000000000000000000" pitchFamily="2" charset="2"/>
              <a:buChar char="q"/>
            </a:pPr>
            <a:r>
              <a:rPr lang="es-AR" dirty="0">
                <a:solidFill>
                  <a:schemeClr val="bg1"/>
                </a:solidFill>
              </a:rPr>
              <a:t>Inhibir la hipersecreción hormonal o aminorar la hiposecreción</a:t>
            </a:r>
          </a:p>
          <a:p>
            <a:pPr algn="ctr">
              <a:buFont typeface="Wingdings" panose="05000000000000000000" pitchFamily="2" charset="2"/>
              <a:buChar char="q"/>
            </a:pPr>
            <a:r>
              <a:rPr lang="es-AR" dirty="0">
                <a:solidFill>
                  <a:schemeClr val="bg1"/>
                </a:solidFill>
              </a:rPr>
              <a:t>Mantener la función trófica hipofisaria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5C2E7EF-E037-47E3-B1F9-13A7A0E6B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7860" y="2427514"/>
            <a:ext cx="2588279" cy="2555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6610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7"/>
          <p:cNvSpPr txBox="1">
            <a:spLocks noGrp="1"/>
          </p:cNvSpPr>
          <p:nvPr>
            <p:ph type="title"/>
          </p:nvPr>
        </p:nvSpPr>
        <p:spPr>
          <a:xfrm>
            <a:off x="311700" y="208261"/>
            <a:ext cx="8520600" cy="572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/>
              <a:t>TRATAMIENTO</a:t>
            </a:r>
            <a:endParaRPr b="1" dirty="0"/>
          </a:p>
        </p:txBody>
      </p:sp>
      <p:sp>
        <p:nvSpPr>
          <p:cNvPr id="219" name="Google Shape;219;p3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01650" lvl="0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Wingdings" panose="05000000000000000000" pitchFamily="2" charset="2"/>
              <a:buChar char="§"/>
            </a:pPr>
            <a:r>
              <a:rPr lang="es" sz="2900" dirty="0">
                <a:solidFill>
                  <a:srgbClr val="000000"/>
                </a:solidFill>
              </a:rPr>
              <a:t>Conducta expectante;</a:t>
            </a:r>
            <a:endParaRPr sz="2900" dirty="0">
              <a:solidFill>
                <a:srgbClr val="000000"/>
              </a:solidFill>
            </a:endParaRPr>
          </a:p>
          <a:p>
            <a:pPr marL="501650" lvl="0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Wingdings" panose="05000000000000000000" pitchFamily="2" charset="2"/>
              <a:buChar char="§"/>
            </a:pPr>
            <a:r>
              <a:rPr lang="es" sz="2900" dirty="0">
                <a:solidFill>
                  <a:srgbClr val="000000"/>
                </a:solidFill>
              </a:rPr>
              <a:t>Cirugía con o sin radioterapia;</a:t>
            </a:r>
            <a:endParaRPr sz="2900" dirty="0">
              <a:solidFill>
                <a:srgbClr val="000000"/>
              </a:solidFill>
            </a:endParaRPr>
          </a:p>
          <a:p>
            <a:pPr marL="501650" lvl="0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Wingdings" panose="05000000000000000000" pitchFamily="2" charset="2"/>
              <a:buChar char="§"/>
            </a:pPr>
            <a:r>
              <a:rPr lang="es" sz="2900" dirty="0">
                <a:solidFill>
                  <a:srgbClr val="000000"/>
                </a:solidFill>
              </a:rPr>
              <a:t>Radioterapia;</a:t>
            </a:r>
            <a:endParaRPr sz="2900" dirty="0">
              <a:solidFill>
                <a:srgbClr val="000000"/>
              </a:solidFill>
            </a:endParaRPr>
          </a:p>
          <a:p>
            <a:pPr marL="501650" lvl="0" indent="-457200" algn="l" rtl="0">
              <a:spcBef>
                <a:spcPts val="0"/>
              </a:spcBef>
              <a:spcAft>
                <a:spcPts val="0"/>
              </a:spcAft>
              <a:buSzPts val="2900"/>
              <a:buFont typeface="Wingdings" panose="05000000000000000000" pitchFamily="2" charset="2"/>
              <a:buChar char="§"/>
            </a:pPr>
            <a:r>
              <a:rPr lang="es" sz="2900" dirty="0">
                <a:solidFill>
                  <a:srgbClr val="000000"/>
                </a:solidFill>
              </a:rPr>
              <a:t>Tratamiento farmacológico.</a:t>
            </a:r>
            <a:r>
              <a:rPr lang="es" sz="2900" dirty="0"/>
              <a:t> </a:t>
            </a:r>
            <a:endParaRPr sz="2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8"/>
          <p:cNvSpPr txBox="1">
            <a:spLocks noGrp="1"/>
          </p:cNvSpPr>
          <p:nvPr>
            <p:ph type="title"/>
          </p:nvPr>
        </p:nvSpPr>
        <p:spPr>
          <a:xfrm>
            <a:off x="311700" y="172971"/>
            <a:ext cx="8520600" cy="572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/>
              <a:t>TRATAMIENTO: OBSERVACIÓN</a:t>
            </a:r>
            <a:endParaRPr b="1" dirty="0"/>
          </a:p>
        </p:txBody>
      </p:sp>
      <p:sp>
        <p:nvSpPr>
          <p:cNvPr id="225" name="Google Shape;225;p38"/>
          <p:cNvSpPr txBox="1">
            <a:spLocks noGrp="1"/>
          </p:cNvSpPr>
          <p:nvPr>
            <p:ph type="body" idx="1"/>
          </p:nvPr>
        </p:nvSpPr>
        <p:spPr>
          <a:xfrm>
            <a:off x="736243" y="1337532"/>
            <a:ext cx="8070300" cy="3060297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100" dirty="0">
                <a:solidFill>
                  <a:srgbClr val="000000"/>
                </a:solidFill>
              </a:rPr>
              <a:t>En los casos de pacientes sin déficit visual ni compresión quiasmática, puede adoptarse una conducta expectante con seguimiento radiológico con RMN cada 6 a 18 meses, y campo visual computarizado. Si hubiese crecimiento o defecto visual, se indica el tratamiento quirúrgico.</a:t>
            </a:r>
            <a:endParaRPr sz="21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9"/>
          <p:cNvSpPr txBox="1">
            <a:spLocks noGrp="1"/>
          </p:cNvSpPr>
          <p:nvPr>
            <p:ph type="title"/>
          </p:nvPr>
        </p:nvSpPr>
        <p:spPr>
          <a:xfrm>
            <a:off x="750375" y="343225"/>
            <a:ext cx="8520600" cy="572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/>
              <a:t>TRATAMIENTO QUIRÚRGICO (DE ELECCIÓN)</a:t>
            </a:r>
            <a:endParaRPr b="1" dirty="0"/>
          </a:p>
        </p:txBody>
      </p:sp>
      <p:sp>
        <p:nvSpPr>
          <p:cNvPr id="231" name="Google Shape;231;p3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00000"/>
                </a:solidFill>
              </a:rPr>
              <a:t>Las indicaciones de cirugía se resumen en las siguientes:</a:t>
            </a:r>
            <a:r>
              <a:rPr lang="es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</a:rPr>
              <a:t>1. Efecto de masa con pérdida visual,</a:t>
            </a:r>
            <a:endParaRPr>
              <a:solidFill>
                <a:srgbClr val="000000"/>
              </a:solidFill>
            </a:endParaRPr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</a:rPr>
              <a:t>    oftalmoparesia, déficit neurológico, </a:t>
            </a:r>
            <a:endParaRPr>
              <a:solidFill>
                <a:srgbClr val="000000"/>
              </a:solidFill>
            </a:endParaRPr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</a:rPr>
              <a:t>    o hidrocefalia obstructiva </a:t>
            </a:r>
            <a:endParaRPr>
              <a:solidFill>
                <a:srgbClr val="000000"/>
              </a:solidFill>
            </a:endParaRPr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</a:rPr>
              <a:t>2. Tumores asintomáticos con contacto </a:t>
            </a:r>
            <a:endParaRPr>
              <a:solidFill>
                <a:srgbClr val="000000"/>
              </a:solidFill>
            </a:endParaRPr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</a:rPr>
              <a:t>    quiasmático </a:t>
            </a:r>
            <a:endParaRPr>
              <a:solidFill>
                <a:srgbClr val="000000"/>
              </a:solidFill>
            </a:endParaRPr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</a:rPr>
              <a:t>3. Signos de hipopituitarismo </a:t>
            </a:r>
            <a:endParaRPr>
              <a:solidFill>
                <a:srgbClr val="000000"/>
              </a:solidFill>
            </a:endParaRPr>
          </a:p>
          <a:p>
            <a:pPr marL="0" lvl="0" indent="45720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rgbClr val="000000"/>
                </a:solidFill>
              </a:rPr>
              <a:t>4. Apoplejía aguda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232" name="Google Shape;23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0675" y="1702425"/>
            <a:ext cx="4051899" cy="3103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/>
              <a:t>TRATAMIENTO: RADIOTERAPIA</a:t>
            </a:r>
            <a:endParaRPr b="1" dirty="0"/>
          </a:p>
        </p:txBody>
      </p:sp>
      <p:sp>
        <p:nvSpPr>
          <p:cNvPr id="238" name="Google Shape;238;p4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</a:pPr>
            <a:r>
              <a:rPr lang="es" dirty="0">
                <a:solidFill>
                  <a:srgbClr val="000000"/>
                </a:solidFill>
              </a:rPr>
              <a:t>Utilizada en ANF con resecciones incompletas o recurrencias, logrando control tumoral en casi 90 % de los casos a 10 años.</a:t>
            </a:r>
            <a:endParaRPr dirty="0">
              <a:solidFill>
                <a:srgbClr val="000000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</a:pPr>
            <a:r>
              <a:rPr lang="es" dirty="0">
                <a:solidFill>
                  <a:srgbClr val="000000"/>
                </a:solidFill>
              </a:rPr>
              <a:t>Tratamiento primario: pacientes que tienen contraindicación quirúrgica o rechazan la cirugía. </a:t>
            </a:r>
            <a:endParaRPr dirty="0">
              <a:solidFill>
                <a:srgbClr val="000000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</a:pPr>
            <a:r>
              <a:rPr lang="es" dirty="0">
                <a:solidFill>
                  <a:srgbClr val="000000"/>
                </a:solidFill>
              </a:rPr>
              <a:t>Más frecuentemente es un tratamiento adyuvante. </a:t>
            </a:r>
            <a:endParaRPr dirty="0">
              <a:solidFill>
                <a:srgbClr val="000000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</a:pPr>
            <a:r>
              <a:rPr lang="es" dirty="0">
                <a:solidFill>
                  <a:srgbClr val="000000"/>
                </a:solidFill>
              </a:rPr>
              <a:t>A pesar de su alta eficacia, los riesgos potenciales en el largo plazo, como déficits pituitarios o daño neurológico, limitan su uso.</a:t>
            </a:r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1"/>
          <p:cNvSpPr txBox="1">
            <a:spLocks noGrp="1"/>
          </p:cNvSpPr>
          <p:nvPr>
            <p:ph type="title"/>
          </p:nvPr>
        </p:nvSpPr>
        <p:spPr>
          <a:xfrm>
            <a:off x="311700" y="461354"/>
            <a:ext cx="8520600" cy="572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/>
              <a:t>TRATAMIENTO FARMACOLÓGICO</a:t>
            </a:r>
            <a:endParaRPr b="1" dirty="0"/>
          </a:p>
        </p:txBody>
      </p:sp>
      <p:sp>
        <p:nvSpPr>
          <p:cNvPr id="244" name="Google Shape;244;p41"/>
          <p:cNvSpPr txBox="1">
            <a:spLocks noGrp="1"/>
          </p:cNvSpPr>
          <p:nvPr>
            <p:ph type="body" idx="1"/>
          </p:nvPr>
        </p:nvSpPr>
        <p:spPr>
          <a:xfrm>
            <a:off x="725357" y="1379993"/>
            <a:ext cx="8520600" cy="31563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</a:pPr>
            <a:r>
              <a:rPr lang="es" dirty="0">
                <a:solidFill>
                  <a:srgbClr val="000000"/>
                </a:solidFill>
              </a:rPr>
              <a:t>La frecuencia de restos tumorales post-operatorios es alta, y hay evidencia que sugiere que los tratamientos farmacológicos pueden ser indicados.</a:t>
            </a:r>
            <a:endParaRPr dirty="0">
              <a:solidFill>
                <a:srgbClr val="000000"/>
              </a:solidFill>
            </a:endParaRPr>
          </a:p>
          <a:p>
            <a:pPr marL="742950" lvl="0" indent="-285750" algn="l" rtl="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>
              <a:solidFill>
                <a:srgbClr val="000000"/>
              </a:solidFill>
            </a:endParaRPr>
          </a:p>
          <a:p>
            <a:pPr lvl="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</a:pPr>
            <a:r>
              <a:rPr lang="es" dirty="0">
                <a:solidFill>
                  <a:srgbClr val="000000"/>
                </a:solidFill>
              </a:rPr>
              <a:t>Se ha descrito el uso de agonistas dopaminérgicos (CABERGOLINA) y/o ligandos del receptor de somatostatina (OCTREOTIDE).</a:t>
            </a:r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2"/>
          <p:cNvSpPr txBox="1">
            <a:spLocks noGrp="1"/>
          </p:cNvSpPr>
          <p:nvPr>
            <p:ph type="title"/>
          </p:nvPr>
        </p:nvSpPr>
        <p:spPr>
          <a:xfrm>
            <a:off x="311700" y="169075"/>
            <a:ext cx="8520600" cy="572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/>
              <a:t>EVOLUCIÓN</a:t>
            </a:r>
            <a:endParaRPr b="1" dirty="0"/>
          </a:p>
        </p:txBody>
      </p:sp>
      <p:sp>
        <p:nvSpPr>
          <p:cNvPr id="250" name="Google Shape;250;p42"/>
          <p:cNvSpPr txBox="1">
            <a:spLocks noGrp="1"/>
          </p:cNvSpPr>
          <p:nvPr>
            <p:ph type="body" idx="1"/>
          </p:nvPr>
        </p:nvSpPr>
        <p:spPr>
          <a:xfrm>
            <a:off x="714471" y="1017725"/>
            <a:ext cx="8520600" cy="3956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rgbClr val="000000"/>
                </a:solidFill>
              </a:rPr>
              <a:t>Las complicaciones son de alrededor del 5-7%.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dirty="0">
                <a:solidFill>
                  <a:srgbClr val="000000"/>
                </a:solidFill>
              </a:rPr>
              <a:t>Mortalidad menor al 1%.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dirty="0">
                <a:solidFill>
                  <a:srgbClr val="000000"/>
                </a:solidFill>
              </a:rPr>
              <a:t>A largo plazo puede producirse deficiencia de una o más hormonas hipofisarias a semanas , meses o años después del tratamiento;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dirty="0">
                <a:solidFill>
                  <a:srgbClr val="000000"/>
                </a:solidFill>
              </a:rPr>
              <a:t>Control:</a:t>
            </a:r>
            <a:endParaRPr dirty="0">
              <a:solidFill>
                <a:srgbClr val="000000"/>
              </a:solidFill>
            </a:endParaRPr>
          </a:p>
          <a:p>
            <a:pPr lvl="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</a:pPr>
            <a:r>
              <a:rPr lang="es" dirty="0">
                <a:solidFill>
                  <a:srgbClr val="000000"/>
                </a:solidFill>
              </a:rPr>
              <a:t>concentraciones séricas de cortisol basal;</a:t>
            </a:r>
            <a:endParaRPr dirty="0">
              <a:solidFill>
                <a:srgbClr val="000000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</a:pPr>
            <a:r>
              <a:rPr lang="es" dirty="0">
                <a:solidFill>
                  <a:srgbClr val="000000"/>
                </a:solidFill>
              </a:rPr>
              <a:t>t4 libre</a:t>
            </a:r>
            <a:endParaRPr dirty="0">
              <a:solidFill>
                <a:srgbClr val="000000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</a:pPr>
            <a:r>
              <a:rPr lang="es" dirty="0">
                <a:solidFill>
                  <a:srgbClr val="000000"/>
                </a:solidFill>
              </a:rPr>
              <a:t>LH-FSH</a:t>
            </a:r>
            <a:endParaRPr dirty="0">
              <a:solidFill>
                <a:srgbClr val="000000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</a:pPr>
            <a:r>
              <a:rPr lang="es" dirty="0">
                <a:solidFill>
                  <a:srgbClr val="000000"/>
                </a:solidFill>
              </a:rPr>
              <a:t>Prolactina</a:t>
            </a:r>
            <a:endParaRPr dirty="0">
              <a:solidFill>
                <a:srgbClr val="000000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</a:pPr>
            <a:r>
              <a:rPr lang="es" dirty="0">
                <a:solidFill>
                  <a:srgbClr val="000000"/>
                </a:solidFill>
              </a:rPr>
              <a:t>Testosterona o Estradiol.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 dirty="0">
                <a:solidFill>
                  <a:srgbClr val="000000"/>
                </a:solidFill>
              </a:rPr>
              <a:t>RMN</a:t>
            </a:r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3"/>
          <p:cNvSpPr txBox="1">
            <a:spLocks noGrp="1"/>
          </p:cNvSpPr>
          <p:nvPr>
            <p:ph type="title"/>
          </p:nvPr>
        </p:nvSpPr>
        <p:spPr>
          <a:xfrm>
            <a:off x="311700" y="170160"/>
            <a:ext cx="8520600" cy="572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/>
              <a:t>PRONÓSTICO</a:t>
            </a:r>
            <a:endParaRPr b="1" dirty="0"/>
          </a:p>
        </p:txBody>
      </p:sp>
      <p:sp>
        <p:nvSpPr>
          <p:cNvPr id="256" name="Google Shape;256;p43"/>
          <p:cNvSpPr txBox="1">
            <a:spLocks noGrp="1"/>
          </p:cNvSpPr>
          <p:nvPr>
            <p:ph type="body" idx="1"/>
          </p:nvPr>
        </p:nvSpPr>
        <p:spPr>
          <a:xfrm>
            <a:off x="834214" y="1119818"/>
            <a:ext cx="8520600" cy="34164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rgbClr val="000000"/>
                </a:solidFill>
              </a:rPr>
              <a:t>Éxito quirúrgico:</a:t>
            </a:r>
            <a:endParaRPr b="1" dirty="0">
              <a:solidFill>
                <a:srgbClr val="000000"/>
              </a:solidFill>
            </a:endParaRPr>
          </a:p>
          <a:p>
            <a:pPr lvl="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</a:pPr>
            <a:r>
              <a:rPr lang="es" dirty="0">
                <a:solidFill>
                  <a:srgbClr val="000000"/>
                </a:solidFill>
              </a:rPr>
              <a:t>Mejora la visión 72%.</a:t>
            </a:r>
            <a:endParaRPr dirty="0">
              <a:solidFill>
                <a:srgbClr val="000000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</a:pPr>
            <a:r>
              <a:rPr lang="es" dirty="0">
                <a:solidFill>
                  <a:srgbClr val="000000"/>
                </a:solidFill>
              </a:rPr>
              <a:t>Mejora la función endocrina 3%.</a:t>
            </a:r>
            <a:endParaRPr dirty="0">
              <a:solidFill>
                <a:srgbClr val="000000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</a:pPr>
            <a:r>
              <a:rPr lang="es" dirty="0">
                <a:solidFill>
                  <a:srgbClr val="000000"/>
                </a:solidFill>
              </a:rPr>
              <a:t>Eliminación radiológica completa en 66%.</a:t>
            </a:r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44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5700" dirty="0"/>
              <a:t>MUCHAS GRACIAS POR SU ATENCIÒN</a:t>
            </a:r>
            <a:endParaRPr sz="57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228</TotalTime>
  <Words>810</Words>
  <Application>Microsoft Office PowerPoint</Application>
  <PresentationFormat>Presentación en pantalla (16:9)</PresentationFormat>
  <Paragraphs>133</Paragraphs>
  <Slides>34</Slides>
  <Notes>32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39" baseType="lpstr">
      <vt:lpstr>Arial</vt:lpstr>
      <vt:lpstr>MS Shell Dlg 2</vt:lpstr>
      <vt:lpstr>Wingdings</vt:lpstr>
      <vt:lpstr>Wingdings 3</vt:lpstr>
      <vt:lpstr>Madison</vt:lpstr>
      <vt:lpstr>ADENOMAS  NO FUNCIONANTES DE HIPÓFISIS</vt:lpstr>
      <vt:lpstr>EPIDEMIOLOGÍA</vt:lpstr>
      <vt:lpstr>EPIDEMIOLOGÍA</vt:lpstr>
      <vt:lpstr>FISIOPATOLOGÍA</vt:lpstr>
      <vt:lpstr>Presentación de PowerPoint</vt:lpstr>
      <vt:lpstr>Anatomía</vt:lpstr>
      <vt:lpstr>CLASIFICACIÓN </vt:lpstr>
      <vt:lpstr>Presentación de PowerPoint</vt:lpstr>
      <vt:lpstr>CLÍNICA</vt:lpstr>
      <vt:lpstr>CLÍNICA</vt:lpstr>
      <vt:lpstr>CLÍNICA</vt:lpstr>
      <vt:lpstr>Presentación de PowerPoint</vt:lpstr>
      <vt:lpstr>EVOLUCIÓN DE ANF</vt:lpstr>
      <vt:lpstr>DIAGNÓSTICO</vt:lpstr>
      <vt:lpstr>DIAGNÓSTICO</vt:lpstr>
      <vt:lpstr>DIAGNÓSTICO NEURO-OFTALMOLÓGICA</vt:lpstr>
      <vt:lpstr>Presentación de PowerPoint</vt:lpstr>
      <vt:lpstr>DIAGNÓSTICO: PRUEBAS DE IMAGEN</vt:lpstr>
      <vt:lpstr>Presentación de PowerPoint</vt:lpstr>
      <vt:lpstr>Presentación de PowerPoint</vt:lpstr>
      <vt:lpstr>Presentación de PowerPoint</vt:lpstr>
      <vt:lpstr>CLASIFICACIÓN DE KNOSP</vt:lpstr>
      <vt:lpstr>CLASIFICACIÓN DE HARDY</vt:lpstr>
      <vt:lpstr>DIAGNÓSTICO: EVALUACIÓN ENDOCRINOLÓGICA</vt:lpstr>
      <vt:lpstr>DIAGNÓSTICO DIFERENCIAL</vt:lpstr>
      <vt:lpstr>Tratamiento</vt:lpstr>
      <vt:lpstr>TRATAMIENTO</vt:lpstr>
      <vt:lpstr>TRATAMIENTO: OBSERVACIÓN</vt:lpstr>
      <vt:lpstr>TRATAMIENTO QUIRÚRGICO (DE ELECCIÓN)</vt:lpstr>
      <vt:lpstr>TRATAMIENTO: RADIOTERAPIA</vt:lpstr>
      <vt:lpstr>TRATAMIENTO FARMACOLÓGICO</vt:lpstr>
      <vt:lpstr>EVOLUCIÓN</vt:lpstr>
      <vt:lpstr>PRONÓSTICO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ADENOMAS  NO FUNCIONANTES DE HIPÓFISIS</dc:title>
  <dc:creator>Usuario</dc:creator>
  <cp:lastModifiedBy>Franco Bellomo</cp:lastModifiedBy>
  <cp:revision>9</cp:revision>
  <dcterms:modified xsi:type="dcterms:W3CDTF">2026-08-03T13:17:02Z</dcterms:modified>
</cp:coreProperties>
</file>