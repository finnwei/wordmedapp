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744" r:id="rId4"/>
  </p:sldMasterIdLst>
  <p:notesMasterIdLst>
    <p:notesMasterId r:id="rId42"/>
  </p:notesMasterIdLst>
  <p:handoutMasterIdLst>
    <p:handoutMasterId r:id="rId43"/>
  </p:handoutMasterIdLst>
  <p:sldIdLst>
    <p:sldId id="311" r:id="rId5"/>
    <p:sldId id="256" r:id="rId6"/>
    <p:sldId id="275" r:id="rId7"/>
    <p:sldId id="286" r:id="rId8"/>
    <p:sldId id="287" r:id="rId9"/>
    <p:sldId id="276" r:id="rId10"/>
    <p:sldId id="292" r:id="rId11"/>
    <p:sldId id="293" r:id="rId12"/>
    <p:sldId id="294" r:id="rId13"/>
    <p:sldId id="310" r:id="rId14"/>
    <p:sldId id="309" r:id="rId15"/>
    <p:sldId id="295" r:id="rId16"/>
    <p:sldId id="296" r:id="rId17"/>
    <p:sldId id="297" r:id="rId18"/>
    <p:sldId id="298" r:id="rId19"/>
    <p:sldId id="299" r:id="rId20"/>
    <p:sldId id="291" r:id="rId21"/>
    <p:sldId id="264" r:id="rId22"/>
    <p:sldId id="277" r:id="rId23"/>
    <p:sldId id="258" r:id="rId24"/>
    <p:sldId id="301" r:id="rId25"/>
    <p:sldId id="302" r:id="rId26"/>
    <p:sldId id="303" r:id="rId27"/>
    <p:sldId id="304" r:id="rId28"/>
    <p:sldId id="306" r:id="rId29"/>
    <p:sldId id="305" r:id="rId30"/>
    <p:sldId id="288" r:id="rId31"/>
    <p:sldId id="279" r:id="rId32"/>
    <p:sldId id="280" r:id="rId33"/>
    <p:sldId id="307" r:id="rId34"/>
    <p:sldId id="278" r:id="rId35"/>
    <p:sldId id="308" r:id="rId36"/>
    <p:sldId id="281" r:id="rId37"/>
    <p:sldId id="282" r:id="rId38"/>
    <p:sldId id="283" r:id="rId39"/>
    <p:sldId id="284" r:id="rId40"/>
    <p:sldId id="285" r:id="rId41"/>
  </p:sldIdLst>
  <p:sldSz cx="12192000" cy="6858000"/>
  <p:notesSz cx="6858000" cy="9144000"/>
  <p:defaultTextStyle>
    <a:defPPr rtl="0">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41" autoAdjust="0"/>
  </p:normalViewPr>
  <p:slideViewPr>
    <p:cSldViewPr snapToGrid="0" snapToObjects="1">
      <p:cViewPr varScale="1">
        <p:scale>
          <a:sx n="115" d="100"/>
          <a:sy n="115" d="100"/>
        </p:scale>
        <p:origin x="318" y="108"/>
      </p:cViewPr>
      <p:guideLst>
        <p:guide orient="horz" pos="2160"/>
        <p:guide pos="3840"/>
      </p:guideLst>
    </p:cSldViewPr>
  </p:slideViewPr>
  <p:notesTextViewPr>
    <p:cViewPr>
      <p:scale>
        <a:sx n="1" d="1"/>
        <a:sy n="1" d="1"/>
      </p:scale>
      <p:origin x="0" y="0"/>
    </p:cViewPr>
  </p:notesTextViewPr>
  <p:notesViewPr>
    <p:cSldViewPr snapToGrid="0" snapToObjects="1">
      <p:cViewPr varScale="1">
        <p:scale>
          <a:sx n="89" d="100"/>
          <a:sy n="89" d="100"/>
        </p:scale>
        <p:origin x="3786"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xmlns="" id="{B6644415-FF73-4635-A828-1BF64C3E25C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xmlns="" id="{467CFC73-7BBD-42E6-B4E0-AEA52F19C35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B071A8-EF9A-4908-A356-4DC1375FB1BF}" type="datetimeFigureOut">
              <a:rPr lang="es-ES" smtClean="0"/>
              <a:t>27/08/2026</a:t>
            </a:fld>
            <a:endParaRPr lang="es-ES"/>
          </a:p>
        </p:txBody>
      </p:sp>
      <p:sp>
        <p:nvSpPr>
          <p:cNvPr id="4" name="Marcador de pie de página 3">
            <a:extLst>
              <a:ext uri="{FF2B5EF4-FFF2-40B4-BE49-F238E27FC236}">
                <a16:creationId xmlns:a16="http://schemas.microsoft.com/office/drawing/2014/main" xmlns="" id="{11AABD9E-C2C8-4ECD-A749-AED2FF3758D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xmlns="" id="{CCD0331F-25B6-4FCB-92B1-E19A50AE74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B2733A-471A-4057-B5C1-60E8804041B4}" type="slidenum">
              <a:rPr lang="es-ES" smtClean="0"/>
              <a:t>‹Nº›</a:t>
            </a:fld>
            <a:endParaRPr lang="es-ES"/>
          </a:p>
        </p:txBody>
      </p:sp>
    </p:spTree>
    <p:extLst>
      <p:ext uri="{BB962C8B-B14F-4D97-AF65-F5344CB8AC3E}">
        <p14:creationId xmlns:p14="http://schemas.microsoft.com/office/powerpoint/2010/main" val="421446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D254E2-8FFC-4017-9604-CA24C4F82E84}" type="datetimeFigureOut">
              <a:rPr lang="es-ES" noProof="0" smtClean="0"/>
              <a:t>27/08/2026</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dirty="0"/>
              <a:t>Editar estilos de texto del patrón</a:t>
            </a:r>
          </a:p>
          <a:p>
            <a:pPr lvl="1"/>
            <a:r>
              <a:rPr lang="es-ES" noProof="0" dirty="0"/>
              <a:t>Segundo nivel</a:t>
            </a:r>
          </a:p>
          <a:p>
            <a:pPr lvl="2"/>
            <a:r>
              <a:rPr lang="es-ES" noProof="0" dirty="0"/>
              <a:t>Tercer nivel</a:t>
            </a:r>
          </a:p>
          <a:p>
            <a:pPr lvl="3"/>
            <a:r>
              <a:rPr lang="es-ES" noProof="0" dirty="0"/>
              <a:t>Cuarto nivel</a:t>
            </a:r>
          </a:p>
          <a:p>
            <a:pPr lvl="4"/>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8DB6BF-749A-44FF-AB9C-8B6FD44EF3AF}" type="slidenum">
              <a:rPr lang="es-ES" noProof="0" smtClean="0"/>
              <a:t>‹Nº›</a:t>
            </a:fld>
            <a:endParaRPr lang="es-ES" noProof="0"/>
          </a:p>
        </p:txBody>
      </p:sp>
    </p:spTree>
    <p:extLst>
      <p:ext uri="{BB962C8B-B14F-4D97-AF65-F5344CB8AC3E}">
        <p14:creationId xmlns:p14="http://schemas.microsoft.com/office/powerpoint/2010/main" val="4143000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298DB6BF-749A-44FF-AB9C-8B6FD44EF3AF}" type="slidenum">
              <a:rPr lang="es-ES" smtClean="0"/>
              <a:t>2</a:t>
            </a:fld>
            <a:endParaRPr lang="es-ES"/>
          </a:p>
        </p:txBody>
      </p:sp>
    </p:spTree>
    <p:extLst>
      <p:ext uri="{BB962C8B-B14F-4D97-AF65-F5344CB8AC3E}">
        <p14:creationId xmlns:p14="http://schemas.microsoft.com/office/powerpoint/2010/main" val="4012534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298DB6BF-749A-44FF-AB9C-8B6FD44EF3AF}" type="slidenum">
              <a:rPr lang="es-ES" smtClean="0"/>
              <a:t>18</a:t>
            </a:fld>
            <a:endParaRPr lang="es-ES"/>
          </a:p>
        </p:txBody>
      </p:sp>
    </p:spTree>
    <p:extLst>
      <p:ext uri="{BB962C8B-B14F-4D97-AF65-F5344CB8AC3E}">
        <p14:creationId xmlns:p14="http://schemas.microsoft.com/office/powerpoint/2010/main" val="4139895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298DB6BF-749A-44FF-AB9C-8B6FD44EF3AF}" type="slidenum">
              <a:rPr lang="es-ES" smtClean="0"/>
              <a:t>20</a:t>
            </a:fld>
            <a:endParaRPr lang="es-ES"/>
          </a:p>
        </p:txBody>
      </p:sp>
    </p:spTree>
    <p:extLst>
      <p:ext uri="{BB962C8B-B14F-4D97-AF65-F5344CB8AC3E}">
        <p14:creationId xmlns:p14="http://schemas.microsoft.com/office/powerpoint/2010/main" val="7620831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3">
        <a:schemeClr val="bg2"/>
      </p:bgRef>
    </p:bg>
    <p:spTree>
      <p:nvGrpSpPr>
        <p:cNvPr id="1" name=""/>
        <p:cNvGrpSpPr/>
        <p:nvPr/>
      </p:nvGrpSpPr>
      <p:grpSpPr>
        <a:xfrm>
          <a:off x="0" y="0"/>
          <a:ext cx="0" cy="0"/>
          <a:chOff x="0" y="0"/>
          <a:chExt cx="0" cy="0"/>
        </a:xfrm>
      </p:grpSpPr>
      <p:pic>
        <p:nvPicPr>
          <p:cNvPr id="7" name="Imagen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ctrTitle"/>
          </p:nvPr>
        </p:nvSpPr>
        <p:spPr>
          <a:xfrm>
            <a:off x="3962399" y="1964267"/>
            <a:ext cx="7197726" cy="2421464"/>
          </a:xfrm>
        </p:spPr>
        <p:txBody>
          <a:bodyPr rtlCol="0" anchor="b">
            <a:normAutofit/>
          </a:bodyPr>
          <a:lstStyle>
            <a:lvl1pPr algn="r">
              <a:defRPr sz="4800">
                <a:effectLst/>
              </a:defRPr>
            </a:lvl1pPr>
          </a:lstStyle>
          <a:p>
            <a:pPr rtl="0"/>
            <a:r>
              <a:rPr lang="es-ES" noProof="0" smtClean="0"/>
              <a:t>Haga clic para modificar el estilo de título del patrón</a:t>
            </a:r>
            <a:endParaRPr lang="es-ES" noProof="0"/>
          </a:p>
        </p:txBody>
      </p:sp>
      <p:sp>
        <p:nvSpPr>
          <p:cNvPr id="3" name="Subtítulo 2"/>
          <p:cNvSpPr>
            <a:spLocks noGrp="1"/>
          </p:cNvSpPr>
          <p:nvPr>
            <p:ph type="subTitle" idx="1" hasCustomPrompt="1"/>
          </p:nvPr>
        </p:nvSpPr>
        <p:spPr>
          <a:xfrm>
            <a:off x="3962399" y="4385732"/>
            <a:ext cx="7197726" cy="1405467"/>
          </a:xfrm>
        </p:spPr>
        <p:txBody>
          <a:bodyPr rtlCol="0"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4" name="Marcador de posición de fecha 3"/>
          <p:cNvSpPr>
            <a:spLocks noGrp="1"/>
          </p:cNvSpPr>
          <p:nvPr>
            <p:ph type="dt" sz="half" idx="10"/>
          </p:nvPr>
        </p:nvSpPr>
        <p:spPr>
          <a:xfrm>
            <a:off x="8932558" y="5870575"/>
            <a:ext cx="1600200" cy="377825"/>
          </a:xfrm>
        </p:spPr>
        <p:txBody>
          <a:bodyPr rtlCol="0"/>
          <a:lstStyle/>
          <a:p>
            <a:pPr rtl="0"/>
            <a:fld id="{F9ED9D5C-6C5E-4E41-A800-98E98BFD3B24}" type="datetime1">
              <a:rPr lang="es-ES" noProof="0" smtClean="0"/>
              <a:t>27/08/2026</a:t>
            </a:fld>
            <a:endParaRPr lang="es-ES" noProof="0"/>
          </a:p>
        </p:txBody>
      </p:sp>
      <p:sp>
        <p:nvSpPr>
          <p:cNvPr id="5" name="Marcador de posición de pie de página 4"/>
          <p:cNvSpPr>
            <a:spLocks noGrp="1"/>
          </p:cNvSpPr>
          <p:nvPr>
            <p:ph type="ftr" sz="quarter" idx="11"/>
          </p:nvPr>
        </p:nvSpPr>
        <p:spPr>
          <a:xfrm>
            <a:off x="3962399" y="5870575"/>
            <a:ext cx="4893958" cy="377825"/>
          </a:xfrm>
        </p:spPr>
        <p:txBody>
          <a:bodyPr rtlCol="0"/>
          <a:lstStyle/>
          <a:p>
            <a:pPr rtl="0"/>
            <a:endParaRPr lang="es-ES" noProof="0"/>
          </a:p>
        </p:txBody>
      </p:sp>
      <p:sp>
        <p:nvSpPr>
          <p:cNvPr id="6" name="Marcador de posición de número de diapositiva 5"/>
          <p:cNvSpPr>
            <a:spLocks noGrp="1"/>
          </p:cNvSpPr>
          <p:nvPr>
            <p:ph type="sldNum" sz="quarter" idx="12"/>
          </p:nvPr>
        </p:nvSpPr>
        <p:spPr>
          <a:xfrm>
            <a:off x="10608958" y="5870575"/>
            <a:ext cx="551167" cy="377825"/>
          </a:xfrm>
        </p:spPr>
        <p:txBody>
          <a:bodyPr rtlCol="0"/>
          <a:lstStyle/>
          <a:p>
            <a:pPr rtl="0"/>
            <a:fld id="{69E57DC2-970A-4B3E-BB1C-7A09969E49DF}" type="slidenum">
              <a:rPr lang="es-ES" noProof="0" smtClean="0"/>
              <a:pPr rtl="0"/>
              <a:t>‹Nº›</a:t>
            </a:fld>
            <a:endParaRPr lang="es-ES" noProof="0"/>
          </a:p>
        </p:txBody>
      </p:sp>
    </p:spTree>
    <p:extLst>
      <p:ext uri="{BB962C8B-B14F-4D97-AF65-F5344CB8AC3E}">
        <p14:creationId xmlns:p14="http://schemas.microsoft.com/office/powerpoint/2010/main" val="22023250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pic>
        <p:nvPicPr>
          <p:cNvPr id="7" name="Imagen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p:txBody>
          <a:bodyPr rtlCol="0"/>
          <a:lstStyle/>
          <a:p>
            <a:pPr rtl="0"/>
            <a:r>
              <a:rPr lang="es-ES" noProof="0" smtClean="0"/>
              <a:t>Haga clic para modificar el estilo de título del patrón</a:t>
            </a:r>
            <a:endParaRPr lang="es-ES" noProof="0"/>
          </a:p>
        </p:txBody>
      </p:sp>
      <p:sp>
        <p:nvSpPr>
          <p:cNvPr id="3" name="Marcador de posición de contenido 2"/>
          <p:cNvSpPr>
            <a:spLocks noGrp="1"/>
          </p:cNvSpPr>
          <p:nvPr>
            <p:ph idx="1" hasCustomPrompt="1"/>
          </p:nvPr>
        </p:nvSpPr>
        <p:spPr/>
        <p:txBody>
          <a:bodyPr rtlCol="0" anchor="ct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fecha 3"/>
          <p:cNvSpPr>
            <a:spLocks noGrp="1"/>
          </p:cNvSpPr>
          <p:nvPr>
            <p:ph type="dt" sz="half" idx="10"/>
          </p:nvPr>
        </p:nvSpPr>
        <p:spPr/>
        <p:txBody>
          <a:bodyPr rtlCol="0"/>
          <a:lstStyle/>
          <a:p>
            <a:pPr rtl="0"/>
            <a:fld id="{470C786E-B2E4-4B50-A5C3-3AD13FC87CF7}" type="datetime1">
              <a:rPr lang="es-ES" noProof="0" smtClean="0"/>
              <a:t>27/08/2026</a:t>
            </a:fld>
            <a:endParaRPr lang="es-ES" noProof="0"/>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69E57DC2-970A-4B3E-BB1C-7A09969E49DF}" type="slidenum">
              <a:rPr lang="es-ES" noProof="0" smtClean="0"/>
              <a:t>‹Nº›</a:t>
            </a:fld>
            <a:endParaRPr lang="es-ES" noProof="0"/>
          </a:p>
        </p:txBody>
      </p:sp>
    </p:spTree>
    <p:extLst>
      <p:ext uri="{BB962C8B-B14F-4D97-AF65-F5344CB8AC3E}">
        <p14:creationId xmlns:p14="http://schemas.microsoft.com/office/powerpoint/2010/main" val="24665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Imagen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0" y="3308581"/>
            <a:ext cx="10131427" cy="1468800"/>
          </a:xfrm>
        </p:spPr>
        <p:txBody>
          <a:bodyPr rtlCol="0" anchor="b"/>
          <a:lstStyle>
            <a:lvl1pPr algn="l">
              <a:defRPr sz="4000" b="0" cap="all"/>
            </a:lvl1pPr>
          </a:lstStyle>
          <a:p>
            <a:pPr rtl="0"/>
            <a:r>
              <a:rPr lang="es-ES" noProof="0" smtClean="0"/>
              <a:t>Haga clic para modificar el estilo de título del patrón</a:t>
            </a:r>
            <a:endParaRPr lang="es-ES" noProof="0"/>
          </a:p>
        </p:txBody>
      </p:sp>
      <p:sp>
        <p:nvSpPr>
          <p:cNvPr id="3" name="Marcador de posición de texto 2"/>
          <p:cNvSpPr>
            <a:spLocks noGrp="1"/>
          </p:cNvSpPr>
          <p:nvPr>
            <p:ph type="body" idx="1" hasCustomPrompt="1"/>
          </p:nvPr>
        </p:nvSpPr>
        <p:spPr>
          <a:xfrm>
            <a:off x="685799" y="4777381"/>
            <a:ext cx="10131428" cy="860400"/>
          </a:xfrm>
        </p:spPr>
        <p:txBody>
          <a:bodyPr rtlCol="0"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Editar estilos de texto del patrón</a:t>
            </a:r>
          </a:p>
        </p:txBody>
      </p:sp>
      <p:sp>
        <p:nvSpPr>
          <p:cNvPr id="4" name="Marcador de posición de fecha 3"/>
          <p:cNvSpPr>
            <a:spLocks noGrp="1"/>
          </p:cNvSpPr>
          <p:nvPr>
            <p:ph type="dt" sz="half" idx="10"/>
          </p:nvPr>
        </p:nvSpPr>
        <p:spPr/>
        <p:txBody>
          <a:bodyPr rtlCol="0"/>
          <a:lstStyle/>
          <a:p>
            <a:pPr rtl="0"/>
            <a:fld id="{989091C0-0C1F-4B47-93AF-EC6317D9AC53}" type="datetime1">
              <a:rPr lang="es-ES" noProof="0" smtClean="0"/>
              <a:t>27/08/2026</a:t>
            </a:fld>
            <a:endParaRPr lang="es-ES" noProof="0"/>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69E57DC2-970A-4B3E-BB1C-7A09969E49DF}" type="slidenum">
              <a:rPr lang="es-ES" noProof="0" smtClean="0"/>
              <a:pPr rtl="0"/>
              <a:t>‹Nº›</a:t>
            </a:fld>
            <a:endParaRPr lang="es-ES" noProof="0"/>
          </a:p>
        </p:txBody>
      </p:sp>
    </p:spTree>
    <p:extLst>
      <p:ext uri="{BB962C8B-B14F-4D97-AF65-F5344CB8AC3E}">
        <p14:creationId xmlns:p14="http://schemas.microsoft.com/office/powerpoint/2010/main" val="107458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Imagen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p:txBody>
          <a:bodyPr rtlCol="0"/>
          <a:lstStyle/>
          <a:p>
            <a:pPr rtl="0"/>
            <a:r>
              <a:rPr lang="es-ES" noProof="0" smtClean="0"/>
              <a:t>Haga clic para modificar el estilo de título del patrón</a:t>
            </a:r>
            <a:endParaRPr lang="es-ES" noProof="0"/>
          </a:p>
        </p:txBody>
      </p:sp>
      <p:sp>
        <p:nvSpPr>
          <p:cNvPr id="3" name="Marcador de posición de contenido 2"/>
          <p:cNvSpPr>
            <a:spLocks noGrp="1"/>
          </p:cNvSpPr>
          <p:nvPr>
            <p:ph sz="half" idx="1" hasCustomPrompt="1"/>
          </p:nvPr>
        </p:nvSpPr>
        <p:spPr>
          <a:xfrm>
            <a:off x="685802" y="2142067"/>
            <a:ext cx="4995334" cy="3649134"/>
          </a:xfrm>
        </p:spPr>
        <p:txBody>
          <a:bodyPr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contenido 3"/>
          <p:cNvSpPr>
            <a:spLocks noGrp="1"/>
          </p:cNvSpPr>
          <p:nvPr>
            <p:ph sz="half" idx="2" hasCustomPrompt="1"/>
          </p:nvPr>
        </p:nvSpPr>
        <p:spPr>
          <a:xfrm>
            <a:off x="5821895" y="2142067"/>
            <a:ext cx="4995332" cy="3649133"/>
          </a:xfrm>
        </p:spPr>
        <p:txBody>
          <a:bodyPr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osición de fecha 4"/>
          <p:cNvSpPr>
            <a:spLocks noGrp="1"/>
          </p:cNvSpPr>
          <p:nvPr>
            <p:ph type="dt" sz="half" idx="10"/>
          </p:nvPr>
        </p:nvSpPr>
        <p:spPr/>
        <p:txBody>
          <a:bodyPr rtlCol="0"/>
          <a:lstStyle/>
          <a:p>
            <a:pPr rtl="0"/>
            <a:fld id="{6E8946AA-C9FD-4B63-9E82-1BA3CBEB08D2}" type="datetime1">
              <a:rPr lang="es-ES" noProof="0" smtClean="0"/>
              <a:t>27/08/2026</a:t>
            </a:fld>
            <a:endParaRPr lang="es-ES" noProof="0"/>
          </a:p>
        </p:txBody>
      </p:sp>
      <p:sp>
        <p:nvSpPr>
          <p:cNvPr id="6" name="Marcador de posición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9E57DC2-970A-4B3E-BB1C-7A09969E49DF}" type="slidenum">
              <a:rPr lang="es-ES" noProof="0" smtClean="0"/>
              <a:t>‹Nº›</a:t>
            </a:fld>
            <a:endParaRPr lang="es-ES" noProof="0"/>
          </a:p>
        </p:txBody>
      </p:sp>
    </p:spTree>
    <p:extLst>
      <p:ext uri="{BB962C8B-B14F-4D97-AF65-F5344CB8AC3E}">
        <p14:creationId xmlns:p14="http://schemas.microsoft.com/office/powerpoint/2010/main" val="162310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defRPr/>
            </a:lvl1pPr>
          </a:lstStyle>
          <a:p>
            <a:pPr rtl="0"/>
            <a:r>
              <a:rPr lang="es-ES" noProof="0" smtClean="0"/>
              <a:t>Haga clic para modificar el estilo de título del patrón</a:t>
            </a:r>
            <a:endParaRPr lang="es-ES" noProof="0"/>
          </a:p>
        </p:txBody>
      </p:sp>
      <p:sp>
        <p:nvSpPr>
          <p:cNvPr id="3" name="Marcador de posición de texto 2"/>
          <p:cNvSpPr>
            <a:spLocks noGrp="1"/>
          </p:cNvSpPr>
          <p:nvPr>
            <p:ph type="body" idx="1" hasCustomPrompt="1"/>
          </p:nvPr>
        </p:nvSpPr>
        <p:spPr>
          <a:xfrm>
            <a:off x="973670" y="2218267"/>
            <a:ext cx="4709054"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4" name="Marcador de posición de contenido 3"/>
          <p:cNvSpPr>
            <a:spLocks noGrp="1"/>
          </p:cNvSpPr>
          <p:nvPr>
            <p:ph sz="half" idx="2" hasCustomPrompt="1"/>
          </p:nvPr>
        </p:nvSpPr>
        <p:spPr>
          <a:xfrm>
            <a:off x="685801" y="2870201"/>
            <a:ext cx="4996923" cy="2920998"/>
          </a:xfrm>
        </p:spPr>
        <p:txBody>
          <a:bodyPr rtlCol="0" anchor="t">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osición de texto 4"/>
          <p:cNvSpPr>
            <a:spLocks noGrp="1"/>
          </p:cNvSpPr>
          <p:nvPr>
            <p:ph type="body" sz="quarter" idx="3" hasCustomPrompt="1"/>
          </p:nvPr>
        </p:nvSpPr>
        <p:spPr>
          <a:xfrm>
            <a:off x="6096003" y="2226734"/>
            <a:ext cx="4722813"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6" name="Marcador de posición de contenido 5"/>
          <p:cNvSpPr>
            <a:spLocks noGrp="1"/>
          </p:cNvSpPr>
          <p:nvPr>
            <p:ph sz="quarter" idx="4" hasCustomPrompt="1"/>
          </p:nvPr>
        </p:nvSpPr>
        <p:spPr>
          <a:xfrm>
            <a:off x="5823483" y="2870201"/>
            <a:ext cx="4995334" cy="2920998"/>
          </a:xfrm>
        </p:spPr>
        <p:txBody>
          <a:bodyPr rtlCol="0" anchor="t">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posición de fecha 6"/>
          <p:cNvSpPr>
            <a:spLocks noGrp="1"/>
          </p:cNvSpPr>
          <p:nvPr>
            <p:ph type="dt" sz="half" idx="10"/>
          </p:nvPr>
        </p:nvSpPr>
        <p:spPr/>
        <p:txBody>
          <a:bodyPr rtlCol="0"/>
          <a:lstStyle/>
          <a:p>
            <a:pPr rtl="0"/>
            <a:fld id="{27F74E82-BC1E-4ED4-9E0F-0F2E91F047D3}" type="datetime1">
              <a:rPr lang="es-ES" noProof="0" smtClean="0"/>
              <a:t>27/08/2026</a:t>
            </a:fld>
            <a:endParaRPr lang="es-ES" noProof="0"/>
          </a:p>
        </p:txBody>
      </p:sp>
      <p:sp>
        <p:nvSpPr>
          <p:cNvPr id="8" name="Marcador de posición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69E57DC2-970A-4B3E-BB1C-7A09969E49DF}" type="slidenum">
              <a:rPr lang="es-ES" noProof="0" smtClean="0"/>
              <a:t>‹Nº›</a:t>
            </a:fld>
            <a:endParaRPr lang="es-ES" noProof="0"/>
          </a:p>
        </p:txBody>
      </p:sp>
    </p:spTree>
    <p:extLst>
      <p:ext uri="{BB962C8B-B14F-4D97-AF65-F5344CB8AC3E}">
        <p14:creationId xmlns:p14="http://schemas.microsoft.com/office/powerpoint/2010/main" val="198729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Imagen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p:txBody>
          <a:bodyPr rtlCol="0"/>
          <a:lstStyle/>
          <a:p>
            <a:pPr rtl="0"/>
            <a:r>
              <a:rPr lang="es-ES" noProof="0" smtClean="0"/>
              <a:t>Haga clic para modificar el estilo de título del patrón</a:t>
            </a:r>
            <a:endParaRPr lang="es-ES" noProof="0"/>
          </a:p>
        </p:txBody>
      </p:sp>
      <p:sp>
        <p:nvSpPr>
          <p:cNvPr id="3" name="Marcador de posición de fecha 2"/>
          <p:cNvSpPr>
            <a:spLocks noGrp="1"/>
          </p:cNvSpPr>
          <p:nvPr>
            <p:ph type="dt" sz="half" idx="10"/>
          </p:nvPr>
        </p:nvSpPr>
        <p:spPr/>
        <p:txBody>
          <a:bodyPr rtlCol="0"/>
          <a:lstStyle/>
          <a:p>
            <a:pPr rtl="0"/>
            <a:fld id="{C098A529-48DD-4F6D-A862-37EF6469A894}" type="datetime1">
              <a:rPr lang="es-ES" noProof="0" smtClean="0"/>
              <a:t>27/08/2026</a:t>
            </a:fld>
            <a:endParaRPr lang="es-ES" noProof="0"/>
          </a:p>
        </p:txBody>
      </p:sp>
      <p:sp>
        <p:nvSpPr>
          <p:cNvPr id="4" name="Marcador de posición de pie de página 3"/>
          <p:cNvSpPr>
            <a:spLocks noGrp="1"/>
          </p:cNvSpPr>
          <p:nvPr>
            <p:ph type="ftr" sz="quarter" idx="11"/>
          </p:nvPr>
        </p:nvSpPr>
        <p:spPr/>
        <p:txBody>
          <a:bodyPr rtlCol="0"/>
          <a:lstStyle/>
          <a:p>
            <a:pPr rtl="0"/>
            <a:endParaRPr lang="es-ES" noProof="0"/>
          </a:p>
        </p:txBody>
      </p:sp>
      <p:sp>
        <p:nvSpPr>
          <p:cNvPr id="5" name="Marcador de posición de número de diapositiva 4"/>
          <p:cNvSpPr>
            <a:spLocks noGrp="1"/>
          </p:cNvSpPr>
          <p:nvPr>
            <p:ph type="sldNum" sz="quarter" idx="12"/>
          </p:nvPr>
        </p:nvSpPr>
        <p:spPr/>
        <p:txBody>
          <a:bodyPr rtlCol="0"/>
          <a:lstStyle/>
          <a:p>
            <a:pPr rtl="0"/>
            <a:fld id="{69E57DC2-970A-4B3E-BB1C-7A09969E49DF}" type="slidenum">
              <a:rPr lang="es-ES" noProof="0" smtClean="0"/>
              <a:t>‹Nº›</a:t>
            </a:fld>
            <a:endParaRPr lang="es-ES" noProof="0"/>
          </a:p>
        </p:txBody>
      </p:sp>
    </p:spTree>
    <p:extLst>
      <p:ext uri="{BB962C8B-B14F-4D97-AF65-F5344CB8AC3E}">
        <p14:creationId xmlns:p14="http://schemas.microsoft.com/office/powerpoint/2010/main" val="424055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Imagen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Marcador de posición de fecha 1"/>
          <p:cNvSpPr>
            <a:spLocks noGrp="1"/>
          </p:cNvSpPr>
          <p:nvPr>
            <p:ph type="dt" sz="half" idx="10"/>
          </p:nvPr>
        </p:nvSpPr>
        <p:spPr/>
        <p:txBody>
          <a:bodyPr rtlCol="0"/>
          <a:lstStyle/>
          <a:p>
            <a:pPr rtl="0"/>
            <a:fld id="{F2D6DEB3-7E92-49B6-9602-1DCB0328C3A6}" type="datetime1">
              <a:rPr lang="es-ES" noProof="0" smtClean="0"/>
              <a:t>27/08/2026</a:t>
            </a:fld>
            <a:endParaRPr lang="es-ES" noProof="0"/>
          </a:p>
        </p:txBody>
      </p:sp>
      <p:sp>
        <p:nvSpPr>
          <p:cNvPr id="3" name="Marcador de posición de pie de página 2"/>
          <p:cNvSpPr>
            <a:spLocks noGrp="1"/>
          </p:cNvSpPr>
          <p:nvPr>
            <p:ph type="ftr" sz="quarter" idx="11"/>
          </p:nvPr>
        </p:nvSpPr>
        <p:spPr/>
        <p:txBody>
          <a:bodyPr rtlCol="0"/>
          <a:lstStyle/>
          <a:p>
            <a:pPr rtl="0"/>
            <a:endParaRPr lang="es-ES" noProof="0" dirty="0"/>
          </a:p>
        </p:txBody>
      </p:sp>
      <p:sp>
        <p:nvSpPr>
          <p:cNvPr id="4" name="Marcador de número de diapositiva 3"/>
          <p:cNvSpPr>
            <a:spLocks noGrp="1"/>
          </p:cNvSpPr>
          <p:nvPr>
            <p:ph type="sldNum" sz="quarter" idx="12"/>
          </p:nvPr>
        </p:nvSpPr>
        <p:spPr/>
        <p:txBody>
          <a:bodyPr rtlCol="0"/>
          <a:lstStyle/>
          <a:p>
            <a:pPr rtl="0"/>
            <a:fld id="{69E57DC2-970A-4B3E-BB1C-7A09969E49DF}" type="slidenum">
              <a:rPr lang="es-ES" noProof="0" smtClean="0"/>
              <a:t>‹Nº›</a:t>
            </a:fld>
            <a:endParaRPr lang="es-ES" noProof="0" dirty="0"/>
          </a:p>
        </p:txBody>
      </p:sp>
    </p:spTree>
    <p:extLst>
      <p:ext uri="{BB962C8B-B14F-4D97-AF65-F5344CB8AC3E}">
        <p14:creationId xmlns:p14="http://schemas.microsoft.com/office/powerpoint/2010/main" val="3293073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leyenda">
    <p:spTree>
      <p:nvGrpSpPr>
        <p:cNvPr id="1" name=""/>
        <p:cNvGrpSpPr/>
        <p:nvPr/>
      </p:nvGrpSpPr>
      <p:grpSpPr>
        <a:xfrm>
          <a:off x="0" y="0"/>
          <a:ext cx="0" cy="0"/>
          <a:chOff x="0" y="0"/>
          <a:chExt cx="0" cy="0"/>
        </a:xfrm>
      </p:grpSpPr>
      <p:pic>
        <p:nvPicPr>
          <p:cNvPr id="8" name="Imagen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0" y="2074333"/>
            <a:ext cx="3680885" cy="1371600"/>
          </a:xfrm>
        </p:spPr>
        <p:txBody>
          <a:bodyPr rtlCol="0" anchor="b">
            <a:normAutofit/>
          </a:bodyPr>
          <a:lstStyle>
            <a:lvl1pPr algn="l">
              <a:defRPr sz="2400" b="0"/>
            </a:lvl1pPr>
          </a:lstStyle>
          <a:p>
            <a:pPr rtl="0"/>
            <a:r>
              <a:rPr lang="es-ES" noProof="0" smtClean="0"/>
              <a:t>Haga clic para modificar el estilo de título del patrón</a:t>
            </a:r>
            <a:endParaRPr lang="es-ES" noProof="0"/>
          </a:p>
        </p:txBody>
      </p:sp>
      <p:sp>
        <p:nvSpPr>
          <p:cNvPr id="3" name="Marcador de posición de contenido 2"/>
          <p:cNvSpPr>
            <a:spLocks noGrp="1"/>
          </p:cNvSpPr>
          <p:nvPr>
            <p:ph idx="1" hasCustomPrompt="1"/>
          </p:nvPr>
        </p:nvSpPr>
        <p:spPr>
          <a:xfrm>
            <a:off x="4648201" y="609601"/>
            <a:ext cx="6169026" cy="5181600"/>
          </a:xfrm>
        </p:spPr>
        <p:txBody>
          <a:bodyPr rtlCol="0" anchor="ctr">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texto 3"/>
          <p:cNvSpPr>
            <a:spLocks noGrp="1"/>
          </p:cNvSpPr>
          <p:nvPr>
            <p:ph type="body" sz="half" idx="2" hasCustomPrompt="1"/>
          </p:nvPr>
        </p:nvSpPr>
        <p:spPr>
          <a:xfrm>
            <a:off x="685800" y="3445933"/>
            <a:ext cx="3680885" cy="1828800"/>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Editar estilos de texto del patrón</a:t>
            </a:r>
          </a:p>
        </p:txBody>
      </p:sp>
      <p:sp>
        <p:nvSpPr>
          <p:cNvPr id="5" name="Marcador de posición de fecha 4"/>
          <p:cNvSpPr>
            <a:spLocks noGrp="1"/>
          </p:cNvSpPr>
          <p:nvPr>
            <p:ph type="dt" sz="half" idx="10"/>
          </p:nvPr>
        </p:nvSpPr>
        <p:spPr/>
        <p:txBody>
          <a:bodyPr rtlCol="0"/>
          <a:lstStyle/>
          <a:p>
            <a:pPr rtl="0"/>
            <a:fld id="{4ED36CB4-0C9D-4E13-AF99-6DA23D67CA19}" type="datetime1">
              <a:rPr lang="es-ES" noProof="0" smtClean="0"/>
              <a:t>27/08/2026</a:t>
            </a:fld>
            <a:endParaRPr lang="es-ES" noProof="0"/>
          </a:p>
        </p:txBody>
      </p:sp>
      <p:sp>
        <p:nvSpPr>
          <p:cNvPr id="6" name="Marcador de posición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9E57DC2-970A-4B3E-BB1C-7A09969E49DF}" type="slidenum">
              <a:rPr lang="es-ES" noProof="0" smtClean="0"/>
              <a:pPr rtl="0"/>
              <a:t>‹Nº›</a:t>
            </a:fld>
            <a:endParaRPr lang="es-ES" noProof="0"/>
          </a:p>
        </p:txBody>
      </p:sp>
    </p:spTree>
    <p:extLst>
      <p:ext uri="{BB962C8B-B14F-4D97-AF65-F5344CB8AC3E}">
        <p14:creationId xmlns:p14="http://schemas.microsoft.com/office/powerpoint/2010/main" val="11409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pic>
        <p:nvPicPr>
          <p:cNvPr id="8" name="Imagen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0" y="1600200"/>
            <a:ext cx="6164653" cy="1371600"/>
          </a:xfrm>
        </p:spPr>
        <p:txBody>
          <a:bodyPr rtlCol="0" anchor="b">
            <a:normAutofit/>
          </a:bodyPr>
          <a:lstStyle>
            <a:lvl1pPr algn="l">
              <a:defRPr sz="2800" b="0"/>
            </a:lvl1pPr>
          </a:lstStyle>
          <a:p>
            <a:pPr rtl="0"/>
            <a:r>
              <a:rPr lang="es-ES" noProof="0" smtClean="0"/>
              <a:t>Haga clic para modificar el estilo de título del patrón</a:t>
            </a:r>
            <a:endParaRPr lang="es-ES" noProof="0"/>
          </a:p>
        </p:txBody>
      </p:sp>
      <p:sp>
        <p:nvSpPr>
          <p:cNvPr id="14" name="Marcador de posición de imagen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smtClean="0"/>
              <a:t>Haga clic en el icono para agregar una imagen</a:t>
            </a:r>
            <a:endParaRPr lang="es-ES" noProof="0"/>
          </a:p>
        </p:txBody>
      </p:sp>
      <p:sp>
        <p:nvSpPr>
          <p:cNvPr id="4" name="Marcador de posición de texto 3"/>
          <p:cNvSpPr>
            <a:spLocks noGrp="1"/>
          </p:cNvSpPr>
          <p:nvPr>
            <p:ph type="body" sz="half" idx="2" hasCustomPrompt="1"/>
          </p:nvPr>
        </p:nvSpPr>
        <p:spPr>
          <a:xfrm>
            <a:off x="685800" y="2971800"/>
            <a:ext cx="6164653" cy="1828800"/>
          </a:xfrm>
        </p:spPr>
        <p:txBody>
          <a:bodyPr rtlCol="0"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Editar estilos de texto del patrón</a:t>
            </a:r>
          </a:p>
        </p:txBody>
      </p:sp>
      <p:sp>
        <p:nvSpPr>
          <p:cNvPr id="5" name="Marcador de posición de fecha 4"/>
          <p:cNvSpPr>
            <a:spLocks noGrp="1"/>
          </p:cNvSpPr>
          <p:nvPr>
            <p:ph type="dt" sz="half" idx="10"/>
          </p:nvPr>
        </p:nvSpPr>
        <p:spPr/>
        <p:txBody>
          <a:bodyPr rtlCol="0"/>
          <a:lstStyle/>
          <a:p>
            <a:pPr rtl="0"/>
            <a:fld id="{7CFB0BCE-98C7-46FE-B554-DC6C72F398B9}" type="datetime1">
              <a:rPr lang="es-ES" noProof="0" smtClean="0"/>
              <a:t>27/08/2026</a:t>
            </a:fld>
            <a:endParaRPr lang="es-ES" noProof="0"/>
          </a:p>
        </p:txBody>
      </p:sp>
      <p:sp>
        <p:nvSpPr>
          <p:cNvPr id="6" name="Marcador de posición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9E57DC2-970A-4B3E-BB1C-7A09969E49DF}" type="slidenum">
              <a:rPr lang="es-ES" noProof="0" smtClean="0"/>
              <a:pPr rtl="0"/>
              <a:t>‹Nº›</a:t>
            </a:fld>
            <a:endParaRPr lang="es-ES" noProof="0"/>
          </a:p>
        </p:txBody>
      </p:sp>
    </p:spTree>
    <p:extLst>
      <p:ext uri="{BB962C8B-B14F-4D97-AF65-F5344CB8AC3E}">
        <p14:creationId xmlns:p14="http://schemas.microsoft.com/office/powerpoint/2010/main" val="217908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leyenda">
    <p:spTree>
      <p:nvGrpSpPr>
        <p:cNvPr id="1" name=""/>
        <p:cNvGrpSpPr/>
        <p:nvPr/>
      </p:nvGrpSpPr>
      <p:grpSpPr>
        <a:xfrm>
          <a:off x="0" y="0"/>
          <a:ext cx="0" cy="0"/>
          <a:chOff x="0" y="0"/>
          <a:chExt cx="0" cy="0"/>
        </a:xfrm>
      </p:grpSpPr>
      <p:pic>
        <p:nvPicPr>
          <p:cNvPr id="8" name="Imagen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0" y="4732865"/>
            <a:ext cx="10131427" cy="566738"/>
          </a:xfrm>
        </p:spPr>
        <p:txBody>
          <a:bodyPr rtlCol="0" anchor="b">
            <a:normAutofit/>
          </a:bodyPr>
          <a:lstStyle>
            <a:lvl1pPr algn="l">
              <a:defRPr sz="2400" b="0"/>
            </a:lvl1pPr>
          </a:lstStyle>
          <a:p>
            <a:pPr rtl="0"/>
            <a:r>
              <a:rPr lang="es-ES" noProof="0" smtClean="0"/>
              <a:t>Haga clic para modificar el estilo de título del patrón</a:t>
            </a:r>
            <a:endParaRPr lang="es-ES" noProof="0"/>
          </a:p>
        </p:txBody>
      </p:sp>
      <p:sp>
        <p:nvSpPr>
          <p:cNvPr id="3" name="Marcador de posición de imagen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smtClean="0"/>
              <a:t>Haga clic en el icono para agregar una imagen</a:t>
            </a:r>
            <a:endParaRPr lang="es-ES" noProof="0"/>
          </a:p>
        </p:txBody>
      </p:sp>
      <p:sp>
        <p:nvSpPr>
          <p:cNvPr id="4" name="Marcador de posición de texto 3"/>
          <p:cNvSpPr>
            <a:spLocks noGrp="1"/>
          </p:cNvSpPr>
          <p:nvPr>
            <p:ph type="body" sz="half" idx="2" hasCustomPrompt="1"/>
          </p:nvPr>
        </p:nvSpPr>
        <p:spPr>
          <a:xfrm>
            <a:off x="685800" y="5299603"/>
            <a:ext cx="10131427" cy="49371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Editar estilos de texto del patrón</a:t>
            </a:r>
          </a:p>
        </p:txBody>
      </p:sp>
      <p:sp>
        <p:nvSpPr>
          <p:cNvPr id="5" name="Marcador de posición de fecha 4"/>
          <p:cNvSpPr>
            <a:spLocks noGrp="1"/>
          </p:cNvSpPr>
          <p:nvPr>
            <p:ph type="dt" sz="half" idx="10"/>
          </p:nvPr>
        </p:nvSpPr>
        <p:spPr/>
        <p:txBody>
          <a:bodyPr rtlCol="0"/>
          <a:lstStyle/>
          <a:p>
            <a:pPr rtl="0"/>
            <a:fld id="{998E2F49-D0B4-4398-9952-0F6C7D2C391C}" type="datetime1">
              <a:rPr lang="es-ES" noProof="0" smtClean="0"/>
              <a:t>27/08/2026</a:t>
            </a:fld>
            <a:endParaRPr lang="es-ES" noProof="0"/>
          </a:p>
        </p:txBody>
      </p:sp>
      <p:sp>
        <p:nvSpPr>
          <p:cNvPr id="6" name="Marcador de posición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9E57DC2-970A-4B3E-BB1C-7A09969E49DF}" type="slidenum">
              <a:rPr lang="es-ES" noProof="0" smtClean="0"/>
              <a:pPr rtl="0"/>
              <a:t>‹Nº›</a:t>
            </a:fld>
            <a:endParaRPr lang="es-ES" noProof="0"/>
          </a:p>
        </p:txBody>
      </p:sp>
    </p:spTree>
    <p:extLst>
      <p:ext uri="{BB962C8B-B14F-4D97-AF65-F5344CB8AC3E}">
        <p14:creationId xmlns:p14="http://schemas.microsoft.com/office/powerpoint/2010/main" val="3386312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leyenda">
    <p:spTree>
      <p:nvGrpSpPr>
        <p:cNvPr id="1" name=""/>
        <p:cNvGrpSpPr/>
        <p:nvPr/>
      </p:nvGrpSpPr>
      <p:grpSpPr>
        <a:xfrm>
          <a:off x="0" y="0"/>
          <a:ext cx="0" cy="0"/>
          <a:chOff x="0" y="0"/>
          <a:chExt cx="0" cy="0"/>
        </a:xfrm>
      </p:grpSpPr>
      <p:pic>
        <p:nvPicPr>
          <p:cNvPr id="7" name="Imagen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1" y="609601"/>
            <a:ext cx="10131427" cy="3124199"/>
          </a:xfrm>
        </p:spPr>
        <p:txBody>
          <a:bodyPr rtlCol="0" anchor="ctr">
            <a:normAutofit/>
          </a:bodyPr>
          <a:lstStyle>
            <a:lvl1pPr algn="l">
              <a:defRPr sz="3200" b="0" cap="none"/>
            </a:lvl1pPr>
          </a:lstStyle>
          <a:p>
            <a:pPr rtl="0"/>
            <a:r>
              <a:rPr lang="es-ES" noProof="0" smtClean="0"/>
              <a:t>Haga clic para modificar el estilo de título del patrón</a:t>
            </a:r>
            <a:endParaRPr lang="es-ES" noProof="0"/>
          </a:p>
        </p:txBody>
      </p:sp>
      <p:sp>
        <p:nvSpPr>
          <p:cNvPr id="3" name="Marcador de posición de texto 2"/>
          <p:cNvSpPr>
            <a:spLocks noGrp="1"/>
          </p:cNvSpPr>
          <p:nvPr>
            <p:ph type="body" idx="1" hasCustomPrompt="1"/>
          </p:nvPr>
        </p:nvSpPr>
        <p:spPr>
          <a:xfrm>
            <a:off x="685800" y="4343400"/>
            <a:ext cx="10131428"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Editar estilos de texto del patrón</a:t>
            </a:r>
          </a:p>
        </p:txBody>
      </p:sp>
      <p:sp>
        <p:nvSpPr>
          <p:cNvPr id="4" name="Marcador de posición de fecha 3"/>
          <p:cNvSpPr>
            <a:spLocks noGrp="1"/>
          </p:cNvSpPr>
          <p:nvPr>
            <p:ph type="dt" sz="half" idx="10"/>
          </p:nvPr>
        </p:nvSpPr>
        <p:spPr/>
        <p:txBody>
          <a:bodyPr rtlCol="0"/>
          <a:lstStyle/>
          <a:p>
            <a:pPr rtl="0"/>
            <a:fld id="{2C4C7BC3-C12E-4753-A404-DE93D16DCD68}" type="datetime1">
              <a:rPr lang="es-ES" noProof="0" smtClean="0"/>
              <a:t>27/08/2026</a:t>
            </a:fld>
            <a:endParaRPr lang="es-ES" noProof="0"/>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69E57DC2-970A-4B3E-BB1C-7A09969E49DF}" type="slidenum">
              <a:rPr lang="es-ES" noProof="0" smtClean="0"/>
              <a:pPr rtl="0"/>
              <a:t>‹Nº›</a:t>
            </a:fld>
            <a:endParaRPr lang="es-ES" noProof="0"/>
          </a:p>
        </p:txBody>
      </p:sp>
    </p:spTree>
    <p:extLst>
      <p:ext uri="{BB962C8B-B14F-4D97-AF65-F5344CB8AC3E}">
        <p14:creationId xmlns:p14="http://schemas.microsoft.com/office/powerpoint/2010/main" val="349800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título">
    <p:spTree>
      <p:nvGrpSpPr>
        <p:cNvPr id="1" name=""/>
        <p:cNvGrpSpPr/>
        <p:nvPr/>
      </p:nvGrpSpPr>
      <p:grpSpPr>
        <a:xfrm>
          <a:off x="0" y="0"/>
          <a:ext cx="0" cy="0"/>
          <a:chOff x="0" y="0"/>
          <a:chExt cx="0" cy="0"/>
        </a:xfrm>
      </p:grpSpPr>
      <p:pic>
        <p:nvPicPr>
          <p:cNvPr id="11" name="Imagen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Cuadro de texto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8000" noProof="0">
                <a:solidFill>
                  <a:schemeClr val="tx1"/>
                </a:solidFill>
                <a:effectLst/>
              </a:rPr>
              <a:t>”</a:t>
            </a:r>
          </a:p>
        </p:txBody>
      </p:sp>
      <p:sp>
        <p:nvSpPr>
          <p:cNvPr id="14" name="Cuadro de texto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8000" noProof="0">
                <a:solidFill>
                  <a:schemeClr val="tx1"/>
                </a:solidFill>
                <a:effectLst/>
              </a:rPr>
              <a:t>“</a:t>
            </a:r>
          </a:p>
        </p:txBody>
      </p:sp>
      <p:sp>
        <p:nvSpPr>
          <p:cNvPr id="16" name="Título 1"/>
          <p:cNvSpPr>
            <a:spLocks noGrp="1"/>
          </p:cNvSpPr>
          <p:nvPr>
            <p:ph type="title"/>
          </p:nvPr>
        </p:nvSpPr>
        <p:spPr>
          <a:xfrm>
            <a:off x="992267" y="609601"/>
            <a:ext cx="9550399" cy="2743199"/>
          </a:xfrm>
        </p:spPr>
        <p:txBody>
          <a:bodyPr rtlCol="0" anchor="ctr">
            <a:normAutofit/>
          </a:bodyPr>
          <a:lstStyle>
            <a:lvl1pPr algn="l">
              <a:defRPr sz="3200" b="0" cap="none">
                <a:solidFill>
                  <a:schemeClr val="tx1"/>
                </a:solidFill>
              </a:defRPr>
            </a:lvl1pPr>
          </a:lstStyle>
          <a:p>
            <a:pPr rtl="0"/>
            <a:r>
              <a:rPr lang="es-ES" noProof="0" smtClean="0"/>
              <a:t>Haga clic para modificar el estilo de título del patrón</a:t>
            </a:r>
            <a:endParaRPr lang="es-ES" noProof="0"/>
          </a:p>
        </p:txBody>
      </p:sp>
      <p:sp>
        <p:nvSpPr>
          <p:cNvPr id="10" name="Marcador de texto 9"/>
          <p:cNvSpPr>
            <a:spLocks noGrp="1"/>
          </p:cNvSpPr>
          <p:nvPr>
            <p:ph type="body" sz="quarter" idx="13" hasCustomPrompt="1"/>
          </p:nvPr>
        </p:nvSpPr>
        <p:spPr>
          <a:xfrm>
            <a:off x="1097875" y="3352800"/>
            <a:ext cx="9339184" cy="381000"/>
          </a:xfrm>
        </p:spPr>
        <p:txBody>
          <a:bodyPr rtlCol="0"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rtl="0"/>
            <a:r>
              <a:rPr lang="es-ES" noProof="0"/>
              <a:t>Editar estilos de texto del patrón</a:t>
            </a:r>
          </a:p>
        </p:txBody>
      </p:sp>
      <p:sp>
        <p:nvSpPr>
          <p:cNvPr id="3" name="Marcador de posición de texto 2"/>
          <p:cNvSpPr>
            <a:spLocks noGrp="1"/>
          </p:cNvSpPr>
          <p:nvPr>
            <p:ph type="body" idx="1" hasCustomPrompt="1"/>
          </p:nvPr>
        </p:nvSpPr>
        <p:spPr>
          <a:xfrm>
            <a:off x="687465" y="4343400"/>
            <a:ext cx="10152367"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Editar estilos de texto del patrón</a:t>
            </a:r>
          </a:p>
        </p:txBody>
      </p:sp>
      <p:sp>
        <p:nvSpPr>
          <p:cNvPr id="4" name="Marcador de posición de fecha 3"/>
          <p:cNvSpPr>
            <a:spLocks noGrp="1"/>
          </p:cNvSpPr>
          <p:nvPr>
            <p:ph type="dt" sz="half" idx="10"/>
          </p:nvPr>
        </p:nvSpPr>
        <p:spPr/>
        <p:txBody>
          <a:bodyPr rtlCol="0"/>
          <a:lstStyle/>
          <a:p>
            <a:pPr rtl="0"/>
            <a:fld id="{4FC57FCC-B238-4294-A9C2-8DF07F6466E3}" type="datetime1">
              <a:rPr lang="es-ES" noProof="0" smtClean="0"/>
              <a:t>27/08/2026</a:t>
            </a:fld>
            <a:endParaRPr lang="es-ES" noProof="0"/>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69E57DC2-970A-4B3E-BB1C-7A09969E49DF}" type="slidenum">
              <a:rPr lang="es-ES" noProof="0" smtClean="0"/>
              <a:pPr rtl="0"/>
              <a:t>‹Nº›</a:t>
            </a:fld>
            <a:endParaRPr lang="es-ES" noProof="0"/>
          </a:p>
        </p:txBody>
      </p:sp>
    </p:spTree>
    <p:extLst>
      <p:ext uri="{BB962C8B-B14F-4D97-AF65-F5344CB8AC3E}">
        <p14:creationId xmlns:p14="http://schemas.microsoft.com/office/powerpoint/2010/main" val="3205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7" name="Imagen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2" y="3308581"/>
            <a:ext cx="10131425" cy="1468800"/>
          </a:xfrm>
        </p:spPr>
        <p:txBody>
          <a:bodyPr rtlCol="0" anchor="b">
            <a:normAutofit/>
          </a:bodyPr>
          <a:lstStyle>
            <a:lvl1pPr algn="l">
              <a:defRPr sz="3200" b="0" cap="none"/>
            </a:lvl1pPr>
          </a:lstStyle>
          <a:p>
            <a:pPr rtl="0"/>
            <a:r>
              <a:rPr lang="es-ES" noProof="0" smtClean="0"/>
              <a:t>Haga clic para modificar el estilo de título del patrón</a:t>
            </a:r>
            <a:endParaRPr lang="es-ES" noProof="0"/>
          </a:p>
        </p:txBody>
      </p:sp>
      <p:sp>
        <p:nvSpPr>
          <p:cNvPr id="3" name="Marcador de posición de texto 2"/>
          <p:cNvSpPr>
            <a:spLocks noGrp="1"/>
          </p:cNvSpPr>
          <p:nvPr>
            <p:ph type="body" idx="1" hasCustomPrompt="1"/>
          </p:nvPr>
        </p:nvSpPr>
        <p:spPr>
          <a:xfrm>
            <a:off x="685801" y="4777381"/>
            <a:ext cx="10131426" cy="860400"/>
          </a:xfrm>
        </p:spPr>
        <p:txBody>
          <a:bodyPr rtlCol="0"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Editar estilos de texto del patrón</a:t>
            </a:r>
          </a:p>
        </p:txBody>
      </p:sp>
      <p:sp>
        <p:nvSpPr>
          <p:cNvPr id="4" name="Marcador de posición de fecha 3"/>
          <p:cNvSpPr>
            <a:spLocks noGrp="1"/>
          </p:cNvSpPr>
          <p:nvPr>
            <p:ph type="dt" sz="half" idx="10"/>
          </p:nvPr>
        </p:nvSpPr>
        <p:spPr/>
        <p:txBody>
          <a:bodyPr rtlCol="0"/>
          <a:lstStyle/>
          <a:p>
            <a:pPr rtl="0"/>
            <a:fld id="{5C2F428B-4CD3-4B44-882B-9EE851AB66C6}" type="datetime1">
              <a:rPr lang="es-ES" noProof="0" smtClean="0"/>
              <a:t>27/08/2026</a:t>
            </a:fld>
            <a:endParaRPr lang="es-ES" noProof="0"/>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69E57DC2-970A-4B3E-BB1C-7A09969E49DF}" type="slidenum">
              <a:rPr lang="es-ES" noProof="0" smtClean="0"/>
              <a:pPr rtl="0"/>
              <a:t>‹Nº›</a:t>
            </a:fld>
            <a:endParaRPr lang="es-ES" noProof="0"/>
          </a:p>
        </p:txBody>
      </p:sp>
    </p:spTree>
    <p:extLst>
      <p:ext uri="{BB962C8B-B14F-4D97-AF65-F5344CB8AC3E}">
        <p14:creationId xmlns:p14="http://schemas.microsoft.com/office/powerpoint/2010/main" val="217856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 tarjeta de nombre">
    <p:spTree>
      <p:nvGrpSpPr>
        <p:cNvPr id="1" name=""/>
        <p:cNvGrpSpPr/>
        <p:nvPr/>
      </p:nvGrpSpPr>
      <p:grpSpPr>
        <a:xfrm>
          <a:off x="0" y="0"/>
          <a:ext cx="0" cy="0"/>
          <a:chOff x="0" y="0"/>
          <a:chExt cx="0" cy="0"/>
        </a:xfrm>
      </p:grpSpPr>
      <p:pic>
        <p:nvPicPr>
          <p:cNvPr id="11" name="Imagen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Cuadro de texto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8000" noProof="0">
                <a:solidFill>
                  <a:schemeClr val="tx1"/>
                </a:solidFill>
                <a:effectLst/>
              </a:rPr>
              <a:t>”</a:t>
            </a:r>
          </a:p>
        </p:txBody>
      </p:sp>
      <p:sp>
        <p:nvSpPr>
          <p:cNvPr id="14" name="Cuadro de texto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8000" noProof="0">
                <a:solidFill>
                  <a:schemeClr val="tx1"/>
                </a:solidFill>
                <a:effectLst/>
              </a:rPr>
              <a:t>“</a:t>
            </a:r>
          </a:p>
        </p:txBody>
      </p:sp>
      <p:sp>
        <p:nvSpPr>
          <p:cNvPr id="16" name="Título 1"/>
          <p:cNvSpPr>
            <a:spLocks noGrp="1"/>
          </p:cNvSpPr>
          <p:nvPr>
            <p:ph type="title"/>
          </p:nvPr>
        </p:nvSpPr>
        <p:spPr>
          <a:xfrm>
            <a:off x="992267" y="609601"/>
            <a:ext cx="9550399" cy="2743199"/>
          </a:xfrm>
        </p:spPr>
        <p:txBody>
          <a:bodyPr rtlCol="0" anchor="ctr">
            <a:normAutofit/>
          </a:bodyPr>
          <a:lstStyle>
            <a:lvl1pPr algn="l">
              <a:defRPr sz="3200" b="0" cap="none">
                <a:solidFill>
                  <a:schemeClr val="tx1"/>
                </a:solidFill>
              </a:defRPr>
            </a:lvl1pPr>
          </a:lstStyle>
          <a:p>
            <a:pPr rtl="0"/>
            <a:r>
              <a:rPr lang="es-ES" noProof="0" smtClean="0"/>
              <a:t>Haga clic para modificar el estilo de título del patrón</a:t>
            </a:r>
            <a:endParaRPr lang="es-ES" noProof="0"/>
          </a:p>
        </p:txBody>
      </p:sp>
      <p:sp>
        <p:nvSpPr>
          <p:cNvPr id="10" name="Marcador de texto 9"/>
          <p:cNvSpPr>
            <a:spLocks noGrp="1"/>
          </p:cNvSpPr>
          <p:nvPr>
            <p:ph type="body" sz="quarter" idx="13" hasCustomPrompt="1"/>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rtl="0">
              <a:spcBef>
                <a:spcPct val="0"/>
              </a:spcBef>
              <a:buNone/>
            </a:pPr>
            <a:r>
              <a:rPr lang="es-ES" noProof="0"/>
              <a:t>Editar estilos de texto del patrón</a:t>
            </a:r>
          </a:p>
        </p:txBody>
      </p:sp>
      <p:sp>
        <p:nvSpPr>
          <p:cNvPr id="3" name="Marcador de posición de texto 2"/>
          <p:cNvSpPr>
            <a:spLocks noGrp="1"/>
          </p:cNvSpPr>
          <p:nvPr>
            <p:ph type="body" idx="1" hasCustomPrompt="1"/>
          </p:nvPr>
        </p:nvSpPr>
        <p:spPr>
          <a:xfrm>
            <a:off x="685799" y="4775200"/>
            <a:ext cx="10135436" cy="10160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Editar estilos de texto del patrón</a:t>
            </a:r>
          </a:p>
        </p:txBody>
      </p:sp>
      <p:sp>
        <p:nvSpPr>
          <p:cNvPr id="4" name="Marcador de posición de fecha 3"/>
          <p:cNvSpPr>
            <a:spLocks noGrp="1"/>
          </p:cNvSpPr>
          <p:nvPr>
            <p:ph type="dt" sz="half" idx="10"/>
          </p:nvPr>
        </p:nvSpPr>
        <p:spPr/>
        <p:txBody>
          <a:bodyPr rtlCol="0"/>
          <a:lstStyle/>
          <a:p>
            <a:pPr rtl="0"/>
            <a:fld id="{BD00BD2A-6013-48BC-B926-822ECE3AE5D7}" type="datetime1">
              <a:rPr lang="es-ES" noProof="0" smtClean="0"/>
              <a:t>27/08/2026</a:t>
            </a:fld>
            <a:endParaRPr lang="es-ES" noProof="0"/>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69E57DC2-970A-4B3E-BB1C-7A09969E49DF}" type="slidenum">
              <a:rPr lang="es-ES" noProof="0" smtClean="0"/>
              <a:pPr rtl="0"/>
              <a:t>‹Nº›</a:t>
            </a:fld>
            <a:endParaRPr lang="es-ES" noProof="0"/>
          </a:p>
        </p:txBody>
      </p:sp>
    </p:spTree>
    <p:extLst>
      <p:ext uri="{BB962C8B-B14F-4D97-AF65-F5344CB8AC3E}">
        <p14:creationId xmlns:p14="http://schemas.microsoft.com/office/powerpoint/2010/main" val="304418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pic>
        <p:nvPicPr>
          <p:cNvPr id="8" name="Imagen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rtl="0"/>
            <a:r>
              <a:rPr lang="es-ES" noProof="0" smtClean="0"/>
              <a:t>Haga clic para modificar el estilo de título del patrón</a:t>
            </a:r>
            <a:endParaRPr lang="es-ES" noProof="0"/>
          </a:p>
        </p:txBody>
      </p:sp>
      <p:sp>
        <p:nvSpPr>
          <p:cNvPr id="10" name="Marcador de texto 9"/>
          <p:cNvSpPr>
            <a:spLocks noGrp="1"/>
          </p:cNvSpPr>
          <p:nvPr>
            <p:ph type="body" sz="quarter" idx="13" hasCustomPrompt="1"/>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rtl="0">
              <a:spcBef>
                <a:spcPct val="0"/>
              </a:spcBef>
              <a:buNone/>
            </a:pPr>
            <a:r>
              <a:rPr lang="es-ES" noProof="0"/>
              <a:t>Editar estilos de texto del patrón</a:t>
            </a:r>
          </a:p>
        </p:txBody>
      </p:sp>
      <p:sp>
        <p:nvSpPr>
          <p:cNvPr id="3" name="Marcador de posición de texto 2"/>
          <p:cNvSpPr>
            <a:spLocks noGrp="1"/>
          </p:cNvSpPr>
          <p:nvPr>
            <p:ph type="body" idx="1" hasCustomPrompt="1"/>
          </p:nvPr>
        </p:nvSpPr>
        <p:spPr>
          <a:xfrm>
            <a:off x="685800" y="4343400"/>
            <a:ext cx="10131428" cy="14478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Editar estilos de texto del patrón</a:t>
            </a:r>
          </a:p>
        </p:txBody>
      </p:sp>
      <p:sp>
        <p:nvSpPr>
          <p:cNvPr id="4" name="Marcador de posición de fecha 3"/>
          <p:cNvSpPr>
            <a:spLocks noGrp="1"/>
          </p:cNvSpPr>
          <p:nvPr>
            <p:ph type="dt" sz="half" idx="10"/>
          </p:nvPr>
        </p:nvSpPr>
        <p:spPr/>
        <p:txBody>
          <a:bodyPr rtlCol="0"/>
          <a:lstStyle/>
          <a:p>
            <a:pPr rtl="0"/>
            <a:fld id="{C5704F8A-5643-41F0-93C6-F41CB8C85559}" type="datetime1">
              <a:rPr lang="es-ES" noProof="0" smtClean="0"/>
              <a:t>27/08/2026</a:t>
            </a:fld>
            <a:endParaRPr lang="es-ES" noProof="0"/>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69E57DC2-970A-4B3E-BB1C-7A09969E49DF}" type="slidenum">
              <a:rPr lang="es-ES" noProof="0" smtClean="0"/>
              <a:pPr rtl="0"/>
              <a:t>‹Nº›</a:t>
            </a:fld>
            <a:endParaRPr lang="es-ES" noProof="0"/>
          </a:p>
        </p:txBody>
      </p:sp>
    </p:spTree>
    <p:extLst>
      <p:ext uri="{BB962C8B-B14F-4D97-AF65-F5344CB8AC3E}">
        <p14:creationId xmlns:p14="http://schemas.microsoft.com/office/powerpoint/2010/main" val="4285960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exto vertical y título">
    <p:spTree>
      <p:nvGrpSpPr>
        <p:cNvPr id="1" name=""/>
        <p:cNvGrpSpPr/>
        <p:nvPr/>
      </p:nvGrpSpPr>
      <p:grpSpPr>
        <a:xfrm>
          <a:off x="0" y="0"/>
          <a:ext cx="0" cy="0"/>
          <a:chOff x="0" y="0"/>
          <a:chExt cx="0" cy="0"/>
        </a:xfrm>
      </p:grpSpPr>
      <p:pic>
        <p:nvPicPr>
          <p:cNvPr id="7" name="Imagen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ítulo 1"/>
          <p:cNvSpPr>
            <a:spLocks noGrp="1"/>
          </p:cNvSpPr>
          <p:nvPr>
            <p:ph type="title"/>
          </p:nvPr>
        </p:nvSpPr>
        <p:spPr>
          <a:xfrm>
            <a:off x="685801" y="609600"/>
            <a:ext cx="10131425" cy="1456267"/>
          </a:xfrm>
        </p:spPr>
        <p:txBody>
          <a:bodyPr rtlCol="0"/>
          <a:lstStyle/>
          <a:p>
            <a:pPr rtl="0"/>
            <a:r>
              <a:rPr lang="es-ES" noProof="0" smtClean="0"/>
              <a:t>Haga clic para modificar el estilo de título del patrón</a:t>
            </a:r>
            <a:endParaRPr lang="es-ES" noProof="0"/>
          </a:p>
        </p:txBody>
      </p:sp>
      <p:sp>
        <p:nvSpPr>
          <p:cNvPr id="3" name="Marcador de posición de texto vertical 2"/>
          <p:cNvSpPr>
            <a:spLocks noGrp="1"/>
          </p:cNvSpPr>
          <p:nvPr>
            <p:ph type="body" orient="vert" idx="1" hasCustomPrompt="1"/>
          </p:nvPr>
        </p:nvSpPr>
        <p:spPr/>
        <p:txBody>
          <a:bodyPr vert="eaVert" rtlCol="0" anchor="t"/>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fecha 3"/>
          <p:cNvSpPr>
            <a:spLocks noGrp="1"/>
          </p:cNvSpPr>
          <p:nvPr>
            <p:ph type="dt" sz="half" idx="10"/>
          </p:nvPr>
        </p:nvSpPr>
        <p:spPr/>
        <p:txBody>
          <a:bodyPr rtlCol="0"/>
          <a:lstStyle/>
          <a:p>
            <a:pPr rtl="0"/>
            <a:fld id="{D0F58AF2-8A9E-476F-A981-BB1179E3E96B}" type="datetime1">
              <a:rPr lang="es-ES" noProof="0" smtClean="0"/>
              <a:t>27/08/2026</a:t>
            </a:fld>
            <a:endParaRPr lang="es-ES" noProof="0"/>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69E57DC2-970A-4B3E-BB1C-7A09969E49DF}" type="slidenum">
              <a:rPr lang="es-ES" noProof="0" smtClean="0"/>
              <a:t>‹Nº›</a:t>
            </a:fld>
            <a:endParaRPr lang="es-ES" noProof="0"/>
          </a:p>
        </p:txBody>
      </p:sp>
    </p:spTree>
    <p:extLst>
      <p:ext uri="{BB962C8B-B14F-4D97-AF65-F5344CB8AC3E}">
        <p14:creationId xmlns:p14="http://schemas.microsoft.com/office/powerpoint/2010/main" val="220212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y texto vertical">
    <p:spTree>
      <p:nvGrpSpPr>
        <p:cNvPr id="1" name=""/>
        <p:cNvGrpSpPr/>
        <p:nvPr/>
      </p:nvGrpSpPr>
      <p:grpSpPr>
        <a:xfrm>
          <a:off x="0" y="0"/>
          <a:ext cx="0" cy="0"/>
          <a:chOff x="0" y="0"/>
          <a:chExt cx="0" cy="0"/>
        </a:xfrm>
      </p:grpSpPr>
      <p:pic>
        <p:nvPicPr>
          <p:cNvPr id="7" name="Imagen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vertical 1"/>
          <p:cNvSpPr>
            <a:spLocks noGrp="1"/>
          </p:cNvSpPr>
          <p:nvPr>
            <p:ph type="title" orient="vert"/>
          </p:nvPr>
        </p:nvSpPr>
        <p:spPr>
          <a:xfrm>
            <a:off x="8658675" y="609599"/>
            <a:ext cx="2158552" cy="5181601"/>
          </a:xfrm>
        </p:spPr>
        <p:txBody>
          <a:bodyPr vert="eaVert" rtlCol="0"/>
          <a:lstStyle/>
          <a:p>
            <a:pPr rtl="0"/>
            <a:r>
              <a:rPr lang="es-ES" noProof="0" smtClean="0"/>
              <a:t>Haga clic para modificar el estilo de título del patrón</a:t>
            </a:r>
            <a:endParaRPr lang="es-ES" noProof="0"/>
          </a:p>
        </p:txBody>
      </p:sp>
      <p:sp>
        <p:nvSpPr>
          <p:cNvPr id="3" name="Marcador de posición de texto vertical 2"/>
          <p:cNvSpPr>
            <a:spLocks noGrp="1"/>
          </p:cNvSpPr>
          <p:nvPr>
            <p:ph type="body" orient="vert" idx="1" hasCustomPrompt="1"/>
          </p:nvPr>
        </p:nvSpPr>
        <p:spPr>
          <a:xfrm>
            <a:off x="685800" y="609600"/>
            <a:ext cx="7832116" cy="5181600"/>
          </a:xfrm>
        </p:spPr>
        <p:txBody>
          <a:bodyPr vert="eaVert" rtlCol="0" anchor="t"/>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fecha 3"/>
          <p:cNvSpPr>
            <a:spLocks noGrp="1"/>
          </p:cNvSpPr>
          <p:nvPr>
            <p:ph type="dt" sz="half" idx="10"/>
          </p:nvPr>
        </p:nvSpPr>
        <p:spPr/>
        <p:txBody>
          <a:bodyPr rtlCol="0"/>
          <a:lstStyle/>
          <a:p>
            <a:pPr rtl="0"/>
            <a:fld id="{3F133A77-1A83-4B42-8BD2-D62E592E918F}" type="datetime1">
              <a:rPr lang="es-ES" noProof="0" smtClean="0"/>
              <a:t>27/08/2026</a:t>
            </a:fld>
            <a:endParaRPr lang="es-ES" noProof="0"/>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69E57DC2-970A-4B3E-BB1C-7A09969E49DF}" type="slidenum">
              <a:rPr lang="es-ES" noProof="0" smtClean="0"/>
              <a:t>‹Nº›</a:t>
            </a:fld>
            <a:endParaRPr lang="es-ES" noProof="0"/>
          </a:p>
        </p:txBody>
      </p:sp>
    </p:spTree>
    <p:extLst>
      <p:ext uri="{BB962C8B-B14F-4D97-AF65-F5344CB8AC3E}">
        <p14:creationId xmlns:p14="http://schemas.microsoft.com/office/powerpoint/2010/main" val="24475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Marcador de posición de título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fecha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9AD75807-E084-4E7A-BDB2-38BB6161F78F}" type="datetime1">
              <a:rPr lang="es-ES" noProof="0" smtClean="0"/>
              <a:t>27/08/2026</a:t>
            </a:fld>
            <a:endParaRPr lang="es-ES" noProof="0"/>
          </a:p>
        </p:txBody>
      </p:sp>
      <p:sp>
        <p:nvSpPr>
          <p:cNvPr id="5" name="Marcador de posición de pie de página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rtl="0"/>
            <a:endParaRPr lang="es-ES" noProof="0"/>
          </a:p>
        </p:txBody>
      </p:sp>
      <p:sp>
        <p:nvSpPr>
          <p:cNvPr id="6" name="Marcador de posición de número de diapositiva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69E57DC2-970A-4B3E-BB1C-7A09969E49DF}" type="slidenum">
              <a:rPr lang="es-ES" noProof="0" smtClean="0"/>
              <a:pPr rtl="0"/>
              <a:t>‹Nº›</a:t>
            </a:fld>
            <a:endParaRPr lang="es-ES" noProof="0"/>
          </a:p>
        </p:txBody>
      </p:sp>
    </p:spTree>
    <p:extLst>
      <p:ext uri="{BB962C8B-B14F-4D97-AF65-F5344CB8AC3E}">
        <p14:creationId xmlns:p14="http://schemas.microsoft.com/office/powerpoint/2010/main" val="64506576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609600"/>
            <a:ext cx="10131425" cy="773927"/>
          </a:xfrm>
        </p:spPr>
        <p:txBody>
          <a:bodyPr>
            <a:normAutofit/>
          </a:bodyPr>
          <a:lstStyle/>
          <a:p>
            <a:pPr algn="ctr"/>
            <a:r>
              <a:rPr lang="es-AR" sz="3200" b="1" dirty="0" smtClean="0">
                <a:latin typeface="Arial" panose="020B0604020202020204" pitchFamily="34" charset="0"/>
                <a:cs typeface="Arial" panose="020B0604020202020204" pitchFamily="34" charset="0"/>
              </a:rPr>
              <a:t>MEDICINA INTERNA III</a:t>
            </a: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85801" y="1598212"/>
            <a:ext cx="10131425" cy="4842345"/>
          </a:xfrm>
        </p:spPr>
        <p:txBody>
          <a:bodyPr>
            <a:normAutofit/>
          </a:bodyPr>
          <a:lstStyle/>
          <a:p>
            <a:pPr marL="0" indent="0" algn="ctr">
              <a:buNone/>
            </a:pPr>
            <a:r>
              <a:rPr lang="es-MX" sz="2400" b="1" dirty="0" smtClean="0">
                <a:latin typeface="Arial" panose="020B0604020202020204" pitchFamily="34" charset="0"/>
                <a:cs typeface="Arial" panose="020B0604020202020204" pitchFamily="34" charset="0"/>
              </a:rPr>
              <a:t>Facultad </a:t>
            </a:r>
            <a:r>
              <a:rPr lang="es-MX" sz="2400" b="1" dirty="0">
                <a:latin typeface="Arial" panose="020B0604020202020204" pitchFamily="34" charset="0"/>
                <a:cs typeface="Arial" panose="020B0604020202020204" pitchFamily="34" charset="0"/>
              </a:rPr>
              <a:t>de Ciencias Médicas</a:t>
            </a:r>
          </a:p>
          <a:p>
            <a:pPr marL="0" indent="0" algn="ctr">
              <a:buNone/>
            </a:pPr>
            <a:r>
              <a:rPr lang="es-MX" sz="2400" b="1" dirty="0">
                <a:latin typeface="Arial" panose="020B0604020202020204" pitchFamily="34" charset="0"/>
                <a:cs typeface="Arial" panose="020B0604020202020204" pitchFamily="34" charset="0"/>
              </a:rPr>
              <a:t>Universidad de Mendoza</a:t>
            </a:r>
          </a:p>
          <a:p>
            <a:pPr marL="0" indent="0" algn="ctr">
              <a:buNone/>
            </a:pPr>
            <a:r>
              <a:rPr lang="es-MX" sz="2400" b="1" dirty="0">
                <a:latin typeface="Arial" panose="020B0604020202020204" pitchFamily="34" charset="0"/>
                <a:cs typeface="Arial" panose="020B0604020202020204" pitchFamily="34" charset="0"/>
              </a:rPr>
              <a:t>SEDE SAN </a:t>
            </a:r>
            <a:r>
              <a:rPr lang="es-MX" sz="2400" b="1" dirty="0" smtClean="0">
                <a:latin typeface="Arial" panose="020B0604020202020204" pitchFamily="34" charset="0"/>
                <a:cs typeface="Arial" panose="020B0604020202020204" pitchFamily="34" charset="0"/>
              </a:rPr>
              <a:t>RAFAEL</a:t>
            </a:r>
            <a:endParaRPr lang="es-MX" sz="2400" b="1" dirty="0">
              <a:latin typeface="Arial" panose="020B0604020202020204" pitchFamily="34" charset="0"/>
              <a:cs typeface="Arial" panose="020B0604020202020204" pitchFamily="34" charset="0"/>
            </a:endParaRPr>
          </a:p>
          <a:p>
            <a:pPr marL="0" indent="0" algn="ctr">
              <a:buNone/>
            </a:pPr>
            <a:r>
              <a:rPr lang="es-MX" sz="2400" b="1" dirty="0">
                <a:latin typeface="Arial" panose="020B0604020202020204" pitchFamily="34" charset="0"/>
                <a:cs typeface="Arial" panose="020B0604020202020204" pitchFamily="34" charset="0"/>
              </a:rPr>
              <a:t> </a:t>
            </a:r>
            <a:r>
              <a:rPr lang="es-MX" b="1" dirty="0" smtClean="0">
                <a:latin typeface="Arial" panose="020B0604020202020204" pitchFamily="34" charset="0"/>
                <a:cs typeface="Arial" panose="020B0604020202020204" pitchFamily="34" charset="0"/>
              </a:rPr>
              <a:t>ENDOCRINOLOGÍA </a:t>
            </a:r>
            <a:r>
              <a:rPr lang="es-MX" b="1" dirty="0">
                <a:latin typeface="Arial" panose="020B0604020202020204" pitchFamily="34" charset="0"/>
                <a:cs typeface="Arial" panose="020B0604020202020204" pitchFamily="34" charset="0"/>
              </a:rPr>
              <a:t>-  </a:t>
            </a:r>
            <a:r>
              <a:rPr lang="es-MX" b="1" dirty="0" smtClean="0">
                <a:latin typeface="Arial" panose="020B0604020202020204" pitchFamily="34" charset="0"/>
                <a:cs typeface="Arial" panose="020B0604020202020204" pitchFamily="34" charset="0"/>
              </a:rPr>
              <a:t>DIABETOLOGÍA</a:t>
            </a:r>
          </a:p>
          <a:p>
            <a:pPr marL="0" indent="0" algn="ctr">
              <a:buNone/>
            </a:pPr>
            <a:endParaRPr lang="es-MX" dirty="0">
              <a:latin typeface="Arial" panose="020B0604020202020204" pitchFamily="34" charset="0"/>
              <a:cs typeface="Arial" panose="020B0604020202020204" pitchFamily="34" charset="0"/>
            </a:endParaRPr>
          </a:p>
          <a:p>
            <a:pPr marL="0" indent="0" algn="ctr">
              <a:buNone/>
            </a:pPr>
            <a:r>
              <a:rPr lang="es-MX" sz="1600" dirty="0" err="1">
                <a:latin typeface="Arial" panose="020B0604020202020204" pitchFamily="34" charset="0"/>
                <a:cs typeface="Arial" panose="020B0604020202020204" pitchFamily="34" charset="0"/>
              </a:rPr>
              <a:t>Dr</a:t>
            </a:r>
            <a:r>
              <a:rPr lang="es-MX" sz="1600" dirty="0">
                <a:latin typeface="Arial" panose="020B0604020202020204" pitchFamily="34" charset="0"/>
                <a:cs typeface="Arial" panose="020B0604020202020204" pitchFamily="34" charset="0"/>
              </a:rPr>
              <a:t> Roberto M. Pelayes - Profesor Titular</a:t>
            </a:r>
          </a:p>
          <a:p>
            <a:pPr marL="0" indent="0" algn="ctr">
              <a:buNone/>
            </a:pPr>
            <a:r>
              <a:rPr lang="es-MX" sz="1600" dirty="0">
                <a:latin typeface="Arial" panose="020B0604020202020204" pitchFamily="34" charset="0"/>
                <a:cs typeface="Arial" panose="020B0604020202020204" pitchFamily="34" charset="0"/>
              </a:rPr>
              <a:t>Especialista en Clínica Médica - Endocrinología - </a:t>
            </a:r>
            <a:r>
              <a:rPr lang="es-MX" sz="1600" dirty="0" err="1">
                <a:latin typeface="Arial" panose="020B0604020202020204" pitchFamily="34" charset="0"/>
                <a:cs typeface="Arial" panose="020B0604020202020204" pitchFamily="34" charset="0"/>
              </a:rPr>
              <a:t>Diabetología</a:t>
            </a:r>
            <a:endParaRPr lang="es-MX" sz="1600" dirty="0">
              <a:latin typeface="Arial" panose="020B0604020202020204" pitchFamily="34" charset="0"/>
              <a:cs typeface="Arial" panose="020B0604020202020204" pitchFamily="34" charset="0"/>
            </a:endParaRPr>
          </a:p>
          <a:p>
            <a:pPr marL="0" indent="0" algn="ctr">
              <a:buNone/>
            </a:pPr>
            <a:r>
              <a:rPr lang="es-MX" sz="1600" dirty="0">
                <a:latin typeface="Arial" panose="020B0604020202020204" pitchFamily="34" charset="0"/>
                <a:cs typeface="Arial" panose="020B0604020202020204" pitchFamily="34" charset="0"/>
              </a:rPr>
              <a:t>Jefe Sección de Endocrinología y Diabetes</a:t>
            </a:r>
          </a:p>
          <a:p>
            <a:pPr marL="0" indent="0" algn="ctr">
              <a:buNone/>
            </a:pPr>
            <a:r>
              <a:rPr lang="es-MX" sz="1600" dirty="0">
                <a:latin typeface="Arial" panose="020B0604020202020204" pitchFamily="34" charset="0"/>
                <a:cs typeface="Arial" panose="020B0604020202020204" pitchFamily="34" charset="0"/>
              </a:rPr>
              <a:t>Prof. de Grado Universitario en Medicina</a:t>
            </a:r>
          </a:p>
          <a:p>
            <a:pPr algn="ctr"/>
            <a:endParaRPr lang="es-AR" sz="1600" dirty="0">
              <a:latin typeface="Arial" panose="020B0604020202020204" pitchFamily="34" charset="0"/>
              <a:cs typeface="Arial" panose="020B0604020202020204" pitchFamily="34" charset="0"/>
            </a:endParaRPr>
          </a:p>
        </p:txBody>
      </p:sp>
      <p:pic>
        <p:nvPicPr>
          <p:cNvPr id="6" name="Imagen 5"/>
          <p:cNvPicPr>
            <a:picLocks noChangeAspect="1"/>
          </p:cNvPicPr>
          <p:nvPr/>
        </p:nvPicPr>
        <p:blipFill>
          <a:blip r:embed="rId2"/>
          <a:stretch>
            <a:fillRect/>
          </a:stretch>
        </p:blipFill>
        <p:spPr>
          <a:xfrm>
            <a:off x="1407381" y="437323"/>
            <a:ext cx="946205" cy="1001863"/>
          </a:xfrm>
          <a:prstGeom prst="rect">
            <a:avLst/>
          </a:prstGeom>
        </p:spPr>
      </p:pic>
    </p:spTree>
    <p:extLst>
      <p:ext uri="{BB962C8B-B14F-4D97-AF65-F5344CB8AC3E}">
        <p14:creationId xmlns:p14="http://schemas.microsoft.com/office/powerpoint/2010/main" val="28106016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cielo nocturno con montañas a lo lejos en el horizonte">
            <a:extLst>
              <a:ext uri="{FF2B5EF4-FFF2-40B4-BE49-F238E27FC236}">
                <a16:creationId xmlns:a16="http://schemas.microsoft.com/office/drawing/2014/main" xmlns="" id="{7C454B0C-0819-4D56-9275-BCE254DA659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0" y="103377"/>
            <a:ext cx="12191980" cy="6857990"/>
          </a:xfrm>
          <a:prstGeom prst="rect">
            <a:avLst/>
          </a:prstGeom>
        </p:spPr>
      </p:pic>
      <p:sp>
        <p:nvSpPr>
          <p:cNvPr id="2" name="Título 1">
            <a:extLst>
              <a:ext uri="{FF2B5EF4-FFF2-40B4-BE49-F238E27FC236}">
                <a16:creationId xmlns:a16="http://schemas.microsoft.com/office/drawing/2014/main" xmlns="" id="{340C7600-5BA8-4A54-887F-74AF87750A31}"/>
              </a:ext>
            </a:extLst>
          </p:cNvPr>
          <p:cNvSpPr>
            <a:spLocks noGrp="1"/>
          </p:cNvSpPr>
          <p:nvPr>
            <p:ph type="title"/>
          </p:nvPr>
        </p:nvSpPr>
        <p:spPr>
          <a:xfrm>
            <a:off x="685801" y="609600"/>
            <a:ext cx="10131425" cy="1616765"/>
          </a:xfrm>
        </p:spPr>
        <p:txBody>
          <a:bodyPr rtlCol="0">
            <a:normAutofit/>
          </a:bodyPr>
          <a:lstStyle/>
          <a:p>
            <a:pPr algn="ctr"/>
            <a:r>
              <a:rPr lang="es-ES" sz="2400" b="1" dirty="0">
                <a:latin typeface="Arial" panose="020B0604020202020204" pitchFamily="34" charset="0"/>
                <a:cs typeface="Arial" panose="020B0604020202020204" pitchFamily="34" charset="0"/>
              </a:rPr>
              <a:t>Tumores endocrinos múltiples de base heredofamiliar</a:t>
            </a:r>
            <a:br>
              <a:rPr lang="es-ES" sz="2400" b="1" dirty="0">
                <a:latin typeface="Arial" panose="020B0604020202020204" pitchFamily="34" charset="0"/>
                <a:cs typeface="Arial" panose="020B0604020202020204" pitchFamily="34" charset="0"/>
              </a:rPr>
            </a:br>
            <a:endParaRPr lang="es-ES" sz="2400" b="1" dirty="0">
              <a:latin typeface="Arial" panose="020B0604020202020204" pitchFamily="34" charset="0"/>
              <a:cs typeface="Arial" panose="020B0604020202020204" pitchFamily="34" charset="0"/>
            </a:endParaRPr>
          </a:p>
        </p:txBody>
      </p:sp>
      <p:sp>
        <p:nvSpPr>
          <p:cNvPr id="3" name="Subtítulo 2">
            <a:extLst>
              <a:ext uri="{FF2B5EF4-FFF2-40B4-BE49-F238E27FC236}">
                <a16:creationId xmlns:a16="http://schemas.microsoft.com/office/drawing/2014/main" xmlns="" id="{AE584786-6548-4BB4-95FD-977AD1F362C6}"/>
              </a:ext>
            </a:extLst>
          </p:cNvPr>
          <p:cNvSpPr>
            <a:spLocks noGrp="1"/>
          </p:cNvSpPr>
          <p:nvPr>
            <p:ph idx="1"/>
          </p:nvPr>
        </p:nvSpPr>
        <p:spPr>
          <a:xfrm>
            <a:off x="685801" y="2142067"/>
            <a:ext cx="10131425" cy="4131512"/>
          </a:xfrm>
        </p:spPr>
        <p:txBody>
          <a:bodyPr rtlCol="0">
            <a:normAutofit/>
          </a:bodyPr>
          <a:lstStyle/>
          <a:p>
            <a:pPr marL="0" indent="0">
              <a:buNone/>
            </a:pPr>
            <a:endParaRPr lang="es-ES" dirty="0" smtClean="0">
              <a:solidFill>
                <a:schemeClr val="accent1">
                  <a:lumMod val="40000"/>
                  <a:lumOff val="60000"/>
                </a:schemeClr>
              </a:solidFill>
              <a:latin typeface="Arial" panose="020B0604020202020204" pitchFamily="34" charset="0"/>
              <a:cs typeface="Arial" panose="020B0604020202020204" pitchFamily="34" charset="0"/>
            </a:endParaRPr>
          </a:p>
          <a:p>
            <a:pPr marL="0" indent="0">
              <a:buNone/>
            </a:pPr>
            <a:r>
              <a:rPr lang="es-MX" b="1" dirty="0">
                <a:latin typeface="Arial" panose="020B0604020202020204" pitchFamily="34" charset="0"/>
                <a:cs typeface="Arial" panose="020B0604020202020204" pitchFamily="34" charset="0"/>
              </a:rPr>
              <a:t>Los síndromes NEM son agrupaciones de tumores endocrinos que suelen darse en una misma persona. </a:t>
            </a:r>
            <a:endParaRPr lang="es-MX" b="1" dirty="0" smtClean="0">
              <a:latin typeface="Arial" panose="020B0604020202020204" pitchFamily="34" charset="0"/>
              <a:cs typeface="Arial" panose="020B0604020202020204" pitchFamily="34" charset="0"/>
            </a:endParaRPr>
          </a:p>
          <a:p>
            <a:pPr marL="0" indent="0">
              <a:buNone/>
            </a:pPr>
            <a:endParaRPr lang="es-MX" b="1" dirty="0" smtClean="0">
              <a:latin typeface="Arial" panose="020B0604020202020204" pitchFamily="34" charset="0"/>
              <a:cs typeface="Arial" panose="020B0604020202020204" pitchFamily="34" charset="0"/>
            </a:endParaRPr>
          </a:p>
          <a:p>
            <a:pPr marL="0" indent="0">
              <a:buNone/>
            </a:pPr>
            <a:r>
              <a:rPr lang="es-MX" b="1" dirty="0">
                <a:latin typeface="Arial" panose="020B0604020202020204" pitchFamily="34" charset="0"/>
                <a:cs typeface="Arial" panose="020B0604020202020204" pitchFamily="34" charset="0"/>
              </a:rPr>
              <a:t>C</a:t>
            </a:r>
            <a:r>
              <a:rPr lang="es-MX" b="1" dirty="0" smtClean="0">
                <a:latin typeface="Arial" panose="020B0604020202020204" pitchFamily="34" charset="0"/>
                <a:cs typeface="Arial" panose="020B0604020202020204" pitchFamily="34" charset="0"/>
              </a:rPr>
              <a:t>asi </a:t>
            </a:r>
            <a:r>
              <a:rPr lang="es-MX" b="1" dirty="0">
                <a:latin typeface="Arial" panose="020B0604020202020204" pitchFamily="34" charset="0"/>
                <a:cs typeface="Arial" panose="020B0604020202020204" pitchFamily="34" charset="0"/>
              </a:rPr>
              <a:t>siempre agresivos, que nacen en varios tejidos y aparecen antes que los tumores solitarios de naturaleza esporádica. </a:t>
            </a:r>
            <a:endParaRPr lang="es-MX" b="1" dirty="0" smtClean="0">
              <a:latin typeface="Arial" panose="020B0604020202020204" pitchFamily="34" charset="0"/>
              <a:cs typeface="Arial" panose="020B0604020202020204" pitchFamily="34" charset="0"/>
            </a:endParaRPr>
          </a:p>
          <a:p>
            <a:pPr marL="0" indent="0">
              <a:buNone/>
            </a:pPr>
            <a:endParaRPr lang="es-MX" b="1" dirty="0" smtClean="0">
              <a:latin typeface="Arial" panose="020B0604020202020204" pitchFamily="34" charset="0"/>
              <a:cs typeface="Arial" panose="020B0604020202020204" pitchFamily="34" charset="0"/>
            </a:endParaRPr>
          </a:p>
          <a:p>
            <a:pPr marL="0" indent="0">
              <a:buNone/>
            </a:pPr>
            <a:r>
              <a:rPr lang="es-MX" b="1" dirty="0" smtClean="0">
                <a:latin typeface="Arial" panose="020B0604020202020204" pitchFamily="34" charset="0"/>
                <a:cs typeface="Arial" panose="020B0604020202020204" pitchFamily="34" charset="0"/>
              </a:rPr>
              <a:t>Probablemente </a:t>
            </a:r>
            <a:r>
              <a:rPr lang="es-MX" b="1" dirty="0">
                <a:latin typeface="Arial" panose="020B0604020202020204" pitchFamily="34" charset="0"/>
                <a:cs typeface="Arial" panose="020B0604020202020204" pitchFamily="34" charset="0"/>
              </a:rPr>
              <a:t>la causa sea genética, ya que los tumores suelen heredarse de forma autosómica dominante, pese al carácter esporádico de algunos</a:t>
            </a:r>
            <a:r>
              <a:rPr lang="es-MX" b="1" dirty="0" smtClean="0">
                <a:latin typeface="Arial" panose="020B0604020202020204" pitchFamily="34" charset="0"/>
                <a:cs typeface="Arial" panose="020B0604020202020204" pitchFamily="34" charset="0"/>
              </a:rPr>
              <a:t>.</a:t>
            </a:r>
          </a:p>
          <a:p>
            <a:pPr marL="0" indent="0">
              <a:buNone/>
            </a:pPr>
            <a:endParaRPr lang="es-MX" b="1" dirty="0" smtClean="0">
              <a:latin typeface="Arial" panose="020B0604020202020204" pitchFamily="34" charset="0"/>
              <a:cs typeface="Arial" panose="020B0604020202020204" pitchFamily="34" charset="0"/>
            </a:endParaRPr>
          </a:p>
          <a:p>
            <a:pPr marL="0" indent="0">
              <a:buNone/>
            </a:pPr>
            <a:r>
              <a:rPr lang="es-MX" b="1" dirty="0">
                <a:latin typeface="Arial" panose="020B0604020202020204" pitchFamily="34" charset="0"/>
                <a:cs typeface="Arial" panose="020B0604020202020204" pitchFamily="34" charset="0"/>
              </a:rPr>
              <a:t>Los síndromes NEM son infrecuentes, pero a veces ponen en peligro la vida.</a:t>
            </a:r>
            <a:endParaRPr lang="es-E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77214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270344"/>
            <a:ext cx="10131425" cy="866693"/>
          </a:xfrm>
        </p:spPr>
        <p:txBody>
          <a:bodyPr>
            <a:normAutofit/>
          </a:bodyPr>
          <a:lstStyle/>
          <a:p>
            <a:pPr algn="ctr"/>
            <a:r>
              <a:rPr lang="es-MX" sz="3200" b="1" dirty="0" smtClean="0">
                <a:latin typeface="Arial" panose="020B0604020202020204" pitchFamily="34" charset="0"/>
                <a:cs typeface="Arial" panose="020B0604020202020204" pitchFamily="34" charset="0"/>
              </a:rPr>
              <a:t>MEN</a:t>
            </a: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318053" y="1081377"/>
            <a:ext cx="11537342" cy="5375082"/>
          </a:xfrm>
        </p:spPr>
        <p:txBody>
          <a:bodyPr/>
          <a:lstStyle/>
          <a:p>
            <a:pPr marL="0" indent="0">
              <a:buNone/>
            </a:pPr>
            <a:r>
              <a:rPr lang="es-MX" dirty="0" smtClean="0">
                <a:latin typeface="Arial" panose="020B0604020202020204" pitchFamily="34" charset="0"/>
                <a:cs typeface="Arial" panose="020B0604020202020204" pitchFamily="34" charset="0"/>
              </a:rPr>
              <a:t>En </a:t>
            </a:r>
            <a:r>
              <a:rPr lang="es-MX" dirty="0">
                <a:latin typeface="Arial" panose="020B0604020202020204" pitchFamily="34" charset="0"/>
                <a:cs typeface="Arial" panose="020B0604020202020204" pitchFamily="34" charset="0"/>
              </a:rPr>
              <a:t>la actualidad se conocen tres tipos fundamentales: </a:t>
            </a:r>
            <a:endParaRPr lang="es-MX" dirty="0" smtClean="0">
              <a:latin typeface="Arial" panose="020B0604020202020204" pitchFamily="34" charset="0"/>
              <a:cs typeface="Arial" panose="020B0604020202020204" pitchFamily="34" charset="0"/>
            </a:endParaRPr>
          </a:p>
          <a:p>
            <a:pPr marL="342900" indent="-342900">
              <a:buAutoNum type="alphaLcParenR"/>
            </a:pPr>
            <a:r>
              <a:rPr lang="es-MX" dirty="0" smtClean="0">
                <a:latin typeface="Arial" panose="020B0604020202020204" pitchFamily="34" charset="0"/>
                <a:cs typeface="Arial" panose="020B0604020202020204" pitchFamily="34" charset="0"/>
              </a:rPr>
              <a:t>hiperplasia </a:t>
            </a:r>
            <a:r>
              <a:rPr lang="es-MX" dirty="0">
                <a:latin typeface="Arial" panose="020B0604020202020204" pitchFamily="34" charset="0"/>
                <a:cs typeface="Arial" panose="020B0604020202020204" pitchFamily="34" charset="0"/>
              </a:rPr>
              <a:t>de paratiroides asociada a adenoma de islotes pancreáticos y a adenoma o hiperplasia de hipófisis (</a:t>
            </a:r>
            <a:r>
              <a:rPr lang="es-MX" sz="2000" b="1" dirty="0">
                <a:latin typeface="Arial" panose="020B0604020202020204" pitchFamily="34" charset="0"/>
                <a:cs typeface="Arial" panose="020B0604020202020204" pitchFamily="34" charset="0"/>
              </a:rPr>
              <a:t>neoplasia endocrina múltiple de tipo 1 o síndrome de Wermer o </a:t>
            </a:r>
            <a:r>
              <a:rPr lang="es-MX" sz="2000" b="1" dirty="0" smtClean="0">
                <a:latin typeface="Arial" panose="020B0604020202020204" pitchFamily="34" charset="0"/>
                <a:cs typeface="Arial" panose="020B0604020202020204" pitchFamily="34" charset="0"/>
              </a:rPr>
              <a:t>MEN-1).</a:t>
            </a:r>
          </a:p>
          <a:p>
            <a:pPr marL="0" indent="0">
              <a:buNone/>
            </a:pPr>
            <a:endParaRPr lang="es-MX" sz="2000" b="1" dirty="0" smtClean="0">
              <a:latin typeface="Arial" panose="020B0604020202020204" pitchFamily="34" charset="0"/>
              <a:cs typeface="Arial" panose="020B0604020202020204" pitchFamily="34" charset="0"/>
            </a:endParaRPr>
          </a:p>
          <a:p>
            <a:pPr marL="342900" indent="-342900">
              <a:buAutoNum type="alphaLcParenR"/>
            </a:pPr>
            <a:r>
              <a:rPr lang="es-MX" dirty="0" smtClean="0">
                <a:latin typeface="Arial" panose="020B0604020202020204" pitchFamily="34" charset="0"/>
                <a:cs typeface="Arial" panose="020B0604020202020204" pitchFamily="34" charset="0"/>
              </a:rPr>
              <a:t>carcinoma </a:t>
            </a:r>
            <a:r>
              <a:rPr lang="es-MX" dirty="0">
                <a:latin typeface="Arial" panose="020B0604020202020204" pitchFamily="34" charset="0"/>
                <a:cs typeface="Arial" panose="020B0604020202020204" pitchFamily="34" charset="0"/>
              </a:rPr>
              <a:t>medular de la glándula tiroides asociado a feocromocitoma y a hiperplasia de paratiroides </a:t>
            </a:r>
            <a:r>
              <a:rPr lang="es-MX" sz="2000" b="1" dirty="0">
                <a:latin typeface="Arial" panose="020B0604020202020204" pitchFamily="34" charset="0"/>
                <a:cs typeface="Arial" panose="020B0604020202020204" pitchFamily="34" charset="0"/>
              </a:rPr>
              <a:t>(neoplasia endocrina múltiple de tipo 2, síndrome de Sipple, MEN-2 o MEN-2A</a:t>
            </a:r>
            <a:r>
              <a:rPr lang="es-MX" dirty="0">
                <a:latin typeface="Arial" panose="020B0604020202020204" pitchFamily="34" charset="0"/>
                <a:cs typeface="Arial" panose="020B0604020202020204" pitchFamily="34" charset="0"/>
              </a:rPr>
              <a:t>), ligado a mutaciones del protooncogén RET situado en el cromosoma </a:t>
            </a:r>
            <a:r>
              <a:rPr lang="es-MX" dirty="0" smtClean="0">
                <a:latin typeface="Arial" panose="020B0604020202020204" pitchFamily="34" charset="0"/>
                <a:cs typeface="Arial" panose="020B0604020202020204" pitchFamily="34" charset="0"/>
              </a:rPr>
              <a:t>10.</a:t>
            </a:r>
          </a:p>
          <a:p>
            <a:pPr marL="0" indent="0">
              <a:buNone/>
            </a:pPr>
            <a:endParaRPr lang="es-MX" dirty="0" smtClean="0">
              <a:latin typeface="Arial" panose="020B0604020202020204" pitchFamily="34" charset="0"/>
              <a:cs typeface="Arial" panose="020B0604020202020204" pitchFamily="34" charset="0"/>
            </a:endParaRPr>
          </a:p>
          <a:p>
            <a:pPr marL="342900" indent="-342900">
              <a:buAutoNum type="alphaLcParenR"/>
            </a:pPr>
            <a:r>
              <a:rPr lang="es-MX" dirty="0" smtClean="0">
                <a:latin typeface="Arial" panose="020B0604020202020204" pitchFamily="34" charset="0"/>
                <a:cs typeface="Arial" panose="020B0604020202020204" pitchFamily="34" charset="0"/>
              </a:rPr>
              <a:t> carcinoma </a:t>
            </a:r>
            <a:r>
              <a:rPr lang="es-MX" dirty="0">
                <a:latin typeface="Arial" panose="020B0604020202020204" pitchFamily="34" charset="0"/>
                <a:cs typeface="Arial" panose="020B0604020202020204" pitchFamily="34" charset="0"/>
              </a:rPr>
              <a:t>medular de tiroides asociado a feocromocitoma y a neuromas mucosos múltiples </a:t>
            </a:r>
            <a:r>
              <a:rPr lang="es-MX" sz="2000" b="1" dirty="0">
                <a:latin typeface="Arial" panose="020B0604020202020204" pitchFamily="34" charset="0"/>
                <a:cs typeface="Arial" panose="020B0604020202020204" pitchFamily="34" charset="0"/>
              </a:rPr>
              <a:t>(neoplasia endocrina múltiple de tipo 3, MEN-3 o MEN-2B) </a:t>
            </a:r>
            <a:endParaRPr lang="es-AR"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72376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3147859" y="1335818"/>
            <a:ext cx="6066046" cy="3832529"/>
          </a:xfrm>
          <a:prstGeom prst="rect">
            <a:avLst/>
          </a:prstGeom>
          <a:ln w="57150">
            <a:solidFill>
              <a:srgbClr val="7030A0"/>
            </a:solidFill>
          </a:ln>
          <a:effectLst>
            <a:reflection blurRad="6350" stA="50000" endA="300" endPos="38500" dist="50800" dir="5400000" sy="-100000" algn="bl" rotWithShape="0"/>
          </a:effectLst>
        </p:spPr>
      </p:pic>
      <p:sp>
        <p:nvSpPr>
          <p:cNvPr id="7" name="Rectángulo 6"/>
          <p:cNvSpPr/>
          <p:nvPr/>
        </p:nvSpPr>
        <p:spPr>
          <a:xfrm flipH="1">
            <a:off x="564543" y="850790"/>
            <a:ext cx="2027582" cy="4898003"/>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Aft>
                <a:spcPts val="1000"/>
              </a:spcAft>
              <a:buClr>
                <a:prstClr val="white"/>
              </a:buClr>
              <a:buSzPct val="100000"/>
            </a:pPr>
            <a:r>
              <a:rPr lang="es-ES" sz="2000" b="1" dirty="0">
                <a:solidFill>
                  <a:schemeClr val="tx1"/>
                </a:solidFill>
                <a:latin typeface="Arial" panose="020B0604020202020204" pitchFamily="34" charset="0"/>
                <a:cs typeface="Arial" panose="020B0604020202020204" pitchFamily="34" charset="0"/>
              </a:rPr>
              <a:t>Tumores endocrinos múltiples de base heredofamiliar</a:t>
            </a:r>
          </a:p>
        </p:txBody>
      </p:sp>
    </p:spTree>
    <p:extLst>
      <p:ext uri="{BB962C8B-B14F-4D97-AF65-F5344CB8AC3E}">
        <p14:creationId xmlns:p14="http://schemas.microsoft.com/office/powerpoint/2010/main" val="22419945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AR" sz="3200" b="1" dirty="0">
                <a:latin typeface="Arial" panose="020B0604020202020204" pitchFamily="34" charset="0"/>
                <a:cs typeface="Arial" panose="020B0604020202020204" pitchFamily="34" charset="0"/>
              </a:rPr>
              <a:t>NEM-I </a:t>
            </a:r>
            <a:r>
              <a:rPr lang="es-AR" sz="3200" b="1" dirty="0" smtClean="0">
                <a:latin typeface="Arial" panose="020B0604020202020204" pitchFamily="34" charset="0"/>
                <a:cs typeface="Arial" panose="020B0604020202020204" pitchFamily="34" charset="0"/>
              </a:rPr>
              <a:t> síndrome </a:t>
            </a:r>
            <a:r>
              <a:rPr lang="es-AR" sz="3200" b="1" dirty="0">
                <a:latin typeface="Arial" panose="020B0604020202020204" pitchFamily="34" charset="0"/>
                <a:cs typeface="Arial" panose="020B0604020202020204" pitchFamily="34" charset="0"/>
              </a:rPr>
              <a:t>de </a:t>
            </a:r>
            <a:r>
              <a:rPr lang="es-AR" sz="3200" b="1" dirty="0" smtClean="0">
                <a:latin typeface="Arial" panose="020B0604020202020204" pitchFamily="34" charset="0"/>
                <a:cs typeface="Arial" panose="020B0604020202020204" pitchFamily="34" charset="0"/>
              </a:rPr>
              <a:t>Werner</a:t>
            </a:r>
            <a:r>
              <a:rPr lang="es-AR" sz="3200" b="1" dirty="0">
                <a:latin typeface="Arial" panose="020B0604020202020204" pitchFamily="34" charset="0"/>
                <a:cs typeface="Arial" panose="020B0604020202020204" pitchFamily="34" charset="0"/>
              </a:rPr>
              <a:t/>
            </a:r>
            <a:br>
              <a:rPr lang="es-AR" sz="3200" b="1" dirty="0">
                <a:latin typeface="Arial" panose="020B0604020202020204" pitchFamily="34" charset="0"/>
                <a:cs typeface="Arial" panose="020B0604020202020204" pitchFamily="34" charset="0"/>
              </a:rPr>
            </a:b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85801" y="1526650"/>
            <a:ext cx="10131425" cy="5072933"/>
          </a:xfrm>
        </p:spPr>
        <p:txBody>
          <a:bodyPr>
            <a:normAutofit/>
          </a:bodyPr>
          <a:lstStyle/>
          <a:p>
            <a:pPr marL="0" indent="0">
              <a:buNone/>
            </a:pPr>
            <a:r>
              <a:rPr lang="es-MX" sz="2000" b="1" dirty="0" smtClean="0">
                <a:latin typeface="Arial" panose="020B0604020202020204" pitchFamily="34" charset="0"/>
                <a:cs typeface="Arial" panose="020B0604020202020204" pitchFamily="34" charset="0"/>
              </a:rPr>
              <a:t>Los </a:t>
            </a:r>
            <a:r>
              <a:rPr lang="es-MX" sz="2000" b="1" dirty="0">
                <a:latin typeface="Arial" panose="020B0604020202020204" pitchFamily="34" charset="0"/>
                <a:cs typeface="Arial" panose="020B0604020202020204" pitchFamily="34" charset="0"/>
              </a:rPr>
              <a:t>tumores más </a:t>
            </a:r>
            <a:r>
              <a:rPr lang="es-MX" sz="2000" b="1" dirty="0" smtClean="0">
                <a:latin typeface="Arial" panose="020B0604020202020204" pitchFamily="34" charset="0"/>
                <a:cs typeface="Arial" panose="020B0604020202020204" pitchFamily="34" charset="0"/>
              </a:rPr>
              <a:t>frecuentes:</a:t>
            </a:r>
            <a:endParaRPr lang="es-MX" sz="2000" b="1"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Hiperplasia </a:t>
            </a:r>
            <a:r>
              <a:rPr lang="es-MX" sz="2000" dirty="0">
                <a:latin typeface="Arial" panose="020B0604020202020204" pitchFamily="34" charset="0"/>
                <a:cs typeface="Arial" panose="020B0604020202020204" pitchFamily="34" charset="0"/>
              </a:rPr>
              <a:t>paratiroidea: el más </a:t>
            </a:r>
            <a:r>
              <a:rPr lang="es-MX" sz="2000" dirty="0" smtClean="0">
                <a:latin typeface="Arial" panose="020B0604020202020204" pitchFamily="34" charset="0"/>
                <a:cs typeface="Arial" panose="020B0604020202020204" pitchFamily="34" charset="0"/>
              </a:rPr>
              <a:t>habitual.</a:t>
            </a:r>
          </a:p>
          <a:p>
            <a:pPr>
              <a:buFont typeface="Wingdings" panose="05000000000000000000" pitchFamily="2" charset="2"/>
              <a:buChar char="v"/>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Tumores </a:t>
            </a:r>
            <a:r>
              <a:rPr lang="es-MX" sz="2000" dirty="0">
                <a:latin typeface="Arial" panose="020B0604020202020204" pitchFamily="34" charset="0"/>
                <a:cs typeface="Arial" panose="020B0604020202020204" pitchFamily="34" charset="0"/>
              </a:rPr>
              <a:t>de células de los islotes pancreáticos/tumores duodenales</a:t>
            </a:r>
            <a:r>
              <a:rPr lang="es-MX" sz="2000" dirty="0" smtClean="0">
                <a:latin typeface="Arial" panose="020B0604020202020204" pitchFamily="34" charset="0"/>
                <a:cs typeface="Arial" panose="020B0604020202020204" pitchFamily="34" charset="0"/>
              </a:rPr>
              <a:t>.</a:t>
            </a:r>
          </a:p>
          <a:p>
            <a:pPr>
              <a:buFont typeface="Wingdings" panose="05000000000000000000" pitchFamily="2" charset="2"/>
              <a:buChar char="v"/>
            </a:pP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Adenoma </a:t>
            </a:r>
            <a:r>
              <a:rPr lang="es-MX" sz="2000" dirty="0">
                <a:latin typeface="Arial" panose="020B0604020202020204" pitchFamily="34" charset="0"/>
                <a:cs typeface="Arial" panose="020B0604020202020204" pitchFamily="34" charset="0"/>
              </a:rPr>
              <a:t>hipofisario (secreta hormona de crecimiento, prolactina o ACTH</a:t>
            </a:r>
            <a:r>
              <a:rPr lang="es-MX" sz="2000" dirty="0" smtClean="0">
                <a:latin typeface="Arial" panose="020B0604020202020204" pitchFamily="34" charset="0"/>
                <a:cs typeface="Arial" panose="020B0604020202020204" pitchFamily="34" charset="0"/>
              </a:rPr>
              <a:t>).</a:t>
            </a:r>
          </a:p>
          <a:p>
            <a:pPr>
              <a:buFont typeface="Wingdings" panose="05000000000000000000" pitchFamily="2" charset="2"/>
              <a:buChar char="v"/>
            </a:pP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Los tumores de las células de los islotes pancreáticos pueden secretar hormonas </a:t>
            </a:r>
            <a:r>
              <a:rPr lang="es-MX" sz="2000" dirty="0" smtClean="0">
                <a:latin typeface="Arial" panose="020B0604020202020204" pitchFamily="34" charset="0"/>
                <a:cs typeface="Arial" panose="020B0604020202020204" pitchFamily="34" charset="0"/>
              </a:rPr>
              <a:t>ectópicas: </a:t>
            </a:r>
            <a:r>
              <a:rPr lang="es-MX" sz="2000" dirty="0">
                <a:latin typeface="Arial" panose="020B0604020202020204" pitchFamily="34" charset="0"/>
                <a:cs typeface="Arial" panose="020B0604020202020204" pitchFamily="34" charset="0"/>
              </a:rPr>
              <a:t>glucagonoma o </a:t>
            </a:r>
            <a:r>
              <a:rPr lang="es-MX" sz="2000" dirty="0" smtClean="0">
                <a:latin typeface="Arial" panose="020B0604020202020204" pitchFamily="34" charset="0"/>
                <a:cs typeface="Arial" panose="020B0604020202020204" pitchFamily="34" charset="0"/>
              </a:rPr>
              <a:t>insulinoma, </a:t>
            </a:r>
            <a:r>
              <a:rPr lang="es-MX" sz="2000" dirty="0">
                <a:latin typeface="Arial" panose="020B0604020202020204" pitchFamily="34" charset="0"/>
                <a:cs typeface="Arial" panose="020B0604020202020204" pitchFamily="34" charset="0"/>
              </a:rPr>
              <a:t>y los tumores duodenales, gastrina, que produce el síndrome de Zollinger-Ellison</a:t>
            </a:r>
            <a:r>
              <a:rPr lang="es-MX" sz="2000" dirty="0" smtClean="0">
                <a:latin typeface="Arial" panose="020B0604020202020204" pitchFamily="34" charset="0"/>
                <a:cs typeface="Arial" panose="020B0604020202020204" pitchFamily="34" charset="0"/>
              </a:rPr>
              <a:t>.</a:t>
            </a:r>
          </a:p>
          <a:p>
            <a:pPr>
              <a:buFont typeface="Wingdings" panose="05000000000000000000" pitchFamily="2" charset="2"/>
              <a:buChar char="v"/>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El </a:t>
            </a:r>
            <a:r>
              <a:rPr lang="es-MX" sz="2000" dirty="0">
                <a:latin typeface="Arial" panose="020B0604020202020204" pitchFamily="34" charset="0"/>
                <a:cs typeface="Arial" panose="020B0604020202020204" pitchFamily="34" charset="0"/>
              </a:rPr>
              <a:t>30% de los tumores de Zollinger-Ellison, rarísimos, se debe a NEM-I.</a:t>
            </a:r>
            <a:endParaRPr lang="es-AR"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28431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609601"/>
            <a:ext cx="10131425" cy="972710"/>
          </a:xfrm>
        </p:spPr>
        <p:txBody>
          <a:bodyPr/>
          <a:lstStyle/>
          <a:p>
            <a:pPr algn="ctr"/>
            <a:r>
              <a:rPr lang="es-MX" b="1" dirty="0" smtClean="0">
                <a:latin typeface="Arial" panose="020B0604020202020204" pitchFamily="34" charset="0"/>
                <a:cs typeface="Arial" panose="020B0604020202020204" pitchFamily="34" charset="0"/>
              </a:rPr>
              <a:t>MEN-1</a:t>
            </a:r>
            <a:endParaRPr lang="es-AR" b="1" dirty="0">
              <a:latin typeface="Arial" panose="020B0604020202020204" pitchFamily="34" charset="0"/>
              <a:cs typeface="Arial" panose="020B0604020202020204" pitchFamily="34" charset="0"/>
            </a:endParaRPr>
          </a:p>
        </p:txBody>
      </p:sp>
      <p:pic>
        <p:nvPicPr>
          <p:cNvPr id="4" name="Marcador de contenido 3"/>
          <p:cNvPicPr>
            <a:picLocks noGrp="1" noChangeAspect="1"/>
          </p:cNvPicPr>
          <p:nvPr>
            <p:ph idx="1"/>
          </p:nvPr>
        </p:nvPicPr>
        <p:blipFill>
          <a:blip r:embed="rId2"/>
          <a:stretch>
            <a:fillRect/>
          </a:stretch>
        </p:blipFill>
        <p:spPr>
          <a:xfrm>
            <a:off x="2554644" y="2258169"/>
            <a:ext cx="7042580" cy="3570137"/>
          </a:xfrm>
          <a:prstGeom prst="rect">
            <a:avLst/>
          </a:prstGeom>
          <a:ln w="38100">
            <a:solidFill>
              <a:srgbClr val="7030A0"/>
            </a:solidFill>
          </a:ln>
          <a:effectLst>
            <a:reflection blurRad="6350" stA="50000" endA="300" endPos="38500" dist="50800" dir="5400000" sy="-100000" algn="bl" rotWithShape="0"/>
          </a:effectLst>
        </p:spPr>
      </p:pic>
    </p:spTree>
    <p:extLst>
      <p:ext uri="{BB962C8B-B14F-4D97-AF65-F5344CB8AC3E}">
        <p14:creationId xmlns:p14="http://schemas.microsoft.com/office/powerpoint/2010/main" val="1976337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609601"/>
            <a:ext cx="10131425" cy="877294"/>
          </a:xfrm>
        </p:spPr>
        <p:txBody>
          <a:bodyPr>
            <a:normAutofit/>
          </a:bodyPr>
          <a:lstStyle/>
          <a:p>
            <a:pPr algn="ctr"/>
            <a:r>
              <a:rPr lang="es-MX" sz="3200" b="1" dirty="0" smtClean="0">
                <a:latin typeface="Arial" panose="020B0604020202020204" pitchFamily="34" charset="0"/>
                <a:cs typeface="Arial" panose="020B0604020202020204" pitchFamily="34" charset="0"/>
              </a:rPr>
              <a:t>DIAGN</a:t>
            </a:r>
            <a:r>
              <a:rPr lang="es-AR" sz="3200" b="1" dirty="0" err="1" smtClean="0">
                <a:latin typeface="Arial" panose="020B0604020202020204" pitchFamily="34" charset="0"/>
                <a:cs typeface="Arial" panose="020B0604020202020204" pitchFamily="34" charset="0"/>
              </a:rPr>
              <a:t>Ó</a:t>
            </a:r>
            <a:r>
              <a:rPr lang="es-MX" sz="3200" b="1" dirty="0" smtClean="0">
                <a:latin typeface="Arial" panose="020B0604020202020204" pitchFamily="34" charset="0"/>
                <a:cs typeface="Arial" panose="020B0604020202020204" pitchFamily="34" charset="0"/>
              </a:rPr>
              <a:t>STICO</a:t>
            </a: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789168" y="2142067"/>
            <a:ext cx="10131425" cy="3649133"/>
          </a:xfrm>
        </p:spPr>
        <p:txBody>
          <a:bodyPr/>
          <a:lstStyle/>
          <a:p>
            <a:pPr marL="0" indent="0">
              <a:buNone/>
            </a:pPr>
            <a:endParaRPr lang="es-AR" dirty="0"/>
          </a:p>
        </p:txBody>
      </p:sp>
      <p:sp>
        <p:nvSpPr>
          <p:cNvPr id="4" name="Rectángulo redondeado 3"/>
          <p:cNvSpPr/>
          <p:nvPr/>
        </p:nvSpPr>
        <p:spPr>
          <a:xfrm>
            <a:off x="850790" y="1574358"/>
            <a:ext cx="10069803" cy="4216841"/>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2000" b="1" dirty="0">
                <a:latin typeface="Arial" panose="020B0604020202020204" pitchFamily="34" charset="0"/>
                <a:cs typeface="Arial" panose="020B0604020202020204" pitchFamily="34" charset="0"/>
              </a:rPr>
              <a:t>El diagnóstico de MEN1 puede establecerse en un paciente por uno de tres </a:t>
            </a:r>
            <a:r>
              <a:rPr lang="es-MX" sz="2000" b="1" dirty="0" smtClean="0">
                <a:latin typeface="Arial" panose="020B0604020202020204" pitchFamily="34" charset="0"/>
                <a:cs typeface="Arial" panose="020B0604020202020204" pitchFamily="34" charset="0"/>
              </a:rPr>
              <a:t>criterios:</a:t>
            </a:r>
          </a:p>
          <a:p>
            <a:endParaRPr lang="es-MX"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s-MX" sz="2000" dirty="0">
                <a:latin typeface="Arial" panose="020B0604020202020204" pitchFamily="34" charset="0"/>
                <a:cs typeface="Arial" panose="020B0604020202020204" pitchFamily="34" charset="0"/>
              </a:rPr>
              <a:t>A</a:t>
            </a:r>
            <a:r>
              <a:rPr lang="es-MX" sz="2000" dirty="0" smtClean="0">
                <a:latin typeface="Arial" panose="020B0604020202020204" pitchFamily="34" charset="0"/>
                <a:cs typeface="Arial" panose="020B0604020202020204" pitchFamily="34" charset="0"/>
              </a:rPr>
              <a:t>parición </a:t>
            </a:r>
            <a:r>
              <a:rPr lang="es-MX" sz="2000" dirty="0">
                <a:latin typeface="Arial" panose="020B0604020202020204" pitchFamily="34" charset="0"/>
                <a:cs typeface="Arial" panose="020B0604020202020204" pitchFamily="34" charset="0"/>
              </a:rPr>
              <a:t>de dos o más tumores endocrinos primarios asociados a la </a:t>
            </a:r>
            <a:r>
              <a:rPr lang="es-MX" sz="2000" dirty="0" smtClean="0">
                <a:latin typeface="Arial" panose="020B0604020202020204" pitchFamily="34" charset="0"/>
                <a:cs typeface="Arial" panose="020B0604020202020204" pitchFamily="34" charset="0"/>
              </a:rPr>
              <a:t>MEN1 adenoma </a:t>
            </a:r>
            <a:r>
              <a:rPr lang="es-MX" sz="2000" dirty="0">
                <a:latin typeface="Arial" panose="020B0604020202020204" pitchFamily="34" charset="0"/>
                <a:cs typeface="Arial" panose="020B0604020202020204" pitchFamily="34" charset="0"/>
              </a:rPr>
              <a:t>paratiroideo, tumor </a:t>
            </a:r>
            <a:r>
              <a:rPr lang="es-MX" sz="2000" dirty="0" err="1">
                <a:latin typeface="Arial" panose="020B0604020202020204" pitchFamily="34" charset="0"/>
                <a:cs typeface="Arial" panose="020B0604020202020204" pitchFamily="34" charset="0"/>
              </a:rPr>
              <a:t>enteropancreático</a:t>
            </a:r>
            <a:r>
              <a:rPr lang="es-MX" sz="2000" dirty="0">
                <a:latin typeface="Arial" panose="020B0604020202020204" pitchFamily="34" charset="0"/>
                <a:cs typeface="Arial" panose="020B0604020202020204" pitchFamily="34" charset="0"/>
              </a:rPr>
              <a:t> y adenoma </a:t>
            </a:r>
            <a:r>
              <a:rPr lang="es-MX" sz="2000" dirty="0" smtClean="0">
                <a:latin typeface="Arial" panose="020B0604020202020204" pitchFamily="34" charset="0"/>
                <a:cs typeface="Arial" panose="020B0604020202020204" pitchFamily="34" charset="0"/>
              </a:rPr>
              <a:t>hipofisario.</a:t>
            </a:r>
          </a:p>
          <a:p>
            <a:pPr marL="342900" indent="-342900">
              <a:buFont typeface="Wingdings" panose="05000000000000000000" pitchFamily="2" charset="2"/>
              <a:buChar char="v"/>
            </a:pPr>
            <a:endParaRPr lang="es-MX" sz="2000" dirty="0" smtClean="0">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s-MX" sz="2000" dirty="0">
                <a:latin typeface="Arial" panose="020B0604020202020204" pitchFamily="34" charset="0"/>
                <a:cs typeface="Arial" panose="020B0604020202020204" pitchFamily="34" charset="0"/>
              </a:rPr>
              <a:t>A</a:t>
            </a:r>
            <a:r>
              <a:rPr lang="es-MX" sz="2000" dirty="0" smtClean="0">
                <a:latin typeface="Arial" panose="020B0604020202020204" pitchFamily="34" charset="0"/>
                <a:cs typeface="Arial" panose="020B0604020202020204" pitchFamily="34" charset="0"/>
              </a:rPr>
              <a:t>parición </a:t>
            </a:r>
            <a:r>
              <a:rPr lang="es-MX" sz="2000" dirty="0">
                <a:latin typeface="Arial" panose="020B0604020202020204" pitchFamily="34" charset="0"/>
                <a:cs typeface="Arial" panose="020B0604020202020204" pitchFamily="34" charset="0"/>
              </a:rPr>
              <a:t>de uno de los tumores asociados a la MEN1 en un familiar de primer grado de un paciente con diagnóstico clínico de </a:t>
            </a:r>
            <a:r>
              <a:rPr lang="es-MX" sz="2000" dirty="0" smtClean="0">
                <a:latin typeface="Arial" panose="020B0604020202020204" pitchFamily="34" charset="0"/>
                <a:cs typeface="Arial" panose="020B0604020202020204" pitchFamily="34" charset="0"/>
              </a:rPr>
              <a:t>MEN.</a:t>
            </a:r>
          </a:p>
          <a:p>
            <a:pPr marL="342900" indent="-342900">
              <a:buFont typeface="Wingdings" panose="05000000000000000000" pitchFamily="2" charset="2"/>
              <a:buChar char="v"/>
            </a:pPr>
            <a:endParaRPr lang="es-MX"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s-MX" sz="2000" dirty="0">
                <a:latin typeface="Arial" panose="020B0604020202020204" pitchFamily="34" charset="0"/>
                <a:cs typeface="Arial" panose="020B0604020202020204" pitchFamily="34" charset="0"/>
              </a:rPr>
              <a:t>I</a:t>
            </a:r>
            <a:r>
              <a:rPr lang="es-MX" sz="2000" dirty="0" smtClean="0">
                <a:latin typeface="Arial" panose="020B0604020202020204" pitchFamily="34" charset="0"/>
                <a:cs typeface="Arial" panose="020B0604020202020204" pitchFamily="34" charset="0"/>
              </a:rPr>
              <a:t>dentificación </a:t>
            </a:r>
            <a:r>
              <a:rPr lang="es-MX" sz="2000" dirty="0">
                <a:latin typeface="Arial" panose="020B0604020202020204" pitchFamily="34" charset="0"/>
                <a:cs typeface="Arial" panose="020B0604020202020204" pitchFamily="34" charset="0"/>
              </a:rPr>
              <a:t>de una mutación de línea germinal de MEN1 en una persona que está asintomática y que aún no ha desarrollado anomalías bioquímicas séricas o radiológicas que indiquen el desarrollo de un tumor.</a:t>
            </a:r>
          </a:p>
        </p:txBody>
      </p:sp>
    </p:spTree>
    <p:extLst>
      <p:ext uri="{BB962C8B-B14F-4D97-AF65-F5344CB8AC3E}">
        <p14:creationId xmlns:p14="http://schemas.microsoft.com/office/powerpoint/2010/main" val="28219600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609601"/>
            <a:ext cx="10131425" cy="964758"/>
          </a:xfrm>
        </p:spPr>
        <p:txBody>
          <a:bodyPr>
            <a:normAutofit/>
          </a:bodyPr>
          <a:lstStyle/>
          <a:p>
            <a:pPr algn="ctr"/>
            <a:r>
              <a:rPr lang="es-AR" sz="3200" b="1" dirty="0" smtClean="0">
                <a:latin typeface="Arial" panose="020B0604020202020204" pitchFamily="34" charset="0"/>
                <a:cs typeface="Arial" panose="020B0604020202020204" pitchFamily="34" charset="0"/>
              </a:rPr>
              <a:t>TRATAMIENTO</a:t>
            </a: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85801" y="1574359"/>
            <a:ext cx="10131425" cy="4412973"/>
          </a:xfrm>
        </p:spPr>
        <p:txBody>
          <a:bodyPr>
            <a:normAutofit/>
          </a:bodyPr>
          <a:lstStyle/>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El tratamiento de cada uno de los respectivos tumores asociados a la MEN1 es muy similar al de sus homólogos </a:t>
            </a:r>
            <a:r>
              <a:rPr lang="es-MX" sz="2000" dirty="0" smtClean="0">
                <a:latin typeface="Arial" panose="020B0604020202020204" pitchFamily="34" charset="0"/>
                <a:cs typeface="Arial" panose="020B0604020202020204" pitchFamily="34" charset="0"/>
              </a:rPr>
              <a:t>esporádicos.</a:t>
            </a:r>
          </a:p>
          <a:p>
            <a:pPr>
              <a:buFont typeface="Wingdings" panose="05000000000000000000" pitchFamily="2" charset="2"/>
              <a:buChar char="v"/>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Factores </a:t>
            </a:r>
            <a:r>
              <a:rPr lang="es-MX" sz="2000" dirty="0">
                <a:latin typeface="Arial" panose="020B0604020202020204" pitchFamily="34" charset="0"/>
                <a:cs typeface="Arial" panose="020B0604020202020204" pitchFamily="34" charset="0"/>
              </a:rPr>
              <a:t>específicos de la MEN1 que deben tenerse en </a:t>
            </a:r>
            <a:r>
              <a:rPr lang="es-MX" sz="2000" dirty="0" smtClean="0">
                <a:latin typeface="Arial" panose="020B0604020202020204" pitchFamily="34" charset="0"/>
                <a:cs typeface="Arial" panose="020B0604020202020204" pitchFamily="34" charset="0"/>
              </a:rPr>
              <a:t>cuenta</a:t>
            </a:r>
            <a:r>
              <a:rPr lang="es-MX" sz="2000" dirty="0">
                <a:latin typeface="Arial" panose="020B0604020202020204" pitchFamily="34" charset="0"/>
                <a:cs typeface="Arial" panose="020B0604020202020204" pitchFamily="34" charset="0"/>
              </a:rPr>
              <a:t>:</a:t>
            </a:r>
            <a:r>
              <a:rPr lang="es-MX" sz="2000" dirty="0" smtClean="0">
                <a:latin typeface="Arial" panose="020B0604020202020204" pitchFamily="34" charset="0"/>
                <a:cs typeface="Arial" panose="020B0604020202020204" pitchFamily="34" charset="0"/>
              </a:rPr>
              <a:t> </a:t>
            </a:r>
          </a:p>
          <a:p>
            <a:pPr>
              <a:buFont typeface="Wingdings" panose="05000000000000000000" pitchFamily="2" charset="2"/>
              <a:buChar char="v"/>
            </a:pP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Los </a:t>
            </a:r>
            <a:r>
              <a:rPr lang="es-MX" sz="2000" dirty="0">
                <a:latin typeface="Arial" panose="020B0604020202020204" pitchFamily="34" charset="0"/>
                <a:cs typeface="Arial" panose="020B0604020202020204" pitchFamily="34" charset="0"/>
              </a:rPr>
              <a:t>tumores asociados a la </a:t>
            </a:r>
            <a:r>
              <a:rPr lang="es-MX" sz="2000" dirty="0" smtClean="0">
                <a:latin typeface="Arial" panose="020B0604020202020204" pitchFamily="34" charset="0"/>
                <a:cs typeface="Arial" panose="020B0604020202020204" pitchFamily="34" charset="0"/>
              </a:rPr>
              <a:t>MEN1 con frecuencia son múltiples. Con menor </a:t>
            </a:r>
            <a:r>
              <a:rPr lang="es-MX" sz="2000" dirty="0">
                <a:latin typeface="Arial" panose="020B0604020202020204" pitchFamily="34" charset="0"/>
                <a:cs typeface="Arial" panose="020B0604020202020204" pitchFamily="34" charset="0"/>
              </a:rPr>
              <a:t>probabilidad de curación quirúrgica. </a:t>
            </a:r>
            <a:r>
              <a:rPr lang="es-MX" sz="2000" dirty="0" smtClean="0">
                <a:latin typeface="Arial" panose="020B0604020202020204" pitchFamily="34" charset="0"/>
                <a:cs typeface="Arial" panose="020B0604020202020204" pitchFamily="34" charset="0"/>
              </a:rPr>
              <a:t>(Ejemplo múltiples </a:t>
            </a:r>
            <a:r>
              <a:rPr lang="es-MX" sz="2000" dirty="0">
                <a:latin typeface="Arial" panose="020B0604020202020204" pitchFamily="34" charset="0"/>
                <a:cs typeface="Arial" panose="020B0604020202020204" pitchFamily="34" charset="0"/>
              </a:rPr>
              <a:t>gastrinomas duodenales </a:t>
            </a:r>
            <a:r>
              <a:rPr lang="es-MX" sz="2000" dirty="0" smtClean="0">
                <a:latin typeface="Arial" panose="020B0604020202020204" pitchFamily="34" charset="0"/>
                <a:cs typeface="Arial" panose="020B0604020202020204" pitchFamily="34" charset="0"/>
              </a:rPr>
              <a:t>submucosos)</a:t>
            </a:r>
          </a:p>
          <a:p>
            <a:pPr>
              <a:buFont typeface="Wingdings" panose="05000000000000000000" pitchFamily="2" charset="2"/>
              <a:buChar char="v"/>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E</a:t>
            </a:r>
            <a:r>
              <a:rPr lang="es-MX" sz="2000" dirty="0" smtClean="0">
                <a:latin typeface="Arial" panose="020B0604020202020204" pitchFamily="34" charset="0"/>
                <a:cs typeface="Arial" panose="020B0604020202020204" pitchFamily="34" charset="0"/>
              </a:rPr>
              <a:t>s </a:t>
            </a:r>
            <a:r>
              <a:rPr lang="es-MX" sz="2000" dirty="0">
                <a:latin typeface="Arial" panose="020B0604020202020204" pitchFamily="34" charset="0"/>
                <a:cs typeface="Arial" panose="020B0604020202020204" pitchFamily="34" charset="0"/>
              </a:rPr>
              <a:t>importante tener en cuenta que todo el tejido pancreático remanente después de la resección de un tumor seguirá corriendo el riesgo de desarrollar un nuevo tumor. </a:t>
            </a:r>
            <a:endParaRPr lang="es-AR"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59230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278297"/>
            <a:ext cx="10131425" cy="795130"/>
          </a:xfrm>
        </p:spPr>
        <p:txBody>
          <a:bodyPr>
            <a:normAutofit/>
          </a:bodyPr>
          <a:lstStyle/>
          <a:p>
            <a:pPr algn="ctr"/>
            <a:r>
              <a:rPr lang="es-AR" sz="3200" b="1" dirty="0" smtClean="0">
                <a:latin typeface="Arial" panose="020B0604020202020204" pitchFamily="34" charset="0"/>
                <a:cs typeface="Arial" panose="020B0604020202020204" pitchFamily="34" charset="0"/>
              </a:rPr>
              <a:t>INSULINOMA</a:t>
            </a: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85801" y="1073427"/>
            <a:ext cx="10131425" cy="5430740"/>
          </a:xfrm>
        </p:spPr>
        <p:txBody>
          <a:bodyPr>
            <a:normAutofit/>
          </a:bodyPr>
          <a:lstStyle/>
          <a:p>
            <a:pPr marL="0" indent="0">
              <a:buNone/>
            </a:pPr>
            <a:r>
              <a:rPr lang="es-MX" sz="2400" b="1" dirty="0" smtClean="0">
                <a:latin typeface="Arial" panose="020B0604020202020204" pitchFamily="34" charset="0"/>
                <a:cs typeface="Arial" panose="020B0604020202020204" pitchFamily="34" charset="0"/>
              </a:rPr>
              <a:t>Características clínicas:</a:t>
            </a:r>
          </a:p>
          <a:p>
            <a:pPr marL="0" indent="0">
              <a:buNone/>
            </a:pP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10-30</a:t>
            </a:r>
            <a:r>
              <a:rPr lang="es-MX" sz="2000" dirty="0">
                <a:latin typeface="Arial" panose="020B0604020202020204" pitchFamily="34" charset="0"/>
                <a:cs typeface="Arial" panose="020B0604020202020204" pitchFamily="34" charset="0"/>
              </a:rPr>
              <a:t>% de los pacientes con </a:t>
            </a:r>
            <a:r>
              <a:rPr lang="es-MX" sz="2000" dirty="0" smtClean="0">
                <a:latin typeface="Arial" panose="020B0604020202020204" pitchFamily="34" charset="0"/>
                <a:cs typeface="Arial" panose="020B0604020202020204" pitchFamily="34" charset="0"/>
              </a:rPr>
              <a:t>MEN1.</a:t>
            </a:r>
          </a:p>
          <a:p>
            <a:pPr>
              <a:buFont typeface="Wingdings" panose="05000000000000000000" pitchFamily="2" charset="2"/>
              <a:buChar char="v"/>
            </a:pP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5 </a:t>
            </a:r>
            <a:r>
              <a:rPr lang="es-MX" sz="2000" dirty="0">
                <a:latin typeface="Arial" panose="020B0604020202020204" pitchFamily="34" charset="0"/>
                <a:cs typeface="Arial" panose="020B0604020202020204" pitchFamily="34" charset="0"/>
              </a:rPr>
              <a:t>al 10% de los que se presentan con un insulinoma tendrán MEN1. </a:t>
            </a: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Inicio antes </a:t>
            </a:r>
            <a:r>
              <a:rPr lang="es-MX" sz="2000" dirty="0">
                <a:latin typeface="Arial" panose="020B0604020202020204" pitchFamily="34" charset="0"/>
                <a:cs typeface="Arial" panose="020B0604020202020204" pitchFamily="34" charset="0"/>
              </a:rPr>
              <a:t>de los 40 </a:t>
            </a:r>
            <a:r>
              <a:rPr lang="es-MX" sz="2000" dirty="0" smtClean="0">
                <a:latin typeface="Arial" panose="020B0604020202020204" pitchFamily="34" charset="0"/>
                <a:cs typeface="Arial" panose="020B0604020202020204" pitchFamily="34" charset="0"/>
              </a:rPr>
              <a:t>años.</a:t>
            </a:r>
          </a:p>
          <a:p>
            <a:pPr>
              <a:buFont typeface="Wingdings" panose="05000000000000000000" pitchFamily="2" charset="2"/>
              <a:buChar char="v"/>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P</a:t>
            </a:r>
            <a:r>
              <a:rPr lang="es-MX" sz="2000" dirty="0" smtClean="0">
                <a:latin typeface="Arial" panose="020B0604020202020204" pitchFamily="34" charset="0"/>
                <a:cs typeface="Arial" panose="020B0604020202020204" pitchFamily="34" charset="0"/>
              </a:rPr>
              <a:t>ueden </a:t>
            </a:r>
            <a:r>
              <a:rPr lang="es-MX" sz="2000" dirty="0">
                <a:latin typeface="Arial" panose="020B0604020202020204" pitchFamily="34" charset="0"/>
                <a:cs typeface="Arial" panose="020B0604020202020204" pitchFamily="34" charset="0"/>
              </a:rPr>
              <a:t>ser la primera manifestación de la MEN1 en el 10% de los casos</a:t>
            </a:r>
            <a:r>
              <a:rPr lang="es-MX" sz="2000" dirty="0" smtClean="0">
                <a:latin typeface="Arial" panose="020B0604020202020204" pitchFamily="34" charset="0"/>
                <a:cs typeface="Arial" panose="020B0604020202020204" pitchFamily="34" charset="0"/>
              </a:rPr>
              <a:t>.</a:t>
            </a:r>
          </a:p>
          <a:p>
            <a:pPr marL="0" indent="0">
              <a:buNone/>
            </a:pPr>
            <a:r>
              <a:rPr lang="es-MX" sz="2000" dirty="0" smtClean="0">
                <a:latin typeface="Arial" panose="020B0604020202020204" pitchFamily="34" charset="0"/>
                <a:cs typeface="Arial" panose="020B0604020202020204" pitchFamily="34" charset="0"/>
              </a:rPr>
              <a:t> </a:t>
            </a: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S</a:t>
            </a:r>
            <a:r>
              <a:rPr lang="es-MX" sz="2000" dirty="0" smtClean="0">
                <a:latin typeface="Arial" panose="020B0604020202020204" pitchFamily="34" charset="0"/>
                <a:cs typeface="Arial" panose="020B0604020202020204" pitchFamily="34" charset="0"/>
              </a:rPr>
              <a:t>íntomas </a:t>
            </a:r>
            <a:r>
              <a:rPr lang="es-MX" sz="2000" dirty="0">
                <a:latin typeface="Arial" panose="020B0604020202020204" pitchFamily="34" charset="0"/>
                <a:cs typeface="Arial" panose="020B0604020202020204" pitchFamily="34" charset="0"/>
              </a:rPr>
              <a:t>de </a:t>
            </a:r>
            <a:r>
              <a:rPr lang="es-MX" sz="2000" dirty="0" smtClean="0">
                <a:latin typeface="Arial" panose="020B0604020202020204" pitchFamily="34" charset="0"/>
                <a:cs typeface="Arial" panose="020B0604020202020204" pitchFamily="34" charset="0"/>
              </a:rPr>
              <a:t>hipoglucemia: </a:t>
            </a:r>
            <a:r>
              <a:rPr lang="es-MX" sz="2000" dirty="0">
                <a:latin typeface="Arial" panose="020B0604020202020204" pitchFamily="34" charset="0"/>
                <a:cs typeface="Arial" panose="020B0604020202020204" pitchFamily="34" charset="0"/>
              </a:rPr>
              <a:t>debilidad, </a:t>
            </a:r>
            <a:r>
              <a:rPr lang="es-MX" sz="2000" dirty="0" smtClean="0">
                <a:latin typeface="Arial" panose="020B0604020202020204" pitchFamily="34" charset="0"/>
                <a:cs typeface="Arial" panose="020B0604020202020204" pitchFamily="34" charset="0"/>
              </a:rPr>
              <a:t>cefaleas, </a:t>
            </a:r>
            <a:r>
              <a:rPr lang="es-MX" sz="2000" dirty="0">
                <a:latin typeface="Arial" panose="020B0604020202020204" pitchFamily="34" charset="0"/>
                <a:cs typeface="Arial" panose="020B0604020202020204" pitchFamily="34" charset="0"/>
              </a:rPr>
              <a:t>sudoración, </a:t>
            </a:r>
            <a:r>
              <a:rPr lang="es-MX" sz="2000" dirty="0" smtClean="0">
                <a:latin typeface="Arial" panose="020B0604020202020204" pitchFamily="34" charset="0"/>
                <a:cs typeface="Arial" panose="020B0604020202020204" pitchFamily="34" charset="0"/>
              </a:rPr>
              <a:t> </a:t>
            </a:r>
            <a:r>
              <a:rPr lang="es-MX" sz="2000" dirty="0">
                <a:latin typeface="Arial" panose="020B0604020202020204" pitchFamily="34" charset="0"/>
                <a:cs typeface="Arial" panose="020B0604020202020204" pitchFamily="34" charset="0"/>
              </a:rPr>
              <a:t>ansiedad, alteración del comportamiento, convulsiones y pérdida de </a:t>
            </a:r>
            <a:r>
              <a:rPr lang="es-MX" sz="2000" dirty="0" smtClean="0">
                <a:latin typeface="Arial" panose="020B0604020202020204" pitchFamily="34" charset="0"/>
                <a:cs typeface="Arial" panose="020B0604020202020204" pitchFamily="34" charset="0"/>
              </a:rPr>
              <a:t>conciencia.</a:t>
            </a:r>
          </a:p>
          <a:p>
            <a:pPr marL="0" indent="0">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7201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246492"/>
            <a:ext cx="10131425" cy="588396"/>
          </a:xfrm>
        </p:spPr>
        <p:txBody>
          <a:bodyPr>
            <a:normAutofit/>
          </a:bodyPr>
          <a:lstStyle/>
          <a:p>
            <a:pPr algn="ctr"/>
            <a:r>
              <a:rPr lang="es-MX" sz="3200" b="1" dirty="0" smtClean="0">
                <a:latin typeface="Arial" panose="020B0604020202020204" pitchFamily="34" charset="0"/>
                <a:cs typeface="Arial" panose="020B0604020202020204" pitchFamily="34" charset="0"/>
              </a:rPr>
              <a:t>DIAGN</a:t>
            </a:r>
            <a:r>
              <a:rPr lang="es-AR" sz="3200" b="1" dirty="0" err="1">
                <a:latin typeface="Arial" panose="020B0604020202020204" pitchFamily="34" charset="0"/>
                <a:cs typeface="Arial" panose="020B0604020202020204" pitchFamily="34" charset="0"/>
              </a:rPr>
              <a:t>Ó</a:t>
            </a:r>
            <a:r>
              <a:rPr lang="es-MX" sz="3200" b="1" dirty="0" smtClean="0">
                <a:latin typeface="Arial" panose="020B0604020202020204" pitchFamily="34" charset="0"/>
                <a:cs typeface="Arial" panose="020B0604020202020204" pitchFamily="34" charset="0"/>
              </a:rPr>
              <a:t>STICO</a:t>
            </a: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85801" y="938254"/>
            <a:ext cx="10131425" cy="5772647"/>
          </a:xfrm>
        </p:spPr>
        <p:txBody>
          <a:bodyPr>
            <a:normAutofit fontScale="85000" lnSpcReduction="20000"/>
          </a:bodyPr>
          <a:lstStyle/>
          <a:p>
            <a:pPr>
              <a:buFont typeface="Wingdings" panose="05000000000000000000" pitchFamily="2" charset="2"/>
              <a:buChar char="v"/>
            </a:pPr>
            <a:r>
              <a:rPr lang="es-MX" sz="2100" b="1" dirty="0">
                <a:latin typeface="Arial" panose="020B0604020202020204" pitchFamily="34" charset="0"/>
                <a:cs typeface="Arial" panose="020B0604020202020204" pitchFamily="34" charset="0"/>
              </a:rPr>
              <a:t>S</a:t>
            </a:r>
            <a:r>
              <a:rPr lang="es-MX" sz="2100" b="1" dirty="0" smtClean="0">
                <a:latin typeface="Arial" panose="020B0604020202020204" pitchFamily="34" charset="0"/>
                <a:cs typeface="Arial" panose="020B0604020202020204" pitchFamily="34" charset="0"/>
              </a:rPr>
              <a:t>e </a:t>
            </a:r>
            <a:r>
              <a:rPr lang="es-MX" sz="2100" b="1" dirty="0">
                <a:latin typeface="Arial" panose="020B0604020202020204" pitchFamily="34" charset="0"/>
                <a:cs typeface="Arial" panose="020B0604020202020204" pitchFamily="34" charset="0"/>
              </a:rPr>
              <a:t>realiza con mayor fiabilidad mediante un ayuno supervisado de 72 </a:t>
            </a:r>
            <a:r>
              <a:rPr lang="es-MX" sz="2100" b="1" dirty="0" err="1">
                <a:latin typeface="Arial" panose="020B0604020202020204" pitchFamily="34" charset="0"/>
                <a:cs typeface="Arial" panose="020B0604020202020204" pitchFamily="34" charset="0"/>
              </a:rPr>
              <a:t>hs</a:t>
            </a:r>
            <a:r>
              <a:rPr lang="es-MX" sz="2100" b="1" dirty="0">
                <a:latin typeface="Arial" panose="020B0604020202020204" pitchFamily="34" charset="0"/>
                <a:cs typeface="Arial" panose="020B0604020202020204" pitchFamily="34" charset="0"/>
              </a:rPr>
              <a:t>, en el que se confirma la </a:t>
            </a:r>
            <a:r>
              <a:rPr lang="es-MX" sz="2100" b="1" dirty="0" smtClean="0">
                <a:latin typeface="Arial" panose="020B0604020202020204" pitchFamily="34" charset="0"/>
                <a:cs typeface="Arial" panose="020B0604020202020204" pitchFamily="34" charset="0"/>
              </a:rPr>
              <a:t>hipoglucemia, </a:t>
            </a:r>
            <a:r>
              <a:rPr lang="es-MX" sz="2100" b="1" dirty="0">
                <a:latin typeface="Arial" panose="020B0604020202020204" pitchFamily="34" charset="0"/>
                <a:cs typeface="Arial" panose="020B0604020202020204" pitchFamily="34" charset="0"/>
              </a:rPr>
              <a:t>glucosa &lt; 40 mg/dl  en presencia de concentraciones elevadas inadecuadas de insulina, junto con proinsulina y péptido C</a:t>
            </a:r>
            <a:r>
              <a:rPr lang="es-MX" sz="2100" b="1" dirty="0" smtClean="0">
                <a:latin typeface="Arial" panose="020B0604020202020204" pitchFamily="34" charset="0"/>
                <a:cs typeface="Arial" panose="020B0604020202020204" pitchFamily="34" charset="0"/>
              </a:rPr>
              <a:t>.</a:t>
            </a:r>
          </a:p>
          <a:p>
            <a:pPr>
              <a:buFont typeface="Wingdings" panose="05000000000000000000" pitchFamily="2" charset="2"/>
              <a:buChar char="v"/>
            </a:pPr>
            <a:endParaRPr lang="es-MX" sz="19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100" b="1" dirty="0">
                <a:latin typeface="Arial" panose="020B0604020202020204" pitchFamily="34" charset="0"/>
                <a:cs typeface="Arial" panose="020B0604020202020204" pitchFamily="34" charset="0"/>
              </a:rPr>
              <a:t>L</a:t>
            </a:r>
            <a:r>
              <a:rPr lang="es-MX" sz="2100" b="1" dirty="0" smtClean="0">
                <a:latin typeface="Arial" panose="020B0604020202020204" pitchFamily="34" charset="0"/>
                <a:cs typeface="Arial" panose="020B0604020202020204" pitchFamily="34" charset="0"/>
              </a:rPr>
              <a:t>ocalización preoperatoria: ecografía </a:t>
            </a:r>
            <a:r>
              <a:rPr lang="es-MX" sz="2100" b="1" dirty="0">
                <a:latin typeface="Arial" panose="020B0604020202020204" pitchFamily="34" charset="0"/>
                <a:cs typeface="Arial" panose="020B0604020202020204" pitchFamily="34" charset="0"/>
              </a:rPr>
              <a:t>endoscópica, la TC y la RM, </a:t>
            </a:r>
          </a:p>
          <a:p>
            <a:pPr>
              <a:buFont typeface="Wingdings" panose="05000000000000000000" pitchFamily="2" charset="2"/>
              <a:buChar char="v"/>
            </a:pPr>
            <a:endParaRPr lang="es-MX" sz="19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1900" dirty="0">
                <a:latin typeface="Arial" panose="020B0604020202020204" pitchFamily="34" charset="0"/>
                <a:cs typeface="Arial" panose="020B0604020202020204" pitchFamily="34" charset="0"/>
              </a:rPr>
              <a:t>M</a:t>
            </a:r>
            <a:r>
              <a:rPr lang="es-MX" sz="1900" dirty="0" smtClean="0">
                <a:latin typeface="Arial" panose="020B0604020202020204" pitchFamily="34" charset="0"/>
                <a:cs typeface="Arial" panose="020B0604020202020204" pitchFamily="34" charset="0"/>
              </a:rPr>
              <a:t>étodos </a:t>
            </a:r>
            <a:r>
              <a:rPr lang="es-MX" sz="1900" dirty="0">
                <a:latin typeface="Arial" panose="020B0604020202020204" pitchFamily="34" charset="0"/>
                <a:cs typeface="Arial" panose="020B0604020202020204" pitchFamily="34" charset="0"/>
              </a:rPr>
              <a:t>más </a:t>
            </a:r>
            <a:r>
              <a:rPr lang="es-MX" sz="1900" dirty="0" smtClean="0">
                <a:latin typeface="Arial" panose="020B0604020202020204" pitchFamily="34" charset="0"/>
                <a:cs typeface="Arial" panose="020B0604020202020204" pitchFamily="34" charset="0"/>
              </a:rPr>
              <a:t>especializados: angiografía </a:t>
            </a:r>
            <a:r>
              <a:rPr lang="es-MX" sz="1900" dirty="0">
                <a:latin typeface="Arial" panose="020B0604020202020204" pitchFamily="34" charset="0"/>
                <a:cs typeface="Arial" panose="020B0604020202020204" pitchFamily="34" charset="0"/>
              </a:rPr>
              <a:t>del tronco celíaco y la estimulación selectiva del calcio intraarterial combinada con mediciones de insulina venosa hepática</a:t>
            </a:r>
            <a:r>
              <a:rPr lang="es-MX" sz="1900" dirty="0" smtClean="0">
                <a:latin typeface="Arial" panose="020B0604020202020204" pitchFamily="34" charset="0"/>
                <a:cs typeface="Arial" panose="020B0604020202020204" pitchFamily="34" charset="0"/>
              </a:rPr>
              <a:t>.</a:t>
            </a:r>
          </a:p>
          <a:p>
            <a:pPr>
              <a:buFont typeface="Wingdings" panose="05000000000000000000" pitchFamily="2" charset="2"/>
              <a:buChar char="v"/>
            </a:pPr>
            <a:endParaRPr lang="es-MX" sz="19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1900" dirty="0" smtClean="0">
                <a:latin typeface="Arial" panose="020B0604020202020204" pitchFamily="34" charset="0"/>
                <a:cs typeface="Arial" panose="020B0604020202020204" pitchFamily="34" charset="0"/>
              </a:rPr>
              <a:t>PET/TC </a:t>
            </a:r>
            <a:r>
              <a:rPr lang="es-MX" sz="1900" dirty="0">
                <a:latin typeface="Arial" panose="020B0604020202020204" pitchFamily="34" charset="0"/>
                <a:cs typeface="Arial" panose="020B0604020202020204" pitchFamily="34" charset="0"/>
              </a:rPr>
              <a:t>con 68 </a:t>
            </a:r>
            <a:r>
              <a:rPr lang="es-MX" sz="1900" dirty="0" smtClean="0">
                <a:latin typeface="Arial" panose="020B0604020202020204" pitchFamily="34" charset="0"/>
                <a:cs typeface="Arial" panose="020B0604020202020204" pitchFamily="34" charset="0"/>
              </a:rPr>
              <a:t>Ga-DOTATATE.</a:t>
            </a:r>
          </a:p>
          <a:p>
            <a:pPr>
              <a:buFont typeface="Wingdings" panose="05000000000000000000" pitchFamily="2" charset="2"/>
              <a:buChar char="v"/>
            </a:pPr>
            <a:endParaRPr lang="es-MX" sz="19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1900" dirty="0">
                <a:latin typeface="Arial" panose="020B0604020202020204" pitchFamily="34" charset="0"/>
                <a:cs typeface="Arial" panose="020B0604020202020204" pitchFamily="34" charset="0"/>
              </a:rPr>
              <a:t>Más recientemente, se ha descrito que la gammagrafía basada en el péptido similar al glucagón 1 es muy sensible para localizar los </a:t>
            </a:r>
            <a:r>
              <a:rPr lang="es-MX" sz="1900" dirty="0" smtClean="0">
                <a:latin typeface="Arial" panose="020B0604020202020204" pitchFamily="34" charset="0"/>
                <a:cs typeface="Arial" panose="020B0604020202020204" pitchFamily="34" charset="0"/>
              </a:rPr>
              <a:t>insulinomas.</a:t>
            </a:r>
          </a:p>
          <a:p>
            <a:pPr>
              <a:buFont typeface="Wingdings" panose="05000000000000000000" pitchFamily="2" charset="2"/>
              <a:buChar char="v"/>
            </a:pPr>
            <a:endParaRPr lang="es-MX" sz="19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1900" dirty="0" smtClean="0">
                <a:latin typeface="Arial" panose="020B0604020202020204" pitchFamily="34" charset="0"/>
                <a:cs typeface="Arial" panose="020B0604020202020204" pitchFamily="34" charset="0"/>
              </a:rPr>
              <a:t>La </a:t>
            </a:r>
            <a:r>
              <a:rPr lang="es-MX" sz="1900" dirty="0">
                <a:latin typeface="Arial" panose="020B0604020202020204" pitchFamily="34" charset="0"/>
                <a:cs typeface="Arial" panose="020B0604020202020204" pitchFamily="34" charset="0"/>
              </a:rPr>
              <a:t>utilidad de la 18 F-</a:t>
            </a:r>
            <a:r>
              <a:rPr lang="es-MX" sz="1900" dirty="0" err="1">
                <a:latin typeface="Arial" panose="020B0604020202020204" pitchFamily="34" charset="0"/>
                <a:cs typeface="Arial" panose="020B0604020202020204" pitchFamily="34" charset="0"/>
              </a:rPr>
              <a:t>fluorodesoxiglucosa</a:t>
            </a:r>
            <a:r>
              <a:rPr lang="es-MX" sz="1900" dirty="0">
                <a:latin typeface="Arial" panose="020B0604020202020204" pitchFamily="34" charset="0"/>
                <a:cs typeface="Arial" panose="020B0604020202020204" pitchFamily="34" charset="0"/>
              </a:rPr>
              <a:t> (FDG)-PET/TC para la detección de </a:t>
            </a:r>
            <a:r>
              <a:rPr lang="es-MX" sz="1900" dirty="0" smtClean="0">
                <a:latin typeface="Arial" panose="020B0604020202020204" pitchFamily="34" charset="0"/>
                <a:cs typeface="Arial" panose="020B0604020202020204" pitchFamily="34" charset="0"/>
              </a:rPr>
              <a:t>insulinomas, en enfermedad </a:t>
            </a:r>
            <a:r>
              <a:rPr lang="es-MX" sz="1900" dirty="0">
                <a:latin typeface="Arial" panose="020B0604020202020204" pitchFamily="34" charset="0"/>
                <a:cs typeface="Arial" panose="020B0604020202020204" pitchFamily="34" charset="0"/>
              </a:rPr>
              <a:t>metastásica de alto grado. </a:t>
            </a:r>
            <a:endParaRPr lang="es-MX" sz="1900" dirty="0" smtClean="0">
              <a:latin typeface="Arial" panose="020B0604020202020204" pitchFamily="34" charset="0"/>
              <a:cs typeface="Arial" panose="020B0604020202020204" pitchFamily="34" charset="0"/>
            </a:endParaRPr>
          </a:p>
          <a:p>
            <a:pPr>
              <a:buFont typeface="Wingdings" panose="05000000000000000000" pitchFamily="2" charset="2"/>
              <a:buChar char="v"/>
            </a:pPr>
            <a:endParaRPr lang="es-MX" sz="19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1900" dirty="0" smtClean="0">
                <a:latin typeface="Arial" panose="020B0604020202020204" pitchFamily="34" charset="0"/>
                <a:cs typeface="Arial" panose="020B0604020202020204" pitchFamily="34" charset="0"/>
              </a:rPr>
              <a:t>Ecografía </a:t>
            </a:r>
            <a:r>
              <a:rPr lang="es-MX" sz="1900" dirty="0">
                <a:latin typeface="Arial" panose="020B0604020202020204" pitchFamily="34" charset="0"/>
                <a:cs typeface="Arial" panose="020B0604020202020204" pitchFamily="34" charset="0"/>
              </a:rPr>
              <a:t>pancreática directa intraoperatoria puede utilizarse en el momento de la cirugía para identificar el probable tumor. </a:t>
            </a:r>
          </a:p>
          <a:p>
            <a:pPr marL="0" indent="0">
              <a:buNone/>
            </a:pPr>
            <a:endParaRPr lang="es-AR" dirty="0"/>
          </a:p>
        </p:txBody>
      </p:sp>
    </p:spTree>
    <p:extLst>
      <p:ext uri="{BB962C8B-B14F-4D97-AF65-F5344CB8AC3E}">
        <p14:creationId xmlns:p14="http://schemas.microsoft.com/office/powerpoint/2010/main" val="27302911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278297"/>
            <a:ext cx="10131425" cy="938254"/>
          </a:xfrm>
        </p:spPr>
        <p:txBody>
          <a:bodyPr>
            <a:normAutofit/>
          </a:bodyPr>
          <a:lstStyle/>
          <a:p>
            <a:pPr algn="ctr"/>
            <a:r>
              <a:rPr lang="es-MX" sz="3200" b="1" dirty="0" smtClean="0">
                <a:latin typeface="Arial" panose="020B0604020202020204" pitchFamily="34" charset="0"/>
                <a:cs typeface="Arial" panose="020B0604020202020204" pitchFamily="34" charset="0"/>
              </a:rPr>
              <a:t>TRATAMIENTO</a:t>
            </a: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85801" y="1447137"/>
            <a:ext cx="10131425" cy="4754880"/>
          </a:xfrm>
        </p:spPr>
        <p:txBody>
          <a:bodyPr>
            <a:normAutofit fontScale="92500" lnSpcReduction="20000"/>
          </a:bodyPr>
          <a:lstStyle/>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Tratamiento médico, </a:t>
            </a:r>
            <a:r>
              <a:rPr lang="es-MX" sz="2000" dirty="0" smtClean="0">
                <a:latin typeface="Arial" panose="020B0604020202020204" pitchFamily="34" charset="0"/>
                <a:cs typeface="Arial" panose="020B0604020202020204" pitchFamily="34" charset="0"/>
              </a:rPr>
              <a:t>consiste </a:t>
            </a:r>
            <a:r>
              <a:rPr lang="es-MX" sz="2000" dirty="0">
                <a:latin typeface="Arial" panose="020B0604020202020204" pitchFamily="34" charset="0"/>
                <a:cs typeface="Arial" panose="020B0604020202020204" pitchFamily="34" charset="0"/>
              </a:rPr>
              <a:t>en comidas frecuentes ricas en </a:t>
            </a:r>
            <a:r>
              <a:rPr lang="es-MX" sz="2000" dirty="0" smtClean="0">
                <a:latin typeface="Arial" panose="020B0604020202020204" pitchFamily="34" charset="0"/>
                <a:cs typeface="Arial" panose="020B0604020202020204" pitchFamily="34" charset="0"/>
              </a:rPr>
              <a:t>carbohidratos.</a:t>
            </a:r>
          </a:p>
          <a:p>
            <a:pPr marL="0" indent="0">
              <a:buNone/>
            </a:pPr>
            <a:r>
              <a:rPr lang="es-MX" sz="2000" dirty="0" smtClean="0">
                <a:latin typeface="Arial" panose="020B0604020202020204" pitchFamily="34" charset="0"/>
                <a:cs typeface="Arial" panose="020B0604020202020204" pitchFamily="34" charset="0"/>
              </a:rPr>
              <a:t> </a:t>
            </a: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Diazóxido y análogos de la somatostatina, no siempre tiene </a:t>
            </a:r>
            <a:r>
              <a:rPr lang="es-MX" sz="2000" dirty="0" smtClean="0">
                <a:latin typeface="Arial" panose="020B0604020202020204" pitchFamily="34" charset="0"/>
                <a:cs typeface="Arial" panose="020B0604020202020204" pitchFamily="34" charset="0"/>
              </a:rPr>
              <a:t>éxito.</a:t>
            </a:r>
          </a:p>
          <a:p>
            <a:pPr>
              <a:buFont typeface="Wingdings" panose="05000000000000000000" pitchFamily="2" charset="2"/>
              <a:buChar char="v"/>
            </a:pP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b="1" dirty="0" smtClean="0">
                <a:latin typeface="Arial" panose="020B0604020202020204" pitchFamily="34" charset="0"/>
                <a:cs typeface="Arial" panose="020B0604020202020204" pitchFamily="34" charset="0"/>
              </a:rPr>
              <a:t>Eliminación </a:t>
            </a:r>
            <a:r>
              <a:rPr lang="es-MX" sz="2000" b="1" dirty="0">
                <a:latin typeface="Arial" panose="020B0604020202020204" pitchFamily="34" charset="0"/>
                <a:cs typeface="Arial" panose="020B0604020202020204" pitchFamily="34" charset="0"/>
              </a:rPr>
              <a:t>del insulinoma mediante cirugía es el tratamiento óptimo. </a:t>
            </a:r>
            <a:endParaRPr lang="es-MX" sz="2000" b="1" dirty="0" smtClean="0">
              <a:latin typeface="Arial" panose="020B0604020202020204" pitchFamily="34" charset="0"/>
              <a:cs typeface="Arial" panose="020B0604020202020204" pitchFamily="34" charset="0"/>
            </a:endParaRPr>
          </a:p>
          <a:p>
            <a:pPr>
              <a:buFont typeface="Wingdings" panose="05000000000000000000" pitchFamily="2" charset="2"/>
              <a:buChar char="v"/>
            </a:pP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El éxito de la cirugía mejora con la localización preoperatoria del tumor</a:t>
            </a:r>
            <a:r>
              <a:rPr lang="es-MX" sz="2000" dirty="0" smtClean="0">
                <a:latin typeface="Arial" panose="020B0604020202020204" pitchFamily="34" charset="0"/>
                <a:cs typeface="Arial" panose="020B0604020202020204" pitchFamily="34" charset="0"/>
              </a:rPr>
              <a:t>.</a:t>
            </a:r>
          </a:p>
          <a:p>
            <a:pPr>
              <a:buFont typeface="Wingdings" panose="05000000000000000000" pitchFamily="2" charset="2"/>
              <a:buChar char="v"/>
            </a:pP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La </a:t>
            </a:r>
            <a:r>
              <a:rPr lang="es-MX" sz="2000" dirty="0">
                <a:latin typeface="Arial" panose="020B0604020202020204" pitchFamily="34" charset="0"/>
                <a:cs typeface="Arial" panose="020B0604020202020204" pitchFamily="34" charset="0"/>
              </a:rPr>
              <a:t>mayoría de los insulinomas son lesiones únicas que se producen en el cuerpo o en la cola del </a:t>
            </a:r>
            <a:r>
              <a:rPr lang="es-MX" sz="2000" dirty="0" smtClean="0">
                <a:latin typeface="Arial" panose="020B0604020202020204" pitchFamily="34" charset="0"/>
                <a:cs typeface="Arial" panose="020B0604020202020204" pitchFamily="34" charset="0"/>
              </a:rPr>
              <a:t>páncreas.</a:t>
            </a:r>
          </a:p>
          <a:p>
            <a:pPr>
              <a:buFont typeface="Wingdings" panose="05000000000000000000" pitchFamily="2" charset="2"/>
              <a:buChar char="v"/>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P</a:t>
            </a:r>
            <a:r>
              <a:rPr lang="es-MX" sz="2000" dirty="0" smtClean="0">
                <a:latin typeface="Arial" panose="020B0604020202020204" pitchFamily="34" charset="0"/>
                <a:cs typeface="Arial" panose="020B0604020202020204" pitchFamily="34" charset="0"/>
              </a:rPr>
              <a:t>ueden </a:t>
            </a:r>
            <a:r>
              <a:rPr lang="es-MX" sz="2000" dirty="0">
                <a:latin typeface="Arial" panose="020B0604020202020204" pitchFamily="34" charset="0"/>
                <a:cs typeface="Arial" panose="020B0604020202020204" pitchFamily="34" charset="0"/>
              </a:rPr>
              <a:t>observarse insulinomas múltiples o multicéntricos en el 40% de los pacientes con MEN1. </a:t>
            </a:r>
          </a:p>
          <a:p>
            <a:endParaRPr lang="es-A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53628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609600"/>
            <a:ext cx="10131425" cy="821635"/>
          </a:xfrm>
        </p:spPr>
        <p:txBody>
          <a:bodyPr>
            <a:normAutofit/>
          </a:bodyPr>
          <a:lstStyle/>
          <a:p>
            <a:pPr algn="ctr"/>
            <a:r>
              <a:rPr lang="es-AR" sz="3200" b="1" dirty="0" err="1">
                <a:latin typeface="Arial" panose="020B0604020202020204" pitchFamily="34" charset="0"/>
                <a:cs typeface="Arial" panose="020B0604020202020204" pitchFamily="34" charset="0"/>
              </a:rPr>
              <a:t>Glucagonoma</a:t>
            </a: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85801" y="1526650"/>
            <a:ext cx="10131425" cy="4874149"/>
          </a:xfrm>
        </p:spPr>
        <p:txBody>
          <a:bodyPr>
            <a:normAutofit/>
          </a:bodyPr>
          <a:lstStyle/>
          <a:p>
            <a:pPr marL="0" indent="0">
              <a:buNone/>
            </a:pPr>
            <a:r>
              <a:rPr lang="es-MX" sz="2400" b="1" dirty="0" smtClean="0">
                <a:latin typeface="Arial" panose="020B0604020202020204" pitchFamily="34" charset="0"/>
                <a:cs typeface="Arial" panose="020B0604020202020204" pitchFamily="34" charset="0"/>
              </a:rPr>
              <a:t>Características clínicas</a:t>
            </a:r>
          </a:p>
          <a:p>
            <a:pPr marL="0" indent="0">
              <a:buNone/>
            </a:pPr>
            <a:endParaRPr lang="es-MX" sz="2400" b="1"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a:latin typeface="Arial" panose="020B0604020202020204" pitchFamily="34" charset="0"/>
                <a:cs typeface="Arial" panose="020B0604020202020204" pitchFamily="34" charset="0"/>
              </a:rPr>
              <a:t>S</a:t>
            </a:r>
            <a:r>
              <a:rPr lang="es-MX" dirty="0" smtClean="0">
                <a:latin typeface="Arial" panose="020B0604020202020204" pitchFamily="34" charset="0"/>
                <a:cs typeface="Arial" panose="020B0604020202020204" pitchFamily="34" charset="0"/>
              </a:rPr>
              <a:t>e </a:t>
            </a:r>
            <a:r>
              <a:rPr lang="es-MX" dirty="0">
                <a:latin typeface="Arial" panose="020B0604020202020204" pitchFamily="34" charset="0"/>
                <a:cs typeface="Arial" panose="020B0604020202020204" pitchFamily="34" charset="0"/>
              </a:rPr>
              <a:t>originan en las células α del islote </a:t>
            </a:r>
            <a:r>
              <a:rPr lang="es-MX" dirty="0" smtClean="0">
                <a:latin typeface="Arial" panose="020B0604020202020204" pitchFamily="34" charset="0"/>
                <a:cs typeface="Arial" panose="020B0604020202020204" pitchFamily="34" charset="0"/>
              </a:rPr>
              <a:t>pancreático, </a:t>
            </a:r>
            <a:r>
              <a:rPr lang="es-MX" dirty="0">
                <a:latin typeface="Arial" panose="020B0604020202020204" pitchFamily="34" charset="0"/>
                <a:cs typeface="Arial" panose="020B0604020202020204" pitchFamily="34" charset="0"/>
              </a:rPr>
              <a:t>exceso de secreción de </a:t>
            </a:r>
            <a:r>
              <a:rPr lang="es-MX" dirty="0" smtClean="0">
                <a:latin typeface="Arial" panose="020B0604020202020204" pitchFamily="34" charset="0"/>
                <a:cs typeface="Arial" panose="020B0604020202020204" pitchFamily="34" charset="0"/>
              </a:rPr>
              <a:t>glucagón, 1-2</a:t>
            </a:r>
            <a:r>
              <a:rPr lang="es-MX" dirty="0">
                <a:latin typeface="Arial" panose="020B0604020202020204" pitchFamily="34" charset="0"/>
                <a:cs typeface="Arial" panose="020B0604020202020204" pitchFamily="34" charset="0"/>
              </a:rPr>
              <a:t>% de los pacientes con MEN1. </a:t>
            </a:r>
            <a:r>
              <a:rPr lang="es-MX" dirty="0" smtClean="0">
                <a:latin typeface="Arial" panose="020B0604020202020204" pitchFamily="34" charset="0"/>
                <a:cs typeface="Arial" panose="020B0604020202020204" pitchFamily="34" charset="0"/>
              </a:rPr>
              <a:t> </a:t>
            </a:r>
          </a:p>
          <a:p>
            <a:pPr>
              <a:buFont typeface="Wingdings" panose="05000000000000000000" pitchFamily="2" charset="2"/>
              <a:buChar char="v"/>
            </a:pPr>
            <a:endParaRPr lang="es-MX"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Rasgos </a:t>
            </a:r>
            <a:r>
              <a:rPr lang="es-MX" dirty="0">
                <a:latin typeface="Arial" panose="020B0604020202020204" pitchFamily="34" charset="0"/>
                <a:cs typeface="Arial" panose="020B0604020202020204" pitchFamily="34" charset="0"/>
              </a:rPr>
              <a:t>clínicos característicos de erupción cutánea (eritema migratorio necrolítico</a:t>
            </a:r>
            <a:r>
              <a:rPr lang="es-MX" dirty="0" smtClean="0">
                <a:latin typeface="Arial" panose="020B0604020202020204" pitchFamily="34" charset="0"/>
                <a:cs typeface="Arial" panose="020B0604020202020204" pitchFamily="34" charset="0"/>
              </a:rPr>
              <a:t>). </a:t>
            </a:r>
          </a:p>
          <a:p>
            <a:pPr>
              <a:buFont typeface="Wingdings" panose="05000000000000000000" pitchFamily="2" charset="2"/>
              <a:buChar char="v"/>
            </a:pPr>
            <a:endParaRPr lang="es-MX"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Pacientes </a:t>
            </a:r>
            <a:r>
              <a:rPr lang="es-MX" dirty="0">
                <a:latin typeface="Arial" panose="020B0604020202020204" pitchFamily="34" charset="0"/>
                <a:cs typeface="Arial" panose="020B0604020202020204" pitchFamily="34" charset="0"/>
              </a:rPr>
              <a:t>asintomáticos con </a:t>
            </a:r>
            <a:r>
              <a:rPr lang="es-MX" dirty="0" smtClean="0">
                <a:latin typeface="Arial" panose="020B0604020202020204" pitchFamily="34" charset="0"/>
                <a:cs typeface="Arial" panose="020B0604020202020204" pitchFamily="34" charset="0"/>
              </a:rPr>
              <a:t>MEN1, </a:t>
            </a:r>
            <a:r>
              <a:rPr lang="es-MX" dirty="0">
                <a:latin typeface="Arial" panose="020B0604020202020204" pitchFamily="34" charset="0"/>
                <a:cs typeface="Arial" panose="020B0604020202020204" pitchFamily="34" charset="0"/>
              </a:rPr>
              <a:t>hiperglucagonemia </a:t>
            </a:r>
            <a:r>
              <a:rPr lang="es-MX" dirty="0" smtClean="0">
                <a:latin typeface="Arial" panose="020B0604020202020204" pitchFamily="34" charset="0"/>
                <a:cs typeface="Arial" panose="020B0604020202020204" pitchFamily="34" charset="0"/>
              </a:rPr>
              <a:t>importante, más </a:t>
            </a:r>
            <a:r>
              <a:rPr lang="es-MX" dirty="0">
                <a:latin typeface="Arial" panose="020B0604020202020204" pitchFamily="34" charset="0"/>
                <a:cs typeface="Arial" panose="020B0604020202020204" pitchFamily="34" charset="0"/>
              </a:rPr>
              <a:t>del doble del límite superior de lo </a:t>
            </a:r>
            <a:r>
              <a:rPr lang="es-MX" dirty="0" smtClean="0">
                <a:latin typeface="Arial" panose="020B0604020202020204" pitchFamily="34" charset="0"/>
                <a:cs typeface="Arial" panose="020B0604020202020204" pitchFamily="34" charset="0"/>
              </a:rPr>
              <a:t>normal, con </a:t>
            </a:r>
            <a:r>
              <a:rPr lang="es-MX" dirty="0">
                <a:latin typeface="Arial" panose="020B0604020202020204" pitchFamily="34" charset="0"/>
                <a:cs typeface="Arial" panose="020B0604020202020204" pitchFamily="34" charset="0"/>
              </a:rPr>
              <a:t>o sin intolerancia a la glucosa. </a:t>
            </a:r>
            <a:endParaRPr lang="es-A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78252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389614"/>
            <a:ext cx="10131425" cy="1407381"/>
          </a:xfrm>
        </p:spPr>
        <p:txBody>
          <a:bodyPr/>
          <a:lstStyle/>
          <a:p>
            <a:pPr algn="ctr"/>
            <a:r>
              <a:rPr lang="es-AR" sz="3200" b="1" dirty="0" smtClean="0">
                <a:latin typeface="Arial" panose="020B0604020202020204" pitchFamily="34" charset="0"/>
                <a:cs typeface="Arial" panose="020B0604020202020204" pitchFamily="34" charset="0"/>
              </a:rPr>
              <a:t>VI Poma</a:t>
            </a:r>
            <a:r>
              <a:rPr lang="es-AR" b="1" dirty="0">
                <a:latin typeface="Arial" panose="020B0604020202020204" pitchFamily="34" charset="0"/>
                <a:cs typeface="Arial" panose="020B0604020202020204" pitchFamily="34" charset="0"/>
              </a:rPr>
              <a:t/>
            </a:r>
            <a:br>
              <a:rPr lang="es-AR" b="1" dirty="0">
                <a:latin typeface="Arial" panose="020B0604020202020204" pitchFamily="34" charset="0"/>
                <a:cs typeface="Arial" panose="020B0604020202020204" pitchFamily="34" charset="0"/>
              </a:rPr>
            </a:br>
            <a:endParaRPr lang="es-AR"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85801" y="1296063"/>
            <a:ext cx="10131425" cy="5009321"/>
          </a:xfrm>
        </p:spPr>
        <p:txBody>
          <a:bodyPr/>
          <a:lstStyle/>
          <a:p>
            <a:pPr marL="0" indent="0">
              <a:buNone/>
            </a:pPr>
            <a:r>
              <a:rPr lang="es-MX" sz="2400" b="1" dirty="0" smtClean="0">
                <a:latin typeface="Arial" panose="020B0604020202020204" pitchFamily="34" charset="0"/>
                <a:cs typeface="Arial" panose="020B0604020202020204" pitchFamily="34" charset="0"/>
              </a:rPr>
              <a:t>Características clínicas</a:t>
            </a:r>
          </a:p>
          <a:p>
            <a:pPr marL="0" indent="0">
              <a:buNone/>
            </a:pPr>
            <a:endParaRPr lang="es-MX" sz="2400" b="1"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Los pacientes con péptidos intestinales vasoactivos (VIP)</a:t>
            </a:r>
            <a:r>
              <a:rPr lang="es-MX" sz="2000" dirty="0" err="1">
                <a:latin typeface="Arial" panose="020B0604020202020204" pitchFamily="34" charset="0"/>
                <a:cs typeface="Arial" panose="020B0604020202020204" pitchFamily="34" charset="0"/>
              </a:rPr>
              <a:t>omas</a:t>
            </a:r>
            <a:r>
              <a:rPr lang="es-MX" sz="2000" dirty="0" smtClean="0">
                <a:latin typeface="Arial" panose="020B0604020202020204" pitchFamily="34" charset="0"/>
                <a:cs typeface="Arial" panose="020B0604020202020204" pitchFamily="34" charset="0"/>
              </a:rPr>
              <a:t>, </a:t>
            </a:r>
            <a:r>
              <a:rPr lang="es-MX" sz="2000" dirty="0">
                <a:latin typeface="Arial" panose="020B0604020202020204" pitchFamily="34" charset="0"/>
                <a:cs typeface="Arial" panose="020B0604020202020204" pitchFamily="34" charset="0"/>
              </a:rPr>
              <a:t>son tumores pancreáticos que secretan </a:t>
            </a:r>
            <a:r>
              <a:rPr lang="es-MX" sz="2000" dirty="0" smtClean="0">
                <a:latin typeface="Arial" panose="020B0604020202020204" pitchFamily="34" charset="0"/>
                <a:cs typeface="Arial" panose="020B0604020202020204" pitchFamily="34" charset="0"/>
              </a:rPr>
              <a:t>VIP.</a:t>
            </a:r>
          </a:p>
          <a:p>
            <a:pPr>
              <a:buFont typeface="Wingdings" panose="05000000000000000000" pitchFamily="2" charset="2"/>
              <a:buChar char="v"/>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D</a:t>
            </a:r>
            <a:r>
              <a:rPr lang="es-MX" sz="2000" dirty="0" smtClean="0">
                <a:latin typeface="Arial" panose="020B0604020202020204" pitchFamily="34" charset="0"/>
                <a:cs typeface="Arial" panose="020B0604020202020204" pitchFamily="34" charset="0"/>
              </a:rPr>
              <a:t>iarrea </a:t>
            </a:r>
            <a:r>
              <a:rPr lang="es-MX" sz="2000" dirty="0">
                <a:latin typeface="Arial" panose="020B0604020202020204" pitchFamily="34" charset="0"/>
                <a:cs typeface="Arial" panose="020B0604020202020204" pitchFamily="34" charset="0"/>
              </a:rPr>
              <a:t>acuosa, hipopotasemia y aclorhidria. </a:t>
            </a:r>
            <a:r>
              <a:rPr lang="es-MX" sz="2000" dirty="0" smtClean="0">
                <a:latin typeface="Arial" panose="020B0604020202020204" pitchFamily="34" charset="0"/>
                <a:cs typeface="Arial" panose="020B0604020202020204" pitchFamily="34" charset="0"/>
              </a:rPr>
              <a:t>Síndrome </a:t>
            </a:r>
            <a:r>
              <a:rPr lang="es-MX" sz="2000" dirty="0">
                <a:latin typeface="Arial" panose="020B0604020202020204" pitchFamily="34" charset="0"/>
                <a:cs typeface="Arial" panose="020B0604020202020204" pitchFamily="34" charset="0"/>
              </a:rPr>
              <a:t>de </a:t>
            </a:r>
            <a:r>
              <a:rPr lang="es-MX" sz="2000" dirty="0" smtClean="0">
                <a:latin typeface="Arial" panose="020B0604020202020204" pitchFamily="34" charset="0"/>
                <a:cs typeface="Arial" panose="020B0604020202020204" pitchFamily="34" charset="0"/>
              </a:rPr>
              <a:t>Verner-Morrison.</a:t>
            </a:r>
          </a:p>
          <a:p>
            <a:pPr>
              <a:buFont typeface="Wingdings" panose="05000000000000000000" pitchFamily="2" charset="2"/>
              <a:buChar char="v"/>
            </a:pP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Pacientes </a:t>
            </a:r>
            <a:r>
              <a:rPr lang="es-MX" sz="2000" dirty="0">
                <a:latin typeface="Arial" panose="020B0604020202020204" pitchFamily="34" charset="0"/>
                <a:cs typeface="Arial" panose="020B0604020202020204" pitchFamily="34" charset="0"/>
              </a:rPr>
              <a:t>con MEN1 que tienen </a:t>
            </a:r>
            <a:r>
              <a:rPr lang="es-MX" sz="2000" dirty="0" smtClean="0">
                <a:latin typeface="Arial" panose="020B0604020202020204" pitchFamily="34" charset="0"/>
                <a:cs typeface="Arial" panose="020B0604020202020204" pitchFamily="34" charset="0"/>
              </a:rPr>
              <a:t>VI Pomas, son infrecuentes.</a:t>
            </a:r>
          </a:p>
          <a:p>
            <a:pPr>
              <a:buFont typeface="Wingdings" panose="05000000000000000000" pitchFamily="2" charset="2"/>
              <a:buChar char="v"/>
            </a:pP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D</a:t>
            </a:r>
            <a:r>
              <a:rPr lang="es-MX" sz="2000" dirty="0" smtClean="0">
                <a:latin typeface="Arial" panose="020B0604020202020204" pitchFamily="34" charset="0"/>
                <a:cs typeface="Arial" panose="020B0604020202020204" pitchFamily="34" charset="0"/>
              </a:rPr>
              <a:t>iagnóstico </a:t>
            </a:r>
            <a:r>
              <a:rPr lang="es-MX" sz="2000" dirty="0">
                <a:latin typeface="Arial" panose="020B0604020202020204" pitchFamily="34" charset="0"/>
                <a:cs typeface="Arial" panose="020B0604020202020204" pitchFamily="34" charset="0"/>
              </a:rPr>
              <a:t>se establece excluyendo el abuso de laxantes y diuréticos</a:t>
            </a:r>
            <a:r>
              <a:rPr lang="es-MX" sz="2000" dirty="0" smtClean="0">
                <a:latin typeface="Arial" panose="020B0604020202020204" pitchFamily="34" charset="0"/>
                <a:cs typeface="Arial" panose="020B0604020202020204" pitchFamily="34" charset="0"/>
              </a:rPr>
              <a:t>, </a:t>
            </a:r>
            <a:r>
              <a:rPr lang="es-MX" sz="2000" dirty="0">
                <a:latin typeface="Arial" panose="020B0604020202020204" pitchFamily="34" charset="0"/>
                <a:cs typeface="Arial" panose="020B0604020202020204" pitchFamily="34" charset="0"/>
              </a:rPr>
              <a:t>confirmando un volumen de heces superior a 0,5-1 l/día durante el ayuno, </a:t>
            </a:r>
            <a:r>
              <a:rPr lang="es-MX" sz="2000" dirty="0" smtClean="0">
                <a:latin typeface="Arial" panose="020B0604020202020204" pitchFamily="34" charset="0"/>
                <a:cs typeface="Arial" panose="020B0604020202020204" pitchFamily="34" charset="0"/>
              </a:rPr>
              <a:t>con </a:t>
            </a:r>
            <a:r>
              <a:rPr lang="es-MX" sz="2000" dirty="0">
                <a:latin typeface="Arial" panose="020B0604020202020204" pitchFamily="34" charset="0"/>
                <a:cs typeface="Arial" panose="020B0604020202020204" pitchFamily="34" charset="0"/>
              </a:rPr>
              <a:t>una concentración plasmática de VIP notablemente aumentada.</a:t>
            </a:r>
            <a:endParaRPr lang="es-AR"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74425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609601"/>
            <a:ext cx="10131425" cy="988612"/>
          </a:xfrm>
        </p:spPr>
        <p:txBody>
          <a:bodyPr>
            <a:normAutofit/>
          </a:bodyPr>
          <a:lstStyle/>
          <a:p>
            <a:pPr algn="ctr"/>
            <a:r>
              <a:rPr lang="es-MX" sz="3200" b="1" dirty="0" smtClean="0">
                <a:latin typeface="Arial" panose="020B0604020202020204" pitchFamily="34" charset="0"/>
                <a:cs typeface="Arial" panose="020B0604020202020204" pitchFamily="34" charset="0"/>
              </a:rPr>
              <a:t>SOMATOSTATINOMA</a:t>
            </a: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p:txBody>
          <a:bodyPr/>
          <a:lstStyle/>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T</a:t>
            </a:r>
            <a:r>
              <a:rPr lang="es-MX" sz="2000" dirty="0" smtClean="0">
                <a:latin typeface="Arial" panose="020B0604020202020204" pitchFamily="34" charset="0"/>
                <a:cs typeface="Arial" panose="020B0604020202020204" pitchFamily="34" charset="0"/>
              </a:rPr>
              <a:t>umores </a:t>
            </a:r>
            <a:r>
              <a:rPr lang="es-MX" sz="2000" dirty="0">
                <a:latin typeface="Arial" panose="020B0604020202020204" pitchFamily="34" charset="0"/>
                <a:cs typeface="Arial" panose="020B0604020202020204" pitchFamily="34" charset="0"/>
              </a:rPr>
              <a:t>pancreáticos que secretan </a:t>
            </a:r>
            <a:r>
              <a:rPr lang="es-MX" sz="2000" dirty="0" smtClean="0">
                <a:latin typeface="Arial" panose="020B0604020202020204" pitchFamily="34" charset="0"/>
                <a:cs typeface="Arial" panose="020B0604020202020204" pitchFamily="34" charset="0"/>
              </a:rPr>
              <a:t>somatostatina.</a:t>
            </a:r>
          </a:p>
          <a:p>
            <a:pPr>
              <a:buFont typeface="Wingdings" panose="05000000000000000000" pitchFamily="2" charset="2"/>
              <a:buChar char="v"/>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H</a:t>
            </a:r>
            <a:r>
              <a:rPr lang="es-MX" sz="2000" dirty="0" smtClean="0">
                <a:latin typeface="Arial" panose="020B0604020202020204" pitchFamily="34" charset="0"/>
                <a:cs typeface="Arial" panose="020B0604020202020204" pitchFamily="34" charset="0"/>
              </a:rPr>
              <a:t>iperglucemia</a:t>
            </a:r>
            <a:r>
              <a:rPr lang="es-MX" sz="2000" dirty="0">
                <a:latin typeface="Arial" panose="020B0604020202020204" pitchFamily="34" charset="0"/>
                <a:cs typeface="Arial" panose="020B0604020202020204" pitchFamily="34" charset="0"/>
              </a:rPr>
              <a:t>, colelitiasis, baja producción de ácido, esteatorrea, diarrea, dolor abdominal, anemia y pérdida de peso. </a:t>
            </a:r>
            <a:endParaRPr lang="es-MX" sz="2000" dirty="0" smtClean="0">
              <a:latin typeface="Arial" panose="020B0604020202020204" pitchFamily="34" charset="0"/>
              <a:cs typeface="Arial" panose="020B0604020202020204" pitchFamily="34" charset="0"/>
            </a:endParaRPr>
          </a:p>
          <a:p>
            <a:pPr marL="0" indent="0">
              <a:buNone/>
            </a:pPr>
            <a:endParaRPr lang="es-AR" dirty="0"/>
          </a:p>
        </p:txBody>
      </p:sp>
    </p:spTree>
    <p:extLst>
      <p:ext uri="{BB962C8B-B14F-4D97-AF65-F5344CB8AC3E}">
        <p14:creationId xmlns:p14="http://schemas.microsoft.com/office/powerpoint/2010/main" val="3518391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270345"/>
            <a:ext cx="10131425" cy="1280160"/>
          </a:xfrm>
        </p:spPr>
        <p:txBody>
          <a:bodyPr/>
          <a:lstStyle/>
          <a:p>
            <a:pPr algn="ctr"/>
            <a:r>
              <a:rPr lang="es-AR" sz="3200" b="1" dirty="0">
                <a:latin typeface="Arial" panose="020B0604020202020204" pitchFamily="34" charset="0"/>
                <a:cs typeface="Arial" panose="020B0604020202020204" pitchFamily="34" charset="0"/>
              </a:rPr>
              <a:t>Genética molecular</a:t>
            </a:r>
            <a:r>
              <a:rPr lang="es-AR" dirty="0"/>
              <a:t/>
            </a:r>
            <a:br>
              <a:rPr lang="es-AR" dirty="0"/>
            </a:br>
            <a:endParaRPr lang="es-AR" dirty="0"/>
          </a:p>
        </p:txBody>
      </p:sp>
      <p:sp>
        <p:nvSpPr>
          <p:cNvPr id="3" name="Marcador de contenido 2"/>
          <p:cNvSpPr>
            <a:spLocks noGrp="1"/>
          </p:cNvSpPr>
          <p:nvPr>
            <p:ph idx="1"/>
          </p:nvPr>
        </p:nvSpPr>
        <p:spPr/>
        <p:txBody>
          <a:bodyPr>
            <a:normAutofit/>
          </a:bodyPr>
          <a:lstStyle/>
          <a:p>
            <a:pPr marL="0" indent="0">
              <a:buNone/>
            </a:pPr>
            <a:r>
              <a:rPr lang="es-MX" sz="2000" b="1" dirty="0" smtClean="0">
                <a:latin typeface="Arial" panose="020B0604020202020204" pitchFamily="34" charset="0"/>
                <a:cs typeface="Arial" panose="020B0604020202020204" pitchFamily="34" charset="0"/>
              </a:rPr>
              <a:t>Gen MEN1</a:t>
            </a:r>
          </a:p>
          <a:p>
            <a:pPr marL="0" indent="0">
              <a:buNone/>
            </a:pPr>
            <a:endParaRPr lang="es-MX"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S</a:t>
            </a:r>
            <a:r>
              <a:rPr lang="es-MX" sz="2000" dirty="0" smtClean="0">
                <a:latin typeface="Arial" panose="020B0604020202020204" pitchFamily="34" charset="0"/>
                <a:cs typeface="Arial" panose="020B0604020202020204" pitchFamily="34" charset="0"/>
              </a:rPr>
              <a:t>e </a:t>
            </a:r>
            <a:r>
              <a:rPr lang="es-MX" sz="2000" dirty="0">
                <a:latin typeface="Arial" panose="020B0604020202020204" pitchFamily="34" charset="0"/>
                <a:cs typeface="Arial" panose="020B0604020202020204" pitchFamily="34" charset="0"/>
              </a:rPr>
              <a:t>encuentra en el cromosoma </a:t>
            </a:r>
            <a:r>
              <a:rPr lang="es-MX" sz="2000" dirty="0" smtClean="0">
                <a:latin typeface="Arial" panose="020B0604020202020204" pitchFamily="34" charset="0"/>
                <a:cs typeface="Arial" panose="020B0604020202020204" pitchFamily="34" charset="0"/>
              </a:rPr>
              <a:t>11q13, </a:t>
            </a:r>
            <a:r>
              <a:rPr lang="es-MX" sz="2000" dirty="0">
                <a:latin typeface="Arial" panose="020B0604020202020204" pitchFamily="34" charset="0"/>
                <a:cs typeface="Arial" panose="020B0604020202020204" pitchFamily="34" charset="0"/>
              </a:rPr>
              <a:t>consta de 10 exones que codifican una proteína de 610 aminoácidos, la menina, que regula la transcripción, </a:t>
            </a:r>
            <a:r>
              <a:rPr lang="es-MX" sz="2000" dirty="0" smtClean="0">
                <a:latin typeface="Arial" panose="020B0604020202020204" pitchFamily="34" charset="0"/>
                <a:cs typeface="Arial" panose="020B0604020202020204" pitchFamily="34" charset="0"/>
              </a:rPr>
              <a:t>estructura </a:t>
            </a:r>
            <a:r>
              <a:rPr lang="es-MX" sz="2000" dirty="0">
                <a:latin typeface="Arial" panose="020B0604020202020204" pitchFamily="34" charset="0"/>
                <a:cs typeface="Arial" panose="020B0604020202020204" pitchFamily="34" charset="0"/>
              </a:rPr>
              <a:t>de la cromatina, </a:t>
            </a:r>
            <a:r>
              <a:rPr lang="es-MX" sz="2000" dirty="0" smtClean="0">
                <a:latin typeface="Arial" panose="020B0604020202020204" pitchFamily="34" charset="0"/>
                <a:cs typeface="Arial" panose="020B0604020202020204" pitchFamily="34" charset="0"/>
              </a:rPr>
              <a:t>estabilidad </a:t>
            </a:r>
            <a:r>
              <a:rPr lang="es-MX" sz="2000" dirty="0">
                <a:latin typeface="Arial" panose="020B0604020202020204" pitchFamily="34" charset="0"/>
                <a:cs typeface="Arial" panose="020B0604020202020204" pitchFamily="34" charset="0"/>
              </a:rPr>
              <a:t>del genoma </a:t>
            </a:r>
            <a:r>
              <a:rPr lang="es-MX" sz="2000" dirty="0" smtClean="0">
                <a:latin typeface="Arial" panose="020B0604020202020204" pitchFamily="34" charset="0"/>
                <a:cs typeface="Arial" panose="020B0604020202020204" pitchFamily="34" charset="0"/>
              </a:rPr>
              <a:t>y </a:t>
            </a:r>
            <a:r>
              <a:rPr lang="es-MX" sz="2000" dirty="0">
                <a:latin typeface="Arial" panose="020B0604020202020204" pitchFamily="34" charset="0"/>
                <a:cs typeface="Arial" panose="020B0604020202020204" pitchFamily="34" charset="0"/>
              </a:rPr>
              <a:t>proliferación </a:t>
            </a:r>
            <a:r>
              <a:rPr lang="es-MX" sz="2000" dirty="0" smtClean="0">
                <a:latin typeface="Arial" panose="020B0604020202020204" pitchFamily="34" charset="0"/>
                <a:cs typeface="Arial" panose="020B0604020202020204" pitchFamily="34" charset="0"/>
              </a:rPr>
              <a:t>celular.</a:t>
            </a:r>
          </a:p>
          <a:p>
            <a:pPr>
              <a:buFont typeface="Wingdings" panose="05000000000000000000" pitchFamily="2" charset="2"/>
              <a:buChar char="v"/>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Los </a:t>
            </a:r>
            <a:r>
              <a:rPr lang="es-MX" sz="2000" dirty="0">
                <a:latin typeface="Arial" panose="020B0604020202020204" pitchFamily="34" charset="0"/>
                <a:cs typeface="Arial" panose="020B0604020202020204" pitchFamily="34" charset="0"/>
              </a:rPr>
              <a:t>pacientes con MEN1 albergan mutaciones heterocigóticas de línea germinal en el gen </a:t>
            </a:r>
            <a:r>
              <a:rPr lang="es-MX" sz="2000" dirty="0" smtClean="0">
                <a:latin typeface="Arial" panose="020B0604020202020204" pitchFamily="34" charset="0"/>
                <a:cs typeface="Arial" panose="020B0604020202020204" pitchFamily="34" charset="0"/>
              </a:rPr>
              <a:t>MEN1, </a:t>
            </a:r>
            <a:r>
              <a:rPr lang="es-MX" sz="2000" dirty="0">
                <a:latin typeface="Arial" panose="020B0604020202020204" pitchFamily="34" charset="0"/>
                <a:cs typeface="Arial" panose="020B0604020202020204" pitchFamily="34" charset="0"/>
              </a:rPr>
              <a:t>lo cual los predispone al desarrollo de </a:t>
            </a:r>
            <a:r>
              <a:rPr lang="es-MX" sz="2000" dirty="0" smtClean="0">
                <a:latin typeface="Arial" panose="020B0604020202020204" pitchFamily="34" charset="0"/>
                <a:cs typeface="Arial" panose="020B0604020202020204" pitchFamily="34" charset="0"/>
              </a:rPr>
              <a:t>tumores.</a:t>
            </a:r>
          </a:p>
          <a:p>
            <a:pPr marL="0" indent="0">
              <a:buNone/>
            </a:pPr>
            <a:r>
              <a:rPr lang="es-MX" sz="2000" dirty="0" smtClean="0">
                <a:latin typeface="Arial" panose="020B0604020202020204" pitchFamily="34" charset="0"/>
                <a:cs typeface="Arial" panose="020B0604020202020204" pitchFamily="34" charset="0"/>
              </a:rPr>
              <a:t> </a:t>
            </a: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26100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222638"/>
            <a:ext cx="10131425" cy="818983"/>
          </a:xfrm>
        </p:spPr>
        <p:txBody>
          <a:bodyPr>
            <a:normAutofit/>
          </a:bodyPr>
          <a:lstStyle/>
          <a:p>
            <a:pPr algn="ctr"/>
            <a:r>
              <a:rPr lang="es-MX" sz="3200" b="1" dirty="0" smtClean="0">
                <a:latin typeface="Arial" panose="020B0604020202020204" pitchFamily="34" charset="0"/>
                <a:cs typeface="Arial" panose="020B0604020202020204" pitchFamily="34" charset="0"/>
              </a:rPr>
              <a:t>ALGORITMO</a:t>
            </a:r>
            <a:endParaRPr lang="es-AR" sz="3200" b="1" dirty="0">
              <a:latin typeface="Arial" panose="020B0604020202020204" pitchFamily="34" charset="0"/>
              <a:cs typeface="Arial" panose="020B0604020202020204" pitchFamily="34" charset="0"/>
            </a:endParaRPr>
          </a:p>
        </p:txBody>
      </p:sp>
      <p:pic>
        <p:nvPicPr>
          <p:cNvPr id="4" name="Marcador de contenido 3"/>
          <p:cNvPicPr>
            <a:picLocks noGrp="1" noChangeAspect="1"/>
          </p:cNvPicPr>
          <p:nvPr>
            <p:ph idx="1"/>
          </p:nvPr>
        </p:nvPicPr>
        <p:blipFill>
          <a:blip r:embed="rId2"/>
          <a:stretch>
            <a:fillRect/>
          </a:stretch>
        </p:blipFill>
        <p:spPr>
          <a:xfrm>
            <a:off x="2003729" y="1041621"/>
            <a:ext cx="7426518" cy="4844995"/>
          </a:xfrm>
          <a:prstGeom prst="rect">
            <a:avLst/>
          </a:prstGeom>
          <a:ln w="57150">
            <a:solidFill>
              <a:srgbClr val="7030A0"/>
            </a:solidFill>
          </a:ln>
          <a:effectLst>
            <a:reflection blurRad="6350" stA="50000" endA="300" endPos="90000" dir="5400000" sy="-100000" algn="bl" rotWithShape="0"/>
          </a:effectLst>
        </p:spPr>
      </p:pic>
    </p:spTree>
    <p:extLst>
      <p:ext uri="{BB962C8B-B14F-4D97-AF65-F5344CB8AC3E}">
        <p14:creationId xmlns:p14="http://schemas.microsoft.com/office/powerpoint/2010/main" val="16434865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8058554" y="0"/>
            <a:ext cx="4133446" cy="3450635"/>
          </a:xfrm>
          <a:prstGeom prst="rect">
            <a:avLst/>
          </a:prstGeom>
        </p:spPr>
      </p:pic>
      <p:pic>
        <p:nvPicPr>
          <p:cNvPr id="5" name="Marcador de contenido 4"/>
          <p:cNvPicPr>
            <a:picLocks noGrp="1" noChangeAspect="1"/>
          </p:cNvPicPr>
          <p:nvPr>
            <p:ph idx="1"/>
          </p:nvPr>
        </p:nvPicPr>
        <p:blipFill>
          <a:blip r:embed="rId3"/>
          <a:stretch>
            <a:fillRect/>
          </a:stretch>
        </p:blipFill>
        <p:spPr>
          <a:xfrm>
            <a:off x="1001864" y="1073426"/>
            <a:ext cx="6542277" cy="3959750"/>
          </a:xfrm>
          <a:prstGeom prst="rect">
            <a:avLst/>
          </a:prstGeom>
        </p:spPr>
      </p:pic>
    </p:spTree>
    <p:extLst>
      <p:ext uri="{BB962C8B-B14F-4D97-AF65-F5344CB8AC3E}">
        <p14:creationId xmlns:p14="http://schemas.microsoft.com/office/powerpoint/2010/main" val="13920216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contenido 3" descr="cielo nocturno con montañas en el horizonte">
            <a:extLst>
              <a:ext uri="{FF2B5EF4-FFF2-40B4-BE49-F238E27FC236}">
                <a16:creationId xmlns:a16="http://schemas.microsoft.com/office/drawing/2014/main" xmlns="" id="{2739CFE1-3E46-48B5-9BDB-769492BA7A53}"/>
              </a:ext>
            </a:extLst>
          </p:cNvPr>
          <p:cNvPicPr>
            <a:picLocks noGrp="1" noChangeAspect="1"/>
          </p:cNvPicPr>
          <p:nvPr>
            <p:ph sz="half" idx="1"/>
          </p:nvPr>
        </p:nvPicPr>
        <p:blipFill rotWithShape="1">
          <a:blip r:embed="rId3"/>
          <a:srcRect t="4555" b="4555"/>
          <a:stretch/>
        </p:blipFill>
        <p:spPr>
          <a:xfrm>
            <a:off x="-600" y="-1226"/>
            <a:ext cx="12193200" cy="6860452"/>
          </a:xfrm>
          <a:custGeom>
            <a:avLst/>
            <a:gdLst/>
            <a:ahLst/>
            <a:cxnLst/>
            <a:rect l="l" t="t" r="r" b="b"/>
            <a:pathLst>
              <a:path w="12192000" h="6858000">
                <a:moveTo>
                  <a:pt x="6090347" y="706999"/>
                </a:moveTo>
                <a:cubicBezTo>
                  <a:pt x="4588386" y="706999"/>
                  <a:pt x="3370806" y="1924579"/>
                  <a:pt x="3370806" y="3426541"/>
                </a:cubicBezTo>
                <a:cubicBezTo>
                  <a:pt x="3370806" y="4928503"/>
                  <a:pt x="4588386" y="6146083"/>
                  <a:pt x="6090347" y="6146083"/>
                </a:cubicBezTo>
                <a:cubicBezTo>
                  <a:pt x="7592308" y="6146083"/>
                  <a:pt x="8809888" y="4928503"/>
                  <a:pt x="8809888" y="3426541"/>
                </a:cubicBezTo>
                <a:cubicBezTo>
                  <a:pt x="8809888" y="1924579"/>
                  <a:pt x="7592308" y="706999"/>
                  <a:pt x="6090347" y="706999"/>
                </a:cubicBezTo>
                <a:close/>
                <a:moveTo>
                  <a:pt x="6082303" y="247854"/>
                </a:moveTo>
                <a:cubicBezTo>
                  <a:pt x="7836802" y="247854"/>
                  <a:pt x="9259104" y="1671227"/>
                  <a:pt x="9259104" y="3427045"/>
                </a:cubicBezTo>
                <a:cubicBezTo>
                  <a:pt x="9259104" y="5182864"/>
                  <a:pt x="7836802" y="6606237"/>
                  <a:pt x="6082303" y="6606237"/>
                </a:cubicBezTo>
                <a:cubicBezTo>
                  <a:pt x="4327804" y="6606237"/>
                  <a:pt x="2905502" y="5182864"/>
                  <a:pt x="2905502" y="3427045"/>
                </a:cubicBezTo>
                <a:cubicBezTo>
                  <a:pt x="2905502" y="1671227"/>
                  <a:pt x="4327804" y="247854"/>
                  <a:pt x="6082303" y="247854"/>
                </a:cubicBezTo>
                <a:close/>
                <a:moveTo>
                  <a:pt x="9560257" y="0"/>
                </a:moveTo>
                <a:lnTo>
                  <a:pt x="12192000" y="0"/>
                </a:lnTo>
                <a:lnTo>
                  <a:pt x="12192000" y="6858000"/>
                </a:lnTo>
                <a:lnTo>
                  <a:pt x="9560255" y="6858000"/>
                </a:lnTo>
                <a:lnTo>
                  <a:pt x="9704262" y="6706843"/>
                </a:lnTo>
                <a:cubicBezTo>
                  <a:pt x="10490530" y="5841105"/>
                  <a:pt x="10969748" y="4691058"/>
                  <a:pt x="10969748" y="3428999"/>
                </a:cubicBezTo>
                <a:cubicBezTo>
                  <a:pt x="10969748" y="2166941"/>
                  <a:pt x="10490530" y="1016894"/>
                  <a:pt x="9704262" y="151155"/>
                </a:cubicBezTo>
                <a:close/>
                <a:moveTo>
                  <a:pt x="7947654" y="0"/>
                </a:moveTo>
                <a:lnTo>
                  <a:pt x="8099035" y="0"/>
                </a:lnTo>
                <a:lnTo>
                  <a:pt x="8158569" y="34257"/>
                </a:lnTo>
                <a:cubicBezTo>
                  <a:pt x="9305381" y="731601"/>
                  <a:pt x="10071441" y="1993601"/>
                  <a:pt x="10071441" y="3434659"/>
                </a:cubicBezTo>
                <a:cubicBezTo>
                  <a:pt x="10071441" y="4875717"/>
                  <a:pt x="9305381" y="6137716"/>
                  <a:pt x="8158569" y="6835060"/>
                </a:cubicBezTo>
                <a:lnTo>
                  <a:pt x="8118703" y="6858000"/>
                </a:lnTo>
                <a:lnTo>
                  <a:pt x="7923440" y="6858000"/>
                </a:lnTo>
                <a:lnTo>
                  <a:pt x="7938929" y="6850061"/>
                </a:lnTo>
                <a:cubicBezTo>
                  <a:pt x="9153123" y="6189975"/>
                  <a:pt x="9977382" y="4902579"/>
                  <a:pt x="9977382" y="3422520"/>
                </a:cubicBezTo>
                <a:cubicBezTo>
                  <a:pt x="9977382" y="2009739"/>
                  <a:pt x="9226353" y="772500"/>
                  <a:pt x="8102044" y="88839"/>
                </a:cubicBezTo>
                <a:close/>
                <a:moveTo>
                  <a:pt x="4097777" y="0"/>
                </a:moveTo>
                <a:lnTo>
                  <a:pt x="4216953" y="0"/>
                </a:lnTo>
                <a:lnTo>
                  <a:pt x="4062563" y="88839"/>
                </a:lnTo>
                <a:cubicBezTo>
                  <a:pt x="2938253" y="772500"/>
                  <a:pt x="2187224" y="2009739"/>
                  <a:pt x="2187224" y="3422520"/>
                </a:cubicBezTo>
                <a:cubicBezTo>
                  <a:pt x="2187224" y="4902579"/>
                  <a:pt x="3011483" y="6189975"/>
                  <a:pt x="4225677" y="6850061"/>
                </a:cubicBezTo>
                <a:lnTo>
                  <a:pt x="4241167" y="6858000"/>
                </a:lnTo>
                <a:lnTo>
                  <a:pt x="4078110" y="6858000"/>
                </a:lnTo>
                <a:lnTo>
                  <a:pt x="4038243" y="6835060"/>
                </a:lnTo>
                <a:cubicBezTo>
                  <a:pt x="2891431" y="6137716"/>
                  <a:pt x="2125371" y="4875717"/>
                  <a:pt x="2125371" y="3434659"/>
                </a:cubicBezTo>
                <a:cubicBezTo>
                  <a:pt x="2125371" y="1993601"/>
                  <a:pt x="2891431" y="731601"/>
                  <a:pt x="4038243" y="34257"/>
                </a:cubicBezTo>
                <a:close/>
                <a:moveTo>
                  <a:pt x="0" y="0"/>
                </a:moveTo>
                <a:lnTo>
                  <a:pt x="2636555" y="0"/>
                </a:lnTo>
                <a:lnTo>
                  <a:pt x="2492551" y="151155"/>
                </a:lnTo>
                <a:cubicBezTo>
                  <a:pt x="1706282" y="1016894"/>
                  <a:pt x="1227064" y="2166941"/>
                  <a:pt x="1227064" y="3428999"/>
                </a:cubicBezTo>
                <a:cubicBezTo>
                  <a:pt x="1227064" y="4691058"/>
                  <a:pt x="1706282" y="5841105"/>
                  <a:pt x="2492551" y="6706843"/>
                </a:cubicBezTo>
                <a:lnTo>
                  <a:pt x="2636557" y="6858000"/>
                </a:lnTo>
                <a:lnTo>
                  <a:pt x="0" y="6858000"/>
                </a:lnTo>
                <a:close/>
              </a:path>
            </a:pathLst>
          </a:custGeom>
          <a:ln w="60325" cmpd="dbl">
            <a:solidFill>
              <a:schemeClr val="tx1">
                <a:alpha val="40000"/>
              </a:schemeClr>
            </a:solidFill>
          </a:ln>
        </p:spPr>
      </p:pic>
      <p:sp>
        <p:nvSpPr>
          <p:cNvPr id="2" name="Título 1">
            <a:extLst>
              <a:ext uri="{FF2B5EF4-FFF2-40B4-BE49-F238E27FC236}">
                <a16:creationId xmlns:a16="http://schemas.microsoft.com/office/drawing/2014/main" xmlns="" id="{144E241E-3110-4B1C-B9B0-F17B90FEEC1D}"/>
              </a:ext>
            </a:extLst>
          </p:cNvPr>
          <p:cNvSpPr>
            <a:spLocks noGrp="1"/>
          </p:cNvSpPr>
          <p:nvPr>
            <p:ph type="title"/>
          </p:nvPr>
        </p:nvSpPr>
        <p:spPr>
          <a:xfrm>
            <a:off x="2408903" y="477078"/>
            <a:ext cx="7390680" cy="1272209"/>
          </a:xfrm>
        </p:spPr>
        <p:txBody>
          <a:bodyPr vert="horz" lIns="91440" tIns="45720" rIns="91440" bIns="45720" rtlCol="0" anchor="ctr">
            <a:normAutofit/>
          </a:bodyPr>
          <a:lstStyle/>
          <a:p>
            <a:pPr algn="ctr"/>
            <a:r>
              <a:rPr lang="es-ES" sz="3200" b="1" dirty="0" smtClean="0">
                <a:latin typeface="Arial" panose="020B0604020202020204" pitchFamily="34" charset="0"/>
                <a:cs typeface="Arial" panose="020B0604020202020204" pitchFamily="34" charset="0"/>
              </a:rPr>
              <a:t>MEN-</a:t>
            </a:r>
            <a:r>
              <a:rPr lang="es-ES" sz="3200" b="1" dirty="0" err="1" smtClean="0">
                <a:latin typeface="Arial" panose="020B0604020202020204" pitchFamily="34" charset="0"/>
                <a:cs typeface="Arial" panose="020B0604020202020204" pitchFamily="34" charset="0"/>
              </a:rPr>
              <a:t>Iia</a:t>
            </a:r>
            <a:r>
              <a:rPr lang="es-ES" sz="3200" b="1" dirty="0" smtClean="0">
                <a:latin typeface="Arial" panose="020B0604020202020204" pitchFamily="34" charset="0"/>
                <a:cs typeface="Arial" panose="020B0604020202020204" pitchFamily="34" charset="0"/>
              </a:rPr>
              <a:t>  síndrome </a:t>
            </a:r>
            <a:r>
              <a:rPr lang="es-ES" sz="3200" b="1" dirty="0">
                <a:latin typeface="Arial" panose="020B0604020202020204" pitchFamily="34" charset="0"/>
                <a:cs typeface="Arial" panose="020B0604020202020204" pitchFamily="34" charset="0"/>
              </a:rPr>
              <a:t>de </a:t>
            </a:r>
            <a:r>
              <a:rPr lang="es-ES" sz="3200" b="1" dirty="0" err="1" smtClean="0">
                <a:latin typeface="Arial" panose="020B0604020202020204" pitchFamily="34" charset="0"/>
                <a:cs typeface="Arial" panose="020B0604020202020204" pitchFamily="34" charset="0"/>
              </a:rPr>
              <a:t>Sipple</a:t>
            </a:r>
            <a:r>
              <a:rPr lang="es-ES" sz="3200" b="1" dirty="0">
                <a:latin typeface="Arial" panose="020B0604020202020204" pitchFamily="34" charset="0"/>
                <a:cs typeface="Arial" panose="020B0604020202020204" pitchFamily="34" charset="0"/>
              </a:rPr>
              <a:t/>
            </a:r>
            <a:br>
              <a:rPr lang="es-ES" sz="3200" b="1" dirty="0">
                <a:latin typeface="Arial" panose="020B0604020202020204" pitchFamily="34" charset="0"/>
                <a:cs typeface="Arial" panose="020B0604020202020204" pitchFamily="34" charset="0"/>
              </a:rPr>
            </a:br>
            <a:endParaRPr lang="es-ES" sz="3200" b="1" dirty="0">
              <a:latin typeface="Arial" panose="020B0604020202020204" pitchFamily="34" charset="0"/>
              <a:cs typeface="Arial" panose="020B0604020202020204" pitchFamily="34" charset="0"/>
            </a:endParaRPr>
          </a:p>
        </p:txBody>
      </p:sp>
      <p:sp>
        <p:nvSpPr>
          <p:cNvPr id="3" name="Marcador de contenido 2"/>
          <p:cNvSpPr>
            <a:spLocks noGrp="1"/>
          </p:cNvSpPr>
          <p:nvPr>
            <p:ph sz="half" idx="2"/>
          </p:nvPr>
        </p:nvSpPr>
        <p:spPr>
          <a:xfrm>
            <a:off x="628153" y="2142067"/>
            <a:ext cx="11259047" cy="3869119"/>
          </a:xfrm>
        </p:spPr>
        <p:txBody>
          <a:bodyPr>
            <a:normAutofit/>
          </a:bodyPr>
          <a:lstStyle/>
          <a:p>
            <a:pPr marL="0" indent="0">
              <a:buNone/>
            </a:pPr>
            <a:endParaRPr lang="es-AR" dirty="0"/>
          </a:p>
          <a:p>
            <a:pPr marL="0" indent="0">
              <a:buNone/>
            </a:pPr>
            <a:r>
              <a:rPr lang="es-AR" sz="2400" b="1" dirty="0">
                <a:latin typeface="Arial" panose="020B0604020202020204" pitchFamily="34" charset="0"/>
                <a:cs typeface="Arial" panose="020B0604020202020204" pitchFamily="34" charset="0"/>
              </a:rPr>
              <a:t>Los tumores principales del síndrome </a:t>
            </a:r>
            <a:r>
              <a:rPr lang="es-AR" sz="2400" b="1" dirty="0" smtClean="0">
                <a:latin typeface="Arial" panose="020B0604020202020204" pitchFamily="34" charset="0"/>
                <a:cs typeface="Arial" panose="020B0604020202020204" pitchFamily="34" charset="0"/>
              </a:rPr>
              <a:t>MEN-II </a:t>
            </a:r>
            <a:r>
              <a:rPr lang="es-AR" sz="2400" b="1" dirty="0">
                <a:latin typeface="Arial" panose="020B0604020202020204" pitchFamily="34" charset="0"/>
                <a:cs typeface="Arial" panose="020B0604020202020204" pitchFamily="34" charset="0"/>
              </a:rPr>
              <a:t>son los siguientes:</a:t>
            </a:r>
          </a:p>
          <a:p>
            <a:endParaRPr lang="es-AR" sz="24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AR" sz="2000" b="1" dirty="0" smtClean="0">
                <a:latin typeface="Arial" panose="020B0604020202020204" pitchFamily="34" charset="0"/>
                <a:cs typeface="Arial" panose="020B0604020202020204" pitchFamily="34" charset="0"/>
              </a:rPr>
              <a:t>Feocromocitoma, a </a:t>
            </a:r>
            <a:r>
              <a:rPr lang="es-AR" sz="2000" b="1" dirty="0">
                <a:latin typeface="Arial" panose="020B0604020202020204" pitchFamily="34" charset="0"/>
                <a:cs typeface="Arial" panose="020B0604020202020204" pitchFamily="34" charset="0"/>
              </a:rPr>
              <a:t>menudo, </a:t>
            </a:r>
            <a:r>
              <a:rPr lang="es-AR" sz="2000" b="1" dirty="0" smtClean="0">
                <a:latin typeface="Arial" panose="020B0604020202020204" pitchFamily="34" charset="0"/>
                <a:cs typeface="Arial" panose="020B0604020202020204" pitchFamily="34" charset="0"/>
              </a:rPr>
              <a:t>bilateral.</a:t>
            </a:r>
          </a:p>
          <a:p>
            <a:pPr marL="0" indent="0">
              <a:buNone/>
            </a:pPr>
            <a:endParaRPr lang="es-AR" sz="2000" b="1" dirty="0">
              <a:latin typeface="Arial" panose="020B0604020202020204" pitchFamily="34" charset="0"/>
              <a:cs typeface="Arial" panose="020B0604020202020204" pitchFamily="34" charset="0"/>
            </a:endParaRPr>
          </a:p>
          <a:p>
            <a:pPr>
              <a:buFont typeface="Wingdings" panose="05000000000000000000" pitchFamily="2" charset="2"/>
              <a:buChar char="v"/>
            </a:pPr>
            <a:r>
              <a:rPr lang="es-AR" sz="2000" b="1" dirty="0" smtClean="0">
                <a:latin typeface="Arial" panose="020B0604020202020204" pitchFamily="34" charset="0"/>
                <a:cs typeface="Arial" panose="020B0604020202020204" pitchFamily="34" charset="0"/>
              </a:rPr>
              <a:t>Carcinoma </a:t>
            </a:r>
            <a:r>
              <a:rPr lang="es-AR" sz="2000" b="1" dirty="0">
                <a:latin typeface="Arial" panose="020B0604020202020204" pitchFamily="34" charset="0"/>
                <a:cs typeface="Arial" panose="020B0604020202020204" pitchFamily="34" charset="0"/>
              </a:rPr>
              <a:t>medular de la </a:t>
            </a:r>
            <a:r>
              <a:rPr lang="es-AR" sz="2000" b="1" dirty="0" smtClean="0">
                <a:latin typeface="Arial" panose="020B0604020202020204" pitchFamily="34" charset="0"/>
                <a:cs typeface="Arial" panose="020B0604020202020204" pitchFamily="34" charset="0"/>
              </a:rPr>
              <a:t>tiroides, a </a:t>
            </a:r>
            <a:r>
              <a:rPr lang="es-AR" sz="2000" b="1" dirty="0">
                <a:latin typeface="Arial" panose="020B0604020202020204" pitchFamily="34" charset="0"/>
                <a:cs typeface="Arial" panose="020B0604020202020204" pitchFamily="34" charset="0"/>
              </a:rPr>
              <a:t>menudo multifocal, con una edad </a:t>
            </a:r>
            <a:r>
              <a:rPr lang="es-AR" sz="2000" b="1" dirty="0" smtClean="0">
                <a:latin typeface="Arial" panose="020B0604020202020204" pitchFamily="34" charset="0"/>
                <a:cs typeface="Arial" panose="020B0604020202020204" pitchFamily="34" charset="0"/>
              </a:rPr>
              <a:t>comienzo &lt;30.</a:t>
            </a:r>
          </a:p>
          <a:p>
            <a:pPr>
              <a:buFont typeface="Wingdings" panose="05000000000000000000" pitchFamily="2" charset="2"/>
              <a:buChar char="v"/>
            </a:pPr>
            <a:endParaRPr lang="es-AR" sz="2000" b="1" dirty="0">
              <a:latin typeface="Arial" panose="020B0604020202020204" pitchFamily="34" charset="0"/>
              <a:cs typeface="Arial" panose="020B0604020202020204" pitchFamily="34" charset="0"/>
            </a:endParaRPr>
          </a:p>
          <a:p>
            <a:pPr>
              <a:buFont typeface="Wingdings" panose="05000000000000000000" pitchFamily="2" charset="2"/>
              <a:buChar char="v"/>
            </a:pPr>
            <a:r>
              <a:rPr lang="es-AR" sz="2000" b="1" dirty="0">
                <a:latin typeface="Arial" panose="020B0604020202020204" pitchFamily="34" charset="0"/>
                <a:cs typeface="Arial" panose="020B0604020202020204" pitchFamily="34" charset="0"/>
              </a:rPr>
              <a:t>A veces se produce una hiperplasia paratiroidea.</a:t>
            </a:r>
          </a:p>
        </p:txBody>
      </p:sp>
    </p:spTree>
    <p:extLst>
      <p:ext uri="{BB962C8B-B14F-4D97-AF65-F5344CB8AC3E}">
        <p14:creationId xmlns:p14="http://schemas.microsoft.com/office/powerpoint/2010/main" val="19748284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609601"/>
            <a:ext cx="10131425" cy="964758"/>
          </a:xfrm>
        </p:spPr>
        <p:txBody>
          <a:bodyPr/>
          <a:lstStyle/>
          <a:p>
            <a:pPr algn="ctr"/>
            <a:r>
              <a:rPr lang="es-MX" b="1" dirty="0" smtClean="0">
                <a:latin typeface="Arial" panose="020B0604020202020204" pitchFamily="34" charset="0"/>
                <a:cs typeface="Arial" panose="020B0604020202020204" pitchFamily="34" charset="0"/>
              </a:rPr>
              <a:t>MEN-2</a:t>
            </a:r>
            <a:endParaRPr lang="es-AR" b="1" dirty="0">
              <a:latin typeface="Arial" panose="020B0604020202020204" pitchFamily="34" charset="0"/>
              <a:cs typeface="Arial" panose="020B0604020202020204" pitchFamily="34" charset="0"/>
            </a:endParaRPr>
          </a:p>
        </p:txBody>
      </p:sp>
      <p:pic>
        <p:nvPicPr>
          <p:cNvPr id="4" name="Marcador de contenido 3"/>
          <p:cNvPicPr>
            <a:picLocks noGrp="1" noChangeAspect="1"/>
          </p:cNvPicPr>
          <p:nvPr>
            <p:ph idx="1"/>
          </p:nvPr>
        </p:nvPicPr>
        <p:blipFill>
          <a:blip r:embed="rId2"/>
          <a:stretch>
            <a:fillRect/>
          </a:stretch>
        </p:blipFill>
        <p:spPr>
          <a:xfrm>
            <a:off x="2562266" y="1836752"/>
            <a:ext cx="6772565" cy="3265096"/>
          </a:xfrm>
          <a:prstGeom prst="rect">
            <a:avLst/>
          </a:prstGeom>
          <a:ln w="38100">
            <a:solidFill>
              <a:srgbClr val="7030A0"/>
            </a:solidFill>
          </a:ln>
          <a:effectLst>
            <a:reflection blurRad="6350" stA="50000" endA="300" endPos="38500" dist="50800" dir="5400000" sy="-100000" algn="bl" rotWithShape="0"/>
          </a:effectLst>
        </p:spPr>
      </p:pic>
    </p:spTree>
    <p:extLst>
      <p:ext uri="{BB962C8B-B14F-4D97-AF65-F5344CB8AC3E}">
        <p14:creationId xmlns:p14="http://schemas.microsoft.com/office/powerpoint/2010/main" val="2118488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E99F444-FCBD-B140-9C05-E443FA0805C4}"/>
              </a:ext>
            </a:extLst>
          </p:cNvPr>
          <p:cNvSpPr>
            <a:spLocks noGrp="1"/>
          </p:cNvSpPr>
          <p:nvPr>
            <p:ph type="title"/>
          </p:nvPr>
        </p:nvSpPr>
        <p:spPr>
          <a:xfrm>
            <a:off x="1188721" y="349857"/>
            <a:ext cx="6143423" cy="1137037"/>
          </a:xfrm>
        </p:spPr>
        <p:txBody>
          <a:bodyPr rtlCol="0">
            <a:normAutofit/>
          </a:bodyPr>
          <a:lstStyle/>
          <a:p>
            <a:pPr algn="ctr"/>
            <a:r>
              <a:rPr lang="es-MX" sz="3200" b="1" dirty="0">
                <a:latin typeface="Arial" panose="020B0604020202020204" pitchFamily="34" charset="0"/>
                <a:cs typeface="Arial" panose="020B0604020202020204" pitchFamily="34" charset="0"/>
              </a:rPr>
              <a:t>MEN de tipos 2 y 3</a:t>
            </a:r>
            <a:br>
              <a:rPr lang="es-MX" sz="3200" b="1" dirty="0">
                <a:latin typeface="Arial" panose="020B0604020202020204" pitchFamily="34" charset="0"/>
                <a:cs typeface="Arial" panose="020B0604020202020204" pitchFamily="34" charset="0"/>
              </a:rPr>
            </a:br>
            <a:endParaRPr lang="es-ES" sz="3200" b="1" dirty="0">
              <a:latin typeface="Arial" panose="020B0604020202020204" pitchFamily="34" charset="0"/>
              <a:cs typeface="Arial" panose="020B0604020202020204" pitchFamily="34" charset="0"/>
            </a:endParaRPr>
          </a:p>
        </p:txBody>
      </p:sp>
      <p:pic>
        <p:nvPicPr>
          <p:cNvPr id="7" name="Imagen 6" descr="imagen abstracta de puntos de luz">
            <a:extLst>
              <a:ext uri="{FF2B5EF4-FFF2-40B4-BE49-F238E27FC236}">
                <a16:creationId xmlns:a16="http://schemas.microsoft.com/office/drawing/2014/main" xmlns="" id="{FE6C54C5-D2F4-48F8-B65E-7506F07BCCF3}"/>
              </a:ext>
            </a:extLst>
          </p:cNvPr>
          <p:cNvPicPr>
            <a:picLocks noChangeAspect="1"/>
          </p:cNvPicPr>
          <p:nvPr/>
        </p:nvPicPr>
        <p:blipFill rotWithShape="1">
          <a:blip r:embed="rId3"/>
          <a:srcRect l="23268" r="4773" b="-1"/>
          <a:stretch/>
        </p:blipFill>
        <p:spPr>
          <a:xfrm>
            <a:off x="8135101" y="-3862"/>
            <a:ext cx="4056899" cy="1570270"/>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3" name="Marcador de contenido 2"/>
          <p:cNvSpPr>
            <a:spLocks noGrp="1"/>
          </p:cNvSpPr>
          <p:nvPr>
            <p:ph idx="1"/>
          </p:nvPr>
        </p:nvSpPr>
        <p:spPr>
          <a:xfrm>
            <a:off x="588397" y="1486894"/>
            <a:ext cx="10228829" cy="5072932"/>
          </a:xfrm>
        </p:spPr>
        <p:txBody>
          <a:bodyPr>
            <a:normAutofit fontScale="92500" lnSpcReduction="20000"/>
          </a:bodyPr>
          <a:lstStyle/>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La MEN2, denominado MEN2A, Síndrome </a:t>
            </a:r>
            <a:r>
              <a:rPr lang="es-MX" sz="2000" dirty="0">
                <a:latin typeface="Arial" panose="020B0604020202020204" pitchFamily="34" charset="0"/>
                <a:cs typeface="Arial" panose="020B0604020202020204" pitchFamily="34" charset="0"/>
              </a:rPr>
              <a:t>de Sipple, es un trastorno autosómico dominante con una incidencia descrita de 1 de cada 80.000 a 200.000 nacidos </a:t>
            </a:r>
            <a:r>
              <a:rPr lang="es-MX" sz="2000" dirty="0" smtClean="0">
                <a:latin typeface="Arial" panose="020B0604020202020204" pitchFamily="34" charset="0"/>
                <a:cs typeface="Arial" panose="020B0604020202020204" pitchFamily="34" charset="0"/>
              </a:rPr>
              <a:t>vivos.</a:t>
            </a:r>
          </a:p>
          <a:p>
            <a:pPr marL="0" indent="0">
              <a:buNone/>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C</a:t>
            </a:r>
            <a:r>
              <a:rPr lang="es-MX" sz="2000" dirty="0" smtClean="0">
                <a:latin typeface="Arial" panose="020B0604020202020204" pitchFamily="34" charset="0"/>
                <a:cs typeface="Arial" panose="020B0604020202020204" pitchFamily="34" charset="0"/>
              </a:rPr>
              <a:t>arcinoma </a:t>
            </a:r>
            <a:r>
              <a:rPr lang="es-MX" sz="2000" dirty="0">
                <a:latin typeface="Arial" panose="020B0604020202020204" pitchFamily="34" charset="0"/>
                <a:cs typeface="Arial" panose="020B0604020202020204" pitchFamily="34" charset="0"/>
              </a:rPr>
              <a:t>medular de tiroides (</a:t>
            </a:r>
            <a:r>
              <a:rPr lang="es-MX" sz="2000" dirty="0" smtClean="0">
                <a:latin typeface="Arial" panose="020B0604020202020204" pitchFamily="34" charset="0"/>
                <a:cs typeface="Arial" panose="020B0604020202020204" pitchFamily="34" charset="0"/>
              </a:rPr>
              <a:t>CMT), feocromocitoma </a:t>
            </a:r>
            <a:r>
              <a:rPr lang="es-MX" sz="2000" dirty="0">
                <a:latin typeface="Arial" panose="020B0604020202020204" pitchFamily="34" charset="0"/>
                <a:cs typeface="Arial" panose="020B0604020202020204" pitchFamily="34" charset="0"/>
              </a:rPr>
              <a:t>y tumores </a:t>
            </a:r>
            <a:r>
              <a:rPr lang="es-MX" sz="2000" dirty="0" smtClean="0">
                <a:latin typeface="Arial" panose="020B0604020202020204" pitchFamily="34" charset="0"/>
                <a:cs typeface="Arial" panose="020B0604020202020204" pitchFamily="34" charset="0"/>
              </a:rPr>
              <a:t>paratiroideos.</a:t>
            </a:r>
          </a:p>
          <a:p>
            <a:pPr marL="0" indent="0">
              <a:buNone/>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La MEN2: incluye </a:t>
            </a:r>
            <a:r>
              <a:rPr lang="es-MX" sz="2000" dirty="0">
                <a:latin typeface="Arial" panose="020B0604020202020204" pitchFamily="34" charset="0"/>
                <a:cs typeface="Arial" panose="020B0604020202020204" pitchFamily="34" charset="0"/>
              </a:rPr>
              <a:t>tres variantes, </a:t>
            </a:r>
            <a:r>
              <a:rPr lang="es-MX" sz="2000" dirty="0" smtClean="0">
                <a:latin typeface="Arial" panose="020B0604020202020204" pitchFamily="34" charset="0"/>
                <a:cs typeface="Arial" panose="020B0604020202020204" pitchFamily="34" charset="0"/>
              </a:rPr>
              <a:t>MEN2A </a:t>
            </a:r>
            <a:r>
              <a:rPr lang="es-MX" sz="2000" dirty="0">
                <a:latin typeface="Arial" panose="020B0604020202020204" pitchFamily="34" charset="0"/>
                <a:cs typeface="Arial" panose="020B0604020202020204" pitchFamily="34" charset="0"/>
              </a:rPr>
              <a:t>con la enfermedad de Hirschsprung (EH), </a:t>
            </a:r>
            <a:r>
              <a:rPr lang="es-MX" sz="2000" dirty="0" smtClean="0">
                <a:latin typeface="Arial" panose="020B0604020202020204" pitchFamily="34" charset="0"/>
                <a:cs typeface="Arial" panose="020B0604020202020204" pitchFamily="34" charset="0"/>
              </a:rPr>
              <a:t>MEN2A </a:t>
            </a:r>
            <a:r>
              <a:rPr lang="es-MX" sz="2000" dirty="0">
                <a:latin typeface="Arial" panose="020B0604020202020204" pitchFamily="34" charset="0"/>
                <a:cs typeface="Arial" panose="020B0604020202020204" pitchFamily="34" charset="0"/>
              </a:rPr>
              <a:t>con liquen cutáneo </a:t>
            </a:r>
            <a:r>
              <a:rPr lang="es-MX" sz="2000" dirty="0" err="1">
                <a:latin typeface="Arial" panose="020B0604020202020204" pitchFamily="34" charset="0"/>
                <a:cs typeface="Arial" panose="020B0604020202020204" pitchFamily="34" charset="0"/>
              </a:rPr>
              <a:t>amiloide</a:t>
            </a:r>
            <a:r>
              <a:rPr lang="es-MX" sz="2000" dirty="0">
                <a:latin typeface="Arial" panose="020B0604020202020204" pitchFamily="34" charset="0"/>
                <a:cs typeface="Arial" panose="020B0604020202020204" pitchFamily="34" charset="0"/>
              </a:rPr>
              <a:t> (LCA) y el CMT </a:t>
            </a:r>
            <a:r>
              <a:rPr lang="es-MX" sz="2000" dirty="0" smtClean="0">
                <a:latin typeface="Arial" panose="020B0604020202020204" pitchFamily="34" charset="0"/>
                <a:cs typeface="Arial" panose="020B0604020202020204" pitchFamily="34" charset="0"/>
              </a:rPr>
              <a:t>familiar. </a:t>
            </a:r>
          </a:p>
          <a:p>
            <a:pPr marL="0" indent="0">
              <a:buNone/>
            </a:pPr>
            <a:endParaRPr lang="es-MX"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La </a:t>
            </a:r>
            <a:r>
              <a:rPr lang="es-MX" sz="2000" dirty="0">
                <a:latin typeface="Arial" panose="020B0604020202020204" pitchFamily="34" charset="0"/>
                <a:cs typeface="Arial" panose="020B0604020202020204" pitchFamily="34" charset="0"/>
              </a:rPr>
              <a:t>MEN3, también denominada MEN2B, se caracteriza por la aparición de CMT y feocromocitoma, sin HPTP, </a:t>
            </a:r>
            <a:r>
              <a:rPr lang="es-MX" sz="2000" dirty="0" smtClean="0">
                <a:latin typeface="Arial" panose="020B0604020202020204" pitchFamily="34" charset="0"/>
                <a:cs typeface="Arial" panose="020B0604020202020204" pitchFamily="34" charset="0"/>
              </a:rPr>
              <a:t>asociada </a:t>
            </a:r>
            <a:r>
              <a:rPr lang="es-MX" sz="2000" dirty="0">
                <a:latin typeface="Arial" panose="020B0604020202020204" pitchFamily="34" charset="0"/>
                <a:cs typeface="Arial" panose="020B0604020202020204" pitchFamily="34" charset="0"/>
              </a:rPr>
              <a:t>a hábito marfanoide, neuromas mucosos, </a:t>
            </a:r>
            <a:r>
              <a:rPr lang="es-MX" sz="2000" dirty="0" smtClean="0">
                <a:latin typeface="Arial" panose="020B0604020202020204" pitchFamily="34" charset="0"/>
                <a:cs typeface="Arial" panose="020B0604020202020204" pitchFamily="34" charset="0"/>
              </a:rPr>
              <a:t>disfunción de ganglios autónomos intestinales, con megacolon.</a:t>
            </a:r>
          </a:p>
          <a:p>
            <a:pPr marL="0" indent="0">
              <a:buNone/>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La </a:t>
            </a:r>
            <a:r>
              <a:rPr lang="es-MX" sz="2000" dirty="0">
                <a:latin typeface="Arial" panose="020B0604020202020204" pitchFamily="34" charset="0"/>
                <a:cs typeface="Arial" panose="020B0604020202020204" pitchFamily="34" charset="0"/>
              </a:rPr>
              <a:t>MEN2 es más </a:t>
            </a:r>
            <a:r>
              <a:rPr lang="es-MX" sz="2000" dirty="0" smtClean="0">
                <a:latin typeface="Arial" panose="020B0604020202020204" pitchFamily="34" charset="0"/>
                <a:cs typeface="Arial" panose="020B0604020202020204" pitchFamily="34" charset="0"/>
              </a:rPr>
              <a:t>frecuente, </a:t>
            </a:r>
            <a:r>
              <a:rPr lang="es-MX" sz="2000" dirty="0">
                <a:latin typeface="Arial" panose="020B0604020202020204" pitchFamily="34" charset="0"/>
                <a:cs typeface="Arial" panose="020B0604020202020204" pitchFamily="34" charset="0"/>
              </a:rPr>
              <a:t>representa más del 90% y la MEN3 entre el 5 y el 10% de los pacientes, aunque el CMT de la MEN3 suele surgir en la infancia y tiene una evolución más agresiva. </a:t>
            </a:r>
          </a:p>
          <a:p>
            <a:pPr>
              <a:buFont typeface="Wingdings" panose="05000000000000000000" pitchFamily="2" charset="2"/>
              <a:buChar char="v"/>
            </a:pPr>
            <a:endParaRPr lang="es-AR"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38249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2547025" y="222637"/>
            <a:ext cx="6408975" cy="2512611"/>
          </a:xfrm>
          <a:prstGeom prst="rect">
            <a:avLst/>
          </a:prstGeom>
          <a:ln w="38100">
            <a:solidFill>
              <a:srgbClr val="7030A0"/>
            </a:solidFill>
          </a:ln>
        </p:spPr>
      </p:pic>
      <p:sp>
        <p:nvSpPr>
          <p:cNvPr id="5" name="Rectángulo redondeado 4"/>
          <p:cNvSpPr/>
          <p:nvPr/>
        </p:nvSpPr>
        <p:spPr>
          <a:xfrm>
            <a:off x="795130" y="2886324"/>
            <a:ext cx="10654748" cy="3411110"/>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w="38100">
            <a:solidFill>
              <a:srgbClr val="7030A0"/>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600" b="1" dirty="0">
                <a:latin typeface="Arial" panose="020B0604020202020204" pitchFamily="34" charset="0"/>
                <a:cs typeface="Arial" panose="020B0604020202020204" pitchFamily="34" charset="0"/>
              </a:rPr>
              <a:t>Características clínicas de un paciente con neoplasia endocrina múltiple de tipo 3</a:t>
            </a:r>
            <a:r>
              <a:rPr lang="es-MX" sz="1600" b="1" dirty="0" smtClean="0">
                <a:latin typeface="Arial" panose="020B0604020202020204" pitchFamily="34" charset="0"/>
                <a:cs typeface="Arial" panose="020B0604020202020204" pitchFamily="34" charset="0"/>
              </a:rPr>
              <a:t>.</a:t>
            </a:r>
          </a:p>
          <a:p>
            <a:r>
              <a:rPr lang="es-MX" sz="1600" b="1" dirty="0" smtClean="0">
                <a:latin typeface="Arial" panose="020B0604020202020204" pitchFamily="34" charset="0"/>
                <a:cs typeface="Arial" panose="020B0604020202020204" pitchFamily="34" charset="0"/>
              </a:rPr>
              <a:t> </a:t>
            </a:r>
          </a:p>
          <a:p>
            <a:pPr marL="342900" indent="-342900">
              <a:buAutoNum type="alphaUcPeriod"/>
            </a:pPr>
            <a:r>
              <a:rPr lang="es-MX" sz="1600" dirty="0" smtClean="0">
                <a:latin typeface="Arial" panose="020B0604020202020204" pitchFamily="34" charset="0"/>
                <a:cs typeface="Arial" panose="020B0604020202020204" pitchFamily="34" charset="0"/>
              </a:rPr>
              <a:t>El </a:t>
            </a:r>
            <a:r>
              <a:rPr lang="es-MX" sz="1600" dirty="0">
                <a:latin typeface="Arial" panose="020B0604020202020204" pitchFamily="34" charset="0"/>
                <a:cs typeface="Arial" panose="020B0604020202020204" pitchFamily="34" charset="0"/>
              </a:rPr>
              <a:t>paciente tiene signos de un nódulo en el lado izquierdo del cuello que representa metástasis de un carcinoma medular de tiroides (flecha superior). Obsérvese la cicatriz de la tiroidectomía (flecha inferior). </a:t>
            </a:r>
            <a:endParaRPr lang="es-MX" sz="1600" dirty="0" smtClean="0">
              <a:latin typeface="Arial" panose="020B0604020202020204" pitchFamily="34" charset="0"/>
              <a:cs typeface="Arial" panose="020B0604020202020204" pitchFamily="34" charset="0"/>
            </a:endParaRPr>
          </a:p>
          <a:p>
            <a:endParaRPr lang="es-MX" sz="1600" dirty="0" smtClean="0">
              <a:latin typeface="Arial" panose="020B0604020202020204" pitchFamily="34" charset="0"/>
              <a:cs typeface="Arial" panose="020B0604020202020204" pitchFamily="34" charset="0"/>
            </a:endParaRPr>
          </a:p>
          <a:p>
            <a:pPr marL="342900" indent="-342900">
              <a:buAutoNum type="alphaUcPeriod"/>
            </a:pPr>
            <a:r>
              <a:rPr lang="es-MX" sz="1600" dirty="0" smtClean="0">
                <a:latin typeface="Arial" panose="020B0604020202020204" pitchFamily="34" charset="0"/>
                <a:cs typeface="Arial" panose="020B0604020202020204" pitchFamily="34" charset="0"/>
              </a:rPr>
              <a:t>Los </a:t>
            </a:r>
            <a:r>
              <a:rPr lang="es-MX" sz="1600" dirty="0">
                <a:latin typeface="Arial" panose="020B0604020202020204" pitchFamily="34" charset="0"/>
                <a:cs typeface="Arial" panose="020B0604020202020204" pitchFamily="34" charset="0"/>
              </a:rPr>
              <a:t>neuromas mucosos son evidentes en la lengua y los labios. </a:t>
            </a:r>
            <a:endParaRPr lang="es-MX" sz="1600" dirty="0" smtClean="0">
              <a:latin typeface="Arial" panose="020B0604020202020204" pitchFamily="34" charset="0"/>
              <a:cs typeface="Arial" panose="020B0604020202020204" pitchFamily="34" charset="0"/>
            </a:endParaRPr>
          </a:p>
          <a:p>
            <a:pPr marL="342900" indent="-342900">
              <a:buAutoNum type="alphaUcPeriod"/>
            </a:pPr>
            <a:endParaRPr lang="es-MX" sz="1600" dirty="0">
              <a:latin typeface="Arial" panose="020B0604020202020204" pitchFamily="34" charset="0"/>
              <a:cs typeface="Arial" panose="020B0604020202020204" pitchFamily="34" charset="0"/>
            </a:endParaRPr>
          </a:p>
          <a:p>
            <a:pPr marL="342900" indent="-342900">
              <a:buAutoNum type="alphaUcPeriod"/>
            </a:pPr>
            <a:r>
              <a:rPr lang="es-MX" sz="1600" dirty="0" smtClean="0">
                <a:latin typeface="Arial" panose="020B0604020202020204" pitchFamily="34" charset="0"/>
                <a:cs typeface="Arial" panose="020B0604020202020204" pitchFamily="34" charset="0"/>
              </a:rPr>
              <a:t>Radiografía </a:t>
            </a:r>
            <a:r>
              <a:rPr lang="es-MX" sz="1600" dirty="0">
                <a:latin typeface="Arial" panose="020B0604020202020204" pitchFamily="34" charset="0"/>
                <a:cs typeface="Arial" panose="020B0604020202020204" pitchFamily="34" charset="0"/>
              </a:rPr>
              <a:t>de tórax que demuestra metástasis pulmonares bilaterales de un carcinoma medular de tiroides. </a:t>
            </a:r>
            <a:endParaRPr lang="es-MX" sz="1600" dirty="0" smtClean="0">
              <a:latin typeface="Arial" panose="020B0604020202020204" pitchFamily="34" charset="0"/>
              <a:cs typeface="Arial" panose="020B0604020202020204" pitchFamily="34" charset="0"/>
            </a:endParaRPr>
          </a:p>
          <a:p>
            <a:endParaRPr lang="es-MX" sz="1600" dirty="0" smtClean="0">
              <a:latin typeface="Arial" panose="020B0604020202020204" pitchFamily="34" charset="0"/>
              <a:cs typeface="Arial" panose="020B0604020202020204" pitchFamily="34" charset="0"/>
            </a:endParaRPr>
          </a:p>
          <a:p>
            <a:pPr marL="342900" indent="-342900">
              <a:buAutoNum type="alphaUcPeriod"/>
            </a:pPr>
            <a:r>
              <a:rPr lang="es-MX" sz="1600" dirty="0" smtClean="0">
                <a:latin typeface="Arial" panose="020B0604020202020204" pitchFamily="34" charset="0"/>
                <a:cs typeface="Arial" panose="020B0604020202020204" pitchFamily="34" charset="0"/>
              </a:rPr>
              <a:t>Radiografía </a:t>
            </a:r>
            <a:r>
              <a:rPr lang="es-MX" sz="1600" dirty="0">
                <a:latin typeface="Arial" panose="020B0604020202020204" pitchFamily="34" charset="0"/>
                <a:cs typeface="Arial" panose="020B0604020202020204" pitchFamily="34" charset="0"/>
              </a:rPr>
              <a:t>con bario </a:t>
            </a:r>
            <a:r>
              <a:rPr lang="es-MX" sz="1600" dirty="0" err="1">
                <a:latin typeface="Arial" panose="020B0604020202020204" pitchFamily="34" charset="0"/>
                <a:cs typeface="Arial" panose="020B0604020202020204" pitchFamily="34" charset="0"/>
              </a:rPr>
              <a:t>posprandial</a:t>
            </a:r>
            <a:r>
              <a:rPr lang="es-MX" sz="1600" dirty="0">
                <a:latin typeface="Arial" panose="020B0604020202020204" pitchFamily="34" charset="0"/>
                <a:cs typeface="Arial" panose="020B0604020202020204" pitchFamily="34" charset="0"/>
              </a:rPr>
              <a:t> y de seguimiento que demuestra varios divertículos intestinales, que son secundarios a la disfunción de los ganglios autónomos. El paciente tenía antecedentes de diarrea y malabsorción.</a:t>
            </a:r>
            <a:endParaRPr lang="es-AR"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78852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2250219" y="1351723"/>
            <a:ext cx="7339053" cy="2735247"/>
          </a:xfrm>
          <a:prstGeom prst="rect">
            <a:avLst/>
          </a:prstGeom>
          <a:ln w="57150">
            <a:solidFill>
              <a:srgbClr val="7030A0"/>
            </a:solidFill>
          </a:ln>
          <a:effectLst>
            <a:reflection blurRad="6350" stA="52000" endA="300" endPos="35000" dir="5400000" sy="-100000" algn="bl" rotWithShape="0"/>
          </a:effectLst>
        </p:spPr>
      </p:pic>
    </p:spTree>
    <p:extLst>
      <p:ext uri="{BB962C8B-B14F-4D97-AF65-F5344CB8AC3E}">
        <p14:creationId xmlns:p14="http://schemas.microsoft.com/office/powerpoint/2010/main" val="15667569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914400" y="1113183"/>
            <a:ext cx="3975652" cy="4678017"/>
          </a:xfrm>
          <a:prstGeom prst="rect">
            <a:avLst/>
          </a:prstGeom>
          <a:ln w="38100">
            <a:solidFill>
              <a:srgbClr val="7030A0"/>
            </a:solidFill>
          </a:ln>
        </p:spPr>
      </p:pic>
      <p:sp>
        <p:nvSpPr>
          <p:cNvPr id="5" name="Rectángulo redondeado 4"/>
          <p:cNvSpPr/>
          <p:nvPr/>
        </p:nvSpPr>
        <p:spPr>
          <a:xfrm>
            <a:off x="5732889" y="1224501"/>
            <a:ext cx="5589767" cy="4635610"/>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8100000" scaled="1"/>
            <a:tileRect/>
          </a:gradFill>
          <a:ln w="38100">
            <a:solidFill>
              <a:srgbClr val="7030A0"/>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AR" dirty="0">
                <a:latin typeface="Arial" panose="020B0604020202020204" pitchFamily="34" charset="0"/>
                <a:cs typeface="Arial" panose="020B0604020202020204" pitchFamily="34" charset="0"/>
              </a:rPr>
              <a:t>Exploración con 18 FDG-PET que muestra el CMT con metástasis hepáticas y </a:t>
            </a:r>
            <a:r>
              <a:rPr lang="es-AR" dirty="0" smtClean="0">
                <a:latin typeface="Arial" panose="020B0604020202020204" pitchFamily="34" charset="0"/>
                <a:cs typeface="Arial" panose="020B0604020202020204" pitchFamily="34" charset="0"/>
              </a:rPr>
              <a:t>óseas, </a:t>
            </a:r>
            <a:r>
              <a:rPr lang="es-AR" dirty="0">
                <a:latin typeface="Arial" panose="020B0604020202020204" pitchFamily="34" charset="0"/>
                <a:cs typeface="Arial" panose="020B0604020202020204" pitchFamily="34" charset="0"/>
              </a:rPr>
              <a:t>captación ávida de FDG del </a:t>
            </a:r>
            <a:r>
              <a:rPr lang="es-AR" dirty="0" err="1">
                <a:latin typeface="Arial" panose="020B0604020202020204" pitchFamily="34" charset="0"/>
                <a:cs typeface="Arial" panose="020B0604020202020204" pitchFamily="34" charset="0"/>
              </a:rPr>
              <a:t>feocromocitoma</a:t>
            </a:r>
            <a:r>
              <a:rPr lang="es-AR" dirty="0">
                <a:latin typeface="Arial" panose="020B0604020202020204" pitchFamily="34" charset="0"/>
                <a:cs typeface="Arial" panose="020B0604020202020204" pitchFamily="34" charset="0"/>
              </a:rPr>
              <a:t> suprarrenal izquierdo en un paciente con MEN2 debido a una mutación Cys634Arg de RET . CMT, carcinoma medular de tiroides; FDG, fluorodesoxiglucosa; MEN2, neoplasia endocrina múltiple de tipo 2; PET, tomografía por emisión de positrones.</a:t>
            </a:r>
          </a:p>
        </p:txBody>
      </p:sp>
    </p:spTree>
    <p:extLst>
      <p:ext uri="{BB962C8B-B14F-4D97-AF65-F5344CB8AC3E}">
        <p14:creationId xmlns:p14="http://schemas.microsoft.com/office/powerpoint/2010/main" val="24569307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143124"/>
            <a:ext cx="10131425" cy="1304013"/>
          </a:xfrm>
        </p:spPr>
        <p:txBody>
          <a:bodyPr>
            <a:normAutofit/>
          </a:bodyPr>
          <a:lstStyle/>
          <a:p>
            <a:pPr algn="ctr"/>
            <a:r>
              <a:rPr lang="es-MX" sz="3200" b="1" dirty="0" smtClean="0">
                <a:latin typeface="Arial" panose="020B0604020202020204" pitchFamily="34" charset="0"/>
                <a:cs typeface="Arial" panose="020B0604020202020204" pitchFamily="34" charset="0"/>
              </a:rPr>
              <a:t>TRATAMIENTO</a:t>
            </a: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85801" y="1359673"/>
            <a:ext cx="10131425" cy="4619708"/>
          </a:xfrm>
        </p:spPr>
        <p:txBody>
          <a:bodyPr/>
          <a:lstStyle/>
          <a:p>
            <a:pPr marL="0" indent="0">
              <a:buNone/>
            </a:pPr>
            <a:r>
              <a:rPr lang="es-MX" sz="2400" b="1" dirty="0">
                <a:latin typeface="Arial" panose="020B0604020202020204" pitchFamily="34" charset="0"/>
                <a:cs typeface="Arial" panose="020B0604020202020204" pitchFamily="34" charset="0"/>
              </a:rPr>
              <a:t>Tiroidectomía profiláctica en la </a:t>
            </a:r>
            <a:r>
              <a:rPr lang="es-MX" sz="2400" b="1" dirty="0" smtClean="0">
                <a:latin typeface="Arial" panose="020B0604020202020204" pitchFamily="34" charset="0"/>
                <a:cs typeface="Arial" panose="020B0604020202020204" pitchFamily="34" charset="0"/>
              </a:rPr>
              <a:t>MEN2.</a:t>
            </a:r>
          </a:p>
          <a:p>
            <a:pPr>
              <a:buFont typeface="Wingdings" panose="05000000000000000000" pitchFamily="2" charset="2"/>
              <a:buChar char="v"/>
            </a:pPr>
            <a:endParaRPr lang="es-MX" b="1"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b="1" dirty="0">
                <a:latin typeface="Arial" panose="020B0604020202020204" pitchFamily="34" charset="0"/>
                <a:cs typeface="Arial" panose="020B0604020202020204" pitchFamily="34" charset="0"/>
              </a:rPr>
              <a:t>I</a:t>
            </a:r>
            <a:r>
              <a:rPr lang="es-MX" b="1" dirty="0" smtClean="0">
                <a:latin typeface="Arial" panose="020B0604020202020204" pitchFamily="34" charset="0"/>
                <a:cs typeface="Arial" panose="020B0604020202020204" pitchFamily="34" charset="0"/>
              </a:rPr>
              <a:t>dentificar </a:t>
            </a:r>
            <a:r>
              <a:rPr lang="es-MX" b="1" dirty="0">
                <a:latin typeface="Arial" panose="020B0604020202020204" pitchFamily="34" charset="0"/>
                <a:cs typeface="Arial" panose="020B0604020202020204" pitchFamily="34" charset="0"/>
              </a:rPr>
              <a:t>a las personas que corren un alto riesgo de desarrollar </a:t>
            </a:r>
            <a:r>
              <a:rPr lang="es-MX" b="1" dirty="0" smtClean="0">
                <a:latin typeface="Arial" panose="020B0604020202020204" pitchFamily="34" charset="0"/>
                <a:cs typeface="Arial" panose="020B0604020202020204" pitchFamily="34" charset="0"/>
              </a:rPr>
              <a:t>un </a:t>
            </a:r>
            <a:r>
              <a:rPr lang="es-MX" b="1" dirty="0">
                <a:latin typeface="Arial" panose="020B0604020202020204" pitchFamily="34" charset="0"/>
                <a:cs typeface="Arial" panose="020B0604020202020204" pitchFamily="34" charset="0"/>
              </a:rPr>
              <a:t>CMT </a:t>
            </a:r>
            <a:r>
              <a:rPr lang="es-MX" b="1" dirty="0" smtClean="0">
                <a:latin typeface="Arial" panose="020B0604020202020204" pitchFamily="34" charset="0"/>
                <a:cs typeface="Arial" panose="020B0604020202020204" pitchFamily="34" charset="0"/>
              </a:rPr>
              <a:t>hereditario </a:t>
            </a:r>
            <a:r>
              <a:rPr lang="es-MX" b="1" dirty="0">
                <a:latin typeface="Arial" panose="020B0604020202020204" pitchFamily="34" charset="0"/>
                <a:cs typeface="Arial" panose="020B0604020202020204" pitchFamily="34" charset="0"/>
              </a:rPr>
              <a:t>mediante pruebas de mutación de línea germinal de RET ofrece una oportunidad de realizar una cirugía preventiva o curativa en personas que de otro modo serían asintomáticas. </a:t>
            </a:r>
            <a:r>
              <a:rPr lang="es-MX" b="1" dirty="0" smtClean="0">
                <a:latin typeface="Arial" panose="020B0604020202020204" pitchFamily="34" charset="0"/>
                <a:cs typeface="Arial" panose="020B0604020202020204" pitchFamily="34" charset="0"/>
              </a:rPr>
              <a:t> </a:t>
            </a:r>
          </a:p>
          <a:p>
            <a:pPr>
              <a:buFont typeface="Wingdings" panose="05000000000000000000" pitchFamily="2" charset="2"/>
              <a:buChar char="v"/>
            </a:pPr>
            <a:endParaRPr lang="es-MX" b="1"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b="1" dirty="0" smtClean="0">
                <a:latin typeface="Arial" panose="020B0604020202020204" pitchFamily="34" charset="0"/>
                <a:cs typeface="Arial" panose="020B0604020202020204" pitchFamily="34" charset="0"/>
              </a:rPr>
              <a:t>La </a:t>
            </a:r>
            <a:r>
              <a:rPr lang="es-MX" b="1" dirty="0">
                <a:latin typeface="Arial" panose="020B0604020202020204" pitchFamily="34" charset="0"/>
                <a:cs typeface="Arial" panose="020B0604020202020204" pitchFamily="34" charset="0"/>
              </a:rPr>
              <a:t>tiroidectomía «profiláctica» se ha convertido en el pilar del tratamiento de los niños con riesgo de CMT </a:t>
            </a:r>
            <a:r>
              <a:rPr lang="es-MX" b="1" dirty="0" smtClean="0">
                <a:latin typeface="Arial" panose="020B0604020202020204" pitchFamily="34" charset="0"/>
                <a:cs typeface="Arial" panose="020B0604020202020204" pitchFamily="34" charset="0"/>
              </a:rPr>
              <a:t>hereditario, cuando </a:t>
            </a:r>
            <a:r>
              <a:rPr lang="es-MX" b="1" dirty="0">
                <a:latin typeface="Arial" panose="020B0604020202020204" pitchFamily="34" charset="0"/>
                <a:cs typeface="Arial" panose="020B0604020202020204" pitchFamily="34" charset="0"/>
              </a:rPr>
              <a:t>se realiza en una etapa suficientemente temprana, puede evitar la morbimortalidad asociada al desarrollo de CMT. </a:t>
            </a:r>
            <a:endParaRPr lang="es-AR"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83775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a:buFont typeface="Wingdings" panose="05000000000000000000" pitchFamily="2" charset="2"/>
              <a:buChar char="v"/>
            </a:pPr>
            <a:r>
              <a:rPr lang="es-MX" sz="2000" dirty="0">
                <a:latin typeface="Arial" panose="020B0604020202020204" pitchFamily="34" charset="0"/>
                <a:cs typeface="Arial" panose="020B0604020202020204" pitchFamily="34" charset="0"/>
              </a:rPr>
              <a:t>El cabozantinib, en un ensayo clínico en fase III, dio lugar a una respuesta tumoral parcial en el 28% de los pacientes con CMT localmente avanzado o metastásico, en comparación con el 0% en el grupo de </a:t>
            </a:r>
            <a:r>
              <a:rPr lang="es-MX" sz="2000" dirty="0" smtClean="0">
                <a:latin typeface="Arial" panose="020B0604020202020204" pitchFamily="34" charset="0"/>
                <a:cs typeface="Arial" panose="020B0604020202020204" pitchFamily="34" charset="0"/>
              </a:rPr>
              <a:t>placebo </a:t>
            </a:r>
          </a:p>
          <a:p>
            <a:pPr marL="0" indent="0">
              <a:buNone/>
            </a:pPr>
            <a:endParaRPr lang="es-A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82331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77079" y="609600"/>
            <a:ext cx="11370364" cy="1068125"/>
          </a:xfrm>
        </p:spPr>
        <p:txBody>
          <a:bodyPr>
            <a:normAutofit/>
          </a:bodyPr>
          <a:lstStyle/>
          <a:p>
            <a:pPr algn="ctr"/>
            <a:r>
              <a:rPr lang="es-MX" sz="2800" b="1" dirty="0">
                <a:latin typeface="Arial" panose="020B0604020202020204" pitchFamily="34" charset="0"/>
                <a:cs typeface="Arial" panose="020B0604020202020204" pitchFamily="34" charset="0"/>
              </a:rPr>
              <a:t>Tratamientos dirigidos para el CMT asociado a la MEN2</a:t>
            </a:r>
          </a:p>
        </p:txBody>
      </p:sp>
      <p:sp>
        <p:nvSpPr>
          <p:cNvPr id="3" name="Marcador de contenido 2"/>
          <p:cNvSpPr>
            <a:spLocks noGrp="1"/>
          </p:cNvSpPr>
          <p:nvPr>
            <p:ph idx="1"/>
          </p:nvPr>
        </p:nvSpPr>
        <p:spPr>
          <a:xfrm>
            <a:off x="477079" y="1677725"/>
            <a:ext cx="10131425" cy="4026011"/>
          </a:xfrm>
        </p:spPr>
        <p:txBody>
          <a:bodyPr>
            <a:normAutofit/>
          </a:bodyPr>
          <a:lstStyle/>
          <a:p>
            <a:pPr marL="0" indent="0">
              <a:buNone/>
            </a:pPr>
            <a:endParaRPr lang="es-MX" dirty="0"/>
          </a:p>
          <a:p>
            <a:pPr>
              <a:buFont typeface="Wingdings" panose="05000000000000000000" pitchFamily="2" charset="2"/>
              <a:buChar char="v"/>
            </a:pPr>
            <a:r>
              <a:rPr lang="es-MX" dirty="0">
                <a:latin typeface="Arial" panose="020B0604020202020204" pitchFamily="34" charset="0"/>
                <a:cs typeface="Arial" panose="020B0604020202020204" pitchFamily="34" charset="0"/>
              </a:rPr>
              <a:t>I</a:t>
            </a:r>
            <a:r>
              <a:rPr lang="es-MX" dirty="0" smtClean="0">
                <a:latin typeface="Arial" panose="020B0604020202020204" pitchFamily="34" charset="0"/>
                <a:cs typeface="Arial" panose="020B0604020202020204" pitchFamily="34" charset="0"/>
              </a:rPr>
              <a:t>nhibidores </a:t>
            </a:r>
            <a:r>
              <a:rPr lang="es-MX" dirty="0">
                <a:latin typeface="Arial" panose="020B0604020202020204" pitchFamily="34" charset="0"/>
                <a:cs typeface="Arial" panose="020B0604020202020204" pitchFamily="34" charset="0"/>
              </a:rPr>
              <a:t>de los RTK aprobados para su uso en el CMT progresivo avanzado: </a:t>
            </a:r>
            <a:endParaRPr lang="es-MX" dirty="0" smtClean="0">
              <a:latin typeface="Arial" panose="020B0604020202020204" pitchFamily="34" charset="0"/>
              <a:cs typeface="Arial" panose="020B0604020202020204" pitchFamily="34" charset="0"/>
            </a:endParaRPr>
          </a:p>
          <a:p>
            <a:pPr marL="0" indent="0">
              <a:buNone/>
            </a:pPr>
            <a:endParaRPr lang="es-MX"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err="1" smtClean="0">
                <a:latin typeface="Arial" panose="020B0604020202020204" pitchFamily="34" charset="0"/>
                <a:cs typeface="Arial" panose="020B0604020202020204" pitchFamily="34" charset="0"/>
              </a:rPr>
              <a:t>vandetanib</a:t>
            </a:r>
            <a:r>
              <a:rPr lang="es-MX" dirty="0">
                <a:latin typeface="Arial" panose="020B0604020202020204" pitchFamily="34" charset="0"/>
                <a:cs typeface="Arial" panose="020B0604020202020204" pitchFamily="34" charset="0"/>
              </a:rPr>
              <a:t>, que se dirige al RET, al receptor del factor de crecimiento </a:t>
            </a:r>
            <a:r>
              <a:rPr lang="es-MX" dirty="0" smtClean="0">
                <a:latin typeface="Arial" panose="020B0604020202020204" pitchFamily="34" charset="0"/>
                <a:cs typeface="Arial" panose="020B0604020202020204" pitchFamily="34" charset="0"/>
              </a:rPr>
              <a:t>endotelial </a:t>
            </a:r>
            <a:r>
              <a:rPr lang="es-MX" dirty="0">
                <a:latin typeface="Arial" panose="020B0604020202020204" pitchFamily="34" charset="0"/>
                <a:cs typeface="Arial" panose="020B0604020202020204" pitchFamily="34" charset="0"/>
              </a:rPr>
              <a:t>y a las cinasas del EGFR </a:t>
            </a:r>
            <a:r>
              <a:rPr lang="es-MX" dirty="0" smtClean="0">
                <a:latin typeface="Arial" panose="020B0604020202020204" pitchFamily="34" charset="0"/>
                <a:cs typeface="Arial" panose="020B0604020202020204" pitchFamily="34" charset="0"/>
              </a:rPr>
              <a:t>vascular.</a:t>
            </a:r>
          </a:p>
          <a:p>
            <a:pPr marL="0" indent="0">
              <a:buNone/>
            </a:pPr>
            <a:endParaRPr lang="es-MX"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cabozantinib</a:t>
            </a:r>
            <a:r>
              <a:rPr lang="es-MX" dirty="0">
                <a:latin typeface="Arial" panose="020B0604020202020204" pitchFamily="34" charset="0"/>
                <a:cs typeface="Arial" panose="020B0604020202020204" pitchFamily="34" charset="0"/>
              </a:rPr>
              <a:t>, que se dirige a las cinasas </a:t>
            </a:r>
            <a:r>
              <a:rPr lang="es-MX" dirty="0" smtClean="0">
                <a:latin typeface="Arial" panose="020B0604020202020204" pitchFamily="34" charset="0"/>
                <a:cs typeface="Arial" panose="020B0604020202020204" pitchFamily="34" charset="0"/>
              </a:rPr>
              <a:t>RET </a:t>
            </a:r>
            <a:r>
              <a:rPr lang="es-MX" dirty="0">
                <a:latin typeface="Arial" panose="020B0604020202020204" pitchFamily="34" charset="0"/>
                <a:cs typeface="Arial" panose="020B0604020202020204" pitchFamily="34" charset="0"/>
              </a:rPr>
              <a:t>y VEGFR</a:t>
            </a:r>
            <a:r>
              <a:rPr lang="es-MX" dirty="0" smtClean="0">
                <a:latin typeface="Arial" panose="020B0604020202020204" pitchFamily="34" charset="0"/>
                <a:cs typeface="Arial" panose="020B0604020202020204" pitchFamily="34" charset="0"/>
              </a:rPr>
              <a:t>.</a:t>
            </a:r>
          </a:p>
          <a:p>
            <a:pPr marL="0" indent="0">
              <a:buNone/>
            </a:pPr>
            <a:r>
              <a:rPr lang="es-MX" dirty="0" smtClean="0">
                <a:latin typeface="Arial" panose="020B0604020202020204" pitchFamily="34" charset="0"/>
                <a:cs typeface="Arial" panose="020B0604020202020204" pitchFamily="34" charset="0"/>
              </a:rPr>
              <a:t> </a:t>
            </a: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Se </a:t>
            </a:r>
            <a:r>
              <a:rPr lang="es-MX" dirty="0">
                <a:latin typeface="Arial" panose="020B0604020202020204" pitchFamily="34" charset="0"/>
                <a:cs typeface="Arial" panose="020B0604020202020204" pitchFamily="34" charset="0"/>
              </a:rPr>
              <a:t>considera que la actividad anti-RET de estos fármacos es el factor determinante de su eficacia clínica en el CMT</a:t>
            </a:r>
            <a:r>
              <a:rPr lang="es-MX" dirty="0" smtClean="0">
                <a:latin typeface="Arial" panose="020B0604020202020204" pitchFamily="34" charset="0"/>
                <a:cs typeface="Arial" panose="020B0604020202020204" pitchFamily="34" charset="0"/>
              </a:rPr>
              <a:t>, </a:t>
            </a:r>
            <a:r>
              <a:rPr lang="es-MX" dirty="0">
                <a:latin typeface="Arial" panose="020B0604020202020204" pitchFamily="34" charset="0"/>
                <a:cs typeface="Arial" panose="020B0604020202020204" pitchFamily="34" charset="0"/>
              </a:rPr>
              <a:t>también contribuye sustancialmente </a:t>
            </a:r>
            <a:r>
              <a:rPr lang="es-MX" dirty="0" smtClean="0">
                <a:latin typeface="Arial" panose="020B0604020202020204" pitchFamily="34" charset="0"/>
                <a:cs typeface="Arial" panose="020B0604020202020204" pitchFamily="34" charset="0"/>
              </a:rPr>
              <a:t>la </a:t>
            </a:r>
            <a:r>
              <a:rPr lang="es-MX" dirty="0" err="1" smtClean="0">
                <a:latin typeface="Arial" panose="020B0604020202020204" pitchFamily="34" charset="0"/>
                <a:cs typeface="Arial" panose="020B0604020202020204" pitchFamily="34" charset="0"/>
              </a:rPr>
              <a:t>ctividad</a:t>
            </a:r>
            <a:r>
              <a:rPr lang="es-MX" dirty="0" smtClean="0">
                <a:latin typeface="Arial" panose="020B0604020202020204" pitchFamily="34" charset="0"/>
                <a:cs typeface="Arial" panose="020B0604020202020204" pitchFamily="34" charset="0"/>
              </a:rPr>
              <a:t> </a:t>
            </a:r>
            <a:r>
              <a:rPr lang="es-MX" dirty="0">
                <a:latin typeface="Arial" panose="020B0604020202020204" pitchFamily="34" charset="0"/>
                <a:cs typeface="Arial" panose="020B0604020202020204" pitchFamily="34" charset="0"/>
              </a:rPr>
              <a:t>antitumoral.</a:t>
            </a:r>
          </a:p>
          <a:p>
            <a:pPr>
              <a:buFont typeface="Wingdings" panose="05000000000000000000" pitchFamily="2" charset="2"/>
              <a:buChar char="v"/>
            </a:pPr>
            <a:endParaRPr lang="es-MX" dirty="0">
              <a:latin typeface="Arial" panose="020B0604020202020204" pitchFamily="34" charset="0"/>
              <a:cs typeface="Arial" panose="020B0604020202020204" pitchFamily="34" charset="0"/>
            </a:endParaRPr>
          </a:p>
          <a:p>
            <a:pPr marL="0" indent="0">
              <a:buNone/>
            </a:pPr>
            <a:endParaRPr lang="es-AR" dirty="0"/>
          </a:p>
        </p:txBody>
      </p:sp>
    </p:spTree>
    <p:extLst>
      <p:ext uri="{BB962C8B-B14F-4D97-AF65-F5344CB8AC3E}">
        <p14:creationId xmlns:p14="http://schemas.microsoft.com/office/powerpoint/2010/main" val="7621658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85801" y="1097281"/>
            <a:ext cx="10131425" cy="4693920"/>
          </a:xfrm>
        </p:spPr>
        <p:txBody>
          <a:bodyPr>
            <a:normAutofit/>
          </a:bodyPr>
          <a:lstStyle/>
          <a:p>
            <a:pPr>
              <a:buFont typeface="Wingdings" panose="05000000000000000000" pitchFamily="2" charset="2"/>
              <a:buChar char="v"/>
            </a:pPr>
            <a:r>
              <a:rPr lang="es-MX" sz="2400" dirty="0">
                <a:latin typeface="Arial" panose="020B0604020202020204" pitchFamily="34" charset="0"/>
                <a:cs typeface="Arial" panose="020B0604020202020204" pitchFamily="34" charset="0"/>
              </a:rPr>
              <a:t>La NEM-1 se produce por la pérdida de función de un gen supresor de tumores, el gen NEM-I, que produce una proteína reguladora de la proliferación celular. </a:t>
            </a:r>
            <a:endParaRPr lang="es-MX" sz="2400" dirty="0" smtClean="0">
              <a:latin typeface="Arial" panose="020B0604020202020204" pitchFamily="34" charset="0"/>
              <a:cs typeface="Arial" panose="020B0604020202020204" pitchFamily="34" charset="0"/>
            </a:endParaRPr>
          </a:p>
          <a:p>
            <a:pPr>
              <a:buFont typeface="Wingdings" panose="05000000000000000000" pitchFamily="2" charset="2"/>
              <a:buChar char="v"/>
            </a:pPr>
            <a:endParaRPr lang="es-MX" sz="24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400" dirty="0" smtClean="0">
                <a:latin typeface="Arial" panose="020B0604020202020204" pitchFamily="34" charset="0"/>
                <a:cs typeface="Arial" panose="020B0604020202020204" pitchFamily="34" charset="0"/>
              </a:rPr>
              <a:t>Los </a:t>
            </a:r>
            <a:r>
              <a:rPr lang="es-MX" sz="2400" dirty="0">
                <a:latin typeface="Arial" panose="020B0604020202020204" pitchFamily="34" charset="0"/>
                <a:cs typeface="Arial" panose="020B0604020202020204" pitchFamily="34" charset="0"/>
              </a:rPr>
              <a:t>síndromes NEM-II se deben a mutaciones con ganancia de la función del protooncogén RET. </a:t>
            </a:r>
            <a:endParaRPr lang="es-MX" sz="2400" dirty="0" smtClean="0">
              <a:latin typeface="Arial" panose="020B0604020202020204" pitchFamily="34" charset="0"/>
              <a:cs typeface="Arial" panose="020B0604020202020204" pitchFamily="34" charset="0"/>
            </a:endParaRPr>
          </a:p>
          <a:p>
            <a:pPr>
              <a:buFont typeface="Wingdings" panose="05000000000000000000" pitchFamily="2" charset="2"/>
              <a:buChar char="v"/>
            </a:pPr>
            <a:endParaRPr lang="es-MX" sz="24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400" dirty="0" smtClean="0">
                <a:latin typeface="Arial" panose="020B0604020202020204" pitchFamily="34" charset="0"/>
                <a:cs typeface="Arial" panose="020B0604020202020204" pitchFamily="34" charset="0"/>
              </a:rPr>
              <a:t>La </a:t>
            </a:r>
            <a:r>
              <a:rPr lang="es-MX" sz="2400" dirty="0">
                <a:latin typeface="Arial" panose="020B0604020202020204" pitchFamily="34" charset="0"/>
                <a:cs typeface="Arial" panose="020B0604020202020204" pitchFamily="34" charset="0"/>
              </a:rPr>
              <a:t>localización genética exacta de esta mutación determina el fenotipo concreto. Si un miembro de la familia sufre estas mutaciones, se le puede tratar mediante cirugía profiláctica.</a:t>
            </a:r>
            <a:endParaRPr lang="es-A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81878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pic>
        <p:nvPicPr>
          <p:cNvPr id="5" name="Marcador de contenido 4"/>
          <p:cNvPicPr>
            <a:picLocks noGrp="1" noChangeAspect="1"/>
          </p:cNvPicPr>
          <p:nvPr>
            <p:ph idx="1"/>
          </p:nvPr>
        </p:nvPicPr>
        <p:blipFill>
          <a:blip r:embed="rId2"/>
          <a:stretch>
            <a:fillRect/>
          </a:stretch>
        </p:blipFill>
        <p:spPr>
          <a:xfrm>
            <a:off x="2508921" y="2186945"/>
            <a:ext cx="6485182" cy="3558848"/>
          </a:xfrm>
          <a:prstGeom prst="rect">
            <a:avLst/>
          </a:prstGeom>
          <a:ln w="38100">
            <a:solidFill>
              <a:srgbClr val="0070C0"/>
            </a:solidFill>
          </a:ln>
          <a:effectLst>
            <a:reflection blurRad="6350" stA="50000" endA="300" endPos="38500" dist="50800" dir="5400000" sy="-100000" algn="bl" rotWithShape="0"/>
          </a:effectLst>
        </p:spPr>
      </p:pic>
    </p:spTree>
    <p:extLst>
      <p:ext uri="{BB962C8B-B14F-4D97-AF65-F5344CB8AC3E}">
        <p14:creationId xmlns:p14="http://schemas.microsoft.com/office/powerpoint/2010/main" val="13481321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pic>
        <p:nvPicPr>
          <p:cNvPr id="4" name="Marcador de contenido 3"/>
          <p:cNvPicPr>
            <a:picLocks noGrp="1" noChangeAspect="1"/>
          </p:cNvPicPr>
          <p:nvPr>
            <p:ph idx="1"/>
          </p:nvPr>
        </p:nvPicPr>
        <p:blipFill>
          <a:blip r:embed="rId2"/>
          <a:stretch>
            <a:fillRect/>
          </a:stretch>
        </p:blipFill>
        <p:spPr>
          <a:xfrm>
            <a:off x="2665145" y="3128096"/>
            <a:ext cx="6172735" cy="1676545"/>
          </a:xfrm>
          <a:prstGeom prst="rect">
            <a:avLst/>
          </a:prstGeom>
          <a:ln w="38100">
            <a:solidFill>
              <a:srgbClr val="0070C0"/>
            </a:solidFill>
          </a:ln>
          <a:effectLst>
            <a:reflection blurRad="6350" stA="50000" endA="300" endPos="38500" dist="50800" dir="5400000" sy="-100000" algn="bl" rotWithShape="0"/>
          </a:effectLst>
        </p:spPr>
      </p:pic>
    </p:spTree>
    <p:extLst>
      <p:ext uri="{BB962C8B-B14F-4D97-AF65-F5344CB8AC3E}">
        <p14:creationId xmlns:p14="http://schemas.microsoft.com/office/powerpoint/2010/main" val="185032904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609600"/>
            <a:ext cx="10131425" cy="1052223"/>
          </a:xfrm>
        </p:spPr>
        <p:txBody>
          <a:bodyPr>
            <a:normAutofit/>
          </a:bodyPr>
          <a:lstStyle/>
          <a:p>
            <a:pPr algn="ctr"/>
            <a:r>
              <a:rPr lang="es-MX" sz="3200" b="1" dirty="0" smtClean="0">
                <a:latin typeface="Arial" panose="020B0604020202020204" pitchFamily="34" charset="0"/>
                <a:cs typeface="Arial" panose="020B0604020202020204" pitchFamily="34" charset="0"/>
              </a:rPr>
              <a:t>MEN DE TIPO 4</a:t>
            </a: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85801" y="1773141"/>
            <a:ext cx="10131425" cy="4018059"/>
          </a:xfrm>
        </p:spPr>
        <p:txBody>
          <a:bodyPr>
            <a:normAutofit/>
          </a:bodyPr>
          <a:lstStyle/>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La </a:t>
            </a:r>
            <a:r>
              <a:rPr lang="es-MX" sz="2000" dirty="0">
                <a:latin typeface="Arial" panose="020B0604020202020204" pitchFamily="34" charset="0"/>
                <a:cs typeface="Arial" panose="020B0604020202020204" pitchFamily="34" charset="0"/>
              </a:rPr>
              <a:t>MEN4, un trastorno autosómico dominante debido a la mutación del gen CDKN1B localizado en el cromosoma </a:t>
            </a:r>
            <a:r>
              <a:rPr lang="es-MX" sz="2000" dirty="0" smtClean="0">
                <a:latin typeface="Arial" panose="020B0604020202020204" pitchFamily="34" charset="0"/>
                <a:cs typeface="Arial" panose="020B0604020202020204" pitchFamily="34" charset="0"/>
              </a:rPr>
              <a:t>12p13.</a:t>
            </a:r>
          </a:p>
          <a:p>
            <a:pPr>
              <a:buFont typeface="Wingdings" panose="05000000000000000000" pitchFamily="2" charset="2"/>
              <a:buChar char="v"/>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Se </a:t>
            </a:r>
            <a:r>
              <a:rPr lang="es-MX" sz="2000" dirty="0">
                <a:latin typeface="Arial" panose="020B0604020202020204" pitchFamily="34" charset="0"/>
                <a:cs typeface="Arial" panose="020B0604020202020204" pitchFamily="34" charset="0"/>
              </a:rPr>
              <a:t>ha descrito en menos de 20 </a:t>
            </a:r>
            <a:r>
              <a:rPr lang="es-MX" sz="2000" dirty="0" smtClean="0">
                <a:latin typeface="Arial" panose="020B0604020202020204" pitchFamily="34" charset="0"/>
                <a:cs typeface="Arial" panose="020B0604020202020204" pitchFamily="34" charset="0"/>
              </a:rPr>
              <a:t>casos, pacientes con </a:t>
            </a:r>
            <a:r>
              <a:rPr lang="es-MX" sz="2000" dirty="0">
                <a:latin typeface="Arial" panose="020B0604020202020204" pitchFamily="34" charset="0"/>
                <a:cs typeface="Arial" panose="020B0604020202020204" pitchFamily="34" charset="0"/>
              </a:rPr>
              <a:t>características clínicas similares a </a:t>
            </a:r>
            <a:r>
              <a:rPr lang="es-MX" sz="2000" dirty="0" smtClean="0">
                <a:latin typeface="Arial" panose="020B0604020202020204" pitchFamily="34" charset="0"/>
                <a:cs typeface="Arial" panose="020B0604020202020204" pitchFamily="34" charset="0"/>
              </a:rPr>
              <a:t>MEN1</a:t>
            </a:r>
            <a:r>
              <a:rPr lang="es-MX" sz="2000" dirty="0">
                <a:latin typeface="Arial" panose="020B0604020202020204" pitchFamily="34" charset="0"/>
                <a:cs typeface="Arial" panose="020B0604020202020204" pitchFamily="34" charset="0"/>
              </a:rPr>
              <a:t>. </a:t>
            </a: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endParaRPr lang="es-MX" sz="20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dirty="0" smtClean="0">
                <a:latin typeface="Arial" panose="020B0604020202020204" pitchFamily="34" charset="0"/>
                <a:cs typeface="Arial" panose="020B0604020202020204" pitchFamily="34" charset="0"/>
              </a:rPr>
              <a:t>Entre </a:t>
            </a:r>
            <a:r>
              <a:rPr lang="es-MX" sz="2000" dirty="0">
                <a:latin typeface="Arial" panose="020B0604020202020204" pitchFamily="34" charset="0"/>
                <a:cs typeface="Arial" panose="020B0604020202020204" pitchFamily="34" charset="0"/>
              </a:rPr>
              <a:t>el 5 y el 10% de los pacientes con diagnóstico clínico de MEN1 que no tienen mutaciones del gen MEN1, el 3% </a:t>
            </a:r>
            <a:r>
              <a:rPr lang="es-MX" sz="2000" dirty="0" smtClean="0">
                <a:latin typeface="Arial" panose="020B0604020202020204" pitchFamily="34" charset="0"/>
                <a:cs typeface="Arial" panose="020B0604020202020204" pitchFamily="34" charset="0"/>
              </a:rPr>
              <a:t>presentan </a:t>
            </a:r>
            <a:r>
              <a:rPr lang="es-MX" sz="2000" dirty="0">
                <a:latin typeface="Arial" panose="020B0604020202020204" pitchFamily="34" charset="0"/>
                <a:cs typeface="Arial" panose="020B0604020202020204" pitchFamily="34" charset="0"/>
              </a:rPr>
              <a:t>mutaciones del gen CDKN1B.</a:t>
            </a:r>
            <a:endParaRPr lang="es-AR"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28145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609600"/>
            <a:ext cx="10131425" cy="1211249"/>
          </a:xfrm>
        </p:spPr>
        <p:txBody>
          <a:bodyPr>
            <a:normAutofit/>
          </a:bodyPr>
          <a:lstStyle/>
          <a:p>
            <a:pPr algn="ctr"/>
            <a:r>
              <a:rPr lang="es-MX" sz="3200" b="1" dirty="0" smtClean="0">
                <a:latin typeface="Arial" panose="020B0604020202020204" pitchFamily="34" charset="0"/>
                <a:cs typeface="Arial" panose="020B0604020202020204" pitchFamily="34" charset="0"/>
              </a:rPr>
              <a:t>MEN- 4</a:t>
            </a:r>
            <a:endParaRPr lang="es-AR" sz="3200" b="1" dirty="0">
              <a:latin typeface="Arial" panose="020B0604020202020204" pitchFamily="34" charset="0"/>
              <a:cs typeface="Arial" panose="020B0604020202020204" pitchFamily="34" charset="0"/>
            </a:endParaRPr>
          </a:p>
        </p:txBody>
      </p:sp>
      <p:pic>
        <p:nvPicPr>
          <p:cNvPr id="4" name="Marcador de contenido 3"/>
          <p:cNvPicPr>
            <a:picLocks noGrp="1" noChangeAspect="1"/>
          </p:cNvPicPr>
          <p:nvPr>
            <p:ph idx="1"/>
          </p:nvPr>
        </p:nvPicPr>
        <p:blipFill>
          <a:blip r:embed="rId2"/>
          <a:stretch>
            <a:fillRect/>
          </a:stretch>
        </p:blipFill>
        <p:spPr>
          <a:xfrm>
            <a:off x="2558456" y="2600077"/>
            <a:ext cx="7014914" cy="1478942"/>
          </a:xfrm>
          <a:prstGeom prst="rect">
            <a:avLst/>
          </a:prstGeom>
          <a:ln w="38100">
            <a:solidFill>
              <a:srgbClr val="7030A0"/>
            </a:solidFill>
          </a:ln>
          <a:effectLst>
            <a:reflection blurRad="6350" stA="50000" endA="300" endPos="38500" dist="50800" dir="5400000" sy="-100000" algn="bl" rotWithShape="0"/>
          </a:effectLst>
        </p:spPr>
      </p:pic>
    </p:spTree>
    <p:extLst>
      <p:ext uri="{BB962C8B-B14F-4D97-AF65-F5344CB8AC3E}">
        <p14:creationId xmlns:p14="http://schemas.microsoft.com/office/powerpoint/2010/main" val="215890510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302151"/>
            <a:ext cx="10131425" cy="795130"/>
          </a:xfrm>
        </p:spPr>
        <p:txBody>
          <a:bodyPr>
            <a:normAutofit/>
          </a:bodyPr>
          <a:lstStyle/>
          <a:p>
            <a:pPr algn="ctr"/>
            <a:r>
              <a:rPr lang="es-AR" sz="3200" b="1" dirty="0">
                <a:latin typeface="Arial" panose="020B0604020202020204" pitchFamily="34" charset="0"/>
                <a:cs typeface="Arial" panose="020B0604020202020204" pitchFamily="34" charset="0"/>
              </a:rPr>
              <a:t>Características clínicas y tratamiento</a:t>
            </a:r>
          </a:p>
        </p:txBody>
      </p:sp>
      <p:sp>
        <p:nvSpPr>
          <p:cNvPr id="3" name="Marcador de contenido 2"/>
          <p:cNvSpPr>
            <a:spLocks noGrp="1"/>
          </p:cNvSpPr>
          <p:nvPr>
            <p:ph idx="1"/>
          </p:nvPr>
        </p:nvSpPr>
        <p:spPr>
          <a:xfrm>
            <a:off x="685801" y="1097281"/>
            <a:ext cx="10131425" cy="5287616"/>
          </a:xfrm>
        </p:spPr>
        <p:txBody>
          <a:bodyPr>
            <a:normAutofit lnSpcReduction="10000"/>
          </a:bodyPr>
          <a:lstStyle/>
          <a:p>
            <a:pPr marL="0" indent="0">
              <a:buNone/>
            </a:pPr>
            <a:r>
              <a:rPr lang="es-MX" sz="2000" b="1" dirty="0" smtClean="0">
                <a:latin typeface="Arial" panose="020B0604020202020204" pitchFamily="34" charset="0"/>
                <a:cs typeface="Arial" panose="020B0604020202020204" pitchFamily="34" charset="0"/>
              </a:rPr>
              <a:t>Los </a:t>
            </a:r>
            <a:r>
              <a:rPr lang="es-MX" sz="2000" b="1" dirty="0">
                <a:latin typeface="Arial" panose="020B0604020202020204" pitchFamily="34" charset="0"/>
                <a:cs typeface="Arial" panose="020B0604020202020204" pitchFamily="34" charset="0"/>
              </a:rPr>
              <a:t>pacientes con MEN4 tienen </a:t>
            </a:r>
            <a:r>
              <a:rPr lang="es-MX" sz="2000" b="1" dirty="0" smtClean="0">
                <a:latin typeface="Arial" panose="020B0604020202020204" pitchFamily="34" charset="0"/>
                <a:cs typeface="Arial" panose="020B0604020202020204" pitchFamily="34" charset="0"/>
              </a:rPr>
              <a:t>predominantemente: </a:t>
            </a:r>
          </a:p>
          <a:p>
            <a:pPr marL="0" indent="0">
              <a:buNone/>
            </a:pPr>
            <a:endParaRPr lang="es-MX"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Tumores </a:t>
            </a:r>
            <a:r>
              <a:rPr lang="es-MX" dirty="0">
                <a:latin typeface="Arial" panose="020B0604020202020204" pitchFamily="34" charset="0"/>
                <a:cs typeface="Arial" panose="020B0604020202020204" pitchFamily="34" charset="0"/>
              </a:rPr>
              <a:t>paratiroideos, hipofisarios y pancreáticos asociados a otros tumores, como TNE gastrointestinales, bronquiales y cervicales, tumores </a:t>
            </a:r>
            <a:r>
              <a:rPr lang="es-MX" dirty="0" smtClean="0">
                <a:latin typeface="Arial" panose="020B0604020202020204" pitchFamily="34" charset="0"/>
                <a:cs typeface="Arial" panose="020B0604020202020204" pitchFamily="34" charset="0"/>
              </a:rPr>
              <a:t>suprarrenales y </a:t>
            </a:r>
            <a:r>
              <a:rPr lang="es-MX" dirty="0">
                <a:latin typeface="Arial" panose="020B0604020202020204" pitchFamily="34" charset="0"/>
                <a:cs typeface="Arial" panose="020B0604020202020204" pitchFamily="34" charset="0"/>
              </a:rPr>
              <a:t>cáncer de mama</a:t>
            </a:r>
            <a:r>
              <a:rPr lang="es-MX" dirty="0" smtClean="0">
                <a:latin typeface="Arial" panose="020B0604020202020204" pitchFamily="34" charset="0"/>
                <a:cs typeface="Arial" panose="020B0604020202020204" pitchFamily="34" charset="0"/>
              </a:rPr>
              <a:t>.</a:t>
            </a:r>
          </a:p>
          <a:p>
            <a:pPr marL="0" indent="0">
              <a:buNone/>
            </a:pPr>
            <a:endParaRPr lang="es-MX"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Se </a:t>
            </a:r>
            <a:r>
              <a:rPr lang="es-MX" dirty="0">
                <a:latin typeface="Arial" panose="020B0604020202020204" pitchFamily="34" charset="0"/>
                <a:cs typeface="Arial" panose="020B0604020202020204" pitchFamily="34" charset="0"/>
              </a:rPr>
              <a:t>han descrito tumores paratiroideos asociados a HPTP en el 80% de los casos de MEN4, aunque el HPTP se presenta a una edad más tardía que en la MEN1</a:t>
            </a:r>
            <a:r>
              <a:rPr lang="es-MX" dirty="0" smtClean="0">
                <a:latin typeface="Arial" panose="020B0604020202020204" pitchFamily="34" charset="0"/>
                <a:cs typeface="Arial" panose="020B0604020202020204" pitchFamily="34" charset="0"/>
              </a:rPr>
              <a:t>.</a:t>
            </a:r>
          </a:p>
          <a:p>
            <a:pPr marL="0" indent="0">
              <a:buNone/>
            </a:pPr>
            <a:r>
              <a:rPr lang="es-MX" dirty="0" smtClean="0">
                <a:latin typeface="Arial" panose="020B0604020202020204" pitchFamily="34" charset="0"/>
                <a:cs typeface="Arial" panose="020B0604020202020204" pitchFamily="34" charset="0"/>
              </a:rPr>
              <a:t> </a:t>
            </a: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Los </a:t>
            </a:r>
            <a:r>
              <a:rPr lang="es-MX" dirty="0">
                <a:latin typeface="Arial" panose="020B0604020202020204" pitchFamily="34" charset="0"/>
                <a:cs typeface="Arial" panose="020B0604020202020204" pitchFamily="34" charset="0"/>
              </a:rPr>
              <a:t>tumores hipofisarios (incluidos el </a:t>
            </a:r>
            <a:r>
              <a:rPr lang="es-MX" dirty="0" err="1">
                <a:latin typeface="Arial" panose="020B0604020202020204" pitchFamily="34" charset="0"/>
                <a:cs typeface="Arial" panose="020B0604020202020204" pitchFamily="34" charset="0"/>
              </a:rPr>
              <a:t>somatotropinoma</a:t>
            </a:r>
            <a:r>
              <a:rPr lang="es-MX" dirty="0">
                <a:latin typeface="Arial" panose="020B0604020202020204" pitchFamily="34" charset="0"/>
                <a:cs typeface="Arial" panose="020B0604020202020204" pitchFamily="34" charset="0"/>
              </a:rPr>
              <a:t>, el </a:t>
            </a:r>
            <a:r>
              <a:rPr lang="es-MX" dirty="0" err="1">
                <a:latin typeface="Arial" panose="020B0604020202020204" pitchFamily="34" charset="0"/>
                <a:cs typeface="Arial" panose="020B0604020202020204" pitchFamily="34" charset="0"/>
              </a:rPr>
              <a:t>corticotropinoma</a:t>
            </a:r>
            <a:r>
              <a:rPr lang="es-MX" dirty="0">
                <a:latin typeface="Arial" panose="020B0604020202020204" pitchFamily="34" charset="0"/>
                <a:cs typeface="Arial" panose="020B0604020202020204" pitchFamily="34" charset="0"/>
              </a:rPr>
              <a:t>, el </a:t>
            </a:r>
            <a:r>
              <a:rPr lang="es-MX" dirty="0" err="1">
                <a:latin typeface="Arial" panose="020B0604020202020204" pitchFamily="34" charset="0"/>
                <a:cs typeface="Arial" panose="020B0604020202020204" pitchFamily="34" charset="0"/>
              </a:rPr>
              <a:t>prolactinoma</a:t>
            </a:r>
            <a:r>
              <a:rPr lang="es-MX" dirty="0">
                <a:latin typeface="Arial" panose="020B0604020202020204" pitchFamily="34" charset="0"/>
                <a:cs typeface="Arial" panose="020B0604020202020204" pitchFamily="34" charset="0"/>
              </a:rPr>
              <a:t> y el adenoma NF) se presentan en el 40% de los </a:t>
            </a:r>
            <a:r>
              <a:rPr lang="es-MX" dirty="0" smtClean="0">
                <a:latin typeface="Arial" panose="020B0604020202020204" pitchFamily="34" charset="0"/>
                <a:cs typeface="Arial" panose="020B0604020202020204" pitchFamily="34" charset="0"/>
              </a:rPr>
              <a:t>casos.</a:t>
            </a:r>
          </a:p>
          <a:p>
            <a:pPr marL="0" indent="0">
              <a:buNone/>
            </a:pPr>
            <a:endParaRPr lang="es-MX"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TNE </a:t>
            </a:r>
            <a:r>
              <a:rPr lang="es-MX" dirty="0" err="1">
                <a:latin typeface="Arial" panose="020B0604020202020204" pitchFamily="34" charset="0"/>
                <a:cs typeface="Arial" panose="020B0604020202020204" pitchFamily="34" charset="0"/>
              </a:rPr>
              <a:t>pancreatoduodenales</a:t>
            </a:r>
            <a:r>
              <a:rPr lang="es-MX" dirty="0">
                <a:latin typeface="Arial" panose="020B0604020202020204" pitchFamily="34" charset="0"/>
                <a:cs typeface="Arial" panose="020B0604020202020204" pitchFamily="34" charset="0"/>
              </a:rPr>
              <a:t>, en el 35%. </a:t>
            </a:r>
            <a:endParaRPr lang="es-MX" dirty="0" smtClean="0">
              <a:latin typeface="Arial" panose="020B0604020202020204" pitchFamily="34" charset="0"/>
              <a:cs typeface="Arial" panose="020B0604020202020204" pitchFamily="34" charset="0"/>
            </a:endParaRPr>
          </a:p>
          <a:p>
            <a:pPr marL="0" indent="0">
              <a:buNone/>
            </a:pPr>
            <a:endParaRPr lang="es-MX"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La </a:t>
            </a:r>
            <a:r>
              <a:rPr lang="es-MX" dirty="0">
                <a:latin typeface="Arial" panose="020B0604020202020204" pitchFamily="34" charset="0"/>
                <a:cs typeface="Arial" panose="020B0604020202020204" pitchFamily="34" charset="0"/>
              </a:rPr>
              <a:t>investigación y los tratamientos de estos tumores asociados a la MEN4 son similares a los de los tumores con o sin MEN1.</a:t>
            </a:r>
            <a:endParaRPr lang="es-A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51226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1653870"/>
            <a:ext cx="10131425" cy="3760967"/>
          </a:xfrm>
        </p:spPr>
        <p:txBody>
          <a:bodyPr>
            <a:normAutofit/>
          </a:bodyPr>
          <a:lstStyle/>
          <a:p>
            <a:pPr algn="ctr"/>
            <a:r>
              <a:rPr lang="pt-BR" sz="3200" b="1" dirty="0">
                <a:latin typeface="Arial" panose="020B0604020202020204" pitchFamily="34" charset="0"/>
                <a:cs typeface="Arial" panose="020B0604020202020204" pitchFamily="34" charset="0"/>
              </a:rPr>
              <a:t>Síndromes </a:t>
            </a:r>
            <a:r>
              <a:rPr lang="pt-BR" sz="3200" b="1" dirty="0" err="1">
                <a:latin typeface="Arial" panose="020B0604020202020204" pitchFamily="34" charset="0"/>
                <a:cs typeface="Arial" panose="020B0604020202020204" pitchFamily="34" charset="0"/>
              </a:rPr>
              <a:t>pluriglandulares</a:t>
            </a:r>
            <a:r>
              <a:rPr lang="pt-BR" sz="3200" b="1" dirty="0">
                <a:latin typeface="Arial" panose="020B0604020202020204" pitchFamily="34" charset="0"/>
                <a:cs typeface="Arial" panose="020B0604020202020204" pitchFamily="34" charset="0"/>
              </a:rPr>
              <a:t> de </a:t>
            </a:r>
            <a:r>
              <a:rPr lang="pt-BR" sz="3200" b="1" dirty="0" err="1">
                <a:latin typeface="Arial" panose="020B0604020202020204" pitchFamily="34" charset="0"/>
                <a:cs typeface="Arial" panose="020B0604020202020204" pitchFamily="34" charset="0"/>
              </a:rPr>
              <a:t>naturaleza</a:t>
            </a:r>
            <a:r>
              <a:rPr lang="pt-BR" sz="3200" b="1" dirty="0">
                <a:latin typeface="Arial" panose="020B0604020202020204" pitchFamily="34" charset="0"/>
                <a:cs typeface="Arial" panose="020B0604020202020204" pitchFamily="34" charset="0"/>
              </a:rPr>
              <a:t> </a:t>
            </a:r>
            <a:r>
              <a:rPr lang="pt-BR" sz="3200" b="1" dirty="0" err="1">
                <a:latin typeface="Arial" panose="020B0604020202020204" pitchFamily="34" charset="0"/>
                <a:cs typeface="Arial" panose="020B0604020202020204" pitchFamily="34" charset="0"/>
              </a:rPr>
              <a:t>autoinmunitaria</a:t>
            </a:r>
            <a:r>
              <a:rPr lang="pt-BR" sz="3200" b="1" dirty="0">
                <a:latin typeface="Arial" panose="020B0604020202020204" pitchFamily="34" charset="0"/>
                <a:cs typeface="Arial" panose="020B0604020202020204" pitchFamily="34" charset="0"/>
              </a:rPr>
              <a:t/>
            </a:r>
            <a:br>
              <a:rPr lang="pt-BR" sz="3200" b="1" dirty="0">
                <a:latin typeface="Arial" panose="020B0604020202020204" pitchFamily="34" charset="0"/>
                <a:cs typeface="Arial" panose="020B0604020202020204" pitchFamily="34" charset="0"/>
              </a:rPr>
            </a:br>
            <a:r>
              <a:rPr lang="pt-BR" sz="3200" b="1" dirty="0" smtClean="0">
                <a:latin typeface="Arial" panose="020B0604020202020204" pitchFamily="34" charset="0"/>
                <a:cs typeface="Arial" panose="020B0604020202020204" pitchFamily="34" charset="0"/>
              </a:rPr>
              <a:t/>
            </a:r>
            <a:br>
              <a:rPr lang="pt-BR" sz="3200" b="1" dirty="0" smtClean="0">
                <a:latin typeface="Arial" panose="020B0604020202020204" pitchFamily="34" charset="0"/>
                <a:cs typeface="Arial" panose="020B0604020202020204" pitchFamily="34" charset="0"/>
              </a:rPr>
            </a:br>
            <a:r>
              <a:rPr lang="pt-BR" sz="3200" b="1" dirty="0" smtClean="0">
                <a:latin typeface="Arial" panose="020B0604020202020204" pitchFamily="34" charset="0"/>
                <a:cs typeface="Arial" panose="020B0604020202020204" pitchFamily="34" charset="0"/>
              </a:rPr>
              <a:t>SAP</a:t>
            </a:r>
            <a:endParaRPr lang="es-AR"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045250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270344"/>
            <a:ext cx="10131425" cy="866693"/>
          </a:xfrm>
        </p:spPr>
        <p:txBody>
          <a:bodyPr>
            <a:normAutofit/>
          </a:bodyPr>
          <a:lstStyle/>
          <a:p>
            <a:pPr algn="ctr"/>
            <a:r>
              <a:rPr lang="es-MX" sz="3200" b="1" dirty="0" smtClean="0">
                <a:latin typeface="Arial" panose="020B0604020202020204" pitchFamily="34" charset="0"/>
                <a:cs typeface="Arial" panose="020B0604020202020204" pitchFamily="34" charset="0"/>
              </a:rPr>
              <a:t>SAP</a:t>
            </a: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365761" y="1137037"/>
            <a:ext cx="11402170" cy="5208104"/>
          </a:xfrm>
        </p:spPr>
        <p:txBody>
          <a:bodyPr>
            <a:normAutofit/>
          </a:bodyPr>
          <a:lstStyle/>
          <a:p>
            <a:pPr>
              <a:buFont typeface="Wingdings" panose="05000000000000000000" pitchFamily="2" charset="2"/>
              <a:buChar char="v"/>
            </a:pPr>
            <a:r>
              <a:rPr lang="es-MX" dirty="0">
                <a:latin typeface="Arial" panose="020B0604020202020204" pitchFamily="34" charset="0"/>
                <a:cs typeface="Arial" panose="020B0604020202020204" pitchFamily="34" charset="0"/>
              </a:rPr>
              <a:t>Estos síndromes agrupan síntomas </a:t>
            </a:r>
            <a:r>
              <a:rPr lang="es-MX" dirty="0" smtClean="0">
                <a:latin typeface="Arial" panose="020B0604020202020204" pitchFamily="34" charset="0"/>
                <a:cs typeface="Arial" panose="020B0604020202020204" pitchFamily="34" charset="0"/>
              </a:rPr>
              <a:t>clínicos: por </a:t>
            </a:r>
            <a:r>
              <a:rPr lang="es-MX" dirty="0">
                <a:latin typeface="Arial" panose="020B0604020202020204" pitchFamily="34" charset="0"/>
                <a:cs typeface="Arial" panose="020B0604020202020204" pitchFamily="34" charset="0"/>
              </a:rPr>
              <a:t>el deterioro funcional de al menos dos glándulas endocrinas por pérdida de la tolerancia inmune. </a:t>
            </a:r>
            <a:endParaRPr lang="es-MX" dirty="0" smtClean="0">
              <a:latin typeface="Arial" panose="020B0604020202020204" pitchFamily="34" charset="0"/>
              <a:cs typeface="Arial" panose="020B0604020202020204" pitchFamily="34" charset="0"/>
            </a:endParaRPr>
          </a:p>
          <a:p>
            <a:pPr>
              <a:buFont typeface="Wingdings" panose="05000000000000000000" pitchFamily="2" charset="2"/>
              <a:buChar char="v"/>
            </a:pPr>
            <a:endParaRPr lang="es-MX"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Con </a:t>
            </a:r>
            <a:r>
              <a:rPr lang="es-MX" dirty="0">
                <a:latin typeface="Arial" panose="020B0604020202020204" pitchFamily="34" charset="0"/>
                <a:cs typeface="Arial" panose="020B0604020202020204" pitchFamily="34" charset="0"/>
              </a:rPr>
              <a:t>frecuencia asocian otras manifestaciones no endocrinas de origen autoinmunitario</a:t>
            </a:r>
            <a:r>
              <a:rPr lang="es-MX" dirty="0" smtClean="0">
                <a:latin typeface="Arial" panose="020B0604020202020204" pitchFamily="34" charset="0"/>
                <a:cs typeface="Arial" panose="020B0604020202020204" pitchFamily="34" charset="0"/>
              </a:rPr>
              <a:t>.</a:t>
            </a:r>
          </a:p>
          <a:p>
            <a:pPr>
              <a:buFont typeface="Wingdings" panose="05000000000000000000" pitchFamily="2" charset="2"/>
              <a:buChar char="v"/>
            </a:pPr>
            <a:endParaRPr lang="es-MX"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b="1" dirty="0" smtClean="0">
                <a:latin typeface="Arial" panose="020B0604020202020204" pitchFamily="34" charset="0"/>
                <a:cs typeface="Arial" panose="020B0604020202020204" pitchFamily="34" charset="0"/>
              </a:rPr>
              <a:t>Se </a:t>
            </a:r>
            <a:r>
              <a:rPr lang="es-MX" sz="2000" b="1" dirty="0">
                <a:latin typeface="Arial" panose="020B0604020202020204" pitchFamily="34" charset="0"/>
                <a:cs typeface="Arial" panose="020B0604020202020204" pitchFamily="34" charset="0"/>
              </a:rPr>
              <a:t>caracterizan: </a:t>
            </a:r>
            <a:endParaRPr lang="es-MX" sz="2000" b="1"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1) por </a:t>
            </a:r>
            <a:r>
              <a:rPr lang="es-MX" dirty="0">
                <a:latin typeface="Arial" panose="020B0604020202020204" pitchFamily="34" charset="0"/>
                <a:cs typeface="Arial" panose="020B0604020202020204" pitchFamily="34" charset="0"/>
              </a:rPr>
              <a:t>una presentación insidiosa y secuencial en el tiempo de los fallos glandulares y de las alteraciones </a:t>
            </a:r>
            <a:r>
              <a:rPr lang="es-MX" dirty="0" smtClean="0">
                <a:latin typeface="Arial" panose="020B0604020202020204" pitchFamily="34" charset="0"/>
                <a:cs typeface="Arial" panose="020B0604020202020204" pitchFamily="34" charset="0"/>
              </a:rPr>
              <a:t> no </a:t>
            </a:r>
            <a:r>
              <a:rPr lang="es-MX" dirty="0">
                <a:latin typeface="Arial" panose="020B0604020202020204" pitchFamily="34" charset="0"/>
                <a:cs typeface="Arial" panose="020B0604020202020204" pitchFamily="34" charset="0"/>
              </a:rPr>
              <a:t>endocrinas </a:t>
            </a:r>
            <a:r>
              <a:rPr lang="es-MX" dirty="0" smtClean="0">
                <a:latin typeface="Arial" panose="020B0604020202020204" pitchFamily="34" charset="0"/>
                <a:cs typeface="Arial" panose="020B0604020202020204" pitchFamily="34" charset="0"/>
              </a:rPr>
              <a:t>asociadas.</a:t>
            </a:r>
          </a:p>
          <a:p>
            <a:pPr>
              <a:buFont typeface="Wingdings" panose="05000000000000000000" pitchFamily="2" charset="2"/>
              <a:buChar char="v"/>
            </a:pPr>
            <a:endParaRPr lang="es-MX"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2</a:t>
            </a:r>
            <a:r>
              <a:rPr lang="es-MX" dirty="0">
                <a:latin typeface="Arial" panose="020B0604020202020204" pitchFamily="34" charset="0"/>
                <a:cs typeface="Arial" panose="020B0604020202020204" pitchFamily="34" charset="0"/>
              </a:rPr>
              <a:t>) </a:t>
            </a:r>
            <a:r>
              <a:rPr lang="es-MX" dirty="0" smtClean="0">
                <a:latin typeface="Arial" panose="020B0604020202020204" pitchFamily="34" charset="0"/>
                <a:cs typeface="Arial" panose="020B0604020202020204" pitchFamily="34" charset="0"/>
              </a:rPr>
              <a:t>por </a:t>
            </a:r>
            <a:r>
              <a:rPr lang="es-MX" dirty="0">
                <a:latin typeface="Arial" panose="020B0604020202020204" pitchFamily="34" charset="0"/>
                <a:cs typeface="Arial" panose="020B0604020202020204" pitchFamily="34" charset="0"/>
              </a:rPr>
              <a:t>la presencia de </a:t>
            </a:r>
            <a:r>
              <a:rPr lang="es-MX" dirty="0" err="1">
                <a:latin typeface="Arial" panose="020B0604020202020204" pitchFamily="34" charset="0"/>
                <a:cs typeface="Arial" panose="020B0604020202020204" pitchFamily="34" charset="0"/>
              </a:rPr>
              <a:t>autoanticuerpos</a:t>
            </a:r>
            <a:r>
              <a:rPr lang="es-MX" dirty="0">
                <a:latin typeface="Arial" panose="020B0604020202020204" pitchFamily="34" charset="0"/>
                <a:cs typeface="Arial" panose="020B0604020202020204" pitchFamily="34" charset="0"/>
              </a:rPr>
              <a:t> </a:t>
            </a:r>
            <a:r>
              <a:rPr lang="es-MX" dirty="0" smtClean="0">
                <a:latin typeface="Arial" panose="020B0604020202020204" pitchFamily="34" charset="0"/>
                <a:cs typeface="Arial" panose="020B0604020202020204" pitchFamily="34" charset="0"/>
              </a:rPr>
              <a:t>circulantes.</a:t>
            </a:r>
          </a:p>
          <a:p>
            <a:pPr>
              <a:buFont typeface="Wingdings" panose="05000000000000000000" pitchFamily="2" charset="2"/>
              <a:buChar char="v"/>
            </a:pPr>
            <a:endParaRPr lang="es-MX"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3</a:t>
            </a:r>
            <a:r>
              <a:rPr lang="es-MX" dirty="0">
                <a:latin typeface="Arial" panose="020B0604020202020204" pitchFamily="34" charset="0"/>
                <a:cs typeface="Arial" panose="020B0604020202020204" pitchFamily="34" charset="0"/>
              </a:rPr>
              <a:t>) por la infiltración linfocitaria de los tejidos </a:t>
            </a:r>
            <a:r>
              <a:rPr lang="es-MX" dirty="0" smtClean="0">
                <a:latin typeface="Arial" panose="020B0604020202020204" pitchFamily="34" charset="0"/>
                <a:cs typeface="Arial" panose="020B0604020202020204" pitchFamily="34" charset="0"/>
              </a:rPr>
              <a:t>órganos </a:t>
            </a:r>
            <a:r>
              <a:rPr lang="es-MX" dirty="0">
                <a:latin typeface="Arial" panose="020B0604020202020204" pitchFamily="34" charset="0"/>
                <a:cs typeface="Arial" panose="020B0604020202020204" pitchFamily="34" charset="0"/>
              </a:rPr>
              <a:t>afectos. </a:t>
            </a:r>
          </a:p>
          <a:p>
            <a:pPr>
              <a:buFont typeface="Wingdings" panose="05000000000000000000" pitchFamily="2" charset="2"/>
              <a:buChar char="v"/>
            </a:pPr>
            <a:endParaRPr lang="es-AR" dirty="0">
              <a:latin typeface="Arial" panose="020B0604020202020204" pitchFamily="34" charset="0"/>
              <a:cs typeface="Arial" panose="020B0604020202020204" pitchFamily="34" charset="0"/>
            </a:endParaRPr>
          </a:p>
        </p:txBody>
      </p:sp>
      <p:sp>
        <p:nvSpPr>
          <p:cNvPr id="5" name="Rectángulo redondeado 4"/>
          <p:cNvSpPr/>
          <p:nvPr/>
        </p:nvSpPr>
        <p:spPr>
          <a:xfrm>
            <a:off x="7076661" y="4357315"/>
            <a:ext cx="4325509" cy="1407381"/>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w="38100">
            <a:solidFill>
              <a:srgbClr val="7030A0"/>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b="1" dirty="0" smtClean="0">
                <a:latin typeface="Arial" panose="020B0604020202020204" pitchFamily="34" charset="0"/>
                <a:cs typeface="Arial" panose="020B0604020202020204" pitchFamily="34" charset="0"/>
              </a:rPr>
              <a:t>TRATAMIENTO SUSTITUTIVO</a:t>
            </a:r>
            <a:endParaRPr lang="es-AR"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82196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609600"/>
            <a:ext cx="10131425" cy="956807"/>
          </a:xfrm>
        </p:spPr>
        <p:txBody>
          <a:bodyPr>
            <a:normAutofit/>
          </a:bodyPr>
          <a:lstStyle/>
          <a:p>
            <a:pPr algn="ctr"/>
            <a:r>
              <a:rPr lang="es-MX" sz="3200" b="1" dirty="0" err="1" smtClean="0">
                <a:latin typeface="Arial" panose="020B0604020202020204" pitchFamily="34" charset="0"/>
                <a:cs typeface="Arial" panose="020B0604020202020204" pitchFamily="34" charset="0"/>
              </a:rPr>
              <a:t>Sap</a:t>
            </a:r>
            <a:r>
              <a:rPr lang="es-MX" sz="3200" b="1" dirty="0" smtClean="0">
                <a:latin typeface="Arial" panose="020B0604020202020204" pitchFamily="34" charset="0"/>
                <a:cs typeface="Arial" panose="020B0604020202020204" pitchFamily="34" charset="0"/>
              </a:rPr>
              <a:t> - CLASIFICACI</a:t>
            </a:r>
            <a:r>
              <a:rPr lang="es-AR" sz="3200" b="1" dirty="0" err="1" smtClean="0">
                <a:latin typeface="Arial" panose="020B0604020202020204" pitchFamily="34" charset="0"/>
                <a:cs typeface="Arial" panose="020B0604020202020204" pitchFamily="34" charset="0"/>
              </a:rPr>
              <a:t>Ó</a:t>
            </a:r>
            <a:r>
              <a:rPr lang="es-MX" sz="3200" b="1" dirty="0" smtClean="0">
                <a:latin typeface="Arial" panose="020B0604020202020204" pitchFamily="34" charset="0"/>
                <a:cs typeface="Arial" panose="020B0604020202020204" pitchFamily="34" charset="0"/>
              </a:rPr>
              <a:t>N</a:t>
            </a:r>
            <a:endParaRPr lang="es-AR" sz="3200" b="1" dirty="0">
              <a:latin typeface="Arial" panose="020B0604020202020204" pitchFamily="34" charset="0"/>
              <a:cs typeface="Arial" panose="020B0604020202020204" pitchFamily="34" charset="0"/>
            </a:endParaRPr>
          </a:p>
        </p:txBody>
      </p:sp>
      <p:pic>
        <p:nvPicPr>
          <p:cNvPr id="4" name="Marcador de contenido 3"/>
          <p:cNvPicPr>
            <a:picLocks noGrp="1" noChangeAspect="1"/>
          </p:cNvPicPr>
          <p:nvPr>
            <p:ph idx="1"/>
          </p:nvPr>
        </p:nvPicPr>
        <p:blipFill>
          <a:blip r:embed="rId2"/>
          <a:stretch>
            <a:fillRect/>
          </a:stretch>
        </p:blipFill>
        <p:spPr>
          <a:xfrm>
            <a:off x="2604180" y="1749287"/>
            <a:ext cx="6508015" cy="2910177"/>
          </a:xfrm>
          <a:prstGeom prst="rect">
            <a:avLst/>
          </a:prstGeom>
          <a:ln w="38100">
            <a:solidFill>
              <a:srgbClr val="7030A0"/>
            </a:solidFill>
          </a:ln>
          <a:effectLst>
            <a:reflection blurRad="6350" stA="50000" endA="300" endPos="38500" dist="50800" dir="5400000" sy="-100000" algn="bl" rotWithShape="0"/>
          </a:effectLst>
        </p:spPr>
      </p:pic>
    </p:spTree>
    <p:extLst>
      <p:ext uri="{BB962C8B-B14F-4D97-AF65-F5344CB8AC3E}">
        <p14:creationId xmlns:p14="http://schemas.microsoft.com/office/powerpoint/2010/main" val="274557300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2512732" y="2289823"/>
            <a:ext cx="6477561" cy="3353091"/>
          </a:xfrm>
          <a:prstGeom prst="rect">
            <a:avLst/>
          </a:prstGeom>
          <a:ln w="38100">
            <a:solidFill>
              <a:srgbClr val="7030A0"/>
            </a:solidFill>
          </a:ln>
          <a:effectLst>
            <a:reflection blurRad="6350" stA="50000" endA="300" endPos="38500" dist="50800" dir="5400000" sy="-100000" algn="bl" rotWithShape="0"/>
          </a:effectLst>
        </p:spPr>
      </p:pic>
      <p:sp>
        <p:nvSpPr>
          <p:cNvPr id="3" name="Rectángulo 2"/>
          <p:cNvSpPr/>
          <p:nvPr/>
        </p:nvSpPr>
        <p:spPr>
          <a:xfrm>
            <a:off x="4230093" y="1653872"/>
            <a:ext cx="1455090" cy="548639"/>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smtClean="0">
                <a:latin typeface="Arial" panose="020B0604020202020204" pitchFamily="34" charset="0"/>
                <a:cs typeface="Arial" panose="020B0604020202020204" pitchFamily="34" charset="0"/>
              </a:rPr>
              <a:t>SAP-1</a:t>
            </a:r>
            <a:endParaRPr lang="es-AR" b="1" dirty="0">
              <a:latin typeface="Arial" panose="020B0604020202020204" pitchFamily="34" charset="0"/>
              <a:cs typeface="Arial" panose="020B0604020202020204" pitchFamily="34" charset="0"/>
            </a:endParaRPr>
          </a:p>
        </p:txBody>
      </p:sp>
      <p:sp>
        <p:nvSpPr>
          <p:cNvPr id="5" name="Rectángulo 4"/>
          <p:cNvSpPr/>
          <p:nvPr/>
        </p:nvSpPr>
        <p:spPr>
          <a:xfrm>
            <a:off x="5828306" y="1653872"/>
            <a:ext cx="1463040" cy="54864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smtClean="0">
                <a:latin typeface="Arial" panose="020B0604020202020204" pitchFamily="34" charset="0"/>
                <a:cs typeface="Arial" panose="020B0604020202020204" pitchFamily="34" charset="0"/>
              </a:rPr>
              <a:t>SAP-2</a:t>
            </a:r>
            <a:endParaRPr lang="es-AR" b="1" dirty="0">
              <a:latin typeface="Arial" panose="020B0604020202020204" pitchFamily="34" charset="0"/>
              <a:cs typeface="Arial" panose="020B0604020202020204" pitchFamily="34" charset="0"/>
            </a:endParaRPr>
          </a:p>
        </p:txBody>
      </p:sp>
      <p:sp>
        <p:nvSpPr>
          <p:cNvPr id="6" name="Rectángulo 5"/>
          <p:cNvSpPr/>
          <p:nvPr/>
        </p:nvSpPr>
        <p:spPr>
          <a:xfrm>
            <a:off x="7442421" y="1653872"/>
            <a:ext cx="1547872" cy="548639"/>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r="100000" b="100000"/>
            </a:path>
            <a:tileRect l="-100000" t="-100000"/>
          </a:gra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smtClean="0">
                <a:latin typeface="Arial" panose="020B0604020202020204" pitchFamily="34" charset="0"/>
                <a:cs typeface="Arial" panose="020B0604020202020204" pitchFamily="34" charset="0"/>
              </a:rPr>
              <a:t>IPEX</a:t>
            </a:r>
            <a:endParaRPr lang="es-AR"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97006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381664"/>
            <a:ext cx="10131425" cy="1192694"/>
          </a:xfrm>
        </p:spPr>
        <p:txBody>
          <a:bodyPr>
            <a:normAutofit/>
          </a:bodyPr>
          <a:lstStyle/>
          <a:p>
            <a:pPr algn="ctr"/>
            <a:r>
              <a:rPr lang="es-AR" sz="3200" b="1" dirty="0">
                <a:latin typeface="Arial" panose="020B0604020202020204" pitchFamily="34" charset="0"/>
                <a:cs typeface="Arial" panose="020B0604020202020204" pitchFamily="34" charset="0"/>
              </a:rPr>
              <a:t>Endocrinopatías </a:t>
            </a:r>
            <a:r>
              <a:rPr lang="es-AR" sz="3200" b="1" dirty="0" err="1">
                <a:latin typeface="Arial" panose="020B0604020202020204" pitchFamily="34" charset="0"/>
                <a:cs typeface="Arial" panose="020B0604020202020204" pitchFamily="34" charset="0"/>
              </a:rPr>
              <a:t>paraneoplásicas</a:t>
            </a:r>
            <a:r>
              <a:rPr lang="es-AR" sz="3200" b="1" dirty="0">
                <a:latin typeface="Arial" panose="020B0604020202020204" pitchFamily="34" charset="0"/>
                <a:cs typeface="Arial" panose="020B0604020202020204" pitchFamily="34" charset="0"/>
              </a:rPr>
              <a:t/>
            </a:r>
            <a:br>
              <a:rPr lang="es-AR" sz="3200" b="1" dirty="0">
                <a:latin typeface="Arial" panose="020B0604020202020204" pitchFamily="34" charset="0"/>
                <a:cs typeface="Arial" panose="020B0604020202020204" pitchFamily="34" charset="0"/>
              </a:rPr>
            </a:br>
            <a:endParaRPr lang="es-AR" sz="32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85801" y="1224501"/>
            <a:ext cx="10131425" cy="5446643"/>
          </a:xfrm>
        </p:spPr>
        <p:txBody>
          <a:bodyPr>
            <a:normAutofit/>
          </a:bodyPr>
          <a:lstStyle/>
          <a:p>
            <a:pPr marL="0" indent="0">
              <a:buNone/>
            </a:pPr>
            <a:endParaRPr lang="es-MX"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dirty="0" smtClean="0">
                <a:latin typeface="Arial" panose="020B0604020202020204" pitchFamily="34" charset="0"/>
                <a:cs typeface="Arial" panose="020B0604020202020204" pitchFamily="34" charset="0"/>
              </a:rPr>
              <a:t>Síndromes </a:t>
            </a:r>
            <a:r>
              <a:rPr lang="es-MX" dirty="0">
                <a:latin typeface="Arial" panose="020B0604020202020204" pitchFamily="34" charset="0"/>
                <a:cs typeface="Arial" panose="020B0604020202020204" pitchFamily="34" charset="0"/>
              </a:rPr>
              <a:t>clínicos </a:t>
            </a:r>
            <a:r>
              <a:rPr lang="es-MX" dirty="0" smtClean="0">
                <a:latin typeface="Arial" panose="020B0604020202020204" pitchFamily="34" charset="0"/>
                <a:cs typeface="Arial" panose="020B0604020202020204" pitchFamily="34" charset="0"/>
              </a:rPr>
              <a:t>específicos, </a:t>
            </a:r>
            <a:r>
              <a:rPr lang="es-MX" dirty="0">
                <a:latin typeface="Arial" panose="020B0604020202020204" pitchFamily="34" charset="0"/>
                <a:cs typeface="Arial" panose="020B0604020202020204" pitchFamily="34" charset="0"/>
              </a:rPr>
              <a:t>originados por la capacidad, por parte de algunos tumores endocrinos, de secretar sustancias biológicamente activas (hormonas, péptidos, aminas o </a:t>
            </a:r>
            <a:r>
              <a:rPr lang="es-MX" dirty="0" err="1">
                <a:latin typeface="Arial" panose="020B0604020202020204" pitchFamily="34" charset="0"/>
                <a:cs typeface="Arial" panose="020B0604020202020204" pitchFamily="34" charset="0"/>
              </a:rPr>
              <a:t>citocinas</a:t>
            </a:r>
            <a:r>
              <a:rPr lang="es-MX" dirty="0">
                <a:latin typeface="Arial" panose="020B0604020202020204" pitchFamily="34" charset="0"/>
                <a:cs typeface="Arial" panose="020B0604020202020204" pitchFamily="34" charset="0"/>
              </a:rPr>
              <a:t>).</a:t>
            </a:r>
          </a:p>
          <a:p>
            <a:pPr>
              <a:buFont typeface="Wingdings" panose="05000000000000000000" pitchFamily="2" charset="2"/>
              <a:buChar char="v"/>
            </a:pPr>
            <a:endParaRPr lang="es-MX" dirty="0">
              <a:latin typeface="Arial" panose="020B0604020202020204" pitchFamily="34" charset="0"/>
              <a:cs typeface="Arial" panose="020B0604020202020204" pitchFamily="34" charset="0"/>
            </a:endParaRPr>
          </a:p>
          <a:p>
            <a:pPr>
              <a:buFont typeface="Wingdings" panose="05000000000000000000" pitchFamily="2" charset="2"/>
              <a:buChar char="v"/>
            </a:pPr>
            <a:r>
              <a:rPr lang="es-MX" sz="2000" b="1" dirty="0">
                <a:latin typeface="Arial" panose="020B0604020202020204" pitchFamily="34" charset="0"/>
                <a:cs typeface="Arial" panose="020B0604020202020204" pitchFamily="34" charset="0"/>
              </a:rPr>
              <a:t>L</a:t>
            </a:r>
            <a:r>
              <a:rPr lang="es-MX" sz="2000" b="1" dirty="0" smtClean="0">
                <a:latin typeface="Arial" panose="020B0604020202020204" pitchFamily="34" charset="0"/>
                <a:cs typeface="Arial" panose="020B0604020202020204" pitchFamily="34" charset="0"/>
              </a:rPr>
              <a:t>as </a:t>
            </a:r>
            <a:r>
              <a:rPr lang="es-MX" sz="2000" b="1" dirty="0">
                <a:latin typeface="Arial" panose="020B0604020202020204" pitchFamily="34" charset="0"/>
                <a:cs typeface="Arial" panose="020B0604020202020204" pitchFamily="34" charset="0"/>
              </a:rPr>
              <a:t>endocrinopatías paraneoplásicas más frecuentes </a:t>
            </a:r>
            <a:r>
              <a:rPr lang="es-MX" sz="2000" b="1" dirty="0" smtClean="0">
                <a:latin typeface="Arial" panose="020B0604020202020204" pitchFamily="34" charset="0"/>
                <a:cs typeface="Arial" panose="020B0604020202020204" pitchFamily="34" charset="0"/>
              </a:rPr>
              <a:t>son:</a:t>
            </a:r>
          </a:p>
          <a:p>
            <a:pPr>
              <a:buFont typeface="Wingdings" panose="05000000000000000000" pitchFamily="2" charset="2"/>
              <a:buChar char="§"/>
            </a:pPr>
            <a:r>
              <a:rPr lang="es-MX" dirty="0">
                <a:latin typeface="Arial" panose="020B0604020202020204" pitchFamily="34" charset="0"/>
                <a:cs typeface="Arial" panose="020B0604020202020204" pitchFamily="34" charset="0"/>
              </a:rPr>
              <a:t>S</a:t>
            </a:r>
            <a:r>
              <a:rPr lang="es-MX" dirty="0" smtClean="0">
                <a:latin typeface="Arial" panose="020B0604020202020204" pitchFamily="34" charset="0"/>
                <a:cs typeface="Arial" panose="020B0604020202020204" pitchFamily="34" charset="0"/>
              </a:rPr>
              <a:t>índrome </a:t>
            </a:r>
            <a:r>
              <a:rPr lang="es-MX" dirty="0">
                <a:latin typeface="Arial" panose="020B0604020202020204" pitchFamily="34" charset="0"/>
                <a:cs typeface="Arial" panose="020B0604020202020204" pitchFamily="34" charset="0"/>
              </a:rPr>
              <a:t>de secreción ectópica de ACTH (cáncer de pulmón de células pequeñas y carcinoide bronquial</a:t>
            </a:r>
            <a:r>
              <a:rPr lang="es-MX" dirty="0" smtClean="0">
                <a:latin typeface="Arial" panose="020B0604020202020204" pitchFamily="34" charset="0"/>
                <a:cs typeface="Arial" panose="020B0604020202020204" pitchFamily="34" charset="0"/>
              </a:rPr>
              <a:t>). </a:t>
            </a:r>
          </a:p>
          <a:p>
            <a:pPr>
              <a:buFont typeface="Wingdings" panose="05000000000000000000" pitchFamily="2" charset="2"/>
              <a:buChar char="§"/>
            </a:pPr>
            <a:r>
              <a:rPr lang="es-MX" dirty="0">
                <a:latin typeface="Arial" panose="020B0604020202020204" pitchFamily="34" charset="0"/>
                <a:cs typeface="Arial" panose="020B0604020202020204" pitchFamily="34" charset="0"/>
              </a:rPr>
              <a:t>S</a:t>
            </a:r>
            <a:r>
              <a:rPr lang="es-MX" dirty="0" smtClean="0">
                <a:latin typeface="Arial" panose="020B0604020202020204" pitchFamily="34" charset="0"/>
                <a:cs typeface="Arial" panose="020B0604020202020204" pitchFamily="34" charset="0"/>
              </a:rPr>
              <a:t>índrome </a:t>
            </a:r>
            <a:r>
              <a:rPr lang="es-MX" dirty="0">
                <a:latin typeface="Arial" panose="020B0604020202020204" pitchFamily="34" charset="0"/>
                <a:cs typeface="Arial" panose="020B0604020202020204" pitchFamily="34" charset="0"/>
              </a:rPr>
              <a:t>de secreción inapropiada de ADH (cáncer de pulmón de células pequeñas</a:t>
            </a:r>
            <a:r>
              <a:rPr lang="es-MX" dirty="0" smtClean="0">
                <a:latin typeface="Arial" panose="020B0604020202020204" pitchFamily="34" charset="0"/>
                <a:cs typeface="Arial" panose="020B0604020202020204" pitchFamily="34" charset="0"/>
              </a:rPr>
              <a:t>).</a:t>
            </a:r>
          </a:p>
          <a:p>
            <a:pPr>
              <a:buFont typeface="Wingdings" panose="05000000000000000000" pitchFamily="2" charset="2"/>
              <a:buChar char="§"/>
            </a:pPr>
            <a:r>
              <a:rPr lang="es-MX" dirty="0">
                <a:latin typeface="Arial" panose="020B0604020202020204" pitchFamily="34" charset="0"/>
                <a:cs typeface="Arial" panose="020B0604020202020204" pitchFamily="34" charset="0"/>
              </a:rPr>
              <a:t>S</a:t>
            </a:r>
            <a:r>
              <a:rPr lang="es-MX" dirty="0" smtClean="0">
                <a:latin typeface="Arial" panose="020B0604020202020204" pitchFamily="34" charset="0"/>
                <a:cs typeface="Arial" panose="020B0604020202020204" pitchFamily="34" charset="0"/>
              </a:rPr>
              <a:t>índrome </a:t>
            </a:r>
            <a:r>
              <a:rPr lang="es-MX" dirty="0">
                <a:latin typeface="Arial" panose="020B0604020202020204" pitchFamily="34" charset="0"/>
                <a:cs typeface="Arial" panose="020B0604020202020204" pitchFamily="34" charset="0"/>
              </a:rPr>
              <a:t>de secreción inapropiada de otras hormonas hipofisarias por tumores no hipotálamo-hipofisarios (tumores testiculares, de células de islote </a:t>
            </a:r>
            <a:r>
              <a:rPr lang="es-MX" dirty="0" smtClean="0">
                <a:latin typeface="Arial" panose="020B0604020202020204" pitchFamily="34" charset="0"/>
                <a:cs typeface="Arial" panose="020B0604020202020204" pitchFamily="34" charset="0"/>
              </a:rPr>
              <a:t>pancreático).</a:t>
            </a:r>
          </a:p>
          <a:p>
            <a:pPr>
              <a:buFont typeface="Wingdings" panose="05000000000000000000" pitchFamily="2" charset="2"/>
              <a:buChar char="§"/>
            </a:pPr>
            <a:r>
              <a:rPr lang="es-MX" dirty="0">
                <a:latin typeface="Arial" panose="020B0604020202020204" pitchFamily="34" charset="0"/>
                <a:cs typeface="Arial" panose="020B0604020202020204" pitchFamily="34" charset="0"/>
              </a:rPr>
              <a:t>H</a:t>
            </a:r>
            <a:r>
              <a:rPr lang="es-MX" dirty="0" smtClean="0">
                <a:latin typeface="Arial" panose="020B0604020202020204" pitchFamily="34" charset="0"/>
                <a:cs typeface="Arial" panose="020B0604020202020204" pitchFamily="34" charset="0"/>
              </a:rPr>
              <a:t>ipercalcemia </a:t>
            </a:r>
            <a:r>
              <a:rPr lang="es-MX" dirty="0">
                <a:latin typeface="Arial" panose="020B0604020202020204" pitchFamily="34" charset="0"/>
                <a:cs typeface="Arial" panose="020B0604020202020204" pitchFamily="34" charset="0"/>
              </a:rPr>
              <a:t>asociada a neoplasias malignas </a:t>
            </a:r>
            <a:r>
              <a:rPr lang="es-MX" dirty="0" smtClean="0">
                <a:latin typeface="Arial" panose="020B0604020202020204" pitchFamily="34" charset="0"/>
                <a:cs typeface="Arial" panose="020B0604020202020204" pitchFamily="34" charset="0"/>
              </a:rPr>
              <a:t>(carcinomas escamosos).</a:t>
            </a:r>
            <a:endParaRPr lang="es-MX" dirty="0">
              <a:latin typeface="Arial" panose="020B0604020202020204" pitchFamily="34" charset="0"/>
              <a:cs typeface="Arial" panose="020B0604020202020204" pitchFamily="34" charset="0"/>
            </a:endParaRPr>
          </a:p>
          <a:p>
            <a:pPr>
              <a:buFont typeface="Wingdings" panose="05000000000000000000" pitchFamily="2" charset="2"/>
              <a:buChar char="§"/>
            </a:pPr>
            <a:r>
              <a:rPr lang="es-MX" dirty="0">
                <a:latin typeface="Arial" panose="020B0604020202020204" pitchFamily="34" charset="0"/>
                <a:cs typeface="Arial" panose="020B0604020202020204" pitchFamily="34" charset="0"/>
              </a:rPr>
              <a:t>H</a:t>
            </a:r>
            <a:r>
              <a:rPr lang="es-MX" dirty="0" smtClean="0">
                <a:latin typeface="Arial" panose="020B0604020202020204" pitchFamily="34" charset="0"/>
                <a:cs typeface="Arial" panose="020B0604020202020204" pitchFamily="34" charset="0"/>
              </a:rPr>
              <a:t>ipoglucemia </a:t>
            </a:r>
            <a:r>
              <a:rPr lang="es-MX" dirty="0">
                <a:latin typeface="Arial" panose="020B0604020202020204" pitchFamily="34" charset="0"/>
                <a:cs typeface="Arial" panose="020B0604020202020204" pitchFamily="34" charset="0"/>
              </a:rPr>
              <a:t>(asociada a </a:t>
            </a:r>
            <a:r>
              <a:rPr lang="es-MX" dirty="0"/>
              <a:t>neoplasias no endocrinas de origen </a:t>
            </a:r>
            <a:r>
              <a:rPr lang="es-MX" dirty="0" err="1"/>
              <a:t>mesenquimal</a:t>
            </a:r>
            <a:r>
              <a:rPr lang="es-MX" dirty="0"/>
              <a:t>).</a:t>
            </a:r>
            <a:endParaRPr lang="es-AR" dirty="0"/>
          </a:p>
        </p:txBody>
      </p:sp>
    </p:spTree>
    <p:extLst>
      <p:ext uri="{BB962C8B-B14F-4D97-AF65-F5344CB8AC3E}">
        <p14:creationId xmlns:p14="http://schemas.microsoft.com/office/powerpoint/2010/main" val="166057587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Office_29751844_TF22566005" id="{80212831-F4EA-4C99-9968-B3433CBDC81C}" vid="{6295953B-19A2-44E8-BAE7-B9BD1276CA9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10845B-7F19-4A9A-BEE4-BEF0501E1A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5274BF-C111-4B7A-8D90-F7666D37C131}">
  <ds:schemaRefs>
    <ds:schemaRef ds:uri="http://purl.org/dc/elements/1.1/"/>
    <ds:schemaRef ds:uri="http://schemas.microsoft.com/office/2006/documentManagement/types"/>
    <ds:schemaRef ds:uri="71af3243-3dd4-4a8d-8c0d-dd76da1f02a5"/>
    <ds:schemaRef ds:uri="http://www.w3.org/XML/1998/namespace"/>
    <ds:schemaRef ds:uri="16c05727-aa75-4e4a-9b5f-8a80a1165891"/>
    <ds:schemaRef ds:uri="http://purl.org/dc/terms/"/>
    <ds:schemaRef ds:uri="http://purl.org/dc/dcmityp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E0F1DF1E-36E3-406C-8CF7-DB13BB64708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Diseño futurista</Template>
  <TotalTime>0</TotalTime>
  <Words>2145</Words>
  <Application>Microsoft Office PowerPoint</Application>
  <PresentationFormat>Panorámica</PresentationFormat>
  <Paragraphs>223</Paragraphs>
  <Slides>37</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37</vt:i4>
      </vt:variant>
    </vt:vector>
  </HeadingPairs>
  <TitlesOfParts>
    <vt:vector size="42" baseType="lpstr">
      <vt:lpstr>Arial</vt:lpstr>
      <vt:lpstr>Calibri</vt:lpstr>
      <vt:lpstr>Calibri Light</vt:lpstr>
      <vt:lpstr>Wingdings</vt:lpstr>
      <vt:lpstr>Celestial</vt:lpstr>
      <vt:lpstr>MEDICINA INTERNA III</vt:lpstr>
      <vt:lpstr>Tumores endocrinos múltiples de base heredofamiliar </vt:lpstr>
      <vt:lpstr>MEN</vt:lpstr>
      <vt:lpstr>Presentación de PowerPoint</vt:lpstr>
      <vt:lpstr>NEM-I  síndrome de Werner </vt:lpstr>
      <vt:lpstr>MEN-1</vt:lpstr>
      <vt:lpstr>DIAGNÓSTICO</vt:lpstr>
      <vt:lpstr>TRATAMIENTO</vt:lpstr>
      <vt:lpstr>INSULINOMA</vt:lpstr>
      <vt:lpstr>DIAGNÓSTICO</vt:lpstr>
      <vt:lpstr>TRATAMIENTO</vt:lpstr>
      <vt:lpstr>Glucagonoma</vt:lpstr>
      <vt:lpstr>VI Poma </vt:lpstr>
      <vt:lpstr>SOMATOSTATINOMA</vt:lpstr>
      <vt:lpstr>Genética molecular </vt:lpstr>
      <vt:lpstr>ALGORITMO</vt:lpstr>
      <vt:lpstr>Presentación de PowerPoint</vt:lpstr>
      <vt:lpstr>MEN-Iia  síndrome de Sipple </vt:lpstr>
      <vt:lpstr>MEN-2</vt:lpstr>
      <vt:lpstr>MEN de tipos 2 y 3 </vt:lpstr>
      <vt:lpstr>Presentación de PowerPoint</vt:lpstr>
      <vt:lpstr>Presentación de PowerPoint</vt:lpstr>
      <vt:lpstr>Presentación de PowerPoint</vt:lpstr>
      <vt:lpstr>TRATAMIENTO</vt:lpstr>
      <vt:lpstr>Presentación de PowerPoint</vt:lpstr>
      <vt:lpstr>Tratamientos dirigidos para el CMT asociado a la MEN2</vt:lpstr>
      <vt:lpstr>Presentación de PowerPoint</vt:lpstr>
      <vt:lpstr>Presentación de PowerPoint</vt:lpstr>
      <vt:lpstr>Presentación de PowerPoint</vt:lpstr>
      <vt:lpstr>MEN DE TIPO 4</vt:lpstr>
      <vt:lpstr>MEN- 4</vt:lpstr>
      <vt:lpstr>Características clínicas y tratamiento</vt:lpstr>
      <vt:lpstr>Síndromes pluriglandulares de naturaleza autoinmunitaria  SAP</vt:lpstr>
      <vt:lpstr>SAP</vt:lpstr>
      <vt:lpstr>Sap - CLASIFICACIÓN</vt:lpstr>
      <vt:lpstr>Presentación de PowerPoint</vt:lpstr>
      <vt:lpstr>Endocrinopatías paraneoplásicas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2023-10-24T02:13:36Z</dcterms:created>
  <dcterms:modified xsi:type="dcterms:W3CDTF">2026-08-27T14:40:51Z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