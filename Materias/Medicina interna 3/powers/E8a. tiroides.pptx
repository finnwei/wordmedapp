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451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5A9087-AE6B-443E-A71F-EFD51EDB3750}" type="datetimeFigureOut">
              <a:rPr lang="es-AR" smtClean="0"/>
              <a:t>19/8/2025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9CF37A-6EBC-4C55-A96B-6FA6E3C80C9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13616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9CF37A-6EBC-4C55-A96B-6FA6E3C80C9C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75472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BEBE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BEBE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BEBE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BEBE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670047"/>
            <a:ext cx="4035551" cy="418795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2892551"/>
            <a:ext cx="1522475" cy="236524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09076" y="1676400"/>
            <a:ext cx="2819400" cy="28194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999476" y="0"/>
            <a:ext cx="1603247" cy="114147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609076" y="6095999"/>
            <a:ext cx="993648" cy="76200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398252" y="0"/>
            <a:ext cx="760488" cy="1203960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0437876" y="0"/>
            <a:ext cx="685800" cy="1143000"/>
          </a:xfrm>
          <a:custGeom>
            <a:avLst/>
            <a:gdLst/>
            <a:ahLst/>
            <a:cxnLst/>
            <a:rect l="l" t="t" r="r" b="b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B311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9727" y="284479"/>
            <a:ext cx="9531350" cy="10066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BEBE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5700" y="1907540"/>
            <a:ext cx="8338820" cy="3714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0520" y="907795"/>
            <a:ext cx="5194300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dirty="0">
                <a:solidFill>
                  <a:srgbClr val="F48BC3"/>
                </a:solidFill>
              </a:rPr>
              <a:t>MEDICINA</a:t>
            </a:r>
            <a:r>
              <a:rPr sz="3800" spc="-215" dirty="0">
                <a:solidFill>
                  <a:srgbClr val="F48BC3"/>
                </a:solidFill>
              </a:rPr>
              <a:t> </a:t>
            </a:r>
            <a:r>
              <a:rPr sz="3800" spc="-10" dirty="0">
                <a:solidFill>
                  <a:srgbClr val="F48BC3"/>
                </a:solidFill>
              </a:rPr>
              <a:t>INTERNA</a:t>
            </a:r>
            <a:r>
              <a:rPr sz="3800" spc="-190" dirty="0">
                <a:solidFill>
                  <a:srgbClr val="F48BC3"/>
                </a:solidFill>
              </a:rPr>
              <a:t> </a:t>
            </a:r>
            <a:r>
              <a:rPr sz="3800" spc="-25" dirty="0">
                <a:solidFill>
                  <a:srgbClr val="F48BC3"/>
                </a:solidFill>
              </a:rPr>
              <a:t>III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2528442" y="1949983"/>
            <a:ext cx="6096000" cy="309405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4510" marR="520700" algn="ctr">
              <a:lnSpc>
                <a:spcPct val="129900"/>
              </a:lnSpc>
              <a:spcBef>
                <a:spcPts val="95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Ciencias</a:t>
            </a:r>
            <a:r>
              <a:rPr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FFFFFF"/>
                </a:solidFill>
                <a:latin typeface="Arial"/>
                <a:cs typeface="Arial"/>
              </a:rPr>
              <a:t>Médicas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Universidad</a:t>
            </a:r>
            <a:r>
              <a:rPr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spc="-10" dirty="0" smtClean="0">
                <a:solidFill>
                  <a:srgbClr val="FFFFFF"/>
                </a:solidFill>
                <a:latin typeface="Arial"/>
                <a:cs typeface="Arial"/>
              </a:rPr>
              <a:t>Mendoza</a:t>
            </a:r>
            <a:endParaRPr lang="es-AR" b="1" spc="-10" dirty="0" smtClean="0">
              <a:solidFill>
                <a:srgbClr val="FFFFFF"/>
              </a:solidFill>
              <a:latin typeface="Arial"/>
              <a:cs typeface="Arial"/>
            </a:endParaRPr>
          </a:p>
          <a:p>
            <a:pPr marL="524510" marR="520700" algn="ctr">
              <a:lnSpc>
                <a:spcPct val="129900"/>
              </a:lnSpc>
              <a:spcBef>
                <a:spcPts val="95"/>
              </a:spcBef>
            </a:pPr>
            <a:r>
              <a:rPr b="1" spc="-10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SEDE</a:t>
            </a:r>
            <a:r>
              <a:rPr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SAN</a:t>
            </a:r>
            <a:r>
              <a:rPr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spc="-10" dirty="0" smtClean="0">
                <a:solidFill>
                  <a:srgbClr val="FFFFFF"/>
                </a:solidFill>
                <a:latin typeface="Arial"/>
                <a:cs typeface="Arial"/>
              </a:rPr>
              <a:t>RAFAEL</a:t>
            </a:r>
            <a:endParaRPr lang="es-AR" b="1" spc="-10" dirty="0" smtClean="0">
              <a:solidFill>
                <a:srgbClr val="FFFFFF"/>
              </a:solidFill>
              <a:latin typeface="Arial"/>
              <a:cs typeface="Arial"/>
            </a:endParaRPr>
          </a:p>
          <a:p>
            <a:pPr marL="524510" marR="520700" algn="ctr">
              <a:lnSpc>
                <a:spcPct val="129900"/>
              </a:lnSpc>
              <a:spcBef>
                <a:spcPts val="95"/>
              </a:spcBef>
            </a:pPr>
            <a:endParaRPr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tabLst>
                <a:tab pos="2642870" algn="l"/>
              </a:tabLst>
            </a:pPr>
            <a:r>
              <a:rPr sz="2000" b="1" spc="-10" dirty="0" smtClean="0">
                <a:solidFill>
                  <a:srgbClr val="FFFFFF"/>
                </a:solidFill>
                <a:latin typeface="Arial"/>
                <a:cs typeface="Arial"/>
              </a:rPr>
              <a:t>ENDOCRINOLOGÍA</a:t>
            </a:r>
            <a:r>
              <a:rPr sz="2000" b="1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DIABETOLOGÍA</a:t>
            </a:r>
            <a:endParaRPr sz="20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94"/>
              </a:spcBef>
            </a:pPr>
            <a:r>
              <a:rPr sz="2000" b="1" dirty="0" err="1" smtClean="0">
                <a:solidFill>
                  <a:srgbClr val="FFFFFF"/>
                </a:solidFill>
                <a:latin typeface="Arial"/>
                <a:cs typeface="Arial"/>
              </a:rPr>
              <a:t>Dr</a:t>
            </a:r>
            <a:r>
              <a:rPr lang="es-AR" sz="2000" b="1" dirty="0" smtClean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sz="2000" b="1" spc="-2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Roberto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Pelayes</a:t>
            </a:r>
            <a:r>
              <a:rPr sz="20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Profesor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Adjunto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 smtClean="0">
                <a:solidFill>
                  <a:srgbClr val="FFFFFF"/>
                </a:solidFill>
                <a:latin typeface="Arial"/>
                <a:cs typeface="Arial"/>
              </a:rPr>
              <a:t>Cargo</a:t>
            </a:r>
            <a:endParaRPr lang="es-AR" sz="2000" b="1" spc="-10" dirty="0" smtClean="0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94"/>
              </a:spcBef>
            </a:pPr>
            <a:endParaRPr lang="es-AR" sz="2000" b="1" spc="-10" dirty="0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94"/>
              </a:spcBef>
            </a:pPr>
            <a:r>
              <a:rPr lang="es-AR" sz="2000" b="1" spc="-10" dirty="0" err="1" smtClean="0">
                <a:solidFill>
                  <a:srgbClr val="FFFFFF"/>
                </a:solidFill>
                <a:latin typeface="Arial"/>
                <a:cs typeface="Arial"/>
              </a:rPr>
              <a:t>Dr</a:t>
            </a:r>
            <a:r>
              <a:rPr sz="2000" b="1" spc="-10" dirty="0" smtClean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lang="es-AR" sz="2000" b="1" spc="-10" dirty="0" smtClean="0">
                <a:solidFill>
                  <a:srgbClr val="FFFFFF"/>
                </a:solidFill>
                <a:latin typeface="Arial"/>
                <a:cs typeface="Arial"/>
              </a:rPr>
              <a:t> Franco </a:t>
            </a:r>
            <a:r>
              <a:rPr lang="es-AR" sz="2000" b="1" spc="-10" dirty="0" err="1" smtClean="0">
                <a:solidFill>
                  <a:srgbClr val="FFFFFF"/>
                </a:solidFill>
                <a:latin typeface="Arial"/>
                <a:cs typeface="Arial"/>
              </a:rPr>
              <a:t>Bellomo</a:t>
            </a:r>
            <a:r>
              <a:rPr lang="es-AR" sz="2000" b="1" spc="-10" dirty="0" smtClean="0">
                <a:solidFill>
                  <a:srgbClr val="FFFFFF"/>
                </a:solidFill>
                <a:latin typeface="Arial"/>
                <a:cs typeface="Arial"/>
              </a:rPr>
              <a:t> - Médico </a:t>
            </a:r>
            <a:r>
              <a:rPr lang="es-AR" sz="2000" b="1" spc="-10" dirty="0" err="1" smtClean="0">
                <a:solidFill>
                  <a:srgbClr val="FFFFFF"/>
                </a:solidFill>
                <a:latin typeface="Arial"/>
                <a:cs typeface="Arial"/>
              </a:rPr>
              <a:t>Diabetólogo</a:t>
            </a:r>
            <a:r>
              <a:rPr lang="es-AR" sz="2000" b="1" spc="-10" dirty="0" smtClean="0">
                <a:solidFill>
                  <a:srgbClr val="FFFFFF"/>
                </a:solidFill>
                <a:latin typeface="Arial"/>
                <a:cs typeface="Arial"/>
              </a:rPr>
              <a:t>  J.T.P.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6111" y="713231"/>
            <a:ext cx="1389888" cy="1121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47259" y="1618488"/>
            <a:ext cx="3913632" cy="376275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55357" y="3155188"/>
            <a:ext cx="2868295" cy="485140"/>
            <a:chOff x="1055357" y="3155188"/>
            <a:chExt cx="2868295" cy="48514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4419" y="3172955"/>
              <a:ext cx="2849118" cy="46711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5357" y="3155188"/>
              <a:ext cx="2849384" cy="46532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36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5"/>
              </a:spcBef>
            </a:pPr>
            <a:r>
              <a:rPr dirty="0"/>
              <a:t>GLANDULA</a:t>
            </a:r>
            <a:r>
              <a:rPr spc="-155" dirty="0"/>
              <a:t> </a:t>
            </a:r>
            <a:r>
              <a:rPr dirty="0"/>
              <a:t>TIROIDES</a:t>
            </a:r>
            <a:r>
              <a:rPr spc="-35" dirty="0"/>
              <a:t> </a:t>
            </a:r>
            <a:r>
              <a:rPr dirty="0"/>
              <a:t>-</a:t>
            </a:r>
            <a:r>
              <a:rPr spc="-125" dirty="0"/>
              <a:t> </a:t>
            </a:r>
            <a:r>
              <a:rPr spc="-25" dirty="0"/>
              <a:t>ANATOMIA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0096" y="1853183"/>
            <a:ext cx="4044696" cy="461772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908547" y="1815083"/>
            <a:ext cx="4250690" cy="4693920"/>
            <a:chOff x="5908547" y="1815083"/>
            <a:chExt cx="4250690" cy="46939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6647" y="1853183"/>
              <a:ext cx="4174236" cy="461772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27597" y="1834133"/>
              <a:ext cx="4212590" cy="4655820"/>
            </a:xfrm>
            <a:custGeom>
              <a:avLst/>
              <a:gdLst/>
              <a:ahLst/>
              <a:cxnLst/>
              <a:rect l="l" t="t" r="r" b="b"/>
              <a:pathLst>
                <a:path w="4212590" h="4655820">
                  <a:moveTo>
                    <a:pt x="0" y="4655820"/>
                  </a:moveTo>
                  <a:lnTo>
                    <a:pt x="4212336" y="4655820"/>
                  </a:lnTo>
                  <a:lnTo>
                    <a:pt x="4212336" y="0"/>
                  </a:lnTo>
                  <a:lnTo>
                    <a:pt x="0" y="0"/>
                  </a:lnTo>
                  <a:lnTo>
                    <a:pt x="0" y="4655820"/>
                  </a:lnTo>
                  <a:close/>
                </a:path>
              </a:pathLst>
            </a:custGeom>
            <a:ln w="38100">
              <a:solidFill>
                <a:srgbClr val="D43C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916" y="473709"/>
            <a:ext cx="781748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GLANDULA</a:t>
            </a:r>
            <a:r>
              <a:rPr spc="-175" dirty="0"/>
              <a:t> </a:t>
            </a:r>
            <a:r>
              <a:rPr dirty="0"/>
              <a:t>TIROIDES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40" dirty="0"/>
              <a:t>VISTA</a:t>
            </a:r>
            <a:r>
              <a:rPr spc="-140" dirty="0"/>
              <a:t> </a:t>
            </a:r>
            <a:r>
              <a:rPr spc="-10" dirty="0"/>
              <a:t>LATERAL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67355" y="1869948"/>
            <a:ext cx="7356475" cy="4464050"/>
            <a:chOff x="2467355" y="1869948"/>
            <a:chExt cx="7356475" cy="4464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05455" y="1908048"/>
              <a:ext cx="7280148" cy="43875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486405" y="1888998"/>
              <a:ext cx="7318375" cy="4425950"/>
            </a:xfrm>
            <a:custGeom>
              <a:avLst/>
              <a:gdLst/>
              <a:ahLst/>
              <a:cxnLst/>
              <a:rect l="l" t="t" r="r" b="b"/>
              <a:pathLst>
                <a:path w="7318375" h="4425950">
                  <a:moveTo>
                    <a:pt x="0" y="4425696"/>
                  </a:moveTo>
                  <a:lnTo>
                    <a:pt x="7318248" y="4425696"/>
                  </a:lnTo>
                  <a:lnTo>
                    <a:pt x="7318248" y="0"/>
                  </a:lnTo>
                  <a:lnTo>
                    <a:pt x="0" y="0"/>
                  </a:lnTo>
                  <a:lnTo>
                    <a:pt x="0" y="4425696"/>
                  </a:lnTo>
                  <a:close/>
                </a:path>
              </a:pathLst>
            </a:custGeom>
            <a:ln w="38100">
              <a:solidFill>
                <a:srgbClr val="D43C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27860" y="199644"/>
            <a:ext cx="8213090" cy="6196965"/>
            <a:chOff x="1927860" y="199644"/>
            <a:chExt cx="8213090" cy="61969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5960" y="237744"/>
              <a:ext cx="8136636" cy="612038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946910" y="218694"/>
              <a:ext cx="8174990" cy="6158865"/>
            </a:xfrm>
            <a:custGeom>
              <a:avLst/>
              <a:gdLst/>
              <a:ahLst/>
              <a:cxnLst/>
              <a:rect l="l" t="t" r="r" b="b"/>
              <a:pathLst>
                <a:path w="8174990" h="6158865">
                  <a:moveTo>
                    <a:pt x="0" y="6158483"/>
                  </a:moveTo>
                  <a:lnTo>
                    <a:pt x="8174736" y="6158483"/>
                  </a:lnTo>
                  <a:lnTo>
                    <a:pt x="8174736" y="0"/>
                  </a:lnTo>
                  <a:lnTo>
                    <a:pt x="0" y="0"/>
                  </a:lnTo>
                  <a:lnTo>
                    <a:pt x="0" y="6158483"/>
                  </a:lnTo>
                  <a:close/>
                </a:path>
              </a:pathLst>
            </a:custGeom>
            <a:ln w="38099">
              <a:solidFill>
                <a:srgbClr val="D43C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934">
              <a:lnSpc>
                <a:spcPct val="100000"/>
              </a:lnSpc>
              <a:spcBef>
                <a:spcPts val="100"/>
              </a:spcBef>
            </a:pPr>
            <a:r>
              <a:rPr dirty="0"/>
              <a:t>TIROIDES</a:t>
            </a:r>
            <a:r>
              <a:rPr spc="-5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HISTOLOGIA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53767" y="1359408"/>
            <a:ext cx="8289290" cy="4593590"/>
            <a:chOff x="1953767" y="1359408"/>
            <a:chExt cx="8289290" cy="45935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91867" y="1397507"/>
              <a:ext cx="8212835" cy="45171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972817" y="1378458"/>
              <a:ext cx="8251190" cy="4555490"/>
            </a:xfrm>
            <a:custGeom>
              <a:avLst/>
              <a:gdLst/>
              <a:ahLst/>
              <a:cxnLst/>
              <a:rect l="l" t="t" r="r" b="b"/>
              <a:pathLst>
                <a:path w="8251190" h="4555490">
                  <a:moveTo>
                    <a:pt x="0" y="4555236"/>
                  </a:moveTo>
                  <a:lnTo>
                    <a:pt x="8250935" y="4555236"/>
                  </a:lnTo>
                  <a:lnTo>
                    <a:pt x="8250935" y="0"/>
                  </a:lnTo>
                  <a:lnTo>
                    <a:pt x="0" y="0"/>
                  </a:lnTo>
                  <a:lnTo>
                    <a:pt x="0" y="4555236"/>
                  </a:lnTo>
                  <a:close/>
                </a:path>
              </a:pathLst>
            </a:custGeom>
            <a:ln w="38100">
              <a:solidFill>
                <a:srgbClr val="D43C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105"/>
              </a:spcBef>
            </a:pPr>
            <a:r>
              <a:rPr dirty="0"/>
              <a:t>TIROIDES</a:t>
            </a:r>
            <a:r>
              <a:rPr spc="-25" dirty="0"/>
              <a:t> </a:t>
            </a:r>
            <a:r>
              <a:rPr spc="-10" dirty="0"/>
              <a:t>HISTOLOGIA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908" y="1484375"/>
            <a:ext cx="4466844" cy="48981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22847" y="1484375"/>
            <a:ext cx="4273296" cy="48981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60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REGULACIÓN</a:t>
            </a:r>
            <a:r>
              <a:rPr spc="-3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LA</a:t>
            </a:r>
            <a:r>
              <a:rPr spc="-120" dirty="0"/>
              <a:t> </a:t>
            </a:r>
            <a:r>
              <a:rPr dirty="0"/>
              <a:t>SECRECIÓN</a:t>
            </a:r>
            <a:r>
              <a:rPr spc="-15" dirty="0"/>
              <a:t> </a:t>
            </a:r>
            <a:r>
              <a:rPr spc="-10" dirty="0"/>
              <a:t>TIROIDEA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44039" y="1368552"/>
            <a:ext cx="8068309" cy="5143500"/>
            <a:chOff x="1844039" y="1368552"/>
            <a:chExt cx="8068309" cy="5143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2139" y="1406652"/>
              <a:ext cx="7991856" cy="5067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63089" y="1387602"/>
              <a:ext cx="8030209" cy="5105400"/>
            </a:xfrm>
            <a:custGeom>
              <a:avLst/>
              <a:gdLst/>
              <a:ahLst/>
              <a:cxnLst/>
              <a:rect l="l" t="t" r="r" b="b"/>
              <a:pathLst>
                <a:path w="8030209" h="5105400">
                  <a:moveTo>
                    <a:pt x="0" y="5105400"/>
                  </a:moveTo>
                  <a:lnTo>
                    <a:pt x="8029956" y="5105400"/>
                  </a:lnTo>
                  <a:lnTo>
                    <a:pt x="8029956" y="0"/>
                  </a:lnTo>
                  <a:lnTo>
                    <a:pt x="0" y="0"/>
                  </a:lnTo>
                  <a:lnTo>
                    <a:pt x="0" y="5105400"/>
                  </a:lnTo>
                  <a:close/>
                </a:path>
              </a:pathLst>
            </a:custGeom>
            <a:ln w="38100">
              <a:solidFill>
                <a:srgbClr val="D43C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00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INGESTA</a:t>
            </a:r>
            <a:r>
              <a:rPr spc="-160" dirty="0"/>
              <a:t> </a:t>
            </a:r>
            <a:r>
              <a:rPr dirty="0"/>
              <a:t>NORMAL</a:t>
            </a:r>
            <a:r>
              <a:rPr spc="-9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YODUROS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37360" y="1086611"/>
            <a:ext cx="8350250" cy="5299075"/>
            <a:chOff x="1737360" y="1086611"/>
            <a:chExt cx="8350250" cy="52990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5460" y="1124711"/>
              <a:ext cx="8273796" cy="52227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56410" y="1105661"/>
              <a:ext cx="8312150" cy="5260975"/>
            </a:xfrm>
            <a:custGeom>
              <a:avLst/>
              <a:gdLst/>
              <a:ahLst/>
              <a:cxnLst/>
              <a:rect l="l" t="t" r="r" b="b"/>
              <a:pathLst>
                <a:path w="8312150" h="5260975">
                  <a:moveTo>
                    <a:pt x="0" y="5260848"/>
                  </a:moveTo>
                  <a:lnTo>
                    <a:pt x="8311896" y="5260848"/>
                  </a:lnTo>
                  <a:lnTo>
                    <a:pt x="8311896" y="0"/>
                  </a:lnTo>
                  <a:lnTo>
                    <a:pt x="0" y="0"/>
                  </a:lnTo>
                  <a:lnTo>
                    <a:pt x="0" y="5260848"/>
                  </a:lnTo>
                  <a:close/>
                </a:path>
              </a:pathLst>
            </a:custGeom>
            <a:ln w="38100">
              <a:solidFill>
                <a:srgbClr val="D43C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INGESTA</a:t>
            </a:r>
            <a:r>
              <a:rPr spc="-150" dirty="0"/>
              <a:t> </a:t>
            </a:r>
            <a:r>
              <a:rPr dirty="0"/>
              <a:t>DISMINUIDA</a:t>
            </a:r>
            <a:r>
              <a:rPr spc="-16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YODUROS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78507" y="1175003"/>
            <a:ext cx="8371840" cy="5242560"/>
            <a:chOff x="1778507" y="1175003"/>
            <a:chExt cx="8371840" cy="52425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6607" y="1213103"/>
              <a:ext cx="8295132" cy="51663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97557" y="1194053"/>
              <a:ext cx="8333740" cy="5204460"/>
            </a:xfrm>
            <a:custGeom>
              <a:avLst/>
              <a:gdLst/>
              <a:ahLst/>
              <a:cxnLst/>
              <a:rect l="l" t="t" r="r" b="b"/>
              <a:pathLst>
                <a:path w="8333740" h="5204460">
                  <a:moveTo>
                    <a:pt x="0" y="5204460"/>
                  </a:moveTo>
                  <a:lnTo>
                    <a:pt x="8333232" y="5204460"/>
                  </a:lnTo>
                  <a:lnTo>
                    <a:pt x="8333232" y="0"/>
                  </a:lnTo>
                  <a:lnTo>
                    <a:pt x="0" y="0"/>
                  </a:lnTo>
                  <a:lnTo>
                    <a:pt x="0" y="5204460"/>
                  </a:lnTo>
                  <a:close/>
                </a:path>
              </a:pathLst>
            </a:custGeom>
            <a:ln w="38099">
              <a:solidFill>
                <a:srgbClr val="D43C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249554">
              <a:lnSpc>
                <a:spcPct val="100000"/>
              </a:lnSpc>
              <a:spcBef>
                <a:spcPts val="105"/>
              </a:spcBef>
            </a:pPr>
            <a:r>
              <a:rPr dirty="0"/>
              <a:t>SÍNTESIS</a:t>
            </a:r>
            <a:r>
              <a:rPr spc="-15" dirty="0"/>
              <a:t> </a:t>
            </a:r>
            <a:r>
              <a:rPr dirty="0"/>
              <a:t>DE</a:t>
            </a:r>
            <a:r>
              <a:rPr spc="-5" dirty="0"/>
              <a:t> </a:t>
            </a:r>
            <a:r>
              <a:rPr dirty="0"/>
              <a:t>HORMONAS</a:t>
            </a:r>
            <a:r>
              <a:rPr spc="-30" dirty="0"/>
              <a:t> </a:t>
            </a:r>
            <a:r>
              <a:rPr spc="-10" dirty="0"/>
              <a:t>TIROIDEAS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0700" y="1709927"/>
            <a:ext cx="84825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126" rIns="0" bIns="0" rtlCol="0">
            <a:spAutoFit/>
          </a:bodyPr>
          <a:lstStyle/>
          <a:p>
            <a:pPr marL="179705">
              <a:lnSpc>
                <a:spcPct val="100000"/>
              </a:lnSpc>
              <a:spcBef>
                <a:spcPts val="105"/>
              </a:spcBef>
            </a:pPr>
            <a:r>
              <a:rPr dirty="0"/>
              <a:t>SÍNTESIS</a:t>
            </a:r>
            <a:r>
              <a:rPr spc="-1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HORMONAS</a:t>
            </a:r>
            <a:r>
              <a:rPr spc="-20" dirty="0"/>
              <a:t> </a:t>
            </a:r>
            <a:r>
              <a:rPr spc="-10" dirty="0"/>
              <a:t>TIROIDEAS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15667" y="1403603"/>
            <a:ext cx="8260080" cy="4883150"/>
            <a:chOff x="1915667" y="1403603"/>
            <a:chExt cx="8260080" cy="4883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3767" y="1441703"/>
              <a:ext cx="8183880" cy="48066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934717" y="1422653"/>
              <a:ext cx="8221980" cy="4845050"/>
            </a:xfrm>
            <a:custGeom>
              <a:avLst/>
              <a:gdLst/>
              <a:ahLst/>
              <a:cxnLst/>
              <a:rect l="l" t="t" r="r" b="b"/>
              <a:pathLst>
                <a:path w="8221980" h="4845050">
                  <a:moveTo>
                    <a:pt x="0" y="4844796"/>
                  </a:moveTo>
                  <a:lnTo>
                    <a:pt x="8221980" y="4844796"/>
                  </a:lnTo>
                  <a:lnTo>
                    <a:pt x="8221980" y="0"/>
                  </a:lnTo>
                  <a:lnTo>
                    <a:pt x="0" y="0"/>
                  </a:lnTo>
                  <a:lnTo>
                    <a:pt x="0" y="4844796"/>
                  </a:lnTo>
                  <a:close/>
                </a:path>
              </a:pathLst>
            </a:custGeom>
            <a:ln w="38100">
              <a:solidFill>
                <a:srgbClr val="D43C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6222" rIns="0" bIns="0" rtlCol="0">
            <a:spAutoFit/>
          </a:bodyPr>
          <a:lstStyle/>
          <a:p>
            <a:pPr marL="390525">
              <a:lnSpc>
                <a:spcPct val="100000"/>
              </a:lnSpc>
              <a:spcBef>
                <a:spcPts val="105"/>
              </a:spcBef>
            </a:pPr>
            <a:r>
              <a:rPr dirty="0"/>
              <a:t>HORMONAS</a:t>
            </a:r>
            <a:r>
              <a:rPr spc="-35" dirty="0"/>
              <a:t> </a:t>
            </a:r>
            <a:r>
              <a:rPr spc="-10" dirty="0"/>
              <a:t>TIROIDEAS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35835" y="2316479"/>
            <a:ext cx="8373109" cy="3237230"/>
            <a:chOff x="1735835" y="2316479"/>
            <a:chExt cx="8373109" cy="32372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3747" y="2374391"/>
              <a:ext cx="8257032" cy="31211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64791" y="2345435"/>
              <a:ext cx="8315325" cy="3179445"/>
            </a:xfrm>
            <a:custGeom>
              <a:avLst/>
              <a:gdLst/>
              <a:ahLst/>
              <a:cxnLst/>
              <a:rect l="l" t="t" r="r" b="b"/>
              <a:pathLst>
                <a:path w="8315325" h="3179445">
                  <a:moveTo>
                    <a:pt x="0" y="3179064"/>
                  </a:moveTo>
                  <a:lnTo>
                    <a:pt x="8314944" y="3179064"/>
                  </a:lnTo>
                  <a:lnTo>
                    <a:pt x="8314944" y="0"/>
                  </a:lnTo>
                  <a:lnTo>
                    <a:pt x="0" y="0"/>
                  </a:lnTo>
                  <a:lnTo>
                    <a:pt x="0" y="3179064"/>
                  </a:lnTo>
                  <a:close/>
                </a:path>
              </a:pathLst>
            </a:custGeom>
            <a:ln w="57912">
              <a:solidFill>
                <a:srgbClr val="D43C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343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CIRCULACIÓN</a:t>
            </a:r>
            <a:r>
              <a:rPr sz="2800" spc="-75" dirty="0"/>
              <a:t> </a:t>
            </a:r>
            <a:r>
              <a:rPr sz="2800" dirty="0"/>
              <a:t>DE</a:t>
            </a:r>
            <a:r>
              <a:rPr sz="2800" spc="-120" dirty="0"/>
              <a:t> </a:t>
            </a:r>
            <a:r>
              <a:rPr sz="2800" dirty="0"/>
              <a:t>LAS</a:t>
            </a:r>
            <a:r>
              <a:rPr sz="2800" spc="-110" dirty="0"/>
              <a:t> </a:t>
            </a:r>
            <a:r>
              <a:rPr sz="2800" dirty="0"/>
              <a:t>HORMONAS</a:t>
            </a:r>
            <a:r>
              <a:rPr sz="2800" spc="-80" dirty="0"/>
              <a:t> </a:t>
            </a:r>
            <a:r>
              <a:rPr sz="2800" spc="-10" dirty="0"/>
              <a:t>TIROIDEAS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2644139" y="1965960"/>
            <a:ext cx="6388735" cy="4076700"/>
            <a:chOff x="2644139" y="1965960"/>
            <a:chExt cx="6388735" cy="40767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2239" y="2004055"/>
              <a:ext cx="6241445" cy="400034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663189" y="1985010"/>
              <a:ext cx="6350635" cy="4038600"/>
            </a:xfrm>
            <a:custGeom>
              <a:avLst/>
              <a:gdLst/>
              <a:ahLst/>
              <a:cxnLst/>
              <a:rect l="l" t="t" r="r" b="b"/>
              <a:pathLst>
                <a:path w="6350634" h="4038600">
                  <a:moveTo>
                    <a:pt x="0" y="4038600"/>
                  </a:moveTo>
                  <a:lnTo>
                    <a:pt x="6350508" y="4038600"/>
                  </a:lnTo>
                  <a:lnTo>
                    <a:pt x="6350508" y="0"/>
                  </a:lnTo>
                  <a:lnTo>
                    <a:pt x="0" y="0"/>
                  </a:lnTo>
                  <a:lnTo>
                    <a:pt x="0" y="4038600"/>
                  </a:lnTo>
                  <a:close/>
                </a:path>
              </a:pathLst>
            </a:custGeom>
            <a:ln w="38100">
              <a:solidFill>
                <a:srgbClr val="D43C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343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CIRCULACIÓN</a:t>
            </a:r>
            <a:r>
              <a:rPr sz="2800" spc="-75" dirty="0"/>
              <a:t> </a:t>
            </a:r>
            <a:r>
              <a:rPr sz="2800" dirty="0"/>
              <a:t>DE</a:t>
            </a:r>
            <a:r>
              <a:rPr sz="2800" spc="-120" dirty="0"/>
              <a:t> </a:t>
            </a:r>
            <a:r>
              <a:rPr sz="2800" dirty="0"/>
              <a:t>LAS</a:t>
            </a:r>
            <a:r>
              <a:rPr sz="2800" spc="-110" dirty="0"/>
              <a:t> </a:t>
            </a:r>
            <a:r>
              <a:rPr sz="2800" dirty="0"/>
              <a:t>HORMONAS</a:t>
            </a:r>
            <a:r>
              <a:rPr sz="2800" spc="-70" dirty="0"/>
              <a:t> </a:t>
            </a:r>
            <a:r>
              <a:rPr sz="2800" spc="-10" dirty="0"/>
              <a:t>TIROIDEAS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2244851" y="1466088"/>
            <a:ext cx="7348855" cy="4841875"/>
            <a:chOff x="2244851" y="1466088"/>
            <a:chExt cx="7348855" cy="48418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2951" y="1504011"/>
              <a:ext cx="7241540" cy="476540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63901" y="1485138"/>
              <a:ext cx="7310755" cy="4803775"/>
            </a:xfrm>
            <a:custGeom>
              <a:avLst/>
              <a:gdLst/>
              <a:ahLst/>
              <a:cxnLst/>
              <a:rect l="l" t="t" r="r" b="b"/>
              <a:pathLst>
                <a:path w="7310755" h="4803775">
                  <a:moveTo>
                    <a:pt x="0" y="4803648"/>
                  </a:moveTo>
                  <a:lnTo>
                    <a:pt x="7310628" y="4803648"/>
                  </a:lnTo>
                  <a:lnTo>
                    <a:pt x="7310628" y="0"/>
                  </a:lnTo>
                  <a:lnTo>
                    <a:pt x="0" y="0"/>
                  </a:lnTo>
                  <a:lnTo>
                    <a:pt x="0" y="4803648"/>
                  </a:lnTo>
                  <a:close/>
                </a:path>
              </a:pathLst>
            </a:custGeom>
            <a:ln w="38100">
              <a:solidFill>
                <a:srgbClr val="D43C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5569" y="1724406"/>
              <a:ext cx="1784604" cy="36880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655570" y="1724405"/>
            <a:ext cx="1784985" cy="368935"/>
          </a:xfrm>
          <a:prstGeom prst="rect">
            <a:avLst/>
          </a:prstGeom>
          <a:ln w="19811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305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INCREMENTO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22314" y="1724405"/>
            <a:ext cx="2057399" cy="36880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322314" y="1724405"/>
            <a:ext cx="2057400" cy="368935"/>
          </a:xfrm>
          <a:prstGeom prst="rect">
            <a:avLst/>
          </a:prstGeom>
          <a:ln w="19811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259715">
              <a:lnSpc>
                <a:spcPct val="100000"/>
              </a:lnSpc>
              <a:spcBef>
                <a:spcPts val="305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DISMINUCIÓN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95750" y="4642865"/>
            <a:ext cx="2506979" cy="30784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95750" y="4642865"/>
            <a:ext cx="2506980" cy="307975"/>
          </a:xfrm>
          <a:prstGeom prst="rect">
            <a:avLst/>
          </a:prstGeom>
          <a:ln w="19811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94945">
              <a:lnSpc>
                <a:spcPct val="100000"/>
              </a:lnSpc>
              <a:spcBef>
                <a:spcPts val="320"/>
              </a:spcBef>
            </a:pPr>
            <a:r>
              <a:rPr sz="1400" b="1" spc="-20" dirty="0">
                <a:latin typeface="Arial"/>
                <a:cs typeface="Arial"/>
              </a:rPr>
              <a:t>FACTORES</a:t>
            </a:r>
            <a:r>
              <a:rPr sz="1400" b="1" spc="-10" dirty="0">
                <a:latin typeface="Arial"/>
                <a:cs typeface="Arial"/>
              </a:rPr>
              <a:t> SISTÉMICOS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40173" y="2330957"/>
            <a:ext cx="1345691" cy="30784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440173" y="2330957"/>
            <a:ext cx="1346200" cy="307975"/>
          </a:xfrm>
          <a:prstGeom prst="rect">
            <a:avLst/>
          </a:prstGeom>
          <a:ln w="19811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310"/>
              </a:spcBef>
            </a:pPr>
            <a:r>
              <a:rPr sz="1400" b="1" spc="-10" dirty="0">
                <a:latin typeface="Arial"/>
                <a:cs typeface="Arial"/>
              </a:rPr>
              <a:t>FÁRMACOS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105"/>
              </a:spcBef>
            </a:pPr>
            <a:r>
              <a:rPr dirty="0"/>
              <a:t>HORMONAS</a:t>
            </a:r>
            <a:r>
              <a:rPr spc="-35" dirty="0"/>
              <a:t> </a:t>
            </a:r>
            <a:r>
              <a:rPr spc="-10" dirty="0"/>
              <a:t>TIROIDEAS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48127" y="1513328"/>
            <a:ext cx="6966584" cy="4825365"/>
            <a:chOff x="2548127" y="1513328"/>
            <a:chExt cx="6966584" cy="48253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48127" y="1513328"/>
              <a:ext cx="6966306" cy="48249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71566" y="2550413"/>
              <a:ext cx="580644" cy="87020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671566" y="2550413"/>
              <a:ext cx="581025" cy="870585"/>
            </a:xfrm>
            <a:custGeom>
              <a:avLst/>
              <a:gdLst/>
              <a:ahLst/>
              <a:cxnLst/>
              <a:rect l="l" t="t" r="r" b="b"/>
              <a:pathLst>
                <a:path w="581025" h="870585">
                  <a:moveTo>
                    <a:pt x="0" y="610488"/>
                  </a:moveTo>
                  <a:lnTo>
                    <a:pt x="145161" y="610488"/>
                  </a:lnTo>
                  <a:lnTo>
                    <a:pt x="145161" y="0"/>
                  </a:lnTo>
                  <a:lnTo>
                    <a:pt x="435483" y="0"/>
                  </a:lnTo>
                  <a:lnTo>
                    <a:pt x="435483" y="610488"/>
                  </a:lnTo>
                  <a:lnTo>
                    <a:pt x="580644" y="610488"/>
                  </a:lnTo>
                  <a:lnTo>
                    <a:pt x="290322" y="870203"/>
                  </a:lnTo>
                  <a:lnTo>
                    <a:pt x="0" y="610488"/>
                  </a:lnTo>
                  <a:close/>
                </a:path>
              </a:pathLst>
            </a:custGeom>
            <a:ln w="19812">
              <a:solidFill>
                <a:srgbClr val="8309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83173" y="4019550"/>
              <a:ext cx="528827" cy="57911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583173" y="4019550"/>
              <a:ext cx="528955" cy="579120"/>
            </a:xfrm>
            <a:custGeom>
              <a:avLst/>
              <a:gdLst/>
              <a:ahLst/>
              <a:cxnLst/>
              <a:rect l="l" t="t" r="r" b="b"/>
              <a:pathLst>
                <a:path w="528954" h="579120">
                  <a:moveTo>
                    <a:pt x="0" y="324104"/>
                  </a:moveTo>
                  <a:lnTo>
                    <a:pt x="132206" y="324104"/>
                  </a:lnTo>
                  <a:lnTo>
                    <a:pt x="132206" y="0"/>
                  </a:lnTo>
                  <a:lnTo>
                    <a:pt x="396621" y="0"/>
                  </a:lnTo>
                  <a:lnTo>
                    <a:pt x="396621" y="324104"/>
                  </a:lnTo>
                  <a:lnTo>
                    <a:pt x="528827" y="324104"/>
                  </a:lnTo>
                  <a:lnTo>
                    <a:pt x="264413" y="579119"/>
                  </a:lnTo>
                  <a:lnTo>
                    <a:pt x="0" y="324104"/>
                  </a:lnTo>
                  <a:close/>
                </a:path>
              </a:pathLst>
            </a:custGeom>
            <a:ln w="19812">
              <a:solidFill>
                <a:srgbClr val="8309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83173" y="5310377"/>
              <a:ext cx="528827" cy="61569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583173" y="5310377"/>
              <a:ext cx="528955" cy="615950"/>
            </a:xfrm>
            <a:custGeom>
              <a:avLst/>
              <a:gdLst/>
              <a:ahLst/>
              <a:cxnLst/>
              <a:rect l="l" t="t" r="r" b="b"/>
              <a:pathLst>
                <a:path w="528954" h="615950">
                  <a:moveTo>
                    <a:pt x="0" y="412978"/>
                  </a:moveTo>
                  <a:lnTo>
                    <a:pt x="132206" y="412978"/>
                  </a:lnTo>
                  <a:lnTo>
                    <a:pt x="132206" y="0"/>
                  </a:lnTo>
                  <a:lnTo>
                    <a:pt x="396621" y="0"/>
                  </a:lnTo>
                  <a:lnTo>
                    <a:pt x="396621" y="412978"/>
                  </a:lnTo>
                  <a:lnTo>
                    <a:pt x="528827" y="412978"/>
                  </a:lnTo>
                  <a:lnTo>
                    <a:pt x="264413" y="615696"/>
                  </a:lnTo>
                  <a:lnTo>
                    <a:pt x="0" y="412978"/>
                  </a:lnTo>
                  <a:close/>
                </a:path>
              </a:pathLst>
            </a:custGeom>
            <a:ln w="19812">
              <a:solidFill>
                <a:srgbClr val="8309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2260" marR="508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FUNCIONES</a:t>
            </a:r>
            <a:r>
              <a:rPr sz="2800" spc="-100" dirty="0"/>
              <a:t> </a:t>
            </a:r>
            <a:r>
              <a:rPr sz="2800" dirty="0"/>
              <a:t>DE</a:t>
            </a:r>
            <a:r>
              <a:rPr sz="2800" spc="-125" dirty="0"/>
              <a:t> </a:t>
            </a:r>
            <a:r>
              <a:rPr sz="2800" dirty="0"/>
              <a:t>LAS</a:t>
            </a:r>
            <a:r>
              <a:rPr sz="2800" spc="-125" dirty="0"/>
              <a:t> </a:t>
            </a:r>
            <a:r>
              <a:rPr sz="2800" dirty="0"/>
              <a:t>HORMONAS</a:t>
            </a:r>
            <a:r>
              <a:rPr sz="2800" spc="-90" dirty="0"/>
              <a:t> </a:t>
            </a:r>
            <a:r>
              <a:rPr sz="2800" dirty="0"/>
              <a:t>TIROIDEAS</a:t>
            </a:r>
            <a:r>
              <a:rPr sz="2800" spc="-100" dirty="0"/>
              <a:t> </a:t>
            </a:r>
            <a:r>
              <a:rPr sz="2800" spc="-10" dirty="0"/>
              <a:t>SOBRE </a:t>
            </a:r>
            <a:r>
              <a:rPr sz="2800" dirty="0"/>
              <a:t>EL</a:t>
            </a:r>
            <a:r>
              <a:rPr sz="2800" spc="-140" dirty="0"/>
              <a:t> </a:t>
            </a:r>
            <a:r>
              <a:rPr sz="2800" spc="-10" dirty="0"/>
              <a:t>DESARROLLO</a:t>
            </a:r>
            <a:r>
              <a:rPr sz="2800" spc="-85" dirty="0"/>
              <a:t> </a:t>
            </a:r>
            <a:r>
              <a:rPr sz="2800" dirty="0"/>
              <a:t>Y</a:t>
            </a:r>
            <a:r>
              <a:rPr sz="2800" spc="-135" dirty="0"/>
              <a:t> </a:t>
            </a:r>
            <a:r>
              <a:rPr sz="2800" spc="-10" dirty="0"/>
              <a:t>FUNCIONAMIENTO</a:t>
            </a:r>
            <a:r>
              <a:rPr sz="2800" spc="-40" dirty="0"/>
              <a:t> </a:t>
            </a:r>
            <a:r>
              <a:rPr sz="2800" dirty="0"/>
              <a:t>DEL</a:t>
            </a:r>
            <a:r>
              <a:rPr sz="2800" spc="-130" dirty="0"/>
              <a:t> </a:t>
            </a:r>
            <a:r>
              <a:rPr sz="2800" spc="-10" dirty="0"/>
              <a:t>S.N.C.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142796" y="1686305"/>
            <a:ext cx="8559165" cy="40405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EE52A4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EE52A4"/>
                </a:solidFill>
                <a:latin typeface="Lucida Sans Unicode"/>
                <a:cs typeface="Lucida Sans Unicode"/>
              </a:rPr>
              <a:t>	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Influyen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migración</a:t>
            </a:r>
            <a:r>
              <a:rPr sz="2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diferenciación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neuronal.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35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900" spc="114" dirty="0">
                <a:solidFill>
                  <a:srgbClr val="EE52A4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EE52A4"/>
                </a:solidFill>
                <a:latin typeface="Lucida Sans Unicode"/>
                <a:cs typeface="Lucida Sans Unicode"/>
              </a:rPr>
              <a:t>	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Activación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sistema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nervioso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simpático.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900" spc="114" dirty="0">
                <a:solidFill>
                  <a:srgbClr val="EE52A4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EE52A4"/>
                </a:solidFill>
                <a:latin typeface="Lucida Sans Unicode"/>
                <a:cs typeface="Lucida Sans Unicode"/>
              </a:rPr>
              <a:t>	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Síntesis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secreción</a:t>
            </a:r>
            <a:r>
              <a:rPr sz="2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neurotransmisores.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900" spc="114" dirty="0">
                <a:solidFill>
                  <a:srgbClr val="EE52A4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EE52A4"/>
                </a:solidFill>
                <a:latin typeface="Lucida Sans Unicode"/>
                <a:cs typeface="Lucida Sans Unicode"/>
              </a:rPr>
              <a:t>	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Mielinización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sistema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nervioso.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35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900" spc="114" dirty="0">
                <a:solidFill>
                  <a:srgbClr val="EE52A4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EE52A4"/>
                </a:solidFill>
                <a:latin typeface="Lucida Sans Unicode"/>
                <a:cs typeface="Lucida Sans Unicode"/>
              </a:rPr>
              <a:t>	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Regulación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expresión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genes</a:t>
            </a:r>
            <a:r>
              <a:rPr sz="2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célula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neuronal.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267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ACCIONES</a:t>
            </a:r>
            <a:r>
              <a:rPr sz="2800" spc="-120" dirty="0"/>
              <a:t> </a:t>
            </a:r>
            <a:r>
              <a:rPr sz="2800" spc="-25" dirty="0"/>
              <a:t>METABÓLICAS</a:t>
            </a:r>
            <a:r>
              <a:rPr sz="2800" spc="-95" dirty="0"/>
              <a:t> </a:t>
            </a:r>
            <a:r>
              <a:rPr sz="2800" dirty="0"/>
              <a:t>DE</a:t>
            </a:r>
            <a:r>
              <a:rPr sz="2800" spc="-135" dirty="0"/>
              <a:t> </a:t>
            </a:r>
            <a:r>
              <a:rPr sz="2800" dirty="0"/>
              <a:t>HORMONAS</a:t>
            </a:r>
            <a:r>
              <a:rPr sz="2800" spc="-105" dirty="0"/>
              <a:t> </a:t>
            </a:r>
            <a:r>
              <a:rPr sz="2800" spc="-10" dirty="0"/>
              <a:t>TIROIDEAS</a:t>
            </a:r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1900" b="0" spc="114" dirty="0">
                <a:solidFill>
                  <a:srgbClr val="EE52A4"/>
                </a:solidFill>
                <a:latin typeface="Lucida Sans Unicode"/>
                <a:cs typeface="Lucida Sans Unicode"/>
              </a:rPr>
              <a:t>▶</a:t>
            </a:r>
            <a:r>
              <a:rPr sz="1900" b="0" dirty="0">
                <a:solidFill>
                  <a:srgbClr val="EE52A4"/>
                </a:solidFill>
                <a:latin typeface="Lucida Sans Unicode"/>
                <a:cs typeface="Lucida Sans Unicode"/>
              </a:rPr>
              <a:t>	</a:t>
            </a:r>
            <a:r>
              <a:rPr dirty="0"/>
              <a:t>Aumento</a:t>
            </a:r>
            <a:r>
              <a:rPr spc="-20" dirty="0"/>
              <a:t> </a:t>
            </a:r>
            <a:r>
              <a:rPr dirty="0"/>
              <a:t>del</a:t>
            </a:r>
            <a:r>
              <a:rPr spc="-15" dirty="0"/>
              <a:t> </a:t>
            </a:r>
            <a:r>
              <a:rPr dirty="0"/>
              <a:t>consumo</a:t>
            </a:r>
            <a:r>
              <a:rPr spc="-3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oxígeno</a:t>
            </a:r>
            <a:r>
              <a:rPr spc="-30" dirty="0"/>
              <a:t> </a:t>
            </a:r>
            <a:r>
              <a:rPr dirty="0"/>
              <a:t>en</a:t>
            </a:r>
            <a:r>
              <a:rPr spc="-30" dirty="0"/>
              <a:t> </a:t>
            </a:r>
            <a:r>
              <a:rPr dirty="0"/>
              <a:t>la</a:t>
            </a:r>
            <a:r>
              <a:rPr spc="-15" dirty="0"/>
              <a:t> </a:t>
            </a:r>
            <a:r>
              <a:rPr dirty="0"/>
              <a:t>mayoría</a:t>
            </a:r>
            <a:r>
              <a:rPr spc="1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spc="-25" dirty="0"/>
              <a:t>los </a:t>
            </a:r>
            <a:r>
              <a:rPr spc="-10" dirty="0"/>
              <a:t>tejidos.</a:t>
            </a:r>
            <a:endParaRPr sz="19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110"/>
              </a:spcBef>
            </a:pP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5600" algn="l"/>
              </a:tabLst>
            </a:pPr>
            <a:r>
              <a:rPr sz="1900" b="0" spc="114" dirty="0">
                <a:solidFill>
                  <a:srgbClr val="EE52A4"/>
                </a:solidFill>
                <a:latin typeface="Lucida Sans Unicode"/>
                <a:cs typeface="Lucida Sans Unicode"/>
              </a:rPr>
              <a:t>▶</a:t>
            </a:r>
            <a:r>
              <a:rPr sz="1900" b="0" dirty="0">
                <a:solidFill>
                  <a:srgbClr val="EE52A4"/>
                </a:solidFill>
                <a:latin typeface="Lucida Sans Unicode"/>
                <a:cs typeface="Lucida Sans Unicode"/>
              </a:rPr>
              <a:t>	</a:t>
            </a:r>
            <a:r>
              <a:rPr dirty="0"/>
              <a:t>Elevación</a:t>
            </a:r>
            <a:r>
              <a:rPr spc="-50" dirty="0"/>
              <a:t> </a:t>
            </a:r>
            <a:r>
              <a:rPr dirty="0"/>
              <a:t>del</a:t>
            </a:r>
            <a:r>
              <a:rPr spc="-60" dirty="0"/>
              <a:t> </a:t>
            </a:r>
            <a:r>
              <a:rPr dirty="0"/>
              <a:t>metabolismo</a:t>
            </a:r>
            <a:r>
              <a:rPr spc="-55" dirty="0"/>
              <a:t> </a:t>
            </a:r>
            <a:r>
              <a:rPr spc="-10" dirty="0"/>
              <a:t>basal.</a:t>
            </a:r>
            <a:endParaRPr sz="19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120"/>
              </a:spcBef>
            </a:pP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1900" b="0" spc="114" dirty="0">
                <a:solidFill>
                  <a:srgbClr val="EE52A4"/>
                </a:solidFill>
                <a:latin typeface="Lucida Sans Unicode"/>
                <a:cs typeface="Lucida Sans Unicode"/>
              </a:rPr>
              <a:t>▶</a:t>
            </a:r>
            <a:r>
              <a:rPr sz="1900" b="0" dirty="0">
                <a:solidFill>
                  <a:srgbClr val="EE52A4"/>
                </a:solidFill>
                <a:latin typeface="Lucida Sans Unicode"/>
                <a:cs typeface="Lucida Sans Unicode"/>
              </a:rPr>
              <a:t>	</a:t>
            </a:r>
            <a:r>
              <a:rPr dirty="0"/>
              <a:t>Producción</a:t>
            </a:r>
            <a:r>
              <a:rPr spc="-4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calor.</a:t>
            </a:r>
            <a:endParaRPr sz="19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130"/>
              </a:spcBef>
            </a:pP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1900" b="0" spc="114" dirty="0">
                <a:solidFill>
                  <a:srgbClr val="EE52A4"/>
                </a:solidFill>
                <a:latin typeface="Lucida Sans Unicode"/>
                <a:cs typeface="Lucida Sans Unicode"/>
              </a:rPr>
              <a:t>▶</a:t>
            </a:r>
            <a:r>
              <a:rPr sz="1900" b="0" dirty="0">
                <a:solidFill>
                  <a:srgbClr val="EE52A4"/>
                </a:solidFill>
                <a:latin typeface="Lucida Sans Unicode"/>
                <a:cs typeface="Lucida Sans Unicode"/>
              </a:rPr>
              <a:t>	</a:t>
            </a:r>
            <a:r>
              <a:rPr dirty="0"/>
              <a:t>Síntesis</a:t>
            </a:r>
            <a:r>
              <a:rPr spc="-5" dirty="0"/>
              <a:t> </a:t>
            </a:r>
            <a:r>
              <a:rPr dirty="0"/>
              <a:t>y</a:t>
            </a:r>
            <a:r>
              <a:rPr spc="-15" dirty="0"/>
              <a:t> </a:t>
            </a:r>
            <a:r>
              <a:rPr dirty="0"/>
              <a:t>catabolismo</a:t>
            </a:r>
            <a:r>
              <a:rPr spc="-25" dirty="0"/>
              <a:t> </a:t>
            </a:r>
            <a:r>
              <a:rPr spc="-10" dirty="0"/>
              <a:t>proteico.</a:t>
            </a:r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105"/>
              </a:spcBef>
            </a:pPr>
            <a:r>
              <a:rPr dirty="0"/>
              <a:t>FUNCIÓN</a:t>
            </a:r>
            <a:r>
              <a:rPr spc="-2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LAS</a:t>
            </a:r>
            <a:r>
              <a:rPr spc="-5" dirty="0"/>
              <a:t> </a:t>
            </a:r>
            <a:r>
              <a:rPr dirty="0"/>
              <a:t>HORMONAS</a:t>
            </a:r>
            <a:r>
              <a:rPr spc="-45" dirty="0"/>
              <a:t> </a:t>
            </a:r>
            <a:r>
              <a:rPr spc="-10" dirty="0"/>
              <a:t>TIROIDEAS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63495" y="1508760"/>
            <a:ext cx="8054340" cy="4982210"/>
            <a:chOff x="2063495" y="1508760"/>
            <a:chExt cx="8054340" cy="49822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1595" y="1546860"/>
              <a:ext cx="7978140" cy="49057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82545" y="1527810"/>
              <a:ext cx="8016240" cy="4944110"/>
            </a:xfrm>
            <a:custGeom>
              <a:avLst/>
              <a:gdLst/>
              <a:ahLst/>
              <a:cxnLst/>
              <a:rect l="l" t="t" r="r" b="b"/>
              <a:pathLst>
                <a:path w="8016240" h="4944110">
                  <a:moveTo>
                    <a:pt x="0" y="4943856"/>
                  </a:moveTo>
                  <a:lnTo>
                    <a:pt x="8016240" y="4943856"/>
                  </a:lnTo>
                  <a:lnTo>
                    <a:pt x="8016240" y="0"/>
                  </a:lnTo>
                  <a:lnTo>
                    <a:pt x="0" y="0"/>
                  </a:lnTo>
                  <a:lnTo>
                    <a:pt x="0" y="4943856"/>
                  </a:lnTo>
                  <a:close/>
                </a:path>
              </a:pathLst>
            </a:custGeom>
            <a:ln w="38100">
              <a:solidFill>
                <a:srgbClr val="D43C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2357" y="1548130"/>
              <a:ext cx="694944" cy="490474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102357" y="1547622"/>
              <a:ext cx="695325" cy="4906010"/>
            </a:xfrm>
            <a:custGeom>
              <a:avLst/>
              <a:gdLst/>
              <a:ahLst/>
              <a:cxnLst/>
              <a:rect l="l" t="t" r="r" b="b"/>
              <a:pathLst>
                <a:path w="695325" h="4906010">
                  <a:moveTo>
                    <a:pt x="0" y="0"/>
                  </a:moveTo>
                  <a:lnTo>
                    <a:pt x="304165" y="0"/>
                  </a:lnTo>
                  <a:lnTo>
                    <a:pt x="304165" y="4558283"/>
                  </a:lnTo>
                  <a:lnTo>
                    <a:pt x="694944" y="4558283"/>
                  </a:lnTo>
                  <a:lnTo>
                    <a:pt x="694944" y="4905756"/>
                  </a:lnTo>
                  <a:lnTo>
                    <a:pt x="0" y="4905756"/>
                  </a:lnTo>
                  <a:lnTo>
                    <a:pt x="0" y="0"/>
                  </a:lnTo>
                  <a:close/>
                </a:path>
              </a:pathLst>
            </a:custGeom>
            <a:ln w="28955">
              <a:solidFill>
                <a:srgbClr val="8309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96</Words>
  <Application>Microsoft Office PowerPoint</Application>
  <PresentationFormat>Panorámica</PresentationFormat>
  <Paragraphs>45</Paragraphs>
  <Slides>19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Lucida Sans Unicode</vt:lpstr>
      <vt:lpstr>Office Theme</vt:lpstr>
      <vt:lpstr>MEDICINA INTERNA III</vt:lpstr>
      <vt:lpstr>Presentación de PowerPoint</vt:lpstr>
      <vt:lpstr>GLANDULA TIROIDES - ANATOMIA</vt:lpstr>
      <vt:lpstr>GLANDULA TIROIDES - VISTA LATERAL</vt:lpstr>
      <vt:lpstr>Presentación de PowerPoint</vt:lpstr>
      <vt:lpstr>TIROIDES - HISTOLOGIA</vt:lpstr>
      <vt:lpstr>TIROIDES HISTOLOGIA</vt:lpstr>
      <vt:lpstr>REGULACIÓN DE LA SECRECIÓN TIROIDEA</vt:lpstr>
      <vt:lpstr>INGESTA NORMAL DE YODUROS</vt:lpstr>
      <vt:lpstr>INGESTA DISMINUIDA DE YODUROS</vt:lpstr>
      <vt:lpstr>SÍNTESIS DE HORMONAS TIROIDEAS</vt:lpstr>
      <vt:lpstr>SÍNTESIS DE HORMONAS TIROIDEAS</vt:lpstr>
      <vt:lpstr>HORMONAS TIROIDEAS</vt:lpstr>
      <vt:lpstr>CIRCULACIÓN DE LAS HORMONAS TIROIDEAS</vt:lpstr>
      <vt:lpstr>CIRCULACIÓN DE LAS HORMONAS TIROIDEAS</vt:lpstr>
      <vt:lpstr>HORMONAS TIROIDEAS</vt:lpstr>
      <vt:lpstr>FUNCIONES DE LAS HORMONAS TIROIDEAS SOBRE EL DESARROLLO Y FUNCIONAMIENTO DEL S.N.C.</vt:lpstr>
      <vt:lpstr>ACCIONES METABÓLICAS DE HORMONAS TIROIDEAS</vt:lpstr>
      <vt:lpstr>FUNCIÓN DE LAS HORMONAS TIROIDEAS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MEDICINA INTERNA III</dc:title>
  <dc:creator>roberto mario pelayes</dc:creator>
  <cp:lastModifiedBy>roberto mario pelayes</cp:lastModifiedBy>
  <cp:revision>1</cp:revision>
  <dcterms:created xsi:type="dcterms:W3CDTF">2025-08-20T00:56:34Z</dcterms:created>
  <dcterms:modified xsi:type="dcterms:W3CDTF">2025-08-20T01:07:59Z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2025-08-20T00:00:00Z</vt:filetime>
  </property>
  <property fmtid="{D5CDD505-2E9C-101B-9397-08002B2CF9AE}" pid="5" name="Producer">
    <vt:lpwstr>Microsoft® PowerPoint® 2016</vt:lpwstr>
  </property>
</Properties>
</file>