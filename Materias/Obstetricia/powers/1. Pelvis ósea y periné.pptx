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310" r:id="rId2"/>
    <p:sldId id="268" r:id="rId3"/>
    <p:sldId id="302" r:id="rId4"/>
    <p:sldId id="267" r:id="rId5"/>
    <p:sldId id="266" r:id="rId6"/>
    <p:sldId id="257" r:id="rId7"/>
    <p:sldId id="264" r:id="rId8"/>
    <p:sldId id="284" r:id="rId9"/>
    <p:sldId id="269" r:id="rId10"/>
    <p:sldId id="256" r:id="rId11"/>
    <p:sldId id="299" r:id="rId12"/>
    <p:sldId id="271" r:id="rId13"/>
    <p:sldId id="262" r:id="rId14"/>
    <p:sldId id="272" r:id="rId15"/>
    <p:sldId id="273" r:id="rId16"/>
    <p:sldId id="276" r:id="rId17"/>
    <p:sldId id="274" r:id="rId18"/>
    <p:sldId id="277" r:id="rId19"/>
    <p:sldId id="285" r:id="rId20"/>
    <p:sldId id="280" r:id="rId21"/>
    <p:sldId id="281" r:id="rId22"/>
    <p:sldId id="282" r:id="rId23"/>
    <p:sldId id="275" r:id="rId24"/>
    <p:sldId id="283" r:id="rId25"/>
    <p:sldId id="286" r:id="rId26"/>
    <p:sldId id="259" r:id="rId27"/>
    <p:sldId id="260" r:id="rId28"/>
    <p:sldId id="301" r:id="rId29"/>
    <p:sldId id="288" r:id="rId30"/>
    <p:sldId id="300" r:id="rId31"/>
    <p:sldId id="289" r:id="rId32"/>
    <p:sldId id="293" r:id="rId33"/>
    <p:sldId id="294" r:id="rId34"/>
    <p:sldId id="291" r:id="rId35"/>
    <p:sldId id="295" r:id="rId36"/>
    <p:sldId id="296" r:id="rId37"/>
    <p:sldId id="292" r:id="rId38"/>
    <p:sldId id="297" r:id="rId39"/>
    <p:sldId id="290" r:id="rId40"/>
    <p:sldId id="263" r:id="rId41"/>
    <p:sldId id="270" r:id="rId42"/>
    <p:sldId id="261" r:id="rId43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8" autoAdjust="0"/>
    <p:restoredTop sz="94675" autoAdjust="0"/>
  </p:normalViewPr>
  <p:slideViewPr>
    <p:cSldViewPr>
      <p:cViewPr varScale="1">
        <p:scale>
          <a:sx n="78" d="100"/>
          <a:sy n="78" d="100"/>
        </p:scale>
        <p:origin x="1598" y="-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82685F-5CD1-4504-A616-D0B99A3011A8}" type="datetimeFigureOut">
              <a:rPr lang="es-AR" smtClean="0"/>
              <a:pPr/>
              <a:t>5/8/2026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19D40-1DC0-42EC-9FB6-9765CAED448B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3646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419D40-1DC0-42EC-9FB6-9765CAED448B}" type="slidenum">
              <a:rPr lang="es-AR" smtClean="0"/>
              <a:pPr/>
              <a:t>14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6605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419D40-1DC0-42EC-9FB6-9765CAED448B}" type="slidenum">
              <a:rPr lang="es-AR" smtClean="0"/>
              <a:pPr/>
              <a:t>20</a:t>
            </a:fld>
            <a:endParaRPr lang="es-A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2545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4358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7901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922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950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2256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6298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8473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6791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1108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2222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03643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69562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5357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5578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96199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1724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7494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6192688" cy="1156990"/>
          </a:xfrm>
        </p:spPr>
        <p:txBody>
          <a:bodyPr>
            <a:normAutofit fontScale="90000"/>
          </a:bodyPr>
          <a:lstStyle/>
          <a:p>
            <a:r>
              <a:rPr lang="es-ES" dirty="0">
                <a:solidFill>
                  <a:schemeClr val="tx2"/>
                </a:solidFill>
              </a:rPr>
              <a:t>     Catedra OBSTETRICIA</a:t>
            </a:r>
            <a:br>
              <a:rPr lang="es-ES" dirty="0">
                <a:solidFill>
                  <a:schemeClr val="tx2"/>
                </a:solidFill>
              </a:rPr>
            </a:br>
            <a:r>
              <a:rPr lang="es-ES" dirty="0">
                <a:solidFill>
                  <a:schemeClr val="tx2"/>
                </a:solidFill>
              </a:rPr>
              <a:t>            San Rafael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5112568"/>
          </a:xfrm>
        </p:spPr>
        <p:txBody>
          <a:bodyPr>
            <a:normAutofit/>
          </a:bodyPr>
          <a:lstStyle/>
          <a:p>
            <a:r>
              <a:rPr lang="es-ES" dirty="0"/>
              <a:t>Jefa de Catedra            </a:t>
            </a:r>
            <a:r>
              <a:rPr lang="es-ES" dirty="0">
                <a:solidFill>
                  <a:schemeClr val="tx2"/>
                </a:solidFill>
              </a:rPr>
              <a:t>Dr. MIGUEL BLANCO</a:t>
            </a:r>
          </a:p>
          <a:p>
            <a:r>
              <a:rPr lang="es-ES" dirty="0"/>
              <a:t>Adjunto                            </a:t>
            </a:r>
            <a:r>
              <a:rPr lang="es-ES" dirty="0">
                <a:solidFill>
                  <a:schemeClr val="tx2"/>
                </a:solidFill>
              </a:rPr>
              <a:t>Dr. SAMBRIZZI JORGE</a:t>
            </a:r>
          </a:p>
          <a:p>
            <a:r>
              <a:rPr lang="es-ES" dirty="0"/>
              <a:t>Jefes de prácticos</a:t>
            </a:r>
          </a:p>
          <a:p>
            <a:r>
              <a:rPr lang="es-ES" dirty="0"/>
              <a:t>        </a:t>
            </a:r>
            <a:r>
              <a:rPr lang="es-ES" dirty="0">
                <a:solidFill>
                  <a:schemeClr val="tx2"/>
                </a:solidFill>
              </a:rPr>
              <a:t>Dra. Ines Cruz Pérez</a:t>
            </a:r>
          </a:p>
          <a:p>
            <a:r>
              <a:rPr lang="es-ES" dirty="0">
                <a:solidFill>
                  <a:schemeClr val="tx2"/>
                </a:solidFill>
              </a:rPr>
              <a:t>        Dra. Pamela Salinas</a:t>
            </a:r>
          </a:p>
          <a:p>
            <a:r>
              <a:rPr lang="es-ES" dirty="0">
                <a:solidFill>
                  <a:schemeClr val="tx2"/>
                </a:solidFill>
              </a:rPr>
              <a:t>        Dra. Alejandra González</a:t>
            </a:r>
          </a:p>
          <a:p>
            <a:r>
              <a:rPr lang="es-ES" dirty="0">
                <a:solidFill>
                  <a:schemeClr val="tx2"/>
                </a:solidFill>
              </a:rPr>
              <a:t>        Dr. Gustavo Eraso</a:t>
            </a:r>
          </a:p>
          <a:p>
            <a:r>
              <a:rPr lang="es-ES" dirty="0">
                <a:solidFill>
                  <a:schemeClr val="tx2"/>
                </a:solidFill>
              </a:rPr>
              <a:t>        Dr. Cristian Fornara</a:t>
            </a:r>
          </a:p>
          <a:p>
            <a:r>
              <a:rPr lang="es-ES" dirty="0">
                <a:solidFill>
                  <a:schemeClr val="tx2"/>
                </a:solidFill>
              </a:rPr>
              <a:t>        Lic. Natalia Molina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5" name="Picture 2" descr="Universidad de Mendoza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339" y="1338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2653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576" y="-603447"/>
            <a:ext cx="7772400" cy="1656183"/>
          </a:xfrm>
        </p:spPr>
        <p:txBody>
          <a:bodyPr/>
          <a:lstStyle/>
          <a:p>
            <a:r>
              <a:rPr lang="es-AR" dirty="0"/>
              <a:t>Pelvis ósea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1700808"/>
            <a:ext cx="6400800" cy="3937992"/>
          </a:xfrm>
        </p:spPr>
        <p:txBody>
          <a:bodyPr/>
          <a:lstStyle/>
          <a:p>
            <a:endParaRPr lang="es-AR" dirty="0"/>
          </a:p>
        </p:txBody>
      </p:sp>
      <p:pic>
        <p:nvPicPr>
          <p:cNvPr id="4" name="Picture 2" descr="C:\Users\miguel\Desktop\Nueva carpeta\thumbnailCARJLJ48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120" y="836712"/>
            <a:ext cx="9020880" cy="62373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40"/>
            <a:ext cx="8568952" cy="65527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2966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endParaRPr lang="es-AR" i="1" dirty="0"/>
          </a:p>
          <a:p>
            <a:pPr algn="just"/>
            <a:r>
              <a:rPr lang="es-AR" b="1" dirty="0"/>
              <a:t>El estudio de la pelvis ósea nos permite acceder al conocimiento de uno de los elementos del parto</a:t>
            </a:r>
          </a:p>
          <a:p>
            <a:pPr algn="just"/>
            <a:endParaRPr lang="es-AR" b="1" dirty="0"/>
          </a:p>
          <a:p>
            <a:pPr algn="just"/>
            <a:endParaRPr lang="es-AR" b="1" dirty="0"/>
          </a:p>
          <a:p>
            <a:pPr algn="just"/>
            <a:r>
              <a:rPr lang="es-AR" b="1" dirty="0"/>
              <a:t>                               </a:t>
            </a:r>
            <a:r>
              <a:rPr lang="es-AR" b="1" u="sng" dirty="0"/>
              <a:t>el canal pelviano</a:t>
            </a:r>
          </a:p>
          <a:p>
            <a:pPr algn="just">
              <a:buFont typeface="Arial" pitchFamily="34" charset="0"/>
              <a:buChar char="•"/>
            </a:pPr>
            <a:r>
              <a:rPr lang="es-AR" b="1" i="1" dirty="0"/>
              <a:t>Debemos </a:t>
            </a:r>
            <a:r>
              <a:rPr lang="es-AR" b="1" dirty="0"/>
              <a:t>conocer los principales accidentes anatómicos de la pelvis femenina.</a:t>
            </a:r>
          </a:p>
          <a:p>
            <a:pPr algn="just">
              <a:buFont typeface="Arial" pitchFamily="34" charset="0"/>
              <a:buChar char="•"/>
            </a:pPr>
            <a:endParaRPr lang="es-AR" b="1" dirty="0"/>
          </a:p>
          <a:p>
            <a:pPr algn="just">
              <a:buFont typeface="Arial" pitchFamily="34" charset="0"/>
              <a:buChar char="•"/>
            </a:pPr>
            <a:r>
              <a:rPr lang="es-AR" b="1" dirty="0"/>
              <a:t> Identificar el descenso de la presentación en Relación a los      l                                     </a:t>
            </a:r>
            <a:r>
              <a:rPr lang="es-AR" sz="2400" b="1" dirty="0" err="1"/>
              <a:t>PLanos</a:t>
            </a:r>
            <a:r>
              <a:rPr lang="es-AR" sz="2400" b="1" dirty="0"/>
              <a:t> de </a:t>
            </a:r>
            <a:r>
              <a:rPr lang="es-AR" sz="2400" b="1" dirty="0" err="1"/>
              <a:t>Hodge</a:t>
            </a:r>
            <a:endParaRPr lang="es-AR" sz="2400" b="1" dirty="0"/>
          </a:p>
          <a:p>
            <a:pPr algn="just"/>
            <a:endParaRPr lang="es-AR" b="1" dirty="0"/>
          </a:p>
          <a:p>
            <a:pPr algn="just">
              <a:buFont typeface="Arial" pitchFamily="34" charset="0"/>
              <a:buChar char="•"/>
            </a:pPr>
            <a:r>
              <a:rPr lang="es-AR" b="1" dirty="0"/>
              <a:t>           Evaluar la amplitud pelviana</a:t>
            </a:r>
          </a:p>
          <a:p>
            <a:pPr algn="just">
              <a:buFont typeface="Arial" pitchFamily="34" charset="0"/>
              <a:buChar char="•"/>
            </a:pPr>
            <a:r>
              <a:rPr lang="es-AR" b="1" dirty="0"/>
              <a:t>                     Diagnosticar desproporción pélvico-fetal</a:t>
            </a:r>
          </a:p>
          <a:p>
            <a:pPr algn="just">
              <a:buFont typeface="Arial" pitchFamily="34" charset="0"/>
              <a:buChar char="•"/>
            </a:pPr>
            <a:r>
              <a:rPr lang="es-AR" b="1" dirty="0"/>
              <a:t>                                   Determinar el tipo de pelvis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miguel\Desktop\Nueva carpeta\thumbnail[11]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404664"/>
            <a:ext cx="7632848" cy="58326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miguel\Desktop\Nueva carpeta\pp[1]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447966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miguel\Desktop\Nueva carpeta\thumbnailCALF6EKU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0"/>
            <a:ext cx="4464496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122" name="Picture 2" descr="C:\Users\miguel\Desktop\Nueva carpeta\DSC00168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s-AR" sz="4600" b="1" i="1" dirty="0"/>
              <a:t>Tipos de Pelvis</a:t>
            </a:r>
          </a:p>
          <a:p>
            <a:r>
              <a:rPr lang="es-AR" b="1" i="1" u="sng" dirty="0" err="1"/>
              <a:t>Ginecoide</a:t>
            </a:r>
            <a:r>
              <a:rPr lang="es-AR" i="1" u="sng" dirty="0"/>
              <a:t>: </a:t>
            </a:r>
            <a:r>
              <a:rPr lang="es-AR" i="1" dirty="0"/>
              <a:t>Pelvis femenina típica, normal de otras clasificaciones (45%)</a:t>
            </a:r>
          </a:p>
          <a:p>
            <a:endParaRPr lang="es-AR" i="1" dirty="0"/>
          </a:p>
          <a:p>
            <a:r>
              <a:rPr lang="es-AR" b="1" u="sng" dirty="0"/>
              <a:t> </a:t>
            </a:r>
            <a:r>
              <a:rPr lang="es-AR" b="1" i="1" u="sng" dirty="0"/>
              <a:t>Androide</a:t>
            </a:r>
            <a:r>
              <a:rPr lang="es-AR" i="1" u="sng" dirty="0"/>
              <a:t>: </a:t>
            </a:r>
            <a:r>
              <a:rPr lang="es-AR" i="1" dirty="0"/>
              <a:t>Pelvis masculina, con todos sus diámetros reducidos en relación a la </a:t>
            </a:r>
            <a:r>
              <a:rPr lang="es-AR" dirty="0"/>
              <a:t>pelvis femenina, en especial los del EI y un ángulo </a:t>
            </a:r>
            <a:r>
              <a:rPr lang="es-AR" dirty="0" err="1"/>
              <a:t>subpúbico</a:t>
            </a:r>
            <a:r>
              <a:rPr lang="es-AR" dirty="0"/>
              <a:t> &lt;90º. Paredes pelvianas convergentes.</a:t>
            </a:r>
          </a:p>
          <a:p>
            <a:pPr>
              <a:buNone/>
            </a:pPr>
            <a:endParaRPr lang="es-AR" dirty="0"/>
          </a:p>
          <a:p>
            <a:r>
              <a:rPr lang="es-AR" b="1" i="1" u="sng" dirty="0" err="1"/>
              <a:t>Platipeloide</a:t>
            </a:r>
            <a:r>
              <a:rPr lang="es-AR" b="1" i="1" u="sng" dirty="0"/>
              <a:t>: </a:t>
            </a:r>
            <a:r>
              <a:rPr lang="es-AR" i="1" dirty="0"/>
              <a:t>Reducción de los diámetros </a:t>
            </a:r>
            <a:r>
              <a:rPr lang="es-AR" i="1" dirty="0" err="1"/>
              <a:t>anteroposteriores</a:t>
            </a:r>
            <a:r>
              <a:rPr lang="es-AR" i="1" dirty="0"/>
              <a:t> del ES, se </a:t>
            </a:r>
            <a:r>
              <a:rPr lang="es-AR" dirty="0"/>
              <a:t> corresponde con la pelvis aplanada de otras clasificaciones.</a:t>
            </a:r>
          </a:p>
          <a:p>
            <a:pPr>
              <a:buNone/>
            </a:pPr>
            <a:endParaRPr lang="es-AR" dirty="0"/>
          </a:p>
          <a:p>
            <a:r>
              <a:rPr lang="es-AR" dirty="0"/>
              <a:t> </a:t>
            </a:r>
            <a:r>
              <a:rPr lang="es-AR" b="1" i="1" u="sng" dirty="0"/>
              <a:t>Antropoide: </a:t>
            </a:r>
            <a:r>
              <a:rPr lang="es-AR" i="1" dirty="0"/>
              <a:t>Es de forma ovalada. Diámetros </a:t>
            </a:r>
            <a:r>
              <a:rPr lang="es-AR" i="1" dirty="0" err="1"/>
              <a:t>anteroposteriores</a:t>
            </a:r>
            <a:r>
              <a:rPr lang="es-AR" i="1" dirty="0"/>
              <a:t> mayores a los </a:t>
            </a:r>
            <a:r>
              <a:rPr lang="es-AR" dirty="0"/>
              <a:t>transversos. Sacro corto. Paredes pelvianas divergentes. Espinas ciáticas con base de implantación ancha . Se observa más en raza negra</a:t>
            </a:r>
          </a:p>
          <a:p>
            <a:pPr>
              <a:buNone/>
            </a:pPr>
            <a:r>
              <a:rPr lang="es-AR" dirty="0"/>
              <a:t>      (39%) que en la blanca (27%).</a:t>
            </a:r>
          </a:p>
          <a:p>
            <a:r>
              <a:rPr lang="es-AR" b="1" i="1" u="sng" dirty="0"/>
              <a:t>Formas mixtas: </a:t>
            </a:r>
            <a:r>
              <a:rPr lang="es-AR" i="1" dirty="0"/>
              <a:t>resultantes de la combinación del segmento anterior y posterior </a:t>
            </a:r>
            <a:r>
              <a:rPr lang="es-AR" dirty="0"/>
              <a:t>de los cuatro tipos señalados.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4788024" cy="4437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94404" y="2204864"/>
            <a:ext cx="4349596" cy="4677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miguel\Desktop\000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57" y="0"/>
            <a:ext cx="913388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>
            <a:normAutofit fontScale="90000"/>
          </a:bodyPr>
          <a:lstStyle/>
          <a:p>
            <a:r>
              <a:rPr lang="es-AR" sz="3100" b="1" i="1" dirty="0"/>
              <a:t>Estrecho superior </a:t>
            </a:r>
            <a:br>
              <a:rPr lang="es-AR" sz="2700" b="1" i="1" dirty="0"/>
            </a:br>
            <a:r>
              <a:rPr lang="es-AR" sz="2700" i="1" dirty="0"/>
              <a:t>Separa la pelvis mayor, de la pelvis menor  o verdadera</a:t>
            </a:r>
            <a:r>
              <a:rPr lang="es-AR" sz="2700" dirty="0"/>
              <a:t> de interés obstétrico , debido a la interposición de partes blandas, los transversos disminuyen y los oblicuos son mayores, razón por la cual la presentación suele orientarse allí.</a:t>
            </a:r>
            <a:br>
              <a:rPr lang="es-AR" sz="2700" dirty="0"/>
            </a:br>
            <a:br>
              <a:rPr lang="es-AR" sz="2700" dirty="0"/>
            </a:br>
            <a:br>
              <a:rPr lang="es-AR" sz="2700" dirty="0"/>
            </a:br>
            <a:br>
              <a:rPr lang="es-AR" sz="2700" dirty="0"/>
            </a:br>
            <a:br>
              <a:rPr lang="es-AR" sz="2700" dirty="0"/>
            </a:br>
            <a:br>
              <a:rPr lang="es-AR" sz="2700" dirty="0"/>
            </a:br>
            <a:br>
              <a:rPr lang="es-AR" sz="2700" dirty="0"/>
            </a:br>
            <a:br>
              <a:rPr lang="es-AR" sz="2700" dirty="0"/>
            </a:br>
            <a:br>
              <a:rPr lang="es-AR" sz="2700" dirty="0"/>
            </a:br>
            <a:br>
              <a:rPr lang="es-AR" sz="2700" dirty="0"/>
            </a:br>
            <a:br>
              <a:rPr lang="es-AR" sz="2700" dirty="0"/>
            </a:br>
            <a:br>
              <a:rPr lang="es-AR" sz="2700" dirty="0"/>
            </a:br>
            <a:endParaRPr lang="es-AR" sz="2700" dirty="0"/>
          </a:p>
        </p:txBody>
      </p:sp>
      <p:sp>
        <p:nvSpPr>
          <p:cNvPr id="4" name="1 Título"/>
          <p:cNvSpPr>
            <a:spLocks noGrp="1"/>
          </p:cNvSpPr>
          <p:nvPr>
            <p:ph type="subTitle" idx="1"/>
          </p:nvPr>
        </p:nvSpPr>
        <p:spPr>
          <a:xfrm>
            <a:off x="0" y="6381328"/>
            <a:ext cx="9144000" cy="476672"/>
          </a:xfrm>
        </p:spPr>
        <p:txBody>
          <a:bodyPr>
            <a:normAutofit/>
          </a:bodyPr>
          <a:lstStyle/>
          <a:p>
            <a:pPr>
              <a:buNone/>
            </a:pPr>
            <a:endParaRPr lang="es-AR" sz="2400" dirty="0"/>
          </a:p>
        </p:txBody>
      </p:sp>
      <p:pic>
        <p:nvPicPr>
          <p:cNvPr id="1026" name="Picture 2" descr="C:\Users\miguel\Desktop\Nueva carpeta\DSC0017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2204864"/>
            <a:ext cx="9144000" cy="50405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Título"/>
          <p:cNvSpPr>
            <a:spLocks noGrp="1"/>
          </p:cNvSpPr>
          <p:nvPr>
            <p:ph type="ctrTitle"/>
          </p:nvPr>
        </p:nvSpPr>
        <p:spPr>
          <a:xfrm>
            <a:off x="0" y="476672"/>
            <a:ext cx="9144000" cy="692696"/>
          </a:xfrm>
        </p:spPr>
        <p:txBody>
          <a:bodyPr>
            <a:noAutofit/>
          </a:bodyPr>
          <a:lstStyle/>
          <a:p>
            <a:r>
              <a:rPr lang="es-AR" sz="3200" b="1" i="1" dirty="0"/>
              <a:t>Estrecho medio o excavación pelviana</a:t>
            </a:r>
            <a:br>
              <a:rPr lang="es-AR" sz="2400" b="1" i="1" dirty="0"/>
            </a:br>
            <a:br>
              <a:rPr lang="es-AR" sz="2400" dirty="0"/>
            </a:br>
            <a:endParaRPr lang="es-AR" sz="2400" dirty="0"/>
          </a:p>
        </p:txBody>
      </p:sp>
      <p:sp>
        <p:nvSpPr>
          <p:cNvPr id="5" name="4 Marcador de contenido"/>
          <p:cNvSpPr>
            <a:spLocks noGrp="1"/>
          </p:cNvSpPr>
          <p:nvPr>
            <p:ph type="subTitle" idx="1"/>
          </p:nvPr>
        </p:nvSpPr>
        <p:spPr>
          <a:xfrm>
            <a:off x="-27709" y="441501"/>
            <a:ext cx="9144000" cy="6381328"/>
          </a:xfrm>
        </p:spPr>
        <p:txBody>
          <a:bodyPr>
            <a:normAutofit lnSpcReduction="10000"/>
          </a:bodyPr>
          <a:lstStyle/>
          <a:p>
            <a:r>
              <a:rPr lang="es-AR" dirty="0">
                <a:solidFill>
                  <a:schemeClr val="tx1"/>
                </a:solidFill>
              </a:rPr>
              <a:t>Es un cavidad imaginario que ocupa la excavación pélvica de gran importancia </a:t>
            </a:r>
            <a:r>
              <a:rPr lang="es-AR" dirty="0">
                <a:solidFill>
                  <a:srgbClr val="002060"/>
                </a:solidFill>
              </a:rPr>
              <a:t> </a:t>
            </a:r>
            <a:r>
              <a:rPr lang="es-AR" dirty="0">
                <a:solidFill>
                  <a:schemeClr val="tx1"/>
                </a:solidFill>
              </a:rPr>
              <a:t>obstétrica</a:t>
            </a:r>
            <a:r>
              <a:rPr lang="es-AR" dirty="0">
                <a:solidFill>
                  <a:srgbClr val="002060"/>
                </a:solidFill>
              </a:rPr>
              <a:t> </a:t>
            </a:r>
            <a:r>
              <a:rPr lang="es-AR" dirty="0">
                <a:solidFill>
                  <a:schemeClr val="tx1"/>
                </a:solidFill>
              </a:rPr>
              <a:t>pues en esto punto, la pelvis femenina suele presentar una marcada reducción de diámetros. </a:t>
            </a:r>
          </a:p>
          <a:p>
            <a:endParaRPr lang="es-AR" dirty="0">
              <a:solidFill>
                <a:schemeClr val="tx1"/>
              </a:solidFill>
            </a:endParaRPr>
          </a:p>
          <a:p>
            <a:r>
              <a:rPr lang="es-AR" b="1" dirty="0">
                <a:solidFill>
                  <a:schemeClr val="tx1"/>
                </a:solidFill>
              </a:rPr>
              <a:t>adelante  la cara posterior del pubis </a:t>
            </a:r>
          </a:p>
          <a:p>
            <a:r>
              <a:rPr lang="es-AR" b="1" dirty="0">
                <a:solidFill>
                  <a:schemeClr val="tx1"/>
                </a:solidFill>
              </a:rPr>
              <a:t>lateralmente, la espina ciática</a:t>
            </a:r>
          </a:p>
          <a:p>
            <a:r>
              <a:rPr lang="es-AR" b="1" dirty="0">
                <a:solidFill>
                  <a:schemeClr val="tx1"/>
                </a:solidFill>
              </a:rPr>
              <a:t>ATRÁS el sacro en su cara anterior</a:t>
            </a:r>
            <a:endParaRPr lang="es-AR" dirty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endParaRPr lang="es-AR" b="1" u="sng" dirty="0">
              <a:solidFill>
                <a:schemeClr val="tx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s-AR" b="1" u="sng" dirty="0">
                <a:solidFill>
                  <a:schemeClr val="tx1"/>
                </a:solidFill>
              </a:rPr>
              <a:t>Diámetro </a:t>
            </a:r>
            <a:r>
              <a:rPr lang="es-AR" b="1" u="sng" dirty="0" err="1">
                <a:solidFill>
                  <a:schemeClr val="tx1"/>
                </a:solidFill>
              </a:rPr>
              <a:t>anteroposterior</a:t>
            </a:r>
            <a:r>
              <a:rPr lang="es-AR" dirty="0" err="1">
                <a:solidFill>
                  <a:schemeClr val="tx1"/>
                </a:solidFill>
              </a:rPr>
              <a:t>.culmen</a:t>
            </a:r>
            <a:r>
              <a:rPr lang="es-AR" dirty="0">
                <a:solidFill>
                  <a:schemeClr val="tx1"/>
                </a:solidFill>
              </a:rPr>
              <a:t> </a:t>
            </a:r>
            <a:r>
              <a:rPr lang="es-AR" dirty="0" err="1">
                <a:solidFill>
                  <a:schemeClr val="tx1"/>
                </a:solidFill>
              </a:rPr>
              <a:t>retropubiano</a:t>
            </a:r>
            <a:r>
              <a:rPr lang="es-AR" dirty="0">
                <a:solidFill>
                  <a:schemeClr val="tx1"/>
                </a:solidFill>
              </a:rPr>
              <a:t> hasta el promontorio y mide, en la pelvis femenina, </a:t>
            </a:r>
            <a:r>
              <a:rPr lang="es-AR" b="1" dirty="0">
                <a:solidFill>
                  <a:schemeClr val="tx1"/>
                </a:solidFill>
              </a:rPr>
              <a:t>10,5 cm</a:t>
            </a:r>
            <a:r>
              <a:rPr lang="es-AR" dirty="0">
                <a:solidFill>
                  <a:schemeClr val="tx1"/>
                </a:solidFill>
              </a:rPr>
              <a:t>.</a:t>
            </a:r>
          </a:p>
          <a:p>
            <a:r>
              <a:rPr lang="es-AR" b="1" dirty="0">
                <a:solidFill>
                  <a:schemeClr val="tx1"/>
                </a:solidFill>
              </a:rPr>
              <a:t>PROMONTO PUBIANO MINIMO ( plano de angustia</a:t>
            </a:r>
            <a:r>
              <a:rPr lang="es-AR" dirty="0">
                <a:solidFill>
                  <a:schemeClr val="tx1"/>
                </a:solidFill>
              </a:rPr>
              <a:t>) de él depende que el feto pueda encajar, es decir, introducirse en la excavación.</a:t>
            </a:r>
          </a:p>
          <a:p>
            <a:pPr>
              <a:buFont typeface="Arial" pitchFamily="34" charset="0"/>
              <a:buChar char="•"/>
            </a:pPr>
            <a:r>
              <a:rPr lang="es-AR" b="1" u="sng" dirty="0">
                <a:solidFill>
                  <a:schemeClr val="tx1"/>
                </a:solidFill>
              </a:rPr>
              <a:t>Diámetro transversal</a:t>
            </a:r>
            <a:r>
              <a:rPr lang="es-AR" dirty="0">
                <a:solidFill>
                  <a:schemeClr val="tx1"/>
                </a:solidFill>
              </a:rPr>
              <a:t>. Es uno de los diámetros y puntos de referencia obstétricos de mayor importancia, llamado </a:t>
            </a:r>
            <a:r>
              <a:rPr lang="es-AR" b="1" i="1" dirty="0">
                <a:solidFill>
                  <a:schemeClr val="tx1"/>
                </a:solidFill>
              </a:rPr>
              <a:t>diámetro </a:t>
            </a:r>
            <a:r>
              <a:rPr lang="es-AR" b="1" i="1" dirty="0" err="1">
                <a:solidFill>
                  <a:schemeClr val="tx1"/>
                </a:solidFill>
              </a:rPr>
              <a:t>biciático</a:t>
            </a:r>
            <a:r>
              <a:rPr lang="es-AR" b="1" dirty="0">
                <a:solidFill>
                  <a:schemeClr val="tx1"/>
                </a:solidFill>
              </a:rPr>
              <a:t> o </a:t>
            </a:r>
            <a:r>
              <a:rPr lang="es-AR" b="1" i="1" dirty="0" err="1">
                <a:solidFill>
                  <a:schemeClr val="tx1"/>
                </a:solidFill>
              </a:rPr>
              <a:t>biespinoso</a:t>
            </a:r>
            <a:r>
              <a:rPr lang="es-AR" dirty="0">
                <a:solidFill>
                  <a:schemeClr val="tx1"/>
                </a:solidFill>
              </a:rPr>
              <a:t>, porque va de una espina ciática a la del lado opuesto. Su longitud en la pelvis femenina es de unos </a:t>
            </a:r>
            <a:r>
              <a:rPr lang="es-AR" b="1" dirty="0">
                <a:solidFill>
                  <a:schemeClr val="tx1"/>
                </a:solidFill>
              </a:rPr>
              <a:t>10.5 cm.</a:t>
            </a:r>
          </a:p>
          <a:p>
            <a:pPr>
              <a:buNone/>
            </a:pPr>
            <a:endParaRPr lang="es-A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contenido"/>
          <p:cNvSpPr>
            <a:spLocks noGrp="1"/>
          </p:cNvSpPr>
          <p:nvPr>
            <p:ph idx="1"/>
          </p:nvPr>
        </p:nvSpPr>
        <p:spPr>
          <a:xfrm>
            <a:off x="0" y="68449"/>
            <a:ext cx="9144000" cy="6576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sz="2800" b="1" dirty="0"/>
              <a:t> </a:t>
            </a:r>
            <a:r>
              <a:rPr lang="es-AR" sz="2800" b="1" i="1" dirty="0"/>
              <a:t>Estrecho inferior  </a:t>
            </a:r>
            <a:r>
              <a:rPr lang="es-AR" sz="2400" i="1" dirty="0"/>
              <a:t>Este estrecho no es un verdadero plano, sino que se </a:t>
            </a:r>
            <a:r>
              <a:rPr lang="es-AR" sz="2400" dirty="0"/>
              <a:t>compone de dos triángulos de base común (línea que une ambas tuberosidades </a:t>
            </a:r>
            <a:r>
              <a:rPr lang="es-AR" sz="2400" dirty="0" err="1"/>
              <a:t>isquíaticas</a:t>
            </a:r>
            <a:r>
              <a:rPr lang="es-AR" sz="2400" dirty="0"/>
              <a:t>) y cuyo ángulo anterior corresponde al borde inferior de la sínfisis y su ángulo posterior al cóccix.</a:t>
            </a:r>
          </a:p>
          <a:p>
            <a:pPr>
              <a:buNone/>
            </a:pPr>
            <a:r>
              <a:rPr lang="es-AR" sz="2400" dirty="0"/>
              <a:t>Borde inferior de la sínfisis púbica y recorre el borde inferior de la misma, parte más inferior e interna de las ramas </a:t>
            </a:r>
            <a:r>
              <a:rPr lang="es-AR" sz="2400" dirty="0" err="1"/>
              <a:t>isquiopubianas</a:t>
            </a:r>
            <a:r>
              <a:rPr lang="es-AR" sz="2400" dirty="0"/>
              <a:t> y de las tuberosidades isquiáticas por el Ligamento </a:t>
            </a:r>
            <a:r>
              <a:rPr lang="es-AR" sz="2400" dirty="0" err="1"/>
              <a:t>sacrociático</a:t>
            </a:r>
            <a:r>
              <a:rPr lang="es-AR" sz="2400" dirty="0"/>
              <a:t> mayor hasta la punta del hueso sacro. </a:t>
            </a:r>
          </a:p>
          <a:p>
            <a:r>
              <a:rPr lang="es-AR" sz="2400" b="1" u="sng" dirty="0"/>
              <a:t>Diámetros </a:t>
            </a:r>
            <a:r>
              <a:rPr lang="es-AR" sz="2400" b="1" u="sng" dirty="0" err="1"/>
              <a:t>anteroposteriores</a:t>
            </a:r>
            <a:r>
              <a:rPr lang="es-AR" sz="2400" b="1" u="sng" dirty="0"/>
              <a:t>. </a:t>
            </a:r>
            <a:r>
              <a:rPr lang="es-AR" sz="2400" b="1" dirty="0" err="1"/>
              <a:t>subsacrosubpubiano</a:t>
            </a:r>
            <a:r>
              <a:rPr lang="es-AR" sz="2400" b="1" dirty="0"/>
              <a:t>: </a:t>
            </a:r>
            <a:r>
              <a:rPr lang="es-AR" sz="2400" dirty="0"/>
              <a:t> desde la </a:t>
            </a:r>
            <a:r>
              <a:rPr lang="es-AR" sz="2400" dirty="0" err="1"/>
              <a:t>articulacion</a:t>
            </a:r>
            <a:r>
              <a:rPr lang="es-AR" sz="2400" dirty="0"/>
              <a:t> </a:t>
            </a:r>
            <a:r>
              <a:rPr lang="es-AR" sz="2400" dirty="0" err="1"/>
              <a:t>sacrocoxigea</a:t>
            </a:r>
            <a:r>
              <a:rPr lang="es-AR" sz="2400" dirty="0"/>
              <a:t> hasta el borde inferior del pubis y mide </a:t>
            </a:r>
            <a:r>
              <a:rPr lang="es-AR" sz="2400" b="1" dirty="0"/>
              <a:t>11 cm.                                                             </a:t>
            </a:r>
          </a:p>
          <a:p>
            <a:pPr>
              <a:buNone/>
            </a:pPr>
            <a:r>
              <a:rPr lang="es-AR" sz="2400" b="1" dirty="0"/>
              <a:t> </a:t>
            </a:r>
            <a:r>
              <a:rPr lang="es-AR" sz="2400" b="1" dirty="0" err="1"/>
              <a:t>subcóccixsubpubiano</a:t>
            </a:r>
            <a:r>
              <a:rPr lang="es-AR" sz="2400" b="1" dirty="0"/>
              <a:t>:</a:t>
            </a:r>
            <a:r>
              <a:rPr lang="es-AR" sz="2400" dirty="0"/>
              <a:t>  desde el extremo inferior del cóccix hasta el borde inferior del pubis y mide </a:t>
            </a:r>
            <a:r>
              <a:rPr lang="es-AR" sz="2400" b="1" dirty="0"/>
              <a:t>9 cm</a:t>
            </a:r>
            <a:r>
              <a:rPr lang="es-AR" sz="2400" dirty="0"/>
              <a:t>. </a:t>
            </a:r>
          </a:p>
          <a:p>
            <a:pPr>
              <a:buNone/>
            </a:pPr>
            <a:r>
              <a:rPr lang="es-AR" sz="2400" dirty="0"/>
              <a:t>Retropulsión del cóccix….. puede llegar a medir </a:t>
            </a:r>
            <a:r>
              <a:rPr lang="es-AR" sz="2400" b="1" dirty="0"/>
              <a:t>11 cm</a:t>
            </a:r>
            <a:r>
              <a:rPr lang="es-AR" sz="2400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-171400"/>
            <a:ext cx="9144000" cy="7029400"/>
          </a:xfrm>
        </p:spPr>
        <p:txBody>
          <a:bodyPr>
            <a:normAutofit/>
          </a:bodyPr>
          <a:lstStyle/>
          <a:p>
            <a:br>
              <a:rPr lang="es-AR" sz="4000" dirty="0"/>
            </a:br>
            <a:r>
              <a:rPr lang="es-AR" sz="4000" b="1" u="sng" dirty="0"/>
              <a:t>Diámetro transversal.</a:t>
            </a:r>
            <a:r>
              <a:rPr lang="es-AR" sz="4000" u="sng" dirty="0"/>
              <a:t> </a:t>
            </a:r>
            <a:r>
              <a:rPr lang="es-AR" sz="4000" dirty="0"/>
              <a:t>Llamado también </a:t>
            </a:r>
            <a:r>
              <a:rPr lang="es-AR" sz="4000" b="1" dirty="0" err="1"/>
              <a:t>biisquiático</a:t>
            </a:r>
            <a:r>
              <a:rPr lang="es-AR" sz="4000" b="1" dirty="0"/>
              <a:t> </a:t>
            </a:r>
            <a:r>
              <a:rPr lang="es-AR" sz="4000" dirty="0"/>
              <a:t>en la pelvis femenina es de unos 10.5 cm.</a:t>
            </a:r>
            <a:br>
              <a:rPr lang="es-AR" sz="4000" dirty="0"/>
            </a:br>
            <a:br>
              <a:rPr lang="es-AR" sz="4000" dirty="0"/>
            </a:br>
            <a:br>
              <a:rPr lang="es-AR" sz="4000" dirty="0"/>
            </a:br>
            <a:r>
              <a:rPr lang="es-AR" i="1" dirty="0"/>
              <a:t>Eje pelviano o Curva de </a:t>
            </a:r>
            <a:r>
              <a:rPr lang="es-AR" i="1" dirty="0" err="1"/>
              <a:t>Carus</a:t>
            </a:r>
            <a:br>
              <a:rPr lang="es-AR" i="1" dirty="0"/>
            </a:br>
            <a:r>
              <a:rPr lang="es-AR" sz="2700" i="1" dirty="0"/>
              <a:t>Es la unión de los ejes de los </a:t>
            </a:r>
            <a:r>
              <a:rPr lang="es-AR" sz="2700" dirty="0"/>
              <a:t>múltiples planos existentes entre el estrecho superior y el inferior, y debe ser respetado por el feto en su mecanismo de parto.</a:t>
            </a:r>
            <a:r>
              <a:rPr lang="es-AR" sz="4400" i="1" dirty="0"/>
              <a:t> </a:t>
            </a:r>
            <a:br>
              <a:rPr lang="es-AR" sz="4400" i="1" dirty="0"/>
            </a:br>
            <a:endParaRPr lang="es-A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iguel\Desktop\Nueva carpeta\DSC00160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6372200" cy="4472097"/>
          </a:xfrm>
          <a:prstGeom prst="rect">
            <a:avLst/>
          </a:prstGeom>
          <a:noFill/>
        </p:spPr>
      </p:pic>
      <p:pic>
        <p:nvPicPr>
          <p:cNvPr id="3" name="Picture 2" descr="C:\Users\miguel\Desktop\Nueva carpeta\thumbnailCAR4G7S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36082" y="3717032"/>
            <a:ext cx="4407918" cy="31409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s-AR" sz="5100" b="1" i="1" dirty="0"/>
              <a:t>Planos de </a:t>
            </a:r>
            <a:r>
              <a:rPr lang="es-AR" sz="5100" b="1" i="1" dirty="0" err="1"/>
              <a:t>Hodge</a:t>
            </a:r>
            <a:r>
              <a:rPr lang="es-AR" sz="5100" b="1" i="1" dirty="0"/>
              <a:t>:</a:t>
            </a:r>
          </a:p>
          <a:p>
            <a:pPr>
              <a:buNone/>
            </a:pPr>
            <a:r>
              <a:rPr lang="es-AR" sz="2200" dirty="0"/>
              <a:t>Son planos imaginarios que nos permiten conocer a que altura de la pelvis se encuentra el polo fetal durante el trabajo de parto </a:t>
            </a:r>
          </a:p>
          <a:p>
            <a:pPr>
              <a:buNone/>
            </a:pPr>
            <a:r>
              <a:rPr lang="es-AR" sz="2200" b="1" u="sng" dirty="0"/>
              <a:t>Primer plano </a:t>
            </a:r>
            <a:r>
              <a:rPr lang="es-AR" sz="2200" b="1" dirty="0"/>
              <a:t>: </a:t>
            </a:r>
            <a:r>
              <a:rPr lang="es-AR" sz="2200" dirty="0"/>
              <a:t>coincide con el estrecho superior y une el promontorio con el borde superior del pubis </a:t>
            </a:r>
          </a:p>
          <a:p>
            <a:pPr>
              <a:buNone/>
            </a:pPr>
            <a:r>
              <a:rPr lang="es-AR" sz="2200" dirty="0"/>
              <a:t>                                                               </a:t>
            </a:r>
            <a:r>
              <a:rPr lang="es-AR" sz="2200" b="1" dirty="0"/>
              <a:t>la presentación esta móvil</a:t>
            </a:r>
            <a:endParaRPr lang="es-AR" sz="2200" dirty="0"/>
          </a:p>
          <a:p>
            <a:pPr>
              <a:buNone/>
            </a:pPr>
            <a:endParaRPr lang="es-AR" sz="2200" dirty="0"/>
          </a:p>
          <a:p>
            <a:pPr>
              <a:buNone/>
            </a:pPr>
            <a:r>
              <a:rPr lang="es-AR" sz="2200" dirty="0"/>
              <a:t> </a:t>
            </a:r>
            <a:r>
              <a:rPr lang="es-AR" sz="2200" b="1" u="sng" dirty="0"/>
              <a:t>Segundo plano</a:t>
            </a:r>
            <a:r>
              <a:rPr lang="es-AR" sz="2200" b="1" dirty="0"/>
              <a:t>:</a:t>
            </a:r>
            <a:r>
              <a:rPr lang="es-AR" sz="2200" dirty="0"/>
              <a:t> paralelo al 1° pasa por el borde inferior del pubis. </a:t>
            </a:r>
          </a:p>
          <a:p>
            <a:pPr>
              <a:buNone/>
            </a:pPr>
            <a:r>
              <a:rPr lang="es-AR" sz="2200" dirty="0"/>
              <a:t>                                                               </a:t>
            </a:r>
            <a:r>
              <a:rPr lang="es-AR" sz="2200" b="1" dirty="0"/>
              <a:t>la presentación esta fija</a:t>
            </a:r>
            <a:endParaRPr lang="es-AR" sz="2200" dirty="0"/>
          </a:p>
          <a:p>
            <a:pPr>
              <a:buNone/>
            </a:pPr>
            <a:endParaRPr lang="es-AR" sz="2200" dirty="0"/>
          </a:p>
          <a:p>
            <a:pPr>
              <a:buNone/>
            </a:pPr>
            <a:r>
              <a:rPr lang="es-AR" sz="2200" b="1" u="sng" dirty="0"/>
              <a:t>Tercer plano</a:t>
            </a:r>
            <a:r>
              <a:rPr lang="es-AR" sz="2200" u="sng" dirty="0"/>
              <a:t> </a:t>
            </a:r>
            <a:r>
              <a:rPr lang="es-AR" sz="2200" dirty="0"/>
              <a:t>: paralelo a los anteriores pasa por las espinas ciáticas. </a:t>
            </a:r>
          </a:p>
          <a:p>
            <a:pPr>
              <a:buNone/>
            </a:pPr>
            <a:r>
              <a:rPr lang="es-AR" sz="2200" dirty="0"/>
              <a:t>                                                              </a:t>
            </a:r>
            <a:r>
              <a:rPr lang="es-AR" sz="2200" b="1" dirty="0"/>
              <a:t>la presentación esta encajada.</a:t>
            </a:r>
          </a:p>
          <a:p>
            <a:pPr>
              <a:buNone/>
            </a:pPr>
            <a:endParaRPr lang="es-AR" sz="2200" b="1" dirty="0"/>
          </a:p>
          <a:p>
            <a:pPr>
              <a:buNone/>
            </a:pPr>
            <a:r>
              <a:rPr lang="es-AR" sz="2200" b="1" u="sng" dirty="0"/>
              <a:t>Cuarto plano</a:t>
            </a:r>
            <a:r>
              <a:rPr lang="es-AR" sz="2200" b="1" dirty="0"/>
              <a:t>:</a:t>
            </a:r>
            <a:r>
              <a:rPr lang="es-AR" sz="2200" dirty="0"/>
              <a:t> pasa por el extremo inferior del cóccix no </a:t>
            </a:r>
            <a:r>
              <a:rPr lang="es-AR" sz="2200" dirty="0" err="1"/>
              <a:t>retropulsado</a:t>
            </a:r>
            <a:r>
              <a:rPr lang="es-AR" sz="2200" dirty="0"/>
              <a:t>. </a:t>
            </a:r>
          </a:p>
          <a:p>
            <a:pPr>
              <a:buNone/>
            </a:pPr>
            <a:r>
              <a:rPr lang="es-AR" sz="2200" dirty="0"/>
              <a:t>                                                     </a:t>
            </a:r>
            <a:r>
              <a:rPr lang="es-AR" sz="2200" b="1" dirty="0"/>
              <a:t>Presentación profundamente encajada</a:t>
            </a:r>
          </a:p>
          <a:p>
            <a:pPr>
              <a:buNone/>
            </a:pPr>
            <a:endParaRPr lang="es-AR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iguel\Desktop\Nueva carpeta\DSC00161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11" y="74258"/>
            <a:ext cx="8945977" cy="670948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2887" y="188640"/>
            <a:ext cx="8676456" cy="5865515"/>
          </a:xfrm>
        </p:spPr>
        <p:txBody>
          <a:bodyPr/>
          <a:lstStyle/>
          <a:p>
            <a:pPr>
              <a:buNone/>
            </a:pPr>
            <a:r>
              <a:rPr lang="es-AR" dirty="0"/>
              <a:t>Conocer las características de la pelvis de nuestra paciente nos ayudara a tomar  decisiones </a:t>
            </a:r>
          </a:p>
          <a:p>
            <a:endParaRPr lang="es-AR" dirty="0"/>
          </a:p>
          <a:p>
            <a:pPr>
              <a:buNone/>
            </a:pPr>
            <a:r>
              <a:rPr lang="es-AR" dirty="0"/>
              <a:t>                              </a:t>
            </a:r>
          </a:p>
          <a:p>
            <a:pPr>
              <a:buNone/>
            </a:pPr>
            <a:r>
              <a:rPr lang="es-AR" dirty="0"/>
              <a:t>                              </a:t>
            </a:r>
            <a:r>
              <a:rPr lang="es-AR" dirty="0" err="1"/>
              <a:t>Pelvigrafía</a:t>
            </a:r>
            <a:r>
              <a:rPr lang="es-AR" dirty="0"/>
              <a:t>  (no se usa)</a:t>
            </a:r>
          </a:p>
          <a:p>
            <a:pPr>
              <a:buNone/>
            </a:pPr>
            <a:endParaRPr lang="es-AR" dirty="0"/>
          </a:p>
          <a:p>
            <a:pPr>
              <a:buNone/>
            </a:pPr>
            <a:r>
              <a:rPr lang="es-AR" dirty="0"/>
              <a:t>    Pelvis                </a:t>
            </a:r>
            <a:r>
              <a:rPr lang="es-AR" dirty="0" err="1"/>
              <a:t>Pelvimetría</a:t>
            </a:r>
            <a:r>
              <a:rPr lang="es-AR" dirty="0"/>
              <a:t> externa (</a:t>
            </a:r>
            <a:r>
              <a:rPr lang="es-AR" sz="2800" dirty="0"/>
              <a:t>poco</a:t>
            </a:r>
            <a:r>
              <a:rPr lang="es-AR" dirty="0"/>
              <a:t> usada)</a:t>
            </a:r>
          </a:p>
          <a:p>
            <a:endParaRPr lang="es-AR" dirty="0"/>
          </a:p>
          <a:p>
            <a:pPr>
              <a:buNone/>
            </a:pPr>
            <a:r>
              <a:rPr lang="es-AR" dirty="0"/>
              <a:t>                              </a:t>
            </a:r>
            <a:r>
              <a:rPr lang="es-AR" b="1" dirty="0" err="1"/>
              <a:t>Pelvimetría</a:t>
            </a:r>
            <a:r>
              <a:rPr lang="es-AR" b="1" dirty="0"/>
              <a:t> interna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692696"/>
          </a:xfrm>
        </p:spPr>
        <p:txBody>
          <a:bodyPr>
            <a:normAutofit/>
          </a:bodyPr>
          <a:lstStyle/>
          <a:p>
            <a:r>
              <a:rPr lang="es-AR" sz="3200" b="1" dirty="0" err="1"/>
              <a:t>Pelvimetria</a:t>
            </a:r>
            <a:r>
              <a:rPr lang="es-AR" sz="3200" b="1" dirty="0"/>
              <a:t> externa</a:t>
            </a:r>
          </a:p>
        </p:txBody>
      </p:sp>
      <p:pic>
        <p:nvPicPr>
          <p:cNvPr id="1026" name="Picture 2" descr="C:\Users\miguel\Desktop\Nueva carpeta\DSC0017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6183" y="549275"/>
            <a:ext cx="8411633" cy="63087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2050" name="Picture 2" descr="C:\Users\miguel\Desktop\Nueva carpeta\DSC00181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476672"/>
            <a:ext cx="7632847" cy="63813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miguel\Desktop\Nueva carpeta\DSC00162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969799" y="2471348"/>
            <a:ext cx="4426527" cy="3358342"/>
          </a:xfrm>
          <a:prstGeom prst="rect">
            <a:avLst/>
          </a:prstGeom>
          <a:noFill/>
        </p:spPr>
      </p:pic>
      <p:pic>
        <p:nvPicPr>
          <p:cNvPr id="3075" name="Picture 3" descr="C:\Users\miguel\Desktop\Nueva carpeta\DSC0016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429000"/>
            <a:ext cx="4716016" cy="3429000"/>
          </a:xfrm>
          <a:prstGeom prst="rect">
            <a:avLst/>
          </a:prstGeom>
          <a:noFill/>
        </p:spPr>
      </p:pic>
      <p:pic>
        <p:nvPicPr>
          <p:cNvPr id="3078" name="Picture 6" descr="C:\Users\miguel\Desktop\Nueva carpeta\DSC00158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" y="0"/>
            <a:ext cx="4475988" cy="3429000"/>
          </a:xfrm>
          <a:prstGeom prst="rect">
            <a:avLst/>
          </a:prstGeom>
          <a:noFill/>
        </p:spPr>
      </p:pic>
      <p:pic>
        <p:nvPicPr>
          <p:cNvPr id="3080" name="Picture 8" descr="C:\Users\miguel\Desktop\Nueva carpeta\DSC00159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27984" y="1"/>
            <a:ext cx="4716016" cy="34824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5121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s-AR" b="1" i="1" dirty="0" err="1"/>
              <a:t>Pelvimetría</a:t>
            </a:r>
            <a:r>
              <a:rPr lang="es-AR" b="1" i="1" dirty="0"/>
              <a:t> interna:</a:t>
            </a:r>
            <a:br>
              <a:rPr lang="es-AR" i="1" dirty="0"/>
            </a:b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0" y="587195"/>
            <a:ext cx="9144000" cy="6270805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AR" sz="2400" dirty="0"/>
              <a:t>Permite medir los diámetros </a:t>
            </a:r>
            <a:r>
              <a:rPr lang="es-AR" sz="2400" dirty="0" err="1"/>
              <a:t>anteroposteriores</a:t>
            </a:r>
            <a:r>
              <a:rPr lang="es-AR" sz="2400" dirty="0"/>
              <a:t> de los diferentes estrechos, y la altura de la sínfisis pubiana.</a:t>
            </a:r>
          </a:p>
          <a:p>
            <a:pPr>
              <a:buNone/>
            </a:pPr>
            <a:r>
              <a:rPr lang="es-AR" sz="2400" i="1" dirty="0"/>
              <a:t> Al </a:t>
            </a:r>
            <a:r>
              <a:rPr lang="es-AR" sz="2400" i="1" dirty="0" err="1"/>
              <a:t>tactar</a:t>
            </a:r>
            <a:r>
              <a:rPr lang="es-AR" sz="2400" i="1" dirty="0"/>
              <a:t> desde el pubis hacia atrás normalmente no se </a:t>
            </a:r>
            <a:r>
              <a:rPr lang="es-AR" sz="2400" dirty="0"/>
              <a:t>alcanza el promontorio, </a:t>
            </a:r>
            <a:r>
              <a:rPr lang="es-AR" sz="2400" b="1" dirty="0"/>
              <a:t>(ojo </a:t>
            </a:r>
            <a:r>
              <a:rPr lang="es-AR" sz="2400" b="1" i="1" dirty="0"/>
              <a:t>falso promontorio )</a:t>
            </a:r>
          </a:p>
          <a:p>
            <a:pPr>
              <a:buNone/>
            </a:pPr>
            <a:r>
              <a:rPr lang="es-AR" sz="2400" dirty="0"/>
              <a:t>marcar con la otra mano el lugar correspondiente al </a:t>
            </a:r>
            <a:r>
              <a:rPr lang="es-AR" sz="2400" dirty="0" err="1"/>
              <a:t>subpubis</a:t>
            </a:r>
            <a:r>
              <a:rPr lang="es-AR" sz="2400" dirty="0"/>
              <a:t>, y llevar la medida a una regla graduada en cm.</a:t>
            </a:r>
          </a:p>
          <a:p>
            <a:pPr>
              <a:buNone/>
            </a:pPr>
            <a:r>
              <a:rPr lang="es-AR" sz="2400" dirty="0"/>
              <a:t> debería medir </a:t>
            </a:r>
            <a:r>
              <a:rPr lang="es-AR" sz="2400" b="1" i="1" dirty="0"/>
              <a:t>12 cm</a:t>
            </a:r>
            <a:r>
              <a:rPr lang="es-AR" sz="2400" i="1" dirty="0"/>
              <a:t>, si se le resta la </a:t>
            </a:r>
            <a:r>
              <a:rPr lang="es-AR" sz="2400" dirty="0"/>
              <a:t>constante 1,5 cm se obtiene el </a:t>
            </a:r>
            <a:r>
              <a:rPr lang="es-AR" sz="2400" dirty="0" err="1"/>
              <a:t>promonto</a:t>
            </a:r>
            <a:r>
              <a:rPr lang="es-AR" sz="2400" dirty="0"/>
              <a:t> pubiano </a:t>
            </a:r>
            <a:r>
              <a:rPr lang="es-AR" sz="2400" dirty="0" err="1"/>
              <a:t>minimo</a:t>
            </a:r>
            <a:r>
              <a:rPr lang="es-AR" sz="2400" b="1" i="1" dirty="0"/>
              <a:t>( 10,5 cm), </a:t>
            </a:r>
            <a:endParaRPr lang="es-AR" sz="2400" dirty="0"/>
          </a:p>
          <a:p>
            <a:pPr>
              <a:buNone/>
            </a:pPr>
            <a:r>
              <a:rPr lang="es-AR" sz="2400" dirty="0"/>
              <a:t> </a:t>
            </a:r>
          </a:p>
          <a:p>
            <a:pPr>
              <a:buNone/>
            </a:pPr>
            <a:r>
              <a:rPr lang="pt-BR" sz="2400" dirty="0" err="1"/>
              <a:t>Diámetros</a:t>
            </a:r>
            <a:r>
              <a:rPr lang="pt-BR" sz="2400" dirty="0"/>
              <a:t> </a:t>
            </a:r>
            <a:r>
              <a:rPr lang="pt-BR" sz="2400" dirty="0" err="1"/>
              <a:t>valorables</a:t>
            </a:r>
            <a:r>
              <a:rPr lang="pt-BR" sz="2400" dirty="0"/>
              <a:t>: </a:t>
            </a:r>
            <a:r>
              <a:rPr lang="pt-BR" sz="2400" i="1" dirty="0" err="1"/>
              <a:t>Promonto-subpubiano</a:t>
            </a:r>
            <a:r>
              <a:rPr lang="pt-BR" sz="2400" i="1" dirty="0"/>
              <a:t>  </a:t>
            </a:r>
            <a:r>
              <a:rPr lang="es-AR" sz="2400" i="1" dirty="0" err="1"/>
              <a:t>Misacro-subpubiano</a:t>
            </a:r>
            <a:r>
              <a:rPr lang="es-AR" sz="2400" i="1" dirty="0"/>
              <a:t>; </a:t>
            </a:r>
            <a:r>
              <a:rPr lang="es-AR" sz="2400" i="1" dirty="0" err="1"/>
              <a:t>Subsacro-subpubiano</a:t>
            </a:r>
            <a:r>
              <a:rPr lang="es-AR" sz="2400" i="1" dirty="0"/>
              <a:t>; </a:t>
            </a:r>
            <a:r>
              <a:rPr lang="es-AR" sz="2400" i="1" dirty="0" err="1"/>
              <a:t>Subcocci-subpubiano</a:t>
            </a:r>
            <a:r>
              <a:rPr lang="es-AR" sz="2400" i="1" dirty="0"/>
              <a:t>.</a:t>
            </a:r>
          </a:p>
          <a:p>
            <a:pPr>
              <a:buNone/>
            </a:pPr>
            <a:r>
              <a:rPr lang="es-AR" sz="2400" b="1" i="1" dirty="0"/>
              <a:t>Grados de Estrechez Pélvica</a:t>
            </a:r>
            <a:r>
              <a:rPr lang="es-AR" sz="2400" i="1" dirty="0"/>
              <a:t>:</a:t>
            </a:r>
          </a:p>
          <a:p>
            <a:pPr>
              <a:buNone/>
            </a:pPr>
            <a:r>
              <a:rPr lang="es-AR" sz="2400" b="1" dirty="0"/>
              <a:t>I</a:t>
            </a:r>
            <a:r>
              <a:rPr lang="es-AR" sz="2400" dirty="0"/>
              <a:t>. 10,5 =&gt; 9,5 PARTO                                           </a:t>
            </a:r>
            <a:r>
              <a:rPr lang="es-AR" sz="2400" b="1" dirty="0"/>
              <a:t> III</a:t>
            </a:r>
            <a:r>
              <a:rPr lang="es-AR" sz="2400" dirty="0"/>
              <a:t>.  8 =&gt; 6 CESÁREA</a:t>
            </a:r>
          </a:p>
          <a:p>
            <a:pPr>
              <a:buNone/>
            </a:pPr>
            <a:r>
              <a:rPr lang="es-AR" sz="2400" dirty="0"/>
              <a:t>                       </a:t>
            </a:r>
          </a:p>
          <a:p>
            <a:pPr>
              <a:buNone/>
            </a:pPr>
            <a:r>
              <a:rPr lang="es-AR" sz="2400" b="1" dirty="0"/>
              <a:t>II</a:t>
            </a:r>
            <a:r>
              <a:rPr lang="es-AR" sz="2400" dirty="0"/>
              <a:t>. 9,5 =&gt; 8                                                             </a:t>
            </a:r>
            <a:r>
              <a:rPr lang="es-AR" sz="2400" b="1" dirty="0"/>
              <a:t>IV</a:t>
            </a:r>
            <a:r>
              <a:rPr lang="es-AR" sz="2400" dirty="0"/>
              <a:t>.  &lt;6</a:t>
            </a:r>
          </a:p>
          <a:p>
            <a:pPr>
              <a:buNone/>
            </a:pPr>
            <a:r>
              <a:rPr lang="es-AR" sz="2400" dirty="0"/>
              <a:t>   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098" name="Picture 2" descr="C:\Users\miguel\Desktop\Nueva carpeta\DSC00155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60648"/>
            <a:ext cx="8080999" cy="61653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Picture 5" descr="C:\Users\miguel\Desktop\Nueva carpeta\DSC00157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5" name="Picture 2" descr="C:\Users\miguel\Desktop\Nueva carpeta\DSC0015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27984" y="0"/>
            <a:ext cx="4536504" cy="20608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332656"/>
            <a:ext cx="8568952" cy="6525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9144000" cy="7029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289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/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858000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s-AR" sz="12800" b="1" dirty="0"/>
              <a:t>El periné </a:t>
            </a:r>
            <a:r>
              <a:rPr lang="es-AR" sz="8000" dirty="0"/>
              <a:t>se halla limitado hacia delante por el arco púbico, lateralmente por las ramas </a:t>
            </a:r>
            <a:r>
              <a:rPr lang="es-AR" sz="8000" dirty="0" err="1"/>
              <a:t>isquiopubianas</a:t>
            </a:r>
            <a:r>
              <a:rPr lang="es-AR" sz="8000" dirty="0"/>
              <a:t> y las tuberosidades isquiáticas y hacia atrás por los ligamentos </a:t>
            </a:r>
            <a:r>
              <a:rPr lang="es-AR" sz="8000" dirty="0" err="1"/>
              <a:t>sacrociáticos</a:t>
            </a:r>
            <a:r>
              <a:rPr lang="es-AR" sz="8000" dirty="0"/>
              <a:t>  mayor y menor. </a:t>
            </a:r>
          </a:p>
          <a:p>
            <a:endParaRPr lang="es-AR" sz="6400" dirty="0"/>
          </a:p>
          <a:p>
            <a:r>
              <a:rPr lang="es-AR" sz="8000" b="1" u="sng" dirty="0"/>
              <a:t>triángulo anterior urogenital</a:t>
            </a:r>
            <a:r>
              <a:rPr lang="es-AR" sz="8000" u="sng" dirty="0"/>
              <a:t>, </a:t>
            </a:r>
            <a:r>
              <a:rPr lang="es-AR" sz="8000" dirty="0"/>
              <a:t>donde se encuentra el diafragma urogenital</a:t>
            </a:r>
          </a:p>
          <a:p>
            <a:r>
              <a:rPr lang="es-AR" sz="8000" b="1" u="sng" dirty="0"/>
              <a:t>triángulo posterior o </a:t>
            </a:r>
            <a:r>
              <a:rPr lang="es-AR" sz="8000" b="1" u="sng" dirty="0" err="1"/>
              <a:t>anorrectal</a:t>
            </a:r>
            <a:r>
              <a:rPr lang="es-AR" sz="8000" b="1" u="sng" dirty="0"/>
              <a:t> </a:t>
            </a:r>
            <a:r>
              <a:rPr lang="es-AR" sz="8000" dirty="0"/>
              <a:t>donde están las fosas </a:t>
            </a:r>
            <a:r>
              <a:rPr lang="es-AR" sz="8000" dirty="0" err="1"/>
              <a:t>isquiorrectales</a:t>
            </a:r>
            <a:r>
              <a:rPr lang="es-AR" sz="8000" dirty="0"/>
              <a:t> que contienen una gran cantidad de tejido adiposo, los vasos y nervios hemorroidales inferiores y los vasos y nervios pudendos internos</a:t>
            </a:r>
            <a:r>
              <a:rPr lang="es-AR" sz="6400" dirty="0"/>
              <a:t>.</a:t>
            </a:r>
          </a:p>
          <a:p>
            <a:pPr>
              <a:buNone/>
            </a:pPr>
            <a:r>
              <a:rPr lang="pt-BR" sz="9600" b="1" dirty="0"/>
              <a:t>El plano profundo o </a:t>
            </a:r>
            <a:r>
              <a:rPr lang="pt-BR" sz="9600" b="1" i="1" dirty="0"/>
              <a:t>diafragma pélvico   </a:t>
            </a:r>
            <a:r>
              <a:rPr lang="es-AR" sz="8000" b="1" dirty="0"/>
              <a:t>musculo elevador del ano </a:t>
            </a:r>
          </a:p>
          <a:p>
            <a:pPr>
              <a:buNone/>
            </a:pPr>
            <a:r>
              <a:rPr lang="es-AR" sz="8000" b="1" dirty="0"/>
              <a:t>                                                                                        músculo coccígeo</a:t>
            </a:r>
            <a:endParaRPr lang="es-AR" sz="8000" dirty="0"/>
          </a:p>
          <a:p>
            <a:pPr>
              <a:buNone/>
            </a:pPr>
            <a:r>
              <a:rPr lang="es-AR" sz="6400" b="1" dirty="0"/>
              <a:t>        El </a:t>
            </a:r>
            <a:r>
              <a:rPr lang="es-AR" sz="6400" b="1" i="1" dirty="0"/>
              <a:t>músculo elevador del ano </a:t>
            </a:r>
            <a:r>
              <a:rPr lang="es-AR" sz="6400" i="1" dirty="0"/>
              <a:t>se fija a la pelvis en las ramas </a:t>
            </a:r>
            <a:r>
              <a:rPr lang="es-AR" sz="6400" dirty="0"/>
              <a:t>descendentes y horizontales del pubis, espina ciática, aponeurosis del obturador interno y bordes del </a:t>
            </a:r>
            <a:r>
              <a:rPr lang="es-AR" sz="6400" dirty="0" err="1"/>
              <a:t>cóxis</a:t>
            </a:r>
            <a:r>
              <a:rPr lang="es-AR" sz="6400" dirty="0"/>
              <a:t>.  Sus fibras se dirigen a la línea media y se entrecruzan con las del lado opuesto.</a:t>
            </a:r>
          </a:p>
          <a:p>
            <a:pPr>
              <a:buNone/>
            </a:pPr>
            <a:r>
              <a:rPr lang="es-AR" sz="6400" b="1" dirty="0"/>
              <a:t>        El </a:t>
            </a:r>
            <a:r>
              <a:rPr lang="es-AR" sz="6400" b="1" i="1" dirty="0"/>
              <a:t>músculo coccígeo </a:t>
            </a:r>
            <a:r>
              <a:rPr lang="es-AR" sz="6400" i="1" dirty="0"/>
              <a:t>se inserta en la espina ciática y </a:t>
            </a:r>
            <a:r>
              <a:rPr lang="es-AR" sz="6400" dirty="0"/>
              <a:t>sus ramas se abren en abanico fijándose en las caras laterales de los segmentos sacros inferiores y cóccix.</a:t>
            </a:r>
          </a:p>
          <a:p>
            <a:pPr>
              <a:buNone/>
            </a:pPr>
            <a:r>
              <a:rPr lang="es-AR" sz="9600" b="1" dirty="0"/>
              <a:t>El plano músculo aponeurótico medio</a:t>
            </a:r>
            <a:r>
              <a:rPr lang="es-AR" sz="9600" dirty="0"/>
              <a:t>, </a:t>
            </a:r>
            <a:r>
              <a:rPr lang="es-AR" sz="6400" dirty="0"/>
              <a:t>también llamado </a:t>
            </a:r>
            <a:r>
              <a:rPr lang="es-AR" sz="8000" b="1" i="1" dirty="0"/>
              <a:t>diafragma urogenital</a:t>
            </a:r>
            <a:r>
              <a:rPr lang="es-AR" sz="6400" i="1" dirty="0"/>
              <a:t>, se encuentra atravesado por la </a:t>
            </a:r>
            <a:r>
              <a:rPr lang="es-AR" sz="6400" dirty="0"/>
              <a:t>uretra y la vagina</a:t>
            </a:r>
            <a:r>
              <a:rPr lang="es-AR" sz="8000" b="1" dirty="0"/>
              <a:t> musculo transverso profundo </a:t>
            </a:r>
          </a:p>
          <a:p>
            <a:pPr>
              <a:buNone/>
            </a:pPr>
            <a:r>
              <a:rPr lang="es-AR" sz="8000" b="1" dirty="0"/>
              <a:t>                                                          </a:t>
            </a:r>
            <a:r>
              <a:rPr lang="es-AR" sz="8000" b="1" i="1" dirty="0"/>
              <a:t>músculo esfínter externo de la uretra</a:t>
            </a:r>
          </a:p>
          <a:p>
            <a:pPr>
              <a:buNone/>
            </a:pPr>
            <a:endParaRPr lang="es-AR" sz="6400" b="1" i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7999"/>
          </a:xfrm>
        </p:spPr>
        <p:txBody>
          <a:bodyPr/>
          <a:lstStyle/>
          <a:p>
            <a:pPr>
              <a:buNone/>
            </a:pPr>
            <a:r>
              <a:rPr lang="es-AR" sz="2800" b="1" dirty="0"/>
              <a:t>El plano músculo aponeurótico medio</a:t>
            </a:r>
            <a:r>
              <a:rPr lang="es-AR" sz="2800" dirty="0"/>
              <a:t>,</a:t>
            </a:r>
          </a:p>
          <a:p>
            <a:pPr>
              <a:buNone/>
            </a:pPr>
            <a:r>
              <a:rPr lang="es-AR" sz="2800" dirty="0"/>
              <a:t> </a:t>
            </a:r>
            <a:r>
              <a:rPr lang="es-AR" sz="1600" dirty="0"/>
              <a:t>también llamado </a:t>
            </a:r>
            <a:r>
              <a:rPr lang="es-AR" b="1" i="1" dirty="0"/>
              <a:t>diafragma urogenital</a:t>
            </a:r>
            <a:r>
              <a:rPr lang="es-AR" sz="1600" i="1" dirty="0"/>
              <a:t>, se encuentra atravesado por la </a:t>
            </a:r>
            <a:r>
              <a:rPr lang="es-AR" sz="1600" dirty="0"/>
              <a:t>uretra y la vagina</a:t>
            </a:r>
            <a:r>
              <a:rPr lang="es-AR" b="1" dirty="0"/>
              <a:t> musculo transverso profundo </a:t>
            </a:r>
          </a:p>
          <a:p>
            <a:pPr>
              <a:buNone/>
            </a:pPr>
            <a:r>
              <a:rPr lang="es-AR" b="1" dirty="0"/>
              <a:t>     </a:t>
            </a:r>
            <a:r>
              <a:rPr lang="es-AR" b="1" i="1" dirty="0"/>
              <a:t>músculo esfínter externo de la uretra</a:t>
            </a:r>
          </a:p>
          <a:p>
            <a:pPr>
              <a:buNone/>
            </a:pPr>
            <a:endParaRPr lang="es-AR" b="1" i="1" dirty="0"/>
          </a:p>
          <a:p>
            <a:pPr>
              <a:buNone/>
            </a:pPr>
            <a:endParaRPr lang="es-AR" sz="1600" b="1" i="1" dirty="0"/>
          </a:p>
          <a:p>
            <a:pPr>
              <a:buNone/>
            </a:pPr>
            <a:r>
              <a:rPr lang="es-AR" sz="2800" b="1" dirty="0"/>
              <a:t>El plano músculo aponeurótico superficial  </a:t>
            </a:r>
          </a:p>
          <a:p>
            <a:pPr>
              <a:buNone/>
            </a:pPr>
            <a:r>
              <a:rPr lang="es-AR" sz="1600" b="1" i="1" dirty="0"/>
              <a:t>                              </a:t>
            </a:r>
            <a:r>
              <a:rPr lang="es-AR" b="1" i="1" dirty="0"/>
              <a:t>músculos  transversos superficiales</a:t>
            </a:r>
          </a:p>
          <a:p>
            <a:pPr>
              <a:buNone/>
            </a:pPr>
            <a:r>
              <a:rPr lang="es-AR" b="1" i="1" dirty="0"/>
              <a:t>                              músculos </a:t>
            </a:r>
            <a:r>
              <a:rPr lang="es-AR" b="1" i="1" dirty="0" err="1"/>
              <a:t>isquiocavernosos</a:t>
            </a:r>
            <a:endParaRPr lang="es-AR" b="1" i="1" dirty="0"/>
          </a:p>
          <a:p>
            <a:pPr>
              <a:buNone/>
            </a:pPr>
            <a:r>
              <a:rPr lang="es-AR" b="1" i="1" dirty="0"/>
              <a:t>                                      músculos </a:t>
            </a:r>
            <a:r>
              <a:rPr lang="es-AR" b="1" i="1" dirty="0" err="1"/>
              <a:t>bulbocavernosos</a:t>
            </a:r>
            <a:endParaRPr lang="es-AR" b="1" i="1" dirty="0"/>
          </a:p>
          <a:p>
            <a:pPr>
              <a:buNone/>
            </a:pPr>
            <a:r>
              <a:rPr lang="es-AR" b="1" i="1" dirty="0"/>
              <a:t>                                                 músculo esfínter anal externo</a:t>
            </a:r>
            <a:endParaRPr lang="es-AR" i="1" dirty="0"/>
          </a:p>
          <a:p>
            <a:pPr>
              <a:buNone/>
            </a:pPr>
            <a:endParaRPr lang="es-AR" sz="1600" dirty="0"/>
          </a:p>
          <a:p>
            <a:endParaRPr lang="es-AR" sz="1600" dirty="0"/>
          </a:p>
          <a:p>
            <a:endParaRPr lang="es-AR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1336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540568" y="980728"/>
            <a:ext cx="5905500" cy="587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4088" y="1052736"/>
            <a:ext cx="5905500" cy="5616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62100" y="0"/>
            <a:ext cx="6019800" cy="715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924944" y="0"/>
            <a:ext cx="16777864" cy="9045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404664" y="0"/>
            <a:ext cx="1195332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80528" y="0"/>
            <a:ext cx="932452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7317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939552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0"/>
            <a:ext cx="5976664" cy="908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5656" y="908720"/>
            <a:ext cx="5996621" cy="874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75656" y="1772816"/>
            <a:ext cx="5832648" cy="1192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03649" y="2924944"/>
            <a:ext cx="5976664" cy="1161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31640" y="4077072"/>
            <a:ext cx="6120680" cy="1089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619672" y="5157192"/>
            <a:ext cx="5472608" cy="908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3077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-243408"/>
            <a:ext cx="9144000" cy="7101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7170" name="Picture 2" descr="C:\Users\miguel\Desktop\Nueva carpeta\thumbnailCA4E3NPX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556792"/>
            <a:ext cx="6192688" cy="49685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Marcador de contenido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/>
          </a:bodyPr>
          <a:lstStyle/>
          <a:p>
            <a:pPr>
              <a:buNone/>
            </a:pPr>
            <a:endParaRPr lang="es-AR" sz="4000" dirty="0"/>
          </a:p>
          <a:p>
            <a:pPr>
              <a:buNone/>
            </a:pPr>
            <a:endParaRPr lang="es-AR" sz="4000" dirty="0"/>
          </a:p>
          <a:p>
            <a:pPr>
              <a:buNone/>
            </a:pPr>
            <a:r>
              <a:rPr lang="es-AR" sz="4000" dirty="0">
                <a:solidFill>
                  <a:srgbClr val="002060"/>
                </a:solidFill>
              </a:rPr>
              <a:t>    </a:t>
            </a:r>
            <a:r>
              <a:rPr lang="es-AR" sz="4000" b="1" dirty="0">
                <a:solidFill>
                  <a:srgbClr val="002060"/>
                </a:solidFill>
              </a:rPr>
              <a:t>Es muy importante conocer la anatomía del periné femenino ya  que es fundamental en la asistencia   del parto y puerperio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miguel\Desktop\Nueva carpeta\thumbnail[9]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1579</TotalTime>
  <Words>1193</Words>
  <Application>Microsoft Office PowerPoint</Application>
  <PresentationFormat>Presentación en pantalla (4:3)</PresentationFormat>
  <Paragraphs>111</Paragraphs>
  <Slides>42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47" baseType="lpstr">
      <vt:lpstr>Arial</vt:lpstr>
      <vt:lpstr>Calibri</vt:lpstr>
      <vt:lpstr>Century Gothic</vt:lpstr>
      <vt:lpstr>Wingdings 3</vt:lpstr>
      <vt:lpstr>Ion</vt:lpstr>
      <vt:lpstr>     Catedra OBSTETRICIA             San Rafael</vt:lpstr>
      <vt:lpstr>Pelvis ósea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Estrecho superior  Separa la pelvis mayor, de la pelvis menor  o verdadera de interés obstétrico , debido a la interposición de partes blandas, los transversos disminuyen y los oblicuos son mayores, razón por la cual la presentación suele orientarse allí.            </vt:lpstr>
      <vt:lpstr>Estrecho medio o excavación pelviana  </vt:lpstr>
      <vt:lpstr>Presentación de PowerPoint</vt:lpstr>
      <vt:lpstr> Diámetro transversal. Llamado también biisquiático en la pelvis femenina es de unos 10.5 cm.   Eje pelviano o Curva de Carus Es la unión de los ejes de los múltiples planos existentes entre el estrecho superior y el inferior, y debe ser respetado por el feto en su mecanismo de parto.  </vt:lpstr>
      <vt:lpstr>Presentación de PowerPoint</vt:lpstr>
      <vt:lpstr>Presentación de PowerPoint</vt:lpstr>
      <vt:lpstr>Presentación de PowerPoint</vt:lpstr>
      <vt:lpstr>Presentación de PowerPoint</vt:lpstr>
      <vt:lpstr>Pelvimetria externa</vt:lpstr>
      <vt:lpstr>Presentación de PowerPoint</vt:lpstr>
      <vt:lpstr>Presentación de PowerPoint</vt:lpstr>
      <vt:lpstr>Pelvimetría interna: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miguel</dc:creator>
  <cp:lastModifiedBy>Usuario</cp:lastModifiedBy>
  <cp:revision>100</cp:revision>
  <dcterms:created xsi:type="dcterms:W3CDTF">2011-03-16T04:26:41Z</dcterms:created>
  <dcterms:modified xsi:type="dcterms:W3CDTF">2026-08-05T12:22:18Z</dcterms:modified>
</cp:coreProperties>
</file>