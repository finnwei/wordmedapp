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69" r:id="rId9"/>
    <p:sldId id="262" r:id="rId10"/>
    <p:sldId id="263" r:id="rId11"/>
    <p:sldId id="264" r:id="rId12"/>
    <p:sldId id="273" r:id="rId13"/>
    <p:sldId id="265" r:id="rId14"/>
    <p:sldId id="261" r:id="rId15"/>
    <p:sldId id="266" r:id="rId16"/>
    <p:sldId id="267" r:id="rId17"/>
    <p:sldId id="268" r:id="rId18"/>
    <p:sldId id="275" r:id="rId19"/>
    <p:sldId id="276" r:id="rId20"/>
    <p:sldId id="277" r:id="rId21"/>
    <p:sldId id="278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9B"/>
    <a:srgbClr val="F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250" y="529590"/>
            <a:ext cx="2299335" cy="200533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0053" y="3730752"/>
            <a:ext cx="11801856" cy="2157984"/>
          </a:xfrm>
        </p:spPr>
        <p:txBody>
          <a:bodyPr>
            <a:noAutofit/>
          </a:bodyPr>
          <a:lstStyle/>
          <a:p>
            <a:pPr algn="ctr"/>
            <a:r>
              <a:rPr lang="es-ES" sz="6000" b="1" dirty="0"/>
              <a:t>PUERPERIO  </a:t>
            </a:r>
            <a:r>
              <a:rPr lang="es-AR" altLang="es-ES" sz="6000" b="1" dirty="0"/>
              <a:t>FISIOLÓGICO</a:t>
            </a:r>
            <a:r>
              <a:rPr lang="es-ES" sz="7500" b="1" dirty="0"/>
              <a:t>  </a:t>
            </a:r>
            <a:endParaRPr lang="en-US" sz="7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8913" y="2015732"/>
            <a:ext cx="10615942" cy="345061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sz="3500" b="1" dirty="0"/>
              <a:t>DEFINICION 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500" b="1" dirty="0"/>
              <a:t>CLASIFICACION / ETAPAS 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500" b="1" dirty="0"/>
              <a:t>ATENCION EN LAS DIFERENTES ETAPAS </a:t>
            </a:r>
            <a:endParaRPr lang="en-US" sz="35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97993" y="524103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s-ES" sz="5000" b="1" dirty="0"/>
              <a:t>DEFINICI</a:t>
            </a:r>
            <a:r>
              <a:rPr lang="es-AR" altLang="es-ES" sz="5000" b="1" dirty="0"/>
              <a:t>Ó</a:t>
            </a:r>
            <a:r>
              <a:rPr lang="es-ES" sz="5000" b="1" dirty="0"/>
              <a:t>N </a:t>
            </a:r>
            <a:endParaRPr lang="en-US" sz="50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6448" y="2015732"/>
            <a:ext cx="11326367" cy="3909580"/>
          </a:xfrm>
        </p:spPr>
        <p:txBody>
          <a:bodyPr>
            <a:normAutofit/>
          </a:bodyPr>
          <a:lstStyle/>
          <a:p>
            <a:pPr algn="just"/>
            <a:r>
              <a:rPr lang="es-ES" sz="3000" dirty="0"/>
              <a:t>Es el periodo que comienza de</a:t>
            </a:r>
            <a:r>
              <a:rPr lang="es-AR" altLang="es-ES" sz="3000" dirty="0"/>
              <a:t>spués</a:t>
            </a:r>
            <a:r>
              <a:rPr lang="es-ES" sz="3000" dirty="0"/>
              <a:t> </a:t>
            </a:r>
            <a:r>
              <a:rPr lang="es-AR" altLang="es-ES" sz="3000" dirty="0"/>
              <a:t>d</a:t>
            </a:r>
            <a:r>
              <a:rPr lang="es-ES" sz="3000" dirty="0"/>
              <a:t>el alumbramiento, </a:t>
            </a:r>
            <a:r>
              <a:rPr lang="es-AR" sz="3000" dirty="0"/>
              <a:t>y se extiende </a:t>
            </a:r>
            <a:r>
              <a:rPr lang="es-ES" sz="3000" dirty="0"/>
              <a:t>6 semanas</a:t>
            </a:r>
            <a:r>
              <a:rPr lang="es-AR" altLang="es-ES" sz="3000" dirty="0"/>
              <a:t> posteriores (42 días)</a:t>
            </a:r>
            <a:r>
              <a:rPr lang="es-ES" sz="3000" dirty="0"/>
              <a:t>. Comprende la regresión paulatina de todas las modificaciones gravídicas (involución), hasta casi restituirlas a su estado previo al embarazo.  A excepción de la glándula mamaria,  </a:t>
            </a:r>
            <a:r>
              <a:rPr lang="es-AR" altLang="es-ES" sz="3000" dirty="0"/>
              <a:t>ya</a:t>
            </a:r>
            <a:r>
              <a:rPr lang="es-ES" sz="3000" dirty="0"/>
              <a:t> que esta alcanza su mayor desarrollo para responder a la lactancia.  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5000" b="1" dirty="0"/>
              <a:t>Clasificación o etapas </a:t>
            </a:r>
            <a:endParaRPr lang="en-US" sz="50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80288" y="3059390"/>
            <a:ext cx="5702339" cy="3448595"/>
          </a:xfrm>
        </p:spPr>
        <p:txBody>
          <a:bodyPr>
            <a:normAutofit/>
          </a:bodyPr>
          <a:lstStyle/>
          <a:p>
            <a:r>
              <a:rPr lang="es-ES" sz="3000" dirty="0"/>
              <a:t>Puerperio inmediato</a:t>
            </a:r>
          </a:p>
          <a:p>
            <a:r>
              <a:rPr lang="es-ES" sz="3000" dirty="0"/>
              <a:t>Puerperio mediato</a:t>
            </a:r>
            <a:endParaRPr lang="en-US" sz="3000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787129" y="3059390"/>
            <a:ext cx="5267723" cy="3441520"/>
          </a:xfrm>
        </p:spPr>
        <p:txBody>
          <a:bodyPr>
            <a:normAutofit/>
          </a:bodyPr>
          <a:lstStyle/>
          <a:p>
            <a:r>
              <a:rPr lang="es-ES" sz="3000" dirty="0"/>
              <a:t>Puerperio alejado</a:t>
            </a:r>
          </a:p>
          <a:p>
            <a:r>
              <a:rPr lang="es-ES" sz="3000" dirty="0"/>
              <a:t>Puerperio tardío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ES"/>
              <a:t>PUERPERIO INMEDIATO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711200" y="2015490"/>
            <a:ext cx="10343515" cy="3450590"/>
          </a:xfrm>
        </p:spPr>
        <p:txBody>
          <a:bodyPr/>
          <a:lstStyle/>
          <a:p>
            <a:r>
              <a:rPr lang="es-AR" altLang="es-ES" sz="2500" dirty="0">
                <a:sym typeface="+mn-ea"/>
              </a:rPr>
              <a:t>C</a:t>
            </a:r>
            <a:r>
              <a:rPr lang="es-ES" sz="2500" dirty="0">
                <a:sym typeface="+mn-ea"/>
              </a:rPr>
              <a:t>orresponde a las primeras 24 hs</a:t>
            </a:r>
            <a:r>
              <a:rPr lang="es-AR" altLang="es-ES" sz="2500" dirty="0">
                <a:sym typeface="+mn-ea"/>
              </a:rPr>
              <a:t> post parto.</a:t>
            </a:r>
          </a:p>
          <a:p>
            <a:r>
              <a:rPr lang="en-US" altLang="es-ES" sz="2500" dirty="0">
                <a:sym typeface="+mn-ea"/>
              </a:rPr>
              <a:t> </a:t>
            </a:r>
            <a:r>
              <a:rPr lang="es-AR" altLang="en-US" sz="2500" dirty="0">
                <a:sym typeface="+mn-ea"/>
              </a:rPr>
              <a:t>M</a:t>
            </a:r>
            <a:r>
              <a:rPr lang="en-US" altLang="es-ES" sz="2500" dirty="0">
                <a:sym typeface="+mn-ea"/>
              </a:rPr>
              <a:t>ecanismos hemost</a:t>
            </a:r>
            <a:r>
              <a:rPr lang="en-US" altLang="en-US" sz="2500" dirty="0">
                <a:sym typeface="+mn-ea"/>
              </a:rPr>
              <a:t>á</a:t>
            </a:r>
            <a:r>
              <a:rPr lang="en-US" altLang="es-ES" sz="2500" dirty="0">
                <a:sym typeface="+mn-ea"/>
              </a:rPr>
              <a:t>ticos uterinos (la contracci</a:t>
            </a:r>
            <a:r>
              <a:rPr lang="en-US" altLang="en-US" sz="2500" dirty="0">
                <a:sym typeface="+mn-ea"/>
              </a:rPr>
              <a:t>ó</a:t>
            </a:r>
            <a:r>
              <a:rPr lang="en-US" altLang="es-ES" sz="2500" dirty="0">
                <a:sym typeface="+mn-ea"/>
              </a:rPr>
              <a:t>n del miometrio o "globo de seguridad de Pinard") para detener el sangrado en el lecho placentario.</a:t>
            </a:r>
          </a:p>
          <a:p>
            <a:r>
              <a:rPr lang="en-US" altLang="es-ES" sz="2500" dirty="0">
                <a:sym typeface="+mn-ea"/>
              </a:rPr>
              <a:t>Es una fase cr</a:t>
            </a:r>
            <a:r>
              <a:rPr lang="en-US" altLang="en-US" sz="2500" dirty="0">
                <a:sym typeface="+mn-ea"/>
              </a:rPr>
              <a:t>í</a:t>
            </a:r>
            <a:r>
              <a:rPr lang="en-US" altLang="es-ES" sz="2500" dirty="0">
                <a:sym typeface="+mn-ea"/>
              </a:rPr>
              <a:t>tica de vigilancia. Se controlan los signos vitales</a:t>
            </a:r>
            <a:r>
              <a:rPr lang="es-AR" altLang="en-US" sz="2500" dirty="0">
                <a:sym typeface="+mn-ea"/>
              </a:rPr>
              <a:t> maternos, </a:t>
            </a:r>
            <a:r>
              <a:rPr lang="en-US" altLang="es-ES" sz="2500" dirty="0">
                <a:sym typeface="+mn-ea"/>
              </a:rPr>
              <a:t> las contracciones uterinas y el sangrado vaginal para prevenir hemorragias.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ES"/>
              <a:t>PUERPERIO MEDIATO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809625" y="2015490"/>
            <a:ext cx="10245090" cy="3450590"/>
          </a:xfrm>
        </p:spPr>
        <p:txBody>
          <a:bodyPr/>
          <a:lstStyle/>
          <a:p>
            <a:r>
              <a:rPr lang="es-AR" altLang="es-ES" sz="2500" dirty="0">
                <a:sym typeface="+mn-ea"/>
              </a:rPr>
              <a:t>Comienza d</a:t>
            </a:r>
            <a:r>
              <a:rPr lang="es-ES" sz="2500" dirty="0">
                <a:sym typeface="+mn-ea"/>
              </a:rPr>
              <a:t>esde las 24 hs hasta los primeros 10 días post parto.</a:t>
            </a:r>
          </a:p>
          <a:p>
            <a:r>
              <a:rPr lang="en-US" altLang="es-ES" sz="2500" dirty="0">
                <a:sym typeface="+mn-ea"/>
              </a:rPr>
              <a:t> </a:t>
            </a:r>
            <a:r>
              <a:rPr lang="es-AR" altLang="en-US" sz="2500" dirty="0">
                <a:sym typeface="+mn-ea"/>
              </a:rPr>
              <a:t>Actuan</a:t>
            </a:r>
            <a:r>
              <a:rPr lang="en-US" altLang="es-ES" sz="2500" dirty="0">
                <a:sym typeface="+mn-ea"/>
              </a:rPr>
              <a:t> los mecanismos involutivos del </a:t>
            </a:r>
            <a:r>
              <a:rPr lang="en-US" altLang="en-US" sz="2500" dirty="0">
                <a:sym typeface="+mn-ea"/>
              </a:rPr>
              <a:t>ú</a:t>
            </a:r>
            <a:r>
              <a:rPr lang="en-US" altLang="es-ES" sz="2500" dirty="0">
                <a:sym typeface="+mn-ea"/>
              </a:rPr>
              <a:t>tero y los genitales (involuci</a:t>
            </a:r>
            <a:r>
              <a:rPr lang="en-US" altLang="en-US" sz="2500" dirty="0">
                <a:sym typeface="+mn-ea"/>
              </a:rPr>
              <a:t>ó</a:t>
            </a:r>
            <a:r>
              <a:rPr lang="en-US" altLang="es-ES" sz="2500" dirty="0">
                <a:sym typeface="+mn-ea"/>
              </a:rPr>
              <a:t>n genital). </a:t>
            </a:r>
            <a:r>
              <a:rPr lang="es-AR" altLang="en-US" sz="2500" dirty="0">
                <a:sym typeface="+mn-ea"/>
              </a:rPr>
              <a:t> </a:t>
            </a:r>
          </a:p>
          <a:p>
            <a:r>
              <a:rPr lang="en-US" altLang="es-ES" sz="2500" dirty="0">
                <a:sym typeface="+mn-ea"/>
              </a:rPr>
              <a:t>Aparecen los loquios (secreciones vaginales con restos de sangre, moco y tejido)</a:t>
            </a:r>
          </a:p>
          <a:p>
            <a:r>
              <a:rPr lang="es-AR" altLang="en-US" sz="2500" dirty="0">
                <a:sym typeface="+mn-ea"/>
              </a:rPr>
              <a:t>S</a:t>
            </a:r>
            <a:r>
              <a:rPr lang="en-US" altLang="es-ES" sz="2500" dirty="0">
                <a:sym typeface="+mn-ea"/>
              </a:rPr>
              <a:t>e produce la </a:t>
            </a:r>
            <a:r>
              <a:rPr lang="es-AR" altLang="en-US" sz="2500" dirty="0">
                <a:sym typeface="+mn-ea"/>
              </a:rPr>
              <a:t>bajada </a:t>
            </a:r>
            <a:r>
              <a:rPr lang="en-US" altLang="es-ES" sz="2500" dirty="0">
                <a:sym typeface="+mn-ea"/>
              </a:rPr>
              <a:t> de la leche</a:t>
            </a:r>
            <a:r>
              <a:rPr lang="es-AR" altLang="en-US" sz="2500" dirty="0">
                <a:sym typeface="+mn-ea"/>
              </a:rPr>
              <a:t>.</a:t>
            </a:r>
          </a:p>
          <a:p>
            <a:endParaRPr lang="es-AR" altLang="en-US"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ES"/>
              <a:t>PUERPERIO ALEJADO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99770" y="2015490"/>
            <a:ext cx="10354945" cy="3450590"/>
          </a:xfrm>
        </p:spPr>
        <p:txBody>
          <a:bodyPr>
            <a:normAutofit lnSpcReduction="10000"/>
          </a:bodyPr>
          <a:lstStyle/>
          <a:p>
            <a:r>
              <a:rPr lang="es-AR" altLang="es-ES" sz="2500" dirty="0">
                <a:sym typeface="+mn-ea"/>
              </a:rPr>
              <a:t>Abarca </a:t>
            </a:r>
            <a:r>
              <a:rPr lang="es-ES" sz="2500" dirty="0">
                <a:sym typeface="+mn-ea"/>
              </a:rPr>
              <a:t>desde el día 11 hasta los 42 días</a:t>
            </a:r>
            <a:r>
              <a:rPr lang="es-AR" altLang="es-ES" sz="2500" dirty="0">
                <a:sym typeface="+mn-ea"/>
              </a:rPr>
              <a:t> postparto</a:t>
            </a:r>
            <a:r>
              <a:rPr lang="es-ES" sz="2500" dirty="0">
                <a:sym typeface="+mn-ea"/>
              </a:rPr>
              <a:t>.</a:t>
            </a:r>
          </a:p>
          <a:p>
            <a:r>
              <a:rPr lang="es-AR" altLang="en-US" sz="2500" dirty="0">
                <a:sym typeface="+mn-ea"/>
              </a:rPr>
              <a:t>I</a:t>
            </a:r>
            <a:r>
              <a:rPr lang="en-US" altLang="es-ES" sz="2500" dirty="0">
                <a:sym typeface="+mn-ea"/>
              </a:rPr>
              <a:t>nvoluci</a:t>
            </a:r>
            <a:r>
              <a:rPr lang="en-US" altLang="en-US" sz="2500" dirty="0">
                <a:sym typeface="+mn-ea"/>
              </a:rPr>
              <a:t>ó</a:t>
            </a:r>
            <a:r>
              <a:rPr lang="en-US" altLang="es-ES" sz="2500" dirty="0">
                <a:sym typeface="+mn-ea"/>
              </a:rPr>
              <a:t>n uterina llega pr</a:t>
            </a:r>
            <a:r>
              <a:rPr lang="en-US" altLang="en-US" sz="2500" dirty="0">
                <a:sym typeface="+mn-ea"/>
              </a:rPr>
              <a:t>á</a:t>
            </a:r>
            <a:r>
              <a:rPr lang="en-US" altLang="es-ES" sz="2500" dirty="0">
                <a:sym typeface="+mn-ea"/>
              </a:rPr>
              <a:t>cticamente a su fin, y el </a:t>
            </a:r>
            <a:r>
              <a:rPr lang="en-US" altLang="en-US" sz="2500" dirty="0">
                <a:sym typeface="+mn-ea"/>
              </a:rPr>
              <a:t>ú</a:t>
            </a:r>
            <a:r>
              <a:rPr lang="en-US" altLang="es-ES" sz="2500" dirty="0">
                <a:sym typeface="+mn-ea"/>
              </a:rPr>
              <a:t>tero recupera su tama</a:t>
            </a:r>
            <a:r>
              <a:rPr lang="en-US" altLang="en-US" sz="2500" dirty="0">
                <a:sym typeface="+mn-ea"/>
              </a:rPr>
              <a:t>ñ</a:t>
            </a:r>
            <a:r>
              <a:rPr lang="en-US" altLang="es-ES" sz="2500" dirty="0">
                <a:sym typeface="+mn-ea"/>
              </a:rPr>
              <a:t>o y peso habituales previos al embarazo. </a:t>
            </a:r>
            <a:r>
              <a:rPr lang="es-AR" altLang="en-US" sz="2500" dirty="0">
                <a:sym typeface="+mn-ea"/>
              </a:rPr>
              <a:t>Cesan los loquios.</a:t>
            </a:r>
          </a:p>
          <a:p>
            <a:r>
              <a:rPr lang="en-US" altLang="es-ES" sz="2500" dirty="0">
                <a:sym typeface="+mn-ea"/>
              </a:rPr>
              <a:t>Cicatrizaci</a:t>
            </a:r>
            <a:r>
              <a:rPr lang="en-US" altLang="en-US" sz="2500" dirty="0">
                <a:sym typeface="+mn-ea"/>
              </a:rPr>
              <a:t>ó</a:t>
            </a:r>
            <a:r>
              <a:rPr lang="en-US" altLang="es-ES" sz="2500" dirty="0">
                <a:sym typeface="+mn-ea"/>
              </a:rPr>
              <a:t>n de heridas (ces</a:t>
            </a:r>
            <a:r>
              <a:rPr lang="en-US" altLang="en-US" sz="2500" dirty="0">
                <a:sym typeface="+mn-ea"/>
              </a:rPr>
              <a:t>á</a:t>
            </a:r>
            <a:r>
              <a:rPr lang="en-US" altLang="es-ES" sz="2500" dirty="0">
                <a:sym typeface="+mn-ea"/>
              </a:rPr>
              <a:t>rea o episiotom</a:t>
            </a:r>
            <a:r>
              <a:rPr lang="en-US" altLang="en-US" sz="2500" dirty="0">
                <a:sym typeface="+mn-ea"/>
              </a:rPr>
              <a:t>í</a:t>
            </a:r>
            <a:r>
              <a:rPr lang="en-US" altLang="es-ES" sz="2500" dirty="0">
                <a:sym typeface="+mn-ea"/>
              </a:rPr>
              <a:t>a) y retorno gradual del suelo p</a:t>
            </a:r>
            <a:r>
              <a:rPr lang="en-US" altLang="en-US" sz="2500" dirty="0">
                <a:sym typeface="+mn-ea"/>
              </a:rPr>
              <a:t>é</a:t>
            </a:r>
            <a:r>
              <a:rPr lang="en-US" altLang="es-ES" sz="2500" dirty="0">
                <a:sym typeface="+mn-ea"/>
              </a:rPr>
              <a:t>lvico.</a:t>
            </a:r>
          </a:p>
          <a:p>
            <a:r>
              <a:rPr lang="en-US" altLang="es-ES" sz="2500" dirty="0">
                <a:sym typeface="+mn-ea"/>
              </a:rPr>
              <a:t>Esta etapa finaliza por lo general con el retorno de la menstruaci</a:t>
            </a:r>
            <a:r>
              <a:rPr lang="en-US" altLang="en-US" sz="2500" dirty="0">
                <a:sym typeface="+mn-ea"/>
              </a:rPr>
              <a:t>ó</a:t>
            </a:r>
            <a:r>
              <a:rPr lang="en-US" altLang="es-ES" sz="2500" dirty="0">
                <a:sym typeface="+mn-ea"/>
              </a:rPr>
              <a:t>n (que puede retrasarse si la madre amamanta de forma exclusiva)</a:t>
            </a:r>
          </a:p>
          <a:p>
            <a:endParaRPr lang="es-ES" altLang="en-US"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ES"/>
              <a:t>PUERPERIO TARDÍO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88340" y="2015490"/>
            <a:ext cx="10366375" cy="3450590"/>
          </a:xfrm>
        </p:spPr>
        <p:txBody>
          <a:bodyPr/>
          <a:lstStyle/>
          <a:p>
            <a:pPr algn="just"/>
            <a:r>
              <a:rPr lang="es-AR" altLang="es-ES" sz="2500" dirty="0">
                <a:sym typeface="+mn-ea"/>
              </a:rPr>
              <a:t>C</a:t>
            </a:r>
            <a:r>
              <a:rPr lang="es-ES" sz="2500" dirty="0">
                <a:sym typeface="+mn-ea"/>
              </a:rPr>
              <a:t>omienza al finalizar el </a:t>
            </a:r>
            <a:r>
              <a:rPr lang="es-AR" altLang="es-ES" sz="2500" dirty="0">
                <a:sym typeface="+mn-ea"/>
              </a:rPr>
              <a:t>puerperio </a:t>
            </a:r>
            <a:r>
              <a:rPr lang="es-ES" sz="2500" dirty="0">
                <a:sym typeface="+mn-ea"/>
              </a:rPr>
              <a:t>alejado hasta </a:t>
            </a:r>
            <a:r>
              <a:rPr lang="es-AR" altLang="es-ES" sz="2500" dirty="0">
                <a:sym typeface="+mn-ea"/>
              </a:rPr>
              <a:t>los 6 meses o incluso 1 año</a:t>
            </a:r>
            <a:r>
              <a:rPr lang="es-ES" sz="2500" dirty="0">
                <a:sym typeface="+mn-ea"/>
              </a:rPr>
              <a:t>.</a:t>
            </a:r>
          </a:p>
          <a:p>
            <a:pPr algn="just"/>
            <a:r>
              <a:rPr lang="en-US" altLang="es-ES" sz="2500" dirty="0">
                <a:sym typeface="+mn-ea"/>
              </a:rPr>
              <a:t>Se asocia fuertemente a una lactancia materna activa y prolongada.</a:t>
            </a:r>
          </a:p>
          <a:p>
            <a:pPr algn="just"/>
            <a:r>
              <a:rPr lang="en-US" altLang="es-ES" sz="2500" dirty="0">
                <a:sym typeface="+mn-ea"/>
              </a:rPr>
              <a:t>Se completa la estabilizaci</a:t>
            </a:r>
            <a:r>
              <a:rPr lang="en-US" altLang="en-US" sz="2500" dirty="0">
                <a:sym typeface="+mn-ea"/>
              </a:rPr>
              <a:t>ó</a:t>
            </a:r>
            <a:r>
              <a:rPr lang="en-US" altLang="es-ES" sz="2500" dirty="0">
                <a:sym typeface="+mn-ea"/>
              </a:rPr>
              <a:t>n de los sistemas org</a:t>
            </a:r>
            <a:r>
              <a:rPr lang="en-US" altLang="en-US" sz="2500" dirty="0">
                <a:sym typeface="+mn-ea"/>
              </a:rPr>
              <a:t>á</a:t>
            </a:r>
            <a:r>
              <a:rPr lang="en-US" altLang="es-ES" sz="2500" dirty="0">
                <a:sym typeface="+mn-ea"/>
              </a:rPr>
              <a:t>nicos y hormonales.</a:t>
            </a:r>
          </a:p>
          <a:p>
            <a:pPr algn="just"/>
            <a:r>
              <a:rPr lang="en-US" altLang="es-ES" sz="2500" dirty="0">
                <a:sym typeface="+mn-ea"/>
              </a:rPr>
              <a:t>Se vigila de cerca el bienestar emocional y la adaptaci</a:t>
            </a:r>
            <a:r>
              <a:rPr lang="en-US" altLang="en-US" sz="2500" dirty="0">
                <a:sym typeface="+mn-ea"/>
              </a:rPr>
              <a:t>ó</a:t>
            </a:r>
            <a:r>
              <a:rPr lang="en-US" altLang="es-ES" sz="2500" dirty="0">
                <a:sym typeface="+mn-ea"/>
              </a:rPr>
              <a:t>n a largo plazo.</a:t>
            </a:r>
          </a:p>
          <a:p>
            <a:endParaRPr lang="es-ES" altLang="en-US"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70585" y="304800"/>
            <a:ext cx="11126470" cy="1548765"/>
          </a:xfrm>
        </p:spPr>
        <p:txBody>
          <a:bodyPr>
            <a:noAutofit/>
          </a:bodyPr>
          <a:lstStyle/>
          <a:p>
            <a:r>
              <a:rPr lang="es-ES" sz="4500" b="1" dirty="0"/>
              <a:t>ATENCI</a:t>
            </a:r>
            <a:r>
              <a:rPr lang="es-AR" altLang="es-ES" sz="4500" b="1" dirty="0"/>
              <a:t>ó</a:t>
            </a:r>
            <a:r>
              <a:rPr lang="es-ES" sz="4500" b="1" dirty="0"/>
              <a:t>N AL PUERPERIO </a:t>
            </a:r>
            <a:r>
              <a:rPr lang="es-AR" altLang="es-ES" sz="4500" b="1" dirty="0"/>
              <a:t>fisiológico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33984" y="2015732"/>
            <a:ext cx="10911839" cy="3450613"/>
          </a:xfrm>
        </p:spPr>
        <p:txBody>
          <a:bodyPr>
            <a:normAutofit fontScale="92500"/>
          </a:bodyPr>
          <a:lstStyle/>
          <a:p>
            <a:r>
              <a:rPr lang="es-ES" sz="2500" b="1" dirty="0"/>
              <a:t>Además de prevenir y tratar las posibles complicaciones, debe realizarse un enfoque integral para suplir las necesidades y cuidados de la madre y su hijo: </a:t>
            </a:r>
          </a:p>
          <a:p>
            <a:pPr marL="0" indent="0">
              <a:buNone/>
            </a:pPr>
            <a:endParaRPr lang="es-ES" sz="2500" dirty="0"/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Lactancia materna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Vacunación del niño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Nutrición materna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Anticoncepción</a:t>
            </a:r>
          </a:p>
          <a:p>
            <a:endParaRPr lang="es-E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7820" y="645795"/>
            <a:ext cx="11982450" cy="927100"/>
          </a:xfrm>
        </p:spPr>
        <p:txBody>
          <a:bodyPr>
            <a:noAutofit/>
          </a:bodyPr>
          <a:lstStyle/>
          <a:p>
            <a:r>
              <a:rPr lang="es-ES" sz="4000" b="1" dirty="0"/>
              <a:t>Evaluación del puerperio inmediato</a:t>
            </a:r>
            <a:br>
              <a:rPr lang="es-ES" sz="4000" b="1" dirty="0"/>
            </a:br>
            <a:r>
              <a:rPr lang="es-AR" altLang="es-ES" sz="2000" dirty="0"/>
              <a:t>primeras 24hs.</a:t>
            </a:r>
            <a:br>
              <a:rPr lang="es-AR" altLang="es-ES" sz="2000" b="1" dirty="0"/>
            </a:br>
            <a:endParaRPr lang="es-AR" altLang="es-ES" sz="20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9728" y="2015732"/>
            <a:ext cx="11996927" cy="4007116"/>
          </a:xfrm>
        </p:spPr>
        <p:txBody>
          <a:bodyPr>
            <a:normAutofit/>
          </a:bodyPr>
          <a:lstStyle/>
          <a:p>
            <a:pPr algn="just"/>
            <a:r>
              <a:rPr lang="es-ES" sz="2500" b="1" dirty="0"/>
              <a:t>Vigilancia durante las primeras 2 horas</a:t>
            </a:r>
            <a:r>
              <a:rPr lang="es-ES" sz="2500" dirty="0"/>
              <a:t>: tiempo de mayor riego de hemorragias y shock (atonía uterina, retención de restos placentarios, desgarros cervicouterinos y vaginales). Por este motivo la madre y su recién nacido deben permanecer durante este tiempo en sala de recuperación contigua a sala de partos.</a:t>
            </a:r>
          </a:p>
          <a:p>
            <a:pPr algn="just"/>
            <a:r>
              <a:rPr lang="es-AR" altLang="es-ES" sz="2500" dirty="0"/>
              <a:t>Lactancia</a:t>
            </a:r>
            <a:r>
              <a:rPr lang="es-ES" sz="2500" dirty="0"/>
              <a:t> precoz (ayuda a la retracción uterina postparto, dolores entuertos).</a:t>
            </a:r>
          </a:p>
          <a:p>
            <a:pPr marL="0" indent="0" algn="just">
              <a:buNone/>
            </a:pPr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6875" y="804545"/>
            <a:ext cx="11929110" cy="1049020"/>
          </a:xfrm>
        </p:spPr>
        <p:txBody>
          <a:bodyPr>
            <a:noAutofit/>
          </a:bodyPr>
          <a:lstStyle/>
          <a:p>
            <a:r>
              <a:rPr lang="en-US" sz="4000" b="1" dirty="0"/>
              <a:t>Evaluación del puerperio inmediato</a:t>
            </a:r>
            <a:br>
              <a:rPr lang="en-US" sz="4000" b="1" dirty="0"/>
            </a:br>
            <a:r>
              <a:rPr lang="es-AR" altLang="es-ES" sz="2000" dirty="0">
                <a:sym typeface="+mn-ea"/>
              </a:rPr>
              <a:t>primeras 24hs.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6875" y="1853565"/>
            <a:ext cx="11624310" cy="4669155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sz="2400" dirty="0">
                <a:sym typeface="+mn-ea"/>
              </a:rPr>
              <a:t>Se controla con frecuencia la FC, TA, TEMPERATURA CORPORAL, RETRACCI</a:t>
            </a:r>
            <a:r>
              <a:rPr lang="es-AR" altLang="es-ES" sz="2400" dirty="0">
                <a:sym typeface="+mn-ea"/>
              </a:rPr>
              <a:t>Ó</a:t>
            </a:r>
            <a:r>
              <a:rPr lang="es-ES" sz="2400" dirty="0">
                <a:sym typeface="+mn-ea"/>
              </a:rPr>
              <a:t>N UTERINA Y SANGRADO VAGINAL.</a:t>
            </a:r>
            <a:endParaRPr lang="es-ES" sz="2400" dirty="0"/>
          </a:p>
          <a:p>
            <a:pPr algn="just"/>
            <a:endParaRPr lang="es-ES" sz="2400" b="1" dirty="0"/>
          </a:p>
          <a:p>
            <a:pPr algn="just"/>
            <a:r>
              <a:rPr lang="es-ES" sz="2400" b="1" dirty="0"/>
              <a:t>Vigilancia durante las primeras 24 hs</a:t>
            </a:r>
            <a:r>
              <a:rPr lang="es-ES" sz="2400" dirty="0"/>
              <a:t>:  se continua con los CSV, se examinan las mamas</a:t>
            </a:r>
            <a:r>
              <a:rPr lang="es-AR" altLang="es-ES" sz="2400" dirty="0"/>
              <a:t> </a:t>
            </a:r>
            <a:r>
              <a:rPr lang="es-ES" sz="2400" dirty="0"/>
              <a:t>(lactancia, a veces se inhibe), abdomen (diastasis), útero (involución), loquios, genitales externos (episiotomía), diuresis, catarsis, movilización. </a:t>
            </a:r>
          </a:p>
          <a:p>
            <a:pPr marL="0" indent="0" algn="just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ES" b="1"/>
              <a:t>LOQUIOS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379095" y="2015490"/>
            <a:ext cx="11371580" cy="3903345"/>
          </a:xfrm>
        </p:spPr>
        <p:txBody>
          <a:bodyPr>
            <a:noAutofit/>
          </a:bodyPr>
          <a:lstStyle/>
          <a:p>
            <a:pPr algn="just"/>
            <a:r>
              <a:rPr lang="es-AR" altLang="es-ES" dirty="0">
                <a:sym typeface="+mn-ea"/>
              </a:rPr>
              <a:t>F</a:t>
            </a:r>
            <a:r>
              <a:rPr lang="es-ES" dirty="0">
                <a:sym typeface="+mn-ea"/>
              </a:rPr>
              <a:t>ormado por la sangre de la herida placentaria y de las escoriaciones de cuello y vagina mas el liquido de exudación de dichas lesiones.  </a:t>
            </a:r>
          </a:p>
          <a:p>
            <a:pPr algn="just"/>
            <a:r>
              <a:rPr lang="es-AR" altLang="es-ES" dirty="0">
                <a:sym typeface="+mn-ea"/>
              </a:rPr>
              <a:t>Debemos</a:t>
            </a:r>
            <a:r>
              <a:rPr lang="es-ES" dirty="0">
                <a:sym typeface="+mn-ea"/>
              </a:rPr>
              <a:t> estudiar su duración, aspecto, cantidad, composición y olor.  </a:t>
            </a:r>
          </a:p>
          <a:p>
            <a:pPr algn="just"/>
            <a:r>
              <a:rPr lang="es-AR" altLang="es-ES" b="1" dirty="0">
                <a:sym typeface="+mn-ea"/>
              </a:rPr>
              <a:t>D</a:t>
            </a:r>
            <a:r>
              <a:rPr lang="es-ES" b="1" dirty="0">
                <a:sym typeface="+mn-ea"/>
              </a:rPr>
              <a:t>uración </a:t>
            </a:r>
            <a:r>
              <a:rPr lang="es-ES" dirty="0">
                <a:sym typeface="+mn-ea"/>
              </a:rPr>
              <a:t>es alrededor de 15 días</a:t>
            </a:r>
          </a:p>
          <a:p>
            <a:pPr algn="just"/>
            <a:r>
              <a:rPr lang="es-AR" altLang="es-ES" b="1" dirty="0">
                <a:sym typeface="+mn-ea"/>
              </a:rPr>
              <a:t>A</a:t>
            </a:r>
            <a:r>
              <a:rPr lang="es-ES" b="1" dirty="0">
                <a:sym typeface="+mn-ea"/>
              </a:rPr>
              <a:t>specto y color</a:t>
            </a:r>
            <a:r>
              <a:rPr lang="es-AR" altLang="es-ES" b="1" dirty="0">
                <a:sym typeface="+mn-ea"/>
              </a:rPr>
              <a:t>: </a:t>
            </a:r>
            <a:r>
              <a:rPr lang="es-ES" dirty="0">
                <a:sym typeface="+mn-ea"/>
              </a:rPr>
              <a:t> </a:t>
            </a:r>
            <a:r>
              <a:rPr lang="es-AR" altLang="es-ES" b="1" dirty="0">
                <a:solidFill>
                  <a:srgbClr val="FF0000"/>
                </a:solidFill>
                <a:sym typeface="+mn-ea"/>
              </a:rPr>
              <a:t>Lo</a:t>
            </a:r>
            <a:r>
              <a:rPr lang="es-ES" b="1" dirty="0">
                <a:solidFill>
                  <a:srgbClr val="FF0000"/>
                </a:solidFill>
                <a:sym typeface="+mn-ea"/>
              </a:rPr>
              <a:t>quios sanguíneo</a:t>
            </a:r>
            <a:r>
              <a:rPr lang="es-AR" altLang="es-ES" b="1" dirty="0">
                <a:solidFill>
                  <a:srgbClr val="FF0000"/>
                </a:solidFill>
                <a:sym typeface="+mn-ea"/>
              </a:rPr>
              <a:t>s</a:t>
            </a:r>
            <a:r>
              <a:rPr lang="es-ES" b="1" dirty="0">
                <a:solidFill>
                  <a:srgbClr val="FF0000"/>
                </a:solidFill>
                <a:sym typeface="+mn-ea"/>
              </a:rPr>
              <a:t> o hemático</a:t>
            </a:r>
            <a:r>
              <a:rPr lang="es-AR" altLang="es-ES" b="1" dirty="0">
                <a:solidFill>
                  <a:srgbClr val="FF0000"/>
                </a:solidFill>
                <a:sym typeface="+mn-ea"/>
              </a:rPr>
              <a:t>s:</a:t>
            </a:r>
            <a:r>
              <a:rPr lang="es-AR" altLang="es-ES" dirty="0">
                <a:sym typeface="+mn-ea"/>
              </a:rPr>
              <a:t> D</a:t>
            </a:r>
            <a:r>
              <a:rPr lang="es-ES" dirty="0">
                <a:sym typeface="+mn-ea"/>
              </a:rPr>
              <a:t>espués del parto es de sangre pura</a:t>
            </a:r>
            <a:r>
              <a:rPr lang="es-AR" altLang="es-ES" dirty="0">
                <a:sym typeface="+mn-ea"/>
              </a:rPr>
              <a:t>.</a:t>
            </a:r>
            <a:endParaRPr lang="es-ES" dirty="0">
              <a:sym typeface="+mn-ea"/>
            </a:endParaRPr>
          </a:p>
          <a:p>
            <a:pPr marL="0" indent="0" algn="just">
              <a:buNone/>
            </a:pPr>
            <a:r>
              <a:rPr lang="es-AR" altLang="es-ES" dirty="0">
                <a:sym typeface="+mn-ea"/>
              </a:rPr>
              <a:t>                                 </a:t>
            </a:r>
            <a:r>
              <a:rPr lang="es-AR" altLang="es-ES" b="1" dirty="0">
                <a:solidFill>
                  <a:srgbClr val="FF4F4F"/>
                </a:solidFill>
                <a:sym typeface="+mn-ea"/>
              </a:rPr>
              <a:t>L</a:t>
            </a:r>
            <a:r>
              <a:rPr lang="es-ES" b="1" dirty="0">
                <a:solidFill>
                  <a:srgbClr val="FF4F4F"/>
                </a:solidFill>
                <a:sym typeface="+mn-ea"/>
              </a:rPr>
              <a:t>oquios serosanguineos o serohematicos</a:t>
            </a:r>
            <a:r>
              <a:rPr lang="es-AR" altLang="es-ES" b="1" dirty="0">
                <a:solidFill>
                  <a:srgbClr val="FF4F4F"/>
                </a:solidFill>
                <a:sym typeface="+mn-ea"/>
              </a:rPr>
              <a:t>: </a:t>
            </a:r>
            <a:r>
              <a:rPr lang="es-AR" altLang="es-ES" dirty="0">
                <a:sym typeface="+mn-ea"/>
              </a:rPr>
              <a:t>A</a:t>
            </a:r>
            <a:r>
              <a:rPr lang="es-ES" dirty="0">
                <a:sym typeface="+mn-ea"/>
              </a:rPr>
              <a:t> partir de 3 y 4 día la sangre se mezcla con los exudados, hay un aumento de la leucocitosis entonces son de color rosado</a:t>
            </a:r>
            <a:r>
              <a:rPr lang="es-AR" altLang="es-ES" dirty="0">
                <a:sym typeface="+mn-ea"/>
              </a:rPr>
              <a:t>.</a:t>
            </a:r>
            <a:endParaRPr lang="es-ES" dirty="0">
              <a:sym typeface="+mn-ea"/>
            </a:endParaRPr>
          </a:p>
          <a:p>
            <a:pPr marL="0" indent="0" algn="just">
              <a:buNone/>
            </a:pPr>
            <a:r>
              <a:rPr lang="es-ES" dirty="0">
                <a:sym typeface="+mn-ea"/>
              </a:rPr>
              <a:t> </a:t>
            </a:r>
            <a:r>
              <a:rPr lang="es-AR" altLang="es-ES" dirty="0">
                <a:sym typeface="+mn-ea"/>
              </a:rPr>
              <a:t>                        </a:t>
            </a:r>
            <a:r>
              <a:rPr lang="es-ES" dirty="0">
                <a:sym typeface="+mn-ea"/>
              </a:rPr>
              <a:t> </a:t>
            </a:r>
            <a:r>
              <a:rPr lang="es-AR" altLang="es-ES" dirty="0">
                <a:sym typeface="+mn-ea"/>
              </a:rPr>
              <a:t>       </a:t>
            </a:r>
            <a:r>
              <a:rPr lang="es-AR" altLang="es-ES" b="1" dirty="0">
                <a:solidFill>
                  <a:srgbClr val="FF9B9B"/>
                </a:solidFill>
                <a:sym typeface="+mn-ea"/>
              </a:rPr>
              <a:t>L</a:t>
            </a:r>
            <a:r>
              <a:rPr lang="es-ES" b="1" dirty="0">
                <a:solidFill>
                  <a:srgbClr val="FF9B9B"/>
                </a:solidFill>
                <a:sym typeface="+mn-ea"/>
              </a:rPr>
              <a:t>oquios serosos</a:t>
            </a:r>
            <a:r>
              <a:rPr lang="es-AR" altLang="es-ES" b="1" dirty="0">
                <a:solidFill>
                  <a:srgbClr val="FF9B9B"/>
                </a:solidFill>
                <a:sym typeface="+mn-ea"/>
              </a:rPr>
              <a:t>: </a:t>
            </a:r>
            <a:r>
              <a:rPr lang="es-AR" altLang="es-ES" dirty="0">
                <a:sym typeface="+mn-ea"/>
              </a:rPr>
              <a:t>comienzan d</a:t>
            </a:r>
            <a:r>
              <a:rPr lang="es-ES" dirty="0">
                <a:sym typeface="+mn-ea"/>
              </a:rPr>
              <a:t>esde el 7 día</a:t>
            </a:r>
            <a:r>
              <a:rPr lang="es-AR" altLang="es-ES" dirty="0">
                <a:sym typeface="+mn-ea"/>
              </a:rPr>
              <a:t>, </a:t>
            </a:r>
            <a:r>
              <a:rPr lang="es-ES" dirty="0">
                <a:sym typeface="+mn-ea"/>
              </a:rPr>
              <a:t>disminuye en cantidad así como en elementos sanguíneos, predominando la secreción de las glándulas del tracto genital por lo que se aclara. </a:t>
            </a:r>
            <a:endParaRPr lang="en-US" dirty="0"/>
          </a:p>
          <a:p>
            <a:pPr algn="just"/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s-ES" sz="4500" b="1" dirty="0"/>
              <a:t>Involución uterina</a:t>
            </a:r>
            <a:endParaRPr lang="en-US" sz="45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07264" y="2015732"/>
            <a:ext cx="11728703" cy="4019308"/>
          </a:xfrm>
        </p:spPr>
        <p:txBody>
          <a:bodyPr>
            <a:normAutofit/>
          </a:bodyPr>
          <a:lstStyle/>
          <a:p>
            <a:pPr algn="just"/>
            <a:r>
              <a:rPr lang="es-ES" sz="2500" dirty="0"/>
              <a:t>Durante los primeros 12 días el útero tiene ubicación abdominal, el 1 día su fondo a nivel del ombligo (12-15 cm de la sínfisis pubiana), a los 6 días esta a mitad de distancia entre el ombligo y borde superior del pubis, después de los 12 días, se hace intrapelvico, desaparece a la palpación. </a:t>
            </a:r>
          </a:p>
          <a:p>
            <a:pPr algn="just"/>
            <a:r>
              <a:rPr lang="es-ES" sz="2500" dirty="0"/>
              <a:t>Luego del primer día la involución es a razón de 2 cm por día.  </a:t>
            </a:r>
            <a:endParaRPr lang="en-US" sz="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4099" y="664819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s-ES" sz="4500" b="1" dirty="0"/>
              <a:t>Involución uterina</a:t>
            </a:r>
            <a:endParaRPr lang="en-US" sz="4500" b="1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5952" y="1901952"/>
            <a:ext cx="4444858" cy="42184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6395" y="694055"/>
            <a:ext cx="11825605" cy="1049020"/>
          </a:xfrm>
        </p:spPr>
        <p:txBody>
          <a:bodyPr>
            <a:noAutofit/>
          </a:bodyPr>
          <a:lstStyle/>
          <a:p>
            <a:r>
              <a:rPr lang="es-ES" sz="4000" b="1" dirty="0"/>
              <a:t>Evaluación </a:t>
            </a:r>
            <a:r>
              <a:rPr lang="es-ES" sz="4400" b="1" dirty="0"/>
              <a:t>del puerperio mediato</a:t>
            </a:r>
            <a:br>
              <a:rPr lang="es-ES" sz="4400" b="1" dirty="0"/>
            </a:br>
            <a:r>
              <a:rPr lang="es-ES" sz="2000" dirty="0">
                <a:sym typeface="+mn-ea"/>
              </a:rPr>
              <a:t>24 hs hasta los primeros 10 días post parto.</a:t>
            </a:r>
            <a:endParaRPr lang="es-ES" sz="2000" b="1" dirty="0">
              <a:sym typeface="+mn-ea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1920" y="2015732"/>
            <a:ext cx="11899391" cy="4842268"/>
          </a:xfrm>
        </p:spPr>
        <p:txBody>
          <a:bodyPr/>
          <a:lstStyle/>
          <a:p>
            <a:r>
              <a:rPr lang="es-ES" sz="2500" dirty="0"/>
              <a:t>Corresponde al periodo de máxima involución de los órganos genitales, de mayor derrame loquial y de instalación de secreción láctea. </a:t>
            </a:r>
          </a:p>
          <a:p>
            <a:r>
              <a:rPr lang="es-ES" sz="2500" dirty="0"/>
              <a:t>Se controla los SV, LOQUIOS, INVOLUCION UTERINA, GENITALES EXTERNOS, ADDOMEN. </a:t>
            </a:r>
          </a:p>
          <a:p>
            <a:r>
              <a:rPr lang="es-ES" sz="2500" dirty="0"/>
              <a:t>Alta a las 48 hs postparto, no se aconseja antes, se cita a los 10 días junto al control del RN, luego de este control se vuelve a citar a los 30 días del parto, en concordancia con la cita del RN.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9895" y="804545"/>
            <a:ext cx="11677015" cy="1049020"/>
          </a:xfrm>
        </p:spPr>
        <p:txBody>
          <a:bodyPr>
            <a:noAutofit/>
          </a:bodyPr>
          <a:lstStyle/>
          <a:p>
            <a:r>
              <a:rPr lang="es-ES" sz="4000" b="1" dirty="0"/>
              <a:t>Evaluación del puerperio alejado</a:t>
            </a:r>
            <a:br>
              <a:rPr lang="es-ES" sz="4000" b="1" dirty="0"/>
            </a:br>
            <a:r>
              <a:rPr lang="es-ES" sz="2000" dirty="0">
                <a:sym typeface="+mn-ea"/>
              </a:rPr>
              <a:t>desde el día 11 hasta los 42 días</a:t>
            </a:r>
            <a:r>
              <a:rPr lang="es-AR" altLang="es-ES" sz="2000" dirty="0">
                <a:sym typeface="+mn-ea"/>
              </a:rPr>
              <a:t> postparto</a:t>
            </a:r>
            <a:r>
              <a:rPr lang="es-ES" sz="2000" dirty="0">
                <a:sym typeface="+mn-ea"/>
              </a:rPr>
              <a:t>.</a:t>
            </a:r>
            <a:endParaRPr lang="es-ES" sz="20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2128" y="2352028"/>
            <a:ext cx="11667743" cy="3921772"/>
          </a:xfrm>
        </p:spPr>
        <p:txBody>
          <a:bodyPr/>
          <a:lstStyle/>
          <a:p>
            <a:r>
              <a:rPr lang="es-ES" sz="2500" dirty="0"/>
              <a:t>Concluye prácticamente la involución genital y alcanza en términos generales, el estado pregravidico. </a:t>
            </a:r>
          </a:p>
          <a:p>
            <a:r>
              <a:rPr lang="es-ES" sz="2500" dirty="0"/>
              <a:t>Si no se ha puesto en practica la lactancia sobreviene la primera menstruación. </a:t>
            </a:r>
          </a:p>
          <a:p>
            <a:r>
              <a:rPr lang="es-ES" sz="2500" dirty="0"/>
              <a:t>Anticoncepción  (mas conveniente).</a:t>
            </a:r>
          </a:p>
          <a:p>
            <a:r>
              <a:rPr lang="es-ES" sz="2500" dirty="0"/>
              <a:t>Inicio de relaciones sexuales</a:t>
            </a:r>
          </a:p>
          <a:p>
            <a:endParaRPr lang="es-E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0385" y="804545"/>
            <a:ext cx="11285855" cy="1049020"/>
          </a:xfrm>
        </p:spPr>
        <p:txBody>
          <a:bodyPr>
            <a:noAutofit/>
          </a:bodyPr>
          <a:lstStyle/>
          <a:p>
            <a:r>
              <a:rPr lang="es-ES" sz="4000" b="1" dirty="0"/>
              <a:t>Evaluación del puerperio tardío</a:t>
            </a:r>
            <a:br>
              <a:rPr lang="es-ES" sz="4000" b="1" dirty="0"/>
            </a:br>
            <a:r>
              <a:rPr lang="es-AR" altLang="es-ES" sz="2000" dirty="0"/>
              <a:t>desde </a:t>
            </a:r>
            <a:r>
              <a:rPr lang="es-AR" altLang="es-ES" sz="2000" dirty="0">
                <a:sym typeface="+mn-ea"/>
              </a:rPr>
              <a:t>puerperio </a:t>
            </a:r>
            <a:r>
              <a:rPr lang="es-ES" sz="2000" dirty="0">
                <a:sym typeface="+mn-ea"/>
              </a:rPr>
              <a:t>alejado hasta </a:t>
            </a:r>
            <a:r>
              <a:rPr lang="es-AR" altLang="es-ES" sz="2000" dirty="0">
                <a:sym typeface="+mn-ea"/>
              </a:rPr>
              <a:t>los 6 meses o 1 año post parto</a:t>
            </a:r>
            <a:r>
              <a:rPr lang="es-ES" sz="2000" dirty="0">
                <a:sym typeface="+mn-ea"/>
              </a:rPr>
              <a:t>.</a:t>
            </a:r>
            <a:endParaRPr lang="en-US" sz="20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5445" y="2414905"/>
            <a:ext cx="11684635" cy="3884930"/>
          </a:xfrm>
        </p:spPr>
        <p:txBody>
          <a:bodyPr>
            <a:normAutofit/>
          </a:bodyPr>
          <a:lstStyle/>
          <a:p>
            <a:r>
              <a:rPr lang="es-ES" sz="2500" dirty="0"/>
              <a:t>En la mujer que amamanta la vuelta a la menstruación tiene un termino impreciso. </a:t>
            </a:r>
          </a:p>
          <a:p>
            <a:r>
              <a:rPr lang="es-ES" sz="2500" dirty="0"/>
              <a:t>La baja calidad de los cuidados no ofrecidos durante este periodo, reduce oportunidades a la detección temprana y adecuado manejo de los problemas y enfermedades existentes.</a:t>
            </a:r>
            <a:endParaRPr lang="en-US" sz="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ES"/>
              <a:t>SIGNOS DE ALARMA EN EL PUERPERIO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altLang="en-US" sz="3000"/>
              <a:t>S</a:t>
            </a:r>
            <a:r>
              <a:rPr lang="en-US" altLang="en-US" sz="3000"/>
              <a:t>í</a:t>
            </a:r>
            <a:r>
              <a:rPr lang="en-US" altLang="es-ES" sz="3000"/>
              <a:t>ntomas f</a:t>
            </a:r>
            <a:r>
              <a:rPr lang="en-US" altLang="en-US" sz="3000"/>
              <a:t>í</a:t>
            </a:r>
            <a:r>
              <a:rPr lang="en-US" altLang="es-ES" sz="3000"/>
              <a:t>sicos o emocionales que indican una posible complicaci</a:t>
            </a:r>
            <a:r>
              <a:rPr lang="en-US" altLang="en-US" sz="3000"/>
              <a:t>ó</a:t>
            </a:r>
            <a:r>
              <a:rPr lang="en-US" altLang="es-ES" sz="3000"/>
              <a:t>n y requieren atenci</a:t>
            </a:r>
            <a:r>
              <a:rPr lang="en-US" altLang="en-US" sz="3000"/>
              <a:t>ó</a:t>
            </a:r>
            <a:r>
              <a:rPr lang="en-US" altLang="es-ES" sz="3000"/>
              <a:t>n m</a:t>
            </a:r>
            <a:r>
              <a:rPr lang="en-US" altLang="en-US" sz="3000"/>
              <a:t>é</a:t>
            </a:r>
            <a:r>
              <a:rPr lang="en-US" altLang="es-ES" sz="3000"/>
              <a:t>dica urgente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ES" b="1">
                <a:sym typeface="+mn-ea"/>
              </a:rPr>
              <a:t>SIGNOS DE ALARMA EN EL PUERPERIO</a:t>
            </a:r>
            <a:endParaRPr lang="es-ES" altLang="en-US" b="1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346075" y="2015490"/>
            <a:ext cx="11504930" cy="4014470"/>
          </a:xfrm>
        </p:spPr>
        <p:txBody>
          <a:bodyPr>
            <a:noAutofit/>
          </a:bodyPr>
          <a:lstStyle/>
          <a:p>
            <a:r>
              <a:rPr lang="es-ES" altLang="es-AR" sz="1900"/>
              <a:t>L</a:t>
            </a:r>
            <a:r>
              <a:rPr lang="es-AR" altLang="es-ES" sz="1900"/>
              <a:t>oquios. Olor fétido. Hemorragia abundante.</a:t>
            </a:r>
          </a:p>
          <a:p>
            <a:r>
              <a:rPr lang="en-US" altLang="es-ES" sz="1900"/>
              <a:t>Temperatura mayor a 38 °C.</a:t>
            </a:r>
            <a:r>
              <a:rPr lang="es-AR" altLang="en-US" sz="1900"/>
              <a:t> </a:t>
            </a:r>
            <a:endParaRPr lang="en-US" altLang="es-ES" sz="1900"/>
          </a:p>
          <a:p>
            <a:r>
              <a:rPr lang="en-US" altLang="es-ES" sz="1900"/>
              <a:t>Heridas infectadas: Dolor intenso, enrojecimiento, calor, inflamaci</a:t>
            </a:r>
            <a:r>
              <a:rPr lang="en-US" altLang="en-US" sz="1900"/>
              <a:t>ó</a:t>
            </a:r>
            <a:r>
              <a:rPr lang="en-US" altLang="es-ES" sz="1900"/>
              <a:t>n o salida de pus en la cicatriz</a:t>
            </a:r>
            <a:r>
              <a:rPr lang="es-AR" altLang="en-US" sz="1900"/>
              <a:t>.</a:t>
            </a:r>
            <a:endParaRPr lang="en-US" altLang="es-ES" sz="1900"/>
          </a:p>
          <a:p>
            <a:r>
              <a:rPr lang="en-US" altLang="es-ES" sz="1900"/>
              <a:t>Problemas en l</a:t>
            </a:r>
            <a:r>
              <a:rPr lang="es-AR" altLang="en-US" sz="1900"/>
              <a:t>as mamas</a:t>
            </a:r>
            <a:r>
              <a:rPr lang="en-US" altLang="es-ES" sz="1900"/>
              <a:t>: Una zona muy enrojecida, caliente, endurecida o dolorosa en el pecho, acompa</a:t>
            </a:r>
            <a:r>
              <a:rPr lang="en-US" altLang="en-US" sz="1900"/>
              <a:t>ñ</a:t>
            </a:r>
            <a:r>
              <a:rPr lang="en-US" altLang="es-ES" sz="1900"/>
              <a:t>ada o no de fiebre, lo que puede indicar mastitis.</a:t>
            </a:r>
          </a:p>
          <a:p>
            <a:r>
              <a:rPr lang="es-AR" altLang="en-US" sz="1900"/>
              <a:t>Cefalea intensa</a:t>
            </a:r>
            <a:r>
              <a:rPr lang="es-ES" altLang="es-AR" sz="1900"/>
              <a:t>. Mareos.</a:t>
            </a:r>
          </a:p>
          <a:p>
            <a:r>
              <a:rPr lang="en-US" altLang="es-ES" sz="1900"/>
              <a:t>Dolor en las piernas: Hinchaz</a:t>
            </a:r>
            <a:r>
              <a:rPr lang="en-US" altLang="en-US" sz="1900"/>
              <a:t>ó</a:t>
            </a:r>
            <a:r>
              <a:rPr lang="en-US" altLang="es-ES" sz="1900"/>
              <a:t>n, enrojecimiento, calor o dolor intenso en una sola pierna (riesgo de trombosis).</a:t>
            </a:r>
          </a:p>
          <a:p>
            <a:r>
              <a:rPr lang="en-US" altLang="es-ES" sz="1900"/>
              <a:t>Tristeza profunda: Un estado de </a:t>
            </a:r>
            <a:r>
              <a:rPr lang="en-US" altLang="en-US" sz="1900"/>
              <a:t>á</a:t>
            </a:r>
            <a:r>
              <a:rPr lang="en-US" altLang="es-ES" sz="1900"/>
              <a:t>nimo de tristeza extrema, llanto incontrolable, ansiedad severa o pensamientos negativos que impiden cuidar al beb</a:t>
            </a:r>
            <a:r>
              <a:rPr lang="en-US" altLang="en-US" sz="1900"/>
              <a:t>é</a:t>
            </a:r>
            <a:r>
              <a:rPr lang="es-AR" altLang="en-US" sz="190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 b="1"/>
              <a:t>AL EVALUAR A LA PACIENTE, NO OLVIDAR!!!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67055" y="2015490"/>
            <a:ext cx="10487660" cy="3450590"/>
          </a:xfrm>
        </p:spPr>
        <p:txBody>
          <a:bodyPr/>
          <a:lstStyle/>
          <a:p>
            <a:r>
              <a:rPr lang="es-ES" altLang="en-US"/>
              <a:t>SIGNOS VITALES</a:t>
            </a:r>
          </a:p>
          <a:p>
            <a:r>
              <a:rPr lang="es-ES" altLang="en-US"/>
              <a:t>MUCOSAS Y CONJUNTIVAS: coloración, humedad, palidez.</a:t>
            </a:r>
          </a:p>
          <a:p>
            <a:r>
              <a:rPr lang="es-ES" altLang="en-US"/>
              <a:t>UTERO: AU, tono, adecuada involución.</a:t>
            </a:r>
          </a:p>
          <a:p>
            <a:r>
              <a:rPr lang="es-ES" altLang="en-US"/>
              <a:t>LOQUIOS: Cantidad, aspecto, olor.</a:t>
            </a:r>
          </a:p>
          <a:p>
            <a:r>
              <a:rPr lang="es-ES" altLang="en-US"/>
              <a:t>PERINÉ Y GENITALES: edema, hematomas, episio/desgarros, cicatrización y dolor.</a:t>
            </a:r>
          </a:p>
          <a:p>
            <a:r>
              <a:rPr lang="es-ES" altLang="en-US"/>
              <a:t>HERIDA QUIRÚRGICA: en caso de cesàrea, revisar aspecto, dolor y signos de infección.</a:t>
            </a:r>
          </a:p>
          <a:p>
            <a:endParaRPr lang="es-E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 b="1">
                <a:sym typeface="+mn-ea"/>
              </a:rPr>
              <a:t>AL EVALUAR A LA PACIENTE, NO OLVIDAR!!!</a:t>
            </a:r>
            <a:endParaRPr lang="es-ES" altLang="en-US" b="1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en-US"/>
              <a:t>MAMAS Y LACTANCIA: grietas, dolor, signos de mastitis y técnica de lactancia.</a:t>
            </a:r>
          </a:p>
          <a:p>
            <a:r>
              <a:rPr lang="es-ES" altLang="en-US"/>
              <a:t>VEJIGA: micción espontánea, dificultad para orinar, síntomas urinarios.</a:t>
            </a:r>
          </a:p>
          <a:p>
            <a:r>
              <a:rPr lang="es-ES" altLang="en-US"/>
              <a:t>INTESTINOS: tránsito intestinal, evacuación y molestias.</a:t>
            </a:r>
          </a:p>
          <a:p>
            <a:r>
              <a:rPr lang="es-ES" altLang="en-US"/>
              <a:t>MIEMBROS  INFERIORES: dolor, edema asimétricos o sugestivos de TVP.</a:t>
            </a:r>
          </a:p>
          <a:p>
            <a:r>
              <a:rPr lang="es-ES" altLang="en-US"/>
              <a:t>ESTADO EMOCIONAL: vínculocon el RN, adaptación, ansiedad y signos de depresión posparto.</a:t>
            </a:r>
          </a:p>
          <a:p>
            <a:r>
              <a:rPr lang="es-ES" altLang="en-US"/>
              <a:t>Rh NEGATIVA: evaluar  indicación de inmunoglobulina anti-D durante las primeras 72 hs.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endParaRPr lang="es-AR" altLang="es-ES" sz="5000"/>
          </a:p>
          <a:p>
            <a:pPr marL="0" indent="0" algn="r">
              <a:buNone/>
            </a:pPr>
            <a:endParaRPr lang="es-AR" altLang="es-ES" sz="5000"/>
          </a:p>
          <a:p>
            <a:pPr marL="0" indent="0" algn="r">
              <a:buNone/>
            </a:pPr>
            <a:r>
              <a:rPr lang="es-AR" altLang="es-ES" sz="5000"/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TM10001114[[fn=Galería]]</Template>
  <TotalTime>0</TotalTime>
  <Words>1268</Words>
  <Application>Microsoft Office PowerPoint</Application>
  <PresentationFormat>Panorámica</PresentationFormat>
  <Paragraphs>97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Gill Sans MT</vt:lpstr>
      <vt:lpstr>Gallery</vt:lpstr>
      <vt:lpstr>Presentación de PowerPoint</vt:lpstr>
      <vt:lpstr>Presentación de PowerPoint</vt:lpstr>
      <vt:lpstr>DEFINICIÓN </vt:lpstr>
      <vt:lpstr>Clasificación o etapas </vt:lpstr>
      <vt:lpstr>PUERPERIO INMEDIATO</vt:lpstr>
      <vt:lpstr>PUERPERIO MEDIATO</vt:lpstr>
      <vt:lpstr>PUERPERIO ALEJADO</vt:lpstr>
      <vt:lpstr>PUERPERIO TARDÍO</vt:lpstr>
      <vt:lpstr>ATENCIóN AL PUERPERIO fisiológico</vt:lpstr>
      <vt:lpstr>Evaluación del puerperio inmediato primeras 24hs. </vt:lpstr>
      <vt:lpstr>Evaluación del puerperio inmediato primeras 24hs.</vt:lpstr>
      <vt:lpstr>LOQUIOS</vt:lpstr>
      <vt:lpstr>Involución uterina</vt:lpstr>
      <vt:lpstr>Involución uterina</vt:lpstr>
      <vt:lpstr>Evaluación del puerperio mediato 24 hs hasta los primeros 10 días post parto.</vt:lpstr>
      <vt:lpstr>Evaluación del puerperio alejado desde el día 11 hasta los 42 días postparto.</vt:lpstr>
      <vt:lpstr>Evaluación del puerperio tardío desde puerperio alejado hasta los 6 meses o 1 año post parto.</vt:lpstr>
      <vt:lpstr>SIGNOS DE ALARMA EN EL PUERPERIO</vt:lpstr>
      <vt:lpstr>SIGNOS DE ALARMA EN EL PUERPERIO</vt:lpstr>
      <vt:lpstr>AL EVALUAR A LA PACIENTE, NO OLVIDAR!!!</vt:lpstr>
      <vt:lpstr>AL EVALUAR A LA PACIENTE, NO OLVIDAR!!!</vt:lpstr>
      <vt:lpstr>Presentación de PowerPoint</vt:lpstr>
    </vt:vector>
  </TitlesOfParts>
  <Company>InKulpado666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</dc:creator>
  <cp:lastModifiedBy>Usuario</cp:lastModifiedBy>
  <cp:revision>31</cp:revision>
  <dcterms:created xsi:type="dcterms:W3CDTF">2024-09-03T00:03:00Z</dcterms:created>
  <dcterms:modified xsi:type="dcterms:W3CDTF">2026-09-02T11:09:29Z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3082-12.1.0.28032</vt:lpwstr>
  </property>
  <property fmtid="{D5CDD505-2E9C-101B-9397-08002B2CF9AE}" pid="3" name="ICV">
    <vt:lpwstr>94BB10A8381F4BFBBDD14C740F018529_13</vt:lpwstr>
  </property>
</Properties>
</file>