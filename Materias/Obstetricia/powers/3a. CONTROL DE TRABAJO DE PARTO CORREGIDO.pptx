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ArchTH Condensed" panose="020B0604020202020204" charset="0"/>
      <p:regular r:id="rId31"/>
    </p:embeddedFont>
    <p:embeddedFont>
      <p:font typeface="ArchTH Condensed Bold" panose="020B0604020202020204" charset="0"/>
      <p:regular r:id="rId32"/>
    </p:embeddedFont>
    <p:embeddedFont>
      <p:font typeface="Open Sans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425733" y="8208722"/>
            <a:ext cx="5613395" cy="1331338"/>
            <a:chOff x="0" y="0"/>
            <a:chExt cx="1478425" cy="350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78425" cy="350640"/>
            </a:xfrm>
            <a:custGeom>
              <a:avLst/>
              <a:gdLst/>
              <a:ahLst/>
              <a:cxnLst/>
              <a:rect l="l" t="t" r="r" b="b"/>
              <a:pathLst>
                <a:path w="1478425" h="350640">
                  <a:moveTo>
                    <a:pt x="70339" y="0"/>
                  </a:moveTo>
                  <a:lnTo>
                    <a:pt x="1408087" y="0"/>
                  </a:lnTo>
                  <a:cubicBezTo>
                    <a:pt x="1426741" y="0"/>
                    <a:pt x="1444632" y="7411"/>
                    <a:pt x="1457823" y="20602"/>
                  </a:cubicBezTo>
                  <a:cubicBezTo>
                    <a:pt x="1471014" y="33793"/>
                    <a:pt x="1478425" y="51684"/>
                    <a:pt x="1478425" y="70339"/>
                  </a:cubicBezTo>
                  <a:lnTo>
                    <a:pt x="1478425" y="280302"/>
                  </a:lnTo>
                  <a:cubicBezTo>
                    <a:pt x="1478425" y="298957"/>
                    <a:pt x="1471014" y="316848"/>
                    <a:pt x="1457823" y="330039"/>
                  </a:cubicBezTo>
                  <a:cubicBezTo>
                    <a:pt x="1444632" y="343230"/>
                    <a:pt x="1426741" y="350640"/>
                    <a:pt x="1408087" y="350640"/>
                  </a:cubicBezTo>
                  <a:lnTo>
                    <a:pt x="70339" y="350640"/>
                  </a:lnTo>
                  <a:cubicBezTo>
                    <a:pt x="31492" y="350640"/>
                    <a:pt x="0" y="319149"/>
                    <a:pt x="0" y="280302"/>
                  </a:cubicBezTo>
                  <a:lnTo>
                    <a:pt x="0" y="70339"/>
                  </a:lnTo>
                  <a:cubicBezTo>
                    <a:pt x="0" y="31492"/>
                    <a:pt x="31492" y="0"/>
                    <a:pt x="70339" y="0"/>
                  </a:cubicBezTo>
                  <a:close/>
                </a:path>
              </a:pathLst>
            </a:custGeom>
            <a:ln w="38100" cap="rnd">
              <a:solidFill>
                <a:srgbClr val="AB5B87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78425" cy="388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 b="1">
                  <a:solidFill>
                    <a:srgbClr val="7C89B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Lic. Molina, Natalia Paola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 b="1">
                  <a:solidFill>
                    <a:srgbClr val="7C89B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Obstetra Planta Permanente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 b="1">
                  <a:solidFill>
                    <a:srgbClr val="7C89B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Hosp. T. J. Schesctakow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7728088" y="606014"/>
            <a:ext cx="2831824" cy="2831824"/>
          </a:xfrm>
          <a:custGeom>
            <a:avLst/>
            <a:gdLst/>
            <a:ahLst/>
            <a:cxnLst/>
            <a:rect l="l" t="t" r="r" b="b"/>
            <a:pathLst>
              <a:path w="2831824" h="2831824">
                <a:moveTo>
                  <a:pt x="0" y="0"/>
                </a:moveTo>
                <a:lnTo>
                  <a:pt x="2831824" y="0"/>
                </a:lnTo>
                <a:lnTo>
                  <a:pt x="2831824" y="2831825"/>
                </a:lnTo>
                <a:lnTo>
                  <a:pt x="0" y="2831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55540" y="4791508"/>
            <a:ext cx="9334730" cy="245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CONTROL DE</a:t>
            </a:r>
          </a:p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TRABAJO DE PARTO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76635" y="1057275"/>
            <a:ext cx="9334730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DEFINICIÓN</a:t>
            </a:r>
          </a:p>
        </p:txBody>
      </p:sp>
      <p:sp>
        <p:nvSpPr>
          <p:cNvPr id="6" name="Freeform 6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65633" y="3008096"/>
            <a:ext cx="15546521" cy="708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0"/>
              </a:lnSpc>
            </a:pPr>
            <a:r>
              <a:rPr lang="en-US" sz="6223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EL Trabajo de Parto es el conjunto de contracciones uterinas que producen el borramiento y la dilatación del cuello uterino.</a:t>
            </a:r>
          </a:p>
          <a:p>
            <a:pPr algn="ctr">
              <a:lnSpc>
                <a:spcPts val="6970"/>
              </a:lnSpc>
            </a:pPr>
            <a:endParaRPr lang="en-US" sz="6223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  <a:p>
            <a:pPr algn="ctr">
              <a:lnSpc>
                <a:spcPts val="6970"/>
              </a:lnSpc>
            </a:pPr>
            <a:r>
              <a:rPr lang="en-US" sz="6223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   Estos fenómenos fisiológicos tienen por objeto la expulsión de un feto viable desde </a:t>
            </a:r>
          </a:p>
          <a:p>
            <a:pPr algn="ctr">
              <a:lnSpc>
                <a:spcPts val="6970"/>
              </a:lnSpc>
              <a:spcBef>
                <a:spcPct val="0"/>
              </a:spcBef>
            </a:pPr>
            <a:r>
              <a:rPr lang="en-US" sz="6223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el útero hacia el exterior a través de los genitales maternos.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0062" y="832887"/>
            <a:ext cx="13485914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CARACTERÍSTICAS SEGÚN LA OMS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65633" y="3008096"/>
            <a:ext cx="15546521" cy="52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43731" lvl="1" indent="-671866" algn="l">
              <a:lnSpc>
                <a:spcPts val="6970"/>
              </a:lnSpc>
              <a:buFont typeface="Arial"/>
              <a:buChar char="•"/>
            </a:pPr>
            <a:r>
              <a:rPr lang="en-US" sz="6223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Comienzo espóntaneo: </a:t>
            </a:r>
            <a:r>
              <a:rPr lang="en-US" sz="6223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inicio de forma natural, sin medicamentos o inducción.</a:t>
            </a:r>
          </a:p>
          <a:p>
            <a:pPr marL="1343731" lvl="1" indent="-671866" algn="l">
              <a:lnSpc>
                <a:spcPts val="6970"/>
              </a:lnSpc>
              <a:buFont typeface="Arial"/>
              <a:buChar char="•"/>
            </a:pPr>
            <a:r>
              <a:rPr lang="en-US" sz="6223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Bajo riesgo: </a:t>
            </a:r>
            <a:r>
              <a:rPr lang="en-US" sz="6223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proceso seguro tanto al inicio como durante todo el desarrollo  del parto.</a:t>
            </a:r>
          </a:p>
          <a:p>
            <a:pPr marL="1343731" lvl="1" indent="-671866" algn="l">
              <a:lnSpc>
                <a:spcPts val="6970"/>
              </a:lnSpc>
              <a:buFont typeface="Arial"/>
              <a:buChar char="•"/>
            </a:pPr>
            <a:r>
              <a:rPr lang="en-US" sz="6223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Presentación cefálica</a:t>
            </a:r>
          </a:p>
          <a:p>
            <a:pPr marL="1343731" lvl="1" indent="-671866" algn="l">
              <a:lnSpc>
                <a:spcPts val="6970"/>
              </a:lnSpc>
              <a:buFont typeface="Arial"/>
              <a:buChar char="•"/>
            </a:pPr>
            <a:r>
              <a:rPr lang="en-US" sz="6223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Emabarazo de término: </a:t>
            </a:r>
            <a:r>
              <a:rPr lang="en-US" sz="6223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entre 37 y 42 sem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38510" y="1366115"/>
            <a:ext cx="9334730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DIAGNÓSTICO</a:t>
            </a:r>
          </a:p>
        </p:txBody>
      </p:sp>
      <p:sp>
        <p:nvSpPr>
          <p:cNvPr id="6" name="Freeform 6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00325" y="3668236"/>
            <a:ext cx="12218137" cy="3935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CONTRACCIONES UTERINAS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MODIFICACIONES CERVICALES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DESCENSO Y PRESENTACIÓN FETAL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OTROS SIGNOS ACOMPAÑANTES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72980" y="6172960"/>
            <a:ext cx="4131060" cy="3724727"/>
          </a:xfrm>
          <a:custGeom>
            <a:avLst/>
            <a:gdLst/>
            <a:ahLst/>
            <a:cxnLst/>
            <a:rect l="l" t="t" r="r" b="b"/>
            <a:pathLst>
              <a:path w="4131060" h="3724727">
                <a:moveTo>
                  <a:pt x="0" y="0"/>
                </a:moveTo>
                <a:lnTo>
                  <a:pt x="4131060" y="0"/>
                </a:lnTo>
                <a:lnTo>
                  <a:pt x="4131060" y="3724727"/>
                </a:lnTo>
                <a:lnTo>
                  <a:pt x="0" y="3724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15" t="-2764" r="-6442" b="-521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09834" y="6172960"/>
            <a:ext cx="7137125" cy="3463246"/>
          </a:xfrm>
          <a:custGeom>
            <a:avLst/>
            <a:gdLst/>
            <a:ahLst/>
            <a:cxnLst/>
            <a:rect l="l" t="t" r="r" b="b"/>
            <a:pathLst>
              <a:path w="7137125" h="3463246">
                <a:moveTo>
                  <a:pt x="0" y="0"/>
                </a:moveTo>
                <a:lnTo>
                  <a:pt x="7137125" y="0"/>
                </a:lnTo>
                <a:lnTo>
                  <a:pt x="7137125" y="3463246"/>
                </a:lnTo>
                <a:lnTo>
                  <a:pt x="0" y="3463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3276" b="-10331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38510" y="720998"/>
            <a:ext cx="10903107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CONTRACCIONES UTERINAS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9849" y="2246686"/>
            <a:ext cx="15370135" cy="4908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Regulares, dolorosas, de intensidad progresiva.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Frecuencia: </a:t>
            </a:r>
            <a:r>
              <a:rPr lang="en-US" sz="6834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2 a 5 en 10 min.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Duración: </a:t>
            </a:r>
            <a:r>
              <a:rPr lang="en-US" sz="6834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30–60 segundos.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No ceden con reposo ni hidratación.</a:t>
            </a:r>
          </a:p>
          <a:p>
            <a:pPr algn="l">
              <a:lnSpc>
                <a:spcPts val="7654"/>
              </a:lnSpc>
            </a:pPr>
            <a:endParaRPr lang="en-US" sz="6834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38510" y="1366115"/>
            <a:ext cx="11501194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MODIFICACIONES CERVICALES</a:t>
            </a:r>
          </a:p>
        </p:txBody>
      </p:sp>
      <p:sp>
        <p:nvSpPr>
          <p:cNvPr id="6" name="Freeform 6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1625" y="3380115"/>
            <a:ext cx="17116375" cy="587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Borramiento progresivo.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Dilatación ≥ 4-5 cm (inicio de fase activa según protocolos actuales).</a:t>
            </a:r>
          </a:p>
          <a:p>
            <a:pPr marL="1475584" lvl="1" indent="-737792" algn="l">
              <a:lnSpc>
                <a:spcPts val="7654"/>
              </a:lnSpc>
              <a:buFont typeface="Arial"/>
              <a:buChar char="•"/>
            </a:pPr>
            <a:r>
              <a:rPr lang="en-US" sz="6834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Consistencia y posición del cuello uterino se modifican.</a:t>
            </a:r>
          </a:p>
          <a:p>
            <a:pPr algn="l">
              <a:lnSpc>
                <a:spcPts val="7654"/>
              </a:lnSpc>
            </a:pPr>
            <a:endParaRPr lang="en-US" sz="6834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7265" y="791952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BORRAMIENTO Y DILATACIÓN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71457" y="2690119"/>
            <a:ext cx="13623820" cy="5931602"/>
          </a:xfrm>
          <a:custGeom>
            <a:avLst/>
            <a:gdLst/>
            <a:ahLst/>
            <a:cxnLst/>
            <a:rect l="l" t="t" r="r" b="b"/>
            <a:pathLst>
              <a:path w="13623820" h="5931602">
                <a:moveTo>
                  <a:pt x="0" y="0"/>
                </a:moveTo>
                <a:lnTo>
                  <a:pt x="13623821" y="0"/>
                </a:lnTo>
                <a:lnTo>
                  <a:pt x="13623821" y="5931602"/>
                </a:lnTo>
                <a:lnTo>
                  <a:pt x="0" y="593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77265" y="1366115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DESCENSO Y PRESENTACIÓN FETAL</a:t>
            </a:r>
          </a:p>
        </p:txBody>
      </p:sp>
      <p:sp>
        <p:nvSpPr>
          <p:cNvPr id="6" name="Freeform 6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53039" y="3677761"/>
            <a:ext cx="17134961" cy="558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Progresión del descenso de la presentación en la pelvis.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Evaluación mediante tacto vaginal y maniobras de Leopold.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77265" y="1366115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SIGNOS ACOMPAÑANTES</a:t>
            </a:r>
          </a:p>
        </p:txBody>
      </p:sp>
      <p:sp>
        <p:nvSpPr>
          <p:cNvPr id="6" name="Freeform 6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53039" y="3677761"/>
            <a:ext cx="17134961" cy="558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Rotura espontánea de membranas (puede preceder o acompañar).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Expulsión de tapón mucoso.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76785" y="414020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MANIOBRAS DE LEOPOLD</a:t>
            </a:r>
          </a:p>
        </p:txBody>
      </p:sp>
      <p:sp>
        <p:nvSpPr>
          <p:cNvPr id="6" name="Freeform 6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10833" y="1730309"/>
            <a:ext cx="6570338" cy="3869984"/>
          </a:xfrm>
          <a:custGeom>
            <a:avLst/>
            <a:gdLst/>
            <a:ahLst/>
            <a:cxnLst/>
            <a:rect l="l" t="t" r="r" b="b"/>
            <a:pathLst>
              <a:path w="6570338" h="3869984">
                <a:moveTo>
                  <a:pt x="0" y="0"/>
                </a:moveTo>
                <a:lnTo>
                  <a:pt x="6570338" y="0"/>
                </a:lnTo>
                <a:lnTo>
                  <a:pt x="6570338" y="3869984"/>
                </a:lnTo>
                <a:lnTo>
                  <a:pt x="0" y="386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12623" y="1698079"/>
            <a:ext cx="6684695" cy="3902214"/>
          </a:xfrm>
          <a:custGeom>
            <a:avLst/>
            <a:gdLst/>
            <a:ahLst/>
            <a:cxnLst/>
            <a:rect l="l" t="t" r="r" b="b"/>
            <a:pathLst>
              <a:path w="6684695" h="3902214">
                <a:moveTo>
                  <a:pt x="0" y="0"/>
                </a:moveTo>
                <a:lnTo>
                  <a:pt x="6684695" y="0"/>
                </a:lnTo>
                <a:lnTo>
                  <a:pt x="6684695" y="3902214"/>
                </a:lnTo>
                <a:lnTo>
                  <a:pt x="0" y="3902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988" b="-437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10833" y="5956708"/>
            <a:ext cx="6570338" cy="3985621"/>
          </a:xfrm>
          <a:custGeom>
            <a:avLst/>
            <a:gdLst/>
            <a:ahLst/>
            <a:cxnLst/>
            <a:rect l="l" t="t" r="r" b="b"/>
            <a:pathLst>
              <a:path w="6570338" h="3985621">
                <a:moveTo>
                  <a:pt x="0" y="0"/>
                </a:moveTo>
                <a:lnTo>
                  <a:pt x="6570338" y="0"/>
                </a:lnTo>
                <a:lnTo>
                  <a:pt x="6570338" y="3985621"/>
                </a:lnTo>
                <a:lnTo>
                  <a:pt x="0" y="398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648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812623" y="5970796"/>
            <a:ext cx="6789281" cy="3971533"/>
          </a:xfrm>
          <a:custGeom>
            <a:avLst/>
            <a:gdLst/>
            <a:ahLst/>
            <a:cxnLst/>
            <a:rect l="l" t="t" r="r" b="b"/>
            <a:pathLst>
              <a:path w="6789281" h="3971533">
                <a:moveTo>
                  <a:pt x="0" y="0"/>
                </a:moveTo>
                <a:lnTo>
                  <a:pt x="6789281" y="0"/>
                </a:lnTo>
                <a:lnTo>
                  <a:pt x="6789281" y="3971533"/>
                </a:lnTo>
                <a:lnTo>
                  <a:pt x="0" y="3971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9033" y="3687286"/>
            <a:ext cx="14825270" cy="258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7"/>
              </a:lnSpc>
            </a:pPr>
            <a:r>
              <a:rPr lang="en-US" sz="8961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UNA VEZ REALIZADO EL DIAGNÓSTCO...</a:t>
            </a:r>
          </a:p>
        </p:txBody>
      </p:sp>
      <p:sp>
        <p:nvSpPr>
          <p:cNvPr id="6" name="Freeform 6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90017" y="414020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INGRESO DE LA PACIENTE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2450285"/>
            <a:ext cx="17738765" cy="779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Calculo de la EG 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Control obstétrico (FCF, TU, DU, MAF, Tacto Vaginal, AU)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Control signos vitales maternos 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HCPB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Laboratorio &lt;30 días: Serología (Toxo, Chagas, VDRL, HIV, Ags Hep B). SGB 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Grupo y Factor Rh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ECG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Última ecografía 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Sto Toxicológicos en orina.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Confección de partograma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Identificación y Certificado de Nacido Vivo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66789" y="702086"/>
            <a:ext cx="4230923" cy="4114800"/>
          </a:xfrm>
          <a:custGeom>
            <a:avLst/>
            <a:gdLst/>
            <a:ahLst/>
            <a:cxnLst/>
            <a:rect l="l" t="t" r="r" b="b"/>
            <a:pathLst>
              <a:path w="4230923" h="4114800">
                <a:moveTo>
                  <a:pt x="0" y="0"/>
                </a:moveTo>
                <a:lnTo>
                  <a:pt x="4230923" y="0"/>
                </a:lnTo>
                <a:lnTo>
                  <a:pt x="4230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70825" y="5897741"/>
            <a:ext cx="6121182" cy="3988584"/>
          </a:xfrm>
          <a:custGeom>
            <a:avLst/>
            <a:gdLst/>
            <a:ahLst/>
            <a:cxnLst/>
            <a:rect l="l" t="t" r="r" b="b"/>
            <a:pathLst>
              <a:path w="6121182" h="3988584">
                <a:moveTo>
                  <a:pt x="0" y="0"/>
                </a:moveTo>
                <a:lnTo>
                  <a:pt x="6121183" y="0"/>
                </a:lnTo>
                <a:lnTo>
                  <a:pt x="6121183" y="3988584"/>
                </a:lnTo>
                <a:lnTo>
                  <a:pt x="0" y="3988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992778" y="434851"/>
            <a:ext cx="2959086" cy="4382035"/>
          </a:xfrm>
          <a:custGeom>
            <a:avLst/>
            <a:gdLst/>
            <a:ahLst/>
            <a:cxnLst/>
            <a:rect l="l" t="t" r="r" b="b"/>
            <a:pathLst>
              <a:path w="2959086" h="4382035">
                <a:moveTo>
                  <a:pt x="0" y="0"/>
                </a:moveTo>
                <a:lnTo>
                  <a:pt x="2959086" y="0"/>
                </a:lnTo>
                <a:lnTo>
                  <a:pt x="2959086" y="4382035"/>
                </a:lnTo>
                <a:lnTo>
                  <a:pt x="0" y="4382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5972" y="195616"/>
            <a:ext cx="4894320" cy="7359879"/>
          </a:xfrm>
          <a:custGeom>
            <a:avLst/>
            <a:gdLst/>
            <a:ahLst/>
            <a:cxnLst/>
            <a:rect l="l" t="t" r="r" b="b"/>
            <a:pathLst>
              <a:path w="4894320" h="7359879">
                <a:moveTo>
                  <a:pt x="0" y="0"/>
                </a:moveTo>
                <a:lnTo>
                  <a:pt x="4894320" y="0"/>
                </a:lnTo>
                <a:lnTo>
                  <a:pt x="489432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663253" y="6102756"/>
            <a:ext cx="4303535" cy="4002194"/>
          </a:xfrm>
          <a:custGeom>
            <a:avLst/>
            <a:gdLst/>
            <a:ahLst/>
            <a:cxnLst/>
            <a:rect l="l" t="t" r="r" b="b"/>
            <a:pathLst>
              <a:path w="4303535" h="4002194">
                <a:moveTo>
                  <a:pt x="0" y="0"/>
                </a:moveTo>
                <a:lnTo>
                  <a:pt x="4303536" y="0"/>
                </a:lnTo>
                <a:lnTo>
                  <a:pt x="4303536" y="4002193"/>
                </a:lnTo>
                <a:lnTo>
                  <a:pt x="0" y="400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34224" y="6102756"/>
            <a:ext cx="2864483" cy="3783569"/>
          </a:xfrm>
          <a:custGeom>
            <a:avLst/>
            <a:gdLst/>
            <a:ahLst/>
            <a:cxnLst/>
            <a:rect l="l" t="t" r="r" b="b"/>
            <a:pathLst>
              <a:path w="2864483" h="3783569">
                <a:moveTo>
                  <a:pt x="0" y="0"/>
                </a:moveTo>
                <a:lnTo>
                  <a:pt x="2864483" y="0"/>
                </a:lnTo>
                <a:lnTo>
                  <a:pt x="2864483" y="3783569"/>
                </a:lnTo>
                <a:lnTo>
                  <a:pt x="0" y="37835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35043" y="6841978"/>
            <a:ext cx="2890060" cy="3262971"/>
          </a:xfrm>
          <a:custGeom>
            <a:avLst/>
            <a:gdLst/>
            <a:ahLst/>
            <a:cxnLst/>
            <a:rect l="l" t="t" r="r" b="b"/>
            <a:pathLst>
              <a:path w="2890060" h="3262971">
                <a:moveTo>
                  <a:pt x="0" y="0"/>
                </a:moveTo>
                <a:lnTo>
                  <a:pt x="2890060" y="0"/>
                </a:lnTo>
                <a:lnTo>
                  <a:pt x="2890060" y="3262971"/>
                </a:lnTo>
                <a:lnTo>
                  <a:pt x="0" y="32629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02519" y="363754"/>
            <a:ext cx="3756077" cy="6962859"/>
          </a:xfrm>
          <a:custGeom>
            <a:avLst/>
            <a:gdLst/>
            <a:ahLst/>
            <a:cxnLst/>
            <a:rect l="l" t="t" r="r" b="b"/>
            <a:pathLst>
              <a:path w="3756077" h="6962859">
                <a:moveTo>
                  <a:pt x="0" y="0"/>
                </a:moveTo>
                <a:lnTo>
                  <a:pt x="3756077" y="0"/>
                </a:lnTo>
                <a:lnTo>
                  <a:pt x="3756077" y="6962859"/>
                </a:lnTo>
                <a:lnTo>
                  <a:pt x="0" y="6962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53" t="-5283" b="-198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71958" y="363754"/>
            <a:ext cx="3596589" cy="6962859"/>
          </a:xfrm>
          <a:custGeom>
            <a:avLst/>
            <a:gdLst/>
            <a:ahLst/>
            <a:cxnLst/>
            <a:rect l="l" t="t" r="r" b="b"/>
            <a:pathLst>
              <a:path w="3596589" h="6962859">
                <a:moveTo>
                  <a:pt x="0" y="0"/>
                </a:moveTo>
                <a:lnTo>
                  <a:pt x="3596589" y="0"/>
                </a:lnTo>
                <a:lnTo>
                  <a:pt x="3596589" y="6962859"/>
                </a:lnTo>
                <a:lnTo>
                  <a:pt x="0" y="696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26" t="-12884" r="-9901"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1071282" y="5288216"/>
            <a:ext cx="3725805" cy="5421880"/>
          </a:xfrm>
          <a:custGeom>
            <a:avLst/>
            <a:gdLst/>
            <a:ahLst/>
            <a:cxnLst/>
            <a:rect l="l" t="t" r="r" b="b"/>
            <a:pathLst>
              <a:path w="3725805" h="5421880">
                <a:moveTo>
                  <a:pt x="0" y="0"/>
                </a:moveTo>
                <a:lnTo>
                  <a:pt x="3725805" y="0"/>
                </a:lnTo>
                <a:lnTo>
                  <a:pt x="3725805" y="5421880"/>
                </a:lnTo>
                <a:lnTo>
                  <a:pt x="0" y="5421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87" t="-33550" r="-12140" b="-1662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286098"/>
            <a:ext cx="6748997" cy="9860548"/>
          </a:xfrm>
          <a:custGeom>
            <a:avLst/>
            <a:gdLst/>
            <a:ahLst/>
            <a:cxnLst/>
            <a:rect l="l" t="t" r="r" b="b"/>
            <a:pathLst>
              <a:path w="6748997" h="9860548">
                <a:moveTo>
                  <a:pt x="0" y="0"/>
                </a:moveTo>
                <a:lnTo>
                  <a:pt x="6748997" y="0"/>
                </a:lnTo>
                <a:lnTo>
                  <a:pt x="6748997" y="9860547"/>
                </a:lnTo>
                <a:lnTo>
                  <a:pt x="0" y="98605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04" t="-23508" r="-4485" b="-12394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7265" y="791952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FASES DEL TRABAJO DE PARTO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720822"/>
            <a:ext cx="15597426" cy="650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FASE LATENTE: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Contracciones irregulares, de intensidad creciente.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Dilatación cervical hasta 4–5 cm.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Borramiento progresivo del cuello uterino.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Puede durar varias horas.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7265" y="791952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FASES DEL TRABAJO DE PARTO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720822"/>
            <a:ext cx="17259300" cy="650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FASE ACTIVA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Inicio: dilatación ≥ 5 cm (según OMS 2021).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Contracciones regulares, cada 2–3 minutos, más intensas.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Progreso de la dilatación cervical.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Descenso progresivo de la presentación fetal.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22719" y="600564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CONTROLES EN LA FASE ACTIVA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4537" y="1435206"/>
            <a:ext cx="17833463" cy="893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endParaRPr/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Signos vitales maternos.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Estado gral materno.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FCF, DU, TU cada 30 min o menos.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Alivio del dolor. Respiración. Movilización. Masajes. Posturas en el TdP. Hidratación.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Apoyo emocional. Acompañamiento. Comunicación clara.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Dilatación, descenso y posición fetal. TV cada 4hs según necesidad clínica.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En caso de que la bolsa este rota evaluar características del LA.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En PARTOGRAMA registramos los controles. La CURVA DE ALERTA y</a:t>
            </a:r>
          </a:p>
          <a:p>
            <a:pPr algn="l">
              <a:lnSpc>
                <a:spcPts val="5600"/>
              </a:lnSpc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     CURVA DE ACCIÓN guían la conducta.</a:t>
            </a:r>
          </a:p>
          <a:p>
            <a:pPr algn="l">
              <a:lnSpc>
                <a:spcPts val="7283"/>
              </a:lnSpc>
            </a:pPr>
            <a:endParaRPr lang="en-US" sz="5000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7265" y="791952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¿Que evaluamos en la FCF?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701772"/>
            <a:ext cx="16735425" cy="894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FCF normal entre 110 y 160 lpm</a:t>
            </a:r>
          </a:p>
          <a:p>
            <a:pPr algn="l">
              <a:lnSpc>
                <a:spcPts val="5600"/>
              </a:lnSpc>
            </a:pPr>
            <a:endParaRPr lang="en-US" sz="5000">
              <a:solidFill>
                <a:srgbClr val="475173"/>
              </a:solidFill>
              <a:latin typeface="ArchTH Condensed"/>
              <a:ea typeface="ArchTH Condensed"/>
              <a:cs typeface="ArchTH Condensed"/>
              <a:sym typeface="ArchTH Condensed"/>
            </a:endParaRPr>
          </a:p>
          <a:p>
            <a:pPr algn="l">
              <a:lnSpc>
                <a:spcPts val="5600"/>
              </a:lnSpc>
            </a:pPr>
            <a:r>
              <a:rPr lang="en-US" sz="5000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Debemos controlar antes, durante y después de una contracción.</a:t>
            </a:r>
          </a:p>
          <a:p>
            <a:pPr algn="l">
              <a:lnSpc>
                <a:spcPts val="5600"/>
              </a:lnSpc>
            </a:pPr>
            <a:endParaRPr lang="en-US" sz="5000">
              <a:solidFill>
                <a:srgbClr val="475173"/>
              </a:solidFill>
              <a:latin typeface="ArchTH Condensed"/>
              <a:ea typeface="ArchTH Condensed"/>
              <a:cs typeface="ArchTH Condensed"/>
              <a:sym typeface="ArchTH Condensed"/>
            </a:endParaRPr>
          </a:p>
          <a:p>
            <a:pPr algn="l">
              <a:lnSpc>
                <a:spcPts val="5600"/>
              </a:lnSpc>
            </a:pPr>
            <a:r>
              <a:rPr lang="en-US" sz="5000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En caso de desaceleraciones tardías o variables, bradicardia o taquicardia fetal:</a:t>
            </a:r>
          </a:p>
          <a:p>
            <a:pPr algn="l">
              <a:lnSpc>
                <a:spcPts val="5600"/>
              </a:lnSpc>
            </a:pPr>
            <a:r>
              <a:rPr lang="en-US" sz="5000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 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Cambiar de posición materna DLI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Suspender oxitociona si se esta utilizando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Evaluar TU</a:t>
            </a:r>
          </a:p>
          <a:p>
            <a:pPr algn="l">
              <a:lnSpc>
                <a:spcPts val="5600"/>
              </a:lnSpc>
            </a:pPr>
            <a:endParaRPr lang="en-US" sz="5000">
              <a:solidFill>
                <a:srgbClr val="475173"/>
              </a:solidFill>
              <a:latin typeface="ArchTH Condensed"/>
              <a:ea typeface="ArchTH Condensed"/>
              <a:cs typeface="ArchTH Condensed"/>
              <a:sym typeface="ArchTH Condensed"/>
            </a:endParaRPr>
          </a:p>
          <a:p>
            <a:pPr algn="l">
              <a:lnSpc>
                <a:spcPts val="7283"/>
              </a:lnSpc>
            </a:pPr>
            <a:endParaRPr lang="en-US" sz="5000">
              <a:solidFill>
                <a:srgbClr val="475173"/>
              </a:solidFill>
              <a:latin typeface="ArchTH Condensed"/>
              <a:ea typeface="ArchTH Condensed"/>
              <a:cs typeface="ArchTH Condensed"/>
              <a:sym typeface="ArchTH Condensed"/>
            </a:endParaRPr>
          </a:p>
          <a:p>
            <a:pPr algn="l">
              <a:lnSpc>
                <a:spcPts val="7283"/>
              </a:lnSpc>
            </a:pPr>
            <a:endParaRPr lang="en-US" sz="5000">
              <a:solidFill>
                <a:srgbClr val="475173"/>
              </a:solidFill>
              <a:latin typeface="ArchTH Condensed"/>
              <a:ea typeface="ArchTH Condensed"/>
              <a:cs typeface="ArchTH Condensed"/>
              <a:sym typeface="ArchTH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82434" y="470202"/>
            <a:ext cx="8723132" cy="9069858"/>
          </a:xfrm>
          <a:custGeom>
            <a:avLst/>
            <a:gdLst/>
            <a:ahLst/>
            <a:cxnLst/>
            <a:rect l="l" t="t" r="r" b="b"/>
            <a:pathLst>
              <a:path w="8723132" h="9069858">
                <a:moveTo>
                  <a:pt x="0" y="0"/>
                </a:moveTo>
                <a:lnTo>
                  <a:pt x="8723132" y="0"/>
                </a:lnTo>
                <a:lnTo>
                  <a:pt x="8723132" y="9069858"/>
                </a:lnTo>
                <a:lnTo>
                  <a:pt x="0" y="906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763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2479" y="414020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PARTOGRAMA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7339" y="1929393"/>
            <a:ext cx="16230600" cy="356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El partograma es una herramienta clínica y gráfica utilizada para registrar y evaluar el progreso del trabajo de parto. 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Es parte esencial del control obstétrico y está incluido en los protocolos de la OMS (2021) y de la FIGO, así como en las guías nacionales de atención materna.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5164" y="5752093"/>
            <a:ext cx="15014951" cy="386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97B2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Línea de alerta: indica el progreso esperado.</a:t>
            </a:r>
          </a:p>
          <a:p>
            <a:pPr marL="971550" lvl="1" indent="-485775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97B2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Línea de acción: indica progresión del TdP; si se cruza con la curva de alerta, se debe reevaluar la conducta obstétrica. (Amniotomía/ Conducción del TdP)</a:t>
            </a:r>
          </a:p>
          <a:p>
            <a:pPr marL="971550" lvl="1" indent="-485775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97B2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Detecta trabajo de parto prolongado o detenido.</a:t>
            </a:r>
          </a:p>
          <a:p>
            <a:pPr marL="971550" lvl="1" indent="-485775" algn="l">
              <a:lnSpc>
                <a:spcPts val="5040"/>
              </a:lnSpc>
              <a:buFont typeface="Arial"/>
              <a:buChar char="•"/>
            </a:pPr>
            <a:r>
              <a:rPr lang="en-US" sz="4500">
                <a:solidFill>
                  <a:srgbClr val="0097B2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Mejora la toma de decisiones y reduce el índice de cesáreas.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99982" y="220695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PARTOGRAMA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573427" y="1341870"/>
            <a:ext cx="11373733" cy="8598001"/>
          </a:xfrm>
          <a:custGeom>
            <a:avLst/>
            <a:gdLst/>
            <a:ahLst/>
            <a:cxnLst/>
            <a:rect l="l" t="t" r="r" b="b"/>
            <a:pathLst>
              <a:path w="11373733" h="8598001">
                <a:moveTo>
                  <a:pt x="0" y="0"/>
                </a:moveTo>
                <a:lnTo>
                  <a:pt x="11373734" y="0"/>
                </a:lnTo>
                <a:lnTo>
                  <a:pt x="11373734" y="8598001"/>
                </a:lnTo>
                <a:lnTo>
                  <a:pt x="0" y="8598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6403" y="414020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PLANOS DE HODGE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396403" y="1671955"/>
            <a:ext cx="11022509" cy="8275520"/>
          </a:xfrm>
          <a:custGeom>
            <a:avLst/>
            <a:gdLst/>
            <a:ahLst/>
            <a:cxnLst/>
            <a:rect l="l" t="t" r="r" b="b"/>
            <a:pathLst>
              <a:path w="11022509" h="8275520">
                <a:moveTo>
                  <a:pt x="0" y="0"/>
                </a:moveTo>
                <a:lnTo>
                  <a:pt x="11022508" y="0"/>
                </a:lnTo>
                <a:lnTo>
                  <a:pt x="11022508" y="8275520"/>
                </a:lnTo>
                <a:lnTo>
                  <a:pt x="0" y="827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7265" y="791952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FASES DEL TRABAJO DE PARTO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720822"/>
            <a:ext cx="17259300" cy="650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PERÍODO EXPULSIVO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Desde dilatación completa (10 cm) hasta la salida del feto.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Contracciones intensas + pujos maternos.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Descenso y rotación de la cabeza fetal.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Finaliza con el nacimiento.</a:t>
            </a:r>
          </a:p>
          <a:p>
            <a:pPr algn="l">
              <a:lnSpc>
                <a:spcPts val="7283"/>
              </a:lnSpc>
            </a:pPr>
            <a:endParaRPr lang="en-US" sz="6502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671955"/>
            <a:ext cx="7265046" cy="7586345"/>
          </a:xfrm>
          <a:custGeom>
            <a:avLst/>
            <a:gdLst/>
            <a:ahLst/>
            <a:cxnLst/>
            <a:rect l="l" t="t" r="r" b="b"/>
            <a:pathLst>
              <a:path w="7265046" h="7586345">
                <a:moveTo>
                  <a:pt x="0" y="0"/>
                </a:moveTo>
                <a:lnTo>
                  <a:pt x="7265046" y="0"/>
                </a:lnTo>
                <a:lnTo>
                  <a:pt x="7265046" y="7586345"/>
                </a:lnTo>
                <a:lnTo>
                  <a:pt x="0" y="7586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754" b="-9765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17908" y="1671955"/>
            <a:ext cx="7433850" cy="7586345"/>
          </a:xfrm>
          <a:custGeom>
            <a:avLst/>
            <a:gdLst/>
            <a:ahLst/>
            <a:cxnLst/>
            <a:rect l="l" t="t" r="r" b="b"/>
            <a:pathLst>
              <a:path w="7433850" h="7586345">
                <a:moveTo>
                  <a:pt x="0" y="0"/>
                </a:moveTo>
                <a:lnTo>
                  <a:pt x="7433850" y="0"/>
                </a:lnTo>
                <a:lnTo>
                  <a:pt x="7433850" y="7586345"/>
                </a:lnTo>
                <a:lnTo>
                  <a:pt x="0" y="7586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1232" r="-255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20326" y="414020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TIEMPOS DEL PARTO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7265" y="791952"/>
            <a:ext cx="14061006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FASES DEL TRABAJO DE PARTO</a:t>
            </a:r>
          </a:p>
        </p:txBody>
      </p:sp>
      <p:sp>
        <p:nvSpPr>
          <p:cNvPr id="3" name="Freeform 3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720822"/>
            <a:ext cx="11371064" cy="742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ALUMBRAMIENTO</a:t>
            </a:r>
          </a:p>
          <a:p>
            <a:pPr marL="1403932" lvl="1" indent="-701966" algn="l">
              <a:lnSpc>
                <a:spcPts val="7283"/>
              </a:lnSpc>
              <a:buFont typeface="Arial"/>
              <a:buChar char="•"/>
            </a:pPr>
            <a:r>
              <a:rPr lang="en-US" sz="6502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Expulsión de placenta y membranas.</a:t>
            </a:r>
          </a:p>
          <a:p>
            <a:pPr algn="l">
              <a:lnSpc>
                <a:spcPts val="7283"/>
              </a:lnSpc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Tipos: </a:t>
            </a:r>
            <a:r>
              <a:rPr lang="en-US" sz="6502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Espontáneo</a:t>
            </a:r>
          </a:p>
          <a:p>
            <a:pPr algn="l">
              <a:lnSpc>
                <a:spcPts val="7283"/>
              </a:lnSpc>
            </a:pPr>
            <a:r>
              <a:rPr lang="en-US" sz="6502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       Dirigido o Activo</a:t>
            </a:r>
          </a:p>
          <a:p>
            <a:pPr algn="l">
              <a:lnSpc>
                <a:spcPts val="7283"/>
              </a:lnSpc>
            </a:pPr>
            <a:r>
              <a:rPr lang="en-US" sz="6502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       Manual</a:t>
            </a:r>
          </a:p>
          <a:p>
            <a:pPr algn="l">
              <a:lnSpc>
                <a:spcPts val="7283"/>
              </a:lnSpc>
            </a:pPr>
            <a:r>
              <a:rPr lang="en-US" sz="6502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Mecanismo: </a:t>
            </a:r>
            <a:r>
              <a:rPr lang="en-US" sz="6502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Schultze (80%)</a:t>
            </a:r>
          </a:p>
          <a:p>
            <a:pPr algn="l">
              <a:lnSpc>
                <a:spcPts val="7283"/>
              </a:lnSpc>
            </a:pPr>
            <a:r>
              <a:rPr lang="en-US" sz="6502">
                <a:solidFill>
                  <a:srgbClr val="475173"/>
                </a:solidFill>
                <a:latin typeface="ArchTH Condensed"/>
                <a:ea typeface="ArchTH Condensed"/>
                <a:cs typeface="ArchTH Condensed"/>
                <a:sym typeface="ArchTH Condensed"/>
              </a:rPr>
              <a:t>             Duncan (20%)</a:t>
            </a:r>
          </a:p>
          <a:p>
            <a:pPr algn="l">
              <a:lnSpc>
                <a:spcPts val="7283"/>
              </a:lnSpc>
            </a:pPr>
            <a:endParaRPr lang="en-US" sz="6502">
              <a:solidFill>
                <a:srgbClr val="475173"/>
              </a:solidFill>
              <a:latin typeface="ArchTH Condensed"/>
              <a:ea typeface="ArchTH Condensed"/>
              <a:cs typeface="ArchTH Condensed"/>
              <a:sym typeface="ArchTH Condense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03716" y="3649186"/>
            <a:ext cx="1601255" cy="4932333"/>
          </a:xfrm>
          <a:custGeom>
            <a:avLst/>
            <a:gdLst/>
            <a:ahLst/>
            <a:cxnLst/>
            <a:rect l="l" t="t" r="r" b="b"/>
            <a:pathLst>
              <a:path w="1601255" h="4932333">
                <a:moveTo>
                  <a:pt x="0" y="0"/>
                </a:moveTo>
                <a:lnTo>
                  <a:pt x="1601255" y="0"/>
                </a:lnTo>
                <a:lnTo>
                  <a:pt x="1601255" y="4932332"/>
                </a:lnTo>
                <a:lnTo>
                  <a:pt x="0" y="4932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67816" y="1305668"/>
            <a:ext cx="7224593" cy="96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65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ALUMBRAMIENTO ACTIVO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544215"/>
            <a:ext cx="12073176" cy="344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6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El alumbramiento activo es una práctica </a:t>
            </a:r>
          </a:p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6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protocolizada para prevenir la hemorragia </a:t>
            </a:r>
          </a:p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6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postparto, recomendada por  la OMS (2021), </a:t>
            </a:r>
          </a:p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6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FIGO y los ministerios de salud nacionales.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38225" y="1820289"/>
            <a:ext cx="16653153" cy="920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endParaRPr/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Administración de uterotónico</a:t>
            </a:r>
          </a:p>
          <a:p>
            <a:pPr marL="2159001" lvl="2" indent="-719667" algn="l">
              <a:lnSpc>
                <a:spcPts val="5600"/>
              </a:lnSpc>
              <a:buFont typeface="Arial"/>
              <a:buChar char="⚬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Oxitocina 10 UI IM o IV lenta en el primer minuto postparto.</a:t>
            </a:r>
          </a:p>
          <a:p>
            <a:pPr marL="2159001" lvl="2" indent="-719667" algn="l">
              <a:lnSpc>
                <a:spcPts val="5600"/>
              </a:lnSpc>
              <a:buFont typeface="Arial"/>
              <a:buChar char="⚬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Alternativas: ergometrina o misoprostol.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Tracción controlada del cordón</a:t>
            </a:r>
          </a:p>
          <a:p>
            <a:pPr marL="2159001" lvl="2" indent="-719667" algn="l">
              <a:lnSpc>
                <a:spcPts val="5600"/>
              </a:lnSpc>
              <a:buFont typeface="Arial"/>
              <a:buChar char="⚬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Tracción suave del cordón umbilical.</a:t>
            </a:r>
          </a:p>
          <a:p>
            <a:pPr marL="2159001" lvl="2" indent="-719667" algn="l">
              <a:lnSpc>
                <a:spcPts val="5600"/>
              </a:lnSpc>
              <a:buFont typeface="Arial"/>
              <a:buChar char="⚬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Contratracción sobre el útero para evitar inversión uterina.</a:t>
            </a:r>
          </a:p>
          <a:p>
            <a:pPr marL="1079501" lvl="1" indent="-539750" algn="l">
              <a:lnSpc>
                <a:spcPts val="5600"/>
              </a:lnSpc>
              <a:buFont typeface="Arial"/>
              <a:buChar char="•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Masaje uterino</a:t>
            </a:r>
          </a:p>
          <a:p>
            <a:pPr marL="2159001" lvl="2" indent="-719667" algn="l">
              <a:lnSpc>
                <a:spcPts val="5600"/>
              </a:lnSpc>
              <a:buFont typeface="Arial"/>
              <a:buChar char="⚬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Palpar fondo uterino tras la expulsión de la placenta. </a:t>
            </a:r>
          </a:p>
          <a:p>
            <a:pPr algn="l">
              <a:lnSpc>
                <a:spcPts val="5600"/>
              </a:lnSpc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           Constatar retracción uterina. Globo de Seguridad de Pinard.</a:t>
            </a:r>
          </a:p>
          <a:p>
            <a:pPr marL="2159001" lvl="2" indent="-719667" algn="l">
              <a:lnSpc>
                <a:spcPts val="5600"/>
              </a:lnSpc>
              <a:buFont typeface="Arial"/>
              <a:buChar char="⚬"/>
            </a:pPr>
            <a:r>
              <a:rPr lang="en-US" sz="50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Repetir cada 15 minutos durante la primera hora.</a:t>
            </a:r>
          </a:p>
          <a:p>
            <a:pPr algn="l">
              <a:lnSpc>
                <a:spcPts val="5600"/>
              </a:lnSpc>
            </a:pPr>
            <a:endParaRPr lang="en-US" sz="5000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  <a:p>
            <a:pPr algn="l">
              <a:lnSpc>
                <a:spcPts val="5600"/>
              </a:lnSpc>
            </a:pPr>
            <a:endParaRPr lang="en-US" sz="5000" b="1">
              <a:solidFill>
                <a:srgbClr val="475173"/>
              </a:solidFill>
              <a:latin typeface="ArchTH Condensed Bold"/>
              <a:ea typeface="ArchTH Condensed Bold"/>
              <a:cs typeface="ArchTH Condensed Bold"/>
              <a:sym typeface="ArchTH Condens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77646" y="849374"/>
            <a:ext cx="14181654" cy="96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6500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ALUMBRAMIENTO ACTIVO– Pasos según protocolo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01655"/>
            <a:ext cx="7079062" cy="7490820"/>
          </a:xfrm>
          <a:custGeom>
            <a:avLst/>
            <a:gdLst/>
            <a:ahLst/>
            <a:cxnLst/>
            <a:rect l="l" t="t" r="r" b="b"/>
            <a:pathLst>
              <a:path w="7079062" h="7490820">
                <a:moveTo>
                  <a:pt x="0" y="0"/>
                </a:moveTo>
                <a:lnTo>
                  <a:pt x="7079062" y="0"/>
                </a:lnTo>
                <a:lnTo>
                  <a:pt x="7079062" y="7490819"/>
                </a:lnTo>
                <a:lnTo>
                  <a:pt x="0" y="7490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57700" y="2001655"/>
            <a:ext cx="7701600" cy="7490820"/>
          </a:xfrm>
          <a:custGeom>
            <a:avLst/>
            <a:gdLst/>
            <a:ahLst/>
            <a:cxnLst/>
            <a:rect l="l" t="t" r="r" b="b"/>
            <a:pathLst>
              <a:path w="7701600" h="7490820">
                <a:moveTo>
                  <a:pt x="0" y="0"/>
                </a:moveTo>
                <a:lnTo>
                  <a:pt x="7701600" y="0"/>
                </a:lnTo>
                <a:lnTo>
                  <a:pt x="7701600" y="7490819"/>
                </a:lnTo>
                <a:lnTo>
                  <a:pt x="0" y="7490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06140" y="414020"/>
            <a:ext cx="11475720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8499" b="1">
                <a:solidFill>
                  <a:srgbClr val="475173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Mecanismo de desprendimiento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C8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8932" y="183329"/>
            <a:ext cx="845371" cy="8453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987221">
            <a:off x="15198391" y="6196456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180007">
            <a:off x="-3250293" y="-3811973"/>
            <a:ext cx="6907852" cy="6687208"/>
          </a:xfrm>
          <a:custGeom>
            <a:avLst/>
            <a:gdLst/>
            <a:ahLst/>
            <a:cxnLst/>
            <a:rect l="l" t="t" r="r" b="b"/>
            <a:pathLst>
              <a:path w="6907852" h="6687208">
                <a:moveTo>
                  <a:pt x="0" y="0"/>
                </a:moveTo>
                <a:lnTo>
                  <a:pt x="6907851" y="0"/>
                </a:lnTo>
                <a:lnTo>
                  <a:pt x="6907851" y="6687208"/>
                </a:lnTo>
                <a:lnTo>
                  <a:pt x="0" y="6687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29733" y="2440457"/>
            <a:ext cx="4630941" cy="6174588"/>
          </a:xfrm>
          <a:custGeom>
            <a:avLst/>
            <a:gdLst/>
            <a:ahLst/>
            <a:cxnLst/>
            <a:rect l="l" t="t" r="r" b="b"/>
            <a:pathLst>
              <a:path w="4630941" h="6174588">
                <a:moveTo>
                  <a:pt x="0" y="0"/>
                </a:moveTo>
                <a:lnTo>
                  <a:pt x="4630941" y="0"/>
                </a:lnTo>
                <a:lnTo>
                  <a:pt x="4630941" y="6174588"/>
                </a:lnTo>
                <a:lnTo>
                  <a:pt x="0" y="617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731174">
            <a:off x="1067560" y="569824"/>
            <a:ext cx="4689543" cy="6252724"/>
          </a:xfrm>
          <a:custGeom>
            <a:avLst/>
            <a:gdLst/>
            <a:ahLst/>
            <a:cxnLst/>
            <a:rect l="l" t="t" r="r" b="b"/>
            <a:pathLst>
              <a:path w="4689543" h="6252724">
                <a:moveTo>
                  <a:pt x="0" y="0"/>
                </a:moveTo>
                <a:lnTo>
                  <a:pt x="4689543" y="0"/>
                </a:lnTo>
                <a:lnTo>
                  <a:pt x="4689543" y="6252724"/>
                </a:lnTo>
                <a:lnTo>
                  <a:pt x="0" y="6252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69595">
            <a:off x="12732944" y="-118688"/>
            <a:ext cx="4866067" cy="6488089"/>
          </a:xfrm>
          <a:custGeom>
            <a:avLst/>
            <a:gdLst/>
            <a:ahLst/>
            <a:cxnLst/>
            <a:rect l="l" t="t" r="r" b="b"/>
            <a:pathLst>
              <a:path w="4866067" h="6488089">
                <a:moveTo>
                  <a:pt x="0" y="0"/>
                </a:moveTo>
                <a:lnTo>
                  <a:pt x="4866067" y="0"/>
                </a:lnTo>
                <a:lnTo>
                  <a:pt x="4866067" y="6488089"/>
                </a:lnTo>
                <a:lnTo>
                  <a:pt x="0" y="6488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44938" y="8925380"/>
            <a:ext cx="6754178" cy="125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8499" b="1">
                <a:solidFill>
                  <a:srgbClr val="000000"/>
                </a:solidFill>
                <a:latin typeface="ArchTH Condensed Bold"/>
                <a:ea typeface="ArchTH Condensed Bold"/>
                <a:cs typeface="ArchTH Condensed Bold"/>
                <a:sym typeface="ArchTH Condensed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</Words>
  <Application>Microsoft Office PowerPoint</Application>
  <PresentationFormat>Personalizado</PresentationFormat>
  <Paragraphs>130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Calibri</vt:lpstr>
      <vt:lpstr>ArchTH Condensed Bold</vt:lpstr>
      <vt:lpstr>Arial</vt:lpstr>
      <vt:lpstr>ArchTH Condensed</vt:lpstr>
      <vt:lpstr>Open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TRABAJO DE PARTO</dc:title>
  <dc:creator>Usuario</dc:creator>
  <cp:lastModifiedBy>Usuario</cp:lastModifiedBy>
  <cp:revision>1</cp:revision>
  <dcterms:created xsi:type="dcterms:W3CDTF">2006-08-16T00:00:00Z</dcterms:created>
  <dcterms:modified xsi:type="dcterms:W3CDTF">2026-08-12T13:23:46Z</dcterms:modified>
  <dc:identifier>DAHRbTQnOP0</dc:identifier>
</cp:coreProperties>
</file>