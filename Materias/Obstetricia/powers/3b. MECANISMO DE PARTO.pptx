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82" r:id="rId2"/>
    <p:sldId id="266" r:id="rId3"/>
    <p:sldId id="256" r:id="rId4"/>
    <p:sldId id="283" r:id="rId5"/>
    <p:sldId id="267" r:id="rId6"/>
    <p:sldId id="284" r:id="rId7"/>
    <p:sldId id="268" r:id="rId8"/>
    <p:sldId id="285" r:id="rId9"/>
    <p:sldId id="257" r:id="rId10"/>
    <p:sldId id="258" r:id="rId11"/>
    <p:sldId id="261" r:id="rId12"/>
    <p:sldId id="281" r:id="rId13"/>
    <p:sldId id="273" r:id="rId14"/>
    <p:sldId id="262" r:id="rId15"/>
    <p:sldId id="265" r:id="rId16"/>
    <p:sldId id="280" r:id="rId17"/>
    <p:sldId id="276" r:id="rId18"/>
    <p:sldId id="263" r:id="rId19"/>
    <p:sldId id="264" r:id="rId20"/>
    <p:sldId id="277" r:id="rId21"/>
    <p:sldId id="279" r:id="rId22"/>
    <p:sldId id="259" r:id="rId23"/>
    <p:sldId id="270" r:id="rId2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05" autoAdjust="0"/>
  </p:normalViewPr>
  <p:slideViewPr>
    <p:cSldViewPr>
      <p:cViewPr varScale="1">
        <p:scale>
          <a:sx n="47" d="100"/>
          <a:sy n="47" d="100"/>
        </p:scale>
        <p:origin x="1474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5E9DB9-EC8C-4D0E-93B2-6A463C0B99B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D7C62-C703-424D-BC8C-559639A2C86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2D7C62-C703-424D-BC8C-559639A2C8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86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67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090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406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532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6397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571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7635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37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118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662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3278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725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1981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720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1707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16017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8644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10/08/2026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38566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f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0"/>
            <a:ext cx="9144907" cy="6741368"/>
          </a:xfrm>
        </p:spPr>
        <p:txBody>
          <a:bodyPr/>
          <a:lstStyle/>
          <a:p>
            <a:br>
              <a:rPr lang="es-ES" sz="6000" dirty="0"/>
            </a:br>
            <a:br>
              <a:rPr lang="es-ES" sz="6000" dirty="0"/>
            </a:br>
            <a:br>
              <a:rPr lang="es-ES" sz="6000" dirty="0">
                <a:solidFill>
                  <a:srgbClr val="002060"/>
                </a:solidFill>
              </a:rPr>
            </a:br>
            <a:br>
              <a:rPr lang="es-ES" sz="6000" dirty="0">
                <a:solidFill>
                  <a:srgbClr val="002060"/>
                </a:solidFill>
              </a:rPr>
            </a:br>
            <a:br>
              <a:rPr lang="es-ES" sz="6000" dirty="0">
                <a:solidFill>
                  <a:srgbClr val="002060"/>
                </a:solidFill>
              </a:rPr>
            </a:br>
            <a:r>
              <a:rPr lang="es-ES" sz="6000" dirty="0">
                <a:solidFill>
                  <a:srgbClr val="002060"/>
                </a:solidFill>
              </a:rPr>
              <a:t>Mecanismo de Parto    </a:t>
            </a:r>
            <a:br>
              <a:rPr lang="es-ES" dirty="0">
                <a:solidFill>
                  <a:srgbClr val="002060"/>
                </a:solidFill>
              </a:rPr>
            </a:br>
            <a:r>
              <a:rPr lang="es-ES" dirty="0">
                <a:solidFill>
                  <a:srgbClr val="002060"/>
                </a:solidFill>
              </a:rPr>
              <a:t>       </a:t>
            </a:r>
            <a:r>
              <a:rPr lang="es-ES" sz="3600" dirty="0">
                <a:solidFill>
                  <a:srgbClr val="002060"/>
                </a:solidFill>
              </a:rPr>
              <a:t>Dr. Miguel Blanco</a:t>
            </a:r>
            <a:br>
              <a:rPr lang="es-ES" sz="3600" dirty="0">
                <a:solidFill>
                  <a:srgbClr val="002060"/>
                </a:solidFill>
              </a:rPr>
            </a:br>
            <a:r>
              <a:rPr lang="es-ES" sz="3600" dirty="0">
                <a:solidFill>
                  <a:srgbClr val="002060"/>
                </a:solidFill>
              </a:rPr>
              <a:t>                                                            </a:t>
            </a:r>
            <a:br>
              <a:rPr lang="es-ES" dirty="0">
                <a:solidFill>
                  <a:srgbClr val="002060"/>
                </a:solidFill>
              </a:rPr>
            </a:br>
            <a:r>
              <a:rPr lang="es-ES" sz="6000" dirty="0">
                <a:solidFill>
                  <a:srgbClr val="002060"/>
                </a:solidFill>
              </a:rPr>
              <a:t>catedra de obstetricia</a:t>
            </a:r>
            <a:endParaRPr lang="en-US" sz="6000" dirty="0">
              <a:solidFill>
                <a:srgbClr val="002060"/>
              </a:solidFill>
            </a:endParaRPr>
          </a:p>
        </p:txBody>
      </p:sp>
      <p:pic>
        <p:nvPicPr>
          <p:cNvPr id="3" name="Picture 2" descr="Universidad de Mendoza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116632"/>
            <a:ext cx="2340659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58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1484784"/>
          </a:xfrm>
        </p:spPr>
        <p:txBody>
          <a:bodyPr>
            <a:normAutofit/>
          </a:bodyPr>
          <a:lstStyle/>
          <a:p>
            <a:r>
              <a:rPr lang="es-AR" dirty="0"/>
              <a:t>CAUSAS DEL INICIO DEL PARTO</a:t>
            </a:r>
            <a:br>
              <a:rPr lang="es-AR" dirty="0"/>
            </a:br>
            <a:r>
              <a:rPr lang="es-AR" dirty="0"/>
              <a:t>           </a:t>
            </a:r>
            <a:r>
              <a:rPr lang="es-AR" b="1" dirty="0"/>
              <a:t>por que ?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557" y="1478926"/>
            <a:ext cx="9144000" cy="52292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endParaRPr lang="es-AR" sz="1800" dirty="0"/>
          </a:p>
          <a:p>
            <a:r>
              <a:rPr lang="es-AR" b="1" dirty="0">
                <a:solidFill>
                  <a:srgbClr val="002060"/>
                </a:solidFill>
              </a:rPr>
              <a:t>Son innumerables las teorías propuestas para intentar explicar las causas que inician el parto. </a:t>
            </a:r>
          </a:p>
          <a:p>
            <a:r>
              <a:rPr lang="es-AR" b="1" dirty="0">
                <a:solidFill>
                  <a:srgbClr val="002060"/>
                </a:solidFill>
              </a:rPr>
              <a:t>No parece probable que éste se deba a un sólo factor, sino más bien, a la acción conjunta y coordinada de varios sistemas. </a:t>
            </a:r>
          </a:p>
          <a:p>
            <a:r>
              <a:rPr lang="es-AR" b="1" dirty="0">
                <a:solidFill>
                  <a:srgbClr val="002060"/>
                </a:solidFill>
              </a:rPr>
              <a:t>Se piensa que en el inicio del parto están implicados factores procedentes de diversas estructuras: placenta, feto,   útero..., sin que por el momento se conozcan con exactitud ni su mecanismo de acción, ni la manera en que se coordinan entre sí. </a:t>
            </a:r>
          </a:p>
          <a:p>
            <a:r>
              <a:rPr lang="es-AR" b="1" dirty="0">
                <a:solidFill>
                  <a:srgbClr val="002060"/>
                </a:solidFill>
              </a:rPr>
              <a:t>Parece que algunos factores actuarían preparando las condiciones necesarias para el inicio del parto (</a:t>
            </a:r>
            <a:r>
              <a:rPr lang="es-AR" b="1" dirty="0" err="1">
                <a:solidFill>
                  <a:srgbClr val="002060"/>
                </a:solidFill>
              </a:rPr>
              <a:t>uterotropinas</a:t>
            </a:r>
            <a:r>
              <a:rPr lang="es-AR" b="1" dirty="0">
                <a:solidFill>
                  <a:srgbClr val="002060"/>
                </a:solidFill>
              </a:rPr>
              <a:t>), mientras que otros desencadenarían directamente la contracción </a:t>
            </a:r>
            <a:r>
              <a:rPr lang="es-AR" b="1" dirty="0" err="1">
                <a:solidFill>
                  <a:srgbClr val="002060"/>
                </a:solidFill>
              </a:rPr>
              <a:t>miometrial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(</a:t>
            </a:r>
            <a:r>
              <a:rPr lang="es-AR" b="1" dirty="0" err="1">
                <a:solidFill>
                  <a:srgbClr val="002060"/>
                </a:solidFill>
              </a:rPr>
              <a:t>uterotoninas</a:t>
            </a:r>
            <a:r>
              <a:rPr lang="es-AR" b="1" dirty="0">
                <a:solidFill>
                  <a:srgbClr val="002060"/>
                </a:solidFill>
              </a:rPr>
              <a:t>).</a:t>
            </a:r>
          </a:p>
          <a:p>
            <a:r>
              <a:rPr lang="es-AR" sz="2400" b="1" dirty="0"/>
              <a:t>                </a:t>
            </a:r>
            <a:r>
              <a:rPr lang="es-AR" sz="2400" b="1" u="sng" dirty="0"/>
              <a:t>COMO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0" y="476672"/>
            <a:ext cx="9144000" cy="504056"/>
          </a:xfrm>
        </p:spPr>
        <p:txBody>
          <a:bodyPr>
            <a:normAutofit fontScale="90000"/>
          </a:bodyPr>
          <a:lstStyle/>
          <a:p>
            <a:br>
              <a:rPr lang="es-AR" dirty="0"/>
            </a:b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endParaRPr lang="es-AR" sz="2400" b="1" dirty="0">
              <a:solidFill>
                <a:srgbClr val="002060"/>
              </a:solidFill>
            </a:endParaRPr>
          </a:p>
          <a:p>
            <a:endParaRPr lang="es-AR" sz="2400" b="1" dirty="0">
              <a:solidFill>
                <a:srgbClr val="002060"/>
              </a:solidFill>
            </a:endParaRPr>
          </a:p>
          <a:p>
            <a:r>
              <a:rPr lang="es-AR" sz="2400" b="1" dirty="0">
                <a:solidFill>
                  <a:srgbClr val="002060"/>
                </a:solidFill>
              </a:rPr>
              <a:t>                                 El inicio del parto</a:t>
            </a:r>
            <a:r>
              <a:rPr lang="es-AR" sz="2400" dirty="0">
                <a:solidFill>
                  <a:srgbClr val="002060"/>
                </a:solidFill>
              </a:rPr>
              <a:t>.</a:t>
            </a:r>
          </a:p>
          <a:p>
            <a:r>
              <a:rPr lang="es-AR" sz="2400" dirty="0">
                <a:solidFill>
                  <a:srgbClr val="002060"/>
                </a:solidFill>
              </a:rPr>
              <a:t> desde el </a:t>
            </a:r>
            <a:r>
              <a:rPr lang="es-AR" sz="2400" b="1" dirty="0">
                <a:solidFill>
                  <a:srgbClr val="002060"/>
                </a:solidFill>
              </a:rPr>
              <a:t>punto de vista biológico, </a:t>
            </a:r>
            <a:r>
              <a:rPr lang="es-AR" sz="2400" dirty="0">
                <a:solidFill>
                  <a:srgbClr val="002060"/>
                </a:solidFill>
              </a:rPr>
              <a:t>es difícil de determinar</a:t>
            </a:r>
            <a:r>
              <a:rPr lang="es-AR" dirty="0">
                <a:solidFill>
                  <a:srgbClr val="002060"/>
                </a:solidFill>
              </a:rPr>
              <a:t>. .</a:t>
            </a:r>
          </a:p>
          <a:p>
            <a:endParaRPr lang="es-AR" dirty="0">
              <a:solidFill>
                <a:srgbClr val="002060"/>
              </a:solidFill>
            </a:endParaRPr>
          </a:p>
          <a:p>
            <a:endParaRPr lang="es-AR" dirty="0">
              <a:solidFill>
                <a:srgbClr val="002060"/>
              </a:solidFill>
            </a:endParaRP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sz="2400" b="1" dirty="0">
                <a:solidFill>
                  <a:srgbClr val="002060"/>
                </a:solidFill>
              </a:rPr>
              <a:t>                             punto de vista clínico</a:t>
            </a:r>
          </a:p>
          <a:p>
            <a:r>
              <a:rPr lang="es-AR" sz="2400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se considera que el parto ha comenzado cuando se instaura una </a:t>
            </a:r>
            <a:r>
              <a:rPr lang="es-AR" b="1" dirty="0">
                <a:solidFill>
                  <a:srgbClr val="002060"/>
                </a:solidFill>
              </a:rPr>
              <a:t>actividad uterina regular </a:t>
            </a:r>
            <a:r>
              <a:rPr lang="es-AR" dirty="0">
                <a:solidFill>
                  <a:srgbClr val="002060"/>
                </a:solidFill>
              </a:rPr>
              <a:t>(2-3 contracciones de intensidad moderada cada 10 minutos) y </a:t>
            </a:r>
            <a:r>
              <a:rPr lang="es-AR" b="1" dirty="0">
                <a:solidFill>
                  <a:srgbClr val="002060"/>
                </a:solidFill>
              </a:rPr>
              <a:t>con dilatación del cérvix </a:t>
            </a:r>
            <a:r>
              <a:rPr lang="es-AR" dirty="0">
                <a:solidFill>
                  <a:srgbClr val="002060"/>
                </a:solidFill>
              </a:rPr>
              <a:t>de 2-3 cm y </a:t>
            </a:r>
            <a:r>
              <a:rPr lang="es-AR" b="1" dirty="0">
                <a:solidFill>
                  <a:srgbClr val="002060"/>
                </a:solidFill>
              </a:rPr>
              <a:t>cuello cervical maduro </a:t>
            </a:r>
            <a:r>
              <a:rPr lang="es-AR" dirty="0">
                <a:solidFill>
                  <a:srgbClr val="002060"/>
                </a:solidFill>
              </a:rPr>
              <a:t>(con test de </a:t>
            </a:r>
            <a:r>
              <a:rPr lang="es-AR" dirty="0" err="1">
                <a:solidFill>
                  <a:srgbClr val="002060"/>
                </a:solidFill>
              </a:rPr>
              <a:t>Bishop</a:t>
            </a:r>
            <a:r>
              <a:rPr lang="es-AR" dirty="0">
                <a:solidFill>
                  <a:srgbClr val="002060"/>
                </a:solidFill>
              </a:rPr>
              <a:t> elevado, al menos con el cuello blando, centrado y borrado &gt; 50%).</a:t>
            </a: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          condiciones favorables  para el inicio del parto</a:t>
            </a:r>
          </a:p>
          <a:p>
            <a:endParaRPr lang="es-AR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669359"/>
          </a:xfrm>
        </p:spPr>
        <p:txBody>
          <a:bodyPr>
            <a:normAutofit/>
          </a:bodyPr>
          <a:lstStyle/>
          <a:p>
            <a:r>
              <a:rPr lang="es-AR" b="1" dirty="0">
                <a:solidFill>
                  <a:srgbClr val="002060"/>
                </a:solidFill>
              </a:rPr>
              <a:t>Las condiciones favorables </a:t>
            </a:r>
          </a:p>
          <a:p>
            <a:r>
              <a:rPr lang="es-AR" b="1" dirty="0">
                <a:solidFill>
                  <a:srgbClr val="002060"/>
                </a:solidFill>
              </a:rPr>
              <a:t> Madurez cervical</a:t>
            </a:r>
            <a:r>
              <a:rPr lang="es-AR" dirty="0">
                <a:solidFill>
                  <a:srgbClr val="002060"/>
                </a:solidFill>
              </a:rPr>
              <a:t>: • </a:t>
            </a:r>
            <a:r>
              <a:rPr lang="es-AR" b="1" dirty="0">
                <a:solidFill>
                  <a:srgbClr val="002060"/>
                </a:solidFill>
              </a:rPr>
              <a:t>Longitud menor de 2 cm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r>
              <a:rPr lang="es-AR" dirty="0">
                <a:solidFill>
                  <a:srgbClr val="002060"/>
                </a:solidFill>
              </a:rPr>
              <a:t>                                    • </a:t>
            </a:r>
            <a:r>
              <a:rPr lang="es-AR" b="1" dirty="0">
                <a:solidFill>
                  <a:srgbClr val="002060"/>
                </a:solidFill>
              </a:rPr>
              <a:t>Reblandecimiento cervical(consistencia</a:t>
            </a:r>
            <a:r>
              <a:rPr lang="es-AR" dirty="0">
                <a:solidFill>
                  <a:srgbClr val="002060"/>
                </a:solidFill>
              </a:rPr>
              <a:t>)</a:t>
            </a:r>
          </a:p>
          <a:p>
            <a:r>
              <a:rPr lang="es-AR" dirty="0">
                <a:solidFill>
                  <a:srgbClr val="002060"/>
                </a:solidFill>
              </a:rPr>
              <a:t>                                       • </a:t>
            </a:r>
            <a:r>
              <a:rPr lang="es-AR" b="1" dirty="0">
                <a:solidFill>
                  <a:srgbClr val="002060"/>
                </a:solidFill>
              </a:rPr>
              <a:t>Posición del cuello cervical intermedia.</a:t>
            </a:r>
          </a:p>
          <a:p>
            <a:r>
              <a:rPr lang="es-AR" dirty="0">
                <a:solidFill>
                  <a:srgbClr val="002060"/>
                </a:solidFill>
              </a:rPr>
              <a:t>                                          • </a:t>
            </a:r>
            <a:r>
              <a:rPr lang="es-AR" u="sng" dirty="0">
                <a:solidFill>
                  <a:srgbClr val="002060"/>
                </a:solidFill>
              </a:rPr>
              <a:t>Dilatación cervical de 2 -3 cm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dirty="0">
                <a:solidFill>
                  <a:srgbClr val="002060"/>
                </a:solidFill>
              </a:rPr>
              <a:t>• </a:t>
            </a:r>
            <a:r>
              <a:rPr lang="es-AR" b="1" dirty="0">
                <a:solidFill>
                  <a:srgbClr val="002060"/>
                </a:solidFill>
              </a:rPr>
              <a:t>Cabeza insinuada  </a:t>
            </a:r>
            <a:r>
              <a:rPr lang="es-AR" dirty="0">
                <a:solidFill>
                  <a:srgbClr val="002060"/>
                </a:solidFill>
              </a:rPr>
              <a:t>en la pelvis  o apoyando en el cuello.</a:t>
            </a: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dirty="0">
                <a:solidFill>
                  <a:srgbClr val="002060"/>
                </a:solidFill>
              </a:rPr>
              <a:t>• </a:t>
            </a:r>
            <a:r>
              <a:rPr lang="es-AR" b="1" dirty="0">
                <a:solidFill>
                  <a:srgbClr val="002060"/>
                </a:solidFill>
              </a:rPr>
              <a:t>Buena dinámica uterina</a:t>
            </a:r>
            <a:r>
              <a:rPr lang="es-AR" dirty="0">
                <a:solidFill>
                  <a:srgbClr val="002060"/>
                </a:solidFill>
              </a:rPr>
              <a:t>:</a:t>
            </a:r>
          </a:p>
          <a:p>
            <a:r>
              <a:rPr lang="es-AR" dirty="0">
                <a:solidFill>
                  <a:srgbClr val="002060"/>
                </a:solidFill>
              </a:rPr>
              <a:t>           </a:t>
            </a:r>
            <a:r>
              <a:rPr lang="es-AR" b="1" dirty="0">
                <a:solidFill>
                  <a:srgbClr val="002060"/>
                </a:solidFill>
              </a:rPr>
              <a:t>Frecuencia</a:t>
            </a:r>
            <a:r>
              <a:rPr lang="es-AR" dirty="0">
                <a:solidFill>
                  <a:srgbClr val="002060"/>
                </a:solidFill>
              </a:rPr>
              <a:t>: 3 contracciones en 10 minutos.</a:t>
            </a:r>
          </a:p>
          <a:p>
            <a:r>
              <a:rPr lang="es-AR" dirty="0">
                <a:solidFill>
                  <a:srgbClr val="002060"/>
                </a:solidFill>
              </a:rPr>
              <a:t>                  </a:t>
            </a:r>
            <a:r>
              <a:rPr lang="es-AR" b="1" dirty="0">
                <a:solidFill>
                  <a:srgbClr val="002060"/>
                </a:solidFill>
              </a:rPr>
              <a:t>Intensidad:</a:t>
            </a:r>
            <a:r>
              <a:rPr lang="es-AR" dirty="0">
                <a:solidFill>
                  <a:srgbClr val="002060"/>
                </a:solidFill>
              </a:rPr>
              <a:t> 25-50 </a:t>
            </a:r>
            <a:r>
              <a:rPr lang="es-AR" dirty="0" err="1">
                <a:solidFill>
                  <a:srgbClr val="002060"/>
                </a:solidFill>
              </a:rPr>
              <a:t>mmHg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r>
              <a:rPr lang="es-ES" dirty="0">
                <a:solidFill>
                  <a:srgbClr val="002060"/>
                </a:solidFill>
              </a:rPr>
              <a:t>                                   </a:t>
            </a:r>
          </a:p>
          <a:p>
            <a:r>
              <a:rPr lang="es-ES" dirty="0">
                <a:solidFill>
                  <a:srgbClr val="002060"/>
                </a:solidFill>
              </a:rPr>
              <a:t>                                   </a:t>
            </a:r>
            <a:r>
              <a:rPr lang="es-ES" sz="2800" b="1" dirty="0">
                <a:solidFill>
                  <a:srgbClr val="002060"/>
                </a:solidFill>
              </a:rPr>
              <a:t>Contracciones </a:t>
            </a:r>
            <a:r>
              <a:rPr lang="es-ES" sz="2800" b="1" dirty="0" err="1">
                <a:solidFill>
                  <a:srgbClr val="002060"/>
                </a:solidFill>
              </a:rPr>
              <a:t>partales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53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8757592"/>
          </a:xfrm>
        </p:spPr>
        <p:txBody>
          <a:bodyPr>
            <a:noAutofit/>
          </a:bodyPr>
          <a:lstStyle/>
          <a:p>
            <a:pPr>
              <a:buNone/>
            </a:pPr>
            <a:endParaRPr lang="es-AR" sz="1400" dirty="0"/>
          </a:p>
          <a:p>
            <a:pPr>
              <a:buNone/>
            </a:pPr>
            <a:endParaRPr lang="es-AR" sz="1400" dirty="0"/>
          </a:p>
          <a:p>
            <a:pPr>
              <a:buNone/>
            </a:pPr>
            <a:r>
              <a:rPr lang="es-AR" b="1" dirty="0"/>
              <a:t> </a:t>
            </a:r>
            <a:r>
              <a:rPr lang="es-AR" sz="2400" b="1" dirty="0">
                <a:solidFill>
                  <a:srgbClr val="002060"/>
                </a:solidFill>
              </a:rPr>
              <a:t>Factores </a:t>
            </a:r>
            <a:r>
              <a:rPr lang="es-AR" sz="2400" b="1" dirty="0" err="1">
                <a:solidFill>
                  <a:srgbClr val="002060"/>
                </a:solidFill>
              </a:rPr>
              <a:t>miometriales</a:t>
            </a:r>
            <a:r>
              <a:rPr lang="es-AR" sz="1800" dirty="0">
                <a:solidFill>
                  <a:srgbClr val="002060"/>
                </a:solidFill>
              </a:rPr>
              <a:t>. </a:t>
            </a:r>
            <a:r>
              <a:rPr lang="es-AR" sz="2000" dirty="0">
                <a:solidFill>
                  <a:srgbClr val="002060"/>
                </a:solidFill>
              </a:rPr>
              <a:t>aumento de receptores de </a:t>
            </a:r>
            <a:r>
              <a:rPr lang="es-AR" sz="2000" dirty="0" err="1">
                <a:solidFill>
                  <a:srgbClr val="002060"/>
                </a:solidFill>
              </a:rPr>
              <a:t>oxitocina</a:t>
            </a:r>
            <a:r>
              <a:rPr lang="es-AR" sz="2000" dirty="0">
                <a:solidFill>
                  <a:srgbClr val="002060"/>
                </a:solidFill>
              </a:rPr>
              <a:t> y uniones gap  y potenciado por los estrógenos. Irritabilidad uterina. Capacidad de respuesta a </a:t>
            </a:r>
            <a:r>
              <a:rPr lang="es-AR" sz="2000" dirty="0" err="1">
                <a:solidFill>
                  <a:srgbClr val="002060"/>
                </a:solidFill>
              </a:rPr>
              <a:t>uterotoninas</a:t>
            </a:r>
            <a:r>
              <a:rPr lang="es-AR" sz="2000" dirty="0">
                <a:solidFill>
                  <a:srgbClr val="002060"/>
                </a:solidFill>
              </a:rPr>
              <a:t>. El aumento de calcio, </a:t>
            </a:r>
            <a:r>
              <a:rPr lang="es-AR" sz="2000" dirty="0" err="1">
                <a:solidFill>
                  <a:srgbClr val="002060"/>
                </a:solidFill>
              </a:rPr>
              <a:t>Endotelina</a:t>
            </a:r>
            <a:r>
              <a:rPr lang="es-AR" sz="2000" dirty="0">
                <a:solidFill>
                  <a:srgbClr val="002060"/>
                </a:solidFill>
              </a:rPr>
              <a:t>, Factor activador plaquetario (PAF),  Prostaglandinas, etc.   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sz="2000" b="1" dirty="0">
                <a:solidFill>
                  <a:srgbClr val="002060"/>
                </a:solidFill>
              </a:rPr>
              <a:t>         </a:t>
            </a:r>
            <a:r>
              <a:rPr lang="es-AR" sz="2400" b="1" dirty="0">
                <a:solidFill>
                  <a:srgbClr val="002060"/>
                </a:solidFill>
              </a:rPr>
              <a:t>formación del segmento inferior</a:t>
            </a:r>
          </a:p>
          <a:p>
            <a:pPr>
              <a:buNone/>
            </a:pPr>
            <a:r>
              <a:rPr lang="es-AR" sz="2000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Fa</a:t>
            </a:r>
            <a:r>
              <a:rPr lang="es-AR" sz="2400" b="1" dirty="0">
                <a:solidFill>
                  <a:srgbClr val="002060"/>
                </a:solidFill>
              </a:rPr>
              <a:t>ctores cervicales</a:t>
            </a:r>
            <a:r>
              <a:rPr lang="es-AR" sz="2000" dirty="0">
                <a:solidFill>
                  <a:srgbClr val="002060"/>
                </a:solidFill>
              </a:rPr>
              <a:t>. Coincidiendo con el inicio del parto, el cuello debe</a:t>
            </a:r>
          </a:p>
          <a:p>
            <a:pPr>
              <a:buNone/>
            </a:pPr>
            <a:r>
              <a:rPr lang="es-AR" sz="2000" dirty="0">
                <a:solidFill>
                  <a:srgbClr val="002060"/>
                </a:solidFill>
              </a:rPr>
              <a:t> </a:t>
            </a:r>
            <a:r>
              <a:rPr lang="es-AR" sz="2000" b="1" dirty="0">
                <a:solidFill>
                  <a:srgbClr val="002060"/>
                </a:solidFill>
              </a:rPr>
              <a:t>acortarse, aumentar su flexibilidad y dilatarse</a:t>
            </a:r>
            <a:r>
              <a:rPr lang="es-AR" sz="2000" dirty="0">
                <a:solidFill>
                  <a:srgbClr val="002060"/>
                </a:solidFill>
              </a:rPr>
              <a:t>,</a:t>
            </a:r>
          </a:p>
          <a:p>
            <a:pPr>
              <a:buNone/>
            </a:pPr>
            <a:endParaRPr lang="es-AR" sz="2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2000" dirty="0">
                <a:solidFill>
                  <a:srgbClr val="002060"/>
                </a:solidFill>
              </a:rPr>
              <a:t> La aplicación cervical directa de prostaglandina </a:t>
            </a:r>
            <a:r>
              <a:rPr lang="es-AR" sz="2000" b="1" dirty="0">
                <a:solidFill>
                  <a:srgbClr val="002060"/>
                </a:solidFill>
              </a:rPr>
              <a:t>E2 y PGF2α</a:t>
            </a:r>
          </a:p>
          <a:p>
            <a:pPr>
              <a:buNone/>
            </a:pPr>
            <a:r>
              <a:rPr lang="es-AR" sz="2000" dirty="0">
                <a:solidFill>
                  <a:srgbClr val="002060"/>
                </a:solidFill>
              </a:rPr>
              <a:t> </a:t>
            </a:r>
            <a:r>
              <a:rPr lang="es-AR" sz="2000" b="1" dirty="0">
                <a:solidFill>
                  <a:srgbClr val="002060"/>
                </a:solidFill>
              </a:rPr>
              <a:t>induce las </a:t>
            </a:r>
            <a:r>
              <a:rPr lang="es-AR" b="1" dirty="0">
                <a:solidFill>
                  <a:srgbClr val="002060"/>
                </a:solidFill>
              </a:rPr>
              <a:t>MODIFICACIONES</a:t>
            </a:r>
            <a:r>
              <a:rPr lang="es-AR" sz="2000" b="1" dirty="0">
                <a:solidFill>
                  <a:srgbClr val="002060"/>
                </a:solidFill>
              </a:rPr>
              <a:t> </a:t>
            </a:r>
            <a:r>
              <a:rPr lang="es-AR" sz="2000" dirty="0">
                <a:solidFill>
                  <a:srgbClr val="002060"/>
                </a:solidFill>
              </a:rPr>
              <a:t>subyacentes al ablandamiento cervical, es decir, la modificación del colágeno.</a:t>
            </a:r>
          </a:p>
          <a:p>
            <a:pPr>
              <a:buNone/>
            </a:pPr>
            <a:endParaRPr lang="es-AR" sz="20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7504" y="0"/>
            <a:ext cx="8784976" cy="6857999"/>
          </a:xfrm>
        </p:spPr>
        <p:txBody>
          <a:bodyPr>
            <a:normAutofit/>
          </a:bodyPr>
          <a:lstStyle/>
          <a:p>
            <a:pPr>
              <a:buNone/>
            </a:pPr>
            <a:endParaRPr lang="es-AR" b="1" dirty="0"/>
          </a:p>
          <a:p>
            <a:pPr>
              <a:buNone/>
            </a:pPr>
            <a:r>
              <a:rPr lang="es-AR" sz="2400" b="1" dirty="0">
                <a:solidFill>
                  <a:srgbClr val="002060"/>
                </a:solidFill>
              </a:rPr>
              <a:t>Factores </a:t>
            </a:r>
            <a:r>
              <a:rPr lang="es-AR" sz="2400" b="1" dirty="0" err="1">
                <a:solidFill>
                  <a:srgbClr val="002060"/>
                </a:solidFill>
              </a:rPr>
              <a:t>uterotróficos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Estrógenos</a:t>
            </a:r>
            <a:r>
              <a:rPr lang="es-AR" dirty="0">
                <a:solidFill>
                  <a:srgbClr val="002060"/>
                </a:solidFill>
              </a:rPr>
              <a:t>, Hipertrofia de las células </a:t>
            </a:r>
            <a:r>
              <a:rPr lang="es-AR" dirty="0" err="1">
                <a:solidFill>
                  <a:srgbClr val="002060"/>
                </a:solidFill>
              </a:rPr>
              <a:t>miometriales</a:t>
            </a:r>
            <a:r>
              <a:rPr lang="es-AR" dirty="0">
                <a:solidFill>
                  <a:srgbClr val="002060"/>
                </a:solidFill>
              </a:rPr>
              <a:t>.  Incrementan la síntesis de proteínas contráctiles.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Aumentan la excitabilidad,</a:t>
            </a:r>
            <a:r>
              <a:rPr lang="es-AR" dirty="0">
                <a:solidFill>
                  <a:srgbClr val="002060"/>
                </a:solidFill>
              </a:rPr>
              <a:t> por aumento de la disponibilidad de calcio libre intracelular. Aumentan la velocidad de propagación de la actividad, También inhibe la síntesis de proteínas de unión gap y de receptores para la </a:t>
            </a:r>
            <a:r>
              <a:rPr lang="es-AR" dirty="0" err="1">
                <a:solidFill>
                  <a:srgbClr val="002060"/>
                </a:solidFill>
              </a:rPr>
              <a:t>oxitocina</a:t>
            </a:r>
            <a:r>
              <a:rPr lang="es-AR" dirty="0">
                <a:solidFill>
                  <a:srgbClr val="002060"/>
                </a:solidFill>
              </a:rPr>
              <a:t>. .  Aumentan el número de </a:t>
            </a:r>
            <a:r>
              <a:rPr lang="es-AR" b="1" dirty="0">
                <a:solidFill>
                  <a:srgbClr val="002060"/>
                </a:solidFill>
              </a:rPr>
              <a:t>receptores </a:t>
            </a:r>
            <a:r>
              <a:rPr lang="es-AR" b="1" dirty="0" err="1">
                <a:solidFill>
                  <a:srgbClr val="002060"/>
                </a:solidFill>
              </a:rPr>
              <a:t>miometriales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para la </a:t>
            </a:r>
            <a:r>
              <a:rPr lang="es-AR" dirty="0" err="1">
                <a:solidFill>
                  <a:srgbClr val="002060"/>
                </a:solidFill>
              </a:rPr>
              <a:t>oxitocina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2400" b="1" dirty="0">
                <a:solidFill>
                  <a:srgbClr val="002060"/>
                </a:solidFill>
              </a:rPr>
              <a:t>Factores ovulares</a:t>
            </a:r>
            <a:r>
              <a:rPr lang="es-AR" b="1" dirty="0">
                <a:solidFill>
                  <a:srgbClr val="002060"/>
                </a:solidFill>
              </a:rPr>
              <a:t>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Las membranas fetales y la decidua elaboran  moléculas que se han implicado en el trabajo de parto. “sistema </a:t>
            </a:r>
            <a:r>
              <a:rPr lang="es-AR" dirty="0" err="1">
                <a:solidFill>
                  <a:srgbClr val="002060"/>
                </a:solidFill>
              </a:rPr>
              <a:t>paracrino</a:t>
            </a:r>
            <a:r>
              <a:rPr lang="es-AR" dirty="0">
                <a:solidFill>
                  <a:srgbClr val="002060"/>
                </a:solidFill>
              </a:rPr>
              <a:t> de comunicación materno fetal” mediadores de la inflamación en el </a:t>
            </a:r>
            <a:r>
              <a:rPr lang="es-AR" dirty="0" err="1">
                <a:solidFill>
                  <a:srgbClr val="002060"/>
                </a:solidFill>
              </a:rPr>
              <a:t>Liq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dirty="0" err="1">
                <a:solidFill>
                  <a:srgbClr val="002060"/>
                </a:solidFill>
              </a:rPr>
              <a:t>Amniotico</a:t>
            </a:r>
            <a:r>
              <a:rPr lang="es-AR" dirty="0">
                <a:solidFill>
                  <a:srgbClr val="002060"/>
                </a:solidFill>
              </a:rPr>
              <a:t> ……… </a:t>
            </a:r>
            <a:r>
              <a:rPr lang="es-AR" sz="2400" b="1" dirty="0">
                <a:solidFill>
                  <a:srgbClr val="002060"/>
                </a:solidFill>
              </a:rPr>
              <a:t>Prostaglandinas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60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Factores </a:t>
            </a:r>
            <a:r>
              <a:rPr lang="es-AR" b="1" dirty="0" err="1">
                <a:solidFill>
                  <a:srgbClr val="002060"/>
                </a:solidFill>
              </a:rPr>
              <a:t>uterotónicos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</a:t>
            </a:r>
            <a:r>
              <a:rPr lang="es-AR" dirty="0">
                <a:solidFill>
                  <a:srgbClr val="002060"/>
                </a:solidFill>
              </a:rPr>
              <a:t>Se han demostrado niveles elevados de prostaglandinas (PGE2 y PGF2α) en líquido amniótico, sangre y orina maternas al final del embarazo. se postula una atractiva teoría en la que las prostaglandinas podrían ser la clave del complejo mecanismo del inicio del parto.</a:t>
            </a: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Se sintetizan a partir del </a:t>
            </a:r>
            <a:r>
              <a:rPr lang="es-AR" b="1" dirty="0">
                <a:solidFill>
                  <a:srgbClr val="002060"/>
                </a:solidFill>
              </a:rPr>
              <a:t>ácido araquidónico</a:t>
            </a:r>
            <a:r>
              <a:rPr lang="es-AR" dirty="0">
                <a:solidFill>
                  <a:srgbClr val="002060"/>
                </a:solidFill>
              </a:rPr>
              <a:t>, que se encuentra almacenado en la célula en forma </a:t>
            </a:r>
            <a:r>
              <a:rPr lang="es-AR" b="1" dirty="0">
                <a:solidFill>
                  <a:srgbClr val="002060"/>
                </a:solidFill>
              </a:rPr>
              <a:t>de </a:t>
            </a:r>
            <a:r>
              <a:rPr lang="es-AR" b="1" dirty="0" err="1">
                <a:solidFill>
                  <a:srgbClr val="002060"/>
                </a:solidFill>
              </a:rPr>
              <a:t>glicerofosfolípidos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y se moviliza gracias a la acción del </a:t>
            </a:r>
            <a:r>
              <a:rPr lang="es-AR" b="1" dirty="0">
                <a:solidFill>
                  <a:srgbClr val="002060"/>
                </a:solidFill>
              </a:rPr>
              <a:t>enzima </a:t>
            </a:r>
            <a:r>
              <a:rPr lang="es-AR" b="1" dirty="0" err="1">
                <a:solidFill>
                  <a:srgbClr val="002060"/>
                </a:solidFill>
              </a:rPr>
              <a:t>fosfolipasa</a:t>
            </a:r>
            <a:r>
              <a:rPr lang="es-AR" b="1" dirty="0">
                <a:solidFill>
                  <a:srgbClr val="002060"/>
                </a:solidFill>
              </a:rPr>
              <a:t> A2.</a:t>
            </a:r>
            <a:r>
              <a:rPr lang="es-AR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El lugar de síntesis de las prostaglandinas no está tan claro, parece que el </a:t>
            </a:r>
            <a:r>
              <a:rPr lang="es-AR" b="1" dirty="0">
                <a:solidFill>
                  <a:srgbClr val="002060"/>
                </a:solidFill>
              </a:rPr>
              <a:t>amnios y el corion </a:t>
            </a:r>
            <a:r>
              <a:rPr lang="es-AR" dirty="0">
                <a:solidFill>
                  <a:srgbClr val="002060"/>
                </a:solidFill>
              </a:rPr>
              <a:t>producirían </a:t>
            </a:r>
            <a:r>
              <a:rPr lang="es-AR" b="1" dirty="0">
                <a:solidFill>
                  <a:srgbClr val="002060"/>
                </a:solidFill>
              </a:rPr>
              <a:t>sólo PGE2</a:t>
            </a:r>
            <a:r>
              <a:rPr lang="es-AR" dirty="0">
                <a:solidFill>
                  <a:srgbClr val="002060"/>
                </a:solidFill>
              </a:rPr>
              <a:t>, mientras que la </a:t>
            </a:r>
            <a:r>
              <a:rPr lang="es-AR" b="1" dirty="0">
                <a:solidFill>
                  <a:srgbClr val="002060"/>
                </a:solidFill>
              </a:rPr>
              <a:t>decidua </a:t>
            </a:r>
            <a:r>
              <a:rPr lang="es-AR" dirty="0">
                <a:solidFill>
                  <a:srgbClr val="002060"/>
                </a:solidFill>
              </a:rPr>
              <a:t>podría sintetizar ambos (</a:t>
            </a:r>
            <a:r>
              <a:rPr lang="es-AR" b="1" dirty="0">
                <a:solidFill>
                  <a:srgbClr val="002060"/>
                </a:solidFill>
              </a:rPr>
              <a:t>PGE2 y GF2α</a:t>
            </a:r>
            <a:r>
              <a:rPr lang="es-AR" dirty="0">
                <a:solidFill>
                  <a:srgbClr val="002060"/>
                </a:solidFill>
              </a:rPr>
              <a:t>).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Se ha postulado que la rotura de los lisosomas </a:t>
            </a:r>
            <a:r>
              <a:rPr lang="es-AR" dirty="0" err="1">
                <a:solidFill>
                  <a:srgbClr val="002060"/>
                </a:solidFill>
              </a:rPr>
              <a:t>deciduales</a:t>
            </a:r>
            <a:r>
              <a:rPr lang="es-AR" dirty="0">
                <a:solidFill>
                  <a:srgbClr val="002060"/>
                </a:solidFill>
              </a:rPr>
              <a:t> liberaría la </a:t>
            </a:r>
            <a:r>
              <a:rPr lang="es-AR" dirty="0" err="1">
                <a:solidFill>
                  <a:srgbClr val="002060"/>
                </a:solidFill>
              </a:rPr>
              <a:t>fosfolipasa</a:t>
            </a:r>
            <a:r>
              <a:rPr lang="es-AR" dirty="0">
                <a:solidFill>
                  <a:srgbClr val="002060"/>
                </a:solidFill>
              </a:rPr>
              <a:t> A2;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los factores capaces de </a:t>
            </a:r>
            <a:r>
              <a:rPr lang="es-AR" b="1" dirty="0">
                <a:solidFill>
                  <a:srgbClr val="002060"/>
                </a:solidFill>
              </a:rPr>
              <a:t>provocar dicha rotura</a:t>
            </a:r>
            <a:r>
              <a:rPr lang="es-AR" dirty="0">
                <a:solidFill>
                  <a:srgbClr val="002060"/>
                </a:solidFill>
              </a:rPr>
              <a:t> como </a:t>
            </a:r>
            <a:r>
              <a:rPr lang="es-AR" b="1" dirty="0">
                <a:solidFill>
                  <a:srgbClr val="002060"/>
                </a:solidFill>
              </a:rPr>
              <a:t>la infección amniótica, la hemorragia, la </a:t>
            </a:r>
            <a:r>
              <a:rPr lang="es-AR" b="1" dirty="0" err="1">
                <a:solidFill>
                  <a:srgbClr val="002060"/>
                </a:solidFill>
              </a:rPr>
              <a:t>sobredistensión</a:t>
            </a:r>
            <a:r>
              <a:rPr lang="es-AR" b="1" dirty="0">
                <a:solidFill>
                  <a:srgbClr val="002060"/>
                </a:solidFill>
              </a:rPr>
              <a:t> uterina, o la rotura de membranas,</a:t>
            </a:r>
            <a:r>
              <a:rPr lang="es-AR" dirty="0">
                <a:solidFill>
                  <a:srgbClr val="002060"/>
                </a:solidFill>
              </a:rPr>
              <a:t> aumentarían la formación de  prostaglandinas, y por tanto, desencadenarían el parto. </a:t>
            </a:r>
          </a:p>
          <a:p>
            <a:pPr>
              <a:buNone/>
            </a:pPr>
            <a:endParaRPr lang="es-AR" dirty="0"/>
          </a:p>
          <a:p>
            <a:endParaRPr lang="es-A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13855"/>
            <a:ext cx="9144000" cy="695739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 err="1">
                <a:solidFill>
                  <a:srgbClr val="002060"/>
                </a:solidFill>
              </a:rPr>
              <a:t>Endotelina</a:t>
            </a:r>
            <a:r>
              <a:rPr lang="es-AR" b="1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El PAF, Factor activador plaquetario. es otro potente </a:t>
            </a:r>
            <a:r>
              <a:rPr lang="es-AR" b="1" dirty="0" err="1">
                <a:solidFill>
                  <a:srgbClr val="002060"/>
                </a:solidFill>
              </a:rPr>
              <a:t>uterotónico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que posee receptores a nivel del </a:t>
            </a:r>
            <a:r>
              <a:rPr lang="es-AR" dirty="0" err="1">
                <a:solidFill>
                  <a:srgbClr val="002060"/>
                </a:solidFill>
              </a:rPr>
              <a:t>miometrio</a:t>
            </a:r>
            <a:r>
              <a:rPr lang="es-AR" dirty="0">
                <a:solidFill>
                  <a:srgbClr val="002060"/>
                </a:solidFill>
              </a:rPr>
              <a:t> Es probable, que al igual que las prostaglandinas, citoquinas y la </a:t>
            </a:r>
            <a:r>
              <a:rPr lang="es-AR" dirty="0" err="1">
                <a:solidFill>
                  <a:srgbClr val="002060"/>
                </a:solidFill>
              </a:rPr>
              <a:t>endotelina</a:t>
            </a:r>
            <a:r>
              <a:rPr lang="es-AR" dirty="0">
                <a:solidFill>
                  <a:srgbClr val="002060"/>
                </a:solidFill>
              </a:rPr>
              <a:t>- 1, el PAF sea producido por los leucocitos como consecuencia del obligado proceso inflamatorio que tiene lugar en el momento de la dilatación cervical</a:t>
            </a: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Factores fetales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    Existe tendencia a creer que el feto, después de una maduración suficiente de sus órganos fetales, brinda la señal para que se inicie el parto</a:t>
            </a:r>
            <a:r>
              <a:rPr lang="es-AR" b="1" dirty="0">
                <a:solidFill>
                  <a:srgbClr val="002060"/>
                </a:solidFill>
              </a:rPr>
              <a:t>. Por desgracia, en el feto humano, esta señal no se ha descubierto todavía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79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r>
              <a:rPr lang="es-AR" sz="3600" b="1" dirty="0">
                <a:solidFill>
                  <a:srgbClr val="002060"/>
                </a:solidFill>
              </a:rPr>
              <a:t>1. Primera Etapa del Parto </a:t>
            </a:r>
            <a:r>
              <a:rPr lang="es-AR" dirty="0">
                <a:solidFill>
                  <a:srgbClr val="002060"/>
                </a:solidFill>
              </a:rPr>
              <a:t>(o</a:t>
            </a:r>
            <a:r>
              <a:rPr lang="es-AR" b="1" dirty="0">
                <a:solidFill>
                  <a:srgbClr val="002060"/>
                </a:solidFill>
              </a:rPr>
              <a:t> período </a:t>
            </a:r>
            <a:r>
              <a:rPr lang="es-AR" b="1" dirty="0" err="1">
                <a:solidFill>
                  <a:srgbClr val="002060"/>
                </a:solidFill>
              </a:rPr>
              <a:t>dilatante</a:t>
            </a:r>
            <a:r>
              <a:rPr lang="es-AR" dirty="0">
                <a:solidFill>
                  <a:srgbClr val="002060"/>
                </a:solidFill>
              </a:rPr>
              <a:t>), que consta de dos fases:</a:t>
            </a:r>
          </a:p>
          <a:p>
            <a:pPr>
              <a:buNone/>
            </a:pPr>
            <a:r>
              <a:rPr lang="es-AR" b="1" i="1" dirty="0">
                <a:solidFill>
                  <a:srgbClr val="002060"/>
                </a:solidFill>
              </a:rPr>
              <a:t>Fase Latente</a:t>
            </a:r>
            <a:r>
              <a:rPr lang="es-AR" i="1" dirty="0">
                <a:solidFill>
                  <a:srgbClr val="002060"/>
                </a:solidFill>
              </a:rPr>
              <a:t>: Lapso que media entre el inicio perceptible </a:t>
            </a:r>
            <a:r>
              <a:rPr lang="es-AR" dirty="0">
                <a:solidFill>
                  <a:srgbClr val="002060"/>
                </a:solidFill>
              </a:rPr>
              <a:t>de las contracciones uterinas y la presencia de un cuello borrado y tres centímetros de dilatación.</a:t>
            </a:r>
          </a:p>
          <a:p>
            <a:pPr>
              <a:buNone/>
            </a:pPr>
            <a:r>
              <a:rPr lang="es-AR" b="1" i="1" dirty="0">
                <a:solidFill>
                  <a:srgbClr val="002060"/>
                </a:solidFill>
              </a:rPr>
              <a:t>Fase Activa</a:t>
            </a:r>
            <a:r>
              <a:rPr lang="es-AR" i="1" dirty="0">
                <a:solidFill>
                  <a:srgbClr val="002060"/>
                </a:solidFill>
              </a:rPr>
              <a:t>: Lapso que media entre los 3 y los 10 cm </a:t>
            </a:r>
            <a:r>
              <a:rPr lang="es-AR" dirty="0">
                <a:solidFill>
                  <a:srgbClr val="002060"/>
                </a:solidFill>
              </a:rPr>
              <a:t>de dilatación.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A su vez, la fase activa presenta una </a:t>
            </a:r>
            <a:r>
              <a:rPr lang="es-AR" b="1" dirty="0">
                <a:solidFill>
                  <a:srgbClr val="002060"/>
                </a:solidFill>
              </a:rPr>
              <a:t>fase </a:t>
            </a:r>
            <a:r>
              <a:rPr lang="es-AR" b="1" dirty="0" err="1">
                <a:solidFill>
                  <a:srgbClr val="002060"/>
                </a:solidFill>
              </a:rPr>
              <a:t>aceleratoria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(3-8 cm) y una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                                                                </a:t>
            </a:r>
            <a:r>
              <a:rPr lang="es-AR" b="1" dirty="0">
                <a:solidFill>
                  <a:srgbClr val="002060"/>
                </a:solidFill>
              </a:rPr>
              <a:t>fase </a:t>
            </a:r>
            <a:r>
              <a:rPr lang="es-AR" b="1" dirty="0" err="1">
                <a:solidFill>
                  <a:srgbClr val="002060"/>
                </a:solidFill>
              </a:rPr>
              <a:t>desaceleratoria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(8-10 cm).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En este período del parto tienen que pro-</a:t>
            </a:r>
            <a:r>
              <a:rPr lang="es-AR" dirty="0" err="1">
                <a:solidFill>
                  <a:srgbClr val="002060"/>
                </a:solidFill>
              </a:rPr>
              <a:t>ducirse</a:t>
            </a:r>
            <a:r>
              <a:rPr lang="es-AR" dirty="0">
                <a:solidFill>
                  <a:srgbClr val="002060"/>
                </a:solidFill>
              </a:rPr>
              <a:t> dos cambios: la dilatación y el descenso progresivos de la presentación fetal.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En la fase </a:t>
            </a:r>
            <a:r>
              <a:rPr lang="es-AR" dirty="0" err="1">
                <a:solidFill>
                  <a:srgbClr val="002060"/>
                </a:solidFill>
              </a:rPr>
              <a:t>aceleratoria</a:t>
            </a:r>
            <a:r>
              <a:rPr lang="es-AR" dirty="0">
                <a:solidFill>
                  <a:srgbClr val="002060"/>
                </a:solidFill>
              </a:rPr>
              <a:t> predomina la dilatación.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En la fase </a:t>
            </a:r>
            <a:r>
              <a:rPr lang="es-AR" dirty="0" err="1">
                <a:solidFill>
                  <a:srgbClr val="002060"/>
                </a:solidFill>
              </a:rPr>
              <a:t>desaceleratoria</a:t>
            </a:r>
            <a:r>
              <a:rPr lang="es-AR" dirty="0">
                <a:solidFill>
                  <a:srgbClr val="002060"/>
                </a:solidFill>
              </a:rPr>
              <a:t> ocurre el descenso.</a:t>
            </a:r>
          </a:p>
          <a:p>
            <a:r>
              <a:rPr lang="pt-BR" sz="3600" b="1" dirty="0">
                <a:solidFill>
                  <a:srgbClr val="002060"/>
                </a:solidFill>
              </a:rPr>
              <a:t>2. Segunda Etapa </a:t>
            </a:r>
            <a:r>
              <a:rPr lang="pt-BR" sz="3600" b="1" dirty="0" err="1">
                <a:solidFill>
                  <a:srgbClr val="002060"/>
                </a:solidFill>
              </a:rPr>
              <a:t>del</a:t>
            </a:r>
            <a:r>
              <a:rPr lang="pt-BR" sz="3600" b="1" dirty="0">
                <a:solidFill>
                  <a:srgbClr val="002060"/>
                </a:solidFill>
              </a:rPr>
              <a:t> Parto </a:t>
            </a:r>
            <a:r>
              <a:rPr lang="pt-BR" dirty="0">
                <a:solidFill>
                  <a:srgbClr val="002060"/>
                </a:solidFill>
              </a:rPr>
              <a:t>(o </a:t>
            </a:r>
            <a:r>
              <a:rPr lang="pt-BR" b="1" dirty="0">
                <a:solidFill>
                  <a:srgbClr val="002060"/>
                </a:solidFill>
              </a:rPr>
              <a:t>período de </a:t>
            </a:r>
            <a:r>
              <a:rPr lang="pt-BR" b="1" dirty="0" err="1">
                <a:solidFill>
                  <a:srgbClr val="002060"/>
                </a:solidFill>
              </a:rPr>
              <a:t>expulsivo</a:t>
            </a:r>
            <a:r>
              <a:rPr lang="pt-BR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Tiempo entre </a:t>
            </a:r>
            <a:r>
              <a:rPr lang="es-AR" b="1" dirty="0">
                <a:solidFill>
                  <a:srgbClr val="002060"/>
                </a:solidFill>
              </a:rPr>
              <a:t>dilatación completa </a:t>
            </a:r>
            <a:r>
              <a:rPr lang="es-AR" dirty="0">
                <a:solidFill>
                  <a:srgbClr val="002060"/>
                </a:solidFill>
              </a:rPr>
              <a:t>del cuello uterino y el </a:t>
            </a:r>
            <a:r>
              <a:rPr lang="es-AR" b="1" dirty="0">
                <a:solidFill>
                  <a:srgbClr val="002060"/>
                </a:solidFill>
              </a:rPr>
              <a:t>nacimiento del RN.</a:t>
            </a:r>
          </a:p>
          <a:p>
            <a:r>
              <a:rPr lang="es-AR" sz="3600" b="1" dirty="0">
                <a:solidFill>
                  <a:srgbClr val="002060"/>
                </a:solidFill>
              </a:rPr>
              <a:t>3. Tercera Etapa del Parto </a:t>
            </a:r>
            <a:r>
              <a:rPr lang="es-AR" dirty="0">
                <a:solidFill>
                  <a:srgbClr val="002060"/>
                </a:solidFill>
              </a:rPr>
              <a:t>(o </a:t>
            </a:r>
            <a:r>
              <a:rPr lang="es-AR" b="1" dirty="0">
                <a:solidFill>
                  <a:srgbClr val="002060"/>
                </a:solidFill>
              </a:rPr>
              <a:t>período del alumbramiento</a:t>
            </a:r>
            <a:r>
              <a:rPr lang="es-AR" dirty="0">
                <a:solidFill>
                  <a:srgbClr val="002060"/>
                </a:solidFill>
              </a:rPr>
              <a:t>).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Lapso que media entre el nacimiento del RN y la expulsión de la placenta y membranas ovulares.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-33148"/>
            <a:ext cx="9144000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800" b="1" dirty="0"/>
              <a:t>                     </a:t>
            </a:r>
            <a:r>
              <a:rPr lang="es-AR" sz="2800" b="1" dirty="0">
                <a:solidFill>
                  <a:srgbClr val="002060"/>
                </a:solidFill>
              </a:rPr>
              <a:t>Primera Etapa        </a:t>
            </a:r>
            <a:endParaRPr lang="es-AR" b="1" dirty="0">
              <a:solidFill>
                <a:srgbClr val="002060"/>
              </a:solidFill>
            </a:endParaRPr>
          </a:p>
          <a:p>
            <a:r>
              <a:rPr lang="es-AR" sz="2400" b="1" dirty="0">
                <a:solidFill>
                  <a:srgbClr val="002060"/>
                </a:solidFill>
              </a:rPr>
              <a:t>Fase Latente                              DILATANTE</a:t>
            </a:r>
          </a:p>
          <a:p>
            <a:r>
              <a:rPr lang="es-AR" b="1" dirty="0">
                <a:solidFill>
                  <a:srgbClr val="002060"/>
                </a:solidFill>
              </a:rPr>
              <a:t>                                 Nulípara Hasta 20 h</a:t>
            </a:r>
          </a:p>
          <a:p>
            <a:r>
              <a:rPr lang="es-AR" b="1" dirty="0">
                <a:solidFill>
                  <a:srgbClr val="002060"/>
                </a:solidFill>
              </a:rPr>
              <a:t>                                 Multípara Hasta 14 h</a:t>
            </a:r>
            <a:endParaRPr lang="es-AR" dirty="0">
              <a:solidFill>
                <a:srgbClr val="002060"/>
              </a:solidFill>
            </a:endParaRPr>
          </a:p>
          <a:p>
            <a:endParaRPr lang="es-AR" dirty="0">
              <a:solidFill>
                <a:srgbClr val="002060"/>
              </a:solidFill>
            </a:endParaRP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sz="2400" b="1" dirty="0">
                <a:solidFill>
                  <a:srgbClr val="002060"/>
                </a:solidFill>
              </a:rPr>
              <a:t>Fase Activa</a:t>
            </a:r>
          </a:p>
          <a:p>
            <a:r>
              <a:rPr lang="pt-BR" dirty="0">
                <a:solidFill>
                  <a:srgbClr val="002060"/>
                </a:solidFill>
              </a:rPr>
              <a:t>                               </a:t>
            </a:r>
            <a:r>
              <a:rPr lang="pt-BR" b="1" dirty="0" err="1">
                <a:solidFill>
                  <a:srgbClr val="002060"/>
                </a:solidFill>
              </a:rPr>
              <a:t>Dilatación</a:t>
            </a:r>
            <a:r>
              <a:rPr lang="pt-BR" b="1" dirty="0">
                <a:solidFill>
                  <a:srgbClr val="002060"/>
                </a:solidFill>
              </a:rPr>
              <a:t>               </a:t>
            </a:r>
            <a:r>
              <a:rPr lang="pt-BR" b="1" dirty="0" err="1">
                <a:solidFill>
                  <a:srgbClr val="002060"/>
                </a:solidFill>
              </a:rPr>
              <a:t>Nulípara</a:t>
            </a:r>
            <a:r>
              <a:rPr lang="pt-BR" b="1" dirty="0">
                <a:solidFill>
                  <a:srgbClr val="002060"/>
                </a:solidFill>
              </a:rPr>
              <a:t> 1,2 cm/h (6 h)</a:t>
            </a:r>
          </a:p>
          <a:p>
            <a:r>
              <a:rPr lang="pt-BR" b="1" dirty="0">
                <a:solidFill>
                  <a:srgbClr val="002060"/>
                </a:solidFill>
              </a:rPr>
              <a:t>                                                                Multípara 1,5 cm/h (4 h)</a:t>
            </a:r>
          </a:p>
          <a:p>
            <a:endParaRPr lang="pt-BR" b="1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                               Descenso                Nulípara 1 cm/h</a:t>
            </a:r>
          </a:p>
          <a:p>
            <a:r>
              <a:rPr lang="es-AR" b="1" dirty="0">
                <a:solidFill>
                  <a:srgbClr val="002060"/>
                </a:solidFill>
              </a:rPr>
              <a:t>                                                                Multípara 2 cm/h</a:t>
            </a:r>
          </a:p>
          <a:p>
            <a:r>
              <a:rPr lang="es-AR" b="1" dirty="0">
                <a:solidFill>
                  <a:srgbClr val="002060"/>
                </a:solidFill>
              </a:rPr>
              <a:t>  </a:t>
            </a:r>
          </a:p>
          <a:p>
            <a:r>
              <a:rPr lang="es-AR" sz="2800" b="1" dirty="0">
                <a:solidFill>
                  <a:srgbClr val="002060"/>
                </a:solidFill>
              </a:rPr>
              <a:t>                    Segunda Etapa         </a:t>
            </a:r>
          </a:p>
          <a:p>
            <a:r>
              <a:rPr lang="es-AR" sz="2800" b="1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Nulípara   90 minutos (120 min).   </a:t>
            </a:r>
            <a:r>
              <a:rPr lang="es-AR" sz="2400" b="1" u="sng" dirty="0">
                <a:solidFill>
                  <a:srgbClr val="002060"/>
                </a:solidFill>
              </a:rPr>
              <a:t>EXPULSIVO</a:t>
            </a:r>
            <a:r>
              <a:rPr lang="es-AR" sz="2400" b="1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          Multípara 60 minutos</a:t>
            </a:r>
          </a:p>
          <a:p>
            <a:endParaRPr lang="es-AR" b="1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endParaRPr lang="es-AR" b="1" dirty="0"/>
          </a:p>
          <a:p>
            <a:r>
              <a:rPr lang="es-AR" sz="2800" b="1" dirty="0"/>
              <a:t>                     </a:t>
            </a:r>
            <a:r>
              <a:rPr lang="es-AR" sz="2800" b="1" dirty="0">
                <a:solidFill>
                  <a:srgbClr val="002060"/>
                </a:solidFill>
              </a:rPr>
              <a:t>Tercera Etapa    </a:t>
            </a:r>
          </a:p>
          <a:p>
            <a:r>
              <a:rPr lang="es-AR" sz="2000" b="1" dirty="0">
                <a:solidFill>
                  <a:srgbClr val="002060"/>
                </a:solidFill>
              </a:rPr>
              <a:t>Nulípara 45 minutos           </a:t>
            </a:r>
            <a:r>
              <a:rPr lang="es-AR" sz="2400" b="1" u="sng" dirty="0">
                <a:solidFill>
                  <a:srgbClr val="002060"/>
                </a:solidFill>
              </a:rPr>
              <a:t>ALUMBRAMIENTO</a:t>
            </a:r>
            <a:r>
              <a:rPr lang="es-AR" b="1" dirty="0">
                <a:solidFill>
                  <a:srgbClr val="002060"/>
                </a:solidFill>
              </a:rPr>
              <a:t>            Multípara 30 minutos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>
                <a:solidFill>
                  <a:srgbClr val="002060"/>
                </a:solidFill>
              </a:rPr>
              <a:t>1. </a:t>
            </a:r>
            <a:r>
              <a:rPr lang="es-AR" b="1" dirty="0">
                <a:solidFill>
                  <a:srgbClr val="002060"/>
                </a:solidFill>
              </a:rPr>
              <a:t>PERIODO DE DILATACIÓN</a:t>
            </a:r>
            <a:br>
              <a:rPr lang="es-AR" b="1" dirty="0">
                <a:solidFill>
                  <a:srgbClr val="002060"/>
                </a:solidFill>
              </a:rPr>
            </a:br>
            <a:endParaRPr lang="es-AR" b="1" dirty="0">
              <a:solidFill>
                <a:srgbClr val="002060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Comienza con la </a:t>
            </a:r>
            <a:r>
              <a:rPr lang="es-AR" i="1" dirty="0">
                <a:solidFill>
                  <a:srgbClr val="002060"/>
                </a:solidFill>
              </a:rPr>
              <a:t>fase de latencia, “fase inicial”  </a:t>
            </a:r>
            <a:r>
              <a:rPr lang="es-AR" dirty="0">
                <a:solidFill>
                  <a:srgbClr val="002060"/>
                </a:solidFill>
              </a:rPr>
              <a:t>y continúa con la </a:t>
            </a:r>
            <a:r>
              <a:rPr lang="es-AR" i="1" dirty="0">
                <a:solidFill>
                  <a:srgbClr val="002060"/>
                </a:solidFill>
              </a:rPr>
              <a:t>fase activa o “de parto”, y acaba </a:t>
            </a:r>
            <a:r>
              <a:rPr lang="es-AR" dirty="0">
                <a:solidFill>
                  <a:srgbClr val="002060"/>
                </a:solidFill>
              </a:rPr>
              <a:t>con el inicio del periodo de expulsivo.</a:t>
            </a:r>
          </a:p>
          <a:p>
            <a:pPr>
              <a:buNone/>
            </a:pPr>
            <a:r>
              <a:rPr lang="es-AR" sz="2400" b="1" u="sng" dirty="0">
                <a:solidFill>
                  <a:srgbClr val="002060"/>
                </a:solidFill>
              </a:rPr>
              <a:t>Fase de latencia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Concepto: El inicio de esta fase es difícil determinarlo. </a:t>
            </a:r>
            <a:r>
              <a:rPr lang="es-AR" dirty="0">
                <a:solidFill>
                  <a:srgbClr val="002060"/>
                </a:solidFill>
              </a:rPr>
              <a:t>Es un diagnóstico más bien retrospectivo al iniciarse el comienzo de la fase siguiente, la activa.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Podemos decir que </a:t>
            </a:r>
            <a:r>
              <a:rPr lang="es-AR" b="1" dirty="0">
                <a:solidFill>
                  <a:srgbClr val="002060"/>
                </a:solidFill>
              </a:rPr>
              <a:t>las contracciones </a:t>
            </a:r>
            <a:r>
              <a:rPr lang="es-AR" dirty="0">
                <a:solidFill>
                  <a:srgbClr val="002060"/>
                </a:solidFill>
              </a:rPr>
              <a:t>en esta fase de latencia 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son poco intensas, irregulares y escasas que provocan poca  dilatación del cérvix</a:t>
            </a:r>
            <a:r>
              <a:rPr lang="es-AR" dirty="0">
                <a:solidFill>
                  <a:srgbClr val="002060"/>
                </a:solidFill>
              </a:rPr>
              <a:t>.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Durante esta fase se produce el </a:t>
            </a:r>
            <a:r>
              <a:rPr lang="es-AR" b="1" dirty="0" err="1">
                <a:solidFill>
                  <a:srgbClr val="002060"/>
                </a:solidFill>
              </a:rPr>
              <a:t>borramiento</a:t>
            </a:r>
            <a:r>
              <a:rPr lang="es-AR" dirty="0">
                <a:solidFill>
                  <a:srgbClr val="002060"/>
                </a:solidFill>
              </a:rPr>
              <a:t> del cérvix , que es el fenómeno de acortamiento del conducto cervical hasta alcanzar las condiciones del inicio del parto (2-3 cm)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centrado  del cuello de posterior pasa a intermedio y anterior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Se modifica su consistencia ……se ablanda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-120578"/>
            <a:ext cx="6408712" cy="8086082"/>
          </a:xfrm>
        </p:spPr>
      </p:pic>
    </p:spTree>
    <p:extLst>
      <p:ext uri="{BB962C8B-B14F-4D97-AF65-F5344CB8AC3E}">
        <p14:creationId xmlns:p14="http://schemas.microsoft.com/office/powerpoint/2010/main" val="3366731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 descr="C:\Users\miguel\Desktop\Nueva carpeta (3)\DSC0025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0"/>
            <a:ext cx="6732240" cy="3776996"/>
          </a:xfrm>
          <a:prstGeom prst="rect">
            <a:avLst/>
          </a:prstGeom>
          <a:noFill/>
        </p:spPr>
      </p:pic>
      <p:pic>
        <p:nvPicPr>
          <p:cNvPr id="5124" name="Picture 4" descr="C:\Users\miguel\Desktop\Nueva carpeta (3)\DSC0025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32040" y="3717032"/>
            <a:ext cx="4068206" cy="3140968"/>
          </a:xfrm>
          <a:prstGeom prst="rect">
            <a:avLst/>
          </a:prstGeom>
          <a:noFill/>
        </p:spPr>
      </p:pic>
      <p:sp>
        <p:nvSpPr>
          <p:cNvPr id="9" name="8 CuadroTexto"/>
          <p:cNvSpPr txBox="1"/>
          <p:nvPr/>
        </p:nvSpPr>
        <p:spPr>
          <a:xfrm>
            <a:off x="827584" y="4797152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Fenómenos pasivos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899592" y="6093296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/>
              <a:t>Eliminación de tapón mucoso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es-AR" dirty="0"/>
              <a:t> </a:t>
            </a:r>
            <a:r>
              <a:rPr lang="es-AR" b="1" dirty="0">
                <a:solidFill>
                  <a:srgbClr val="002060"/>
                </a:solidFill>
              </a:rPr>
              <a:t>Fase activa 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9721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s-AR" dirty="0"/>
          </a:p>
          <a:p>
            <a:pPr>
              <a:buNone/>
            </a:pPr>
            <a:r>
              <a:rPr lang="es-AR" sz="8000" b="1" dirty="0">
                <a:solidFill>
                  <a:srgbClr val="002060"/>
                </a:solidFill>
              </a:rPr>
              <a:t>El comienzo del parto clínico coincide con el inicio de la fase activa</a:t>
            </a:r>
            <a:r>
              <a:rPr lang="es-AR" sz="8000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endParaRPr lang="es-AR" sz="8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9600" b="1" dirty="0">
                <a:solidFill>
                  <a:srgbClr val="002060"/>
                </a:solidFill>
              </a:rPr>
              <a:t>Comienza cuando la dilatación cervical ha alcanzado 2-3 cm con unas condiciones favorables para su inicio</a:t>
            </a:r>
            <a:r>
              <a:rPr lang="es-AR" sz="8000" b="1" dirty="0">
                <a:solidFill>
                  <a:srgbClr val="002060"/>
                </a:solidFill>
              </a:rPr>
              <a:t>.</a:t>
            </a:r>
          </a:p>
          <a:p>
            <a:pPr>
              <a:buNone/>
            </a:pPr>
            <a:endParaRPr lang="es-AR" sz="8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8000" dirty="0">
                <a:solidFill>
                  <a:srgbClr val="002060"/>
                </a:solidFill>
              </a:rPr>
              <a:t> La velocidad de dilatación es muy variable según la paridad.</a:t>
            </a:r>
          </a:p>
          <a:p>
            <a:pPr>
              <a:buNone/>
            </a:pPr>
            <a:r>
              <a:rPr lang="es-AR" sz="11200" b="1" dirty="0">
                <a:solidFill>
                  <a:srgbClr val="002060"/>
                </a:solidFill>
              </a:rPr>
              <a:t>Nulípara la velocidad es de 1,2 cm/h</a:t>
            </a:r>
          </a:p>
          <a:p>
            <a:pPr>
              <a:buNone/>
            </a:pPr>
            <a:r>
              <a:rPr lang="es-AR" sz="11200" b="1" dirty="0">
                <a:solidFill>
                  <a:srgbClr val="002060"/>
                </a:solidFill>
              </a:rPr>
              <a:t>Multíparas entre 1,2-1,5 cm/h</a:t>
            </a:r>
            <a:r>
              <a:rPr lang="es-AR" sz="8000" dirty="0">
                <a:solidFill>
                  <a:srgbClr val="002060"/>
                </a:solidFill>
              </a:rPr>
              <a:t>. </a:t>
            </a:r>
          </a:p>
          <a:p>
            <a:pPr>
              <a:buNone/>
            </a:pPr>
            <a:endParaRPr lang="es-AR" sz="8000" dirty="0">
              <a:solidFill>
                <a:srgbClr val="002060"/>
              </a:solidFill>
            </a:endParaRPr>
          </a:p>
          <a:p>
            <a:pPr>
              <a:buNone/>
            </a:pPr>
            <a:endParaRPr lang="es-AR" sz="8000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8000" dirty="0">
                <a:solidFill>
                  <a:srgbClr val="002060"/>
                </a:solidFill>
              </a:rPr>
              <a:t>          Dentro de este periodo se distinguen varias fases:</a:t>
            </a:r>
          </a:p>
          <a:p>
            <a:r>
              <a:rPr lang="es-AR" sz="8000" i="1" dirty="0">
                <a:solidFill>
                  <a:srgbClr val="002060"/>
                </a:solidFill>
              </a:rPr>
              <a:t>– </a:t>
            </a:r>
            <a:r>
              <a:rPr lang="es-AR" sz="8000" b="1" i="1" dirty="0">
                <a:solidFill>
                  <a:srgbClr val="002060"/>
                </a:solidFill>
              </a:rPr>
              <a:t>Fase de aceleración</a:t>
            </a:r>
            <a:r>
              <a:rPr lang="es-AR" sz="8000" i="1" dirty="0">
                <a:solidFill>
                  <a:srgbClr val="002060"/>
                </a:solidFill>
              </a:rPr>
              <a:t>; desde los 2 cm de dilatación hasta </a:t>
            </a:r>
            <a:r>
              <a:rPr lang="es-AR" sz="8000" dirty="0">
                <a:solidFill>
                  <a:srgbClr val="002060"/>
                </a:solidFill>
              </a:rPr>
              <a:t>los 4 cm.</a:t>
            </a:r>
          </a:p>
          <a:p>
            <a:r>
              <a:rPr lang="es-AR" sz="8000" i="1" dirty="0">
                <a:solidFill>
                  <a:srgbClr val="002060"/>
                </a:solidFill>
              </a:rPr>
              <a:t>– </a:t>
            </a:r>
            <a:r>
              <a:rPr lang="es-AR" sz="8000" b="1" i="1" dirty="0">
                <a:solidFill>
                  <a:srgbClr val="002060"/>
                </a:solidFill>
              </a:rPr>
              <a:t>Fase de máxima velocidad</a:t>
            </a:r>
            <a:r>
              <a:rPr lang="es-AR" sz="8000" i="1" dirty="0">
                <a:solidFill>
                  <a:srgbClr val="002060"/>
                </a:solidFill>
              </a:rPr>
              <a:t>; desde los 4 cm a los 9 </a:t>
            </a:r>
            <a:r>
              <a:rPr lang="es-AR" sz="8000" dirty="0">
                <a:solidFill>
                  <a:srgbClr val="002060"/>
                </a:solidFill>
              </a:rPr>
              <a:t>cm dilatación.</a:t>
            </a:r>
          </a:p>
          <a:p>
            <a:r>
              <a:rPr lang="es-AR" sz="8000" i="1" dirty="0">
                <a:solidFill>
                  <a:srgbClr val="002060"/>
                </a:solidFill>
              </a:rPr>
              <a:t>– </a:t>
            </a:r>
            <a:r>
              <a:rPr lang="es-AR" sz="8000" b="1" i="1" dirty="0">
                <a:solidFill>
                  <a:srgbClr val="002060"/>
                </a:solidFill>
              </a:rPr>
              <a:t>Fase de desaceleración</a:t>
            </a:r>
            <a:r>
              <a:rPr lang="es-AR" sz="8000" i="1" dirty="0">
                <a:solidFill>
                  <a:srgbClr val="002060"/>
                </a:solidFill>
              </a:rPr>
              <a:t>; desde los 9 cm hasta la dilatación </a:t>
            </a:r>
            <a:r>
              <a:rPr lang="es-AR" sz="8000" dirty="0">
                <a:solidFill>
                  <a:srgbClr val="002060"/>
                </a:solidFill>
              </a:rPr>
              <a:t>completa.</a:t>
            </a:r>
          </a:p>
          <a:p>
            <a:pPr>
              <a:buNone/>
            </a:pPr>
            <a:endParaRPr lang="es-AR" sz="8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es-AR" b="1" dirty="0">
                <a:solidFill>
                  <a:srgbClr val="002060"/>
                </a:solidFill>
              </a:rPr>
              <a:t>Contracción </a:t>
            </a:r>
            <a:r>
              <a:rPr lang="es-AR" sz="2700" dirty="0">
                <a:solidFill>
                  <a:srgbClr val="002060"/>
                </a:solidFill>
              </a:rPr>
              <a:t>(fenómeno activo)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-61664" y="1124744"/>
            <a:ext cx="9144000" cy="573325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El punto en que la contracción se hace dolorosa recibe el nombre de umbral de y  depende de la sensibilidad individual de cada mujer.</a:t>
            </a: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 La onda contráctil comienza  en  uno de los cuernos uterinos a nivel del ostium </a:t>
            </a:r>
            <a:r>
              <a:rPr lang="es-AR" sz="2000" b="1" dirty="0" err="1">
                <a:solidFill>
                  <a:srgbClr val="002060"/>
                </a:solidFill>
              </a:rPr>
              <a:t>tubárico</a:t>
            </a:r>
            <a:r>
              <a:rPr lang="es-AR" sz="2000" b="1" dirty="0">
                <a:solidFill>
                  <a:srgbClr val="002060"/>
                </a:solidFill>
              </a:rPr>
              <a:t> en condiciones normales  y se propaga en dirección descendente al resto del órgano. Se ha comprobado la  existencia</a:t>
            </a: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 de un triple gradiente descendente, (comienza antes, es más intensa y  dura más en el fondo que en el cuerpo que en el cuello).</a:t>
            </a:r>
          </a:p>
          <a:p>
            <a:pPr>
              <a:buNone/>
            </a:pPr>
            <a:endParaRPr lang="es-AR" sz="2000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• </a:t>
            </a:r>
            <a:r>
              <a:rPr lang="es-AR" sz="2400" b="1" dirty="0">
                <a:solidFill>
                  <a:srgbClr val="002060"/>
                </a:solidFill>
              </a:rPr>
              <a:t>Gradiente de propagación : </a:t>
            </a:r>
            <a:r>
              <a:rPr lang="es-AR" b="1" dirty="0">
                <a:solidFill>
                  <a:srgbClr val="002060"/>
                </a:solidFill>
              </a:rPr>
              <a:t>la contracción se propaga de arriba hacia abajo. </a:t>
            </a: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• </a:t>
            </a:r>
            <a:r>
              <a:rPr lang="es-AR" sz="2400" b="1" dirty="0">
                <a:solidFill>
                  <a:srgbClr val="002060"/>
                </a:solidFill>
              </a:rPr>
              <a:t>Gradiente de intensidad</a:t>
            </a:r>
            <a:r>
              <a:rPr lang="es-AR" sz="2000" b="1" dirty="0">
                <a:solidFill>
                  <a:srgbClr val="002060"/>
                </a:solidFill>
              </a:rPr>
              <a:t>: al ser más gruesa la pared en el fondo, es más intensa.</a:t>
            </a:r>
          </a:p>
          <a:p>
            <a:pPr>
              <a:buNone/>
            </a:pPr>
            <a:r>
              <a:rPr lang="es-AR" sz="2000" b="1" dirty="0">
                <a:solidFill>
                  <a:srgbClr val="002060"/>
                </a:solidFill>
              </a:rPr>
              <a:t>• </a:t>
            </a:r>
            <a:r>
              <a:rPr lang="es-AR" sz="2400" b="1" dirty="0">
                <a:solidFill>
                  <a:srgbClr val="002060"/>
                </a:solidFill>
              </a:rPr>
              <a:t>Gradiente de duración</a:t>
            </a:r>
            <a:r>
              <a:rPr lang="es-AR" sz="2000" b="1" dirty="0">
                <a:solidFill>
                  <a:srgbClr val="002060"/>
                </a:solidFill>
              </a:rPr>
              <a:t>: todo el miometrio se relaja simultáneamente, por tanto si la contracción se origina en el fondo, aquí es donde tendrá mayor duración</a:t>
            </a:r>
          </a:p>
          <a:p>
            <a:pPr>
              <a:buNone/>
            </a:pPr>
            <a:endParaRPr lang="es-AR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7101408"/>
          </a:xfrm>
        </p:spPr>
      </p:pic>
    </p:spTree>
    <p:extLst>
      <p:ext uri="{BB962C8B-B14F-4D97-AF65-F5344CB8AC3E}">
        <p14:creationId xmlns:p14="http://schemas.microsoft.com/office/powerpoint/2010/main" val="3789974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7504" y="116632"/>
            <a:ext cx="8928992" cy="662473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La conducta ante una evolución normal en el periodo de fase activa se basa en dos pilares fundamentales: </a:t>
            </a: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r>
              <a:rPr lang="es-AR" dirty="0">
                <a:solidFill>
                  <a:srgbClr val="002060"/>
                </a:solidFill>
              </a:rPr>
              <a:t>Uno es el </a:t>
            </a:r>
            <a:r>
              <a:rPr lang="es-AR" b="1" dirty="0">
                <a:solidFill>
                  <a:srgbClr val="002060"/>
                </a:solidFill>
              </a:rPr>
              <a:t>control del estado materno y fetal así como de la dinámica uterina</a:t>
            </a:r>
            <a:r>
              <a:rPr lang="es-AR" dirty="0">
                <a:solidFill>
                  <a:srgbClr val="002060"/>
                </a:solidFill>
              </a:rPr>
              <a:t>, y otro en la </a:t>
            </a:r>
            <a:r>
              <a:rPr lang="es-AR" b="1" dirty="0">
                <a:solidFill>
                  <a:srgbClr val="002060"/>
                </a:solidFill>
              </a:rPr>
              <a:t>valoración de la progresión del parto </a:t>
            </a:r>
            <a:r>
              <a:rPr lang="es-AR" dirty="0">
                <a:solidFill>
                  <a:srgbClr val="002060"/>
                </a:solidFill>
              </a:rPr>
              <a:t>teniendo en cuenta el estudio clínico de la </a:t>
            </a:r>
            <a:r>
              <a:rPr lang="es-AR" b="1" dirty="0">
                <a:solidFill>
                  <a:srgbClr val="002060"/>
                </a:solidFill>
              </a:rPr>
              <a:t>pelvis materna</a:t>
            </a:r>
            <a:r>
              <a:rPr lang="es-AR" dirty="0">
                <a:solidFill>
                  <a:srgbClr val="002060"/>
                </a:solidFill>
              </a:rPr>
              <a:t>, </a:t>
            </a:r>
            <a:r>
              <a:rPr lang="es-AR" b="1" dirty="0">
                <a:solidFill>
                  <a:srgbClr val="002060"/>
                </a:solidFill>
              </a:rPr>
              <a:t>dilatación cervical</a:t>
            </a:r>
            <a:r>
              <a:rPr lang="es-AR" dirty="0">
                <a:solidFill>
                  <a:srgbClr val="002060"/>
                </a:solidFill>
              </a:rPr>
              <a:t>, </a:t>
            </a:r>
            <a:r>
              <a:rPr lang="es-AR" b="1" dirty="0">
                <a:solidFill>
                  <a:srgbClr val="002060"/>
                </a:solidFill>
              </a:rPr>
              <a:t>variedad de presentación </a:t>
            </a:r>
            <a:r>
              <a:rPr lang="es-AR" dirty="0">
                <a:solidFill>
                  <a:srgbClr val="002060"/>
                </a:solidFill>
              </a:rPr>
              <a:t>la cabeza fetal y </a:t>
            </a:r>
            <a:r>
              <a:rPr lang="es-AR" b="1" dirty="0">
                <a:solidFill>
                  <a:srgbClr val="002060"/>
                </a:solidFill>
              </a:rPr>
              <a:t>altura de la presentación </a:t>
            </a:r>
            <a:r>
              <a:rPr lang="es-AR" dirty="0">
                <a:solidFill>
                  <a:srgbClr val="002060"/>
                </a:solidFill>
              </a:rPr>
              <a:t>en relación a los planos de </a:t>
            </a:r>
            <a:r>
              <a:rPr lang="es-AR" b="1" dirty="0" err="1">
                <a:solidFill>
                  <a:srgbClr val="002060"/>
                </a:solidFill>
              </a:rPr>
              <a:t>Hodge</a:t>
            </a:r>
            <a:r>
              <a:rPr lang="es-AR" b="1" dirty="0">
                <a:solidFill>
                  <a:srgbClr val="002060"/>
                </a:solidFill>
              </a:rPr>
              <a:t>,</a:t>
            </a:r>
            <a:r>
              <a:rPr lang="es-AR" dirty="0">
                <a:solidFill>
                  <a:srgbClr val="002060"/>
                </a:solidFill>
              </a:rPr>
              <a:t>      anotando de forma periódica estos datos en el …</a:t>
            </a:r>
            <a:r>
              <a:rPr lang="es-AR" sz="2400" b="1" dirty="0" err="1">
                <a:solidFill>
                  <a:srgbClr val="002060"/>
                </a:solidFill>
              </a:rPr>
              <a:t>partograma</a:t>
            </a:r>
            <a:r>
              <a:rPr lang="es-AR" sz="2400" b="1" dirty="0">
                <a:solidFill>
                  <a:srgbClr val="002060"/>
                </a:solidFill>
              </a:rPr>
              <a:t>…</a:t>
            </a:r>
            <a:r>
              <a:rPr lang="es-AR" b="1" dirty="0">
                <a:solidFill>
                  <a:srgbClr val="002060"/>
                </a:solidFill>
              </a:rPr>
              <a:t>…</a:t>
            </a:r>
          </a:p>
          <a:p>
            <a:endParaRPr lang="es-AR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Se recomienda intervenir en el curso espontáneo del parto sólo si se diagnostica una progresión inadecuada </a:t>
            </a:r>
            <a:r>
              <a:rPr lang="es-AR" dirty="0">
                <a:solidFill>
                  <a:srgbClr val="002060"/>
                </a:solidFill>
              </a:rPr>
              <a:t>del descenso y/o la dilatación o si existe una sospecha de compromiso de la unidad feto-placentaria. Este se realizará fundamentalmente mediante:</a:t>
            </a:r>
          </a:p>
          <a:p>
            <a:r>
              <a:rPr lang="es-AR" dirty="0">
                <a:solidFill>
                  <a:srgbClr val="002060"/>
                </a:solidFill>
              </a:rPr>
              <a:t>1. Aceleración oxitócica.</a:t>
            </a:r>
          </a:p>
          <a:p>
            <a:r>
              <a:rPr lang="es-AR" dirty="0">
                <a:solidFill>
                  <a:srgbClr val="002060"/>
                </a:solidFill>
              </a:rPr>
              <a:t>2. Rotura artificial de membranas (RAM) si estaban intactas.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600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84710" y="188640"/>
            <a:ext cx="7055380" cy="86409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s-AR" b="1" dirty="0">
                <a:solidFill>
                  <a:srgbClr val="002060"/>
                </a:solidFill>
              </a:rPr>
              <a:t>PERIODO EXPULSIVO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endParaRPr lang="es-AR" dirty="0"/>
          </a:p>
          <a:p>
            <a:r>
              <a:rPr lang="es-AR" b="1" dirty="0">
                <a:solidFill>
                  <a:srgbClr val="002060"/>
                </a:solidFill>
              </a:rPr>
              <a:t>Desde la dilatación completa hasta la expulsión fetal al exterior</a:t>
            </a:r>
            <a:r>
              <a:rPr lang="es-AR" dirty="0">
                <a:solidFill>
                  <a:srgbClr val="002060"/>
                </a:solidFill>
              </a:rPr>
              <a:t>.</a:t>
            </a:r>
          </a:p>
          <a:p>
            <a:pPr marL="0" indent="0">
              <a:buNone/>
            </a:pPr>
            <a:endParaRPr lang="es-AR" dirty="0">
              <a:solidFill>
                <a:srgbClr val="002060"/>
              </a:solidFill>
            </a:endParaRPr>
          </a:p>
          <a:p>
            <a:r>
              <a:rPr lang="es-AR" dirty="0">
                <a:solidFill>
                  <a:srgbClr val="002060"/>
                </a:solidFill>
              </a:rPr>
              <a:t>Es la fase más espectacular y en la que el descenso de la cabeza fetal es más acelerada y llamativa, aunque ésta se inicia en la fase de dilatación.</a:t>
            </a:r>
          </a:p>
          <a:p>
            <a:endParaRPr lang="es-AR" b="1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La duración clínica </a:t>
            </a:r>
            <a:r>
              <a:rPr lang="es-AR" dirty="0">
                <a:solidFill>
                  <a:srgbClr val="002060"/>
                </a:solidFill>
              </a:rPr>
              <a:t>aproximada de ese periodo es de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60 minutos en nulíparas………….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30 minutos en multíparas.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r>
              <a:rPr lang="es-AR" dirty="0">
                <a:solidFill>
                  <a:srgbClr val="002060"/>
                </a:solidFill>
              </a:rPr>
              <a:t>Estos tiempos se duplican en caso analgesia en el parto, se consideran normales los tiempos de 2 horas de expulsivo en </a:t>
            </a:r>
            <a:r>
              <a:rPr lang="es-AR" dirty="0" err="1">
                <a:solidFill>
                  <a:srgbClr val="002060"/>
                </a:solidFill>
              </a:rPr>
              <a:t>primigestas</a:t>
            </a:r>
            <a:r>
              <a:rPr lang="es-AR" dirty="0">
                <a:solidFill>
                  <a:srgbClr val="002060"/>
                </a:solidFill>
              </a:rPr>
              <a:t> y de 1 hora en multíparas.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En esta fase se distinguen cuatro tiempos: 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1. Encajamiento de la cabeza en el ES de la pelvis.</a:t>
            </a:r>
          </a:p>
          <a:p>
            <a:r>
              <a:rPr lang="es-AR" b="1" dirty="0">
                <a:solidFill>
                  <a:srgbClr val="002060"/>
                </a:solidFill>
              </a:rPr>
              <a:t>2. Descenso de la presentación 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          Por lo general el descenso comienza durante la fase de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        máxima dilatación cervical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               primíparas ……………….multíparas.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                     </a:t>
            </a:r>
            <a:r>
              <a:rPr lang="es-AR" b="1" dirty="0">
                <a:solidFill>
                  <a:srgbClr val="FF0000"/>
                </a:solidFill>
              </a:rPr>
              <a:t>controles obstétricos 30 minutos………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3   Rotación interna y acomodación al E Inferior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r>
              <a:rPr lang="es-AR" b="1" dirty="0">
                <a:solidFill>
                  <a:srgbClr val="002060"/>
                </a:solidFill>
              </a:rPr>
              <a:t>4 Expulsión del feto.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-315416"/>
            <a:ext cx="9144000" cy="7173416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Las contracciones </a:t>
            </a:r>
            <a:r>
              <a:rPr lang="es-AR" b="1" dirty="0" err="1">
                <a:solidFill>
                  <a:srgbClr val="002060"/>
                </a:solidFill>
              </a:rPr>
              <a:t>partales</a:t>
            </a:r>
            <a:r>
              <a:rPr lang="es-AR" b="1" dirty="0">
                <a:solidFill>
                  <a:srgbClr val="002060"/>
                </a:solidFill>
              </a:rPr>
              <a:t> producen un alargamiento del ovoide uterino a expensas del SUI y del cérvix, con una disminución concomitante de los diámetros  horizontales.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Este cambio de forma tiene dos efectos, por un lado provoca la presión del eje fetal hacia la pelvis y por otro contribuye a la dilatación cervical. 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Al ir progresando el primer período del parto (periodo de dilatación) el segmento uterino superior  (segmento activo)</a:t>
            </a:r>
          </a:p>
          <a:p>
            <a:pPr>
              <a:buNone/>
            </a:pPr>
            <a:endParaRPr lang="es-AR" b="1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se impulsa el contenido del útero hacia el  segmento uterino inferior (segmento pasivo) 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junto al cérvix, cuyas fibras musculares lisas sabemos que sufren un progresivo</a:t>
            </a:r>
            <a:r>
              <a:rPr lang="es-AR" dirty="0">
                <a:solidFill>
                  <a:srgbClr val="002060"/>
                </a:solidFill>
              </a:rPr>
              <a:t> </a:t>
            </a:r>
            <a:r>
              <a:rPr lang="es-AR" b="1" dirty="0">
                <a:solidFill>
                  <a:srgbClr val="002060"/>
                </a:solidFill>
              </a:rPr>
              <a:t>alargamiento</a:t>
            </a:r>
            <a:endParaRPr lang="en-US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678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-17947"/>
            <a:ext cx="6048672" cy="6875947"/>
          </a:xfrm>
        </p:spPr>
      </p:pic>
    </p:spTree>
    <p:extLst>
      <p:ext uri="{BB962C8B-B14F-4D97-AF65-F5344CB8AC3E}">
        <p14:creationId xmlns:p14="http://schemas.microsoft.com/office/powerpoint/2010/main" val="18328291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0" y="0"/>
            <a:ext cx="9036496" cy="68580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Del feto nos interesa desde el punto de vista mecánico, 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el tamaño y la estática.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La cabeza fetal es la parte más importante</a:t>
            </a:r>
            <a:r>
              <a:rPr lang="es-AR" dirty="0">
                <a:solidFill>
                  <a:srgbClr val="002060"/>
                </a:solidFill>
              </a:rPr>
              <a:t>, sobre todo por su </a:t>
            </a:r>
            <a:r>
              <a:rPr lang="es-AR" b="1" dirty="0">
                <a:solidFill>
                  <a:srgbClr val="002060"/>
                </a:solidFill>
              </a:rPr>
              <a:t>tamaño. </a:t>
            </a:r>
            <a:r>
              <a:rPr lang="es-AR" dirty="0">
                <a:solidFill>
                  <a:srgbClr val="002060"/>
                </a:solidFill>
              </a:rPr>
              <a:t>Es un ovoide con  un armazón óseo, pero con cierta plasticidad, pues las suturas no están osificadas y en los vértices de unión de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    los huesos planos se forman unas fontanelas no cubiertas aún de hueso. </a:t>
            </a: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pPr>
              <a:buNone/>
            </a:pPr>
            <a:endParaRPr lang="es-AR" dirty="0">
              <a:solidFill>
                <a:srgbClr val="002060"/>
              </a:solidFill>
            </a:endParaRP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Durante la expulsión de la cabeza fetal se producen fenómenos de  </a:t>
            </a:r>
            <a:r>
              <a:rPr lang="es-AR" b="1" dirty="0" err="1">
                <a:solidFill>
                  <a:srgbClr val="002060"/>
                </a:solidFill>
              </a:rPr>
              <a:t>acabalgamiento</a:t>
            </a:r>
            <a:r>
              <a:rPr lang="es-AR" b="1" dirty="0">
                <a:solidFill>
                  <a:srgbClr val="002060"/>
                </a:solidFill>
              </a:rPr>
              <a:t> y de </a:t>
            </a:r>
            <a:r>
              <a:rPr lang="es-AR" b="1" dirty="0" err="1">
                <a:solidFill>
                  <a:srgbClr val="002060"/>
                </a:solidFill>
              </a:rPr>
              <a:t>desalineamiento</a:t>
            </a:r>
            <a:r>
              <a:rPr lang="es-AR" b="1" dirty="0">
                <a:solidFill>
                  <a:srgbClr val="002060"/>
                </a:solidFill>
              </a:rPr>
              <a:t> </a:t>
            </a:r>
            <a:r>
              <a:rPr lang="es-AR" dirty="0">
                <a:solidFill>
                  <a:srgbClr val="002060"/>
                </a:solidFill>
              </a:rPr>
              <a:t>entre los huesos que conforman la  bóveda craneal del feto.</a:t>
            </a:r>
          </a:p>
          <a:p>
            <a:pPr>
              <a:buNone/>
            </a:pPr>
            <a:r>
              <a:rPr lang="es-AR" dirty="0">
                <a:solidFill>
                  <a:srgbClr val="002060"/>
                </a:solidFill>
              </a:rPr>
              <a:t> En cuanto a la estática fetal: tenemos que considerar cuatro términos: </a:t>
            </a:r>
          </a:p>
          <a:p>
            <a:pPr>
              <a:buNone/>
            </a:pPr>
            <a:r>
              <a:rPr lang="es-AR" b="1" dirty="0">
                <a:solidFill>
                  <a:srgbClr val="002060"/>
                </a:solidFill>
              </a:rPr>
              <a:t>         Actitud  Situación  Presentación  Posición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1143000"/>
          </a:xfrm>
        </p:spPr>
        <p:txBody>
          <a:bodyPr>
            <a:normAutofit/>
          </a:bodyPr>
          <a:lstStyle/>
          <a:p>
            <a:r>
              <a:rPr lang="es-AR" sz="2000" b="1" dirty="0"/>
              <a:t>Fenómeno pasivo</a:t>
            </a:r>
          </a:p>
        </p:txBody>
      </p:sp>
      <p:pic>
        <p:nvPicPr>
          <p:cNvPr id="2050" name="Picture 2" descr="C:\Users\miguel\Desktop\Nueva carpeta (3)\DSC00252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1132608" y="2052638"/>
            <a:ext cx="6100909" cy="41957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2502</TotalTime>
  <Words>2015</Words>
  <Application>Microsoft Office PowerPoint</Application>
  <PresentationFormat>Presentación en pantalla (4:3)</PresentationFormat>
  <Paragraphs>179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Calibri</vt:lpstr>
      <vt:lpstr>Century Gothic</vt:lpstr>
      <vt:lpstr>Wingdings 3</vt:lpstr>
      <vt:lpstr>Ion</vt:lpstr>
      <vt:lpstr>     Mecanismo de Parto            Dr. Miguel Blanco                                                              catedra de obstetricia</vt:lpstr>
      <vt:lpstr>CAUSAS DEL INICIO DEL PARTO            por que ?</vt:lpstr>
      <vt:lpstr>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1. PERIODO DE DILATACIÓN </vt:lpstr>
      <vt:lpstr>Presentación de PowerPoint</vt:lpstr>
      <vt:lpstr>Presentación de PowerPoint</vt:lpstr>
      <vt:lpstr> Fase activa </vt:lpstr>
      <vt:lpstr>Contracción (fenómeno activo)</vt:lpstr>
      <vt:lpstr>Presentación de PowerPoint</vt:lpstr>
      <vt:lpstr>Presentación de PowerPoint</vt:lpstr>
      <vt:lpstr>PERIODO EXPULSIVO</vt:lpstr>
      <vt:lpstr>Presentación de PowerPoint</vt:lpstr>
      <vt:lpstr>Presentación de PowerPoint</vt:lpstr>
      <vt:lpstr>Presentación de PowerPoint</vt:lpstr>
      <vt:lpstr>Presentación de PowerPoint</vt:lpstr>
      <vt:lpstr>Fenómeno pasivo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miguel</dc:creator>
  <cp:lastModifiedBy>Usuario</cp:lastModifiedBy>
  <cp:revision>80</cp:revision>
  <dcterms:created xsi:type="dcterms:W3CDTF">2011-06-17T02:01:29Z</dcterms:created>
  <dcterms:modified xsi:type="dcterms:W3CDTF">2026-08-10T15:43:04Z</dcterms:modified>
</cp:coreProperties>
</file>