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7" r:id="rId2"/>
    <p:sldId id="258" r:id="rId3"/>
    <p:sldId id="321" r:id="rId4"/>
    <p:sldId id="309" r:id="rId5"/>
    <p:sldId id="312" r:id="rId6"/>
    <p:sldId id="261" r:id="rId7"/>
    <p:sldId id="282" r:id="rId8"/>
    <p:sldId id="262" r:id="rId9"/>
    <p:sldId id="283" r:id="rId10"/>
    <p:sldId id="263" r:id="rId11"/>
    <p:sldId id="335" r:id="rId12"/>
    <p:sldId id="276" r:id="rId13"/>
    <p:sldId id="278" r:id="rId14"/>
    <p:sldId id="280" r:id="rId15"/>
    <p:sldId id="332" r:id="rId16"/>
    <p:sldId id="323" r:id="rId17"/>
    <p:sldId id="259" r:id="rId18"/>
    <p:sldId id="284" r:id="rId19"/>
    <p:sldId id="279" r:id="rId20"/>
    <p:sldId id="281" r:id="rId21"/>
    <p:sldId id="277" r:id="rId22"/>
    <p:sldId id="260" r:id="rId23"/>
    <p:sldId id="285" r:id="rId24"/>
    <p:sldId id="322" r:id="rId25"/>
    <p:sldId id="316" r:id="rId26"/>
    <p:sldId id="311" r:id="rId27"/>
    <p:sldId id="264" r:id="rId28"/>
    <p:sldId id="326" r:id="rId29"/>
    <p:sldId id="327" r:id="rId30"/>
    <p:sldId id="289" r:id="rId31"/>
    <p:sldId id="328" r:id="rId32"/>
    <p:sldId id="329" r:id="rId33"/>
    <p:sldId id="267" r:id="rId34"/>
    <p:sldId id="313" r:id="rId35"/>
    <p:sldId id="314" r:id="rId36"/>
    <p:sldId id="306" r:id="rId37"/>
    <p:sldId id="269" r:id="rId38"/>
    <p:sldId id="295" r:id="rId39"/>
    <p:sldId id="307" r:id="rId40"/>
    <p:sldId id="308" r:id="rId41"/>
    <p:sldId id="310" r:id="rId42"/>
    <p:sldId id="266" r:id="rId43"/>
    <p:sldId id="330" r:id="rId44"/>
    <p:sldId id="331" r:id="rId45"/>
    <p:sldId id="293" r:id="rId46"/>
    <p:sldId id="317" r:id="rId47"/>
    <p:sldId id="304" r:id="rId48"/>
    <p:sldId id="325" r:id="rId49"/>
    <p:sldId id="294" r:id="rId50"/>
    <p:sldId id="324" r:id="rId51"/>
    <p:sldId id="315" r:id="rId52"/>
    <p:sldId id="334" r:id="rId53"/>
    <p:sldId id="333" r:id="rId54"/>
    <p:sldId id="270" r:id="rId55"/>
    <p:sldId id="296" r:id="rId56"/>
    <p:sldId id="297" r:id="rId57"/>
    <p:sldId id="272" r:id="rId58"/>
    <p:sldId id="273" r:id="rId59"/>
    <p:sldId id="274" r:id="rId60"/>
    <p:sldId id="298" r:id="rId61"/>
    <p:sldId id="318" r:id="rId62"/>
    <p:sldId id="300" r:id="rId63"/>
    <p:sldId id="302" r:id="rId64"/>
    <p:sldId id="320" r:id="rId65"/>
    <p:sldId id="319" r:id="rId66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84147-E951-41B7-8189-F1756E4EFA7E}" type="datetimeFigureOut">
              <a:rPr lang="es-AR" smtClean="0"/>
              <a:t>16/9/2026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825ACAC9-5E44-4052-B5FF-7E88C8AAA76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05609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84147-E951-41B7-8189-F1756E4EFA7E}" type="datetimeFigureOut">
              <a:rPr lang="es-AR" smtClean="0"/>
              <a:t>16/9/2026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ACAC9-5E44-4052-B5FF-7E88C8AAA76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20513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84147-E951-41B7-8189-F1756E4EFA7E}" type="datetimeFigureOut">
              <a:rPr lang="es-AR" smtClean="0"/>
              <a:t>16/9/2026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25ACAC9-5E44-4052-B5FF-7E88C8AAA76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68517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84147-E951-41B7-8189-F1756E4EFA7E}" type="datetimeFigureOut">
              <a:rPr lang="es-AR" smtClean="0"/>
              <a:t>16/9/2026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25ACAC9-5E44-4052-B5FF-7E88C8AAA76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12845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84147-E951-41B7-8189-F1756E4EFA7E}" type="datetimeFigureOut">
              <a:rPr lang="es-AR" smtClean="0"/>
              <a:t>16/9/2026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25ACAC9-5E44-4052-B5FF-7E88C8AAA76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38889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84147-E951-41B7-8189-F1756E4EFA7E}" type="datetimeFigureOut">
              <a:rPr lang="es-AR" smtClean="0"/>
              <a:t>16/9/2026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ACAC9-5E44-4052-B5FF-7E88C8AAA76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41061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84147-E951-41B7-8189-F1756E4EFA7E}" type="datetimeFigureOut">
              <a:rPr lang="es-AR" smtClean="0"/>
              <a:t>16/9/2026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ACAC9-5E44-4052-B5FF-7E88C8AAA76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81131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84147-E951-41B7-8189-F1756E4EFA7E}" type="datetimeFigureOut">
              <a:rPr lang="es-AR" smtClean="0"/>
              <a:t>16/9/2026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ACAC9-5E44-4052-B5FF-7E88C8AAA76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48832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84147-E951-41B7-8189-F1756E4EFA7E}" type="datetimeFigureOut">
              <a:rPr lang="es-AR" smtClean="0"/>
              <a:t>16/9/2026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25ACAC9-5E44-4052-B5FF-7E88C8AAA76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61384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84147-E951-41B7-8189-F1756E4EFA7E}" type="datetimeFigureOut">
              <a:rPr lang="es-AR" smtClean="0"/>
              <a:t>16/9/2026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25ACAC9-5E44-4052-B5FF-7E88C8AAA76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46575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84147-E951-41B7-8189-F1756E4EFA7E}" type="datetimeFigureOut">
              <a:rPr lang="es-AR" smtClean="0"/>
              <a:t>16/9/2026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25ACAC9-5E44-4052-B5FF-7E88C8AAA766}" type="slidenum">
              <a:rPr lang="es-AR" smtClean="0"/>
              <a:t>‹Nº›</a:t>
            </a:fld>
            <a:endParaRPr lang="es-AR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034446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84147-E951-41B7-8189-F1756E4EFA7E}" type="datetimeFigureOut">
              <a:rPr lang="es-AR" smtClean="0"/>
              <a:t>16/9/2026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25ACAC9-5E44-4052-B5FF-7E88C8AAA76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492052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84147-E951-41B7-8189-F1756E4EFA7E}" type="datetimeFigureOut">
              <a:rPr lang="es-AR" smtClean="0"/>
              <a:t>16/9/2026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25ACAC9-5E44-4052-B5FF-7E88C8AAA766}" type="slidenum">
              <a:rPr lang="es-AR" smtClean="0"/>
              <a:t>‹Nº›</a:t>
            </a:fld>
            <a:endParaRPr lang="es-AR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306205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84147-E951-41B7-8189-F1756E4EFA7E}" type="datetimeFigureOut">
              <a:rPr lang="es-AR" smtClean="0"/>
              <a:t>16/9/2026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25ACAC9-5E44-4052-B5FF-7E88C8AAA76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104393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84147-E951-41B7-8189-F1756E4EFA7E}" type="datetimeFigureOut">
              <a:rPr lang="es-AR" smtClean="0"/>
              <a:t>16/9/2026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ACAC9-5E44-4052-B5FF-7E88C8AAA76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536401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84147-E951-41B7-8189-F1756E4EFA7E}" type="datetimeFigureOut">
              <a:rPr lang="es-AR" smtClean="0"/>
              <a:t>16/9/2026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ACAC9-5E44-4052-B5FF-7E88C8AAA76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93498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C84147-E951-41B7-8189-F1756E4EFA7E}" type="datetimeFigureOut">
              <a:rPr lang="es-AR" smtClean="0"/>
              <a:t>16/9/2026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825ACAC9-5E44-4052-B5FF-7E88C8AAA76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7129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2589213" y="2058750"/>
            <a:ext cx="7469188" cy="2036172"/>
          </a:xfrm>
        </p:spPr>
        <p:txBody>
          <a:bodyPr>
            <a:normAutofit/>
          </a:bodyPr>
          <a:lstStyle/>
          <a:p>
            <a:pPr algn="ctr"/>
            <a:r>
              <a:rPr lang="es-ES" sz="4800" b="1" dirty="0">
                <a:solidFill>
                  <a:srgbClr val="FF3300"/>
                </a:solidFill>
                <a:latin typeface="Bahnschrift SemiLight" panose="020B0502040204020203" pitchFamily="34" charset="0"/>
              </a:rPr>
              <a:t>Estados hipertensivos del Embarazo</a:t>
            </a:r>
            <a:endParaRPr lang="es-AR" sz="4800" b="1" dirty="0">
              <a:solidFill>
                <a:srgbClr val="FF3300"/>
              </a:solidFill>
              <a:latin typeface="Bahnschrift SemiLight" panose="020B0502040204020203" pitchFamily="34" charset="0"/>
            </a:endParaRPr>
          </a:p>
        </p:txBody>
      </p:sp>
      <p:sp>
        <p:nvSpPr>
          <p:cNvPr id="5" name="Marcador de texto 4"/>
          <p:cNvSpPr>
            <a:spLocks noGrp="1"/>
          </p:cNvSpPr>
          <p:nvPr>
            <p:ph type="body" idx="1"/>
          </p:nvPr>
        </p:nvSpPr>
        <p:spPr>
          <a:xfrm>
            <a:off x="6732104" y="5340626"/>
            <a:ext cx="4772507" cy="1219199"/>
          </a:xfrm>
        </p:spPr>
        <p:txBody>
          <a:bodyPr>
            <a:normAutofit lnSpcReduction="10000"/>
          </a:bodyPr>
          <a:lstStyle/>
          <a:p>
            <a:r>
              <a:rPr lang="es-AR" dirty="0"/>
              <a:t>Dra. Gonzalez M. Alejandra C</a:t>
            </a:r>
          </a:p>
          <a:p>
            <a:r>
              <a:rPr lang="es-AR" dirty="0"/>
              <a:t>Catedra de Obstetricia</a:t>
            </a:r>
          </a:p>
          <a:p>
            <a:r>
              <a:rPr lang="es-AR" smtClean="0"/>
              <a:t>2026</a:t>
            </a:r>
            <a:endParaRPr lang="es-AR" dirty="0"/>
          </a:p>
          <a:p>
            <a:endParaRPr lang="es-AR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3144" y="187116"/>
            <a:ext cx="1261467" cy="1257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799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sz="6000" dirty="0"/>
              <a:t>Introducción</a:t>
            </a:r>
            <a:br>
              <a:rPr lang="es-AR" sz="6000" dirty="0"/>
            </a:br>
            <a:r>
              <a:rPr lang="es-AR" dirty="0"/>
              <a:t> 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89212" y="2146851"/>
            <a:ext cx="8915400" cy="4558749"/>
          </a:xfrm>
        </p:spPr>
        <p:txBody>
          <a:bodyPr>
            <a:normAutofit lnSpcReduction="10000"/>
          </a:bodyPr>
          <a:lstStyle/>
          <a:p>
            <a:r>
              <a:rPr lang="es-ES" sz="3600" dirty="0"/>
              <a:t> Los estados hipertensivos durante el embarazo son actualmente la </a:t>
            </a:r>
            <a:r>
              <a:rPr lang="es-ES" sz="3600" u="sng" dirty="0"/>
              <a:t>primera causa de morbimortalidad </a:t>
            </a:r>
            <a:r>
              <a:rPr lang="es-ES" sz="3600" dirty="0"/>
              <a:t>maternofetal en la Argentina.</a:t>
            </a:r>
          </a:p>
          <a:p>
            <a:r>
              <a:rPr lang="es-ES" sz="3600" dirty="0"/>
              <a:t> Una incidencia global en países desarrollados y </a:t>
            </a:r>
            <a:r>
              <a:rPr lang="es-ES" sz="3600" dirty="0" smtClean="0"/>
              <a:t>subdesarrollados </a:t>
            </a:r>
            <a:r>
              <a:rPr lang="es-ES" sz="3600" dirty="0"/>
              <a:t>oscila entre el </a:t>
            </a:r>
            <a:r>
              <a:rPr lang="es-ES" sz="3600" b="1" dirty="0"/>
              <a:t>11</a:t>
            </a:r>
            <a:r>
              <a:rPr lang="es-ES" sz="3600" dirty="0"/>
              <a:t> y el </a:t>
            </a:r>
            <a:r>
              <a:rPr lang="es-ES" sz="3600" b="1" dirty="0"/>
              <a:t>36%</a:t>
            </a:r>
            <a:r>
              <a:rPr lang="es-ES" sz="3600" dirty="0"/>
              <a:t> de las complicaciones obstétricas. </a:t>
            </a:r>
          </a:p>
          <a:p>
            <a:endParaRPr lang="es-ES" sz="3200" dirty="0"/>
          </a:p>
        </p:txBody>
      </p:sp>
    </p:spTree>
    <p:extLst>
      <p:ext uri="{BB962C8B-B14F-4D97-AF65-F5344CB8AC3E}">
        <p14:creationId xmlns:p14="http://schemas.microsoft.com/office/powerpoint/2010/main" val="1933737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89212" y="516835"/>
            <a:ext cx="8915400" cy="5976729"/>
          </a:xfrm>
        </p:spPr>
        <p:txBody>
          <a:bodyPr>
            <a:noAutofit/>
          </a:bodyPr>
          <a:lstStyle/>
          <a:p>
            <a:pPr lvl="0">
              <a:buClr>
                <a:srgbClr val="A53010"/>
              </a:buClr>
            </a:pPr>
            <a:endParaRPr lang="es-ES" sz="32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lvl="0">
              <a:buClr>
                <a:srgbClr val="A53010"/>
              </a:buClr>
            </a:pPr>
            <a:r>
              <a:rPr lang="es-ES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La </a:t>
            </a:r>
            <a:r>
              <a:rPr lang="es-ES" sz="3200" u="sng" dirty="0">
                <a:solidFill>
                  <a:prstClr val="black">
                    <a:lumMod val="75000"/>
                    <a:lumOff val="25000"/>
                  </a:prstClr>
                </a:solidFill>
              </a:rPr>
              <a:t>detección de factores de riesgo </a:t>
            </a:r>
            <a:r>
              <a:rPr lang="es-ES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maternos pregestacionales como gestacionales es la base para detectar precozmente esta enfermedad y será útil para establecer un control prenatal adecuado y prevenir complicaciones graves.</a:t>
            </a:r>
          </a:p>
          <a:p>
            <a:pPr lvl="0">
              <a:buClr>
                <a:srgbClr val="A53010"/>
              </a:buClr>
            </a:pPr>
            <a:r>
              <a:rPr lang="es-ES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La Preeclampsia (PE) es una </a:t>
            </a:r>
            <a:r>
              <a:rPr lang="es-ES" sz="3200" u="sng" dirty="0">
                <a:solidFill>
                  <a:prstClr val="black">
                    <a:lumMod val="75000"/>
                    <a:lumOff val="25000"/>
                  </a:prstClr>
                </a:solidFill>
              </a:rPr>
              <a:t>enfermedad</a:t>
            </a:r>
            <a:r>
              <a:rPr lang="es-ES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s-ES" sz="3200" u="sng" dirty="0">
                <a:solidFill>
                  <a:prstClr val="black">
                    <a:lumMod val="75000"/>
                    <a:lumOff val="25000"/>
                  </a:prstClr>
                </a:solidFill>
              </a:rPr>
              <a:t>multisistémica</a:t>
            </a:r>
            <a:r>
              <a:rPr lang="es-ES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de causa desconocida que afecta únicamente al embarazo humano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531762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89212" y="821635"/>
            <a:ext cx="8915400" cy="5724939"/>
          </a:xfrm>
        </p:spPr>
        <p:txBody>
          <a:bodyPr>
            <a:noAutofit/>
          </a:bodyPr>
          <a:lstStyle/>
          <a:p>
            <a:pPr marL="0" lvl="0" indent="0">
              <a:buClr>
                <a:srgbClr val="A53010"/>
              </a:buClr>
              <a:buNone/>
            </a:pPr>
            <a:r>
              <a:rPr lang="es-ES" sz="2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</a:p>
          <a:p>
            <a:pPr lvl="0">
              <a:buClr>
                <a:srgbClr val="A53010"/>
              </a:buClr>
            </a:pPr>
            <a:r>
              <a:rPr lang="es-ES" sz="3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Es una </a:t>
            </a:r>
            <a:r>
              <a:rPr lang="es-ES" sz="3600" u="sng" dirty="0">
                <a:solidFill>
                  <a:prstClr val="black">
                    <a:lumMod val="75000"/>
                    <a:lumOff val="25000"/>
                  </a:prstClr>
                </a:solidFill>
              </a:rPr>
              <a:t>complicación grave </a:t>
            </a:r>
            <a:r>
              <a:rPr lang="es-ES" sz="3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que puede manifestarse en la segunda mitad del embarazo, en el parto o en el puerperio inmediato.</a:t>
            </a:r>
            <a:r>
              <a:rPr lang="es-ES" sz="3600" u="sng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endParaRPr lang="es-AR" sz="3600" u="sng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r>
              <a:rPr lang="es-ES" sz="3600" dirty="0"/>
              <a:t>La </a:t>
            </a:r>
            <a:r>
              <a:rPr lang="es-ES" sz="3600" u="sng" dirty="0"/>
              <a:t>PE severa </a:t>
            </a:r>
            <a:r>
              <a:rPr lang="es-ES" sz="3600" dirty="0"/>
              <a:t>representa entre el </a:t>
            </a:r>
            <a:r>
              <a:rPr lang="es-ES" sz="3600" b="1" dirty="0"/>
              <a:t>3</a:t>
            </a:r>
            <a:r>
              <a:rPr lang="es-ES" sz="3600" dirty="0"/>
              <a:t> al </a:t>
            </a:r>
            <a:r>
              <a:rPr lang="es-ES" sz="3600" b="1" dirty="0"/>
              <a:t>5%</a:t>
            </a:r>
            <a:r>
              <a:rPr lang="es-ES" sz="3600" dirty="0"/>
              <a:t>, requiriendo un enfoque perinatal multidisciplinario para preservar la salud materna y lograr un mejor resultado perineonatal</a:t>
            </a:r>
            <a:r>
              <a:rPr lang="es-ES" sz="2800" dirty="0"/>
              <a:t>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44900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21565" y="624110"/>
            <a:ext cx="9583047" cy="1280890"/>
          </a:xfrm>
        </p:spPr>
        <p:txBody>
          <a:bodyPr>
            <a:noAutofit/>
          </a:bodyPr>
          <a:lstStyle/>
          <a:p>
            <a:pPr algn="ctr"/>
            <a:r>
              <a:rPr lang="es-ES" sz="4000" dirty="0"/>
              <a:t>Placentación normal al inicio de la gestación</a:t>
            </a:r>
            <a:endParaRPr lang="en-US" sz="4000" dirty="0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35695" y="1905000"/>
            <a:ext cx="7154785" cy="4596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933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89212" y="1219199"/>
            <a:ext cx="8915400" cy="5088835"/>
          </a:xfrm>
        </p:spPr>
        <p:txBody>
          <a:bodyPr/>
          <a:lstStyle/>
          <a:p>
            <a:endParaRPr lang="es-ES" sz="2800" dirty="0"/>
          </a:p>
          <a:p>
            <a:r>
              <a:rPr lang="es-ES" sz="3200" dirty="0"/>
              <a:t>En el </a:t>
            </a:r>
            <a:r>
              <a:rPr lang="es-ES" sz="3200" b="1" dirty="0"/>
              <a:t>embarazo normal</a:t>
            </a:r>
            <a:r>
              <a:rPr lang="es-ES" sz="3200" dirty="0"/>
              <a:t>, </a:t>
            </a:r>
            <a:r>
              <a:rPr lang="es-ES" sz="3200" u="sng" dirty="0"/>
              <a:t>antes de las 9 semanas </a:t>
            </a:r>
            <a:r>
              <a:rPr lang="es-ES" sz="3200" dirty="0"/>
              <a:t>de gestación, el </a:t>
            </a:r>
            <a:r>
              <a:rPr lang="es-ES" sz="3200" dirty="0">
                <a:solidFill>
                  <a:srgbClr val="FF0000"/>
                </a:solidFill>
              </a:rPr>
              <a:t>trofoblasto invasor penetra las arterias espiraladas de la decidua materna</a:t>
            </a:r>
            <a:r>
              <a:rPr lang="es-ES" sz="3200" dirty="0"/>
              <a:t> formando tapones vasculares que actúan como una válvula que regula el flujo, siendo mínima la perfusión placentaria en esta etapa generando un medio ambiente hipóxico.</a:t>
            </a:r>
          </a:p>
          <a:p>
            <a:endParaRPr lang="es-AR" sz="3200" dirty="0"/>
          </a:p>
        </p:txBody>
      </p:sp>
    </p:spTree>
    <p:extLst>
      <p:ext uri="{BB962C8B-B14F-4D97-AF65-F5344CB8AC3E}">
        <p14:creationId xmlns:p14="http://schemas.microsoft.com/office/powerpoint/2010/main" val="3418020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89212" y="624110"/>
            <a:ext cx="8915400" cy="5287112"/>
          </a:xfrm>
        </p:spPr>
        <p:txBody>
          <a:bodyPr/>
          <a:lstStyle/>
          <a:p>
            <a:r>
              <a:rPr lang="es-ES" sz="2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s-ES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Esta </a:t>
            </a:r>
            <a:r>
              <a:rPr lang="es-ES" sz="3200" dirty="0">
                <a:solidFill>
                  <a:srgbClr val="FF0000"/>
                </a:solidFill>
              </a:rPr>
              <a:t>hipoxia inicial </a:t>
            </a:r>
            <a:r>
              <a:rPr lang="es-ES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es considerada un importante mecanismo fisiológico porque aumenta la producción de algunos factores </a:t>
            </a:r>
            <a:r>
              <a:rPr lang="es-ES" sz="32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angiogénicos</a:t>
            </a:r>
            <a:r>
              <a:rPr lang="es-ES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favoreciendo la invasión </a:t>
            </a:r>
            <a:r>
              <a:rPr lang="es-ES" sz="32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trofoblástica</a:t>
            </a:r>
            <a:r>
              <a:rPr lang="es-ES" sz="2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  <a:endParaRPr lang="en-U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17895" r="5830"/>
          <a:stretch/>
        </p:blipFill>
        <p:spPr>
          <a:xfrm>
            <a:off x="7792278" y="2998557"/>
            <a:ext cx="3392556" cy="3594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232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89212" y="728870"/>
            <a:ext cx="8915400" cy="5791200"/>
          </a:xfrm>
        </p:spPr>
        <p:txBody>
          <a:bodyPr>
            <a:noAutofit/>
          </a:bodyPr>
          <a:lstStyle/>
          <a:p>
            <a:endParaRPr lang="es-ES" sz="2400" b="1" dirty="0"/>
          </a:p>
          <a:p>
            <a:r>
              <a:rPr lang="es-ES" sz="3200" b="1" dirty="0"/>
              <a:t>Luego de las 9 semanas </a:t>
            </a:r>
            <a:r>
              <a:rPr lang="es-ES" sz="3200" dirty="0"/>
              <a:t>comienza un </a:t>
            </a:r>
            <a:r>
              <a:rPr lang="es-ES" sz="3200" dirty="0">
                <a:solidFill>
                  <a:srgbClr val="FF0000"/>
                </a:solidFill>
              </a:rPr>
              <a:t>proceso de recanalización </a:t>
            </a:r>
            <a:r>
              <a:rPr lang="es-ES" sz="3200" u="sng" dirty="0"/>
              <a:t>que se completa a las 12 semanas</a:t>
            </a:r>
            <a:r>
              <a:rPr lang="es-ES" sz="3200" dirty="0"/>
              <a:t>, asociado a un aumento de la oxigenación. Este periodo es considerado un momento crítico para el crecimiento y la diferenciación del trofoblasto y es acompañado de un aumento de los marcadores de estrés oxidativo en la placenta</a:t>
            </a:r>
            <a:r>
              <a:rPr lang="es-ES" sz="2800" dirty="0"/>
              <a:t>..</a:t>
            </a:r>
            <a:endParaRPr lang="es-AR" sz="2800" dirty="0"/>
          </a:p>
        </p:txBody>
      </p:sp>
    </p:spTree>
    <p:extLst>
      <p:ext uri="{BB962C8B-B14F-4D97-AF65-F5344CB8AC3E}">
        <p14:creationId xmlns:p14="http://schemas.microsoft.com/office/powerpoint/2010/main" val="2349829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89212" y="967409"/>
            <a:ext cx="8915400" cy="5353877"/>
          </a:xfrm>
        </p:spPr>
        <p:txBody>
          <a:bodyPr>
            <a:noAutofit/>
          </a:bodyPr>
          <a:lstStyle/>
          <a:p>
            <a:r>
              <a:rPr lang="es-ES" sz="3200" u="sng" dirty="0">
                <a:solidFill>
                  <a:prstClr val="black">
                    <a:lumMod val="75000"/>
                    <a:lumOff val="25000"/>
                  </a:prstClr>
                </a:solidFill>
              </a:rPr>
              <a:t>La remodelación de las arterias espiraladas por el </a:t>
            </a:r>
            <a:r>
              <a:rPr lang="es-ES" sz="3200" u="sng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citotrofoblasto</a:t>
            </a:r>
            <a:r>
              <a:rPr lang="es-ES" sz="3200" u="sng" dirty="0">
                <a:solidFill>
                  <a:prstClr val="black">
                    <a:lumMod val="75000"/>
                    <a:lumOff val="25000"/>
                  </a:prstClr>
                </a:solidFill>
              </a:rPr>
              <a:t> invasor produce un efecto vasodilatador, que incluye un cambio en la túnica muscular con desaparición de las fibras musculares </a:t>
            </a:r>
            <a:r>
              <a:rPr lang="es-ES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y reducción de la actividad adrenérgica, y también una mayor producción de </a:t>
            </a:r>
            <a:r>
              <a:rPr lang="es-ES" sz="32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prostaciclinas</a:t>
            </a:r>
            <a:r>
              <a:rPr lang="es-ES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y de óxido nítrico, aumentando así el flujo sanguíneo más de 10 veces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29299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89212" y="1046922"/>
            <a:ext cx="8915400" cy="5380382"/>
          </a:xfrm>
        </p:spPr>
        <p:txBody>
          <a:bodyPr>
            <a:noAutofit/>
          </a:bodyPr>
          <a:lstStyle/>
          <a:p>
            <a:r>
              <a:rPr lang="es-ES" sz="3200" dirty="0"/>
              <a:t>El resultado final es una circulación placentaria caracterizada por </a:t>
            </a:r>
            <a:r>
              <a:rPr lang="es-ES" sz="3200" b="1" dirty="0">
                <a:solidFill>
                  <a:srgbClr val="FF0000"/>
                </a:solidFill>
              </a:rPr>
              <a:t>baja resistencia y alto flujo sanguíneo</a:t>
            </a:r>
            <a:r>
              <a:rPr lang="es-ES" sz="3200" dirty="0"/>
              <a:t>.</a:t>
            </a:r>
          </a:p>
          <a:p>
            <a:r>
              <a:rPr lang="es-ES" sz="3200" dirty="0"/>
              <a:t>El endotelio de las arterias espiraladas es reemplazado por un </a:t>
            </a:r>
            <a:r>
              <a:rPr lang="es-ES" sz="3200" dirty="0" err="1"/>
              <a:t>pseudoendotelio</a:t>
            </a:r>
            <a:r>
              <a:rPr lang="es-ES" sz="3200" dirty="0"/>
              <a:t> compuesto por partes maternas y fetales, con todas las funciones de las células endoteliales, incluyendo la liberación de factores </a:t>
            </a:r>
            <a:r>
              <a:rPr lang="es-ES" sz="3200" dirty="0" err="1"/>
              <a:t>angiogénicos</a:t>
            </a:r>
            <a:r>
              <a:rPr lang="es-ES" sz="3200" dirty="0"/>
              <a:t> y sus receptores.</a:t>
            </a:r>
            <a:endParaRPr lang="es-AR" sz="3200" dirty="0"/>
          </a:p>
        </p:txBody>
      </p:sp>
    </p:spTree>
    <p:extLst>
      <p:ext uri="{BB962C8B-B14F-4D97-AF65-F5344CB8AC3E}">
        <p14:creationId xmlns:p14="http://schemas.microsoft.com/office/powerpoint/2010/main" val="143372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4001" y="1905000"/>
            <a:ext cx="9431455" cy="4071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634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3182" y="1264555"/>
            <a:ext cx="10839945" cy="5215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24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Marcador de contenido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7496" y="1905000"/>
            <a:ext cx="10391630" cy="454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605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2925" y="1905000"/>
            <a:ext cx="8911687" cy="403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430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lipse 3"/>
          <p:cNvSpPr/>
          <p:nvPr/>
        </p:nvSpPr>
        <p:spPr>
          <a:xfrm>
            <a:off x="2589212" y="2133600"/>
            <a:ext cx="8915400" cy="377762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dirty="0">
                <a:solidFill>
                  <a:srgbClr val="FFFF00"/>
                </a:solidFill>
                <a:ea typeface="+mj-ea"/>
                <a:cs typeface="+mj-cs"/>
              </a:rPr>
              <a:t>Poco se sabe sobre el proceso etiopatogénico de los estados hipertensivos del embarazo 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7912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dirty="0"/>
              <a:t/>
            </a:r>
            <a:br>
              <a:rPr lang="es-ES" dirty="0"/>
            </a:b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89212" y="2107097"/>
            <a:ext cx="8915400" cy="42009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sz="3600" u="sng" dirty="0">
                <a:solidFill>
                  <a:prstClr val="black">
                    <a:lumMod val="85000"/>
                    <a:lumOff val="15000"/>
                  </a:prstClr>
                </a:solidFill>
                <a:ea typeface="+mj-ea"/>
                <a:cs typeface="+mj-cs"/>
              </a:rPr>
              <a:t> 4 posibles etiologías:</a:t>
            </a:r>
          </a:p>
          <a:p>
            <a:pPr marL="0" indent="0">
              <a:buNone/>
            </a:pPr>
            <a:endParaRPr lang="es-ES" sz="4000" u="sng" dirty="0"/>
          </a:p>
          <a:p>
            <a:r>
              <a:rPr lang="es-ES" sz="4000" dirty="0"/>
              <a:t>Mala adaptación inmunológica</a:t>
            </a:r>
          </a:p>
          <a:p>
            <a:r>
              <a:rPr lang="es-ES" sz="4000" dirty="0"/>
              <a:t>Isquemia placentaria</a:t>
            </a:r>
          </a:p>
          <a:p>
            <a:r>
              <a:rPr lang="es-ES" sz="4000" dirty="0"/>
              <a:t>Estrés oxidativo</a:t>
            </a:r>
          </a:p>
          <a:p>
            <a:r>
              <a:rPr lang="es-ES" sz="4000" dirty="0"/>
              <a:t>Susceptibilidad genética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970591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89212" y="2173357"/>
            <a:ext cx="8915400" cy="4585252"/>
          </a:xfrm>
        </p:spPr>
        <p:txBody>
          <a:bodyPr>
            <a:noAutofit/>
          </a:bodyPr>
          <a:lstStyle/>
          <a:p>
            <a:r>
              <a:rPr lang="es-ES" sz="2800" b="1" u="sng" dirty="0">
                <a:solidFill>
                  <a:srgbClr val="FF0000"/>
                </a:solidFill>
              </a:rPr>
              <a:t>La placentación anormal </a:t>
            </a:r>
            <a:r>
              <a:rPr lang="es-ES" sz="2800" dirty="0"/>
              <a:t>es una enfermedad independiente, producida por los genes fetales (paternos) que generan en la madre una respuesta inflamatoria exagerada, </a:t>
            </a:r>
            <a:r>
              <a:rPr lang="es-ES" sz="2800" dirty="0" smtClean="0"/>
              <a:t>sumado a </a:t>
            </a:r>
            <a:r>
              <a:rPr lang="es-ES" sz="2800" dirty="0"/>
              <a:t>una susceptibilidad particular del </a:t>
            </a:r>
            <a:r>
              <a:rPr lang="es-ES" sz="2800" dirty="0" smtClean="0"/>
              <a:t>endotelio </a:t>
            </a:r>
            <a:r>
              <a:rPr lang="es-ES" sz="2800" dirty="0"/>
              <a:t>por factores de riesgo pre gestacionales como diabetes, hipertensión o enfermedades relacionadas con el endotelio desencadena el llamado </a:t>
            </a:r>
            <a:r>
              <a:rPr lang="es-ES" sz="2800" b="1" u="sng" dirty="0"/>
              <a:t>síndrome materno </a:t>
            </a:r>
            <a:r>
              <a:rPr lang="es-ES" sz="2800" dirty="0"/>
              <a:t>de esta enfermedad.</a:t>
            </a:r>
          </a:p>
        </p:txBody>
      </p:sp>
      <p:sp>
        <p:nvSpPr>
          <p:cNvPr id="2" name="Rectángulo 1"/>
          <p:cNvSpPr/>
          <p:nvPr/>
        </p:nvSpPr>
        <p:spPr>
          <a:xfrm>
            <a:off x="2637183" y="728870"/>
            <a:ext cx="8892208" cy="11396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3200" dirty="0"/>
              <a:t>FIOPATOLOGIA</a:t>
            </a:r>
            <a:r>
              <a:rPr lang="es-ES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405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A53010"/>
              </a:buClr>
            </a:pPr>
            <a:r>
              <a:rPr lang="es-ES" sz="2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Una inadecuada remodelación de las arterias espiraladas genera un medio </a:t>
            </a:r>
            <a:r>
              <a:rPr lang="es-ES" sz="2800" dirty="0">
                <a:solidFill>
                  <a:srgbClr val="FF0000"/>
                </a:solidFill>
              </a:rPr>
              <a:t>ambiente hipóxico </a:t>
            </a:r>
            <a:r>
              <a:rPr lang="es-ES" sz="2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que gatilla una compleja cascada de eventos que inducen </a:t>
            </a:r>
            <a:r>
              <a:rPr lang="es-ES" sz="2800" u="sng" dirty="0">
                <a:solidFill>
                  <a:prstClr val="black">
                    <a:lumMod val="75000"/>
                    <a:lumOff val="25000"/>
                  </a:prstClr>
                </a:solidFill>
              </a:rPr>
              <a:t>una función endotelial anormal característica de la Preeclampsia</a:t>
            </a:r>
            <a:r>
              <a:rPr lang="es-ES" sz="2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. Esto modifica el tono y la permeabilidad vascular siendo la causa de la hipertensión y la proteinuria.</a:t>
            </a:r>
            <a:endParaRPr lang="es-AR" sz="28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754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8201" y="1264555"/>
            <a:ext cx="8906411" cy="4657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785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4734" y="1484244"/>
            <a:ext cx="8919878" cy="443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89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4788" y="1264555"/>
            <a:ext cx="9656881" cy="4664766"/>
          </a:xfrm>
          <a:prstGeom prst="rect">
            <a:avLst/>
          </a:prstGeom>
        </p:spPr>
      </p:pic>
      <p:sp>
        <p:nvSpPr>
          <p:cNvPr id="3" name="Rectángulo 2"/>
          <p:cNvSpPr/>
          <p:nvPr/>
        </p:nvSpPr>
        <p:spPr>
          <a:xfrm>
            <a:off x="2137554" y="5830957"/>
            <a:ext cx="3216324" cy="9276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PRIMER ETAPA</a:t>
            </a:r>
          </a:p>
          <a:p>
            <a:pPr algn="ctr"/>
            <a:r>
              <a:rPr lang="es-ES" dirty="0"/>
              <a:t>Placentación deficiente</a:t>
            </a:r>
          </a:p>
          <a:p>
            <a:pPr algn="ctr"/>
            <a:r>
              <a:rPr lang="es-ES" dirty="0"/>
              <a:t>estrés oxidativo</a:t>
            </a:r>
            <a:endParaRPr lang="en-US" dirty="0"/>
          </a:p>
        </p:txBody>
      </p:sp>
      <p:sp>
        <p:nvSpPr>
          <p:cNvPr id="5" name="Rectángulo 4"/>
          <p:cNvSpPr/>
          <p:nvPr/>
        </p:nvSpPr>
        <p:spPr>
          <a:xfrm>
            <a:off x="5353878" y="4377673"/>
            <a:ext cx="3074504" cy="11617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SEGUNDA ETAPA</a:t>
            </a:r>
          </a:p>
          <a:p>
            <a:pPr algn="ctr"/>
            <a:r>
              <a:rPr lang="es-ES" dirty="0"/>
              <a:t>Disfunción materna</a:t>
            </a:r>
          </a:p>
          <a:p>
            <a:pPr algn="ctr"/>
            <a:r>
              <a:rPr lang="es-ES" dirty="0" err="1"/>
              <a:t>Enferm</a:t>
            </a:r>
            <a:r>
              <a:rPr lang="es-ES" dirty="0"/>
              <a:t>. endotelial-inflamatoria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254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89212" y="1391478"/>
            <a:ext cx="8915400" cy="4810538"/>
          </a:xfrm>
        </p:spPr>
        <p:txBody>
          <a:bodyPr>
            <a:noAutofit/>
          </a:bodyPr>
          <a:lstStyle/>
          <a:p>
            <a:r>
              <a:rPr lang="es-ES" sz="3200" b="1" dirty="0"/>
              <a:t>La primera etapa de la enfermedad </a:t>
            </a:r>
            <a:r>
              <a:rPr lang="es-ES" sz="3200" dirty="0"/>
              <a:t>es</a:t>
            </a:r>
            <a:r>
              <a:rPr lang="es-ES" sz="3200" b="1" dirty="0"/>
              <a:t> </a:t>
            </a:r>
            <a:r>
              <a:rPr lang="es-ES" sz="3200" b="1" dirty="0">
                <a:solidFill>
                  <a:srgbClr val="FF0000"/>
                </a:solidFill>
              </a:rPr>
              <a:t>asintomática</a:t>
            </a:r>
            <a:r>
              <a:rPr lang="es-ES" sz="3200" dirty="0">
                <a:solidFill>
                  <a:srgbClr val="FF0000"/>
                </a:solidFill>
              </a:rPr>
              <a:t>,</a:t>
            </a:r>
            <a:r>
              <a:rPr lang="es-ES" sz="3200" dirty="0"/>
              <a:t> caracterizada por hipoperfusión e hipoxia  placentaria generando trombosis e infarto en las vellosidades aumentando la producción y liberación de ciertos factores en la circulación materna que causan un estado de inflamación generalizada y activación del endotelio</a:t>
            </a:r>
            <a:r>
              <a:rPr lang="es-E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96926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89212" y="1948070"/>
            <a:ext cx="8915400" cy="3896139"/>
          </a:xfrm>
        </p:spPr>
        <p:txBody>
          <a:bodyPr>
            <a:normAutofit/>
          </a:bodyPr>
          <a:lstStyle/>
          <a:p>
            <a:pPr lvl="0">
              <a:buClr>
                <a:srgbClr val="A53010"/>
              </a:buClr>
            </a:pPr>
            <a:r>
              <a:rPr lang="es-ES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Induciendo </a:t>
            </a:r>
            <a:r>
              <a:rPr lang="es-ES" sz="32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la segunda etapa </a:t>
            </a:r>
            <a:r>
              <a:rPr lang="es-ES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de la enfermedad caracterizada por vasoconstricción, reducción del volumen plasmático y activación de la cascada de coagulación, siendo esta, la </a:t>
            </a:r>
            <a:r>
              <a:rPr lang="es-ES" sz="3200" b="1" dirty="0">
                <a:solidFill>
                  <a:srgbClr val="FF0000"/>
                </a:solidFill>
              </a:rPr>
              <a:t>etapa sintomática </a:t>
            </a:r>
            <a:r>
              <a:rPr lang="es-ES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o de diagnóstico clínico.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06323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172" y="0"/>
            <a:ext cx="120215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781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8375" y="1264554"/>
            <a:ext cx="11251229" cy="5056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84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40838" y="624110"/>
            <a:ext cx="5615860" cy="5783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363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b="1" dirty="0"/>
              <a:t>Definición</a:t>
            </a:r>
            <a:br>
              <a:rPr lang="es-AR" b="1" dirty="0"/>
            </a:br>
            <a:endParaRPr lang="es-AR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89212" y="1577009"/>
            <a:ext cx="8915400" cy="5168348"/>
          </a:xfrm>
        </p:spPr>
        <p:txBody>
          <a:bodyPr>
            <a:noAutofit/>
          </a:bodyPr>
          <a:lstStyle/>
          <a:p>
            <a:r>
              <a:rPr lang="es-ES" sz="2800" dirty="0"/>
              <a:t>La HIE se define como una </a:t>
            </a:r>
            <a:r>
              <a:rPr lang="es-ES" sz="2800" b="1" dirty="0"/>
              <a:t>PA  ≥140/90 </a:t>
            </a:r>
            <a:r>
              <a:rPr lang="es-ES" sz="2800" dirty="0"/>
              <a:t>mmHg, en al menos </a:t>
            </a:r>
            <a:r>
              <a:rPr lang="es-ES" sz="2800" b="1" dirty="0"/>
              <a:t>2 tomas </a:t>
            </a:r>
            <a:r>
              <a:rPr lang="es-ES" sz="2800" dirty="0"/>
              <a:t>en el mismo brazo (Evidencia B </a:t>
            </a:r>
            <a:r>
              <a:rPr lang="es-ES" sz="2800" dirty="0" err="1"/>
              <a:t>IIb</a:t>
            </a:r>
            <a:r>
              <a:rPr lang="es-ES" sz="2800" dirty="0"/>
              <a:t>), con </a:t>
            </a:r>
            <a:r>
              <a:rPr lang="es-ES" sz="2800" b="1" dirty="0"/>
              <a:t>un intervalo de 15 minutos </a:t>
            </a:r>
            <a:r>
              <a:rPr lang="es-ES" sz="2800" dirty="0"/>
              <a:t>entre ambas (Evidencia B III)  </a:t>
            </a:r>
          </a:p>
          <a:p>
            <a:r>
              <a:rPr lang="es-ES" sz="2800" dirty="0"/>
              <a:t>La </a:t>
            </a:r>
            <a:r>
              <a:rPr lang="es-ES" sz="2800" b="1" dirty="0"/>
              <a:t>PAD &gt; 90 mmHg </a:t>
            </a:r>
            <a:r>
              <a:rPr lang="es-ES" sz="2800" dirty="0"/>
              <a:t>se asocia a un aumento de la </a:t>
            </a:r>
            <a:r>
              <a:rPr lang="es-ES" sz="2800" u="sng" dirty="0"/>
              <a:t>morbilidad perinatal </a:t>
            </a:r>
            <a:r>
              <a:rPr lang="es-ES" sz="2800" dirty="0"/>
              <a:t>siendo un mejor predictor de resultados adversos durante el embarazo. </a:t>
            </a:r>
          </a:p>
          <a:p>
            <a:pPr lvl="0">
              <a:buClr>
                <a:srgbClr val="A53010"/>
              </a:buClr>
            </a:pPr>
            <a:r>
              <a:rPr lang="es-ES" sz="2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La </a:t>
            </a:r>
            <a:r>
              <a:rPr lang="es-ES" sz="28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PAS severa  </a:t>
            </a:r>
            <a:r>
              <a:rPr lang="es-ES" sz="2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se asocia con un </a:t>
            </a:r>
            <a:r>
              <a:rPr lang="es-ES" sz="2800" u="sng" dirty="0">
                <a:solidFill>
                  <a:prstClr val="black">
                    <a:lumMod val="75000"/>
                    <a:lumOff val="25000"/>
                  </a:prstClr>
                </a:solidFill>
              </a:rPr>
              <a:t>aumento del riesgo de ACV </a:t>
            </a:r>
            <a:r>
              <a:rPr lang="es-ES" sz="2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durante el embarazo (Evidencia B </a:t>
            </a:r>
            <a:r>
              <a:rPr lang="es-ES" sz="2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IIb</a:t>
            </a:r>
            <a:r>
              <a:rPr lang="es-ES" sz="2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). </a:t>
            </a:r>
            <a:endParaRPr lang="es-ES" sz="2800" dirty="0"/>
          </a:p>
          <a:p>
            <a:pPr marL="0" indent="0">
              <a:buNone/>
            </a:pP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2651600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Categorización de los trastornos hipertensivos del embarazo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3600" u="sng" dirty="0"/>
              <a:t>HIPERTENSIÓN GESTACIONAL (HTG):</a:t>
            </a:r>
            <a:r>
              <a:rPr lang="en-US" sz="3600" dirty="0"/>
              <a:t> diagnosticada por primera vez, después de las 20 semanas y </a:t>
            </a:r>
            <a:r>
              <a:rPr lang="en-US" sz="3600" b="1" dirty="0"/>
              <a:t>no</a:t>
            </a:r>
            <a:r>
              <a:rPr lang="en-US" sz="3600" dirty="0"/>
              <a:t> se acompaña de proteinuria y se normalizan los niveles tensionales antes de las 12 semanas postparto</a:t>
            </a:r>
            <a:r>
              <a:rPr lang="en-US" sz="2800" dirty="0"/>
              <a:t>.</a:t>
            </a:r>
            <a:endParaRPr lang="es-ES" sz="2800" u="sng" dirty="0"/>
          </a:p>
        </p:txBody>
      </p:sp>
    </p:spTree>
    <p:extLst>
      <p:ext uri="{BB962C8B-B14F-4D97-AF65-F5344CB8AC3E}">
        <p14:creationId xmlns:p14="http://schemas.microsoft.com/office/powerpoint/2010/main" val="1876658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89212" y="874643"/>
            <a:ext cx="8915400" cy="5036579"/>
          </a:xfrm>
        </p:spPr>
        <p:txBody>
          <a:bodyPr>
            <a:normAutofit lnSpcReduction="10000"/>
          </a:bodyPr>
          <a:lstStyle/>
          <a:p>
            <a:r>
              <a:rPr lang="es-ES" sz="3600" u="sng" dirty="0"/>
              <a:t>PREECLAMPSIA</a:t>
            </a:r>
            <a:r>
              <a:rPr lang="es-ES" sz="3600" dirty="0"/>
              <a:t>: </a:t>
            </a:r>
          </a:p>
          <a:p>
            <a:pPr marL="0" indent="0">
              <a:buNone/>
            </a:pPr>
            <a:r>
              <a:rPr lang="es-ES" sz="3600" dirty="0"/>
              <a:t>Fenómeno hipertensivo detectado en la segunda mitad del embarazo acompañado de proteinuria &gt; 300 mg en orina de 24 horas.</a:t>
            </a:r>
          </a:p>
          <a:p>
            <a:pPr marL="0" indent="0">
              <a:buNone/>
            </a:pPr>
            <a:r>
              <a:rPr lang="es-ES" sz="3600" dirty="0"/>
              <a:t>La severidad de tensión arterial y de la proteinuria determinan la gravedad de la PE (moderada y severa)</a:t>
            </a:r>
          </a:p>
          <a:p>
            <a:pPr marL="0" indent="0">
              <a:buNone/>
            </a:pPr>
            <a:r>
              <a:rPr lang="es-ES" sz="3600" dirty="0"/>
              <a:t>PE severa: proteinuria &gt; 5g/24 hs 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513860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89212" y="742123"/>
            <a:ext cx="8915400" cy="5870712"/>
          </a:xfrm>
        </p:spPr>
        <p:txBody>
          <a:bodyPr>
            <a:normAutofit fontScale="92500" lnSpcReduction="10000"/>
          </a:bodyPr>
          <a:lstStyle/>
          <a:p>
            <a:r>
              <a:rPr lang="es-ES" sz="3900" u="sng" dirty="0"/>
              <a:t>ECLAMPSIA</a:t>
            </a:r>
            <a:r>
              <a:rPr lang="es-ES" sz="3600" dirty="0"/>
              <a:t>: </a:t>
            </a:r>
          </a:p>
          <a:p>
            <a:pPr marL="0" indent="0">
              <a:buNone/>
            </a:pPr>
            <a:r>
              <a:rPr lang="es-ES" sz="3900" dirty="0"/>
              <a:t>Paciente que cursa con preeclampsia y convulsiones, en ausencia de trastornos neurológicos pregestacionales.</a:t>
            </a:r>
          </a:p>
          <a:p>
            <a:pPr marL="0" indent="0">
              <a:buNone/>
            </a:pPr>
            <a:r>
              <a:rPr lang="es-ES" sz="3900" dirty="0"/>
              <a:t>Las convulsiones son de tipo tónica-clónicas generalizadas.</a:t>
            </a:r>
          </a:p>
          <a:p>
            <a:pPr marL="0" indent="0">
              <a:buNone/>
            </a:pPr>
            <a:r>
              <a:rPr lang="es-ES" sz="3900" dirty="0"/>
              <a:t>Este estado es el mas crítico y compromete seriamente la salud materna y fetal</a:t>
            </a:r>
            <a:endParaRPr lang="en-US" sz="3900" dirty="0"/>
          </a:p>
        </p:txBody>
      </p:sp>
    </p:spTree>
    <p:extLst>
      <p:ext uri="{BB962C8B-B14F-4D97-AF65-F5344CB8AC3E}">
        <p14:creationId xmlns:p14="http://schemas.microsoft.com/office/powerpoint/2010/main" val="1601210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89212" y="583096"/>
            <a:ext cx="8915400" cy="6122504"/>
          </a:xfrm>
        </p:spPr>
        <p:txBody>
          <a:bodyPr>
            <a:normAutofit fontScale="92500" lnSpcReduction="20000"/>
          </a:bodyPr>
          <a:lstStyle/>
          <a:p>
            <a:r>
              <a:rPr lang="es-ES" sz="3600" u="sng" dirty="0"/>
              <a:t>PREECLAMPSIA SOBREIMPUESTA A HIPERTENSIÓN CRÓNICA</a:t>
            </a:r>
            <a:r>
              <a:rPr lang="es-ES" sz="3200" dirty="0"/>
              <a:t>: </a:t>
            </a:r>
          </a:p>
          <a:p>
            <a:pPr marL="0" indent="0">
              <a:buNone/>
            </a:pPr>
            <a:endParaRPr lang="es-ES" sz="3600" dirty="0"/>
          </a:p>
          <a:p>
            <a:pPr marL="0" indent="0">
              <a:buNone/>
            </a:pPr>
            <a:r>
              <a:rPr lang="es-ES" sz="3600" dirty="0"/>
              <a:t>Paciente con HTC previa a la gestación y sin presentar daño renal que de lugar a proteinuria la cual se pone de manifiesto después de la segunda mitad del embarazo.</a:t>
            </a:r>
          </a:p>
          <a:p>
            <a:pPr marL="0" indent="0">
              <a:buNone/>
            </a:pPr>
            <a:r>
              <a:rPr lang="es-ES" sz="3600" dirty="0"/>
              <a:t>Mayor riesgo de desarrollar cuadros agudos graves: desprendimiento placentario o restricción de crecimiento intrauterino.</a:t>
            </a:r>
          </a:p>
          <a:p>
            <a:pPr marL="0" indent="0">
              <a:buNone/>
            </a:pPr>
            <a:r>
              <a:rPr lang="es-ES" sz="3200" dirty="0"/>
              <a:t>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540945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89212" y="848139"/>
            <a:ext cx="8915400" cy="5473148"/>
          </a:xfrm>
        </p:spPr>
        <p:txBody>
          <a:bodyPr>
            <a:normAutofit fontScale="92500" lnSpcReduction="10000"/>
          </a:bodyPr>
          <a:lstStyle/>
          <a:p>
            <a:r>
              <a:rPr lang="es-ES" sz="3600" u="sng" dirty="0"/>
              <a:t>SINDROME DE HELLP</a:t>
            </a:r>
          </a:p>
          <a:p>
            <a:pPr marL="0" indent="0">
              <a:buNone/>
            </a:pPr>
            <a:r>
              <a:rPr lang="es-ES" sz="3600" dirty="0"/>
              <a:t>Cuadro caracterizado por hemolisis, elevación de enzimas hepáticas, descenso de plaquetas, pudiendo llevar a la fallo multiorgánico. </a:t>
            </a:r>
          </a:p>
          <a:p>
            <a:pPr marL="0" indent="0">
              <a:buNone/>
            </a:pPr>
            <a:r>
              <a:rPr lang="es-ES" sz="3600" dirty="0"/>
              <a:t>Complicación severa de los trastornos hipertensivos del embarazo, principalmente observado en ptes con preeclampsia severa, eclampsia, también se puede diagnosticar en </a:t>
            </a:r>
            <a:r>
              <a:rPr lang="es-ES" sz="3600" dirty="0" err="1"/>
              <a:t>pte</a:t>
            </a:r>
            <a:r>
              <a:rPr lang="es-ES" sz="3600" dirty="0"/>
              <a:t> preeclampsia sobreimpuesta y en HTG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306678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AR" sz="2800" dirty="0"/>
              <a:t>Criterios 2013, ACOG, </a:t>
            </a:r>
            <a:r>
              <a:rPr lang="es-AR" sz="2800" dirty="0" err="1"/>
              <a:t>Task</a:t>
            </a:r>
            <a:r>
              <a:rPr lang="es-AR" sz="2800" dirty="0"/>
              <a:t> </a:t>
            </a:r>
            <a:r>
              <a:rPr lang="es-AR" sz="2800" dirty="0" err="1"/>
              <a:t>Force</a:t>
            </a:r>
            <a:r>
              <a:rPr lang="es-AR" sz="2800" dirty="0"/>
              <a:t> </a:t>
            </a:r>
            <a:r>
              <a:rPr lang="es-AR" sz="2800" dirty="0" err="1"/>
              <a:t>on</a:t>
            </a:r>
            <a:r>
              <a:rPr lang="es-AR" sz="2800" dirty="0"/>
              <a:t> </a:t>
            </a:r>
            <a:r>
              <a:rPr lang="es-AR" sz="2800" dirty="0" err="1"/>
              <a:t>Hypertension</a:t>
            </a:r>
            <a:r>
              <a:rPr lang="es-AR" sz="2800" dirty="0"/>
              <a:t> in </a:t>
            </a:r>
            <a:r>
              <a:rPr lang="es-AR" sz="2800" dirty="0" err="1"/>
              <a:t>Pregnancy</a:t>
            </a:r>
            <a:r>
              <a:rPr lang="es-AR" sz="2800" dirty="0"/>
              <a:t>: </a:t>
            </a:r>
            <a:r>
              <a:rPr lang="es-AR" sz="2800" u="sng" dirty="0"/>
              <a:t>indicadores de Severidad 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89212" y="1709530"/>
            <a:ext cx="8915400" cy="5022574"/>
          </a:xfrm>
        </p:spPr>
        <p:txBody>
          <a:bodyPr>
            <a:noAutofit/>
          </a:bodyPr>
          <a:lstStyle/>
          <a:p>
            <a:r>
              <a:rPr lang="es-ES" sz="2400" dirty="0"/>
              <a:t>Tensión arterial mayor o igual a </a:t>
            </a:r>
            <a:r>
              <a:rPr lang="es-ES" sz="2400" b="1" dirty="0"/>
              <a:t>160/110 </a:t>
            </a:r>
            <a:r>
              <a:rPr lang="es-ES" sz="2400" dirty="0"/>
              <a:t>más cualquiera de las siguientes.</a:t>
            </a:r>
          </a:p>
          <a:p>
            <a:r>
              <a:rPr lang="es-ES" sz="2400" dirty="0"/>
              <a:t>Plaquetas menos de 100.000.</a:t>
            </a:r>
          </a:p>
          <a:p>
            <a:r>
              <a:rPr lang="es-ES" sz="2400" dirty="0"/>
              <a:t>Daño hepático: transaminasas elevadas o dolor epigástrico/hipocondrio derecho inexplicado que no cede con tratamientos usuales (antiácidos, analgésicos comunes).</a:t>
            </a:r>
          </a:p>
          <a:p>
            <a:r>
              <a:rPr lang="es-ES" sz="2400" dirty="0"/>
              <a:t>Insuficiencia renal progresiva.</a:t>
            </a:r>
          </a:p>
          <a:p>
            <a:r>
              <a:rPr lang="es-ES" sz="2400" dirty="0"/>
              <a:t>Edema pulmonar.</a:t>
            </a:r>
          </a:p>
          <a:p>
            <a:r>
              <a:rPr lang="es-ES" sz="2400" dirty="0"/>
              <a:t>Síntomas cerebrales o visuales de aparición reciente.</a:t>
            </a:r>
          </a:p>
          <a:p>
            <a:r>
              <a:rPr lang="es-ES" sz="2400" dirty="0"/>
              <a:t>Síndrome de HELLP </a:t>
            </a:r>
            <a:endParaRPr lang="es-AR" sz="2400" dirty="0"/>
          </a:p>
        </p:txBody>
      </p:sp>
    </p:spTree>
    <p:extLst>
      <p:ext uri="{BB962C8B-B14F-4D97-AF65-F5344CB8AC3E}">
        <p14:creationId xmlns:p14="http://schemas.microsoft.com/office/powerpoint/2010/main" val="1333820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0" y="624110"/>
            <a:ext cx="4764543" cy="5938076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4280452" y="624110"/>
            <a:ext cx="291548" cy="59380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674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2924" y="624110"/>
            <a:ext cx="8911687" cy="6011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70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prstClr val="black">
                    <a:lumMod val="85000"/>
                    <a:lumOff val="15000"/>
                  </a:prstClr>
                </a:solidFill>
              </a:rPr>
              <a:t>PREVENCION DE LA PREECLMPSIA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253948"/>
          </a:xfrm>
        </p:spPr>
        <p:txBody>
          <a:bodyPr/>
          <a:lstStyle/>
          <a:p>
            <a:pPr lvl="0">
              <a:buClr>
                <a:srgbClr val="A53010"/>
              </a:buClr>
            </a:pPr>
            <a:r>
              <a:rPr lang="es-ES" sz="3200" u="sng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Metodo</a:t>
            </a:r>
            <a:r>
              <a:rPr lang="es-ES" sz="3200" u="sng" dirty="0">
                <a:solidFill>
                  <a:prstClr val="black">
                    <a:lumMod val="75000"/>
                    <a:lumOff val="25000"/>
                  </a:prstClr>
                </a:solidFill>
              </a:rPr>
              <a:t> de screening (1°TRIMESTRE)</a:t>
            </a:r>
          </a:p>
          <a:p>
            <a:pPr marL="514350" lvl="0" indent="-514350">
              <a:buClr>
                <a:srgbClr val="A53010"/>
              </a:buClr>
              <a:buFont typeface="Wingdings 3" charset="2"/>
              <a:buAutoNum type="arabicParenR"/>
            </a:pPr>
            <a:endParaRPr lang="es-ES" sz="32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514350" lvl="0" indent="-514350">
              <a:buClr>
                <a:srgbClr val="A53010"/>
              </a:buClr>
              <a:buFont typeface="Wingdings 3" charset="2"/>
              <a:buAutoNum type="arabicParenR"/>
            </a:pPr>
            <a:r>
              <a:rPr lang="es-ES" sz="2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Historia clínica: factores de riesgo </a:t>
            </a:r>
            <a:r>
              <a:rPr lang="es-E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(45-55%)</a:t>
            </a:r>
          </a:p>
          <a:p>
            <a:pPr marL="514350" lvl="0" indent="-514350">
              <a:buClr>
                <a:srgbClr val="A53010"/>
              </a:buClr>
              <a:buFont typeface="Wingdings 3" charset="2"/>
              <a:buAutoNum type="arabicParenR"/>
            </a:pPr>
            <a:r>
              <a:rPr lang="es-ES" sz="2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Medidas biofísicas: TA, IP A. uterina </a:t>
            </a:r>
            <a:r>
              <a:rPr lang="es-E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(70-75%)</a:t>
            </a:r>
          </a:p>
          <a:p>
            <a:pPr marL="514350" lvl="0" indent="-514350">
              <a:buClr>
                <a:srgbClr val="A53010"/>
              </a:buClr>
              <a:buFont typeface="Wingdings 3" charset="2"/>
              <a:buAutoNum type="arabicParenR"/>
            </a:pPr>
            <a:r>
              <a:rPr lang="es-ES" sz="2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Medidas bioquímicas: PIGF, sFTL-1, PAPP-A, sub beta HCG</a:t>
            </a:r>
            <a:endParaRPr lang="es-AR" sz="28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r>
              <a:rPr lang="es-ES" dirty="0"/>
              <a:t>(VALOR PREDICTIVO 90%)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330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 </a:t>
            </a:r>
            <a:r>
              <a:rPr lang="es-ES" b="1" dirty="0"/>
              <a:t>1)</a:t>
            </a:r>
            <a:r>
              <a:rPr lang="es-ES" dirty="0"/>
              <a:t> Factores de riesgo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89212" y="1563758"/>
            <a:ext cx="8915400" cy="5155094"/>
          </a:xfrm>
        </p:spPr>
        <p:txBody>
          <a:bodyPr>
            <a:normAutofit fontScale="85000" lnSpcReduction="20000"/>
          </a:bodyPr>
          <a:lstStyle/>
          <a:p>
            <a:r>
              <a:rPr lang="es-ES" sz="2600" dirty="0"/>
              <a:t>Preeclampsia en embarazo anterior.</a:t>
            </a:r>
          </a:p>
          <a:p>
            <a:r>
              <a:rPr lang="es-ES" sz="2600" dirty="0"/>
              <a:t>Diabetes Tipo I y II.</a:t>
            </a:r>
          </a:p>
          <a:p>
            <a:r>
              <a:rPr lang="es-ES" sz="2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Anticuerpos </a:t>
            </a:r>
            <a:r>
              <a:rPr lang="es-ES" sz="2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antifosfolipídicos</a:t>
            </a:r>
            <a:r>
              <a:rPr lang="es-ES" sz="2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- LUPUS</a:t>
            </a:r>
            <a:endParaRPr lang="es-ES" sz="2600" dirty="0"/>
          </a:p>
          <a:p>
            <a:r>
              <a:rPr lang="es-ES" sz="2600" dirty="0"/>
              <a:t>Historia Familiar de PE (madre y/o hermanas).</a:t>
            </a:r>
          </a:p>
          <a:p>
            <a:r>
              <a:rPr lang="es-ES" sz="2600" dirty="0"/>
              <a:t>Edad materna &gt; 40 y adolescentes.</a:t>
            </a:r>
          </a:p>
          <a:p>
            <a:r>
              <a:rPr lang="es-ES" sz="2600" dirty="0" err="1"/>
              <a:t>Nuliparidad</a:t>
            </a:r>
            <a:r>
              <a:rPr lang="es-ES" sz="2600" dirty="0"/>
              <a:t>.</a:t>
            </a:r>
          </a:p>
          <a:p>
            <a:r>
              <a:rPr lang="es-ES" sz="2600" dirty="0"/>
              <a:t>Índice de Masa Corporal &gt; 35. </a:t>
            </a:r>
          </a:p>
          <a:p>
            <a:r>
              <a:rPr lang="es-ES" sz="2600" dirty="0"/>
              <a:t>HTA crónica. </a:t>
            </a:r>
          </a:p>
          <a:p>
            <a:r>
              <a:rPr lang="es-ES" sz="2600" dirty="0"/>
              <a:t>Enfermedad renal. </a:t>
            </a:r>
          </a:p>
          <a:p>
            <a:r>
              <a:rPr lang="es-ES" sz="2600" dirty="0"/>
              <a:t>Periodo </a:t>
            </a:r>
            <a:r>
              <a:rPr lang="es-ES" sz="2600" dirty="0" err="1"/>
              <a:t>intergenésico</a:t>
            </a:r>
            <a:r>
              <a:rPr lang="es-ES" sz="2600" dirty="0"/>
              <a:t> mayor a 10 años.</a:t>
            </a:r>
          </a:p>
          <a:p>
            <a:r>
              <a:rPr lang="es-ES" sz="2600" dirty="0"/>
              <a:t> Fertilización Asistida.</a:t>
            </a:r>
          </a:p>
          <a:p>
            <a:r>
              <a:rPr lang="es-ES" sz="2600" dirty="0"/>
              <a:t>Tabaquismo</a:t>
            </a:r>
            <a:r>
              <a:rPr lang="es-ES" dirty="0"/>
              <a:t>.</a:t>
            </a:r>
          </a:p>
          <a:p>
            <a:r>
              <a:rPr lang="es-ES" sz="2600" dirty="0"/>
              <a:t>Embarazo </a:t>
            </a:r>
            <a:r>
              <a:rPr lang="es-ES" sz="2600" dirty="0" err="1"/>
              <a:t>multiple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977478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7693" y="901148"/>
            <a:ext cx="10519215" cy="5499652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7686261" y="4691270"/>
            <a:ext cx="4227443" cy="12324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 2)</a:t>
            </a:r>
            <a:r>
              <a:rPr lang="es-ES" dirty="0"/>
              <a:t> Recomendaciones para el correcto control de la TA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/>
              <p:cNvSpPr txBox="1"/>
              <p:nvPr/>
            </p:nvSpPr>
            <p:spPr>
              <a:xfrm>
                <a:off x="5638800" y="2975113"/>
                <a:ext cx="247343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307106F8-1B1A-405C-8741-938B81B78BE9}" type="mathplaceholder">
                        <a:rPr lang="en-US" i="1" smtClean="0">
                          <a:latin typeface="Cambria Math" panose="02040503050406030204" pitchFamily="18" charset="0"/>
                        </a:rPr>
                        <a:t>Escriba aquí la ecuación.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CuadroTex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2975113"/>
                <a:ext cx="2473434" cy="276999"/>
              </a:xfrm>
              <a:prstGeom prst="rect">
                <a:avLst/>
              </a:prstGeom>
              <a:blipFill>
                <a:blip r:embed="rId3"/>
                <a:stretch>
                  <a:fillRect l="-1724" r="-1970" b="-4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2929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3) </a:t>
            </a:r>
            <a:r>
              <a:rPr lang="es-ES" dirty="0"/>
              <a:t>Ecografía Obstétrica y Doppler 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89212" y="2332382"/>
            <a:ext cx="8915400" cy="2345635"/>
          </a:xfrm>
        </p:spPr>
        <p:txBody>
          <a:bodyPr>
            <a:normAutofit/>
          </a:bodyPr>
          <a:lstStyle/>
          <a:p>
            <a:pPr lvl="0">
              <a:buClr>
                <a:srgbClr val="A53010"/>
              </a:buClr>
            </a:pPr>
            <a:r>
              <a:rPr lang="es-ES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Doppler de arteria uterinas (semana 11-14 sem), </a:t>
            </a:r>
            <a:r>
              <a:rPr lang="es-ES" sz="32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IP: &gt;2.50 (P 95) patológico</a:t>
            </a:r>
            <a:r>
              <a:rPr lang="es-ES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: se inicia </a:t>
            </a:r>
            <a:r>
              <a:rPr lang="es-ES" sz="32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tto</a:t>
            </a:r>
            <a:r>
              <a:rPr lang="es-ES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con </a:t>
            </a:r>
            <a:r>
              <a:rPr lang="es-ES" sz="3200" u="sng" dirty="0">
                <a:solidFill>
                  <a:prstClr val="black">
                    <a:lumMod val="75000"/>
                    <a:lumOff val="25000"/>
                  </a:prstClr>
                </a:solidFill>
              </a:rPr>
              <a:t>Aspirina 150 mg/por la noche</a:t>
            </a:r>
            <a:r>
              <a:rPr lang="es-ES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, </a:t>
            </a:r>
            <a:r>
              <a:rPr lang="es-ES" sz="3200" u="sng" dirty="0">
                <a:solidFill>
                  <a:prstClr val="black">
                    <a:lumMod val="75000"/>
                    <a:lumOff val="25000"/>
                  </a:prstClr>
                </a:solidFill>
              </a:rPr>
              <a:t>antes de la semana 16 hasta semana 36</a:t>
            </a:r>
            <a:r>
              <a:rPr lang="es-ES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</a:p>
          <a:p>
            <a:pPr lvl="0">
              <a:buClr>
                <a:srgbClr val="A53010"/>
              </a:buClr>
            </a:pPr>
            <a:endParaRPr lang="es-ES" sz="32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820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2770" y="1431234"/>
            <a:ext cx="10472533" cy="4333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16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7085" y="624110"/>
            <a:ext cx="6520069" cy="5864205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7779026" y="1096617"/>
            <a:ext cx="4121426" cy="16167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dirty="0"/>
              <a:t>DIAGNOSTICO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082925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Diagnostico de Preeclampsia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92925" y="1905000"/>
            <a:ext cx="8915400" cy="4641573"/>
          </a:xfrm>
        </p:spPr>
        <p:txBody>
          <a:bodyPr>
            <a:normAutofit lnSpcReduction="10000"/>
          </a:bodyPr>
          <a:lstStyle/>
          <a:p>
            <a:r>
              <a:rPr lang="es-ES" sz="3000" b="1" dirty="0"/>
              <a:t>Tensión Arterial </a:t>
            </a:r>
            <a:r>
              <a:rPr lang="es-ES" sz="3000" dirty="0">
                <a:solidFill>
                  <a:srgbClr val="FF0000"/>
                </a:solidFill>
              </a:rPr>
              <a:t>mayor o igual a 140/90 </a:t>
            </a:r>
            <a:r>
              <a:rPr lang="es-ES" sz="3000" dirty="0"/>
              <a:t>después de la semana 20 con alguno de los siguientes elementos.</a:t>
            </a:r>
          </a:p>
          <a:p>
            <a:r>
              <a:rPr lang="es-ES" sz="3000" b="1" dirty="0"/>
              <a:t>Proteinuria presente</a:t>
            </a:r>
            <a:r>
              <a:rPr lang="es-ES" sz="3000" dirty="0"/>
              <a:t>:  </a:t>
            </a:r>
            <a:r>
              <a:rPr lang="es-ES" sz="3000" dirty="0">
                <a:solidFill>
                  <a:srgbClr val="FF0000"/>
                </a:solidFill>
              </a:rPr>
              <a:t>&gt;300mg en 24 horas </a:t>
            </a:r>
            <a:r>
              <a:rPr lang="es-ES" sz="3000" dirty="0"/>
              <a:t>(recolección de un día completo) o Índice Proteína/Creatinina &gt; 0.3</a:t>
            </a:r>
          </a:p>
          <a:p>
            <a:r>
              <a:rPr lang="es-ES" sz="3000" dirty="0"/>
              <a:t> Edemas: de aparición repentina en cara y manos.</a:t>
            </a:r>
          </a:p>
          <a:p>
            <a:r>
              <a:rPr lang="es-ES" sz="3000" dirty="0"/>
              <a:t>Otros síntomas: cefalea, epigastralgia, dolor en hipocondrio derecho, escotomas</a:t>
            </a:r>
            <a:r>
              <a:rPr lang="es-ES" sz="2800" dirty="0"/>
              <a:t>.</a:t>
            </a:r>
          </a:p>
          <a:p>
            <a:endParaRPr lang="es-ES" sz="2800" dirty="0"/>
          </a:p>
        </p:txBody>
      </p:sp>
      <p:sp>
        <p:nvSpPr>
          <p:cNvPr id="4" name="Rectángulo 3"/>
          <p:cNvSpPr/>
          <p:nvPr/>
        </p:nvSpPr>
        <p:spPr>
          <a:xfrm flipH="1">
            <a:off x="6652591" y="4094921"/>
            <a:ext cx="29154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 *</a:t>
            </a:r>
          </a:p>
        </p:txBody>
      </p:sp>
    </p:spTree>
    <p:extLst>
      <p:ext uri="{BB962C8B-B14F-4D97-AF65-F5344CB8AC3E}">
        <p14:creationId xmlns:p14="http://schemas.microsoft.com/office/powerpoint/2010/main" val="1326488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Estudios complementarios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293704"/>
          </a:xfrm>
        </p:spPr>
        <p:txBody>
          <a:bodyPr>
            <a:normAutofit lnSpcReduction="10000"/>
          </a:bodyPr>
          <a:lstStyle/>
          <a:p>
            <a:r>
              <a:rPr lang="es-ES" sz="3600" u="sng" dirty="0"/>
              <a:t>Laboratorio: </a:t>
            </a:r>
          </a:p>
          <a:p>
            <a:r>
              <a:rPr lang="es-ES" sz="3200" dirty="0"/>
              <a:t>Función renal: proteinuria 24 horas, creatinina, ácido úrico, sedimento de orina.</a:t>
            </a:r>
          </a:p>
          <a:p>
            <a:r>
              <a:rPr lang="es-ES" sz="3200" dirty="0"/>
              <a:t>Estados hematológicos: hemoglobina, hematocrito, Rcto de plaquetas, coagulograma y fibrinógeno</a:t>
            </a:r>
          </a:p>
          <a:p>
            <a:r>
              <a:rPr lang="es-ES" sz="3200" dirty="0"/>
              <a:t>Función hepática: GOT, GPT, FAL, LDH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268719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3600" dirty="0"/>
              <a:t>Ecografía obstétrica con Doppler feto placentario</a:t>
            </a:r>
          </a:p>
          <a:p>
            <a:r>
              <a:rPr lang="es-ES" sz="3600" dirty="0"/>
              <a:t>NST</a:t>
            </a:r>
          </a:p>
          <a:p>
            <a:r>
              <a:rPr lang="es-ES" sz="3600" dirty="0"/>
              <a:t>ECG, ecocardiograma materno</a:t>
            </a:r>
          </a:p>
          <a:p>
            <a:r>
              <a:rPr lang="es-ES" sz="3600" dirty="0"/>
              <a:t>Fondo de ojo 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287827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Criterios de internación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89212" y="1643270"/>
            <a:ext cx="8915400" cy="5214730"/>
          </a:xfrm>
        </p:spPr>
        <p:txBody>
          <a:bodyPr>
            <a:noAutofit/>
          </a:bodyPr>
          <a:lstStyle/>
          <a:p>
            <a:r>
              <a:rPr lang="es-ES" sz="2800" u="sng" dirty="0"/>
              <a:t>Se recomienda hospitalización en aquellas embarazadas que presenten preeclampsia y algunos de los demás </a:t>
            </a:r>
            <a:r>
              <a:rPr lang="es-ES" sz="2800" u="sng" dirty="0" err="1"/>
              <a:t>transtornos</a:t>
            </a:r>
            <a:r>
              <a:rPr lang="es-ES" sz="2800" u="sng" dirty="0"/>
              <a:t> </a:t>
            </a:r>
            <a:r>
              <a:rPr lang="es-ES" sz="2800" dirty="0"/>
              <a:t>:</a:t>
            </a:r>
          </a:p>
          <a:p>
            <a:endParaRPr lang="es-ES" sz="2800" dirty="0"/>
          </a:p>
          <a:p>
            <a:r>
              <a:rPr lang="es-ES" sz="2800" dirty="0"/>
              <a:t>TA Sistólica &gt; 160 mm Hg, TA. Diastólica &gt; 110 mm Hg</a:t>
            </a:r>
          </a:p>
          <a:p>
            <a:r>
              <a:rPr lang="es-ES" sz="2800" dirty="0"/>
              <a:t>Presencia de síntomas neurosensoriales </a:t>
            </a:r>
          </a:p>
          <a:p>
            <a:r>
              <a:rPr lang="es-ES" sz="2800" dirty="0"/>
              <a:t>HTA crónica + preeclampsia sobreimpuesta.</a:t>
            </a:r>
          </a:p>
          <a:p>
            <a:r>
              <a:rPr lang="es-ES" sz="2800" dirty="0"/>
              <a:t>RCIU / Oligoamnios </a:t>
            </a:r>
          </a:p>
        </p:txBody>
      </p:sp>
    </p:spTree>
    <p:extLst>
      <p:ext uri="{BB962C8B-B14F-4D97-AF65-F5344CB8AC3E}">
        <p14:creationId xmlns:p14="http://schemas.microsoft.com/office/powerpoint/2010/main" val="311635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89212" y="1789042"/>
            <a:ext cx="8915400" cy="4122179"/>
          </a:xfrm>
        </p:spPr>
        <p:txBody>
          <a:bodyPr/>
          <a:lstStyle/>
          <a:p>
            <a:pPr lvl="0">
              <a:buClr>
                <a:srgbClr val="A53010"/>
              </a:buClr>
            </a:pPr>
            <a:r>
              <a:rPr lang="es-ES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HTA Gestacional con TAD&gt; 99 mm Hg.</a:t>
            </a:r>
          </a:p>
          <a:p>
            <a:pPr lvl="0">
              <a:buClr>
                <a:srgbClr val="A53010"/>
              </a:buClr>
            </a:pPr>
            <a:r>
              <a:rPr lang="es-ES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HTA crónica con mal control ambulatorio.</a:t>
            </a:r>
          </a:p>
          <a:p>
            <a:pPr lvl="0">
              <a:buClr>
                <a:srgbClr val="A53010"/>
              </a:buClr>
            </a:pPr>
            <a:r>
              <a:rPr lang="es-ES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Alteraciones específicas del laboratorio </a:t>
            </a:r>
          </a:p>
          <a:p>
            <a:pPr lvl="0">
              <a:buClr>
                <a:srgbClr val="A53010"/>
              </a:buClr>
            </a:pPr>
            <a:r>
              <a:rPr lang="es-ES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Incumplimiento al tratamiento</a:t>
            </a:r>
          </a:p>
          <a:p>
            <a:pPr lvl="0">
              <a:buClr>
                <a:srgbClr val="A53010"/>
              </a:buClr>
            </a:pPr>
            <a:r>
              <a:rPr lang="es-ES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Maduración pulmonar fetal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311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Tratamiento</a:t>
            </a:r>
            <a:br>
              <a:rPr lang="es-ES" dirty="0"/>
            </a:br>
            <a:endParaRPr lang="en-US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9217" y="1674965"/>
            <a:ext cx="8655395" cy="4840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886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idx="1"/>
          </p:nvPr>
        </p:nvSpPr>
        <p:spPr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s-ES" sz="3200" dirty="0"/>
              <a:t>El gran desafío que se plantea con cada paciente con trastorno hipertensivo será llevar el embarazo a la viabilidad feto-neonatal máxima posible, generando el menor daño posible al organismo materno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023976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5536" y="1812235"/>
            <a:ext cx="10310625" cy="373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368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Hipertensión gestacional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89212" y="1630017"/>
            <a:ext cx="8915400" cy="428120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ES" dirty="0"/>
              <a:t> </a:t>
            </a:r>
            <a:r>
              <a:rPr lang="es-ES" sz="3200" u="sng" dirty="0">
                <a:latin typeface="Bahnschrift" panose="020B0502040204020203" pitchFamily="34" charset="0"/>
              </a:rPr>
              <a:t>Controles</a:t>
            </a:r>
            <a:r>
              <a:rPr lang="es-ES" sz="3200" dirty="0"/>
              <a:t>: </a:t>
            </a:r>
          </a:p>
          <a:p>
            <a:r>
              <a:rPr lang="es-ES" sz="2400" dirty="0"/>
              <a:t>Laboratorio: completo y proteinuria 24 horas </a:t>
            </a:r>
          </a:p>
          <a:p>
            <a:r>
              <a:rPr lang="es-ES" sz="2400" dirty="0"/>
              <a:t>Ecografía obstétrica, Doppler fetal en los casos con RCIU</a:t>
            </a:r>
          </a:p>
          <a:p>
            <a:r>
              <a:rPr lang="es-ES" sz="2400" dirty="0"/>
              <a:t>NST (embarazo de termino) </a:t>
            </a:r>
          </a:p>
          <a:p>
            <a:r>
              <a:rPr lang="es-ES" sz="2400" dirty="0"/>
              <a:t>Se cita cada 2 semanas: control de TA, peso, evaluación de edemas </a:t>
            </a:r>
          </a:p>
          <a:p>
            <a:pPr marL="0" indent="0">
              <a:buNone/>
            </a:pPr>
            <a:r>
              <a:rPr lang="es-ES" sz="3200" b="1" u="sng" dirty="0">
                <a:latin typeface="Bahnschrift Light" panose="020B0502040204020203" pitchFamily="34" charset="0"/>
              </a:rPr>
              <a:t>Pautas de alarma</a:t>
            </a:r>
            <a:r>
              <a:rPr lang="es-ES" sz="2400" dirty="0"/>
              <a:t>:</a:t>
            </a:r>
          </a:p>
          <a:p>
            <a:pPr marL="0" indent="0">
              <a:buNone/>
            </a:pPr>
            <a:r>
              <a:rPr lang="es-ES" sz="2400" dirty="0"/>
              <a:t>Cefalea persistente, epigastralgia, alteraciones visuales, reducción de movimientos fetal, sangrado vaginal, TA: &gt; 160/100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44051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400" dirty="0"/>
              <a:t>Preeclampsia</a:t>
            </a:r>
            <a:r>
              <a:rPr lang="es-ES" dirty="0"/>
              <a:t> 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89212" y="1789043"/>
            <a:ext cx="8915400" cy="4717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/>
              <a:t>El criterio terapéutico en la PE dependerá de la edad gestacional, la clínica, el laboratorio y la salud fetal.</a:t>
            </a:r>
          </a:p>
          <a:p>
            <a:r>
              <a:rPr lang="es-ES" sz="2400" dirty="0"/>
              <a:t>Control cada 2 o 1 semanas</a:t>
            </a:r>
          </a:p>
          <a:p>
            <a:r>
              <a:rPr lang="es-ES" sz="2400" dirty="0"/>
              <a:t>Control de laboratorio completo y proteinuria de 24 horas</a:t>
            </a:r>
          </a:p>
          <a:p>
            <a:r>
              <a:rPr lang="es-ES" sz="2400" dirty="0"/>
              <a:t>Ecografía obstétrica y Doppler feto placentario</a:t>
            </a:r>
          </a:p>
          <a:p>
            <a:r>
              <a:rPr lang="es-ES" sz="2400" dirty="0"/>
              <a:t>NST (embarazo de termino)</a:t>
            </a:r>
          </a:p>
          <a:p>
            <a:r>
              <a:rPr lang="es-ES" sz="2400" dirty="0"/>
              <a:t>ECG materno</a:t>
            </a:r>
          </a:p>
          <a:p>
            <a:r>
              <a:rPr lang="es-ES" sz="2400" dirty="0"/>
              <a:t>Internación: PE severa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222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2925" y="755374"/>
            <a:ext cx="8909832" cy="5605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535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PE sobreimpuesta 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Mayor riesgo de DPPNI, RCIU, PPT, ECLAMPSIA, edema agudo de pulmón, cid</a:t>
            </a:r>
          </a:p>
          <a:p>
            <a:pPr marL="0" indent="0">
              <a:buNone/>
            </a:pPr>
            <a:r>
              <a:rPr lang="es-ES" dirty="0"/>
              <a:t>Los casos moderados y con buena respuesta al tratamiento control cada 2 semanas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ES" dirty="0"/>
              <a:t>Laboratorio completa, proteinuria 24 horas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ES" dirty="0" err="1"/>
              <a:t>Ecografia</a:t>
            </a:r>
            <a:r>
              <a:rPr lang="es-ES" dirty="0"/>
              <a:t> </a:t>
            </a:r>
            <a:r>
              <a:rPr lang="es-ES" dirty="0" err="1"/>
              <a:t>obstetrica</a:t>
            </a:r>
            <a:r>
              <a:rPr lang="es-ES" dirty="0"/>
              <a:t> y Doppler feto placentario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ES" dirty="0" err="1"/>
              <a:t>Nst</a:t>
            </a:r>
            <a:endParaRPr lang="es-ES" dirty="0"/>
          </a:p>
          <a:p>
            <a:pPr>
              <a:buFont typeface="Wingdings" panose="05000000000000000000" pitchFamily="2" charset="2"/>
              <a:buChar char="Ø"/>
            </a:pPr>
            <a:r>
              <a:rPr lang="es-ES" dirty="0"/>
              <a:t>ECG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ES" dirty="0"/>
              <a:t>Pautas de alarma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ES" dirty="0"/>
              <a:t>En caso de signos de severidad: internación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5717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Tratamiento farmacológico uso VO</a:t>
            </a:r>
            <a:endParaRPr lang="en-US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8782" y="1243825"/>
            <a:ext cx="9005829" cy="561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035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8382" y="4055163"/>
            <a:ext cx="11147109" cy="2285322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3014" y="437320"/>
            <a:ext cx="3617843" cy="361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679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31670" y="531345"/>
            <a:ext cx="6834195" cy="6027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712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Prevención de la Eclampsia en Preeclampsia Grave:</a:t>
            </a:r>
            <a:endParaRPr lang="en-US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7023" y="2650435"/>
            <a:ext cx="10570822" cy="2239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485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>
                <a:solidFill>
                  <a:prstClr val="black">
                    <a:lumMod val="75000"/>
                    <a:lumOff val="25000"/>
                  </a:prstClr>
                </a:solidFill>
                <a:ea typeface="+mn-ea"/>
                <a:cs typeface="+mn-cs"/>
              </a:rPr>
              <a:t>Administración de Sulfato de Magnesio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89212" y="1298713"/>
            <a:ext cx="8915400" cy="55592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 </a:t>
            </a:r>
            <a:endParaRPr lang="es-ES" sz="2400" dirty="0"/>
          </a:p>
          <a:p>
            <a:r>
              <a:rPr lang="es-ES" sz="2800" b="1" dirty="0"/>
              <a:t>Dosis de ataque: </a:t>
            </a:r>
            <a:r>
              <a:rPr lang="es-ES" sz="2800" dirty="0"/>
              <a:t>Comenzar con 5 g de Sulfato de Magnesio en 10 cc Dextrosa 5% o Sol </a:t>
            </a:r>
            <a:r>
              <a:rPr lang="es-ES" sz="2800" dirty="0" err="1"/>
              <a:t>Ringer</a:t>
            </a:r>
            <a:r>
              <a:rPr lang="es-ES" sz="2800" dirty="0"/>
              <a:t>, en bolo endovenoso lento, a pasar en 10-15 minutos. </a:t>
            </a:r>
          </a:p>
          <a:p>
            <a:r>
              <a:rPr lang="es-ES" sz="2800" b="1" dirty="0"/>
              <a:t>Mantenimiento</a:t>
            </a:r>
            <a:r>
              <a:rPr lang="es-ES" sz="2800" dirty="0"/>
              <a:t>: Continuar con un goteo de 20 g de sulfato de magnesio en 500cc Sol Dextrosa al 5% o Sol </a:t>
            </a:r>
            <a:r>
              <a:rPr lang="es-ES" sz="2800" dirty="0" err="1"/>
              <a:t>Ringer</a:t>
            </a:r>
            <a:r>
              <a:rPr lang="es-ES" sz="2800" dirty="0"/>
              <a:t>, con bomba de infusión. </a:t>
            </a:r>
          </a:p>
          <a:p>
            <a:r>
              <a:rPr lang="es-ES" sz="2800" b="1" dirty="0"/>
              <a:t>Duración del tratamiento</a:t>
            </a:r>
            <a:r>
              <a:rPr lang="es-ES" sz="2800" dirty="0"/>
              <a:t>: 24 hs, tanto en el embarazo como en el puerperio.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48805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3200" dirty="0">
                <a:solidFill>
                  <a:prstClr val="black">
                    <a:lumMod val="75000"/>
                    <a:lumOff val="25000"/>
                  </a:prstClr>
                </a:solidFill>
                <a:ea typeface="+mn-ea"/>
                <a:cs typeface="+mn-cs"/>
              </a:rPr>
              <a:t>Monitoreo clínico de la paciente con Sulfato de Magnesio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  <a:ea typeface="+mn-ea"/>
                <a:cs typeface="+mn-cs"/>
              </a:rPr>
              <a:t>: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89212" y="2133599"/>
            <a:ext cx="8915400" cy="4161183"/>
          </a:xfrm>
        </p:spPr>
        <p:txBody>
          <a:bodyPr>
            <a:normAutofit/>
          </a:bodyPr>
          <a:lstStyle/>
          <a:p>
            <a:r>
              <a:rPr lang="es-ES" sz="2800" u="sng" dirty="0"/>
              <a:t>El tratamiento debe garantizar los siguientes criterios</a:t>
            </a:r>
            <a:r>
              <a:rPr lang="es-ES" sz="2800" dirty="0"/>
              <a:t>: </a:t>
            </a:r>
          </a:p>
          <a:p>
            <a:endParaRPr lang="es-ES" sz="2800" b="1" dirty="0"/>
          </a:p>
          <a:p>
            <a:r>
              <a:rPr lang="es-ES" sz="2800" b="1" dirty="0"/>
              <a:t>1</a:t>
            </a:r>
            <a:r>
              <a:rPr lang="es-ES" sz="2800" dirty="0"/>
              <a:t>. Reflejo rotuliano presente </a:t>
            </a:r>
          </a:p>
          <a:p>
            <a:r>
              <a:rPr lang="es-ES" sz="2800" b="1" dirty="0"/>
              <a:t>2</a:t>
            </a:r>
            <a:r>
              <a:rPr lang="es-ES" sz="2800" dirty="0"/>
              <a:t>. Frecuencia respiratoria mayor a 16 respiraciones /minuto </a:t>
            </a:r>
          </a:p>
          <a:p>
            <a:r>
              <a:rPr lang="es-ES" sz="2800" b="1" dirty="0"/>
              <a:t>3</a:t>
            </a:r>
            <a:r>
              <a:rPr lang="es-ES" sz="2800" dirty="0"/>
              <a:t>. Diuresis mayor a 100 ml/h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39812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89212" y="742123"/>
            <a:ext cx="8915400" cy="5751442"/>
          </a:xfrm>
        </p:spPr>
        <p:txBody>
          <a:bodyPr>
            <a:noAutofit/>
          </a:bodyPr>
          <a:lstStyle/>
          <a:p>
            <a:r>
              <a:rPr lang="es-ES" sz="3200" u="sng" dirty="0"/>
              <a:t>Ante sospecha clínica de intoxicación (disminución de la frecuencia respiratoria, depresión respiratoria, paro respiratorio, bradicardia o paro cardíaco): </a:t>
            </a:r>
          </a:p>
          <a:p>
            <a:pPr marL="0" indent="0">
              <a:buNone/>
            </a:pPr>
            <a:endParaRPr lang="es-ES" sz="2400" dirty="0"/>
          </a:p>
          <a:p>
            <a:r>
              <a:rPr lang="es-ES" sz="2800" dirty="0"/>
              <a:t>El </a:t>
            </a:r>
            <a:r>
              <a:rPr lang="es-ES" sz="2800" dirty="0">
                <a:solidFill>
                  <a:srgbClr val="FF0000"/>
                </a:solidFill>
              </a:rPr>
              <a:t>Gluconato de Calcio</a:t>
            </a:r>
            <a:r>
              <a:rPr lang="es-ES" sz="2800" dirty="0"/>
              <a:t>, es el antídoto, y se administrará 1g IV lento. </a:t>
            </a:r>
          </a:p>
          <a:p>
            <a:r>
              <a:rPr lang="es-ES" sz="2800" dirty="0">
                <a:solidFill>
                  <a:srgbClr val="FF0000"/>
                </a:solidFill>
              </a:rPr>
              <a:t>Administre Oxígeno </a:t>
            </a:r>
            <a:r>
              <a:rPr lang="es-ES" sz="2800" dirty="0"/>
              <a:t>a 4 l/min. por catéter nasal o 10 l/min.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60927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6784" y="911086"/>
            <a:ext cx="6535602" cy="498613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4821" y="3397408"/>
            <a:ext cx="2966761" cy="2925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346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dirty="0">
                <a:solidFill>
                  <a:prstClr val="black">
                    <a:lumMod val="75000"/>
                    <a:lumOff val="25000"/>
                  </a:prstClr>
                </a:solidFill>
                <a:ea typeface="+mn-ea"/>
                <a:cs typeface="+mn-cs"/>
              </a:rPr>
              <a:t>Indicaciones para la interrupción de la gestación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89212" y="1656523"/>
            <a:ext cx="8915400" cy="520147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2800" dirty="0"/>
              <a:t> </a:t>
            </a:r>
          </a:p>
          <a:p>
            <a:r>
              <a:rPr lang="es-ES" sz="3200" dirty="0"/>
              <a:t>Cifras hipertensivas refractarias al tratamiento </a:t>
            </a:r>
          </a:p>
          <a:p>
            <a:r>
              <a:rPr lang="es-ES" sz="3200" dirty="0"/>
              <a:t> Alteración de la vitalidad fetal </a:t>
            </a:r>
          </a:p>
          <a:p>
            <a:r>
              <a:rPr lang="es-ES" sz="3200" dirty="0"/>
              <a:t> Restricción del Crecimiento Intrauterino Severo/Oligoamnios severo </a:t>
            </a:r>
          </a:p>
          <a:p>
            <a:r>
              <a:rPr lang="es-ES" sz="3200" dirty="0"/>
              <a:t> Eclampsia. </a:t>
            </a:r>
          </a:p>
          <a:p>
            <a:r>
              <a:rPr lang="es-ES" sz="3200" dirty="0"/>
              <a:t> Desprendimiento Prematuro de Placenta</a:t>
            </a:r>
          </a:p>
          <a:p>
            <a:r>
              <a:rPr lang="es-ES" sz="3200" dirty="0"/>
              <a:t>Impacto de órganos blancos </a:t>
            </a:r>
          </a:p>
        </p:txBody>
      </p:sp>
    </p:spTree>
    <p:extLst>
      <p:ext uri="{BB962C8B-B14F-4D97-AF65-F5344CB8AC3E}">
        <p14:creationId xmlns:p14="http://schemas.microsoft.com/office/powerpoint/2010/main" val="1470969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 </a:t>
            </a:r>
            <a:r>
              <a:rPr lang="es-ES" dirty="0">
                <a:solidFill>
                  <a:prstClr val="black">
                    <a:lumMod val="75000"/>
                    <a:lumOff val="25000"/>
                  </a:prstClr>
                </a:solidFill>
                <a:ea typeface="+mn-ea"/>
                <a:cs typeface="+mn-cs"/>
              </a:rPr>
              <a:t>Vía del parto: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89212" y="1905000"/>
            <a:ext cx="8915400" cy="4747590"/>
          </a:xfrm>
        </p:spPr>
        <p:txBody>
          <a:bodyPr>
            <a:normAutofit/>
          </a:bodyPr>
          <a:lstStyle/>
          <a:p>
            <a:r>
              <a:rPr lang="es-ES" sz="2800" dirty="0"/>
              <a:t>Estará determinada por las características individuales de cada caso. </a:t>
            </a:r>
          </a:p>
          <a:p>
            <a:r>
              <a:rPr lang="es-ES" sz="2800" dirty="0"/>
              <a:t>No se contraindica el parto vaginal. </a:t>
            </a:r>
            <a:r>
              <a:rPr lang="es-ES" sz="2800" dirty="0" err="1"/>
              <a:t>Bishop</a:t>
            </a:r>
            <a:r>
              <a:rPr lang="es-ES" sz="2800" dirty="0"/>
              <a:t>: &gt; 6</a:t>
            </a:r>
          </a:p>
          <a:p>
            <a:r>
              <a:rPr lang="es-ES" sz="2800" dirty="0"/>
              <a:t>La vía del parto dependerá del estado de salud materno y fetal. </a:t>
            </a:r>
          </a:p>
          <a:p>
            <a:r>
              <a:rPr lang="es-ES" sz="2800" dirty="0"/>
              <a:t>La decisión del parto o cesárea se realizará cuando la paciente se encuentre estabilizada. </a:t>
            </a:r>
          </a:p>
        </p:txBody>
      </p:sp>
    </p:spTree>
    <p:extLst>
      <p:ext uri="{BB962C8B-B14F-4D97-AF65-F5344CB8AC3E}">
        <p14:creationId xmlns:p14="http://schemas.microsoft.com/office/powerpoint/2010/main" val="1217013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342900" lvl="0" indent="-342900" algn="ctr">
              <a:spcBef>
                <a:spcPts val="1000"/>
              </a:spcBef>
            </a:pPr>
            <a:r>
              <a:rPr lang="es-ES" b="1" u="sng" dirty="0">
                <a:solidFill>
                  <a:prstClr val="black">
                    <a:lumMod val="75000"/>
                    <a:lumOff val="25000"/>
                  </a:prstClr>
                </a:solidFill>
                <a:ea typeface="+mn-ea"/>
                <a:cs typeface="+mn-cs"/>
              </a:rPr>
              <a:t>Manejo intraparto de los Trastornos Hipertensivos</a:t>
            </a:r>
            <a:r>
              <a:rPr lang="es-ES" dirty="0">
                <a:solidFill>
                  <a:prstClr val="black">
                    <a:lumMod val="75000"/>
                    <a:lumOff val="25000"/>
                  </a:prstClr>
                </a:solidFill>
                <a:ea typeface="+mn-ea"/>
                <a:cs typeface="+mn-cs"/>
              </a:rPr>
              <a:t> </a:t>
            </a:r>
            <a:r>
              <a:rPr lang="es-ES" sz="2800" dirty="0">
                <a:solidFill>
                  <a:prstClr val="black">
                    <a:lumMod val="75000"/>
                    <a:lumOff val="25000"/>
                  </a:prstClr>
                </a:solidFill>
                <a:ea typeface="+mn-ea"/>
                <a:cs typeface="+mn-cs"/>
              </a:rPr>
              <a:t/>
            </a:r>
            <a:br>
              <a:rPr lang="es-ES" sz="2800" dirty="0">
                <a:solidFill>
                  <a:prstClr val="black">
                    <a:lumMod val="75000"/>
                    <a:lumOff val="25000"/>
                  </a:prstClr>
                </a:solidFill>
                <a:ea typeface="+mn-ea"/>
                <a:cs typeface="+mn-cs"/>
              </a:rPr>
            </a:b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545496"/>
          </a:xfrm>
        </p:spPr>
        <p:txBody>
          <a:bodyPr>
            <a:normAutofit/>
          </a:bodyPr>
          <a:lstStyle/>
          <a:p>
            <a:pPr lvl="0">
              <a:buClr>
                <a:srgbClr val="A53010"/>
              </a:buClr>
            </a:pPr>
            <a:r>
              <a:rPr lang="es-ES" sz="2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Control estricto de TA (registro horario) y de aparición de signos o síntomas que predicen eclampsia. </a:t>
            </a:r>
          </a:p>
          <a:p>
            <a:pPr lvl="0">
              <a:buClr>
                <a:srgbClr val="A53010"/>
              </a:buClr>
            </a:pPr>
            <a:r>
              <a:rPr lang="es-ES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Se recomienda realizar siempre manejo activo del 3er periodo del parto con Oxitocina EV. </a:t>
            </a:r>
          </a:p>
          <a:p>
            <a:pPr lvl="0">
              <a:buClr>
                <a:srgbClr val="A53010"/>
              </a:buClr>
            </a:pPr>
            <a:r>
              <a:rPr lang="es-ES" sz="3200" b="1" dirty="0">
                <a:solidFill>
                  <a:srgbClr val="FF0000"/>
                </a:solidFill>
              </a:rPr>
              <a:t>Se contraindica el uso de </a:t>
            </a:r>
            <a:r>
              <a:rPr lang="es-ES" sz="3200" b="1" dirty="0" err="1">
                <a:solidFill>
                  <a:srgbClr val="FF0000"/>
                </a:solidFill>
              </a:rPr>
              <a:t>ergotamina</a:t>
            </a:r>
            <a:r>
              <a:rPr lang="es-ES" sz="3200" b="1" dirty="0">
                <a:solidFill>
                  <a:srgbClr val="FF0000"/>
                </a:solidFill>
              </a:rPr>
              <a:t>, por su acción vasoconstrictora potente</a:t>
            </a:r>
            <a:r>
              <a:rPr lang="es-ES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  <a:endParaRPr lang="en-US" sz="32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676215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42900" lvl="0" indent="-342900">
              <a:spcBef>
                <a:spcPts val="1000"/>
              </a:spcBef>
            </a:pPr>
            <a:r>
              <a:rPr lang="es-ES" dirty="0">
                <a:solidFill>
                  <a:prstClr val="black">
                    <a:lumMod val="75000"/>
                    <a:lumOff val="25000"/>
                  </a:prstClr>
                </a:solidFill>
                <a:ea typeface="+mn-ea"/>
                <a:cs typeface="+mn-cs"/>
              </a:rPr>
              <a:t>Anestesia- Analgesia</a:t>
            </a:r>
            <a:r>
              <a:rPr lang="es-ES" u="sng" dirty="0">
                <a:solidFill>
                  <a:prstClr val="black">
                    <a:lumMod val="75000"/>
                    <a:lumOff val="25000"/>
                  </a:prstClr>
                </a:solidFill>
                <a:ea typeface="+mn-ea"/>
                <a:cs typeface="+mn-cs"/>
              </a:rPr>
              <a:t/>
            </a:r>
            <a:br>
              <a:rPr lang="es-ES" u="sng" dirty="0">
                <a:solidFill>
                  <a:prstClr val="black">
                    <a:lumMod val="75000"/>
                    <a:lumOff val="25000"/>
                  </a:prstClr>
                </a:solidFill>
                <a:ea typeface="+mn-ea"/>
                <a:cs typeface="+mn-cs"/>
              </a:rPr>
            </a:b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598504"/>
          </a:xfrm>
        </p:spPr>
        <p:txBody>
          <a:bodyPr>
            <a:noAutofit/>
          </a:bodyPr>
          <a:lstStyle/>
          <a:p>
            <a:r>
              <a:rPr lang="es-ES" sz="2800" dirty="0"/>
              <a:t>La analgesia peridural es considerada el método preferido de alivio de dolor en las mujeres con hipertensión gestacional y pre-eclampsia. </a:t>
            </a:r>
          </a:p>
          <a:p>
            <a:r>
              <a:rPr lang="es-ES" sz="2800" dirty="0"/>
              <a:t>La peridural es considerada el método de elección para la cesárea. </a:t>
            </a:r>
          </a:p>
          <a:p>
            <a:r>
              <a:rPr lang="es-ES" sz="2800" dirty="0">
                <a:solidFill>
                  <a:srgbClr val="FF0000"/>
                </a:solidFill>
              </a:rPr>
              <a:t>Está contraindicada cuando hay coagulopatía y trombocitopenia. (recuento de plaquetas menor 50,000/ mm3) 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6356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5708</TotalTime>
  <Words>2002</Words>
  <Application>Microsoft Office PowerPoint</Application>
  <PresentationFormat>Panorámica</PresentationFormat>
  <Paragraphs>189</Paragraphs>
  <Slides>65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65</vt:i4>
      </vt:variant>
    </vt:vector>
  </HeadingPairs>
  <TitlesOfParts>
    <vt:vector size="74" baseType="lpstr">
      <vt:lpstr>Arial</vt:lpstr>
      <vt:lpstr>Bahnschrift</vt:lpstr>
      <vt:lpstr>Bahnschrift Light</vt:lpstr>
      <vt:lpstr>Bahnschrift SemiLight</vt:lpstr>
      <vt:lpstr>Cambria Math</vt:lpstr>
      <vt:lpstr>Century Gothic</vt:lpstr>
      <vt:lpstr>Wingdings</vt:lpstr>
      <vt:lpstr>Wingdings 3</vt:lpstr>
      <vt:lpstr>Espiral</vt:lpstr>
      <vt:lpstr>Estados hipertensivos del Embarazo</vt:lpstr>
      <vt:lpstr>Introducción  </vt:lpstr>
      <vt:lpstr>Presentación de PowerPoint</vt:lpstr>
      <vt:lpstr>Presentación de PowerPoint</vt:lpstr>
      <vt:lpstr>Placentación normal al inicio de la gestación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Definición </vt:lpstr>
      <vt:lpstr>Categorización de los trastornos hipertensivos del embarazo</vt:lpstr>
      <vt:lpstr>Presentación de PowerPoint</vt:lpstr>
      <vt:lpstr>Presentación de PowerPoint</vt:lpstr>
      <vt:lpstr>Presentación de PowerPoint</vt:lpstr>
      <vt:lpstr>Presentación de PowerPoint</vt:lpstr>
      <vt:lpstr>Criterios 2013, ACOG, Task Force on Hypertension in Pregnancy: indicadores de Severidad </vt:lpstr>
      <vt:lpstr>Presentación de PowerPoint</vt:lpstr>
      <vt:lpstr>Presentación de PowerPoint</vt:lpstr>
      <vt:lpstr>PREVENCION DE LA PREECLMPSIA</vt:lpstr>
      <vt:lpstr> 1) Factores de riesgo</vt:lpstr>
      <vt:lpstr>Presentación de PowerPoint</vt:lpstr>
      <vt:lpstr>3) Ecografía Obstétrica y Doppler </vt:lpstr>
      <vt:lpstr>Presentación de PowerPoint</vt:lpstr>
      <vt:lpstr>Presentación de PowerPoint</vt:lpstr>
      <vt:lpstr>Diagnostico de Preeclampsia</vt:lpstr>
      <vt:lpstr>Estudios complementarios</vt:lpstr>
      <vt:lpstr>Presentación de PowerPoint</vt:lpstr>
      <vt:lpstr>Criterios de internación</vt:lpstr>
      <vt:lpstr>Presentación de PowerPoint</vt:lpstr>
      <vt:lpstr>Tratamiento </vt:lpstr>
      <vt:lpstr>Presentación de PowerPoint</vt:lpstr>
      <vt:lpstr>Presentación de PowerPoint</vt:lpstr>
      <vt:lpstr>Hipertensión gestacional</vt:lpstr>
      <vt:lpstr>Preeclampsia </vt:lpstr>
      <vt:lpstr>Presentación de PowerPoint</vt:lpstr>
      <vt:lpstr>PE sobreimpuesta </vt:lpstr>
      <vt:lpstr>Tratamiento farmacológico uso VO</vt:lpstr>
      <vt:lpstr>Presentación de PowerPoint</vt:lpstr>
      <vt:lpstr>Presentación de PowerPoint</vt:lpstr>
      <vt:lpstr>Prevención de la Eclampsia en Preeclampsia Grave:</vt:lpstr>
      <vt:lpstr>Administración de Sulfato de Magnesio</vt:lpstr>
      <vt:lpstr>Monitoreo clínico de la paciente con Sulfato de Magnesio:</vt:lpstr>
      <vt:lpstr>Presentación de PowerPoint</vt:lpstr>
      <vt:lpstr>Presentación de PowerPoint</vt:lpstr>
      <vt:lpstr>Indicaciones para la interrupción de la gestación</vt:lpstr>
      <vt:lpstr> Vía del parto:</vt:lpstr>
      <vt:lpstr>Manejo intraparto de los Trastornos Hipertensivos  </vt:lpstr>
      <vt:lpstr>Anestesia- Analgesia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Alejandra Gonzalez</cp:lastModifiedBy>
  <cp:revision>193</cp:revision>
  <dcterms:created xsi:type="dcterms:W3CDTF">2023-10-13T21:35:54Z</dcterms:created>
  <dcterms:modified xsi:type="dcterms:W3CDTF">2026-09-16T13:03:42Z</dcterms:modified>
</cp:coreProperties>
</file>