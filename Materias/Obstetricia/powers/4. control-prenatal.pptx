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81" r:id="rId7"/>
    <p:sldId id="285" r:id="rId8"/>
    <p:sldId id="288" r:id="rId9"/>
    <p:sldId id="287" r:id="rId10"/>
    <p:sldId id="284" r:id="rId11"/>
    <p:sldId id="260" r:id="rId12"/>
    <p:sldId id="283" r:id="rId13"/>
    <p:sldId id="265" r:id="rId14"/>
    <p:sldId id="266" r:id="rId15"/>
    <p:sldId id="267" r:id="rId16"/>
    <p:sldId id="264" r:id="rId17"/>
    <p:sldId id="268" r:id="rId18"/>
    <p:sldId id="290" r:id="rId19"/>
    <p:sldId id="269" r:id="rId20"/>
    <p:sldId id="270" r:id="rId21"/>
    <p:sldId id="271" r:id="rId22"/>
    <p:sldId id="292" r:id="rId23"/>
    <p:sldId id="272" r:id="rId24"/>
    <p:sldId id="311" r:id="rId25"/>
    <p:sldId id="274" r:id="rId26"/>
    <p:sldId id="275" r:id="rId27"/>
    <p:sldId id="277" r:id="rId28"/>
    <p:sldId id="294" r:id="rId29"/>
    <p:sldId id="295" r:id="rId30"/>
    <p:sldId id="296" r:id="rId31"/>
    <p:sldId id="297" r:id="rId32"/>
    <p:sldId id="298" r:id="rId33"/>
    <p:sldId id="293" r:id="rId34"/>
    <p:sldId id="279" r:id="rId35"/>
    <p:sldId id="280" r:id="rId36"/>
    <p:sldId id="299" r:id="rId37"/>
    <p:sldId id="310" r:id="rId38"/>
    <p:sldId id="301" r:id="rId39"/>
    <p:sldId id="302" r:id="rId40"/>
    <p:sldId id="303" r:id="rId41"/>
    <p:sldId id="304" r:id="rId42"/>
    <p:sldId id="305" r:id="rId43"/>
    <p:sldId id="306" r:id="rId4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CC572A-4C8A-42DF-A7A8-3BE2052CCD64}" v="9" dt="2026-10-03T16:30:24.4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 Abagianos" userId="c3412709c3f47186" providerId="LiveId" clId="{4864BBFC-C434-445D-B7CF-C56DC57DAA8A}"/>
    <pc:docChg chg="custSel delSld modSld">
      <pc:chgData name="Andreas Abagianos" userId="c3412709c3f47186" providerId="LiveId" clId="{4864BBFC-C434-445D-B7CF-C56DC57DAA8A}" dt="2026-10-03T16:34:22.326" v="48" actId="47"/>
      <pc:docMkLst>
        <pc:docMk/>
      </pc:docMkLst>
      <pc:sldChg chg="delSp modSp mod">
        <pc:chgData name="Andreas Abagianos" userId="c3412709c3f47186" providerId="LiveId" clId="{4864BBFC-C434-445D-B7CF-C56DC57DAA8A}" dt="2026-10-03T16:32:33.709" v="37" actId="13926"/>
        <pc:sldMkLst>
          <pc:docMk/>
          <pc:sldMk cId="2180319108" sldId="258"/>
        </pc:sldMkLst>
        <pc:spChg chg="mod">
          <ac:chgData name="Andreas Abagianos" userId="c3412709c3f47186" providerId="LiveId" clId="{4864BBFC-C434-445D-B7CF-C56DC57DAA8A}" dt="2026-10-03T16:32:33.709" v="37" actId="13926"/>
          <ac:spMkLst>
            <pc:docMk/>
            <pc:sldMk cId="2180319108" sldId="258"/>
            <ac:spMk id="3" creationId="{00000000-0000-0000-0000-000000000000}"/>
          </ac:spMkLst>
        </pc:spChg>
        <pc:picChg chg="del">
          <ac:chgData name="Andreas Abagianos" userId="c3412709c3f47186" providerId="LiveId" clId="{4864BBFC-C434-445D-B7CF-C56DC57DAA8A}" dt="2026-10-03T16:32:19.406" v="28" actId="478"/>
          <ac:picMkLst>
            <pc:docMk/>
            <pc:sldMk cId="2180319108" sldId="258"/>
            <ac:picMk id="5" creationId="{00000000-0000-0000-0000-000000000000}"/>
          </ac:picMkLst>
        </pc:picChg>
        <pc:picChg chg="del">
          <ac:chgData name="Andreas Abagianos" userId="c3412709c3f47186" providerId="LiveId" clId="{4864BBFC-C434-445D-B7CF-C56DC57DAA8A}" dt="2026-10-03T16:32:16.169" v="26" actId="478"/>
          <ac:picMkLst>
            <pc:docMk/>
            <pc:sldMk cId="2180319108" sldId="258"/>
            <ac:picMk id="7" creationId="{00000000-0000-0000-0000-000000000000}"/>
          </ac:picMkLst>
        </pc:picChg>
        <pc:picChg chg="del">
          <ac:chgData name="Andreas Abagianos" userId="c3412709c3f47186" providerId="LiveId" clId="{4864BBFC-C434-445D-B7CF-C56DC57DAA8A}" dt="2026-10-03T16:32:18.611" v="27" actId="478"/>
          <ac:picMkLst>
            <pc:docMk/>
            <pc:sldMk cId="2180319108" sldId="258"/>
            <ac:picMk id="8" creationId="{00000000-0000-0000-0000-000000000000}"/>
          </ac:picMkLst>
        </pc:picChg>
        <pc:picChg chg="del">
          <ac:chgData name="Andreas Abagianos" userId="c3412709c3f47186" providerId="LiveId" clId="{4864BBFC-C434-445D-B7CF-C56DC57DAA8A}" dt="2026-10-03T16:32:13.164" v="25" actId="478"/>
          <ac:picMkLst>
            <pc:docMk/>
            <pc:sldMk cId="2180319108" sldId="258"/>
            <ac:picMk id="9" creationId="{00000000-0000-0000-0000-000000000000}"/>
          </ac:picMkLst>
        </pc:picChg>
        <pc:picChg chg="del">
          <ac:chgData name="Andreas Abagianos" userId="c3412709c3f47186" providerId="LiveId" clId="{4864BBFC-C434-445D-B7CF-C56DC57DAA8A}" dt="2026-10-03T16:32:10.925" v="24" actId="478"/>
          <ac:picMkLst>
            <pc:docMk/>
            <pc:sldMk cId="2180319108" sldId="258"/>
            <ac:picMk id="10" creationId="{00000000-0000-0000-0000-000000000000}"/>
          </ac:picMkLst>
        </pc:picChg>
      </pc:sldChg>
      <pc:sldChg chg="delSp del mod">
        <pc:chgData name="Andreas Abagianos" userId="c3412709c3f47186" providerId="LiveId" clId="{4864BBFC-C434-445D-B7CF-C56DC57DAA8A}" dt="2026-10-03T16:32:00.846" v="23" actId="47"/>
        <pc:sldMkLst>
          <pc:docMk/>
          <pc:sldMk cId="1098185518" sldId="262"/>
        </pc:sldMkLst>
        <pc:spChg chg="del">
          <ac:chgData name="Andreas Abagianos" userId="c3412709c3f47186" providerId="LiveId" clId="{4864BBFC-C434-445D-B7CF-C56DC57DAA8A}" dt="2026-10-03T16:31:50.424" v="22" actId="478"/>
          <ac:spMkLst>
            <pc:docMk/>
            <pc:sldMk cId="1098185518" sldId="262"/>
            <ac:spMk id="2" creationId="{00000000-0000-0000-0000-000000000000}"/>
          </ac:spMkLst>
        </pc:spChg>
      </pc:sldChg>
      <pc:sldChg chg="del">
        <pc:chgData name="Andreas Abagianos" userId="c3412709c3f47186" providerId="LiveId" clId="{4864BBFC-C434-445D-B7CF-C56DC57DAA8A}" dt="2026-10-03T16:31:14.128" v="17" actId="47"/>
        <pc:sldMkLst>
          <pc:docMk/>
          <pc:sldMk cId="4170729296" sldId="263"/>
        </pc:sldMkLst>
      </pc:sldChg>
      <pc:sldChg chg="delSp mod">
        <pc:chgData name="Andreas Abagianos" userId="c3412709c3f47186" providerId="LiveId" clId="{4864BBFC-C434-445D-B7CF-C56DC57DAA8A}" dt="2026-10-03T16:31:03.743" v="16" actId="478"/>
        <pc:sldMkLst>
          <pc:docMk/>
          <pc:sldMk cId="3000686735" sldId="265"/>
        </pc:sldMkLst>
        <pc:picChg chg="del">
          <ac:chgData name="Andreas Abagianos" userId="c3412709c3f47186" providerId="LiveId" clId="{4864BBFC-C434-445D-B7CF-C56DC57DAA8A}" dt="2026-10-03T16:31:03.743" v="16" actId="478"/>
          <ac:picMkLst>
            <pc:docMk/>
            <pc:sldMk cId="3000686735" sldId="265"/>
            <ac:picMk id="4" creationId="{00000000-0000-0000-0000-000000000000}"/>
          </ac:picMkLst>
        </pc:picChg>
      </pc:sldChg>
      <pc:sldChg chg="delSp mod">
        <pc:chgData name="Andreas Abagianos" userId="c3412709c3f47186" providerId="LiveId" clId="{4864BBFC-C434-445D-B7CF-C56DC57DAA8A}" dt="2026-10-03T16:30:59.660" v="15" actId="478"/>
        <pc:sldMkLst>
          <pc:docMk/>
          <pc:sldMk cId="2515861539" sldId="266"/>
        </pc:sldMkLst>
        <pc:picChg chg="del">
          <ac:chgData name="Andreas Abagianos" userId="c3412709c3f47186" providerId="LiveId" clId="{4864BBFC-C434-445D-B7CF-C56DC57DAA8A}" dt="2026-10-03T16:30:54.976" v="14" actId="478"/>
          <ac:picMkLst>
            <pc:docMk/>
            <pc:sldMk cId="2515861539" sldId="266"/>
            <ac:picMk id="4" creationId="{00000000-0000-0000-0000-000000000000}"/>
          </ac:picMkLst>
        </pc:picChg>
        <pc:picChg chg="del">
          <ac:chgData name="Andreas Abagianos" userId="c3412709c3f47186" providerId="LiveId" clId="{4864BBFC-C434-445D-B7CF-C56DC57DAA8A}" dt="2026-10-03T16:30:51.566" v="13" actId="478"/>
          <ac:picMkLst>
            <pc:docMk/>
            <pc:sldMk cId="2515861539" sldId="266"/>
            <ac:picMk id="6" creationId="{00000000-0000-0000-0000-000000000000}"/>
          </ac:picMkLst>
        </pc:picChg>
        <pc:picChg chg="del">
          <ac:chgData name="Andreas Abagianos" userId="c3412709c3f47186" providerId="LiveId" clId="{4864BBFC-C434-445D-B7CF-C56DC57DAA8A}" dt="2026-10-03T16:30:59.660" v="15" actId="478"/>
          <ac:picMkLst>
            <pc:docMk/>
            <pc:sldMk cId="2515861539" sldId="266"/>
            <ac:picMk id="8" creationId="{00000000-0000-0000-0000-000000000000}"/>
          </ac:picMkLst>
        </pc:picChg>
      </pc:sldChg>
      <pc:sldChg chg="delSp mod">
        <pc:chgData name="Andreas Abagianos" userId="c3412709c3f47186" providerId="LiveId" clId="{4864BBFC-C434-445D-B7CF-C56DC57DAA8A}" dt="2026-10-03T16:30:39.066" v="12" actId="478"/>
        <pc:sldMkLst>
          <pc:docMk/>
          <pc:sldMk cId="163570388" sldId="268"/>
        </pc:sldMkLst>
        <pc:picChg chg="del">
          <ac:chgData name="Andreas Abagianos" userId="c3412709c3f47186" providerId="LiveId" clId="{4864BBFC-C434-445D-B7CF-C56DC57DAA8A}" dt="2026-10-03T16:30:39.066" v="12" actId="478"/>
          <ac:picMkLst>
            <pc:docMk/>
            <pc:sldMk cId="163570388" sldId="268"/>
            <ac:picMk id="3" creationId="{00000000-0000-0000-0000-000000000000}"/>
          </ac:picMkLst>
        </pc:picChg>
      </pc:sldChg>
      <pc:sldChg chg="delSp modSp mod">
        <pc:chgData name="Andreas Abagianos" userId="c3412709c3f47186" providerId="LiveId" clId="{4864BBFC-C434-445D-B7CF-C56DC57DAA8A}" dt="2026-10-03T16:30:27.684" v="11" actId="478"/>
        <pc:sldMkLst>
          <pc:docMk/>
          <pc:sldMk cId="3473828783" sldId="269"/>
        </pc:sldMkLst>
        <pc:spChg chg="del">
          <ac:chgData name="Andreas Abagianos" userId="c3412709c3f47186" providerId="LiveId" clId="{4864BBFC-C434-445D-B7CF-C56DC57DAA8A}" dt="2026-10-03T16:30:27.684" v="11" actId="478"/>
          <ac:spMkLst>
            <pc:docMk/>
            <pc:sldMk cId="3473828783" sldId="269"/>
            <ac:spMk id="2" creationId="{00000000-0000-0000-0000-000000000000}"/>
          </ac:spMkLst>
        </pc:spChg>
        <pc:picChg chg="mod">
          <ac:chgData name="Andreas Abagianos" userId="c3412709c3f47186" providerId="LiveId" clId="{4864BBFC-C434-445D-B7CF-C56DC57DAA8A}" dt="2026-10-03T16:30:24.472" v="10" actId="1076"/>
          <ac:picMkLst>
            <pc:docMk/>
            <pc:sldMk cId="3473828783" sldId="269"/>
            <ac:picMk id="4" creationId="{00000000-0000-0000-0000-000000000000}"/>
          </ac:picMkLst>
        </pc:picChg>
      </pc:sldChg>
      <pc:sldChg chg="modSp">
        <pc:chgData name="Andreas Abagianos" userId="c3412709c3f47186" providerId="LiveId" clId="{4864BBFC-C434-445D-B7CF-C56DC57DAA8A}" dt="2026-10-03T16:30:03.943" v="6" actId="1076"/>
        <pc:sldMkLst>
          <pc:docMk/>
          <pc:sldMk cId="4231932828" sldId="271"/>
        </pc:sldMkLst>
        <pc:picChg chg="mod">
          <ac:chgData name="Andreas Abagianos" userId="c3412709c3f47186" providerId="LiveId" clId="{4864BBFC-C434-445D-B7CF-C56DC57DAA8A}" dt="2026-10-03T16:30:03.943" v="6" actId="1076"/>
          <ac:picMkLst>
            <pc:docMk/>
            <pc:sldMk cId="4231932828" sldId="271"/>
            <ac:picMk id="4" creationId="{00000000-0000-0000-0000-000000000000}"/>
          </ac:picMkLst>
        </pc:picChg>
      </pc:sldChg>
      <pc:sldChg chg="delSp mod">
        <pc:chgData name="Andreas Abagianos" userId="c3412709c3f47186" providerId="LiveId" clId="{4864BBFC-C434-445D-B7CF-C56DC57DAA8A}" dt="2026-10-03T16:29:48.233" v="1" actId="478"/>
        <pc:sldMkLst>
          <pc:docMk/>
          <pc:sldMk cId="2578207511" sldId="274"/>
        </pc:sldMkLst>
        <pc:picChg chg="del">
          <ac:chgData name="Andreas Abagianos" userId="c3412709c3f47186" providerId="LiveId" clId="{4864BBFC-C434-445D-B7CF-C56DC57DAA8A}" dt="2026-10-03T16:29:48.233" v="1" actId="478"/>
          <ac:picMkLst>
            <pc:docMk/>
            <pc:sldMk cId="2578207511" sldId="274"/>
            <ac:picMk id="4" creationId="{00000000-0000-0000-0000-000000000000}"/>
          </ac:picMkLst>
        </pc:picChg>
      </pc:sldChg>
      <pc:sldChg chg="del">
        <pc:chgData name="Andreas Abagianos" userId="c3412709c3f47186" providerId="LiveId" clId="{4864BBFC-C434-445D-B7CF-C56DC57DAA8A}" dt="2026-10-03T16:29:40.125" v="0" actId="2696"/>
        <pc:sldMkLst>
          <pc:docMk/>
          <pc:sldMk cId="2636291853" sldId="276"/>
        </pc:sldMkLst>
      </pc:sldChg>
      <pc:sldChg chg="delSp mod">
        <pc:chgData name="Andreas Abagianos" userId="c3412709c3f47186" providerId="LiveId" clId="{4864BBFC-C434-445D-B7CF-C56DC57DAA8A}" dt="2026-10-03T16:33:35.701" v="43" actId="478"/>
        <pc:sldMkLst>
          <pc:docMk/>
          <pc:sldMk cId="2266575542" sldId="280"/>
        </pc:sldMkLst>
        <pc:picChg chg="del">
          <ac:chgData name="Andreas Abagianos" userId="c3412709c3f47186" providerId="LiveId" clId="{4864BBFC-C434-445D-B7CF-C56DC57DAA8A}" dt="2026-10-03T16:33:35.701" v="43" actId="478"/>
          <ac:picMkLst>
            <pc:docMk/>
            <pc:sldMk cId="2266575542" sldId="280"/>
            <ac:picMk id="4" creationId="{00000000-0000-0000-0000-000000000000}"/>
          </ac:picMkLst>
        </pc:picChg>
      </pc:sldChg>
      <pc:sldChg chg="addSp delSp modSp mod">
        <pc:chgData name="Andreas Abagianos" userId="c3412709c3f47186" providerId="LiveId" clId="{4864BBFC-C434-445D-B7CF-C56DC57DAA8A}" dt="2026-10-03T16:31:43.345" v="21" actId="1076"/>
        <pc:sldMkLst>
          <pc:docMk/>
          <pc:sldMk cId="292136476" sldId="288"/>
        </pc:sldMkLst>
        <pc:spChg chg="add del mod">
          <ac:chgData name="Andreas Abagianos" userId="c3412709c3f47186" providerId="LiveId" clId="{4864BBFC-C434-445D-B7CF-C56DC57DAA8A}" dt="2026-10-03T16:31:41.882" v="20" actId="478"/>
          <ac:spMkLst>
            <pc:docMk/>
            <pc:sldMk cId="292136476" sldId="288"/>
            <ac:spMk id="3" creationId="{D4CBE574-C840-0107-2B30-C5B807761B08}"/>
          </ac:spMkLst>
        </pc:spChg>
        <pc:picChg chg="del">
          <ac:chgData name="Andreas Abagianos" userId="c3412709c3f47186" providerId="LiveId" clId="{4864BBFC-C434-445D-B7CF-C56DC57DAA8A}" dt="2026-10-03T16:31:39.177" v="19" actId="478"/>
          <ac:picMkLst>
            <pc:docMk/>
            <pc:sldMk cId="292136476" sldId="288"/>
            <ac:picMk id="4" creationId="{00000000-0000-0000-0000-000000000000}"/>
          </ac:picMkLst>
        </pc:picChg>
        <pc:picChg chg="mod">
          <ac:chgData name="Andreas Abagianos" userId="c3412709c3f47186" providerId="LiveId" clId="{4864BBFC-C434-445D-B7CF-C56DC57DAA8A}" dt="2026-10-03T16:31:43.345" v="21" actId="1076"/>
          <ac:picMkLst>
            <pc:docMk/>
            <pc:sldMk cId="292136476" sldId="288"/>
            <ac:picMk id="7" creationId="{00000000-0000-0000-0000-000000000000}"/>
          </ac:picMkLst>
        </pc:picChg>
      </pc:sldChg>
      <pc:sldChg chg="delSp mod">
        <pc:chgData name="Andreas Abagianos" userId="c3412709c3f47186" providerId="LiveId" clId="{4864BBFC-C434-445D-B7CF-C56DC57DAA8A}" dt="2026-10-03T16:33:26.677" v="42" actId="478"/>
        <pc:sldMkLst>
          <pc:docMk/>
          <pc:sldMk cId="600595224" sldId="293"/>
        </pc:sldMkLst>
        <pc:picChg chg="del">
          <ac:chgData name="Andreas Abagianos" userId="c3412709c3f47186" providerId="LiveId" clId="{4864BBFC-C434-445D-B7CF-C56DC57DAA8A}" dt="2026-10-03T16:33:26.677" v="42" actId="478"/>
          <ac:picMkLst>
            <pc:docMk/>
            <pc:sldMk cId="600595224" sldId="293"/>
            <ac:picMk id="6" creationId="{00000000-0000-0000-0000-000000000000}"/>
          </ac:picMkLst>
        </pc:picChg>
      </pc:sldChg>
      <pc:sldChg chg="addSp delSp modSp mod">
        <pc:chgData name="Andreas Abagianos" userId="c3412709c3f47186" providerId="LiveId" clId="{4864BBFC-C434-445D-B7CF-C56DC57DAA8A}" dt="2026-10-03T16:33:03.372" v="41" actId="1076"/>
        <pc:sldMkLst>
          <pc:docMk/>
          <pc:sldMk cId="1504063050" sldId="294"/>
        </pc:sldMkLst>
        <pc:spChg chg="add del mod">
          <ac:chgData name="Andreas Abagianos" userId="c3412709c3f47186" providerId="LiveId" clId="{4864BBFC-C434-445D-B7CF-C56DC57DAA8A}" dt="2026-10-03T16:33:01.337" v="40" actId="478"/>
          <ac:spMkLst>
            <pc:docMk/>
            <pc:sldMk cId="1504063050" sldId="294"/>
            <ac:spMk id="3" creationId="{C6D66848-4A4B-CBA7-9730-60EE17B7D455}"/>
          </ac:spMkLst>
        </pc:spChg>
        <pc:picChg chg="del">
          <ac:chgData name="Andreas Abagianos" userId="c3412709c3f47186" providerId="LiveId" clId="{4864BBFC-C434-445D-B7CF-C56DC57DAA8A}" dt="2026-10-03T16:32:58.994" v="39" actId="478"/>
          <ac:picMkLst>
            <pc:docMk/>
            <pc:sldMk cId="1504063050" sldId="294"/>
            <ac:picMk id="4" creationId="{00000000-0000-0000-0000-000000000000}"/>
          </ac:picMkLst>
        </pc:picChg>
        <pc:picChg chg="mod">
          <ac:chgData name="Andreas Abagianos" userId="c3412709c3f47186" providerId="LiveId" clId="{4864BBFC-C434-445D-B7CF-C56DC57DAA8A}" dt="2026-10-03T16:33:03.372" v="41" actId="1076"/>
          <ac:picMkLst>
            <pc:docMk/>
            <pc:sldMk cId="1504063050" sldId="294"/>
            <ac:picMk id="8" creationId="{00000000-0000-0000-0000-000000000000}"/>
          </ac:picMkLst>
        </pc:picChg>
      </pc:sldChg>
      <pc:sldChg chg="delSp mod">
        <pc:chgData name="Andreas Abagianos" userId="c3412709c3f47186" providerId="LiveId" clId="{4864BBFC-C434-445D-B7CF-C56DC57DAA8A}" dt="2026-10-03T16:33:40.165" v="44" actId="478"/>
        <pc:sldMkLst>
          <pc:docMk/>
          <pc:sldMk cId="2732489974" sldId="301"/>
        </pc:sldMkLst>
        <pc:picChg chg="del">
          <ac:chgData name="Andreas Abagianos" userId="c3412709c3f47186" providerId="LiveId" clId="{4864BBFC-C434-445D-B7CF-C56DC57DAA8A}" dt="2026-10-03T16:33:40.165" v="44" actId="478"/>
          <ac:picMkLst>
            <pc:docMk/>
            <pc:sldMk cId="2732489974" sldId="301"/>
            <ac:picMk id="5" creationId="{00000000-0000-0000-0000-000000000000}"/>
          </ac:picMkLst>
        </pc:picChg>
      </pc:sldChg>
      <pc:sldChg chg="delSp mod">
        <pc:chgData name="Andreas Abagianos" userId="c3412709c3f47186" providerId="LiveId" clId="{4864BBFC-C434-445D-B7CF-C56DC57DAA8A}" dt="2026-10-03T16:33:48.057" v="45" actId="478"/>
        <pc:sldMkLst>
          <pc:docMk/>
          <pc:sldMk cId="2949094373" sldId="304"/>
        </pc:sldMkLst>
        <pc:picChg chg="del">
          <ac:chgData name="Andreas Abagianos" userId="c3412709c3f47186" providerId="LiveId" clId="{4864BBFC-C434-445D-B7CF-C56DC57DAA8A}" dt="2026-10-03T16:33:48.057" v="45" actId="478"/>
          <ac:picMkLst>
            <pc:docMk/>
            <pc:sldMk cId="2949094373" sldId="304"/>
            <ac:picMk id="4" creationId="{00000000-0000-0000-0000-000000000000}"/>
          </ac:picMkLst>
        </pc:picChg>
      </pc:sldChg>
      <pc:sldChg chg="delSp mod">
        <pc:chgData name="Andreas Abagianos" userId="c3412709c3f47186" providerId="LiveId" clId="{4864BBFC-C434-445D-B7CF-C56DC57DAA8A}" dt="2026-10-03T16:34:08.176" v="46" actId="478"/>
        <pc:sldMkLst>
          <pc:docMk/>
          <pc:sldMk cId="3579109561" sldId="306"/>
        </pc:sldMkLst>
        <pc:picChg chg="del">
          <ac:chgData name="Andreas Abagianos" userId="c3412709c3f47186" providerId="LiveId" clId="{4864BBFC-C434-445D-B7CF-C56DC57DAA8A}" dt="2026-10-03T16:34:08.176" v="46" actId="478"/>
          <ac:picMkLst>
            <pc:docMk/>
            <pc:sldMk cId="3579109561" sldId="306"/>
            <ac:picMk id="4" creationId="{00000000-0000-0000-0000-000000000000}"/>
          </ac:picMkLst>
        </pc:picChg>
      </pc:sldChg>
      <pc:sldChg chg="del">
        <pc:chgData name="Andreas Abagianos" userId="c3412709c3f47186" providerId="LiveId" clId="{4864BBFC-C434-445D-B7CF-C56DC57DAA8A}" dt="2026-10-03T16:34:22.326" v="48" actId="47"/>
        <pc:sldMkLst>
          <pc:docMk/>
          <pc:sldMk cId="2956939448" sldId="309"/>
        </pc:sldMkLst>
      </pc:sldChg>
      <pc:sldChg chg="del">
        <pc:chgData name="Andreas Abagianos" userId="c3412709c3f47186" providerId="LiveId" clId="{4864BBFC-C434-445D-B7CF-C56DC57DAA8A}" dt="2026-10-03T16:31:22.100" v="18" actId="47"/>
        <pc:sldMkLst>
          <pc:docMk/>
          <pc:sldMk cId="382898560" sldId="312"/>
        </pc:sldMkLst>
      </pc:sldChg>
      <pc:sldChg chg="del">
        <pc:chgData name="Andreas Abagianos" userId="c3412709c3f47186" providerId="LiveId" clId="{4864BBFC-C434-445D-B7CF-C56DC57DAA8A}" dt="2026-10-03T16:34:19.038" v="47" actId="47"/>
        <pc:sldMkLst>
          <pc:docMk/>
          <pc:sldMk cId="1513514171" sldId="31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59450-D8C6-4676-8664-E5D70FD89D50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EB3D-4450-4715-B41F-6CCC1BB880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4821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59450-D8C6-4676-8664-E5D70FD89D50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EB3D-4450-4715-B41F-6CCC1BB880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91258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59450-D8C6-4676-8664-E5D70FD89D50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EB3D-4450-4715-B41F-6CCC1BB880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486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59450-D8C6-4676-8664-E5D70FD89D50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EB3D-4450-4715-B41F-6CCC1BB880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86844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59450-D8C6-4676-8664-E5D70FD89D50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EB3D-4450-4715-B41F-6CCC1BB880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55039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59450-D8C6-4676-8664-E5D70FD89D50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EB3D-4450-4715-B41F-6CCC1BB880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94411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59450-D8C6-4676-8664-E5D70FD89D50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EB3D-4450-4715-B41F-6CCC1BB880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8827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59450-D8C6-4676-8664-E5D70FD89D50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EB3D-4450-4715-B41F-6CCC1BB880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50372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59450-D8C6-4676-8664-E5D70FD89D50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EB3D-4450-4715-B41F-6CCC1BB880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25670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59450-D8C6-4676-8664-E5D70FD89D50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EB3D-4450-4715-B41F-6CCC1BB880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42676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59450-D8C6-4676-8664-E5D70FD89D50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EB3D-4450-4715-B41F-6CCC1BB880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56164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59450-D8C6-4676-8664-E5D70FD89D50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EB3D-4450-4715-B41F-6CCC1BB880A2}" type="slidenum">
              <a:rPr lang="es-AR" smtClean="0"/>
              <a:t>‹Nº›</a:t>
            </a:fld>
            <a:endParaRPr lang="es-AR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913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59450-D8C6-4676-8664-E5D70FD89D50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EB3D-4450-4715-B41F-6CCC1BB880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4942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59450-D8C6-4676-8664-E5D70FD89D50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EB3D-4450-4715-B41F-6CCC1BB880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66853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59450-D8C6-4676-8664-E5D70FD89D50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EB3D-4450-4715-B41F-6CCC1BB880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33401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59450-D8C6-4676-8664-E5D70FD89D50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EB3D-4450-4715-B41F-6CCC1BB880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25377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59450-D8C6-4676-8664-E5D70FD89D50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EB3D-4450-4715-B41F-6CCC1BB880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27894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8659450-D8C6-4676-8664-E5D70FD89D50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5F1EB3D-4450-4715-B41F-6CCC1BB880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76765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5400" dirty="0"/>
              <a:t>Control prenatal</a:t>
            </a:r>
            <a:endParaRPr lang="es-AR" sz="5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51012" y="4945487"/>
            <a:ext cx="8689976" cy="134101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s-ES" dirty="0"/>
              <a:t>CATEDRA DE OBSTETRICIA</a:t>
            </a:r>
          </a:p>
          <a:p>
            <a:pPr algn="l"/>
            <a:r>
              <a:rPr lang="es-ES" dirty="0"/>
              <a:t>2026</a:t>
            </a:r>
          </a:p>
          <a:p>
            <a:pPr algn="l"/>
            <a:r>
              <a:rPr lang="es-ES" dirty="0"/>
              <a:t>Dra. Gonzalez Alejandra</a:t>
            </a:r>
            <a:endParaRPr lang="es-AR" dirty="0"/>
          </a:p>
        </p:txBody>
      </p:sp>
      <p:pic>
        <p:nvPicPr>
          <p:cNvPr id="4" name="Picture 2" descr="Universidad de Mendoza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7705" y="553791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6757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CONTROL PRENATAL</a:t>
            </a:r>
            <a:endParaRPr lang="es-AR" dirty="0">
              <a:solidFill>
                <a:srgbClr val="FF000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A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Serie de contactos, entrevistas o visitas programadas de la embarazada con el equipo de salud, con el objetivo de vigilar la evolución del embarazo y obtener una adecuada preparación para el parto y la crianza del niño</a:t>
            </a:r>
            <a:endParaRPr lang="es-AR" sz="2800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424177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CARACTERISTICAS DEL CONTROL PRENATAL</a:t>
            </a:r>
            <a:endParaRPr lang="es-AR" dirty="0">
              <a:solidFill>
                <a:srgbClr val="FF000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913774" y="1880316"/>
            <a:ext cx="10363826" cy="4726546"/>
          </a:xfrm>
        </p:spPr>
        <p:txBody>
          <a:bodyPr/>
          <a:lstStyle/>
          <a:p>
            <a:r>
              <a:rPr lang="es-ES" b="1" dirty="0">
                <a:highlight>
                  <a:srgbClr val="FFFF00"/>
                </a:highlight>
              </a:rPr>
              <a:t>PRECOZ </a:t>
            </a:r>
          </a:p>
          <a:p>
            <a:r>
              <a:rPr lang="es-ES" b="1" dirty="0">
                <a:highlight>
                  <a:srgbClr val="FFFF00"/>
                </a:highlight>
              </a:rPr>
              <a:t>PERIODICO</a:t>
            </a:r>
          </a:p>
          <a:p>
            <a:r>
              <a:rPr lang="es-ES" b="1" dirty="0">
                <a:highlight>
                  <a:srgbClr val="FFFF00"/>
                </a:highlight>
              </a:rPr>
              <a:t>COMPLETO</a:t>
            </a:r>
          </a:p>
          <a:p>
            <a:r>
              <a:rPr lang="es-ES" b="1" dirty="0">
                <a:highlight>
                  <a:srgbClr val="FFFF00"/>
                </a:highlight>
              </a:rPr>
              <a:t>AMPLIA COVERTURA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80319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OBJETIVOS</a:t>
            </a:r>
            <a:endParaRPr lang="es-AR" dirty="0"/>
          </a:p>
        </p:txBody>
      </p:sp>
      <p:sp>
        <p:nvSpPr>
          <p:cNvPr id="15" name="Marcador de contenido 1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Brindar contenido educativo para la salud de la madre</a:t>
            </a:r>
          </a:p>
          <a:p>
            <a:r>
              <a:rPr lang="es-ES" dirty="0"/>
              <a:t>Prevenir, diagnosticar y tratar las complicaciones del embarazo</a:t>
            </a:r>
          </a:p>
          <a:p>
            <a:r>
              <a:rPr lang="es-ES" dirty="0"/>
              <a:t>Vigilar el crecimiento y vitalidad del feto</a:t>
            </a:r>
          </a:p>
          <a:p>
            <a:r>
              <a:rPr lang="es-ES" dirty="0"/>
              <a:t>Detectar y tratar enfermedades maternas</a:t>
            </a:r>
          </a:p>
          <a:p>
            <a:r>
              <a:rPr lang="es-ES" dirty="0"/>
              <a:t>Aliviar molestias y síntomas asociados al embarazo</a:t>
            </a:r>
          </a:p>
          <a:p>
            <a:r>
              <a:rPr lang="es-ES" dirty="0"/>
              <a:t>Preparar a la embarazada física y psicológicamente para el nacimiento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7447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DIAGNOSTICO DE EMBARAZO </a:t>
            </a:r>
            <a:endParaRPr lang="es-AR" dirty="0">
              <a:solidFill>
                <a:srgbClr val="FF000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AR" sz="1800" dirty="0"/>
              <a:t> pensar en embarazo, en toda mujer con ciclos regulares que presentan un atraso en su menstruación o ante la presencia de cualquier cambio en sus características (cantidad, duración).</a:t>
            </a:r>
          </a:p>
          <a:p>
            <a:pPr marL="285750" indent="-285750"/>
            <a:r>
              <a:rPr lang="es-AR" sz="1800" dirty="0"/>
              <a:t>El diagnostico se basa en:</a:t>
            </a:r>
          </a:p>
          <a:p>
            <a:pPr marL="0" indent="0"/>
            <a:endParaRPr lang="es-AR" sz="1800" dirty="0"/>
          </a:p>
          <a:p>
            <a:pPr lvl="3">
              <a:buFont typeface="Wingdings" pitchFamily="2" charset="2"/>
              <a:buChar char="q"/>
            </a:pPr>
            <a:r>
              <a:rPr lang="es-AR" sz="2400" dirty="0"/>
              <a:t>Signos de presunción (M. generales)</a:t>
            </a:r>
          </a:p>
          <a:p>
            <a:pPr lvl="3">
              <a:buFont typeface="Wingdings" pitchFamily="2" charset="2"/>
              <a:buChar char="q"/>
            </a:pPr>
            <a:r>
              <a:rPr lang="es-AR" sz="2400" dirty="0"/>
              <a:t>Signos de probabilidad (M. locales)</a:t>
            </a:r>
          </a:p>
          <a:p>
            <a:pPr lvl="3">
              <a:buFont typeface="Wingdings" pitchFamily="2" charset="2"/>
              <a:buChar char="q"/>
            </a:pPr>
            <a:r>
              <a:rPr lang="es-AR" sz="2400" dirty="0"/>
              <a:t>Signos de certeza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48030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2708" t="3678" r="20836" b="12207"/>
          <a:stretch/>
        </p:blipFill>
        <p:spPr>
          <a:xfrm>
            <a:off x="1115431" y="322772"/>
            <a:ext cx="9961138" cy="616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07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23989" t="14192" r="23989" b="18515"/>
          <a:stretch/>
        </p:blipFill>
        <p:spPr>
          <a:xfrm>
            <a:off x="1976047" y="618517"/>
            <a:ext cx="8239906" cy="599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86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Determinación sub beta </a:t>
            </a:r>
            <a:r>
              <a:rPr lang="es-ES" dirty="0" err="1"/>
              <a:t>hcg</a:t>
            </a:r>
            <a:endParaRPr lang="es-AR" dirty="0"/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sz="quarter" idx="14"/>
          </p:nvPr>
        </p:nvPicPr>
        <p:blipFill rotWithShape="1">
          <a:blip r:embed="rId2"/>
          <a:srcRect l="57705" t="29932" r="4205" b="33725"/>
          <a:stretch/>
        </p:blipFill>
        <p:spPr>
          <a:xfrm>
            <a:off x="3942863" y="2802511"/>
            <a:ext cx="4722792" cy="253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36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2"/>
          <a:srcRect l="20477" t="19687" r="19200" b="13916"/>
          <a:stretch/>
        </p:blipFill>
        <p:spPr>
          <a:xfrm>
            <a:off x="1171977" y="344262"/>
            <a:ext cx="9787005" cy="605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453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53737" t="30545" r="7778" b="14919"/>
          <a:stretch/>
        </p:blipFill>
        <p:spPr>
          <a:xfrm>
            <a:off x="2286830" y="528365"/>
            <a:ext cx="7618340" cy="606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075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EVALUACION DE RIESGO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AR" b="1" dirty="0"/>
              <a:t>A- Características individuales o condiciones socio-demográficas desfavorables</a:t>
            </a:r>
          </a:p>
          <a:p>
            <a:pPr marL="285750" indent="-285750"/>
            <a:r>
              <a:rPr lang="es-AR" dirty="0"/>
              <a:t>Edad</a:t>
            </a:r>
          </a:p>
          <a:p>
            <a:pPr marL="285750" indent="-285750"/>
            <a:r>
              <a:rPr lang="es-AR" dirty="0"/>
              <a:t>Ocupación</a:t>
            </a:r>
          </a:p>
          <a:p>
            <a:pPr marL="285750" indent="-285750"/>
            <a:r>
              <a:rPr lang="es-AR" dirty="0"/>
              <a:t>Nutrición</a:t>
            </a:r>
          </a:p>
          <a:p>
            <a:pPr marL="285750" indent="-285750"/>
            <a:r>
              <a:rPr lang="es-AR" dirty="0"/>
              <a:t>Analfabetismo</a:t>
            </a:r>
          </a:p>
          <a:p>
            <a:r>
              <a:rPr lang="es-AR" b="1" dirty="0"/>
              <a:t>B- Antecedentes obstétricos </a:t>
            </a:r>
          </a:p>
          <a:p>
            <a:endParaRPr lang="es-AR" b="1" dirty="0"/>
          </a:p>
          <a:p>
            <a:r>
              <a:rPr lang="es-AR" b="1" dirty="0"/>
              <a:t>C- Patología del embarazo actual</a:t>
            </a:r>
          </a:p>
          <a:p>
            <a:pPr marL="0" indent="0">
              <a:buNone/>
            </a:pPr>
            <a:endParaRPr lang="es-AR" dirty="0"/>
          </a:p>
          <a:p>
            <a:r>
              <a:rPr lang="es-AR" b="1" dirty="0"/>
              <a:t>D- Patologías maternas previas al embarazo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25884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CALCULO DE EDAD GESTACIONAL</a:t>
            </a:r>
            <a:endParaRPr lang="es-AR" dirty="0">
              <a:solidFill>
                <a:srgbClr val="FF000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s-AR" b="1" dirty="0">
                <a:solidFill>
                  <a:srgbClr val="C00000"/>
                </a:solidFill>
              </a:rPr>
              <a:t>FUM: </a:t>
            </a:r>
            <a:r>
              <a:rPr lang="es-AR" dirty="0"/>
              <a:t>En mujeres con FUM confiable y ciclos regulares. CON EL GESTOGRAMA Y CALCULADORAS ON LINE</a:t>
            </a:r>
          </a:p>
          <a:p>
            <a:pPr>
              <a:buFont typeface="Wingdings" pitchFamily="2" charset="2"/>
              <a:buChar char="§"/>
            </a:pPr>
            <a:endParaRPr lang="es-AR" dirty="0">
              <a:solidFill>
                <a:srgbClr val="FF9933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s-AR" b="1" dirty="0">
                <a:solidFill>
                  <a:srgbClr val="C00000"/>
                </a:solidFill>
              </a:rPr>
              <a:t>Biometría ecográfica</a:t>
            </a:r>
            <a:r>
              <a:rPr lang="es-AR" dirty="0">
                <a:solidFill>
                  <a:srgbClr val="C00000"/>
                </a:solidFill>
              </a:rPr>
              <a:t>: </a:t>
            </a:r>
            <a:r>
              <a:rPr lang="es-AR" dirty="0"/>
              <a:t>antes de las 14 semanas. Se calcula generalmente por la medida de la longitud embrionaria máxima.</a:t>
            </a:r>
          </a:p>
          <a:p>
            <a:pPr>
              <a:buFont typeface="Wingdings" pitchFamily="2" charset="2"/>
              <a:buChar char="§"/>
            </a:pPr>
            <a:endParaRPr lang="es-AR" dirty="0">
              <a:solidFill>
                <a:srgbClr val="FF9933"/>
              </a:solidFill>
            </a:endParaRP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914912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EXAMEN FISICO</a:t>
            </a:r>
            <a:endParaRPr lang="es-AR" dirty="0">
              <a:solidFill>
                <a:srgbClr val="FF0000"/>
              </a:solidFill>
            </a:endParaRPr>
          </a:p>
        </p:txBody>
      </p:sp>
      <p:sp>
        <p:nvSpPr>
          <p:cNvPr id="5" name="Marcador de contenido 4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917798"/>
          </a:xfrm>
        </p:spPr>
        <p:txBody>
          <a:bodyPr/>
          <a:lstStyle/>
          <a:p>
            <a:pPr marL="285750" indent="-285750"/>
            <a:endParaRPr lang="es-AR" dirty="0"/>
          </a:p>
          <a:p>
            <a:pPr marL="285750" indent="-285750"/>
            <a:r>
              <a:rPr lang="es-AR" dirty="0"/>
              <a:t>Inspección de piel, mucosas, hidratación, cianosis, etc.</a:t>
            </a:r>
          </a:p>
          <a:p>
            <a:pPr marL="285750" indent="-285750"/>
            <a:r>
              <a:rPr lang="es-AR" dirty="0"/>
              <a:t>Inspección de los miembros inferiores (várices, edemas).</a:t>
            </a:r>
          </a:p>
          <a:p>
            <a:pPr marL="285750" indent="-285750"/>
            <a:r>
              <a:rPr lang="es-AR" dirty="0"/>
              <a:t>Palpación abdominal, puño percusión lumbar.</a:t>
            </a:r>
          </a:p>
          <a:p>
            <a:pPr marL="285750" indent="-285750"/>
            <a:r>
              <a:rPr lang="es-AR" dirty="0"/>
              <a:t>Auscultación cardiaca. Detección de cardiopatías.</a:t>
            </a:r>
          </a:p>
          <a:p>
            <a:pPr marL="285750" indent="-285750"/>
            <a:r>
              <a:rPr lang="es-AR" b="1" dirty="0"/>
              <a:t>Tensión arterial</a:t>
            </a:r>
            <a:r>
              <a:rPr lang="es-AR" dirty="0"/>
              <a:t> ( en todos los </a:t>
            </a:r>
            <a:r>
              <a:rPr lang="es-AR"/>
              <a:t>controles prenatales)</a:t>
            </a:r>
            <a:endParaRPr lang="es-AR" dirty="0"/>
          </a:p>
          <a:p>
            <a:pPr marL="285750" indent="-285750"/>
            <a:r>
              <a:rPr lang="es-AR" dirty="0"/>
              <a:t>Medidas de talla y peso. IMC</a:t>
            </a:r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000686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913774" y="618186"/>
            <a:ext cx="10363826" cy="5847008"/>
          </a:xfrm>
        </p:spPr>
        <p:txBody>
          <a:bodyPr>
            <a:normAutofit/>
          </a:bodyPr>
          <a:lstStyle/>
          <a:p>
            <a:pPr marL="285750" indent="-285750"/>
            <a:r>
              <a:rPr lang="es-AR" dirty="0"/>
              <a:t>Examen ginecológico: inspección vulvo-perineal.</a:t>
            </a:r>
          </a:p>
          <a:p>
            <a:endParaRPr lang="es-AR" dirty="0"/>
          </a:p>
          <a:p>
            <a:pPr marL="285750" indent="-285750"/>
            <a:r>
              <a:rPr lang="es-AR" dirty="0"/>
              <a:t>Pap y colposcopía.</a:t>
            </a:r>
          </a:p>
          <a:p>
            <a:endParaRPr lang="es-AR" dirty="0"/>
          </a:p>
          <a:p>
            <a:pPr marL="285750" indent="-285750"/>
            <a:r>
              <a:rPr lang="es-AR" dirty="0"/>
              <a:t>Examen mamario.</a:t>
            </a:r>
          </a:p>
          <a:p>
            <a:endParaRPr lang="es-AR" dirty="0"/>
          </a:p>
          <a:p>
            <a:pPr marL="285750" indent="-285750"/>
            <a:endParaRPr lang="es-AR" dirty="0"/>
          </a:p>
          <a:p>
            <a:pPr marL="285750" indent="-285750"/>
            <a:r>
              <a:rPr lang="es-AR" dirty="0"/>
              <a:t>Examen odontológico</a:t>
            </a:r>
          </a:p>
          <a:p>
            <a:endParaRPr lang="es-AR" dirty="0"/>
          </a:p>
          <a:p>
            <a:pPr marL="285750" indent="-285750"/>
            <a:r>
              <a:rPr lang="es-AR" dirty="0"/>
              <a:t>Evaluación nutricional</a:t>
            </a:r>
          </a:p>
          <a:p>
            <a:endParaRPr lang="es-AR" dirty="0"/>
          </a:p>
        </p:txBody>
      </p:sp>
      <p:pic>
        <p:nvPicPr>
          <p:cNvPr id="5" name="Marcador de contenido 5"/>
          <p:cNvPicPr>
            <a:picLocks noChangeAspect="1"/>
          </p:cNvPicPr>
          <p:nvPr/>
        </p:nvPicPr>
        <p:blipFill rotWithShape="1">
          <a:blip r:embed="rId2"/>
          <a:srcRect l="54794" t="41452" r="4184" b="15671"/>
          <a:stretch/>
        </p:blipFill>
        <p:spPr>
          <a:xfrm>
            <a:off x="4327302" y="1339403"/>
            <a:ext cx="2498502" cy="1468191"/>
          </a:xfrm>
          <a:prstGeom prst="rect">
            <a:avLst/>
          </a:prstGeom>
        </p:spPr>
      </p:pic>
      <p:pic>
        <p:nvPicPr>
          <p:cNvPr id="7" name="Marcador de contenido 11"/>
          <p:cNvPicPr>
            <a:picLocks noChangeAspect="1"/>
          </p:cNvPicPr>
          <p:nvPr/>
        </p:nvPicPr>
        <p:blipFill rotWithShape="1">
          <a:blip r:embed="rId3"/>
          <a:srcRect l="53947" t="29794" r="3549" b="18679"/>
          <a:stretch/>
        </p:blipFill>
        <p:spPr>
          <a:xfrm>
            <a:off x="4578439" y="2807594"/>
            <a:ext cx="2588653" cy="176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861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913774" y="528034"/>
            <a:ext cx="10363826" cy="6156101"/>
          </a:xfrm>
        </p:spPr>
        <p:txBody>
          <a:bodyPr/>
          <a:lstStyle/>
          <a:p>
            <a:r>
              <a:rPr lang="es-AR" b="1" dirty="0">
                <a:solidFill>
                  <a:srgbClr val="C00000"/>
                </a:solidFill>
              </a:rPr>
              <a:t>EXAMEN DEL ESTADO NUTRICIONAL</a:t>
            </a:r>
          </a:p>
          <a:p>
            <a:r>
              <a:rPr lang="es-AR" dirty="0"/>
              <a:t>Evaluación de la ganancia de peso de la embarazada y en la mujer que planifica embarazarse</a:t>
            </a:r>
          </a:p>
          <a:p>
            <a:r>
              <a:rPr lang="es-AR" dirty="0"/>
              <a:t>se utiliza: </a:t>
            </a:r>
          </a:p>
          <a:p>
            <a:pPr marL="0" indent="0">
              <a:buNone/>
            </a:pPr>
            <a:r>
              <a:rPr lang="es-AR" dirty="0"/>
              <a:t>	Índice de masa corporal según la edad gestacional</a:t>
            </a:r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74" y="3040262"/>
            <a:ext cx="3579628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440" y="3040262"/>
            <a:ext cx="5338157" cy="3643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4121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75" y="321972"/>
            <a:ext cx="10364451" cy="1351810"/>
          </a:xfrm>
        </p:spPr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ECOGRAFIA DEL 1° TRIMESTRE</a:t>
            </a:r>
            <a:endParaRPr lang="es-AR" dirty="0">
              <a:solidFill>
                <a:srgbClr val="FF0000"/>
              </a:solidFill>
            </a:endParaRPr>
          </a:p>
        </p:txBody>
      </p:sp>
      <p:pic>
        <p:nvPicPr>
          <p:cNvPr id="4" name="Marcador de contenido 5"/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30031" t="33183" r="34238" b="16644"/>
          <a:stretch/>
        </p:blipFill>
        <p:spPr>
          <a:xfrm>
            <a:off x="913774" y="2228046"/>
            <a:ext cx="3206840" cy="2531704"/>
          </a:xfrm>
          <a:prstGeom prst="rect">
            <a:avLst/>
          </a:prstGeom>
        </p:spPr>
      </p:pic>
      <p:pic>
        <p:nvPicPr>
          <p:cNvPr id="5" name="Marcador de contenido 8"/>
          <p:cNvPicPr>
            <a:picLocks noChangeAspect="1"/>
          </p:cNvPicPr>
          <p:nvPr/>
        </p:nvPicPr>
        <p:blipFill rotWithShape="1">
          <a:blip r:embed="rId3"/>
          <a:srcRect l="28596" t="29838" r="31912" b="13300"/>
          <a:stretch/>
        </p:blipFill>
        <p:spPr>
          <a:xfrm>
            <a:off x="4372813" y="2735904"/>
            <a:ext cx="3896717" cy="3154484"/>
          </a:xfrm>
          <a:prstGeom prst="rect">
            <a:avLst/>
          </a:prstGeom>
        </p:spPr>
      </p:pic>
      <p:pic>
        <p:nvPicPr>
          <p:cNvPr id="6" name="Marcador de contenido 3"/>
          <p:cNvPicPr>
            <a:picLocks noChangeAspect="1"/>
          </p:cNvPicPr>
          <p:nvPr/>
        </p:nvPicPr>
        <p:blipFill rotWithShape="1">
          <a:blip r:embed="rId4"/>
          <a:srcRect l="11444" t="34213" r="41401" b="9246"/>
          <a:stretch/>
        </p:blipFill>
        <p:spPr>
          <a:xfrm>
            <a:off x="8521729" y="4205485"/>
            <a:ext cx="2871989" cy="2047740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4572000" y="2163651"/>
            <a:ext cx="6284890" cy="47651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ECOGRAFIA OBSTETRICA CON DOPPLER DE ARTERIAS UTERINAS</a:t>
            </a:r>
            <a:endParaRPr lang="es-AR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8521729" y="2884868"/>
            <a:ext cx="2979105" cy="4121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EMBARAZO 11 a 13,6 SEM</a:t>
            </a:r>
            <a:endParaRPr lang="es-AR" dirty="0"/>
          </a:p>
        </p:txBody>
      </p:sp>
      <p:sp>
        <p:nvSpPr>
          <p:cNvPr id="10" name="Rectángulo 9"/>
          <p:cNvSpPr/>
          <p:nvPr/>
        </p:nvSpPr>
        <p:spPr>
          <a:xfrm>
            <a:off x="913775" y="1673782"/>
            <a:ext cx="3040040" cy="335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EMBARAZO DE 6 SEM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64568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laboratorio</a:t>
            </a:r>
            <a:endParaRPr lang="es-AR" dirty="0">
              <a:solidFill>
                <a:srgbClr val="FF0000"/>
              </a:solidFill>
            </a:endParaRPr>
          </a:p>
        </p:txBody>
      </p:sp>
      <p:sp>
        <p:nvSpPr>
          <p:cNvPr id="15" name="Marcador de contenido 14"/>
          <p:cNvSpPr>
            <a:spLocks noGrp="1"/>
          </p:cNvSpPr>
          <p:nvPr>
            <p:ph sz="quarter" idx="13"/>
          </p:nvPr>
        </p:nvSpPr>
        <p:spPr>
          <a:xfrm>
            <a:off x="913774" y="2099256"/>
            <a:ext cx="10363826" cy="4533364"/>
          </a:xfrm>
        </p:spPr>
        <p:txBody>
          <a:bodyPr>
            <a:normAutofit/>
          </a:bodyPr>
          <a:lstStyle/>
          <a:p>
            <a:r>
              <a:rPr lang="es-ES" dirty="0"/>
              <a:t>Hemograma </a:t>
            </a:r>
          </a:p>
          <a:p>
            <a:r>
              <a:rPr lang="es-ES" dirty="0"/>
              <a:t>Glucemia </a:t>
            </a:r>
          </a:p>
          <a:p>
            <a:r>
              <a:rPr lang="es-ES" dirty="0"/>
              <a:t>Urea </a:t>
            </a:r>
          </a:p>
          <a:p>
            <a:r>
              <a:rPr lang="es-ES" dirty="0"/>
              <a:t>Creatinina</a:t>
            </a:r>
          </a:p>
          <a:p>
            <a:r>
              <a:rPr lang="es-ES" dirty="0"/>
              <a:t>Tsh- t4 libre- atpo</a:t>
            </a:r>
          </a:p>
          <a:p>
            <a:r>
              <a:rPr lang="es-ES" dirty="0"/>
              <a:t>Perfil lipídico</a:t>
            </a:r>
          </a:p>
          <a:p>
            <a:r>
              <a:rPr lang="es-ES" dirty="0"/>
              <a:t>Serología (HIV, aGshb, toxoplasmosis, Chagas, vdrl)</a:t>
            </a:r>
          </a:p>
          <a:p>
            <a:r>
              <a:rPr lang="es-ES" dirty="0"/>
              <a:t>Coagulograma, rcto. de plaquetas</a:t>
            </a:r>
          </a:p>
          <a:p>
            <a:r>
              <a:rPr lang="es-ES" dirty="0"/>
              <a:t>Urocultivo, antibiograma, tóxicos en orina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3570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18304" t="31067" r="44150" b="15671"/>
          <a:stretch/>
        </p:blipFill>
        <p:spPr>
          <a:xfrm>
            <a:off x="3885751" y="283336"/>
            <a:ext cx="8086853" cy="6449780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399246" y="618517"/>
            <a:ext cx="3271234" cy="94015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HEMOTERAPIA</a:t>
            </a:r>
            <a:endParaRPr lang="es-AR" dirty="0"/>
          </a:p>
        </p:txBody>
      </p:sp>
      <p:sp>
        <p:nvSpPr>
          <p:cNvPr id="6" name="Elipse 5"/>
          <p:cNvSpPr/>
          <p:nvPr/>
        </p:nvSpPr>
        <p:spPr>
          <a:xfrm>
            <a:off x="985234" y="2214694"/>
            <a:ext cx="2099257" cy="1146692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GRUPO SANGUINEO</a:t>
            </a:r>
            <a:endParaRPr lang="es-AR" dirty="0"/>
          </a:p>
        </p:txBody>
      </p:sp>
      <p:sp>
        <p:nvSpPr>
          <p:cNvPr id="7" name="Elipse 6"/>
          <p:cNvSpPr/>
          <p:nvPr/>
        </p:nvSpPr>
        <p:spPr>
          <a:xfrm>
            <a:off x="1249251" y="4017405"/>
            <a:ext cx="1931831" cy="124925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FACTOR RH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42024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943" y="287290"/>
            <a:ext cx="7695302" cy="6283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ángulo 4"/>
          <p:cNvSpPr/>
          <p:nvPr/>
        </p:nvSpPr>
        <p:spPr>
          <a:xfrm>
            <a:off x="437882" y="450761"/>
            <a:ext cx="656822" cy="61561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</a:t>
            </a:r>
          </a:p>
          <a:p>
            <a:pPr algn="ctr"/>
            <a:r>
              <a:rPr lang="es-ES" dirty="0"/>
              <a:t>N</a:t>
            </a:r>
          </a:p>
          <a:p>
            <a:pPr algn="ctr"/>
            <a:r>
              <a:rPr lang="es-ES" dirty="0"/>
              <a:t>F</a:t>
            </a:r>
          </a:p>
          <a:p>
            <a:pPr algn="ctr"/>
            <a:r>
              <a:rPr lang="es-ES" dirty="0"/>
              <a:t>E</a:t>
            </a:r>
          </a:p>
          <a:p>
            <a:pPr algn="ctr"/>
            <a:r>
              <a:rPr lang="es-ES" dirty="0"/>
              <a:t>C</a:t>
            </a:r>
          </a:p>
          <a:p>
            <a:pPr algn="ctr"/>
            <a:r>
              <a:rPr lang="es-ES" dirty="0"/>
              <a:t>C</a:t>
            </a:r>
          </a:p>
          <a:p>
            <a:pPr algn="ctr"/>
            <a:r>
              <a:rPr lang="es-ES" dirty="0"/>
              <a:t>I</a:t>
            </a:r>
          </a:p>
          <a:p>
            <a:pPr algn="ctr"/>
            <a:r>
              <a:rPr lang="es-ES" dirty="0"/>
              <a:t>Ó</a:t>
            </a:r>
          </a:p>
          <a:p>
            <a:pPr algn="ctr"/>
            <a:r>
              <a:rPr lang="es-ES" dirty="0"/>
              <a:t>N</a:t>
            </a:r>
          </a:p>
          <a:p>
            <a:pPr algn="ctr"/>
            <a:endParaRPr lang="es-ES" dirty="0"/>
          </a:p>
          <a:p>
            <a:pPr algn="ctr"/>
            <a:r>
              <a:rPr lang="es-ES" dirty="0"/>
              <a:t>V</a:t>
            </a:r>
          </a:p>
          <a:p>
            <a:pPr algn="ctr"/>
            <a:r>
              <a:rPr lang="es-ES" dirty="0"/>
              <a:t>U</a:t>
            </a:r>
          </a:p>
          <a:p>
            <a:pPr algn="ctr"/>
            <a:r>
              <a:rPr lang="es-ES" dirty="0"/>
              <a:t>L</a:t>
            </a:r>
          </a:p>
          <a:p>
            <a:pPr algn="ctr"/>
            <a:r>
              <a:rPr lang="es-ES" dirty="0"/>
              <a:t>V</a:t>
            </a:r>
          </a:p>
          <a:p>
            <a:pPr algn="ctr"/>
            <a:r>
              <a:rPr lang="es-ES" dirty="0"/>
              <a:t>O </a:t>
            </a:r>
          </a:p>
          <a:p>
            <a:pPr algn="ctr"/>
            <a:r>
              <a:rPr lang="es-ES" dirty="0"/>
              <a:t>V</a:t>
            </a:r>
          </a:p>
          <a:p>
            <a:pPr algn="ctr"/>
            <a:r>
              <a:rPr lang="es-ES" dirty="0"/>
              <a:t>A</a:t>
            </a:r>
          </a:p>
          <a:p>
            <a:pPr algn="ctr"/>
            <a:r>
              <a:rPr lang="es-ES" dirty="0"/>
              <a:t>G</a:t>
            </a:r>
          </a:p>
          <a:p>
            <a:pPr algn="ctr"/>
            <a:r>
              <a:rPr lang="es-ES" dirty="0"/>
              <a:t>I</a:t>
            </a:r>
          </a:p>
          <a:p>
            <a:pPr algn="ctr"/>
            <a:r>
              <a:rPr lang="es-ES" dirty="0"/>
              <a:t>N</a:t>
            </a:r>
          </a:p>
          <a:p>
            <a:pPr algn="ctr"/>
            <a:r>
              <a:rPr lang="es-ES" dirty="0"/>
              <a:t>A</a:t>
            </a:r>
          </a:p>
          <a:p>
            <a:pPr algn="ctr"/>
            <a:r>
              <a:rPr lang="es-ES" dirty="0"/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3473828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52085" t="59037" r="24865" b="11445"/>
          <a:stretch/>
        </p:blipFill>
        <p:spPr>
          <a:xfrm>
            <a:off x="1649091" y="206062"/>
            <a:ext cx="3924436" cy="2825594"/>
          </a:xfrm>
          <a:prstGeom prst="rect">
            <a:avLst/>
          </a:prstGeom>
        </p:spPr>
      </p:pic>
      <p:pic>
        <p:nvPicPr>
          <p:cNvPr id="5" name="Marcador de contenido 11"/>
          <p:cNvPicPr>
            <a:picLocks noGrp="1" noChangeAspect="1"/>
          </p:cNvPicPr>
          <p:nvPr>
            <p:ph sz="quarter" idx="13"/>
          </p:nvPr>
        </p:nvPicPr>
        <p:blipFill rotWithShape="1">
          <a:blip r:embed="rId3"/>
          <a:srcRect l="17313" t="16458" r="18748" b="16645"/>
          <a:stretch/>
        </p:blipFill>
        <p:spPr>
          <a:xfrm>
            <a:off x="274801" y="3252767"/>
            <a:ext cx="5821199" cy="3424237"/>
          </a:xfrm>
          <a:prstGeom prst="rect">
            <a:avLst/>
          </a:prstGeom>
        </p:spPr>
      </p:pic>
      <p:pic>
        <p:nvPicPr>
          <p:cNvPr id="7" name="Marcador de contenido 10"/>
          <p:cNvPicPr>
            <a:picLocks noChangeAspect="1"/>
          </p:cNvPicPr>
          <p:nvPr/>
        </p:nvPicPr>
        <p:blipFill rotWithShape="1">
          <a:blip r:embed="rId4"/>
          <a:srcRect l="36926" t="36527" r="37373" b="30024"/>
          <a:stretch/>
        </p:blipFill>
        <p:spPr>
          <a:xfrm>
            <a:off x="6308842" y="1898782"/>
            <a:ext cx="5307901" cy="388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363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008" y="189106"/>
            <a:ext cx="8063369" cy="6479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ángulo 4"/>
          <p:cNvSpPr/>
          <p:nvPr/>
        </p:nvSpPr>
        <p:spPr>
          <a:xfrm>
            <a:off x="437882" y="618517"/>
            <a:ext cx="734095" cy="542167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</a:t>
            </a:r>
          </a:p>
          <a:p>
            <a:pPr algn="ctr"/>
            <a:r>
              <a:rPr lang="es-ES" dirty="0"/>
              <a:t>N</a:t>
            </a:r>
          </a:p>
          <a:p>
            <a:pPr algn="ctr"/>
            <a:r>
              <a:rPr lang="es-ES" dirty="0"/>
              <a:t>F</a:t>
            </a:r>
          </a:p>
          <a:p>
            <a:pPr algn="ctr"/>
            <a:r>
              <a:rPr lang="es-ES" dirty="0"/>
              <a:t>E</a:t>
            </a:r>
          </a:p>
          <a:p>
            <a:pPr algn="ctr"/>
            <a:r>
              <a:rPr lang="es-ES" dirty="0"/>
              <a:t>C</a:t>
            </a:r>
          </a:p>
          <a:p>
            <a:pPr algn="ctr"/>
            <a:r>
              <a:rPr lang="es-ES" dirty="0"/>
              <a:t>C</a:t>
            </a:r>
          </a:p>
          <a:p>
            <a:pPr algn="ctr"/>
            <a:r>
              <a:rPr lang="es-ES" dirty="0"/>
              <a:t>I</a:t>
            </a:r>
          </a:p>
          <a:p>
            <a:pPr algn="ctr"/>
            <a:r>
              <a:rPr lang="es-ES" dirty="0"/>
              <a:t>Ó</a:t>
            </a:r>
          </a:p>
          <a:p>
            <a:pPr algn="ctr"/>
            <a:r>
              <a:rPr lang="es-ES" dirty="0"/>
              <a:t>N</a:t>
            </a:r>
          </a:p>
          <a:p>
            <a:pPr algn="ctr"/>
            <a:r>
              <a:rPr lang="es-ES" dirty="0"/>
              <a:t> </a:t>
            </a:r>
          </a:p>
          <a:p>
            <a:pPr algn="ctr"/>
            <a:r>
              <a:rPr lang="es-ES" dirty="0"/>
              <a:t>U</a:t>
            </a:r>
          </a:p>
          <a:p>
            <a:pPr algn="ctr"/>
            <a:r>
              <a:rPr lang="es-ES" dirty="0"/>
              <a:t>R</a:t>
            </a:r>
          </a:p>
          <a:p>
            <a:pPr algn="ctr"/>
            <a:r>
              <a:rPr lang="es-ES" dirty="0"/>
              <a:t>I</a:t>
            </a:r>
          </a:p>
          <a:p>
            <a:pPr algn="ctr"/>
            <a:r>
              <a:rPr lang="es-ES" dirty="0"/>
              <a:t>N</a:t>
            </a:r>
          </a:p>
          <a:p>
            <a:pPr algn="ctr"/>
            <a:r>
              <a:rPr lang="es-ES" dirty="0"/>
              <a:t>A</a:t>
            </a:r>
          </a:p>
          <a:p>
            <a:pPr algn="ctr"/>
            <a:r>
              <a:rPr lang="es-ES" dirty="0"/>
              <a:t>R</a:t>
            </a:r>
          </a:p>
          <a:p>
            <a:pPr algn="ctr"/>
            <a:r>
              <a:rPr lang="es-ES" dirty="0"/>
              <a:t>I</a:t>
            </a:r>
          </a:p>
          <a:p>
            <a:pPr algn="ctr"/>
            <a:r>
              <a:rPr lang="es-ES" dirty="0"/>
              <a:t>A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31932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INDICACIONES MEDICAS </a:t>
            </a:r>
            <a:endParaRPr lang="es-AR" dirty="0">
              <a:solidFill>
                <a:srgbClr val="FF000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913774" y="2367091"/>
            <a:ext cx="10363826" cy="4298751"/>
          </a:xfrm>
        </p:spPr>
        <p:txBody>
          <a:bodyPr>
            <a:normAutofit/>
          </a:bodyPr>
          <a:lstStyle/>
          <a:p>
            <a:endParaRPr lang="es-ES" dirty="0"/>
          </a:p>
          <a:p>
            <a:r>
              <a:rPr lang="es-ES" dirty="0"/>
              <a:t>AC. FOLICO 5 MG/DIA (lo ideal es suministrarlo en periodo preconcepcional, para prevenir el defecto del tubo neural)</a:t>
            </a:r>
          </a:p>
          <a:p>
            <a:r>
              <a:rPr lang="es-ES" dirty="0"/>
              <a:t>METOCLOPRAMIDA GTAS O COMPRIMIDOS (CADA 6-8 HORAS)</a:t>
            </a:r>
          </a:p>
          <a:p>
            <a:r>
              <a:rPr lang="es-ES" dirty="0"/>
              <a:t>VACUNACION ANTIGRIPAL, COMPLETAR ESQUEMAS (HB, DT, COVID)</a:t>
            </a:r>
          </a:p>
          <a:p>
            <a:r>
              <a:rPr lang="es-ES" dirty="0"/>
              <a:t>TTO DE PATOLOGIAS DETECTADAS</a:t>
            </a:r>
          </a:p>
          <a:p>
            <a:r>
              <a:rPr lang="es-ES" dirty="0"/>
              <a:t>Alimentación saludable y actividad física</a:t>
            </a:r>
          </a:p>
          <a:p>
            <a:r>
              <a:rPr lang="es-ES" dirty="0"/>
              <a:t>No consumo de tóxicos (drogas ilícitas, tabaquismo o alcohol)</a:t>
            </a:r>
          </a:p>
          <a:p>
            <a:r>
              <a:rPr lang="es-ES" dirty="0"/>
              <a:t>SIGNOS DE ALARMA</a:t>
            </a:r>
            <a:endParaRPr lang="es-AR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64270" t="37008" r="12560" b="21010"/>
          <a:stretch/>
        </p:blipFill>
        <p:spPr>
          <a:xfrm>
            <a:off x="913774" y="299232"/>
            <a:ext cx="1880316" cy="191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39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59868" t="51607" r="8624" b="5140"/>
          <a:stretch/>
        </p:blipFill>
        <p:spPr>
          <a:xfrm>
            <a:off x="913775" y="618517"/>
            <a:ext cx="10420866" cy="539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274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 cada consulta 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sz="3200" dirty="0"/>
              <a:t>Se realizara evaluación de riesgo de cada embarazada</a:t>
            </a:r>
          </a:p>
          <a:p>
            <a:r>
              <a:rPr lang="es-ES" sz="3200" dirty="0"/>
              <a:t>Se revisaran los estudios solicitados</a:t>
            </a:r>
          </a:p>
          <a:p>
            <a:r>
              <a:rPr lang="es-ES" sz="3200" dirty="0"/>
              <a:t>Se realizara la derivación oportuna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2483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     EXAMEN FISICO Y OBSTETRICO</a:t>
            </a:r>
            <a:endParaRPr lang="es-AR" dirty="0">
              <a:solidFill>
                <a:srgbClr val="FF000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ctr"/>
            <a:r>
              <a:rPr lang="es-ES" sz="3200" dirty="0"/>
              <a:t>CONTROL DE TA</a:t>
            </a:r>
          </a:p>
          <a:p>
            <a:pPr algn="ctr"/>
            <a:r>
              <a:rPr lang="es-ES" sz="3200" dirty="0"/>
              <a:t>PESO</a:t>
            </a:r>
          </a:p>
          <a:p>
            <a:pPr algn="ctr"/>
            <a:r>
              <a:rPr lang="es-ES" sz="3200" dirty="0"/>
              <a:t>IMC</a:t>
            </a:r>
          </a:p>
          <a:p>
            <a:pPr algn="ctr"/>
            <a:r>
              <a:rPr lang="es-ES" sz="3200" dirty="0"/>
              <a:t>ALTURA UTERINA, MAF, FCF</a:t>
            </a:r>
          </a:p>
          <a:p>
            <a:endParaRPr lang="es-ES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782075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Importancia del control de la ta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913774" y="1931832"/>
            <a:ext cx="10363826" cy="4713668"/>
          </a:xfrm>
        </p:spPr>
        <p:txBody>
          <a:bodyPr>
            <a:normAutofit/>
          </a:bodyPr>
          <a:lstStyle/>
          <a:p>
            <a:endParaRPr lang="es-ES" sz="2800" dirty="0"/>
          </a:p>
          <a:p>
            <a:r>
              <a:rPr lang="es-ES" sz="2800" dirty="0"/>
              <a:t>Los trastornos hipertensivos complican alrededor del 10% de las embarazadas. </a:t>
            </a:r>
          </a:p>
          <a:p>
            <a:r>
              <a:rPr lang="es-ES" sz="2800" dirty="0"/>
              <a:t>La Preeclampsia y eclampsia (formas severas) representan el 4,4 % de todos los nacimientos</a:t>
            </a:r>
          </a:p>
          <a:p>
            <a:r>
              <a:rPr lang="es-ES" sz="2800" dirty="0"/>
              <a:t>En Argentina la preeclampsia es la primera causa de morbimortalidad materna y perinatal. </a:t>
            </a:r>
          </a:p>
          <a:p>
            <a:r>
              <a:rPr lang="es-ES" sz="2800" dirty="0"/>
              <a:t>Marcador de riesgo cardiovascular futuro</a:t>
            </a:r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val="12328973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665" y="55734"/>
            <a:ext cx="8067375" cy="6802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32643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CONTROL DE ALTURA UTERINA</a:t>
            </a:r>
            <a:endParaRPr lang="es-AR" dirty="0">
              <a:solidFill>
                <a:srgbClr val="FF0000"/>
              </a:solidFill>
            </a:endParaRPr>
          </a:p>
        </p:txBody>
      </p:sp>
      <p:pic>
        <p:nvPicPr>
          <p:cNvPr id="8" name="Marcador de contenido 6"/>
          <p:cNvPicPr>
            <a:picLocks noGrp="1" noChangeAspect="1"/>
          </p:cNvPicPr>
          <p:nvPr>
            <p:ph sz="quarter" idx="14"/>
          </p:nvPr>
        </p:nvPicPr>
        <p:blipFill rotWithShape="1">
          <a:blip r:embed="rId2"/>
          <a:srcRect l="22955" t="38845" r="50717" b="19989"/>
          <a:stretch/>
        </p:blipFill>
        <p:spPr>
          <a:xfrm>
            <a:off x="3754016" y="2084183"/>
            <a:ext cx="4815074" cy="423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0630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913775" y="270457"/>
            <a:ext cx="10364451" cy="1094704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FF0000"/>
                </a:solidFill>
              </a:rPr>
              <a:t>CURVA DE ALTURA UTERINA EN FUNCIÓN DE LA </a:t>
            </a:r>
            <a:br>
              <a:rPr lang="es-ES" sz="3200" dirty="0">
                <a:solidFill>
                  <a:srgbClr val="FF0000"/>
                </a:solidFill>
              </a:rPr>
            </a:br>
            <a:r>
              <a:rPr lang="es-ES" sz="3200" dirty="0">
                <a:solidFill>
                  <a:srgbClr val="FF0000"/>
                </a:solidFill>
              </a:rPr>
              <a:t>EDAD GESTACIONAL</a:t>
            </a:r>
            <a:endParaRPr lang="es-AR" sz="3200" dirty="0">
              <a:solidFill>
                <a:srgbClr val="FF0000"/>
              </a:solidFill>
            </a:endParaRPr>
          </a:p>
        </p:txBody>
      </p:sp>
      <p:pic>
        <p:nvPicPr>
          <p:cNvPr id="7" name="Picture 3"/>
          <p:cNvPicPr>
            <a:picLocks noGrp="1" noChangeAspect="1" noChangeArrowheads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4" t="11600" r="1067" b="1900"/>
          <a:stretch/>
        </p:blipFill>
        <p:spPr bwMode="auto">
          <a:xfrm>
            <a:off x="2331076" y="1310090"/>
            <a:ext cx="6995187" cy="5547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79580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75" y="257577"/>
            <a:ext cx="10364451" cy="1596981"/>
          </a:xfrm>
        </p:spPr>
        <p:txBody>
          <a:bodyPr/>
          <a:lstStyle/>
          <a:p>
            <a:r>
              <a:rPr lang="es-AR" sz="3200" dirty="0">
                <a:solidFill>
                  <a:srgbClr val="FF0000"/>
                </a:solidFill>
              </a:rPr>
              <a:t>Diagnóstico de la presentación fetal</a:t>
            </a:r>
            <a:br>
              <a:rPr lang="es-AR" dirty="0">
                <a:solidFill>
                  <a:srgbClr val="FF9933"/>
                </a:solidFill>
              </a:rPr>
            </a:br>
            <a:r>
              <a:rPr lang="es-AR" u="sng" dirty="0"/>
              <a:t>Maniobras de Leopold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913774" y="1854559"/>
            <a:ext cx="10363826" cy="29878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Primera maniobra de Leopold: </a:t>
            </a:r>
            <a:endParaRPr lang="es-AR" dirty="0"/>
          </a:p>
          <a:p>
            <a:r>
              <a:rPr lang="es-AR" dirty="0"/>
              <a:t>Hunde los bordes cubitales de ambas manos en la parte superior del abdomen, tratando de abarcar por completo el fondo del útero. </a:t>
            </a:r>
          </a:p>
          <a:p>
            <a:r>
              <a:rPr lang="es-AR" dirty="0"/>
              <a:t>Con esta maniobra, se apreciar la altura del útero y se palpa el polo que ocupa el fondo uterino. El polo pelviano es grande, blanduzco, desigual y no pelotea. El polo cefálico, por el contrario, es redondeado, liso, irreductible, duro y pelotea.</a:t>
            </a:r>
          </a:p>
          <a:p>
            <a:endParaRPr lang="es-A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4261" y="4394629"/>
            <a:ext cx="2413689" cy="2342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93912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75" y="283335"/>
            <a:ext cx="10364451" cy="2485623"/>
          </a:xfrm>
        </p:spPr>
        <p:txBody>
          <a:bodyPr>
            <a:normAutofit/>
          </a:bodyPr>
          <a:lstStyle/>
          <a:p>
            <a:r>
              <a:rPr lang="es-A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Segunda maniobra de Leopold: </a:t>
            </a:r>
            <a:br>
              <a:rPr lang="es-A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s-AR" sz="3200" dirty="0"/>
              <a:t>Palpando los flancos, se determina situación y ubicación del dorso fetal</a:t>
            </a:r>
            <a:br>
              <a:rPr lang="es-AR" sz="3200" dirty="0"/>
            </a:br>
            <a:endParaRPr lang="es-AR" sz="3200" dirty="0"/>
          </a:p>
        </p:txBody>
      </p:sp>
      <p:pic>
        <p:nvPicPr>
          <p:cNvPr id="4" name="Picture 3"/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3814" y="2413324"/>
            <a:ext cx="4095482" cy="4053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36691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6349" y="141999"/>
            <a:ext cx="10364451" cy="1596177"/>
          </a:xfrm>
        </p:spPr>
        <p:txBody>
          <a:bodyPr/>
          <a:lstStyle/>
          <a:p>
            <a:pPr algn="l"/>
            <a:r>
              <a:rPr lang="es-ES" dirty="0">
                <a:solidFill>
                  <a:srgbClr val="FF0000"/>
                </a:solidFill>
              </a:rPr>
              <a:t>ASCULTACIÓN DE LATIDOS FETAL</a:t>
            </a:r>
            <a:endParaRPr lang="es-AR" dirty="0">
              <a:solidFill>
                <a:srgbClr val="FF0000"/>
              </a:solidFill>
            </a:endParaRP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62127" t="38108" r="9682" b="20185"/>
          <a:stretch/>
        </p:blipFill>
        <p:spPr>
          <a:xfrm>
            <a:off x="901148" y="2524258"/>
            <a:ext cx="4629464" cy="385071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l="56831" t="29386" r="5028" b="27443"/>
          <a:stretch/>
        </p:blipFill>
        <p:spPr>
          <a:xfrm>
            <a:off x="6096000" y="2962069"/>
            <a:ext cx="5363130" cy="3412902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901148" y="1738176"/>
            <a:ext cx="462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ESTETOSCOPIO DE PINARD</a:t>
            </a:r>
            <a:endParaRPr lang="es-AR" dirty="0"/>
          </a:p>
        </p:txBody>
      </p:sp>
      <p:sp>
        <p:nvSpPr>
          <p:cNvPr id="7" name="CuadroTexto 6"/>
          <p:cNvSpPr txBox="1"/>
          <p:nvPr/>
        </p:nvSpPr>
        <p:spPr>
          <a:xfrm>
            <a:off x="6336406" y="1720692"/>
            <a:ext cx="5215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DETECTOR DE LATIDOS DOPPLER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490972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    </a:t>
            </a:r>
            <a:r>
              <a:rPr lang="es-ES" dirty="0">
                <a:solidFill>
                  <a:srgbClr val="FF0000"/>
                </a:solidFill>
              </a:rPr>
              <a:t>ESTUDIOS COMPLEMENTARIOS</a:t>
            </a:r>
            <a:endParaRPr lang="es-AR" dirty="0">
              <a:solidFill>
                <a:srgbClr val="FF0000"/>
              </a:solidFill>
            </a:endParaRPr>
          </a:p>
        </p:txBody>
      </p:sp>
      <p:sp>
        <p:nvSpPr>
          <p:cNvPr id="5" name="Marcador de contenido 4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es-ES" sz="3200" dirty="0"/>
              <a:t>PTGO (24 a 28 semanas)</a:t>
            </a:r>
          </a:p>
          <a:p>
            <a:pPr algn="ctr"/>
            <a:r>
              <a:rPr lang="es-ES" sz="3200" dirty="0"/>
              <a:t>UROCULTIVO</a:t>
            </a:r>
          </a:p>
          <a:p>
            <a:pPr algn="ctr"/>
            <a:r>
              <a:rPr lang="es-ES" sz="3200" dirty="0"/>
              <a:t>HEMOGRAMA</a:t>
            </a:r>
          </a:p>
          <a:p>
            <a:pPr algn="ctr"/>
            <a:r>
              <a:rPr lang="es-ES" sz="3200" dirty="0"/>
              <a:t>Serología</a:t>
            </a:r>
          </a:p>
          <a:p>
            <a:pPr algn="ctr"/>
            <a:r>
              <a:rPr lang="es-ES" sz="3200" dirty="0"/>
              <a:t>Coombs indirecta</a:t>
            </a:r>
          </a:p>
          <a:p>
            <a:endParaRPr lang="es-ES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005952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t="27536" r="79252" b="47264"/>
          <a:stretch/>
        </p:blipFill>
        <p:spPr>
          <a:xfrm>
            <a:off x="913775" y="309423"/>
            <a:ext cx="4488388" cy="306484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t="57837" r="70927" b="18432"/>
          <a:stretch/>
        </p:blipFill>
        <p:spPr>
          <a:xfrm>
            <a:off x="5369966" y="1526365"/>
            <a:ext cx="6751795" cy="3098574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6465194" y="309423"/>
            <a:ext cx="5035640" cy="12231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ECCOGRAFIA OBSTETRICA 22-24 SEMANAS </a:t>
            </a:r>
          </a:p>
          <a:p>
            <a:pPr algn="ctr"/>
            <a:r>
              <a:rPr lang="es-ES" dirty="0"/>
              <a:t>CONTROL MORFOLOGICO</a:t>
            </a:r>
            <a:endParaRPr lang="es-AR" dirty="0"/>
          </a:p>
        </p:txBody>
      </p:sp>
      <p:pic>
        <p:nvPicPr>
          <p:cNvPr id="7" name="Marcador de contenido 3"/>
          <p:cNvPicPr>
            <a:picLocks noChangeAspect="1"/>
          </p:cNvPicPr>
          <p:nvPr/>
        </p:nvPicPr>
        <p:blipFill rotWithShape="1">
          <a:blip r:embed="rId3"/>
          <a:srcRect l="55005" t="29041" r="7356" b="19056"/>
          <a:stretch/>
        </p:blipFill>
        <p:spPr>
          <a:xfrm>
            <a:off x="1663608" y="4346838"/>
            <a:ext cx="2846231" cy="2206628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1071181" y="3779575"/>
            <a:ext cx="4031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ECOCARDIOGRAMA FETAL. 19 SEM</a:t>
            </a:r>
            <a:endParaRPr lang="es-AR" b="1" dirty="0">
              <a:solidFill>
                <a:srgbClr val="FF0000"/>
              </a:solidFill>
            </a:endParaRPr>
          </a:p>
        </p:txBody>
      </p:sp>
      <p:pic>
        <p:nvPicPr>
          <p:cNvPr id="9" name="Marcador de contenido 5"/>
          <p:cNvPicPr>
            <a:picLocks noChangeAspect="1"/>
          </p:cNvPicPr>
          <p:nvPr/>
        </p:nvPicPr>
        <p:blipFill rotWithShape="1">
          <a:blip r:embed="rId4"/>
          <a:srcRect l="59658" t="29041" r="7566" b="30716"/>
          <a:stretch/>
        </p:blipFill>
        <p:spPr>
          <a:xfrm>
            <a:off x="5628066" y="4624940"/>
            <a:ext cx="2842203" cy="1962036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9028090" y="5035639"/>
            <a:ext cx="2949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EVALUACION DE LONGUITUD CERVICAL</a:t>
            </a:r>
            <a:endParaRPr lang="es-A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5918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INDICACIONES MEDICAS</a:t>
            </a:r>
            <a:br>
              <a:rPr lang="es-ES" dirty="0">
                <a:solidFill>
                  <a:srgbClr val="FF0000"/>
                </a:solidFill>
              </a:rPr>
            </a:br>
            <a:r>
              <a:rPr lang="es-ES" dirty="0">
                <a:solidFill>
                  <a:srgbClr val="FF0000"/>
                </a:solidFill>
              </a:rPr>
              <a:t>2° TRIMESTRE</a:t>
            </a:r>
            <a:endParaRPr lang="es-AR" dirty="0">
              <a:solidFill>
                <a:srgbClr val="FF000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es-ES" sz="2800" dirty="0"/>
              <a:t>SUPLEMENTO DE HIERRO CON AC. FOLICO</a:t>
            </a:r>
          </a:p>
          <a:p>
            <a:pPr algn="ctr"/>
            <a:r>
              <a:rPr lang="es-ES" sz="2800" dirty="0"/>
              <a:t>ALIMENTACION SALUDABLE </a:t>
            </a:r>
            <a:endParaRPr lang="es-AR" sz="2800" dirty="0"/>
          </a:p>
          <a:p>
            <a:pPr algn="ctr"/>
            <a:r>
              <a:rPr lang="es-ES" sz="2800" dirty="0"/>
              <a:t>VACUNA triple bacteriana Acelular (</a:t>
            </a:r>
            <a:r>
              <a:rPr lang="es-ES" sz="2800" dirty="0" err="1"/>
              <a:t>dtAp</a:t>
            </a:r>
            <a:r>
              <a:rPr lang="es-ES" sz="2800" dirty="0"/>
              <a:t>) a partir de la semana 20</a:t>
            </a:r>
          </a:p>
          <a:p>
            <a:pPr algn="ctr"/>
            <a:r>
              <a:rPr lang="es-ES" sz="2800" dirty="0"/>
              <a:t>SIGNOS DE ALARMA </a:t>
            </a:r>
          </a:p>
          <a:p>
            <a:pPr algn="ctr"/>
            <a:r>
              <a:rPr lang="es-ES" sz="2800" dirty="0"/>
              <a:t>CONSEJERIA EN LACTANCIA MATERNA</a:t>
            </a:r>
          </a:p>
        </p:txBody>
      </p:sp>
    </p:spTree>
    <p:extLst>
      <p:ext uri="{BB962C8B-B14F-4D97-AF65-F5344CB8AC3E}">
        <p14:creationId xmlns:p14="http://schemas.microsoft.com/office/powerpoint/2010/main" val="22665755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55005" t="28664" r="7567" b="19056"/>
          <a:stretch/>
        </p:blipFill>
        <p:spPr>
          <a:xfrm>
            <a:off x="2215166" y="128788"/>
            <a:ext cx="8358389" cy="656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6050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 cada consulta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s-ES" dirty="0"/>
          </a:p>
          <a:p>
            <a:r>
              <a:rPr lang="es-ES" sz="3600" dirty="0"/>
              <a:t>Se evaluara el riesgo de cada embarazada</a:t>
            </a:r>
          </a:p>
          <a:p>
            <a:r>
              <a:rPr lang="es-ES" sz="3600" dirty="0"/>
              <a:t>Se revisaran los estudios solicitados</a:t>
            </a:r>
          </a:p>
          <a:p>
            <a:r>
              <a:rPr lang="es-ES" sz="3600" dirty="0"/>
              <a:t>Se realizara la derivación oportuna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429020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EXAMEN FISICO Y OBSTETRICO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ES" dirty="0"/>
          </a:p>
          <a:p>
            <a:pPr algn="ctr"/>
            <a:r>
              <a:rPr lang="es-ES" sz="2800" dirty="0"/>
              <a:t>CONTROL DE TA</a:t>
            </a:r>
          </a:p>
          <a:p>
            <a:pPr algn="ctr"/>
            <a:r>
              <a:rPr lang="es-ES" sz="2800" dirty="0"/>
              <a:t>CONTROL DE PESO</a:t>
            </a:r>
          </a:p>
          <a:p>
            <a:pPr algn="ctr"/>
            <a:r>
              <a:rPr lang="es-ES" sz="2800" dirty="0"/>
              <a:t>IMC</a:t>
            </a:r>
          </a:p>
          <a:p>
            <a:pPr algn="ctr"/>
            <a:r>
              <a:rPr lang="es-ES" sz="2800" dirty="0"/>
              <a:t>ALTURA UTERINA, MAF, FCF, </a:t>
            </a:r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val="27324899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913774" y="515155"/>
            <a:ext cx="10363826" cy="6014433"/>
          </a:xfrm>
        </p:spPr>
        <p:txBody>
          <a:bodyPr/>
          <a:lstStyle/>
          <a:p>
            <a:r>
              <a:rPr lang="es-A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Tercera maniobra de Leopold: </a:t>
            </a:r>
            <a:r>
              <a:rPr lang="es-AR" dirty="0"/>
              <a:t>Permite palpar el polo presentado en la pelvis. Es una maniobra unimanual. Se abarca el polo entre el pulgar, por una parte, y el índice y el medio, por la otra.</a:t>
            </a:r>
          </a:p>
          <a:p>
            <a:r>
              <a:rPr lang="es-AR" dirty="0"/>
              <a:t>Habitualmente, es el polo cefálico el que se ofrece a la pelvis. Sirve para CONFIRMAR PRESENTACIÓN.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6888" y="2607830"/>
            <a:ext cx="3657598" cy="3921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00648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913774" y="643944"/>
            <a:ext cx="10363826" cy="5911402"/>
          </a:xfrm>
        </p:spPr>
        <p:txBody>
          <a:bodyPr/>
          <a:lstStyle/>
          <a:p>
            <a:r>
              <a:rPr lang="es-A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Cuarta maniobra de Leopold: </a:t>
            </a:r>
            <a:r>
              <a:rPr lang="es-AR" dirty="0"/>
              <a:t>Colocándose de espaldas a la mujer examinada, se aplican ambas manos en el hipogastrio, deslizándolas lateralmente desde la parte inferior del abdomen hacia la profundidad de la pelvis, de modo de alcanzar y abarcar el polo inferior del feto entre la punta de los dedos de ambas manos. ENCAJAMIEMTO DE LA PRESENTACION EN LA PELVIS.</a:t>
            </a:r>
          </a:p>
          <a:p>
            <a:endParaRPr lang="es-A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61432" t="46265" r="26392" b="27157"/>
          <a:stretch/>
        </p:blipFill>
        <p:spPr>
          <a:xfrm>
            <a:off x="4234510" y="2518104"/>
            <a:ext cx="3722353" cy="390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9813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ESTUDIOS COMPLEMENTARIOS</a:t>
            </a:r>
            <a:br>
              <a:rPr lang="es-ES" dirty="0">
                <a:solidFill>
                  <a:srgbClr val="FF0000"/>
                </a:solidFill>
              </a:rPr>
            </a:br>
            <a:r>
              <a:rPr lang="es-ES" dirty="0">
                <a:solidFill>
                  <a:srgbClr val="FF0000"/>
                </a:solidFill>
              </a:rPr>
              <a:t>LABORATORIO</a:t>
            </a:r>
            <a:endParaRPr lang="es-AR" dirty="0">
              <a:solidFill>
                <a:srgbClr val="FF000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980699"/>
          </a:xfrm>
        </p:spPr>
        <p:txBody>
          <a:bodyPr>
            <a:normAutofit/>
          </a:bodyPr>
          <a:lstStyle/>
          <a:p>
            <a:r>
              <a:rPr lang="es-ES" dirty="0"/>
              <a:t>HEMOGRAMA</a:t>
            </a:r>
          </a:p>
          <a:p>
            <a:r>
              <a:rPr lang="es-ES" dirty="0"/>
              <a:t>UREA- CREATININA</a:t>
            </a:r>
          </a:p>
          <a:p>
            <a:r>
              <a:rPr lang="es-ES" dirty="0"/>
              <a:t>GLUCEMIA</a:t>
            </a:r>
          </a:p>
          <a:p>
            <a:r>
              <a:rPr lang="es-ES" dirty="0"/>
              <a:t>TSH, T4L (en ptes con </a:t>
            </a:r>
            <a:r>
              <a:rPr lang="es-ES" dirty="0" err="1"/>
              <a:t>transtornos</a:t>
            </a:r>
            <a:r>
              <a:rPr lang="es-ES" dirty="0"/>
              <a:t> tiroideos)</a:t>
            </a:r>
          </a:p>
          <a:p>
            <a:r>
              <a:rPr lang="es-ES" dirty="0"/>
              <a:t>COAGULOGRAMA, RCTO DE OLAQUETAS</a:t>
            </a:r>
          </a:p>
          <a:p>
            <a:r>
              <a:rPr lang="es-ES" dirty="0"/>
              <a:t>SEROLOGIA (VDRL, HIV, TOXOPLASMOSIS, CHASA, AGSHB)</a:t>
            </a:r>
          </a:p>
          <a:p>
            <a:r>
              <a:rPr lang="es-ES" dirty="0"/>
              <a:t>UROCULTIVO</a:t>
            </a:r>
          </a:p>
          <a:p>
            <a:r>
              <a:rPr lang="es-ES" dirty="0"/>
              <a:t>EXUDADO VULVO PERINEAL (SGB)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490943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913774" y="643944"/>
            <a:ext cx="10174936" cy="5147255"/>
          </a:xfrm>
        </p:spPr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ECG</a:t>
            </a:r>
          </a:p>
          <a:p>
            <a:endParaRPr lang="es-ES" dirty="0">
              <a:solidFill>
                <a:srgbClr val="FF0000"/>
              </a:solidFill>
            </a:endParaRPr>
          </a:p>
          <a:p>
            <a:endParaRPr lang="es-ES" dirty="0">
              <a:solidFill>
                <a:srgbClr val="FF0000"/>
              </a:solidFill>
            </a:endParaRPr>
          </a:p>
          <a:p>
            <a:endParaRPr lang="es-ES" dirty="0">
              <a:solidFill>
                <a:srgbClr val="FF0000"/>
              </a:solidFill>
            </a:endParaRPr>
          </a:p>
          <a:p>
            <a:r>
              <a:rPr lang="es-ES" dirty="0">
                <a:solidFill>
                  <a:srgbClr val="FF0000"/>
                </a:solidFill>
              </a:rPr>
              <a:t>ECOGRAFIA OBSTETRICA</a:t>
            </a:r>
          </a:p>
          <a:p>
            <a:endParaRPr lang="es-ES" dirty="0">
              <a:solidFill>
                <a:srgbClr val="FF0000"/>
              </a:solidFill>
            </a:endParaRPr>
          </a:p>
          <a:p>
            <a:endParaRPr lang="es-ES" dirty="0">
              <a:solidFill>
                <a:srgbClr val="FF0000"/>
              </a:solidFill>
            </a:endParaRPr>
          </a:p>
          <a:p>
            <a:endParaRPr lang="es-ES" dirty="0">
              <a:solidFill>
                <a:srgbClr val="FF0000"/>
              </a:solidFill>
            </a:endParaRPr>
          </a:p>
          <a:p>
            <a:r>
              <a:rPr lang="es-ES" dirty="0">
                <a:solidFill>
                  <a:srgbClr val="FF0000"/>
                </a:solidFill>
              </a:rPr>
              <a:t>MONITOREO FETAL </a:t>
            </a:r>
            <a:endParaRPr lang="es-AR" dirty="0">
              <a:solidFill>
                <a:srgbClr val="FF0000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59562" t="29134" r="12528" b="44635"/>
          <a:stretch/>
        </p:blipFill>
        <p:spPr>
          <a:xfrm>
            <a:off x="2717443" y="1001931"/>
            <a:ext cx="3928056" cy="119773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l="50685" t="28459" r="3067" b="23697"/>
          <a:stretch/>
        </p:blipFill>
        <p:spPr>
          <a:xfrm>
            <a:off x="4778063" y="4119186"/>
            <a:ext cx="3490174" cy="2030000"/>
          </a:xfrm>
          <a:prstGeom prst="rect">
            <a:avLst/>
          </a:prstGeom>
        </p:spPr>
      </p:pic>
      <p:pic>
        <p:nvPicPr>
          <p:cNvPr id="6" name="Marcador de contenido 5"/>
          <p:cNvPicPr>
            <a:picLocks noChangeAspect="1"/>
          </p:cNvPicPr>
          <p:nvPr/>
        </p:nvPicPr>
        <p:blipFill rotWithShape="1">
          <a:blip r:embed="rId4"/>
          <a:srcRect l="58600" t="28289" r="11162" b="30339"/>
          <a:stretch/>
        </p:blipFill>
        <p:spPr>
          <a:xfrm>
            <a:off x="4159563" y="2461913"/>
            <a:ext cx="1841679" cy="1416676"/>
          </a:xfrm>
          <a:prstGeom prst="rect">
            <a:avLst/>
          </a:prstGeom>
        </p:spPr>
      </p:pic>
      <p:pic>
        <p:nvPicPr>
          <p:cNvPr id="7" name="Marcador de contenido 7"/>
          <p:cNvPicPr>
            <a:picLocks noChangeAspect="1"/>
          </p:cNvPicPr>
          <p:nvPr/>
        </p:nvPicPr>
        <p:blipFill rotWithShape="1">
          <a:blip r:embed="rId5"/>
          <a:srcRect l="58599" t="28289" r="10740" b="31844"/>
          <a:stretch/>
        </p:blipFill>
        <p:spPr>
          <a:xfrm>
            <a:off x="6523150" y="2461913"/>
            <a:ext cx="1867436" cy="136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9803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INDICACIONES MEDICAS</a:t>
            </a:r>
            <a:br>
              <a:rPr lang="es-ES" dirty="0">
                <a:solidFill>
                  <a:srgbClr val="FF0000"/>
                </a:solidFill>
              </a:rPr>
            </a:br>
            <a:r>
              <a:rPr lang="es-ES" dirty="0">
                <a:solidFill>
                  <a:srgbClr val="FF0000"/>
                </a:solidFill>
              </a:rPr>
              <a:t>3° TRIMESTRE</a:t>
            </a:r>
            <a:endParaRPr lang="es-AR" dirty="0">
              <a:solidFill>
                <a:srgbClr val="FF000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967447"/>
          </a:xfrm>
        </p:spPr>
        <p:txBody>
          <a:bodyPr/>
          <a:lstStyle/>
          <a:p>
            <a:endParaRPr lang="es-ES" dirty="0"/>
          </a:p>
          <a:p>
            <a:r>
              <a:rPr lang="es-ES" sz="2400" dirty="0"/>
              <a:t>SUPLEMENTO DE HIERRO Y AC FOLICO</a:t>
            </a:r>
          </a:p>
          <a:p>
            <a:r>
              <a:rPr lang="es-ES" sz="2400" dirty="0"/>
              <a:t>DIETA SALUABLE</a:t>
            </a:r>
          </a:p>
          <a:p>
            <a:r>
              <a:rPr lang="es-ES" sz="2400" dirty="0"/>
              <a:t>Vacunación: vrs</a:t>
            </a:r>
          </a:p>
          <a:p>
            <a:r>
              <a:rPr lang="es-ES" sz="2400" dirty="0"/>
              <a:t>SIGNOS DE ALARMA</a:t>
            </a:r>
          </a:p>
          <a:p>
            <a:r>
              <a:rPr lang="es-ES" sz="2400" dirty="0"/>
              <a:t>SE SUGIERE CURSO DE PREPARTO Y CONSEJERIA EN LACTANCIA MATERNA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79109561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TM04033925[[fn=Gota]]</Template>
  <TotalTime>548</TotalTime>
  <Words>1051</Words>
  <Application>Microsoft Office PowerPoint</Application>
  <PresentationFormat>Panorámica</PresentationFormat>
  <Paragraphs>209</Paragraphs>
  <Slides>43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47" baseType="lpstr">
      <vt:lpstr>Arial</vt:lpstr>
      <vt:lpstr>Tw Cen MT</vt:lpstr>
      <vt:lpstr>Wingdings</vt:lpstr>
      <vt:lpstr>Gota</vt:lpstr>
      <vt:lpstr>Control prenatal</vt:lpstr>
      <vt:lpstr>CONTROL PRENATAL</vt:lpstr>
      <vt:lpstr>CARACTERISTICAS DEL CONTROL PRENATAL</vt:lpstr>
      <vt:lpstr>OBJETIVOS</vt:lpstr>
      <vt:lpstr>DIAGNOSTICO DE EMBARAZO </vt:lpstr>
      <vt:lpstr>Presentación de PowerPoint</vt:lpstr>
      <vt:lpstr>Presentación de PowerPoint</vt:lpstr>
      <vt:lpstr>Determinación sub beta hcg</vt:lpstr>
      <vt:lpstr>Presentación de PowerPoint</vt:lpstr>
      <vt:lpstr>Presentación de PowerPoint</vt:lpstr>
      <vt:lpstr>EVALUACION DE RIESGO</vt:lpstr>
      <vt:lpstr>CALCULO DE EDAD GESTACIONAL</vt:lpstr>
      <vt:lpstr>EXAMEN FISICO</vt:lpstr>
      <vt:lpstr>Presentación de PowerPoint</vt:lpstr>
      <vt:lpstr>Presentación de PowerPoint</vt:lpstr>
      <vt:lpstr>ECOGRAFIA DEL 1° TRIMESTRE</vt:lpstr>
      <vt:lpstr>laboratorio</vt:lpstr>
      <vt:lpstr>Presentación de PowerPoint</vt:lpstr>
      <vt:lpstr>Presentación de PowerPoint</vt:lpstr>
      <vt:lpstr>Presentación de PowerPoint</vt:lpstr>
      <vt:lpstr>Presentación de PowerPoint</vt:lpstr>
      <vt:lpstr>INDICACIONES MEDICAS </vt:lpstr>
      <vt:lpstr>Presentación de PowerPoint</vt:lpstr>
      <vt:lpstr>En cada consulta </vt:lpstr>
      <vt:lpstr>     EXAMEN FISICO Y OBSTETRICO</vt:lpstr>
      <vt:lpstr>Importancia del control de la ta</vt:lpstr>
      <vt:lpstr>Presentación de PowerPoint</vt:lpstr>
      <vt:lpstr>CONTROL DE ALTURA UTERINA</vt:lpstr>
      <vt:lpstr>CURVA DE ALTURA UTERINA EN FUNCIÓN DE LA  EDAD GESTACIONAL</vt:lpstr>
      <vt:lpstr>Diagnóstico de la presentación fetal Maniobras de Leopold</vt:lpstr>
      <vt:lpstr>Segunda maniobra de Leopold:  Palpando los flancos, se determina situación y ubicación del dorso fetal </vt:lpstr>
      <vt:lpstr>ASCULTACIÓN DE LATIDOS FETAL</vt:lpstr>
      <vt:lpstr>    ESTUDIOS COMPLEMENTARIOS</vt:lpstr>
      <vt:lpstr>Presentación de PowerPoint</vt:lpstr>
      <vt:lpstr>INDICACIONES MEDICAS 2° TRIMESTRE</vt:lpstr>
      <vt:lpstr>Presentación de PowerPoint</vt:lpstr>
      <vt:lpstr>En cada consulta</vt:lpstr>
      <vt:lpstr>EXAMEN FISICO Y OBSTETRICO</vt:lpstr>
      <vt:lpstr>Presentación de PowerPoint</vt:lpstr>
      <vt:lpstr>Presentación de PowerPoint</vt:lpstr>
      <vt:lpstr>ESTUDIOS COMPLEMENTARIOS LABORATORIO</vt:lpstr>
      <vt:lpstr>Presentación de PowerPoint</vt:lpstr>
      <vt:lpstr>INDICACIONES MEDICAS 3° TRIMESTRE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prenatal</dc:title>
  <dc:creator>Usuario</dc:creator>
  <cp:lastModifiedBy>Andreas Abagianos</cp:lastModifiedBy>
  <cp:revision>74</cp:revision>
  <dcterms:created xsi:type="dcterms:W3CDTF">2023-08-22T16:27:47Z</dcterms:created>
  <dcterms:modified xsi:type="dcterms:W3CDTF">2026-10-03T16:34:24Z</dcterms:modified>
</cp:coreProperties>
</file>