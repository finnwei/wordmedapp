
<file path=[Content_Types].xml><?xml version="1.0" encoding="utf-8"?>
<Types xmlns="http://schemas.openxmlformats.org/package/2006/content-types">
  <Default Extension="emf" ContentType="image/x-emf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0" r:id="rId2"/>
    <p:sldId id="308" r:id="rId3"/>
    <p:sldId id="272" r:id="rId4"/>
    <p:sldId id="266" r:id="rId5"/>
    <p:sldId id="269" r:id="rId6"/>
    <p:sldId id="264" r:id="rId7"/>
    <p:sldId id="311" r:id="rId8"/>
    <p:sldId id="271" r:id="rId9"/>
    <p:sldId id="270" r:id="rId10"/>
    <p:sldId id="263" r:id="rId11"/>
    <p:sldId id="273" r:id="rId12"/>
    <p:sldId id="277" r:id="rId13"/>
    <p:sldId id="275" r:id="rId14"/>
    <p:sldId id="281" r:id="rId15"/>
    <p:sldId id="279" r:id="rId16"/>
    <p:sldId id="284" r:id="rId17"/>
    <p:sldId id="283" r:id="rId18"/>
    <p:sldId id="286" r:id="rId19"/>
    <p:sldId id="287" r:id="rId20"/>
    <p:sldId id="289" r:id="rId21"/>
    <p:sldId id="291" r:id="rId22"/>
    <p:sldId id="292" r:id="rId23"/>
    <p:sldId id="307" r:id="rId24"/>
    <p:sldId id="293" r:id="rId25"/>
    <p:sldId id="312" r:id="rId26"/>
    <p:sldId id="309" r:id="rId27"/>
    <p:sldId id="294" r:id="rId28"/>
    <p:sldId id="306" r:id="rId29"/>
    <p:sldId id="299" r:id="rId30"/>
    <p:sldId id="300" r:id="rId31"/>
    <p:sldId id="301" r:id="rId32"/>
    <p:sldId id="256" r:id="rId33"/>
    <p:sldId id="257" r:id="rId34"/>
    <p:sldId id="262" r:id="rId35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D823AD39-A3D1-4EAC-9AF3-298DF7FE4048}">
          <p14:sldIdLst>
            <p14:sldId id="310"/>
            <p14:sldId id="308"/>
            <p14:sldId id="272"/>
            <p14:sldId id="266"/>
            <p14:sldId id="269"/>
            <p14:sldId id="264"/>
            <p14:sldId id="311"/>
            <p14:sldId id="271"/>
            <p14:sldId id="270"/>
            <p14:sldId id="263"/>
            <p14:sldId id="273"/>
            <p14:sldId id="277"/>
            <p14:sldId id="275"/>
            <p14:sldId id="281"/>
            <p14:sldId id="279"/>
            <p14:sldId id="284"/>
            <p14:sldId id="283"/>
            <p14:sldId id="286"/>
            <p14:sldId id="287"/>
            <p14:sldId id="289"/>
            <p14:sldId id="291"/>
            <p14:sldId id="292"/>
            <p14:sldId id="307"/>
            <p14:sldId id="293"/>
            <p14:sldId id="312"/>
            <p14:sldId id="309"/>
            <p14:sldId id="294"/>
            <p14:sldId id="306"/>
            <p14:sldId id="299"/>
            <p14:sldId id="300"/>
            <p14:sldId id="301"/>
          </p14:sldIdLst>
        </p14:section>
        <p14:section name="Sección sin título" id="{1FCADB11-D0BF-4129-A587-2C595575DBAD}">
          <p14:sldIdLst>
            <p14:sldId id="256"/>
            <p14:sldId id="257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64" autoAdjust="0"/>
  </p:normalViewPr>
  <p:slideViewPr>
    <p:cSldViewPr>
      <p:cViewPr varScale="1">
        <p:scale>
          <a:sx n="82" d="100"/>
          <a:sy n="82" d="100"/>
        </p:scale>
        <p:origin x="147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05/08/2026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5112568" cy="1143000"/>
          </a:xfrm>
        </p:spPr>
        <p:txBody>
          <a:bodyPr>
            <a:normAutofit fontScale="90000"/>
          </a:bodyPr>
          <a:lstStyle/>
          <a:p>
            <a:r>
              <a:rPr lang="es-ES" dirty="0">
                <a:solidFill>
                  <a:schemeClr val="tx2"/>
                </a:solidFill>
              </a:rPr>
              <a:t>Catedra OBSTETRICIA</a:t>
            </a:r>
            <a:br>
              <a:rPr lang="es-ES" dirty="0">
                <a:solidFill>
                  <a:schemeClr val="tx2"/>
                </a:solidFill>
              </a:rPr>
            </a:br>
            <a:r>
              <a:rPr lang="es-ES" dirty="0">
                <a:solidFill>
                  <a:schemeClr val="tx2"/>
                </a:solidFill>
              </a:rPr>
              <a:t>San Rafael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95536" y="1772816"/>
            <a:ext cx="8229600" cy="5400600"/>
          </a:xfrm>
        </p:spPr>
        <p:txBody>
          <a:bodyPr>
            <a:normAutofit/>
          </a:bodyPr>
          <a:lstStyle/>
          <a:p>
            <a:r>
              <a:rPr lang="es-ES" dirty="0"/>
              <a:t>Jefa de Catedra            </a:t>
            </a:r>
            <a:r>
              <a:rPr lang="es-ES" dirty="0">
                <a:solidFill>
                  <a:schemeClr val="tx2"/>
                </a:solidFill>
              </a:rPr>
              <a:t>Dr. MIGUEL BLANCO</a:t>
            </a:r>
          </a:p>
          <a:p>
            <a:r>
              <a:rPr lang="es-ES" dirty="0"/>
              <a:t>Adjunto                          </a:t>
            </a:r>
            <a:r>
              <a:rPr lang="es-ES" dirty="0">
                <a:solidFill>
                  <a:schemeClr val="tx2"/>
                </a:solidFill>
              </a:rPr>
              <a:t>Dr. SAMBRIZZI JORGE</a:t>
            </a:r>
          </a:p>
          <a:p>
            <a:r>
              <a:rPr lang="es-ES" dirty="0"/>
              <a:t>Jefes de prácticos</a:t>
            </a:r>
          </a:p>
          <a:p>
            <a:r>
              <a:rPr lang="es-ES" dirty="0"/>
              <a:t>        </a:t>
            </a:r>
            <a:r>
              <a:rPr lang="es-ES" dirty="0">
                <a:solidFill>
                  <a:schemeClr val="tx2"/>
                </a:solidFill>
              </a:rPr>
              <a:t>Dra. Ines Cruz Pérez</a:t>
            </a:r>
          </a:p>
          <a:p>
            <a:r>
              <a:rPr lang="es-ES" dirty="0">
                <a:solidFill>
                  <a:schemeClr val="tx2"/>
                </a:solidFill>
              </a:rPr>
              <a:t>        Dra. Pamela Salinas</a:t>
            </a:r>
          </a:p>
          <a:p>
            <a:r>
              <a:rPr lang="es-ES" dirty="0">
                <a:solidFill>
                  <a:schemeClr val="tx2"/>
                </a:solidFill>
              </a:rPr>
              <a:t>        Dra. Alejandra González</a:t>
            </a:r>
          </a:p>
          <a:p>
            <a:r>
              <a:rPr lang="es-ES" dirty="0">
                <a:solidFill>
                  <a:schemeClr val="tx2"/>
                </a:solidFill>
              </a:rPr>
              <a:t>        Dr. Gustavo Eraso</a:t>
            </a:r>
          </a:p>
          <a:p>
            <a:r>
              <a:rPr lang="es-ES" dirty="0">
                <a:solidFill>
                  <a:schemeClr val="tx2"/>
                </a:solidFill>
              </a:rPr>
              <a:t>        Dr. Cristian Fornara</a:t>
            </a:r>
          </a:p>
          <a:p>
            <a:r>
              <a:rPr lang="es-ES" dirty="0">
                <a:solidFill>
                  <a:schemeClr val="tx2"/>
                </a:solidFill>
              </a:rPr>
              <a:t>        Lic. NATALIA MOLINA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5" name="Picture 2" descr="Universidad de Mendoza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339" y="1338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2653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Marcador de contenido 2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983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85000" lnSpcReduction="20000"/>
          </a:bodyPr>
          <a:lstStyle/>
          <a:p>
            <a:r>
              <a:rPr lang="es-AR" sz="3800" b="1" u="sng" dirty="0">
                <a:solidFill>
                  <a:schemeClr val="tx2"/>
                </a:solidFill>
              </a:rPr>
              <a:t>EXPLORACIÓN OBSTETRICA</a:t>
            </a:r>
          </a:p>
          <a:p>
            <a:r>
              <a:rPr lang="es-AR" sz="3300" b="1" u="sng" dirty="0">
                <a:solidFill>
                  <a:srgbClr val="C00000"/>
                </a:solidFill>
              </a:rPr>
              <a:t>Actitud fetal</a:t>
            </a:r>
            <a:r>
              <a:rPr lang="es-AR" b="1" dirty="0">
                <a:solidFill>
                  <a:srgbClr val="C00000"/>
                </a:solidFill>
              </a:rPr>
              <a:t>: </a:t>
            </a:r>
            <a:r>
              <a:rPr lang="es-AR" sz="3600" dirty="0">
                <a:solidFill>
                  <a:schemeClr val="tx1"/>
                </a:solidFill>
              </a:rPr>
              <a:t>Es la relación que guardan entre sí las</a:t>
            </a:r>
          </a:p>
          <a:p>
            <a:r>
              <a:rPr lang="es-AR" sz="3600" dirty="0">
                <a:solidFill>
                  <a:schemeClr val="tx1"/>
                </a:solidFill>
              </a:rPr>
              <a:t>distintas partes que constituyen el feto. </a:t>
            </a:r>
          </a:p>
          <a:p>
            <a:r>
              <a:rPr lang="es-AR" sz="3800" b="1" u="sng" dirty="0">
                <a:solidFill>
                  <a:srgbClr val="C00000"/>
                </a:solidFill>
              </a:rPr>
              <a:t>Situación fetal</a:t>
            </a:r>
            <a:r>
              <a:rPr lang="es-AR" b="1" dirty="0">
                <a:solidFill>
                  <a:srgbClr val="C00000"/>
                </a:solidFill>
              </a:rPr>
              <a:t>: </a:t>
            </a:r>
            <a:r>
              <a:rPr lang="es-AR" sz="3600" dirty="0">
                <a:solidFill>
                  <a:schemeClr val="tx1"/>
                </a:solidFill>
              </a:rPr>
              <a:t>Es la relación que existe entre el eje</a:t>
            </a:r>
          </a:p>
          <a:p>
            <a:r>
              <a:rPr lang="es-AR" sz="3600" dirty="0">
                <a:solidFill>
                  <a:schemeClr val="tx1"/>
                </a:solidFill>
              </a:rPr>
              <a:t>longitudinal del feto y el eje longitudinal de la madre</a:t>
            </a:r>
          </a:p>
          <a:p>
            <a:endParaRPr lang="es-AR" sz="3600" dirty="0">
              <a:solidFill>
                <a:schemeClr val="tx1"/>
              </a:solidFill>
            </a:endParaRPr>
          </a:p>
          <a:p>
            <a:r>
              <a:rPr lang="es-AR" sz="4700" b="1" u="sng" dirty="0">
                <a:solidFill>
                  <a:srgbClr val="C00000"/>
                </a:solidFill>
              </a:rPr>
              <a:t>Posición fetal</a:t>
            </a:r>
            <a:r>
              <a:rPr lang="es-AR" sz="4700" b="1" dirty="0">
                <a:solidFill>
                  <a:srgbClr val="C00000"/>
                </a:solidFill>
              </a:rPr>
              <a:t>:</a:t>
            </a:r>
            <a:r>
              <a:rPr lang="es-AR" sz="3600" b="1" dirty="0">
                <a:solidFill>
                  <a:srgbClr val="C00000"/>
                </a:solidFill>
              </a:rPr>
              <a:t> </a:t>
            </a:r>
            <a:r>
              <a:rPr lang="es-AR" sz="3600" dirty="0">
                <a:solidFill>
                  <a:schemeClr val="tx1"/>
                </a:solidFill>
              </a:rPr>
              <a:t>Es la relación que guarda entre sí el</a:t>
            </a:r>
          </a:p>
          <a:p>
            <a:r>
              <a:rPr lang="es-AR" sz="3600" dirty="0">
                <a:solidFill>
                  <a:schemeClr val="tx1"/>
                </a:solidFill>
              </a:rPr>
              <a:t>dorso del feto con la pelvis materna. Existen cuatro variedades:</a:t>
            </a:r>
          </a:p>
          <a:p>
            <a:r>
              <a:rPr lang="es-AR" sz="3600" dirty="0">
                <a:solidFill>
                  <a:schemeClr val="tx1"/>
                </a:solidFill>
              </a:rPr>
              <a:t>derecha, izquierda, anterior y posterior.</a:t>
            </a:r>
          </a:p>
          <a:p>
            <a:endParaRPr lang="es-AR" sz="3600" dirty="0">
              <a:solidFill>
                <a:schemeClr val="tx1"/>
              </a:solidFill>
            </a:endParaRPr>
          </a:p>
          <a:p>
            <a:r>
              <a:rPr lang="es-AR" sz="5700" b="1" u="sng" dirty="0">
                <a:solidFill>
                  <a:srgbClr val="C00000"/>
                </a:solidFill>
              </a:rPr>
              <a:t>Presentación fetal: </a:t>
            </a:r>
            <a:r>
              <a:rPr lang="es-AR" sz="3600" dirty="0">
                <a:solidFill>
                  <a:schemeClr val="tx1"/>
                </a:solidFill>
              </a:rPr>
              <a:t>Es la parte del feto que está en relación con el estrecho superior de la pelvis.</a:t>
            </a:r>
            <a:endParaRPr lang="es-AR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236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0"/>
            <a:ext cx="8892480" cy="6858000"/>
          </a:xfrm>
        </p:spPr>
        <p:txBody>
          <a:bodyPr>
            <a:normAutofit/>
          </a:bodyPr>
          <a:lstStyle/>
          <a:p>
            <a:r>
              <a:rPr lang="es-AR" sz="3600" b="1" u="sng" dirty="0">
                <a:solidFill>
                  <a:schemeClr val="tx2"/>
                </a:solidFill>
              </a:rPr>
              <a:t>Actitud fetal</a:t>
            </a:r>
            <a:r>
              <a:rPr lang="es-AR" b="1" dirty="0">
                <a:solidFill>
                  <a:schemeClr val="tx2"/>
                </a:solidFill>
              </a:rPr>
              <a:t>: </a:t>
            </a:r>
          </a:p>
          <a:p>
            <a:endParaRPr lang="es-AR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s-A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Es la relación que guardan entre sí las</a:t>
            </a:r>
          </a:p>
          <a:p>
            <a:r>
              <a:rPr lang="es-A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distintas partes que constituyen el feto. </a:t>
            </a:r>
          </a:p>
          <a:p>
            <a:endParaRPr lang="es-AR" dirty="0">
              <a:solidFill>
                <a:schemeClr val="tx1"/>
              </a:solidFill>
            </a:endParaRPr>
          </a:p>
          <a:p>
            <a:r>
              <a:rPr lang="es-AR" dirty="0">
                <a:solidFill>
                  <a:schemeClr val="tx1"/>
                </a:solidFill>
              </a:rPr>
              <a:t>Es habitual la actitud en </a:t>
            </a:r>
            <a:r>
              <a:rPr lang="es-AR" b="1" dirty="0">
                <a:solidFill>
                  <a:schemeClr val="tx1"/>
                </a:solidFill>
              </a:rPr>
              <a:t>flexión</a:t>
            </a:r>
            <a:r>
              <a:rPr lang="es-AR" dirty="0">
                <a:solidFill>
                  <a:schemeClr val="tx1"/>
                </a:solidFill>
              </a:rPr>
              <a:t> en la que la cabeza está profundamente doblada con la barbilla sobre el pecho fetal.</a:t>
            </a:r>
          </a:p>
          <a:p>
            <a:endParaRPr lang="es-AR" dirty="0">
              <a:solidFill>
                <a:schemeClr val="tx1"/>
              </a:solidFill>
            </a:endParaRPr>
          </a:p>
          <a:p>
            <a:r>
              <a:rPr lang="es-AR" b="1" dirty="0">
                <a:solidFill>
                  <a:schemeClr val="accent3">
                    <a:lumMod val="50000"/>
                  </a:schemeClr>
                </a:solidFill>
              </a:rPr>
              <a:t>Flexión </a:t>
            </a:r>
            <a:r>
              <a:rPr lang="es-AR" b="1" dirty="0">
                <a:solidFill>
                  <a:schemeClr val="tx1"/>
                </a:solidFill>
              </a:rPr>
              <a:t>                            </a:t>
            </a:r>
            <a:r>
              <a:rPr lang="es-AR" dirty="0">
                <a:solidFill>
                  <a:schemeClr val="tx1"/>
                </a:solidFill>
              </a:rPr>
              <a:t>  </a:t>
            </a:r>
            <a:r>
              <a:rPr lang="es-AR" b="1" dirty="0">
                <a:solidFill>
                  <a:srgbClr val="FF0000"/>
                </a:solidFill>
              </a:rPr>
              <a:t>Deflexión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96704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>
                <a:solidFill>
                  <a:schemeClr val="tx2">
                    <a:lumMod val="75000"/>
                  </a:schemeClr>
                </a:solidFill>
              </a:rPr>
              <a:t>Cefalica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</a:rPr>
              <a:t> flexionada </a:t>
            </a:r>
            <a:r>
              <a:rPr lang="es-ES" dirty="0"/>
              <a:t>/ </a:t>
            </a:r>
            <a:r>
              <a:rPr lang="es-ES" dirty="0" err="1">
                <a:solidFill>
                  <a:srgbClr val="FF0000"/>
                </a:solidFill>
              </a:rPr>
              <a:t>deflexionada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H:\DCIM\101MSDCF\DSC0019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0528" y="1052736"/>
            <a:ext cx="9144000" cy="77768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06473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Cefalicas</a:t>
            </a:r>
            <a:r>
              <a:rPr lang="es-ES" dirty="0"/>
              <a:t> </a:t>
            </a:r>
            <a:r>
              <a:rPr lang="es-ES" dirty="0" err="1"/>
              <a:t>deflexionadas</a:t>
            </a:r>
            <a:endParaRPr lang="en-US" dirty="0"/>
          </a:p>
        </p:txBody>
      </p:sp>
      <p:pic>
        <p:nvPicPr>
          <p:cNvPr id="4" name="Picture 2" descr="H:\DCIM\101MSDCF\DSC00189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1600200"/>
            <a:ext cx="4536503" cy="514116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8732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395536" y="548680"/>
            <a:ext cx="835292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4400" b="1" u="sng" dirty="0">
                <a:solidFill>
                  <a:schemeClr val="tx2">
                    <a:lumMod val="75000"/>
                  </a:schemeClr>
                </a:solidFill>
              </a:rPr>
              <a:t>Situación fetal</a:t>
            </a:r>
            <a:r>
              <a:rPr lang="es-AR" sz="4400" b="1" dirty="0">
                <a:solidFill>
                  <a:schemeClr val="tx2">
                    <a:lumMod val="75000"/>
                  </a:schemeClr>
                </a:solidFill>
              </a:rPr>
              <a:t>: </a:t>
            </a:r>
          </a:p>
          <a:p>
            <a:r>
              <a:rPr lang="es-AR" sz="4400" dirty="0"/>
              <a:t>Relación que existe entre el eje</a:t>
            </a:r>
          </a:p>
          <a:p>
            <a:r>
              <a:rPr lang="es-AR" sz="4400" dirty="0"/>
              <a:t>longitudinal del feto y el eje longitudinal de la madre</a:t>
            </a:r>
          </a:p>
          <a:p>
            <a:r>
              <a:rPr lang="es-AR" sz="4400" dirty="0"/>
              <a:t> </a:t>
            </a:r>
            <a:r>
              <a:rPr lang="es-AR" sz="4400" b="1" dirty="0"/>
              <a:t>longitudinal           </a:t>
            </a:r>
          </a:p>
          <a:p>
            <a:r>
              <a:rPr lang="es-AR" sz="4400" b="1" dirty="0"/>
              <a:t>              transversa           </a:t>
            </a:r>
          </a:p>
          <a:p>
            <a:r>
              <a:rPr lang="es-AR" sz="4400" b="1" dirty="0"/>
              <a:t>                         oblicua</a:t>
            </a:r>
          </a:p>
        </p:txBody>
      </p:sp>
    </p:spTree>
    <p:extLst>
      <p:ext uri="{BB962C8B-B14F-4D97-AF65-F5344CB8AC3E}">
        <p14:creationId xmlns:p14="http://schemas.microsoft.com/office/powerpoint/2010/main" val="170190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51520" y="476672"/>
            <a:ext cx="8496944" cy="61926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AR" sz="4800" b="1" u="sng" dirty="0">
                <a:solidFill>
                  <a:schemeClr val="tx2">
                    <a:lumMod val="75000"/>
                  </a:schemeClr>
                </a:solidFill>
              </a:rPr>
              <a:t>Presentación fetal</a:t>
            </a:r>
            <a:r>
              <a:rPr lang="es-AR" sz="3600" b="1" u="sng" dirty="0">
                <a:solidFill>
                  <a:schemeClr val="tx2">
                    <a:lumMod val="75000"/>
                  </a:schemeClr>
                </a:solidFill>
              </a:rPr>
              <a:t>: </a:t>
            </a:r>
          </a:p>
          <a:p>
            <a:pPr>
              <a:buNone/>
            </a:pPr>
            <a:endParaRPr lang="es-AR" sz="3600" b="1" u="sng" dirty="0"/>
          </a:p>
          <a:p>
            <a:pPr>
              <a:buNone/>
            </a:pPr>
            <a:r>
              <a:rPr lang="es-AR" dirty="0"/>
              <a:t>Es la parte del feto que está en  relación con el estrecho superior de la pelvis materna, es decir, la más descendida</a:t>
            </a:r>
          </a:p>
          <a:p>
            <a:pPr>
              <a:buNone/>
            </a:pPr>
            <a:endParaRPr lang="es-AR" dirty="0"/>
          </a:p>
          <a:p>
            <a:pPr>
              <a:buNone/>
            </a:pPr>
            <a:r>
              <a:rPr lang="es-AR" b="1" dirty="0">
                <a:solidFill>
                  <a:schemeClr val="tx2">
                    <a:lumMod val="75000"/>
                  </a:schemeClr>
                </a:solidFill>
              </a:rPr>
              <a:t>Pelviana</a:t>
            </a:r>
            <a:r>
              <a:rPr lang="es-AR" dirty="0"/>
              <a:t>:       COMPLETA        INCOMPLETA</a:t>
            </a:r>
          </a:p>
          <a:p>
            <a:pPr>
              <a:buNone/>
            </a:pPr>
            <a:r>
              <a:rPr lang="es-AR" b="1" dirty="0">
                <a:solidFill>
                  <a:schemeClr val="tx2">
                    <a:lumMod val="75000"/>
                  </a:schemeClr>
                </a:solidFill>
              </a:rPr>
              <a:t>cefálica</a:t>
            </a:r>
            <a:r>
              <a:rPr lang="es-AR" dirty="0"/>
              <a:t>:  vértice (FLEXION)</a:t>
            </a:r>
          </a:p>
          <a:p>
            <a:pPr>
              <a:buNone/>
            </a:pPr>
            <a:r>
              <a:rPr lang="es-AR" dirty="0"/>
              <a:t>                 frente y cara (DEFLEXIONADAS)</a:t>
            </a:r>
          </a:p>
          <a:p>
            <a:pPr>
              <a:buNone/>
            </a:pPr>
            <a:r>
              <a:rPr lang="es-AR" b="1" dirty="0">
                <a:solidFill>
                  <a:schemeClr val="tx2">
                    <a:lumMod val="75000"/>
                  </a:schemeClr>
                </a:solidFill>
              </a:rPr>
              <a:t>Transversa</a:t>
            </a: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3952050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3074" name="Picture 2" descr="H:\DCIM\101MSDCF\DSC0019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57021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6442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 </a:t>
            </a:r>
            <a:endParaRPr lang="en-US" dirty="0"/>
          </a:p>
        </p:txBody>
      </p:sp>
      <p:pic>
        <p:nvPicPr>
          <p:cNvPr id="4" name="Picture 2" descr="H:\DCIM\101MSDCF\DSC00187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1" y="0"/>
            <a:ext cx="627481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77016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0" y="0"/>
            <a:ext cx="914400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AR" sz="4000" dirty="0"/>
          </a:p>
          <a:p>
            <a:r>
              <a:rPr lang="es-AR" sz="3200" b="1" u="sng" dirty="0">
                <a:solidFill>
                  <a:schemeClr val="tx2">
                    <a:lumMod val="75000"/>
                  </a:schemeClr>
                </a:solidFill>
              </a:rPr>
              <a:t>Maniobras  de </a:t>
            </a:r>
            <a:r>
              <a:rPr lang="es-AR" sz="3200" b="1" u="sng" dirty="0" err="1">
                <a:solidFill>
                  <a:schemeClr val="tx2">
                    <a:lumMod val="75000"/>
                  </a:schemeClr>
                </a:solidFill>
              </a:rPr>
              <a:t>Leopold</a:t>
            </a:r>
            <a:r>
              <a:rPr lang="es-AR" sz="3200" b="1" u="sng" dirty="0">
                <a:solidFill>
                  <a:schemeClr val="tx2">
                    <a:lumMod val="75000"/>
                  </a:schemeClr>
                </a:solidFill>
              </a:rPr>
              <a:t>…………4</a:t>
            </a:r>
          </a:p>
          <a:p>
            <a:endParaRPr lang="es-AR" sz="3200" b="1" u="sng" dirty="0"/>
          </a:p>
          <a:p>
            <a:r>
              <a:rPr lang="es-AR" sz="2400" dirty="0">
                <a:solidFill>
                  <a:schemeClr val="tx2">
                    <a:lumMod val="75000"/>
                  </a:schemeClr>
                </a:solidFill>
              </a:rPr>
              <a:t>Son maniobras semiológicas que nos permiten valorar  la estática fetal</a:t>
            </a:r>
          </a:p>
          <a:p>
            <a:endParaRPr lang="es-AR" sz="24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s-AR" sz="2400" dirty="0">
                <a:solidFill>
                  <a:schemeClr val="tx2">
                    <a:lumMod val="75000"/>
                  </a:schemeClr>
                </a:solidFill>
              </a:rPr>
              <a:t>La mujer debe estar cómoda, acostada en posición supina con el abdomen descubierto. </a:t>
            </a:r>
          </a:p>
          <a:p>
            <a:endParaRPr lang="es-AR" sz="24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s-AR" sz="2400" dirty="0">
                <a:solidFill>
                  <a:schemeClr val="tx2">
                    <a:lumMod val="75000"/>
                  </a:schemeClr>
                </a:solidFill>
              </a:rPr>
              <a:t>Durante el curso de las primeras tres maniobras, el examinador se ubica de pie y de frente a la paciente del lado de la camilla que le resulte mas conveniente. </a:t>
            </a:r>
          </a:p>
          <a:p>
            <a:endParaRPr lang="es-AR" sz="24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s-AR" sz="2400" dirty="0">
                <a:solidFill>
                  <a:schemeClr val="tx2">
                    <a:lumMod val="75000"/>
                  </a:schemeClr>
                </a:solidFill>
              </a:rPr>
              <a:t>La última maniobra se realiza con el examinador de pie, pero orientado hacia los pies de la paciente.</a:t>
            </a:r>
          </a:p>
        </p:txBody>
      </p:sp>
    </p:spTree>
    <p:extLst>
      <p:ext uri="{BB962C8B-B14F-4D97-AF65-F5344CB8AC3E}">
        <p14:creationId xmlns:p14="http://schemas.microsoft.com/office/powerpoint/2010/main" val="736251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20688"/>
            <a:ext cx="5184576" cy="623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 fontScale="90000"/>
          </a:bodyPr>
          <a:lstStyle/>
          <a:p>
            <a:r>
              <a:rPr lang="es-AR" dirty="0">
                <a:solidFill>
                  <a:srgbClr val="FF0000"/>
                </a:solidFill>
              </a:rPr>
              <a:t>Primera maniobra de </a:t>
            </a:r>
            <a:r>
              <a:rPr lang="es-AR" dirty="0" err="1">
                <a:solidFill>
                  <a:srgbClr val="FF0000"/>
                </a:solidFill>
              </a:rPr>
              <a:t>Leopold</a:t>
            </a:r>
            <a:endParaRPr lang="es-AR" dirty="0">
              <a:solidFill>
                <a:srgbClr val="FF0000"/>
              </a:solidFill>
            </a:endParaRPr>
          </a:p>
        </p:txBody>
      </p:sp>
      <p:pic>
        <p:nvPicPr>
          <p:cNvPr id="8194" name="Picture 2" descr="H:\DCIM\101MSDCF\DSC0020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620688"/>
            <a:ext cx="3995936" cy="62373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99805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3528" y="116632"/>
            <a:ext cx="8229600" cy="65973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AR" b="1" dirty="0"/>
              <a:t> </a:t>
            </a:r>
            <a:r>
              <a:rPr lang="es-AR" sz="3800" b="1" dirty="0">
                <a:solidFill>
                  <a:schemeClr val="tx2">
                    <a:lumMod val="75000"/>
                  </a:schemeClr>
                </a:solidFill>
              </a:rPr>
              <a:t>Primera maniobra : </a:t>
            </a:r>
          </a:p>
          <a:p>
            <a:pPr>
              <a:buNone/>
            </a:pPr>
            <a:r>
              <a:rPr lang="es-AR" dirty="0"/>
              <a:t>    Después de identificar el contorno uterino y determinar la distancia entre el cartílago xifoides y el fondo uterino con los extremos de los dedos de ambas manos, busca que polo fetal ocupa en el fondo uterino. </a:t>
            </a:r>
          </a:p>
          <a:p>
            <a:pPr>
              <a:buNone/>
            </a:pPr>
            <a:r>
              <a:rPr lang="es-AR" dirty="0"/>
              <a:t>   Las nalgas…. cuerpo nodular voluminoso.</a:t>
            </a:r>
          </a:p>
          <a:p>
            <a:pPr>
              <a:buNone/>
            </a:pPr>
            <a:r>
              <a:rPr lang="es-AR" dirty="0"/>
              <a:t>La cabeza….estructura dura y redondeada con una mayor movilidad,……….</a:t>
            </a:r>
            <a:r>
              <a:rPr lang="es-AR" dirty="0">
                <a:solidFill>
                  <a:schemeClr val="tx2">
                    <a:lumMod val="75000"/>
                  </a:schemeClr>
                </a:solidFill>
              </a:rPr>
              <a:t>dolor</a:t>
            </a:r>
            <a:r>
              <a:rPr lang="es-AR" dirty="0"/>
              <a:t>. </a:t>
            </a:r>
          </a:p>
          <a:p>
            <a:pPr>
              <a:buNone/>
            </a:pPr>
            <a:r>
              <a:rPr lang="es-AR" b="1" dirty="0">
                <a:solidFill>
                  <a:schemeClr val="accent3">
                    <a:lumMod val="50000"/>
                  </a:schemeClr>
                </a:solidFill>
              </a:rPr>
              <a:t>Permite identificar la parte fetal que ocupa el fondo uterino.</a:t>
            </a:r>
          </a:p>
        </p:txBody>
      </p:sp>
    </p:spTree>
    <p:extLst>
      <p:ext uri="{BB962C8B-B14F-4D97-AF65-F5344CB8AC3E}">
        <p14:creationId xmlns:p14="http://schemas.microsoft.com/office/powerpoint/2010/main" val="1830203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08720"/>
            <a:ext cx="5580112" cy="5949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1 Título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>
            <a:norm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Segunda maniobra de </a:t>
            </a:r>
            <a:r>
              <a:rPr lang="es-AR" dirty="0" err="1">
                <a:solidFill>
                  <a:srgbClr val="FF0000"/>
                </a:solidFill>
              </a:rPr>
              <a:t>Leopold</a:t>
            </a:r>
            <a:endParaRPr lang="es-AR" dirty="0">
              <a:solidFill>
                <a:srgbClr val="FF0000"/>
              </a:solidFill>
            </a:endParaRPr>
          </a:p>
        </p:txBody>
      </p:sp>
      <p:pic>
        <p:nvPicPr>
          <p:cNvPr id="9218" name="Picture 2" descr="H:\DCIM\101MSDCF\DSC0020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4088" y="908720"/>
            <a:ext cx="3779912" cy="5949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1236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s-AR" sz="8000" b="1" dirty="0">
                <a:solidFill>
                  <a:srgbClr val="FF0000"/>
                </a:solidFill>
              </a:rPr>
              <a:t>Segunda maniobra </a:t>
            </a:r>
          </a:p>
          <a:p>
            <a:pPr>
              <a:buNone/>
            </a:pPr>
            <a:r>
              <a:rPr lang="es-AR" sz="5100" dirty="0"/>
              <a:t>El examinador coloca las palmas de las manos a ambos lados del abdomen y ejerce un presión suave pero firme.</a:t>
            </a:r>
          </a:p>
          <a:p>
            <a:pPr>
              <a:buNone/>
            </a:pPr>
            <a:endParaRPr lang="es-AR" sz="5100" dirty="0"/>
          </a:p>
          <a:p>
            <a:pPr>
              <a:buNone/>
            </a:pPr>
            <a:r>
              <a:rPr lang="es-AR" sz="5100" dirty="0"/>
              <a:t>De uno de los lados es posible percibir </a:t>
            </a:r>
            <a:r>
              <a:rPr lang="es-AR" sz="5100" b="1" dirty="0"/>
              <a:t>una estructura dura y resistente que corresponde a la espalda fetal </a:t>
            </a:r>
            <a:r>
              <a:rPr lang="es-AR" sz="5100" dirty="0"/>
              <a:t>y del lado opuesto la palpación revela </a:t>
            </a:r>
            <a:r>
              <a:rPr lang="es-AR" sz="5100" b="1" dirty="0"/>
              <a:t>numerosas partes pequeñas, irregulares y móviles  </a:t>
            </a:r>
            <a:r>
              <a:rPr lang="es-AR" sz="5100" dirty="0"/>
              <a:t>correspondientes a las extremidades fetales.</a:t>
            </a:r>
          </a:p>
          <a:p>
            <a:pPr>
              <a:buNone/>
            </a:pPr>
            <a:endParaRPr lang="es-AR" sz="5100" dirty="0"/>
          </a:p>
          <a:p>
            <a:pPr>
              <a:buNone/>
            </a:pPr>
            <a:r>
              <a:rPr lang="es-AR" sz="5100" dirty="0"/>
              <a:t> En las mujeres con una pared abdominal delgada las extremidades</a:t>
            </a:r>
          </a:p>
          <a:p>
            <a:pPr>
              <a:buNone/>
            </a:pPr>
            <a:r>
              <a:rPr lang="es-AR" sz="5100" dirty="0"/>
              <a:t>fetales a menudo pueden diferenciarse con precisión.</a:t>
            </a:r>
          </a:p>
          <a:p>
            <a:pPr>
              <a:buNone/>
            </a:pPr>
            <a:r>
              <a:rPr lang="es-AR" sz="5100" dirty="0"/>
              <a:t> </a:t>
            </a:r>
          </a:p>
          <a:p>
            <a:pPr>
              <a:buNone/>
            </a:pPr>
            <a:r>
              <a:rPr lang="es-AR" sz="5100" dirty="0"/>
              <a:t>En presencia de obesidad o de una cantidad considerable de líquido amniótico, la espalda se percibe con más facilidad si se ejerce una presión firme  con una mano y </a:t>
            </a:r>
            <a:r>
              <a:rPr lang="es-AR" sz="5100" dirty="0" err="1"/>
              <a:t>contrapalpación</a:t>
            </a:r>
            <a:r>
              <a:rPr lang="es-AR" sz="5100" dirty="0"/>
              <a:t> con la mano</a:t>
            </a:r>
          </a:p>
          <a:p>
            <a:pPr>
              <a:buNone/>
            </a:pPr>
            <a:r>
              <a:rPr lang="es-AR" sz="5100" dirty="0"/>
              <a:t>opuesta. </a:t>
            </a:r>
          </a:p>
          <a:p>
            <a:pPr>
              <a:buNone/>
            </a:pPr>
            <a:r>
              <a:rPr lang="es-AR" sz="5100" b="1" dirty="0">
                <a:solidFill>
                  <a:schemeClr val="accent3">
                    <a:lumMod val="50000"/>
                  </a:schemeClr>
                </a:solidFill>
              </a:rPr>
              <a:t>Permite determinar de la posición del dorso fetal (anterior, posterior, derecha o izquierda)</a:t>
            </a:r>
          </a:p>
        </p:txBody>
      </p:sp>
    </p:spTree>
    <p:extLst>
      <p:ext uri="{BB962C8B-B14F-4D97-AF65-F5344CB8AC3E}">
        <p14:creationId xmlns:p14="http://schemas.microsoft.com/office/powerpoint/2010/main" val="3357593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233" y="669001"/>
            <a:ext cx="7812360" cy="69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2696"/>
          </a:xfrm>
        </p:spPr>
        <p:txBody>
          <a:bodyPr>
            <a:normAutofit/>
          </a:bodyPr>
          <a:lstStyle/>
          <a:p>
            <a:r>
              <a:rPr lang="es-ES" sz="3800" b="1" dirty="0">
                <a:solidFill>
                  <a:srgbClr val="FF0000"/>
                </a:solidFill>
              </a:rPr>
              <a:t>Tercer maniobra de </a:t>
            </a:r>
            <a:r>
              <a:rPr lang="es-ES" sz="3800" b="1" dirty="0" err="1">
                <a:solidFill>
                  <a:srgbClr val="FF0000"/>
                </a:solidFill>
              </a:rPr>
              <a:t>Leopold</a:t>
            </a:r>
            <a:endParaRPr lang="en-US" sz="3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2145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s-AR" b="1" dirty="0"/>
              <a:t> </a:t>
            </a:r>
            <a:r>
              <a:rPr lang="es-AR" sz="4600" b="1" dirty="0">
                <a:solidFill>
                  <a:srgbClr val="FF0000"/>
                </a:solidFill>
              </a:rPr>
              <a:t>Tercera maniobra</a:t>
            </a:r>
          </a:p>
          <a:p>
            <a:pPr>
              <a:buNone/>
            </a:pPr>
            <a:r>
              <a:rPr lang="es-AR" dirty="0"/>
              <a:t> </a:t>
            </a:r>
            <a:r>
              <a:rPr lang="es-AR" sz="3400" dirty="0"/>
              <a:t>Mediante el pulgar y los dedos de </a:t>
            </a:r>
            <a:r>
              <a:rPr lang="es-AR" sz="3400" b="1" dirty="0"/>
              <a:t>una mano, </a:t>
            </a:r>
            <a:r>
              <a:rPr lang="es-AR" sz="3400" dirty="0"/>
              <a:t>el examinador pinza la parte inferior del abdomen de la madre inmediatamente por arriba de la sínfisis del pubis</a:t>
            </a:r>
            <a:r>
              <a:rPr lang="es-AR" sz="3400" b="1" dirty="0"/>
              <a:t>.  Si la presentación no se encuentra encajada es posible percibir una parte libremente móvil</a:t>
            </a:r>
            <a:r>
              <a:rPr lang="es-AR" sz="3400" dirty="0"/>
              <a:t>, por lo general la cabeza fetal. </a:t>
            </a:r>
          </a:p>
          <a:p>
            <a:pPr>
              <a:buNone/>
            </a:pPr>
            <a:r>
              <a:rPr lang="es-AR" sz="3400" dirty="0"/>
              <a:t>(</a:t>
            </a:r>
            <a:r>
              <a:rPr lang="es-AR" sz="3400" dirty="0">
                <a:solidFill>
                  <a:srgbClr val="FF0000"/>
                </a:solidFill>
              </a:rPr>
              <a:t>diferencia entre cabeza y nalga se establece de acuerdo a lo indicado en la 1° maniobra</a:t>
            </a:r>
            <a:r>
              <a:rPr lang="es-AR" sz="3400" dirty="0"/>
              <a:t>)  </a:t>
            </a:r>
          </a:p>
          <a:p>
            <a:pPr>
              <a:buNone/>
            </a:pPr>
            <a:r>
              <a:rPr lang="es-AR" sz="3400" dirty="0"/>
              <a:t>Si mediante una palpación cuidadosa es posible establecer que la prominencia cefálica se encuentra del mismo lado que la espalda, la cabeza debe estar extendida.</a:t>
            </a:r>
          </a:p>
          <a:p>
            <a:pPr>
              <a:buNone/>
            </a:pPr>
            <a:r>
              <a:rPr lang="es-AR" sz="3400" dirty="0">
                <a:solidFill>
                  <a:srgbClr val="FF0000"/>
                </a:solidFill>
              </a:rPr>
              <a:t> </a:t>
            </a:r>
            <a:r>
              <a:rPr lang="es-AR" sz="3400" b="1" dirty="0">
                <a:solidFill>
                  <a:schemeClr val="accent1">
                    <a:lumMod val="50000"/>
                  </a:schemeClr>
                </a:solidFill>
              </a:rPr>
              <a:t>Permite determinar que polo fetal se ofrece al ES de la                   pelvis</a:t>
            </a:r>
          </a:p>
        </p:txBody>
      </p:sp>
    </p:spTree>
    <p:extLst>
      <p:ext uri="{BB962C8B-B14F-4D97-AF65-F5344CB8AC3E}">
        <p14:creationId xmlns:p14="http://schemas.microsoft.com/office/powerpoint/2010/main" val="3705545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es-ES" sz="3800" dirty="0">
                <a:solidFill>
                  <a:srgbClr val="FF0000"/>
                </a:solidFill>
              </a:rPr>
              <a:t>CUARTA MANIOBRA DE LEOPOLD</a:t>
            </a:r>
            <a:endParaRPr lang="en-US" sz="38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052736"/>
            <a:ext cx="6696744" cy="6016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64440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s-AR" sz="4600" b="1" dirty="0">
                <a:solidFill>
                  <a:srgbClr val="FF0000"/>
                </a:solidFill>
              </a:rPr>
              <a:t>Cuarta maniobra </a:t>
            </a:r>
          </a:p>
          <a:p>
            <a:pPr>
              <a:buNone/>
            </a:pPr>
            <a:r>
              <a:rPr lang="es-AR" dirty="0"/>
              <a:t>El examinador se ubica de cara a los pies de la madre y con los extremos de los dedos índice, medio y anular de cada mano ejerce una presión profunda en dirección del eje del estrecho superior de la pelvis. </a:t>
            </a:r>
          </a:p>
          <a:p>
            <a:pPr>
              <a:buNone/>
            </a:pPr>
            <a:r>
              <a:rPr lang="es-AR" dirty="0"/>
              <a:t>En el caso de una presentación cefálica, la trayectoria de las manos se interrumpirá por una parte redondeada (la prominencia cefálica)</a:t>
            </a:r>
          </a:p>
          <a:p>
            <a:pPr>
              <a:buNone/>
            </a:pPr>
            <a:r>
              <a:rPr lang="es-AR" dirty="0"/>
              <a:t>Presentación de vértice, la prominencia cefálica se encuentra del mismo lado que las partes pequeñas; en la presentación de cara la cabeza se encuentra del mismo lado que la espalda</a:t>
            </a:r>
          </a:p>
          <a:p>
            <a:pPr>
              <a:buNone/>
            </a:pPr>
            <a:r>
              <a:rPr lang="es-AR" dirty="0"/>
              <a:t>En la presentación de nalgas la información resultante de esta maniobra es menos certera.</a:t>
            </a:r>
          </a:p>
          <a:p>
            <a:pPr>
              <a:buNone/>
            </a:pPr>
            <a:r>
              <a:rPr lang="es-AR" dirty="0"/>
              <a:t> </a:t>
            </a:r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Permite determinar la actitud de la cabeza (</a:t>
            </a:r>
            <a:r>
              <a:rPr lang="es-AR" b="1" dirty="0" err="1">
                <a:solidFill>
                  <a:schemeClr val="accent1">
                    <a:lumMod val="50000"/>
                  </a:schemeClr>
                </a:solidFill>
              </a:rPr>
              <a:t>flexion</a:t>
            </a:r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 /deflexión)</a:t>
            </a:r>
            <a:r>
              <a:rPr lang="es-AR" dirty="0">
                <a:solidFill>
                  <a:schemeClr val="accent1">
                    <a:lumMod val="50000"/>
                  </a:schemeClr>
                </a:solidFill>
              </a:rPr>
              <a:t> y </a:t>
            </a:r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descenso de la </a:t>
            </a:r>
            <a:r>
              <a:rPr lang="es-AR" b="1" dirty="0" err="1">
                <a:solidFill>
                  <a:schemeClr val="accent1">
                    <a:lumMod val="50000"/>
                  </a:schemeClr>
                </a:solidFill>
              </a:rPr>
              <a:t>presentacion</a:t>
            </a:r>
            <a:r>
              <a:rPr lang="es-AR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494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s-ES_tradnl" dirty="0"/>
              <a:t> </a:t>
            </a:r>
            <a:r>
              <a:rPr lang="es-ES_tradnl" sz="4600" b="1" dirty="0">
                <a:solidFill>
                  <a:srgbClr val="FF0000"/>
                </a:solidFill>
              </a:rPr>
              <a:t>PUNTO DE REPARO ( punto guía)</a:t>
            </a:r>
            <a:endParaRPr lang="es-AR" sz="46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ES_tradnl" b="1" dirty="0"/>
              <a:t> </a:t>
            </a:r>
            <a:endParaRPr lang="es-AR" dirty="0"/>
          </a:p>
          <a:p>
            <a:pPr>
              <a:buNone/>
            </a:pPr>
            <a:r>
              <a:rPr lang="es-ES_tradnl" dirty="0"/>
              <a:t>     Se denomina así a un punto FIJO, UNICO Y DETERMINADO  de</a:t>
            </a:r>
            <a:endParaRPr lang="es-AR" dirty="0"/>
          </a:p>
          <a:p>
            <a:pPr>
              <a:buNone/>
            </a:pPr>
            <a:r>
              <a:rPr lang="es-ES_tradnl" dirty="0"/>
              <a:t>cada presentación que permite ubicarlo en el espacio.</a:t>
            </a:r>
            <a:endParaRPr lang="es-AR" dirty="0"/>
          </a:p>
          <a:p>
            <a:pPr>
              <a:buNone/>
            </a:pPr>
            <a:r>
              <a:rPr lang="es-ES_tradnl" dirty="0"/>
              <a:t>     </a:t>
            </a:r>
            <a:endParaRPr lang="es-AR" dirty="0"/>
          </a:p>
          <a:p>
            <a:pPr>
              <a:buNone/>
            </a:pPr>
            <a:r>
              <a:rPr lang="es-ES_tradnl" dirty="0"/>
              <a:t>     </a:t>
            </a:r>
            <a:r>
              <a:rPr lang="es-ES_tradnl" sz="4000" b="1" i="1" dirty="0"/>
              <a:t>VERTICE:            LAMBDA</a:t>
            </a:r>
            <a:endParaRPr lang="es-AR" sz="4000" b="1" dirty="0"/>
          </a:p>
          <a:p>
            <a:pPr>
              <a:buNone/>
            </a:pPr>
            <a:r>
              <a:rPr lang="es-ES_tradnl" sz="4000" b="1" i="1" dirty="0"/>
              <a:t>     SICIPUSIO:       BREGMA</a:t>
            </a:r>
            <a:endParaRPr lang="es-AR" sz="4000" b="1" dirty="0"/>
          </a:p>
          <a:p>
            <a:pPr>
              <a:buNone/>
            </a:pPr>
            <a:r>
              <a:rPr lang="es-ES_tradnl" sz="4000" b="1" i="1" dirty="0"/>
              <a:t>     FRENTE:           RAIZ DE LA NARIZ</a:t>
            </a:r>
            <a:endParaRPr lang="es-AR" sz="4000" b="1" dirty="0"/>
          </a:p>
          <a:p>
            <a:pPr>
              <a:buNone/>
            </a:pPr>
            <a:r>
              <a:rPr lang="es-ES_tradnl" sz="4000" b="1" i="1" dirty="0"/>
              <a:t>     CARA:               MENTON</a:t>
            </a:r>
          </a:p>
          <a:p>
            <a:pPr>
              <a:buNone/>
            </a:pPr>
            <a:endParaRPr lang="es-AR" sz="4000" b="1" dirty="0"/>
          </a:p>
          <a:p>
            <a:pPr>
              <a:buNone/>
            </a:pPr>
            <a:r>
              <a:rPr lang="es-ES_tradnl" sz="4000" b="1" i="1" dirty="0"/>
              <a:t>     DE TRONCO:    ACROMION</a:t>
            </a:r>
            <a:endParaRPr lang="es-AR" sz="4000" b="1" dirty="0"/>
          </a:p>
          <a:p>
            <a:pPr>
              <a:buNone/>
            </a:pPr>
            <a:r>
              <a:rPr lang="es-ES_tradnl" sz="4000" b="1" i="1" dirty="0"/>
              <a:t>     PODALICA:      CRESTA SACROCOXIGEA</a:t>
            </a:r>
            <a:endParaRPr lang="es-AR" sz="4000" b="1" i="1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71913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s-ES_tradnl" dirty="0"/>
              <a:t> </a:t>
            </a:r>
            <a:r>
              <a:rPr lang="es-ES_tradnl" b="1" i="1" dirty="0">
                <a:solidFill>
                  <a:schemeClr val="accent1">
                    <a:lumMod val="50000"/>
                  </a:schemeClr>
                </a:solidFill>
              </a:rPr>
              <a:t>PUNTOS DE REFERENCIA</a:t>
            </a:r>
            <a:endParaRPr lang="es-AR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None/>
            </a:pPr>
            <a:r>
              <a:rPr lang="es-ES_tradnl" i="1" dirty="0"/>
              <a:t> </a:t>
            </a:r>
            <a:endParaRPr lang="es-AR" dirty="0"/>
          </a:p>
          <a:p>
            <a:pPr>
              <a:buNone/>
            </a:pPr>
            <a:r>
              <a:rPr lang="es-ES_tradnl" dirty="0"/>
              <a:t>     </a:t>
            </a:r>
            <a:r>
              <a:rPr lang="es-ES_tradnl" dirty="0">
                <a:solidFill>
                  <a:srgbClr val="00B050"/>
                </a:solidFill>
              </a:rPr>
              <a:t>Son todos aquellos puntos o accidentes secundarios o accesorios, que </a:t>
            </a:r>
            <a:r>
              <a:rPr lang="es-ES_tradnl" b="1" dirty="0">
                <a:solidFill>
                  <a:srgbClr val="00B050"/>
                </a:solidFill>
              </a:rPr>
              <a:t>nos permiten confirmar </a:t>
            </a:r>
            <a:r>
              <a:rPr lang="es-ES_tradnl" dirty="0">
                <a:solidFill>
                  <a:srgbClr val="00B050"/>
                </a:solidFill>
              </a:rPr>
              <a:t>al punto de REPARO. </a:t>
            </a:r>
          </a:p>
          <a:p>
            <a:pPr>
              <a:buNone/>
            </a:pPr>
            <a:endParaRPr lang="es-AR" dirty="0"/>
          </a:p>
          <a:p>
            <a:pPr>
              <a:buNone/>
            </a:pPr>
            <a:r>
              <a:rPr lang="es-ES_tradnl" dirty="0"/>
              <a:t>Por ejemplo: orejas, occipital, arcos superciliares, pirámide nasal, boca, rebordes alveolares, genitales, hueco axilar </a:t>
            </a:r>
            <a:r>
              <a:rPr lang="es-ES_tradnl" dirty="0" err="1"/>
              <a:t>etc</a:t>
            </a:r>
            <a:r>
              <a:rPr lang="es-ES_tradnl" dirty="0"/>
              <a:t>,.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30944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Marcador de contenido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s-ES_tradnl" sz="4200" b="1" i="1" dirty="0">
                <a:solidFill>
                  <a:schemeClr val="accent2"/>
                </a:solidFill>
              </a:rPr>
              <a:t>VARIEDAD DE POSICION </a:t>
            </a:r>
            <a:r>
              <a:rPr lang="es-ES_tradnl" sz="4200" b="1" i="1" dirty="0"/>
              <a:t>(presentación)</a:t>
            </a:r>
            <a:endParaRPr lang="es-AR" sz="4200" i="1" dirty="0"/>
          </a:p>
          <a:p>
            <a:pPr>
              <a:buNone/>
            </a:pPr>
            <a:r>
              <a:rPr lang="es-ES_tradnl" dirty="0"/>
              <a:t>Es la relación que existe entre el </a:t>
            </a:r>
            <a:r>
              <a:rPr lang="es-ES_tradnl" b="1" dirty="0"/>
              <a:t>PUNTO DE REPARO </a:t>
            </a:r>
            <a:r>
              <a:rPr lang="es-ES_tradnl" dirty="0"/>
              <a:t>de cada presentación, y uno de los extremos de los diámetros del   </a:t>
            </a:r>
            <a:r>
              <a:rPr lang="es-ES_tradnl" b="1" dirty="0"/>
              <a:t>ESTRECHO SUPERIOR DE LA PELVIS.</a:t>
            </a:r>
            <a:endParaRPr lang="es-AR" b="1" dirty="0"/>
          </a:p>
          <a:p>
            <a:pPr>
              <a:buNone/>
            </a:pPr>
            <a:r>
              <a:rPr lang="es-ES_tradnl" dirty="0"/>
              <a:t>Son en número de ocho (8), y dependen de que:  si el punto de reparo coincide con el diámetro </a:t>
            </a:r>
            <a:r>
              <a:rPr lang="es-ES_tradnl" dirty="0" err="1"/>
              <a:t>anteroposterior</a:t>
            </a:r>
            <a:r>
              <a:rPr lang="es-ES_tradnl" dirty="0"/>
              <a:t> se llamaran </a:t>
            </a:r>
            <a:r>
              <a:rPr lang="es-ES_tradnl" b="1" dirty="0"/>
              <a:t>VARIEDADES DIRECTAS</a:t>
            </a:r>
            <a:r>
              <a:rPr lang="es-ES_tradnl" dirty="0"/>
              <a:t>,(</a:t>
            </a:r>
            <a:r>
              <a:rPr lang="es-ES_tradnl" dirty="0" err="1"/>
              <a:t>pubicas</a:t>
            </a:r>
            <a:r>
              <a:rPr lang="es-ES_tradnl" dirty="0"/>
              <a:t> ó sacras) </a:t>
            </a:r>
          </a:p>
          <a:p>
            <a:pPr>
              <a:buNone/>
            </a:pPr>
            <a:r>
              <a:rPr lang="es-ES_tradnl" dirty="0" err="1"/>
              <a:t>Cuando‚éste</a:t>
            </a:r>
            <a:r>
              <a:rPr lang="es-ES_tradnl" dirty="0"/>
              <a:t> no coincide con el diámetro </a:t>
            </a:r>
            <a:r>
              <a:rPr lang="es-ES_tradnl" dirty="0" err="1"/>
              <a:t>anteroposterior</a:t>
            </a:r>
            <a:r>
              <a:rPr lang="es-ES_tradnl" dirty="0"/>
              <a:t>, podrán denominarse </a:t>
            </a:r>
            <a:r>
              <a:rPr lang="es-ES_tradnl" b="1" dirty="0"/>
              <a:t>VARIEDADES DE POSICION DERECHAS, IZQUIERDAS, ANTERIORES, TRANSVERSAS Y POSTERIORES</a:t>
            </a:r>
            <a:r>
              <a:rPr lang="es-ES_tradnl" dirty="0"/>
              <a:t>, según el diámetro pelviano con el que coincidan.</a:t>
            </a:r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20389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miguel\Desktop\Nueva carpeta\DSC00178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044623" y="0"/>
            <a:ext cx="8208912" cy="7101408"/>
          </a:xfrm>
          <a:prstGeom prst="rect">
            <a:avLst/>
          </a:prstGeom>
          <a:noFill/>
        </p:spPr>
      </p:pic>
      <p:pic>
        <p:nvPicPr>
          <p:cNvPr id="5" name="Imagen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289" y="4365104"/>
            <a:ext cx="4572000" cy="2808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322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13314" name="Picture 2" descr="H:\DCIM\101MSDCF\DSC0019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1"/>
            <a:ext cx="4788023" cy="3501008"/>
          </a:xfrm>
          <a:prstGeom prst="rect">
            <a:avLst/>
          </a:prstGeom>
          <a:noFill/>
        </p:spPr>
      </p:pic>
      <p:pic>
        <p:nvPicPr>
          <p:cNvPr id="13315" name="Picture 3" descr="H:\DCIM\101MSDCF\DSC0019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0"/>
            <a:ext cx="4355976" cy="3429000"/>
          </a:xfrm>
          <a:prstGeom prst="rect">
            <a:avLst/>
          </a:prstGeom>
          <a:noFill/>
        </p:spPr>
      </p:pic>
      <p:pic>
        <p:nvPicPr>
          <p:cNvPr id="13316" name="Picture 4" descr="H:\DCIM\101MSDCF\DSC00195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501008"/>
            <a:ext cx="4761021" cy="3356992"/>
          </a:xfrm>
          <a:prstGeom prst="rect">
            <a:avLst/>
          </a:prstGeom>
          <a:noFill/>
        </p:spPr>
      </p:pic>
      <p:pic>
        <p:nvPicPr>
          <p:cNvPr id="13317" name="Picture 5" descr="H:\DCIM\101MSDCF\DSC00197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16016" y="3414494"/>
            <a:ext cx="4427984" cy="34435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4791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74638"/>
            <a:ext cx="8964488" cy="65833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66258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iguel\Desktop\Nueva carpeta\DSC0016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9290" y="-171400"/>
            <a:ext cx="7020272" cy="6639768"/>
          </a:xfrm>
          <a:prstGeom prst="rect">
            <a:avLst/>
          </a:prstGeom>
          <a:noFill/>
        </p:spPr>
      </p:pic>
      <p:pic>
        <p:nvPicPr>
          <p:cNvPr id="3" name="Picture 2" descr="C:\Users\miguel\Desktop\Nueva carpeta\thumbnailCAR4G7S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45562" y="4365104"/>
            <a:ext cx="3498438" cy="249289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409010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s-AR" sz="9800" b="1" dirty="0">
                <a:solidFill>
                  <a:schemeClr val="accent2"/>
                </a:solidFill>
              </a:rPr>
              <a:t>NOMENCLATURA OBSTÉTRICA</a:t>
            </a:r>
            <a:endParaRPr lang="es-AR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es-AR" sz="8000" dirty="0"/>
              <a:t>Por medio de la nomenclatura obstétrica puede describirse de manera exacta cuál es la situación, presentación, posición y actitud fetales.</a:t>
            </a:r>
          </a:p>
          <a:p>
            <a:r>
              <a:rPr lang="es-AR" sz="8000" b="1" i="1" dirty="0"/>
              <a:t>En las presentaciones cefálicas</a:t>
            </a:r>
          </a:p>
          <a:p>
            <a:pPr>
              <a:buNone/>
            </a:pPr>
            <a:r>
              <a:rPr lang="es-AR" sz="8000" dirty="0"/>
              <a:t>– OIIA: </a:t>
            </a:r>
            <a:r>
              <a:rPr lang="es-AR" sz="8000" dirty="0" err="1"/>
              <a:t>occípitoiliaca</a:t>
            </a:r>
            <a:r>
              <a:rPr lang="es-AR" sz="8000" dirty="0"/>
              <a:t> izquierda anterior. – OIIP: </a:t>
            </a:r>
            <a:r>
              <a:rPr lang="es-AR" sz="8000" dirty="0" err="1"/>
              <a:t>occípitoiliaca</a:t>
            </a:r>
            <a:r>
              <a:rPr lang="es-AR" sz="8000" dirty="0"/>
              <a:t> izquierda posterior.</a:t>
            </a:r>
          </a:p>
          <a:p>
            <a:pPr>
              <a:buNone/>
            </a:pPr>
            <a:r>
              <a:rPr lang="es-AR" sz="8000" dirty="0"/>
              <a:t>– OIDA: </a:t>
            </a:r>
            <a:r>
              <a:rPr lang="es-AR" sz="8000" dirty="0" err="1"/>
              <a:t>occípitoiliaca</a:t>
            </a:r>
            <a:r>
              <a:rPr lang="es-AR" sz="8000" dirty="0"/>
              <a:t> derecha anterior. – OIDP: </a:t>
            </a:r>
            <a:r>
              <a:rPr lang="es-AR" sz="8000" dirty="0" err="1"/>
              <a:t>occípitoiliaca</a:t>
            </a:r>
            <a:r>
              <a:rPr lang="es-AR" sz="8000" dirty="0"/>
              <a:t> derecha posterior.</a:t>
            </a:r>
          </a:p>
          <a:p>
            <a:pPr>
              <a:buNone/>
            </a:pPr>
            <a:r>
              <a:rPr lang="es-AR" sz="8000" dirty="0"/>
              <a:t>De sincipucio:</a:t>
            </a:r>
          </a:p>
          <a:p>
            <a:pPr>
              <a:buNone/>
            </a:pPr>
            <a:r>
              <a:rPr lang="es-AR" sz="8000" dirty="0"/>
              <a:t>– </a:t>
            </a:r>
            <a:r>
              <a:rPr lang="es-AR" sz="8000" dirty="0" err="1"/>
              <a:t>SiIIA</a:t>
            </a:r>
            <a:r>
              <a:rPr lang="es-AR" sz="8000" dirty="0"/>
              <a:t>: </a:t>
            </a:r>
            <a:r>
              <a:rPr lang="es-AR" sz="8000" dirty="0" err="1"/>
              <a:t>sincípitoiliaca</a:t>
            </a:r>
            <a:r>
              <a:rPr lang="es-AR" sz="8000" dirty="0"/>
              <a:t> izquierda anterior. – </a:t>
            </a:r>
            <a:r>
              <a:rPr lang="es-AR" sz="8000" dirty="0" err="1"/>
              <a:t>SiIIP</a:t>
            </a:r>
            <a:r>
              <a:rPr lang="es-AR" sz="8000" dirty="0"/>
              <a:t>: </a:t>
            </a:r>
            <a:r>
              <a:rPr lang="es-AR" sz="8000" dirty="0" err="1"/>
              <a:t>sincípitoiliaca</a:t>
            </a:r>
            <a:r>
              <a:rPr lang="es-AR" sz="8000" dirty="0"/>
              <a:t> izquierda posterior.</a:t>
            </a:r>
          </a:p>
          <a:p>
            <a:pPr>
              <a:buNone/>
            </a:pPr>
            <a:r>
              <a:rPr lang="es-AR" sz="8000" dirty="0"/>
              <a:t>– </a:t>
            </a:r>
            <a:r>
              <a:rPr lang="es-AR" sz="8000" dirty="0" err="1"/>
              <a:t>SiIDA</a:t>
            </a:r>
            <a:r>
              <a:rPr lang="es-AR" sz="8000" dirty="0"/>
              <a:t>: </a:t>
            </a:r>
            <a:r>
              <a:rPr lang="es-AR" sz="8000" dirty="0" err="1"/>
              <a:t>sincípitoiliaca</a:t>
            </a:r>
            <a:r>
              <a:rPr lang="es-AR" sz="8000" dirty="0"/>
              <a:t> derecha anterior. – </a:t>
            </a:r>
            <a:r>
              <a:rPr lang="es-AR" sz="8000" dirty="0" err="1"/>
              <a:t>SiIDP</a:t>
            </a:r>
            <a:r>
              <a:rPr lang="es-AR" sz="8000" dirty="0"/>
              <a:t>: </a:t>
            </a:r>
            <a:r>
              <a:rPr lang="es-AR" sz="8000" dirty="0" err="1"/>
              <a:t>sincípitoiliaca</a:t>
            </a:r>
            <a:r>
              <a:rPr lang="es-AR" sz="8000" dirty="0"/>
              <a:t> derecha posterior.</a:t>
            </a:r>
          </a:p>
          <a:p>
            <a:pPr>
              <a:buNone/>
            </a:pPr>
            <a:r>
              <a:rPr lang="es-AR" sz="8000" dirty="0"/>
              <a:t>De frente:</a:t>
            </a:r>
          </a:p>
          <a:p>
            <a:pPr>
              <a:buNone/>
            </a:pPr>
            <a:r>
              <a:rPr lang="es-AR" sz="8000" dirty="0"/>
              <a:t>– NIIA: </a:t>
            </a:r>
            <a:r>
              <a:rPr lang="es-AR" sz="8000" dirty="0" err="1"/>
              <a:t>nasoiliaca</a:t>
            </a:r>
            <a:r>
              <a:rPr lang="es-AR" sz="8000" dirty="0"/>
              <a:t> izquierda anterior. – NIIP: </a:t>
            </a:r>
            <a:r>
              <a:rPr lang="es-AR" sz="8000" dirty="0" err="1"/>
              <a:t>nasoiliaca</a:t>
            </a:r>
            <a:r>
              <a:rPr lang="es-AR" sz="8000" dirty="0"/>
              <a:t> izquierda posterior.</a:t>
            </a:r>
          </a:p>
          <a:p>
            <a:pPr>
              <a:buNone/>
            </a:pPr>
            <a:r>
              <a:rPr lang="es-AR" sz="8000" dirty="0"/>
              <a:t>– NIDA: </a:t>
            </a:r>
            <a:r>
              <a:rPr lang="es-AR" sz="8000" dirty="0" err="1"/>
              <a:t>nasoiliaca</a:t>
            </a:r>
            <a:r>
              <a:rPr lang="es-AR" sz="8000" dirty="0"/>
              <a:t> derecha anterior. – NIDP: </a:t>
            </a:r>
            <a:r>
              <a:rPr lang="es-AR" sz="8000" dirty="0" err="1"/>
              <a:t>nasoiliaca</a:t>
            </a:r>
            <a:r>
              <a:rPr lang="es-AR" sz="8000" dirty="0"/>
              <a:t> derecha posterior.</a:t>
            </a:r>
          </a:p>
          <a:p>
            <a:pPr>
              <a:buNone/>
            </a:pPr>
            <a:r>
              <a:rPr lang="es-AR" sz="8000" dirty="0"/>
              <a:t>De cara:</a:t>
            </a:r>
          </a:p>
          <a:p>
            <a:pPr>
              <a:buNone/>
            </a:pPr>
            <a:r>
              <a:rPr lang="es-AR" sz="8000" dirty="0"/>
              <a:t>– MIIA: </a:t>
            </a:r>
            <a:r>
              <a:rPr lang="es-AR" sz="8000" dirty="0" err="1"/>
              <a:t>mentoiliaca</a:t>
            </a:r>
            <a:r>
              <a:rPr lang="es-AR" sz="8000" dirty="0"/>
              <a:t> izquierda anterior. – MIIP: </a:t>
            </a:r>
            <a:r>
              <a:rPr lang="es-AR" sz="8000" dirty="0" err="1"/>
              <a:t>mentoiliaca</a:t>
            </a:r>
            <a:r>
              <a:rPr lang="es-AR" sz="8000" dirty="0"/>
              <a:t> izquierda posterior.</a:t>
            </a:r>
          </a:p>
          <a:p>
            <a:pPr>
              <a:buNone/>
            </a:pPr>
            <a:r>
              <a:rPr lang="es-AR" sz="8000" dirty="0"/>
              <a:t>– MIDA: </a:t>
            </a:r>
            <a:r>
              <a:rPr lang="es-AR" sz="8000" dirty="0" err="1"/>
              <a:t>mentoiliaca</a:t>
            </a:r>
            <a:r>
              <a:rPr lang="es-AR" sz="8000" dirty="0"/>
              <a:t> derecha anterior. – MIDP: </a:t>
            </a:r>
            <a:r>
              <a:rPr lang="es-AR" sz="8000" dirty="0" err="1"/>
              <a:t>mentoiliaca</a:t>
            </a:r>
            <a:r>
              <a:rPr lang="es-AR" sz="8000" dirty="0"/>
              <a:t> derecha posterior.</a:t>
            </a:r>
          </a:p>
          <a:p>
            <a:pPr>
              <a:buNone/>
            </a:pPr>
            <a:r>
              <a:rPr lang="es-AR" sz="8000" dirty="0"/>
              <a:t>• </a:t>
            </a:r>
            <a:r>
              <a:rPr lang="es-AR" sz="8000" b="1" i="1" dirty="0"/>
              <a:t>En las presentaciones podálicas:</a:t>
            </a:r>
          </a:p>
          <a:p>
            <a:pPr>
              <a:buNone/>
            </a:pPr>
            <a:r>
              <a:rPr lang="es-AR" sz="8000" dirty="0"/>
              <a:t>– SIIA: </a:t>
            </a:r>
            <a:r>
              <a:rPr lang="es-AR" sz="8000" dirty="0" err="1"/>
              <a:t>sacroiliaca</a:t>
            </a:r>
            <a:r>
              <a:rPr lang="es-AR" sz="8000" dirty="0"/>
              <a:t> izquierda anterior. – SIIP: </a:t>
            </a:r>
            <a:r>
              <a:rPr lang="es-AR" sz="8000" dirty="0" err="1"/>
              <a:t>sacroiliaca</a:t>
            </a:r>
            <a:r>
              <a:rPr lang="es-AR" sz="8000" dirty="0"/>
              <a:t> izquierda posterior.</a:t>
            </a:r>
          </a:p>
          <a:p>
            <a:pPr>
              <a:buNone/>
            </a:pPr>
            <a:r>
              <a:rPr lang="es-AR" sz="8000" dirty="0"/>
              <a:t>– SIDA: </a:t>
            </a:r>
            <a:r>
              <a:rPr lang="es-AR" sz="8000" dirty="0" err="1"/>
              <a:t>sacroiliaca</a:t>
            </a:r>
            <a:r>
              <a:rPr lang="es-AR" sz="8000" dirty="0"/>
              <a:t> derecha anterior. – SIDP: </a:t>
            </a:r>
            <a:r>
              <a:rPr lang="es-AR" sz="8000" dirty="0" err="1"/>
              <a:t>sacroiliaca</a:t>
            </a:r>
            <a:r>
              <a:rPr lang="es-AR" sz="8000" dirty="0"/>
              <a:t> derecha posterior.</a:t>
            </a:r>
          </a:p>
          <a:p>
            <a:pPr>
              <a:buNone/>
            </a:pPr>
            <a:r>
              <a:rPr lang="es-AR" sz="8000" dirty="0"/>
              <a:t>• </a:t>
            </a:r>
            <a:r>
              <a:rPr lang="es-AR" sz="8000" b="1" i="1" dirty="0"/>
              <a:t>En las presentaciones de hombro</a:t>
            </a:r>
          </a:p>
          <a:p>
            <a:pPr>
              <a:buNone/>
            </a:pPr>
            <a:r>
              <a:rPr lang="es-AR" sz="8000" dirty="0"/>
              <a:t>– AIIA: </a:t>
            </a:r>
            <a:r>
              <a:rPr lang="es-AR" sz="8000" dirty="0" err="1"/>
              <a:t>acromioiliaca</a:t>
            </a:r>
            <a:r>
              <a:rPr lang="es-AR" sz="8000" dirty="0"/>
              <a:t> izquierda anterior. – AIIP: </a:t>
            </a:r>
            <a:r>
              <a:rPr lang="es-AR" sz="8000" dirty="0" err="1"/>
              <a:t>acromioiliaca</a:t>
            </a:r>
            <a:r>
              <a:rPr lang="es-AR" sz="8000" dirty="0"/>
              <a:t> izquierda posterior.</a:t>
            </a:r>
          </a:p>
          <a:p>
            <a:pPr>
              <a:buNone/>
            </a:pPr>
            <a:r>
              <a:rPr lang="es-AR" sz="8000" dirty="0"/>
              <a:t>– AIDA: </a:t>
            </a:r>
            <a:r>
              <a:rPr lang="es-AR" sz="8000" dirty="0" err="1"/>
              <a:t>acromioiliaca</a:t>
            </a:r>
            <a:r>
              <a:rPr lang="es-AR" sz="8000" dirty="0"/>
              <a:t> derecha anterior. – AIDP: </a:t>
            </a:r>
            <a:r>
              <a:rPr lang="es-AR" sz="8000" dirty="0" err="1"/>
              <a:t>acromioiliaca</a:t>
            </a:r>
            <a:r>
              <a:rPr lang="es-AR" sz="8000" dirty="0"/>
              <a:t> derecha posterior.</a:t>
            </a:r>
          </a:p>
        </p:txBody>
      </p:sp>
    </p:spTree>
    <p:extLst>
      <p:ext uri="{BB962C8B-B14F-4D97-AF65-F5344CB8AC3E}">
        <p14:creationId xmlns:p14="http://schemas.microsoft.com/office/powerpoint/2010/main" val="2398685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14338" name="Picture 2" descr="H:\DCIM\101MSDCF\DSC0021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716016" cy="6858000"/>
          </a:xfrm>
          <a:prstGeom prst="rect">
            <a:avLst/>
          </a:prstGeom>
          <a:noFill/>
        </p:spPr>
      </p:pic>
      <p:pic>
        <p:nvPicPr>
          <p:cNvPr id="14339" name="Picture 3" descr="H:\DCIM\101MSDCF\DSC0021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522" y="0"/>
            <a:ext cx="442747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400536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13314" name="Picture 2" descr="H:\DCIM\101MSDCF\DSC00193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1"/>
            <a:ext cx="4788023" cy="3501008"/>
          </a:xfrm>
          <a:prstGeom prst="rect">
            <a:avLst/>
          </a:prstGeom>
          <a:noFill/>
        </p:spPr>
      </p:pic>
      <p:pic>
        <p:nvPicPr>
          <p:cNvPr id="13315" name="Picture 3" descr="H:\DCIM\101MSDCF\DSC0019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0"/>
            <a:ext cx="4355976" cy="3429000"/>
          </a:xfrm>
          <a:prstGeom prst="rect">
            <a:avLst/>
          </a:prstGeom>
          <a:noFill/>
        </p:spPr>
      </p:pic>
      <p:pic>
        <p:nvPicPr>
          <p:cNvPr id="13316" name="Picture 4" descr="H:\DCIM\101MSDCF\DSC00195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501008"/>
            <a:ext cx="4761021" cy="3356992"/>
          </a:xfrm>
          <a:prstGeom prst="rect">
            <a:avLst/>
          </a:prstGeom>
          <a:noFill/>
        </p:spPr>
      </p:pic>
      <p:pic>
        <p:nvPicPr>
          <p:cNvPr id="13317" name="Picture 5" descr="H:\DCIM\101MSDCF\DSC00197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16016" y="3414494"/>
            <a:ext cx="4427984" cy="34435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245995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s-AR" sz="9800" b="1" dirty="0">
                <a:solidFill>
                  <a:schemeClr val="accent2"/>
                </a:solidFill>
              </a:rPr>
              <a:t>NOMENCLATURA OBSTÉTRICA</a:t>
            </a:r>
            <a:endParaRPr lang="es-AR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es-AR" sz="8000" dirty="0"/>
              <a:t>Por medio de la nomenclatura obstétrica puede describirse de manera exacta cuál es la situación, presentación, posición y actitud fetales.</a:t>
            </a:r>
          </a:p>
          <a:p>
            <a:r>
              <a:rPr lang="es-AR" sz="8000" b="1" i="1" dirty="0"/>
              <a:t>En las presentaciones cefálicas</a:t>
            </a:r>
          </a:p>
          <a:p>
            <a:pPr>
              <a:buNone/>
            </a:pPr>
            <a:r>
              <a:rPr lang="es-AR" sz="8000" dirty="0"/>
              <a:t>– </a:t>
            </a:r>
            <a:r>
              <a:rPr lang="es-AR" sz="11200" b="1" dirty="0">
                <a:solidFill>
                  <a:schemeClr val="accent6">
                    <a:lumMod val="75000"/>
                  </a:schemeClr>
                </a:solidFill>
              </a:rPr>
              <a:t>OIIA: </a:t>
            </a:r>
            <a:r>
              <a:rPr lang="es-AR" sz="11200" b="1" dirty="0" err="1">
                <a:solidFill>
                  <a:schemeClr val="accent6">
                    <a:lumMod val="75000"/>
                  </a:schemeClr>
                </a:solidFill>
              </a:rPr>
              <a:t>occípitoiliaca</a:t>
            </a:r>
            <a:r>
              <a:rPr lang="es-AR" sz="11200" b="1" dirty="0">
                <a:solidFill>
                  <a:schemeClr val="accent6">
                    <a:lumMod val="75000"/>
                  </a:schemeClr>
                </a:solidFill>
              </a:rPr>
              <a:t> izquierda anterior</a:t>
            </a:r>
            <a:r>
              <a:rPr lang="es-AR" sz="8000" dirty="0"/>
              <a:t>. – OIIP: </a:t>
            </a:r>
            <a:r>
              <a:rPr lang="es-AR" sz="8000" dirty="0" err="1"/>
              <a:t>occípitoiliaca</a:t>
            </a:r>
            <a:r>
              <a:rPr lang="es-AR" sz="8000" dirty="0"/>
              <a:t> </a:t>
            </a:r>
            <a:r>
              <a:rPr lang="es-AR" sz="8000" dirty="0" err="1"/>
              <a:t>izq</a:t>
            </a:r>
            <a:r>
              <a:rPr lang="es-AR" sz="8000" dirty="0"/>
              <a:t> poster.</a:t>
            </a:r>
          </a:p>
          <a:p>
            <a:pPr>
              <a:buNone/>
            </a:pPr>
            <a:r>
              <a:rPr lang="es-AR" sz="8000" dirty="0"/>
              <a:t>– OIDA: </a:t>
            </a:r>
            <a:r>
              <a:rPr lang="es-AR" sz="8000" dirty="0" err="1"/>
              <a:t>occípitoiliaca</a:t>
            </a:r>
            <a:r>
              <a:rPr lang="es-AR" sz="8000" dirty="0"/>
              <a:t> derecha anterior. </a:t>
            </a:r>
            <a:r>
              <a:rPr lang="es-AR" sz="9600" b="1" dirty="0">
                <a:solidFill>
                  <a:schemeClr val="accent6">
                    <a:lumMod val="75000"/>
                  </a:schemeClr>
                </a:solidFill>
              </a:rPr>
              <a:t>OIDP: </a:t>
            </a:r>
            <a:r>
              <a:rPr lang="es-AR" sz="9600" b="1" dirty="0" err="1">
                <a:solidFill>
                  <a:schemeClr val="accent6">
                    <a:lumMod val="75000"/>
                  </a:schemeClr>
                </a:solidFill>
              </a:rPr>
              <a:t>occípitoiliaca</a:t>
            </a:r>
            <a:r>
              <a:rPr lang="es-AR" sz="9600" b="1" dirty="0">
                <a:solidFill>
                  <a:schemeClr val="accent6">
                    <a:lumMod val="75000"/>
                  </a:schemeClr>
                </a:solidFill>
              </a:rPr>
              <a:t> derecha posterior</a:t>
            </a:r>
            <a:r>
              <a:rPr lang="es-AR" sz="8000" dirty="0"/>
              <a:t>.</a:t>
            </a:r>
          </a:p>
          <a:p>
            <a:pPr>
              <a:buNone/>
            </a:pPr>
            <a:r>
              <a:rPr lang="es-AR" sz="8000" dirty="0"/>
              <a:t>De sincipucio:</a:t>
            </a:r>
          </a:p>
          <a:p>
            <a:pPr>
              <a:buNone/>
            </a:pPr>
            <a:r>
              <a:rPr lang="es-AR" sz="8000" dirty="0"/>
              <a:t>– </a:t>
            </a:r>
            <a:r>
              <a:rPr lang="es-AR" sz="8000" dirty="0" err="1"/>
              <a:t>SiIIA</a:t>
            </a:r>
            <a:r>
              <a:rPr lang="es-AR" sz="8000" dirty="0"/>
              <a:t>: </a:t>
            </a:r>
            <a:r>
              <a:rPr lang="es-AR" sz="8000" dirty="0" err="1"/>
              <a:t>sincípitoiliaca</a:t>
            </a:r>
            <a:r>
              <a:rPr lang="es-AR" sz="8000" dirty="0"/>
              <a:t> izquierda anterior. – </a:t>
            </a:r>
            <a:r>
              <a:rPr lang="es-AR" sz="8000" dirty="0" err="1"/>
              <a:t>SiIIP</a:t>
            </a:r>
            <a:r>
              <a:rPr lang="es-AR" sz="8000" dirty="0"/>
              <a:t>: </a:t>
            </a:r>
            <a:r>
              <a:rPr lang="es-AR" sz="8000" dirty="0" err="1"/>
              <a:t>sincípitoiliaca</a:t>
            </a:r>
            <a:r>
              <a:rPr lang="es-AR" sz="8000" dirty="0"/>
              <a:t> izquierda posterior.</a:t>
            </a:r>
          </a:p>
          <a:p>
            <a:pPr>
              <a:buNone/>
            </a:pPr>
            <a:r>
              <a:rPr lang="es-AR" sz="8000" dirty="0"/>
              <a:t>– </a:t>
            </a:r>
            <a:r>
              <a:rPr lang="es-AR" sz="8000" dirty="0" err="1"/>
              <a:t>SiIDA</a:t>
            </a:r>
            <a:r>
              <a:rPr lang="es-AR" sz="8000" dirty="0"/>
              <a:t>: </a:t>
            </a:r>
            <a:r>
              <a:rPr lang="es-AR" sz="8000" dirty="0" err="1"/>
              <a:t>sincípitoiliaca</a:t>
            </a:r>
            <a:r>
              <a:rPr lang="es-AR" sz="8000" dirty="0"/>
              <a:t> derecha anterior. – </a:t>
            </a:r>
            <a:r>
              <a:rPr lang="es-AR" sz="8000" dirty="0" err="1"/>
              <a:t>SiIDP</a:t>
            </a:r>
            <a:r>
              <a:rPr lang="es-AR" sz="8000" dirty="0"/>
              <a:t>: </a:t>
            </a:r>
            <a:r>
              <a:rPr lang="es-AR" sz="8000" dirty="0" err="1"/>
              <a:t>sincípitoiliaca</a:t>
            </a:r>
            <a:r>
              <a:rPr lang="es-AR" sz="8000" dirty="0"/>
              <a:t> derecha posterior.</a:t>
            </a:r>
          </a:p>
          <a:p>
            <a:pPr>
              <a:buNone/>
            </a:pPr>
            <a:r>
              <a:rPr lang="es-AR" sz="8000" dirty="0"/>
              <a:t>De frente:</a:t>
            </a:r>
          </a:p>
          <a:p>
            <a:pPr>
              <a:buNone/>
            </a:pPr>
            <a:r>
              <a:rPr lang="es-AR" sz="8000" dirty="0"/>
              <a:t>– NIIA: </a:t>
            </a:r>
            <a:r>
              <a:rPr lang="es-AR" sz="8000" dirty="0" err="1"/>
              <a:t>nasoiliaca</a:t>
            </a:r>
            <a:r>
              <a:rPr lang="es-AR" sz="8000" dirty="0"/>
              <a:t> izquierda anterior. – NIIP: </a:t>
            </a:r>
            <a:r>
              <a:rPr lang="es-AR" sz="8000" dirty="0" err="1"/>
              <a:t>nasoiliaca</a:t>
            </a:r>
            <a:r>
              <a:rPr lang="es-AR" sz="8000" dirty="0"/>
              <a:t> izquierda posterior.</a:t>
            </a:r>
          </a:p>
          <a:p>
            <a:pPr>
              <a:buNone/>
            </a:pPr>
            <a:r>
              <a:rPr lang="es-AR" sz="8000" dirty="0"/>
              <a:t>– NIDA: </a:t>
            </a:r>
            <a:r>
              <a:rPr lang="es-AR" sz="8000" dirty="0" err="1"/>
              <a:t>nasoiliaca</a:t>
            </a:r>
            <a:r>
              <a:rPr lang="es-AR" sz="8000" dirty="0"/>
              <a:t> derecha anterior. – NIDP: </a:t>
            </a:r>
            <a:r>
              <a:rPr lang="es-AR" sz="8000" dirty="0" err="1"/>
              <a:t>nasoiliaca</a:t>
            </a:r>
            <a:r>
              <a:rPr lang="es-AR" sz="8000" dirty="0"/>
              <a:t> derecha posterior.</a:t>
            </a:r>
          </a:p>
          <a:p>
            <a:pPr>
              <a:buNone/>
            </a:pPr>
            <a:r>
              <a:rPr lang="es-AR" sz="8000" dirty="0"/>
              <a:t>De cara:</a:t>
            </a:r>
          </a:p>
          <a:p>
            <a:pPr>
              <a:buNone/>
            </a:pPr>
            <a:r>
              <a:rPr lang="es-AR" sz="8000" dirty="0"/>
              <a:t>– MIIA: </a:t>
            </a:r>
            <a:r>
              <a:rPr lang="es-AR" sz="8000" dirty="0" err="1"/>
              <a:t>mentoiliaca</a:t>
            </a:r>
            <a:r>
              <a:rPr lang="es-AR" sz="8000" dirty="0"/>
              <a:t> izquierda anterior. – MIIP: </a:t>
            </a:r>
            <a:r>
              <a:rPr lang="es-AR" sz="8000" dirty="0" err="1"/>
              <a:t>mentoiliaca</a:t>
            </a:r>
            <a:r>
              <a:rPr lang="es-AR" sz="8000" dirty="0"/>
              <a:t> izquierda posterior.</a:t>
            </a:r>
          </a:p>
          <a:p>
            <a:pPr>
              <a:buNone/>
            </a:pPr>
            <a:r>
              <a:rPr lang="es-AR" sz="8000" dirty="0"/>
              <a:t>– MIDA: </a:t>
            </a:r>
            <a:r>
              <a:rPr lang="es-AR" sz="8000" dirty="0" err="1"/>
              <a:t>mentoiliaca</a:t>
            </a:r>
            <a:r>
              <a:rPr lang="es-AR" sz="8000" dirty="0"/>
              <a:t> derecha anterior. – MIDP: </a:t>
            </a:r>
            <a:r>
              <a:rPr lang="es-AR" sz="8000" dirty="0" err="1"/>
              <a:t>mentoiliaca</a:t>
            </a:r>
            <a:r>
              <a:rPr lang="es-AR" sz="8000" dirty="0"/>
              <a:t> derecha posterior.</a:t>
            </a:r>
          </a:p>
          <a:p>
            <a:pPr>
              <a:buNone/>
            </a:pPr>
            <a:r>
              <a:rPr lang="es-AR" sz="8000" dirty="0"/>
              <a:t>• </a:t>
            </a:r>
            <a:r>
              <a:rPr lang="es-AR" sz="8000" b="1" i="1" dirty="0"/>
              <a:t>En las presentaciones podálicas:</a:t>
            </a:r>
          </a:p>
          <a:p>
            <a:pPr>
              <a:buNone/>
            </a:pPr>
            <a:r>
              <a:rPr lang="es-AR" sz="8000" dirty="0"/>
              <a:t>– SIIA: </a:t>
            </a:r>
            <a:r>
              <a:rPr lang="es-AR" sz="8000" dirty="0" err="1"/>
              <a:t>sacroiliaca</a:t>
            </a:r>
            <a:r>
              <a:rPr lang="es-AR" sz="8000" dirty="0"/>
              <a:t> izquierda anterior. – SIIP: </a:t>
            </a:r>
            <a:r>
              <a:rPr lang="es-AR" sz="8000" dirty="0" err="1"/>
              <a:t>sacroiliaca</a:t>
            </a:r>
            <a:r>
              <a:rPr lang="es-AR" sz="8000" dirty="0"/>
              <a:t> izquierda posterior.</a:t>
            </a:r>
          </a:p>
          <a:p>
            <a:pPr>
              <a:buNone/>
            </a:pPr>
            <a:r>
              <a:rPr lang="es-AR" sz="8000" dirty="0"/>
              <a:t>– SIDA: </a:t>
            </a:r>
            <a:r>
              <a:rPr lang="es-AR" sz="8000" dirty="0" err="1"/>
              <a:t>sacroiliaca</a:t>
            </a:r>
            <a:r>
              <a:rPr lang="es-AR" sz="8000" dirty="0"/>
              <a:t> derecha anterior. – SIDP: </a:t>
            </a:r>
            <a:r>
              <a:rPr lang="es-AR" sz="8000" dirty="0" err="1"/>
              <a:t>sacroiliaca</a:t>
            </a:r>
            <a:r>
              <a:rPr lang="es-AR" sz="8000" dirty="0"/>
              <a:t> derecha posterior.</a:t>
            </a:r>
          </a:p>
          <a:p>
            <a:pPr>
              <a:buNone/>
            </a:pPr>
            <a:r>
              <a:rPr lang="es-AR" sz="8000" dirty="0"/>
              <a:t>• </a:t>
            </a:r>
            <a:r>
              <a:rPr lang="es-AR" sz="8000" b="1" i="1" dirty="0"/>
              <a:t>En las presentaciones de hombro</a:t>
            </a:r>
          </a:p>
          <a:p>
            <a:pPr>
              <a:buNone/>
            </a:pPr>
            <a:r>
              <a:rPr lang="es-AR" sz="8000" dirty="0"/>
              <a:t>– AIIA: </a:t>
            </a:r>
            <a:r>
              <a:rPr lang="es-AR" sz="8000" dirty="0" err="1"/>
              <a:t>acromioiliaca</a:t>
            </a:r>
            <a:r>
              <a:rPr lang="es-AR" sz="8000" dirty="0"/>
              <a:t> izquierda anterior. – AIIP: </a:t>
            </a:r>
            <a:r>
              <a:rPr lang="es-AR" sz="8000" dirty="0" err="1"/>
              <a:t>acromioiliaca</a:t>
            </a:r>
            <a:r>
              <a:rPr lang="es-AR" sz="8000" dirty="0"/>
              <a:t> izquierda posterior.</a:t>
            </a:r>
          </a:p>
          <a:p>
            <a:pPr>
              <a:buNone/>
            </a:pPr>
            <a:r>
              <a:rPr lang="es-AR" sz="8000" dirty="0"/>
              <a:t>– AIDA: </a:t>
            </a:r>
            <a:r>
              <a:rPr lang="es-AR" sz="8000" dirty="0" err="1"/>
              <a:t>acromioiliaca</a:t>
            </a:r>
            <a:r>
              <a:rPr lang="es-AR" sz="8000" dirty="0"/>
              <a:t> derecha anterior. – AIDP: </a:t>
            </a:r>
            <a:r>
              <a:rPr lang="es-AR" sz="8000" dirty="0" err="1"/>
              <a:t>acromioiliaca</a:t>
            </a:r>
            <a:r>
              <a:rPr lang="es-AR" sz="8000" dirty="0"/>
              <a:t> derecha posterior.</a:t>
            </a:r>
          </a:p>
        </p:txBody>
      </p:sp>
    </p:spTree>
    <p:extLst>
      <p:ext uri="{BB962C8B-B14F-4D97-AF65-F5344CB8AC3E}">
        <p14:creationId xmlns:p14="http://schemas.microsoft.com/office/powerpoint/2010/main" val="16801979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14338" name="Picture 2" descr="H:\DCIM\101MSDCF\DSC0021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4716016" cy="6858000"/>
          </a:xfrm>
          <a:prstGeom prst="rect">
            <a:avLst/>
          </a:prstGeom>
          <a:noFill/>
        </p:spPr>
      </p:pic>
      <p:pic>
        <p:nvPicPr>
          <p:cNvPr id="14339" name="Picture 3" descr="H:\DCIM\101MSDCF\DSC0021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522" y="0"/>
            <a:ext cx="4427478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35352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es-AR" dirty="0"/>
          </a:p>
        </p:txBody>
      </p:sp>
      <p:pic>
        <p:nvPicPr>
          <p:cNvPr id="1026" name="Picture 2" descr="C:\Users\miguel\Desktop\INS DEL CARMEN\000[3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57" y="0"/>
            <a:ext cx="913388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miguel\Desktop\000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08520" y="-24245"/>
            <a:ext cx="9133885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6672" y="-277278"/>
            <a:ext cx="11881320" cy="8213044"/>
          </a:xfrm>
        </p:spPr>
      </p:pic>
    </p:spTree>
    <p:extLst>
      <p:ext uri="{BB962C8B-B14F-4D97-AF65-F5344CB8AC3E}">
        <p14:creationId xmlns:p14="http://schemas.microsoft.com/office/powerpoint/2010/main" val="8094564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</TotalTime>
  <Words>1465</Words>
  <Application>Microsoft Office PowerPoint</Application>
  <PresentationFormat>Presentación en pantalla (4:3)</PresentationFormat>
  <Paragraphs>148</Paragraphs>
  <Slides>34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7" baseType="lpstr">
      <vt:lpstr>Arial</vt:lpstr>
      <vt:lpstr>Calibri</vt:lpstr>
      <vt:lpstr>Tema de Office</vt:lpstr>
      <vt:lpstr>Catedra OBSTETRICIA San Rafael</vt:lpstr>
      <vt:lpstr>Presentación de PowerPoint</vt:lpstr>
      <vt:lpstr>Presentación de PowerPoint</vt:lpstr>
      <vt:lpstr>Presentación de PowerPoint</vt:lpstr>
      <vt:lpstr>Cefalica flexionada / deflexionada</vt:lpstr>
      <vt:lpstr>Cefalicas deflexionadas</vt:lpstr>
      <vt:lpstr>Presentación de PowerPoint</vt:lpstr>
      <vt:lpstr>Presentación de PowerPoint</vt:lpstr>
      <vt:lpstr>Presentación de PowerPoint</vt:lpstr>
      <vt:lpstr> </vt:lpstr>
      <vt:lpstr>Presentación de PowerPoint</vt:lpstr>
      <vt:lpstr>Primera maniobra de Leopold</vt:lpstr>
      <vt:lpstr>Presentación de PowerPoint</vt:lpstr>
      <vt:lpstr>Segunda maniobra de Leopold</vt:lpstr>
      <vt:lpstr>Presentación de PowerPoint</vt:lpstr>
      <vt:lpstr>Tercer maniobra de Leopold</vt:lpstr>
      <vt:lpstr>Presentación de PowerPoint</vt:lpstr>
      <vt:lpstr>CUARTA MANIOBRA DE LEOPOLD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miguel</dc:creator>
  <cp:lastModifiedBy>Usuario</cp:lastModifiedBy>
  <cp:revision>68</cp:revision>
  <dcterms:created xsi:type="dcterms:W3CDTF">2011-09-24T23:48:03Z</dcterms:created>
  <dcterms:modified xsi:type="dcterms:W3CDTF">2026-08-05T12:17:31Z</dcterms:modified>
</cp:coreProperties>
</file>